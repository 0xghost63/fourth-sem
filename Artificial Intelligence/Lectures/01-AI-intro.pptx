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_rels/slide53.xml.rels" ContentType="application/vnd.openxmlformats-package.relationships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6.xml.rels" ContentType="application/vnd.openxmlformats-package.relationships+xml"/>
  <Override PartName="/ppt/slides/_rels/slide51.xml.rels" ContentType="application/vnd.openxmlformats-package.relationships+xml"/>
  <Override PartName="/ppt/slides/_rels/slide7.xml.rels" ContentType="application/vnd.openxmlformats-package.relationships+xml"/>
  <Override PartName="/ppt/slides/_rels/slide5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media/image304.png" ContentType="image/png"/>
  <Override PartName="/ppt/media/image75.png" ContentType="image/png"/>
  <Override PartName="/ppt/media/image9.png" ContentType="image/png"/>
  <Override PartName="/ppt/media/image57.png" ContentType="image/png"/>
  <Override PartName="/ppt/media/image28.jpeg" ContentType="image/jpeg"/>
  <Override PartName="/ppt/media/image298.png" ContentType="image/png"/>
  <Override PartName="/ppt/media/image1.png" ContentType="image/png"/>
  <Override PartName="/ppt/media/image130.png" ContentType="image/png"/>
  <Override PartName="/ppt/media/image58.png" ContentType="image/png"/>
  <Override PartName="/ppt/media/image299.png" ContentType="image/png"/>
  <Override PartName="/ppt/media/image2.png" ContentType="image/png"/>
  <Override PartName="/ppt/media/image131.png" ContentType="image/png"/>
  <Override PartName="/ppt/media/image59.png" ContentType="image/png"/>
  <Override PartName="/ppt/media/image3.png" ContentType="image/png"/>
  <Override PartName="/ppt/media/image189.png" ContentType="image/png"/>
  <Override PartName="/ppt/media/image45.jpeg" ContentType="image/jpeg"/>
  <Override PartName="/ppt/media/image70.png" ContentType="image/png"/>
  <Override PartName="/ppt/media/image4.png" ContentType="image/png"/>
  <Override PartName="/ppt/media/image300.png" ContentType="image/png"/>
  <Override PartName="/ppt/media/image71.png" ContentType="image/png"/>
  <Override PartName="/ppt/media/image5.png" ContentType="image/png"/>
  <Override PartName="/ppt/media/image301.png" ContentType="image/png"/>
  <Override PartName="/ppt/media/image72.png" ContentType="image/png"/>
  <Override PartName="/ppt/media/image6.png" ContentType="image/png"/>
  <Override PartName="/ppt/media/image302.png" ContentType="image/png"/>
  <Override PartName="/ppt/media/image73.png" ContentType="image/png"/>
  <Override PartName="/ppt/media/image7.png" ContentType="image/png"/>
  <Override PartName="/ppt/media/image415.png" ContentType="image/png"/>
  <Override PartName="/ppt/media/image23.jpeg" ContentType="image/jpeg"/>
  <Override PartName="/ppt/media/image303.png" ContentType="image/png"/>
  <Override PartName="/ppt/media/image74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365.png" ContentType="image/png"/>
  <Override PartName="/ppt/media/image18.jpeg" ContentType="image/jpeg"/>
  <Override PartName="/ppt/media/image12.png" ContentType="image/png"/>
  <Override PartName="/ppt/media/image199.png" ContentType="image/png"/>
  <Override PartName="/ppt/media/image46.jpeg" ContentType="image/jpeg"/>
  <Override PartName="/ppt/media/image13.png" ContentType="image/png"/>
  <Override PartName="/ppt/media/image14.png" ContentType="image/png"/>
  <Override PartName="/ppt/media/image335.png" ContentType="image/png"/>
  <Override PartName="/ppt/media/image15.jpeg" ContentType="image/jpeg"/>
  <Override PartName="/ppt/media/image121.png" ContentType="image/png"/>
  <Override PartName="/ppt/media/image49.png" ContentType="image/png"/>
  <Override PartName="/ppt/media/image345.png" ContentType="image/png"/>
  <Override PartName="/ppt/media/image16.jpeg" ContentType="image/jpeg"/>
  <Override PartName="/ppt/media/image425.png" ContentType="image/png"/>
  <Override PartName="/ppt/media/image24.jpeg" ContentType="image/jpeg"/>
  <Override PartName="/ppt/media/image380.png" ContentType="image/png"/>
  <Override PartName="/ppt/media/image17.png" ContentType="image/png"/>
  <Override PartName="/ppt/media/image22.png" ContentType="image/png"/>
  <Override PartName="/ppt/media/image375.png" ContentType="image/png"/>
  <Override PartName="/ppt/media/image19.jpeg" ContentType="image/jpeg"/>
  <Override PartName="/ppt/media/image139.png" ContentType="image/png"/>
  <Override PartName="/ppt/media/image40.jpeg" ContentType="image/jpeg"/>
  <Override PartName="/ppt/media/image20.png" ContentType="image/png"/>
  <Override PartName="/ppt/media/image54.png" ContentType="image/png"/>
  <Override PartName="/ppt/media/image21.jpeg" ContentType="image/jpeg"/>
  <Override PartName="/ppt/media/image25.png" ContentType="image/png"/>
  <Override PartName="/ppt/media/image37.png" ContentType="image/png"/>
  <Override PartName="/ppt/media/image26.jpeg" ContentType="image/jpeg"/>
  <Override PartName="/ppt/media/image390.png" ContentType="image/png"/>
  <Override PartName="/ppt/media/image27.png" ContentType="image/png"/>
  <Override PartName="/ppt/media/image392.png" ContentType="image/png"/>
  <Override PartName="/ppt/media/image101.png" ContentType="image/png"/>
  <Override PartName="/ppt/media/image29.png" ContentType="image/png"/>
  <Override PartName="/ppt/media/image32.png" ContentType="image/png"/>
  <Override PartName="/ppt/media/image30.jpeg" ContentType="image/jpeg"/>
  <Override PartName="/ppt/media/image31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8.jpeg" ContentType="image/jpeg"/>
  <Override PartName="/ppt/media/image128.jpeg" ContentType="image/jpeg"/>
  <Override PartName="/ppt/media/image39.jpeg" ContentType="image/jpeg"/>
  <Override PartName="/ppt/media/image55.png" ContentType="image/png"/>
  <Override PartName="/ppt/media/image149.png" ContentType="image/png"/>
  <Override PartName="/ppt/media/image41.jpeg" ContentType="image/jpeg"/>
  <Override PartName="/ppt/media/image159.png" ContentType="image/png"/>
  <Override PartName="/ppt/media/image42.jpeg" ContentType="image/jpeg"/>
  <Override PartName="/ppt/media/image50.png" ContentType="image/png"/>
  <Override PartName="/ppt/media/image169.png" ContentType="image/png"/>
  <Override PartName="/ppt/media/image43.jpeg" ContentType="image/jpeg"/>
  <Override PartName="/ppt/media/image60.png" ContentType="image/png"/>
  <Override PartName="/ppt/media/image179.png" ContentType="image/png"/>
  <Override PartName="/ppt/media/image44.jpeg" ContentType="image/jpeg"/>
  <Override PartName="/ppt/media/image47.jpeg" ContentType="image/jpeg"/>
  <Override PartName="/ppt/media/image120.png" ContentType="image/png"/>
  <Override PartName="/ppt/media/image48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6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140.png" ContentType="image/png"/>
  <Override PartName="/ppt/media/image68.png" ContentType="image/png"/>
  <Override PartName="/ppt/media/image141.png" ContentType="image/png"/>
  <Override PartName="/ppt/media/image69.png" ContentType="image/png"/>
  <Override PartName="/ppt/media/image305.png" ContentType="image/png"/>
  <Override PartName="/ppt/media/image76.png" ContentType="image/png"/>
  <Override PartName="/ppt/media/image306.png" ContentType="image/png"/>
  <Override PartName="/ppt/media/image77.png" ContentType="image/png"/>
  <Override PartName="/ppt/media/image307.png" ContentType="image/png"/>
  <Override PartName="/ppt/media/image150.png" ContentType="image/png"/>
  <Override PartName="/ppt/media/image78.png" ContentType="image/png"/>
  <Override PartName="/ppt/media/image308.png" ContentType="image/png"/>
  <Override PartName="/ppt/media/image151.png" ContentType="image/png"/>
  <Override PartName="/ppt/media/image79.png" ContentType="image/png"/>
  <Override PartName="/ppt/media/image80.png" ContentType="image/png"/>
  <Override PartName="/ppt/media/image310.png" ContentType="image/png"/>
  <Override PartName="/ppt/media/image81.png" ContentType="image/png"/>
  <Override PartName="/ppt/media/image311.png" ContentType="image/png"/>
  <Override PartName="/ppt/media/image82.png" ContentType="image/png"/>
  <Override PartName="/ppt/media/image312.png" ContentType="image/png"/>
  <Override PartName="/ppt/media/image83.png" ContentType="image/png"/>
  <Override PartName="/ppt/media/image313.png" ContentType="image/png"/>
  <Override PartName="/ppt/media/image84.png" ContentType="image/png"/>
  <Override PartName="/ppt/media/image314.png" ContentType="image/png"/>
  <Override PartName="/ppt/media/image85.png" ContentType="image/png"/>
  <Override PartName="/ppt/media/image315.png" ContentType="image/png"/>
  <Override PartName="/ppt/media/image86.png" ContentType="image/png"/>
  <Override PartName="/ppt/media/image316.png" ContentType="image/png"/>
  <Override PartName="/ppt/media/image87.png" ContentType="image/png"/>
  <Override PartName="/ppt/media/image317.png" ContentType="image/png"/>
  <Override PartName="/ppt/media/image160.png" ContentType="image/png"/>
  <Override PartName="/ppt/media/image88.png" ContentType="image/png"/>
  <Override PartName="/ppt/media/image318.png" ContentType="image/png"/>
  <Override PartName="/ppt/media/image161.png" ContentType="image/png"/>
  <Override PartName="/ppt/media/image89.png" ContentType="image/png"/>
  <Override PartName="/ppt/media/image90.png" ContentType="image/png"/>
  <Override PartName="/ppt/media/image320.png" ContentType="image/png"/>
  <Override PartName="/ppt/media/image91.png" ContentType="image/png"/>
  <Override PartName="/ppt/media/image321.png" ContentType="image/png"/>
  <Override PartName="/ppt/media/image92.png" ContentType="image/png"/>
  <Override PartName="/ppt/media/image322.png" ContentType="image/png"/>
  <Override PartName="/ppt/media/image93.png" ContentType="image/png"/>
  <Override PartName="/ppt/media/image323.png" ContentType="image/png"/>
  <Override PartName="/ppt/media/image94.png" ContentType="image/png"/>
  <Override PartName="/ppt/media/image324.png" ContentType="image/png"/>
  <Override PartName="/ppt/media/image95.png" ContentType="image/png"/>
  <Override PartName="/ppt/media/image325.png" ContentType="image/png"/>
  <Override PartName="/ppt/media/image96.png" ContentType="image/png"/>
  <Override PartName="/ppt/media/image326.png" ContentType="image/png"/>
  <Override PartName="/ppt/media/image97.png" ContentType="image/png"/>
  <Override PartName="/ppt/media/image327.png" ContentType="image/png"/>
  <Override PartName="/ppt/media/image170.png" ContentType="image/png"/>
  <Override PartName="/ppt/media/image98.png" ContentType="image/png"/>
  <Override PartName="/ppt/media/image328.png" ContentType="image/png"/>
  <Override PartName="/ppt/media/image171.png" ContentType="image/png"/>
  <Override PartName="/ppt/media/image99.png" ContentType="image/png"/>
  <Override PartName="/ppt/media/image391.png" ContentType="image/png"/>
  <Override PartName="/ppt/media/image100.png" ContentType="image/png"/>
  <Override PartName="/ppt/media/image393.png" ContentType="image/png"/>
  <Override PartName="/ppt/media/image102.png" ContentType="image/png"/>
  <Override PartName="/ppt/media/image428.jpeg" ContentType="image/jpeg"/>
  <Override PartName="/ppt/media/image394.png" ContentType="image/png"/>
  <Override PartName="/ppt/media/image103.png" ContentType="image/png"/>
  <Override PartName="/ppt/media/image395.png" ContentType="image/png"/>
  <Override PartName="/ppt/media/image104.png" ContentType="image/png"/>
  <Override PartName="/ppt/media/image396.png" ContentType="image/png"/>
  <Override PartName="/ppt/media/image105.png" ContentType="image/png"/>
  <Override PartName="/ppt/media/image397.png" ContentType="image/png"/>
  <Override PartName="/ppt/media/image106.png" ContentType="image/png"/>
  <Override PartName="/ppt/media/image398.png" ContentType="image/png"/>
  <Override PartName="/ppt/media/image107.png" ContentType="image/png"/>
  <Override PartName="/ppt/media/image399.png" ContentType="image/png"/>
  <Override PartName="/ppt/media/image108.png" ContentType="image/png"/>
  <Override PartName="/ppt/media/image109.png" ContentType="image/png"/>
  <Override PartName="/ppt/media/image110.png" ContentType="image/png"/>
  <Override PartName="/ppt/media/image111.png" ContentType="image/png"/>
  <Override PartName="/ppt/media/image112.png" ContentType="image/png"/>
  <Override PartName="/ppt/media/image429.jpeg" ContentType="image/jpeg"/>
  <Override PartName="/ppt/media/image113.png" ContentType="image/png"/>
  <Override PartName="/ppt/media/image114.png" ContentType="image/png"/>
  <Override PartName="/ppt/media/image115.png" ContentType="image/png"/>
  <Override PartName="/ppt/media/image116.png" ContentType="image/png"/>
  <Override PartName="/ppt/media/image117.png" ContentType="image/png"/>
  <Override PartName="/ppt/media/image156.jpeg" ContentType="image/jpeg"/>
  <Override PartName="/ppt/media/image118.png" ContentType="image/png"/>
  <Override PartName="/ppt/media/image119.png" ContentType="image/png"/>
  <Override PartName="/ppt/media/image122.png" ContentType="image/png"/>
  <Override PartName="/ppt/media/image123.png" ContentType="image/png"/>
  <Override PartName="/ppt/media/image124.png" ContentType="image/png"/>
  <Override PartName="/ppt/media/image125.png" ContentType="image/png"/>
  <Override PartName="/ppt/media/image126.png" ContentType="image/png"/>
  <Override PartName="/ppt/media/image127.png" ContentType="image/png"/>
  <Override PartName="/ppt/media/image129.png" ContentType="image/png"/>
  <Override PartName="/ppt/media/image132.png" ContentType="image/png"/>
  <Override PartName="/ppt/media/image133.png" ContentType="image/png"/>
  <Override PartName="/ppt/media/image134.png" ContentType="image/png"/>
  <Override PartName="/ppt/media/image135.png" ContentType="image/png"/>
  <Override PartName="/ppt/media/image136.png" ContentType="image/png"/>
  <Override PartName="/ppt/media/image137.png" ContentType="image/png"/>
  <Override PartName="/ppt/media/image138.png" ContentType="image/png"/>
  <Override PartName="/ppt/media/image269.png" ContentType="image/png"/>
  <Override PartName="/ppt/media/image142.jpeg" ContentType="image/jpeg"/>
  <Override PartName="/ppt/media/image143.png" ContentType="image/png"/>
  <Override PartName="/ppt/media/image144.png" ContentType="image/png"/>
  <Override PartName="/ppt/media/image145.png" ContentType="image/png"/>
  <Override PartName="/ppt/media/image146.png" ContentType="image/png"/>
  <Override PartName="/ppt/media/image147.png" ContentType="image/png"/>
  <Override PartName="/ppt/media/image148.png" ContentType="image/png"/>
  <Override PartName="/ppt/media/image309.png" ContentType="image/png"/>
  <Override PartName="/ppt/media/image152.png" ContentType="image/png"/>
  <Override PartName="/ppt/media/image153.png" ContentType="image/png"/>
  <Override PartName="/ppt/media/image154.png" ContentType="image/png"/>
  <Override PartName="/ppt/media/image155.png" ContentType="image/png"/>
  <Override PartName="/ppt/media/image157.png" ContentType="image/png"/>
  <Override PartName="/ppt/media/image158.png" ContentType="image/png"/>
  <Override PartName="/ppt/media/image319.png" ContentType="image/png"/>
  <Override PartName="/ppt/media/image162.png" ContentType="image/png"/>
  <Override PartName="/ppt/media/image163.png" ContentType="image/png"/>
  <Override PartName="/ppt/media/image164.png" ContentType="image/png"/>
  <Override PartName="/ppt/media/image165.png" ContentType="image/png"/>
  <Override PartName="/ppt/media/image166.png" ContentType="image/png"/>
  <Override PartName="/ppt/media/image167.png" ContentType="image/png"/>
  <Override PartName="/ppt/media/image168.png" ContentType="image/png"/>
  <Override PartName="/ppt/media/image329.png" ContentType="image/png"/>
  <Override PartName="/ppt/media/image172.png" ContentType="image/png"/>
  <Override PartName="/ppt/media/image173.png" ContentType="image/png"/>
  <Override PartName="/ppt/media/image174.png" ContentType="image/png"/>
  <Override PartName="/ppt/media/image175.png" ContentType="image/png"/>
  <Override PartName="/ppt/media/image176.png" ContentType="image/png"/>
  <Override PartName="/ppt/media/image177.png" ContentType="image/png"/>
  <Override PartName="/ppt/media/image178.png" ContentType="image/png"/>
  <Override PartName="/ppt/media/image337.png" ContentType="image/png"/>
  <Override PartName="/ppt/media/image180.png" ContentType="image/png"/>
  <Override PartName="/ppt/media/image338.png" ContentType="image/png"/>
  <Override PartName="/ppt/media/image181.png" ContentType="image/png"/>
  <Override PartName="/ppt/media/image339.png" ContentType="image/png"/>
  <Override PartName="/ppt/media/image182.png" ContentType="image/png"/>
  <Override PartName="/ppt/media/image183.png" ContentType="image/png"/>
  <Override PartName="/ppt/media/image184.png" ContentType="image/png"/>
  <Override PartName="/ppt/media/image185.png" ContentType="image/png"/>
  <Override PartName="/ppt/media/image186.png" ContentType="image/png"/>
  <Override PartName="/ppt/media/image187.png" ContentType="image/png"/>
  <Override PartName="/ppt/media/image188.png" ContentType="image/png"/>
  <Override PartName="/ppt/media/image347.png" ContentType="image/png"/>
  <Override PartName="/ppt/media/image190.png" ContentType="image/png"/>
  <Override PartName="/ppt/media/image348.png" ContentType="image/png"/>
  <Override PartName="/ppt/media/image191.png" ContentType="image/png"/>
  <Override PartName="/ppt/media/image349.png" ContentType="image/png"/>
  <Override PartName="/ppt/media/image192.png" ContentType="image/png"/>
  <Override PartName="/ppt/media/image193.png" ContentType="image/png"/>
  <Override PartName="/ppt/media/image341.png" ContentType="image/png"/>
  <Override PartName="/ppt/media/image194.jpeg" ContentType="image/jpeg"/>
  <Override PartName="/ppt/media/image195.png" ContentType="image/png"/>
  <Override PartName="/ppt/media/image196.png" ContentType="image/png"/>
  <Override PartName="/ppt/media/image197.png" ContentType="image/png"/>
  <Override PartName="/ppt/media/image198.png" ContentType="image/png"/>
  <Override PartName="/ppt/media/image200.png" ContentType="image/png"/>
  <Override PartName="/ppt/media/image201.png" ContentType="image/png"/>
  <Override PartName="/ppt/media/image202.png" ContentType="image/png"/>
  <Override PartName="/ppt/media/image438.jpeg" ContentType="image/jpeg"/>
  <Override PartName="/ppt/media/image203.png" ContentType="image/png"/>
  <Override PartName="/ppt/media/image204.png" ContentType="image/png"/>
  <Override PartName="/ppt/media/image205.png" ContentType="image/png"/>
  <Override PartName="/ppt/media/image206.png" ContentType="image/png"/>
  <Override PartName="/ppt/media/image207.png" ContentType="image/png"/>
  <Override PartName="/ppt/media/image208.png" ContentType="image/png"/>
  <Override PartName="/ppt/media/image209.png" ContentType="image/png"/>
  <Override PartName="/ppt/media/image210.png" ContentType="image/png"/>
  <Override PartName="/ppt/media/image211.png" ContentType="image/png"/>
  <Override PartName="/ppt/media/image212.png" ContentType="image/png"/>
  <Override PartName="/ppt/media/image439.jpeg" ContentType="image/jpeg"/>
  <Override PartName="/ppt/media/image213.png" ContentType="image/png"/>
  <Override PartName="/ppt/media/image214.png" ContentType="image/png"/>
  <Override PartName="/ppt/media/image215.png" ContentType="image/png"/>
  <Override PartName="/ppt/media/image216.png" ContentType="image/png"/>
  <Override PartName="/ppt/media/image217.png" ContentType="image/png"/>
  <Override PartName="/ppt/media/image218.png" ContentType="image/png"/>
  <Override PartName="/ppt/media/image219.png" ContentType="image/png"/>
  <Override PartName="/ppt/media/image220.png" ContentType="image/png"/>
  <Override PartName="/ppt/media/image221.png" ContentType="image/png"/>
  <Override PartName="/ppt/media/image222.png" ContentType="image/png"/>
  <Override PartName="/ppt/media/image223.png" ContentType="image/png"/>
  <Override PartName="/ppt/media/image224.png" ContentType="image/png"/>
  <Override PartName="/ppt/media/image225.png" ContentType="image/png"/>
  <Override PartName="/ppt/media/image226.png" ContentType="image/png"/>
  <Override PartName="/ppt/media/image227.png" ContentType="image/png"/>
  <Override PartName="/ppt/media/image228.png" ContentType="image/png"/>
  <Override PartName="/ppt/media/image229.png" ContentType="image/png"/>
  <Override PartName="/ppt/media/image230.png" ContentType="image/png"/>
  <Override PartName="/ppt/media/image231.png" ContentType="image/png"/>
  <Override PartName="/ppt/media/image232.png" ContentType="image/png"/>
  <Override PartName="/ppt/media/image233.png" ContentType="image/png"/>
  <Override PartName="/ppt/media/image234.png" ContentType="image/png"/>
  <Override PartName="/ppt/media/image235.png" ContentType="image/png"/>
  <Override PartName="/ppt/media/image236.png" ContentType="image/png"/>
  <Override PartName="/ppt/media/image237.png" ContentType="image/png"/>
  <Override PartName="/ppt/media/image238.png" ContentType="image/png"/>
  <Override PartName="/ppt/media/image239.png" ContentType="image/png"/>
  <Override PartName="/ppt/media/image240.png" ContentType="image/png"/>
  <Override PartName="/ppt/media/image241.png" ContentType="image/png"/>
  <Override PartName="/ppt/media/image242.png" ContentType="image/png"/>
  <Override PartName="/ppt/media/image243.png" ContentType="image/png"/>
  <Override PartName="/ppt/media/image244.png" ContentType="image/png"/>
  <Override PartName="/ppt/media/image245.png" ContentType="image/png"/>
  <Override PartName="/ppt/media/image246.png" ContentType="image/png"/>
  <Override PartName="/ppt/media/image247.png" ContentType="image/png"/>
  <Override PartName="/ppt/media/image248.png" ContentType="image/png"/>
  <Override PartName="/ppt/media/image249.png" ContentType="image/png"/>
  <Override PartName="/ppt/media/image407.png" ContentType="image/png"/>
  <Override PartName="/ppt/media/image250.png" ContentType="image/png"/>
  <Override PartName="/ppt/media/image408.png" ContentType="image/png"/>
  <Override PartName="/ppt/media/image251.png" ContentType="image/png"/>
  <Override PartName="/ppt/media/image409.png" ContentType="image/png"/>
  <Override PartName="/ppt/media/image252.png" ContentType="image/png"/>
  <Override PartName="/ppt/media/image253.png" ContentType="image/png"/>
  <Override PartName="/ppt/media/image254.png" ContentType="image/png"/>
  <Override PartName="/ppt/media/image255.png" ContentType="image/png"/>
  <Override PartName="/ppt/media/image256.png" ContentType="image/png"/>
  <Override PartName="/ppt/media/image257.png" ContentType="image/png"/>
  <Override PartName="/ppt/media/image258.png" ContentType="image/png"/>
  <Override PartName="/ppt/media/image259.png" ContentType="image/png"/>
  <Override PartName="/ppt/media/image417.png" ContentType="image/png"/>
  <Override PartName="/ppt/media/image260.png" ContentType="image/png"/>
  <Override PartName="/ppt/media/image418.png" ContentType="image/png"/>
  <Override PartName="/ppt/media/image261.png" ContentType="image/png"/>
  <Override PartName="/ppt/media/image419.png" ContentType="image/png"/>
  <Override PartName="/ppt/media/image262.png" ContentType="image/png"/>
  <Override PartName="/ppt/media/image263.png" ContentType="image/png"/>
  <Override PartName="/ppt/media/image264.png" ContentType="image/png"/>
  <Override PartName="/ppt/media/image265.png" ContentType="image/png"/>
  <Override PartName="/ppt/media/image266.png" ContentType="image/png"/>
  <Override PartName="/ppt/media/image267.png" ContentType="image/png"/>
  <Override PartName="/ppt/media/image268.png" ContentType="image/png"/>
  <Override PartName="/ppt/media/image427.png" ContentType="image/png"/>
  <Override PartName="/ppt/media/image270.png" ContentType="image/png"/>
  <Override PartName="/ppt/media/image271.png" ContentType="image/png"/>
  <Override PartName="/ppt/media/image272.png" ContentType="image/png"/>
  <Override PartName="/ppt/media/image273.png" ContentType="image/png"/>
  <Override PartName="/ppt/media/image274.png" ContentType="image/png"/>
  <Override PartName="/ppt/media/image275.png" ContentType="image/png"/>
  <Override PartName="/ppt/media/image276.png" ContentType="image/png"/>
  <Override PartName="/ppt/media/image277.png" ContentType="image/png"/>
  <Override PartName="/ppt/media/image278.png" ContentType="image/png"/>
  <Override PartName="/ppt/media/image279.png" ContentType="image/png"/>
  <Override PartName="/ppt/media/image280.png" ContentType="image/png"/>
  <Override PartName="/ppt/media/image281.png" ContentType="image/png"/>
  <Override PartName="/ppt/media/image282.png" ContentType="image/png"/>
  <Override PartName="/ppt/media/image283.png" ContentType="image/png"/>
  <Override PartName="/ppt/media/image284.png" ContentType="image/png"/>
  <Override PartName="/ppt/media/image285.png" ContentType="image/png"/>
  <Override PartName="/ppt/media/image286.png" ContentType="image/png"/>
  <Override PartName="/ppt/media/image287.png" ContentType="image/png"/>
  <Override PartName="/ppt/media/image288.png" ContentType="image/png"/>
  <Override PartName="/ppt/media/image289.png" ContentType="image/png"/>
  <Override PartName="/ppt/media/image290.png" ContentType="image/png"/>
  <Override PartName="/ppt/media/image291.png" ContentType="image/png"/>
  <Override PartName="/ppt/media/image292.png" ContentType="image/png"/>
  <Override PartName="/ppt/media/image293.png" ContentType="image/png"/>
  <Override PartName="/ppt/media/image294.png" ContentType="image/png"/>
  <Override PartName="/ppt/media/image295.png" ContentType="image/png"/>
  <Override PartName="/ppt/media/image296.png" ContentType="image/png"/>
  <Override PartName="/ppt/media/image297.png" ContentType="image/png"/>
  <Override PartName="/ppt/media/image330.png" ContentType="image/png"/>
  <Override PartName="/ppt/media/image331.png" ContentType="image/png"/>
  <Override PartName="/ppt/media/image332.png" ContentType="image/png"/>
  <Override PartName="/ppt/media/image333.png" ContentType="image/png"/>
  <Override PartName="/ppt/media/image334.png" ContentType="image/png"/>
  <Override PartName="/ppt/media/image336.png" ContentType="image/png"/>
  <Override PartName="/ppt/media/image340.png" ContentType="image/png"/>
  <Override PartName="/ppt/media/image342.png" ContentType="image/png"/>
  <Override PartName="/ppt/media/image343.png" ContentType="image/png"/>
  <Override PartName="/ppt/media/image344.png" ContentType="image/png"/>
  <Override PartName="/ppt/media/image346.png" ContentType="image/png"/>
  <Override PartName="/ppt/media/image350.png" ContentType="image/png"/>
  <Override PartName="/ppt/media/image351.png" ContentType="image/png"/>
  <Override PartName="/ppt/media/image352.png" ContentType="image/png"/>
  <Override PartName="/ppt/media/image353.png" ContentType="image/png"/>
  <Override PartName="/ppt/media/image354.png" ContentType="image/png"/>
  <Override PartName="/ppt/media/image355.png" ContentType="image/png"/>
  <Override PartName="/ppt/media/image356.png" ContentType="image/png"/>
  <Override PartName="/ppt/media/image357.png" ContentType="image/png"/>
  <Override PartName="/ppt/media/image358.png" ContentType="image/png"/>
  <Override PartName="/ppt/media/image359.png" ContentType="image/png"/>
  <Override PartName="/ppt/media/image360.png" ContentType="image/png"/>
  <Override PartName="/ppt/media/image361.png" ContentType="image/png"/>
  <Override PartName="/ppt/media/image362.png" ContentType="image/png"/>
  <Override PartName="/ppt/media/image363.png" ContentType="image/png"/>
  <Override PartName="/ppt/media/image364.png" ContentType="image/png"/>
  <Override PartName="/ppt/media/image366.png" ContentType="image/png"/>
  <Override PartName="/ppt/media/image367.png" ContentType="image/png"/>
  <Override PartName="/ppt/media/image368.png" ContentType="image/png"/>
  <Override PartName="/ppt/media/image369.png" ContentType="image/png"/>
  <Override PartName="/ppt/media/image370.png" ContentType="image/png"/>
  <Override PartName="/ppt/media/image371.png" ContentType="image/png"/>
  <Override PartName="/ppt/media/image372.png" ContentType="image/png"/>
  <Override PartName="/ppt/media/image373.png" ContentType="image/png"/>
  <Override PartName="/ppt/media/image374.png" ContentType="image/png"/>
  <Override PartName="/ppt/media/image376.png" ContentType="image/png"/>
  <Override PartName="/ppt/media/image377.png" ContentType="image/png"/>
  <Override PartName="/ppt/media/image378.png" ContentType="image/png"/>
  <Override PartName="/ppt/media/image379.png" ContentType="image/png"/>
  <Override PartName="/ppt/media/image381.png" ContentType="image/png"/>
  <Override PartName="/ppt/media/image382.png" ContentType="image/png"/>
  <Override PartName="/ppt/media/image383.png" ContentType="image/png"/>
  <Override PartName="/ppt/media/image384.png" ContentType="image/png"/>
  <Override PartName="/ppt/media/image385.png" ContentType="image/png"/>
  <Override PartName="/ppt/media/image386.png" ContentType="image/png"/>
  <Override PartName="/ppt/media/image387.png" ContentType="image/png"/>
  <Override PartName="/ppt/media/image388.png" ContentType="image/png"/>
  <Override PartName="/ppt/media/image389.png" ContentType="image/png"/>
  <Override PartName="/ppt/media/image400.png" ContentType="image/png"/>
  <Override PartName="/ppt/media/image401.png" ContentType="image/png"/>
  <Override PartName="/ppt/media/image402.png" ContentType="image/png"/>
  <Override PartName="/ppt/media/image403.png" ContentType="image/png"/>
  <Override PartName="/ppt/media/image404.png" ContentType="image/png"/>
  <Override PartName="/ppt/media/image405.png" ContentType="image/png"/>
  <Override PartName="/ppt/media/image406.png" ContentType="image/png"/>
  <Override PartName="/ppt/media/image410.png" ContentType="image/png"/>
  <Override PartName="/ppt/media/image411.png" ContentType="image/png"/>
  <Override PartName="/ppt/media/image412.png" ContentType="image/png"/>
  <Override PartName="/ppt/media/image413.png" ContentType="image/png"/>
  <Override PartName="/ppt/media/image430.jpeg" ContentType="image/jpeg"/>
  <Override PartName="/ppt/media/image414.png" ContentType="image/png"/>
  <Override PartName="/ppt/media/image416.png" ContentType="image/png"/>
  <Override PartName="/ppt/media/image420.png" ContentType="image/png"/>
  <Override PartName="/ppt/media/image421.png" ContentType="image/png"/>
  <Override PartName="/ppt/media/image422.png" ContentType="image/png"/>
  <Override PartName="/ppt/media/image423.png" ContentType="image/png"/>
  <Override PartName="/ppt/media/image431.jpeg" ContentType="image/jpeg"/>
  <Override PartName="/ppt/media/image424.png" ContentType="image/png"/>
  <Override PartName="/ppt/media/image426.png" ContentType="image/png"/>
  <Override PartName="/ppt/media/image432.jpeg" ContentType="image/jpeg"/>
  <Override PartName="/ppt/media/image433.jpeg" ContentType="image/jpeg"/>
  <Override PartName="/ppt/media/image434.jpeg" ContentType="image/jpeg"/>
  <Override PartName="/ppt/media/image435.jpeg" ContentType="image/jpeg"/>
  <Override PartName="/ppt/media/image436.jpeg" ContentType="image/jpeg"/>
  <Override PartName="/ppt/media/image43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5765800" cy="32448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95400" y="45720"/>
            <a:ext cx="4337280" cy="1132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204228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379656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28800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204228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379656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95400" y="45720"/>
            <a:ext cx="4337280" cy="1132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204228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379656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28800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204228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379656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95400" y="45720"/>
            <a:ext cx="4337280" cy="1132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204228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379656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28800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body"/>
          </p:nvPr>
        </p:nvSpPr>
        <p:spPr>
          <a:xfrm>
            <a:off x="204228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body"/>
          </p:nvPr>
        </p:nvSpPr>
        <p:spPr>
          <a:xfrm>
            <a:off x="379656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95400" y="45720"/>
            <a:ext cx="4337280" cy="1132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1881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288000" y="1742040"/>
            <a:ext cx="51886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2946960" y="7592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28800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2946960" y="1742040"/>
            <a:ext cx="253188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1800" spc="-1" strike="noStrike"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28800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204228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3796560" y="7592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28800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body"/>
          </p:nvPr>
        </p:nvSpPr>
        <p:spPr>
          <a:xfrm>
            <a:off x="204228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 type="body"/>
          </p:nvPr>
        </p:nvSpPr>
        <p:spPr>
          <a:xfrm>
            <a:off x="3796560" y="1742040"/>
            <a:ext cx="1670400" cy="89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5759640" cy="321480"/>
          </a:xfrm>
          <a:custGeom>
            <a:avLst/>
            <a:gdLst/>
            <a:ahLst/>
            <a:rect l="l" t="t" r="r" b="b"/>
            <a:pathLst>
              <a:path w="5760085" h="321945">
                <a:moveTo>
                  <a:pt x="5759996" y="0"/>
                </a:moveTo>
                <a:lnTo>
                  <a:pt x="0" y="0"/>
                </a:lnTo>
                <a:lnTo>
                  <a:pt x="0" y="321500"/>
                </a:lnTo>
                <a:lnTo>
                  <a:pt x="5759996" y="321500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Calibri"/>
              </a:rPr>
              <a:t>Click to edit the title text format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53360" y="593640"/>
            <a:ext cx="5406840" cy="21402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latin typeface="Calibri"/>
              </a:rPr>
              <a:t>Click to edit the outline text format</a:t>
            </a:r>
            <a:endParaRPr b="0" lang="en-US" sz="10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latin typeface="Calibri"/>
              </a:rPr>
              <a:t>Second Outline Level</a:t>
            </a:r>
            <a:endParaRPr b="0" lang="en-US" sz="10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latin typeface="Calibri"/>
              </a:rPr>
              <a:t>Third Outline Level</a:t>
            </a:r>
            <a:endParaRPr b="0" lang="en-US" sz="10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latin typeface="Calibri"/>
              </a:rPr>
              <a:t>Fourth Outline Level</a:t>
            </a:r>
            <a:endParaRPr b="0" lang="en-US" sz="10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latin typeface="Calibri"/>
              </a:rPr>
              <a:t>Fifth Outline Level</a:t>
            </a:r>
            <a:endParaRPr b="0" lang="en-US" sz="1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latin typeface="Calibri"/>
              </a:rPr>
              <a:t>Sixth Outline Level</a:t>
            </a:r>
            <a:endParaRPr b="0" lang="en-US" sz="1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latin typeface="Calibri"/>
              </a:rPr>
              <a:t>Seventh Outline Level</a:t>
            </a:r>
            <a:endParaRPr b="0" lang="en-US" sz="1000" spc="-1" strike="noStrike"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1960200" y="3017880"/>
            <a:ext cx="184464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/>
          </p:nvPr>
        </p:nvSpPr>
        <p:spPr>
          <a:xfrm>
            <a:off x="288360" y="3017880"/>
            <a:ext cx="132588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9970C31C-E1F2-4A47-BA17-159FD64231A3}" type="datetime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9/7/26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/>
          </p:nvPr>
        </p:nvSpPr>
        <p:spPr>
          <a:xfrm>
            <a:off x="5479200" y="3140280"/>
            <a:ext cx="230400" cy="1036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B846417E-3D1D-4A1F-AB95-7FFDB8A454C5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5759640" cy="321480"/>
          </a:xfrm>
          <a:custGeom>
            <a:avLst/>
            <a:gdLst/>
            <a:ahLst/>
            <a:rect l="l" t="t" r="r" b="b"/>
            <a:pathLst>
              <a:path w="5760085" h="321945">
                <a:moveTo>
                  <a:pt x="5759996" y="0"/>
                </a:moveTo>
                <a:lnTo>
                  <a:pt x="0" y="0"/>
                </a:lnTo>
                <a:lnTo>
                  <a:pt x="0" y="321500"/>
                </a:lnTo>
                <a:lnTo>
                  <a:pt x="5759996" y="321500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PlaceHolder 2"/>
          <p:cNvSpPr>
            <a:spLocks noGrp="1"/>
          </p:cNvSpPr>
          <p:nvPr>
            <p:ph type="ftr"/>
          </p:nvPr>
        </p:nvSpPr>
        <p:spPr>
          <a:xfrm>
            <a:off x="1960200" y="3017880"/>
            <a:ext cx="184464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288360" y="3017880"/>
            <a:ext cx="132588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D17F52B9-4EB5-47F9-B9E6-61D7B43E4849}" type="datetime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9/7/26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/>
          </p:nvPr>
        </p:nvSpPr>
        <p:spPr>
          <a:xfrm>
            <a:off x="5479200" y="3140280"/>
            <a:ext cx="230400" cy="1036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AE23A0D2-53FA-4C62-805B-3D45D754E407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title"/>
          </p:nvPr>
        </p:nvSpPr>
        <p:spPr>
          <a:xfrm>
            <a:off x="288000" y="129240"/>
            <a:ext cx="5188680" cy="541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Calibri"/>
              </a:rPr>
              <a:t>Click to edit the title text format</a:t>
            </a:r>
            <a:endParaRPr b="0" lang="en-US" sz="1800" spc="-1" strike="noStrike"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 fontScale="7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Fifth Outline Level</a:t>
            </a:r>
            <a:endParaRPr b="0" lang="en-US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Sixth Outline Level</a:t>
            </a:r>
            <a:endParaRPr b="0" lang="en-US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Seventh Outline Level</a:t>
            </a:r>
            <a:endParaRPr b="0" lang="en-US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0" y="0"/>
            <a:ext cx="5759640" cy="321480"/>
          </a:xfrm>
          <a:custGeom>
            <a:avLst/>
            <a:gdLst/>
            <a:ahLst/>
            <a:rect l="l" t="t" r="r" b="b"/>
            <a:pathLst>
              <a:path w="5760085" h="321945">
                <a:moveTo>
                  <a:pt x="5759996" y="0"/>
                </a:moveTo>
                <a:lnTo>
                  <a:pt x="0" y="0"/>
                </a:lnTo>
                <a:lnTo>
                  <a:pt x="0" y="321500"/>
                </a:lnTo>
                <a:lnTo>
                  <a:pt x="5759996" y="321500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95400" y="45720"/>
            <a:ext cx="2941560" cy="541800"/>
          </a:xfrm>
          <a:prstGeom prst="rect">
            <a:avLst/>
          </a:prstGeom>
        </p:spPr>
        <p:txBody>
          <a:bodyPr lIns="0" rIns="0" tIns="0" bIns="0">
            <a:spAutoFit/>
          </a:bodyPr>
          <a:p>
            <a:r>
              <a:rPr b="0" lang="en-US" sz="1400" spc="-1" strike="noStrike">
                <a:latin typeface="Calibri"/>
              </a:rPr>
              <a:t>Click to edit the title text format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/>
          </p:nvPr>
        </p:nvSpPr>
        <p:spPr>
          <a:xfrm>
            <a:off x="1960200" y="3017880"/>
            <a:ext cx="184464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/>
          </p:nvPr>
        </p:nvSpPr>
        <p:spPr>
          <a:xfrm>
            <a:off x="288360" y="3017880"/>
            <a:ext cx="132588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9B2A9386-6020-469B-BF61-570DAD87B334}" type="datetime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9/7/26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/>
          </p:nvPr>
        </p:nvSpPr>
        <p:spPr>
          <a:xfrm>
            <a:off x="5479200" y="3140280"/>
            <a:ext cx="230400" cy="1036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8F1B9C5F-2045-4A25-A1A5-0760F8ABF4FB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 fontScale="7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Fifth Outline Level</a:t>
            </a:r>
            <a:endParaRPr b="0" lang="en-US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Sixth Outline Level</a:t>
            </a:r>
            <a:endParaRPr b="0" lang="en-US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Seventh Outline Level</a:t>
            </a:r>
            <a:endParaRPr b="0" lang="en-US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0"/>
            <a:ext cx="5759640" cy="321480"/>
          </a:xfrm>
          <a:custGeom>
            <a:avLst/>
            <a:gdLst/>
            <a:ahLst/>
            <a:rect l="l" t="t" r="r" b="b"/>
            <a:pathLst>
              <a:path w="5760085" h="321945">
                <a:moveTo>
                  <a:pt x="5759996" y="0"/>
                </a:moveTo>
                <a:lnTo>
                  <a:pt x="0" y="0"/>
                </a:lnTo>
                <a:lnTo>
                  <a:pt x="0" y="321500"/>
                </a:lnTo>
                <a:lnTo>
                  <a:pt x="5759996" y="321500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95400" y="45720"/>
            <a:ext cx="4337280" cy="24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Calibri"/>
              </a:rPr>
              <a:t>Click to edit the title text format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ftr"/>
          </p:nvPr>
        </p:nvSpPr>
        <p:spPr>
          <a:xfrm>
            <a:off x="1960200" y="3017880"/>
            <a:ext cx="184464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/>
          </p:nvPr>
        </p:nvSpPr>
        <p:spPr>
          <a:xfrm>
            <a:off x="288360" y="3017880"/>
            <a:ext cx="1325880" cy="16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6227EBDB-AEE0-4290-BE3D-03F88F508F34}" type="datetime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9/7/26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/>
          </p:nvPr>
        </p:nvSpPr>
        <p:spPr>
          <a:xfrm>
            <a:off x="5479200" y="3140280"/>
            <a:ext cx="230400" cy="1036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3C09618C-591E-4065-BC62-C0CC04EC319A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body"/>
          </p:nvPr>
        </p:nvSpPr>
        <p:spPr>
          <a:xfrm>
            <a:off x="288000" y="759240"/>
            <a:ext cx="5188680" cy="1881360"/>
          </a:xfrm>
          <a:prstGeom prst="rect">
            <a:avLst/>
          </a:prstGeom>
        </p:spPr>
        <p:txBody>
          <a:bodyPr lIns="0" rIns="0" tIns="0" bIns="0">
            <a:normAutofit fontScale="7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Fifth Outline Level</a:t>
            </a:r>
            <a:endParaRPr b="0" lang="en-US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Sixth Outline Level</a:t>
            </a:r>
            <a:endParaRPr b="0" lang="en-US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Seventh Outline Level</a:t>
            </a:r>
            <a:endParaRPr b="0" lang="en-US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hyperlink" Target="https://www.looper.com/198685/the-stunning-evolution-of-ai-in-movies/" TargetMode="External"/><Relationship Id="rId5" Type="http://schemas.openxmlformats.org/officeDocument/2006/relationships/hyperlink" Target="https://www.looper.com/198685/the-stunning-evolution-of-ai-in-movies/" TargetMode="External"/><Relationship Id="rId6" Type="http://schemas.openxmlformats.org/officeDocument/2006/relationships/hyperlink" Target="https://www.looper.com/198685/the-stunning-evolution-of-ai-in-movies/" TargetMode="External"/><Relationship Id="rId7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3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4.png"/><Relationship Id="rId14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Relationship Id="rId13" Type="http://schemas.openxmlformats.org/officeDocument/2006/relationships/image" Target="../media/image127.png"/><Relationship Id="rId14" Type="http://schemas.openxmlformats.org/officeDocument/2006/relationships/image" Target="../media/image128.jpeg"/><Relationship Id="rId15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image" Target="../media/image140.png"/><Relationship Id="rId13" Type="http://schemas.openxmlformats.org/officeDocument/2006/relationships/image" Target="../media/image141.png"/><Relationship Id="rId14" Type="http://schemas.openxmlformats.org/officeDocument/2006/relationships/image" Target="../media/image142.jpeg"/><Relationship Id="rId15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43.png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154.png"/><Relationship Id="rId13" Type="http://schemas.openxmlformats.org/officeDocument/2006/relationships/image" Target="../media/image155.png"/><Relationship Id="rId14" Type="http://schemas.openxmlformats.org/officeDocument/2006/relationships/image" Target="../media/image156.jpeg"/><Relationship Id="rId15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57.png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Relationship Id="rId9" Type="http://schemas.openxmlformats.org/officeDocument/2006/relationships/image" Target="../media/image165.png"/><Relationship Id="rId10" Type="http://schemas.openxmlformats.org/officeDocument/2006/relationships/image" Target="../media/image166.png"/><Relationship Id="rId11" Type="http://schemas.openxmlformats.org/officeDocument/2006/relationships/image" Target="../media/image167.png"/><Relationship Id="rId12" Type="http://schemas.openxmlformats.org/officeDocument/2006/relationships/image" Target="../media/image168.png"/><Relationship Id="rId13" Type="http://schemas.openxmlformats.org/officeDocument/2006/relationships/image" Target="../media/image169.png"/><Relationship Id="rId14" Type="http://schemas.openxmlformats.org/officeDocument/2006/relationships/image" Target="../media/image170.png"/><Relationship Id="rId15" Type="http://schemas.openxmlformats.org/officeDocument/2006/relationships/image" Target="../media/image171.png"/><Relationship Id="rId16" Type="http://schemas.openxmlformats.org/officeDocument/2006/relationships/image" Target="../media/image172.png"/><Relationship Id="rId17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73.png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Relationship Id="rId17" Type="http://schemas.openxmlformats.org/officeDocument/2006/relationships/image" Target="../media/image189.png"/><Relationship Id="rId18" Type="http://schemas.openxmlformats.org/officeDocument/2006/relationships/hyperlink" Target="https://dilbert.com/strip/2009-03-16" TargetMode="External"/><Relationship Id="rId19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90.png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4.jpeg"/><Relationship Id="rId6" Type="http://schemas.openxmlformats.org/officeDocument/2006/relationships/image" Target="../media/image195.png"/><Relationship Id="rId7" Type="http://schemas.openxmlformats.org/officeDocument/2006/relationships/hyperlink" Target="https://www.youtube.com/watch?v=teEpraULBRw" TargetMode="External"/><Relationship Id="rId8" Type="http://schemas.openxmlformats.org/officeDocument/2006/relationships/hyperlink" Target="https://www.youtube.com/watch?v=teEpraULBRw" TargetMode="External"/><Relationship Id="rId9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96.png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Relationship Id="rId11" Type="http://schemas.openxmlformats.org/officeDocument/2006/relationships/image" Target="../media/image206.png"/><Relationship Id="rId12" Type="http://schemas.openxmlformats.org/officeDocument/2006/relationships/image" Target="../media/image207.png"/><Relationship Id="rId13" Type="http://schemas.openxmlformats.org/officeDocument/2006/relationships/image" Target="../media/image208.png"/><Relationship Id="rId14" Type="http://schemas.openxmlformats.org/officeDocument/2006/relationships/image" Target="../media/image209.png"/><Relationship Id="rId15" Type="http://schemas.openxmlformats.org/officeDocument/2006/relationships/image" Target="../media/image210.png"/><Relationship Id="rId16" Type="http://schemas.openxmlformats.org/officeDocument/2006/relationships/image" Target="../media/image211.png"/><Relationship Id="rId17" Type="http://schemas.openxmlformats.org/officeDocument/2006/relationships/image" Target="../media/image212.png"/><Relationship Id="rId18" Type="http://schemas.openxmlformats.org/officeDocument/2006/relationships/image" Target="../media/image213.png"/><Relationship Id="rId19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14.png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Relationship Id="rId7" Type="http://schemas.openxmlformats.org/officeDocument/2006/relationships/image" Target="../media/image220.png"/><Relationship Id="rId8" Type="http://schemas.openxmlformats.org/officeDocument/2006/relationships/image" Target="../media/image221.png"/><Relationship Id="rId9" Type="http://schemas.openxmlformats.org/officeDocument/2006/relationships/image" Target="../media/image222.png"/><Relationship Id="rId10" Type="http://schemas.openxmlformats.org/officeDocument/2006/relationships/image" Target="../media/image223.png"/><Relationship Id="rId11" Type="http://schemas.openxmlformats.org/officeDocument/2006/relationships/image" Target="../media/image224.png"/><Relationship Id="rId12" Type="http://schemas.openxmlformats.org/officeDocument/2006/relationships/image" Target="../media/image225.png"/><Relationship Id="rId13" Type="http://schemas.openxmlformats.org/officeDocument/2006/relationships/image" Target="../media/image226.png"/><Relationship Id="rId14" Type="http://schemas.openxmlformats.org/officeDocument/2006/relationships/image" Target="../media/image227.png"/><Relationship Id="rId15" Type="http://schemas.openxmlformats.org/officeDocument/2006/relationships/image" Target="../media/image228.png"/><Relationship Id="rId16" Type="http://schemas.openxmlformats.org/officeDocument/2006/relationships/image" Target="../media/image229.png"/><Relationship Id="rId17" Type="http://schemas.openxmlformats.org/officeDocument/2006/relationships/image" Target="../media/image230.png"/><Relationship Id="rId18" Type="http://schemas.openxmlformats.org/officeDocument/2006/relationships/image" Target="../media/image231.png"/><Relationship Id="rId19" Type="http://schemas.openxmlformats.org/officeDocument/2006/relationships/image" Target="../media/image232.png"/><Relationship Id="rId20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33.png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Relationship Id="rId1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44.png"/><Relationship Id="rId2" Type="http://schemas.openxmlformats.org/officeDocument/2006/relationships/image" Target="../media/image245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50.png"/><Relationship Id="rId8" Type="http://schemas.openxmlformats.org/officeDocument/2006/relationships/image" Target="../media/image251.png"/><Relationship Id="rId9" Type="http://schemas.openxmlformats.org/officeDocument/2006/relationships/image" Target="../media/image252.png"/><Relationship Id="rId10" Type="http://schemas.openxmlformats.org/officeDocument/2006/relationships/image" Target="../media/image253.png"/><Relationship Id="rId11" Type="http://schemas.openxmlformats.org/officeDocument/2006/relationships/image" Target="../media/image254.png"/><Relationship Id="rId12" Type="http://schemas.openxmlformats.org/officeDocument/2006/relationships/image" Target="../media/image255.png"/><Relationship Id="rId13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56.png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Relationship Id="rId8" Type="http://schemas.openxmlformats.org/officeDocument/2006/relationships/image" Target="../media/image263.png"/><Relationship Id="rId9" Type="http://schemas.openxmlformats.org/officeDocument/2006/relationships/image" Target="../media/image264.png"/><Relationship Id="rId10" Type="http://schemas.openxmlformats.org/officeDocument/2006/relationships/image" Target="../media/image265.png"/><Relationship Id="rId11" Type="http://schemas.openxmlformats.org/officeDocument/2006/relationships/image" Target="../media/image266.png"/><Relationship Id="rId12" Type="http://schemas.openxmlformats.org/officeDocument/2006/relationships/image" Target="../media/image267.png"/><Relationship Id="rId13" Type="http://schemas.openxmlformats.org/officeDocument/2006/relationships/image" Target="../media/image268.png"/><Relationship Id="rId14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69.png"/><Relationship Id="rId2" Type="http://schemas.openxmlformats.org/officeDocument/2006/relationships/image" Target="../media/image270.png"/><Relationship Id="rId3" Type="http://schemas.openxmlformats.org/officeDocument/2006/relationships/image" Target="../media/image271.png"/><Relationship Id="rId4" Type="http://schemas.openxmlformats.org/officeDocument/2006/relationships/image" Target="../media/image272.png"/><Relationship Id="rId5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73.png"/><Relationship Id="rId2" Type="http://schemas.openxmlformats.org/officeDocument/2006/relationships/image" Target="../media/image274.png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84.png"/><Relationship Id="rId2" Type="http://schemas.openxmlformats.org/officeDocument/2006/relationships/image" Target="../media/image285.png"/><Relationship Id="rId3" Type="http://schemas.openxmlformats.org/officeDocument/2006/relationships/image" Target="../media/image286.png"/><Relationship Id="rId4" Type="http://schemas.openxmlformats.org/officeDocument/2006/relationships/image" Target="../media/image287.png"/><Relationship Id="rId5" Type="http://schemas.openxmlformats.org/officeDocument/2006/relationships/image" Target="../media/image288.png"/><Relationship Id="rId6" Type="http://schemas.openxmlformats.org/officeDocument/2006/relationships/image" Target="../media/image289.png"/><Relationship Id="rId7" Type="http://schemas.openxmlformats.org/officeDocument/2006/relationships/image" Target="../media/image290.png"/><Relationship Id="rId8" Type="http://schemas.openxmlformats.org/officeDocument/2006/relationships/image" Target="../media/image291.png"/><Relationship Id="rId9" Type="http://schemas.openxmlformats.org/officeDocument/2006/relationships/image" Target="../media/image292.png"/><Relationship Id="rId10" Type="http://schemas.openxmlformats.org/officeDocument/2006/relationships/image" Target="../media/image293.png"/><Relationship Id="rId1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94.png"/><Relationship Id="rId2" Type="http://schemas.openxmlformats.org/officeDocument/2006/relationships/image" Target="../media/image295.png"/><Relationship Id="rId3" Type="http://schemas.openxmlformats.org/officeDocument/2006/relationships/image" Target="../media/image296.png"/><Relationship Id="rId4" Type="http://schemas.openxmlformats.org/officeDocument/2006/relationships/image" Target="../media/image297.png"/><Relationship Id="rId5" Type="http://schemas.openxmlformats.org/officeDocument/2006/relationships/image" Target="../media/image298.png"/><Relationship Id="rId6" Type="http://schemas.openxmlformats.org/officeDocument/2006/relationships/image" Target="../media/image299.png"/><Relationship Id="rId7" Type="http://schemas.openxmlformats.org/officeDocument/2006/relationships/image" Target="../media/image300.png"/><Relationship Id="rId8" Type="http://schemas.openxmlformats.org/officeDocument/2006/relationships/image" Target="../media/image301.png"/><Relationship Id="rId9" Type="http://schemas.openxmlformats.org/officeDocument/2006/relationships/image" Target="../media/image302.png"/><Relationship Id="rId10" Type="http://schemas.openxmlformats.org/officeDocument/2006/relationships/image" Target="../media/image303.png"/><Relationship Id="rId11" Type="http://schemas.openxmlformats.org/officeDocument/2006/relationships/image" Target="../media/image304.png"/><Relationship Id="rId12" Type="http://schemas.openxmlformats.org/officeDocument/2006/relationships/image" Target="../media/image305.png"/><Relationship Id="rId13" Type="http://schemas.openxmlformats.org/officeDocument/2006/relationships/image" Target="../media/image306.png"/><Relationship Id="rId14" Type="http://schemas.openxmlformats.org/officeDocument/2006/relationships/image" Target="../media/image307.png"/><Relationship Id="rId15" Type="http://schemas.openxmlformats.org/officeDocument/2006/relationships/image" Target="../media/image308.png"/><Relationship Id="rId16" Type="http://schemas.openxmlformats.org/officeDocument/2006/relationships/image" Target="../media/image309.png"/><Relationship Id="rId17" Type="http://schemas.openxmlformats.org/officeDocument/2006/relationships/image" Target="../media/image310.png"/><Relationship Id="rId18" Type="http://schemas.openxmlformats.org/officeDocument/2006/relationships/image" Target="../media/image311.png"/><Relationship Id="rId19" Type="http://schemas.openxmlformats.org/officeDocument/2006/relationships/image" Target="../media/image312.png"/><Relationship Id="rId20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313.png"/><Relationship Id="rId2" Type="http://schemas.openxmlformats.org/officeDocument/2006/relationships/image" Target="../media/image314.png"/><Relationship Id="rId3" Type="http://schemas.openxmlformats.org/officeDocument/2006/relationships/image" Target="../media/image315.png"/><Relationship Id="rId4" Type="http://schemas.openxmlformats.org/officeDocument/2006/relationships/image" Target="../media/image316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Relationship Id="rId7" Type="http://schemas.openxmlformats.org/officeDocument/2006/relationships/image" Target="../media/image319.png"/><Relationship Id="rId8" Type="http://schemas.openxmlformats.org/officeDocument/2006/relationships/image" Target="../media/image320.png"/><Relationship Id="rId9" Type="http://schemas.openxmlformats.org/officeDocument/2006/relationships/image" Target="../media/image321.png"/><Relationship Id="rId10" Type="http://schemas.openxmlformats.org/officeDocument/2006/relationships/image" Target="../media/image322.png"/><Relationship Id="rId1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23.png"/><Relationship Id="rId2" Type="http://schemas.openxmlformats.org/officeDocument/2006/relationships/image" Target="../media/image324.png"/><Relationship Id="rId3" Type="http://schemas.openxmlformats.org/officeDocument/2006/relationships/image" Target="../media/image325.png"/><Relationship Id="rId4" Type="http://schemas.openxmlformats.org/officeDocument/2006/relationships/image" Target="../media/image326.png"/><Relationship Id="rId5" Type="http://schemas.openxmlformats.org/officeDocument/2006/relationships/image" Target="../media/image327.png"/><Relationship Id="rId6" Type="http://schemas.openxmlformats.org/officeDocument/2006/relationships/image" Target="../media/image328.png"/><Relationship Id="rId7" Type="http://schemas.openxmlformats.org/officeDocument/2006/relationships/image" Target="../media/image329.png"/><Relationship Id="rId8" Type="http://schemas.openxmlformats.org/officeDocument/2006/relationships/image" Target="../media/image330.png"/><Relationship Id="rId9" Type="http://schemas.openxmlformats.org/officeDocument/2006/relationships/image" Target="../media/image331.png"/><Relationship Id="rId10" Type="http://schemas.openxmlformats.org/officeDocument/2006/relationships/image" Target="../media/image332.png"/><Relationship Id="rId11" Type="http://schemas.openxmlformats.org/officeDocument/2006/relationships/image" Target="../media/image333.png"/><Relationship Id="rId12" Type="http://schemas.openxmlformats.org/officeDocument/2006/relationships/image" Target="../media/image334.png"/><Relationship Id="rId13" Type="http://schemas.openxmlformats.org/officeDocument/2006/relationships/image" Target="../media/image335.png"/><Relationship Id="rId14" Type="http://schemas.openxmlformats.org/officeDocument/2006/relationships/image" Target="../media/image336.png"/><Relationship Id="rId15" Type="http://schemas.openxmlformats.org/officeDocument/2006/relationships/image" Target="../media/image337.png"/><Relationship Id="rId16" Type="http://schemas.openxmlformats.org/officeDocument/2006/relationships/image" Target="../media/image338.png"/><Relationship Id="rId17" Type="http://schemas.openxmlformats.org/officeDocument/2006/relationships/image" Target="../media/image339.png"/><Relationship Id="rId18" Type="http://schemas.openxmlformats.org/officeDocument/2006/relationships/image" Target="../media/image340.png"/><Relationship Id="rId19" Type="http://schemas.openxmlformats.org/officeDocument/2006/relationships/image" Target="../media/image341.png"/><Relationship Id="rId20" Type="http://schemas.openxmlformats.org/officeDocument/2006/relationships/image" Target="../media/image342.png"/><Relationship Id="rId21" Type="http://schemas.openxmlformats.org/officeDocument/2006/relationships/image" Target="../media/image343.png"/><Relationship Id="rId22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344.png"/><Relationship Id="rId2" Type="http://schemas.openxmlformats.org/officeDocument/2006/relationships/image" Target="../media/image345.png"/><Relationship Id="rId3" Type="http://schemas.openxmlformats.org/officeDocument/2006/relationships/image" Target="../media/image346.png"/><Relationship Id="rId4" Type="http://schemas.openxmlformats.org/officeDocument/2006/relationships/image" Target="../media/image347.png"/><Relationship Id="rId5" Type="http://schemas.openxmlformats.org/officeDocument/2006/relationships/image" Target="../media/image348.png"/><Relationship Id="rId6" Type="http://schemas.openxmlformats.org/officeDocument/2006/relationships/image" Target="../media/image349.png"/><Relationship Id="rId7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350.png"/><Relationship Id="rId2" Type="http://schemas.openxmlformats.org/officeDocument/2006/relationships/image" Target="../media/image351.png"/><Relationship Id="rId3" Type="http://schemas.openxmlformats.org/officeDocument/2006/relationships/image" Target="../media/image352.png"/><Relationship Id="rId4" Type="http://schemas.openxmlformats.org/officeDocument/2006/relationships/image" Target="../media/image353.png"/><Relationship Id="rId5" Type="http://schemas.openxmlformats.org/officeDocument/2006/relationships/image" Target="../media/image354.png"/><Relationship Id="rId6" Type="http://schemas.openxmlformats.org/officeDocument/2006/relationships/image" Target="../media/image355.png"/><Relationship Id="rId7" Type="http://schemas.openxmlformats.org/officeDocument/2006/relationships/image" Target="../media/image356.png"/><Relationship Id="rId8" Type="http://schemas.openxmlformats.org/officeDocument/2006/relationships/image" Target="../media/image357.png"/><Relationship Id="rId9" Type="http://schemas.openxmlformats.org/officeDocument/2006/relationships/image" Target="../media/image358.png"/><Relationship Id="rId10" Type="http://schemas.openxmlformats.org/officeDocument/2006/relationships/image" Target="../media/image359.png"/><Relationship Id="rId11" Type="http://schemas.openxmlformats.org/officeDocument/2006/relationships/image" Target="../media/image360.png"/><Relationship Id="rId12" Type="http://schemas.openxmlformats.org/officeDocument/2006/relationships/image" Target="../media/image361.png"/><Relationship Id="rId13" Type="http://schemas.openxmlformats.org/officeDocument/2006/relationships/image" Target="../media/image362.png"/><Relationship Id="rId14" Type="http://schemas.openxmlformats.org/officeDocument/2006/relationships/image" Target="../media/image363.png"/><Relationship Id="rId15" Type="http://schemas.openxmlformats.org/officeDocument/2006/relationships/image" Target="../media/image364.png"/><Relationship Id="rId16" Type="http://schemas.openxmlformats.org/officeDocument/2006/relationships/image" Target="../media/image365.png"/><Relationship Id="rId17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366.png"/><Relationship Id="rId2" Type="http://schemas.openxmlformats.org/officeDocument/2006/relationships/image" Target="../media/image367.png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Relationship Id="rId10" Type="http://schemas.openxmlformats.org/officeDocument/2006/relationships/image" Target="../media/image375.png"/><Relationship Id="rId1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376.png"/><Relationship Id="rId2" Type="http://schemas.openxmlformats.org/officeDocument/2006/relationships/image" Target="../media/image377.png"/><Relationship Id="rId3" Type="http://schemas.openxmlformats.org/officeDocument/2006/relationships/image" Target="../media/image378.png"/><Relationship Id="rId4" Type="http://schemas.openxmlformats.org/officeDocument/2006/relationships/image" Target="../media/image379.png"/><Relationship Id="rId5" Type="http://schemas.openxmlformats.org/officeDocument/2006/relationships/image" Target="../media/image380.png"/><Relationship Id="rId6" Type="http://schemas.openxmlformats.org/officeDocument/2006/relationships/image" Target="../media/image381.png"/><Relationship Id="rId7" Type="http://schemas.openxmlformats.org/officeDocument/2006/relationships/image" Target="../media/image382.png"/><Relationship Id="rId8" Type="http://schemas.openxmlformats.org/officeDocument/2006/relationships/image" Target="../media/image383.png"/><Relationship Id="rId9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384.png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Relationship Id="rId7" Type="http://schemas.openxmlformats.org/officeDocument/2006/relationships/image" Target="../media/image390.png"/><Relationship Id="rId8" Type="http://schemas.openxmlformats.org/officeDocument/2006/relationships/image" Target="../media/image391.png"/><Relationship Id="rId9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392.png"/><Relationship Id="rId2" Type="http://schemas.openxmlformats.org/officeDocument/2006/relationships/image" Target="../media/image393.png"/><Relationship Id="rId3" Type="http://schemas.openxmlformats.org/officeDocument/2006/relationships/image" Target="../media/image394.png"/><Relationship Id="rId4" Type="http://schemas.openxmlformats.org/officeDocument/2006/relationships/image" Target="../media/image395.png"/><Relationship Id="rId5" Type="http://schemas.openxmlformats.org/officeDocument/2006/relationships/image" Target="../media/image396.png"/><Relationship Id="rId6" Type="http://schemas.openxmlformats.org/officeDocument/2006/relationships/image" Target="../media/image397.png"/><Relationship Id="rId7" Type="http://schemas.openxmlformats.org/officeDocument/2006/relationships/image" Target="../media/image398.png"/><Relationship Id="rId8" Type="http://schemas.openxmlformats.org/officeDocument/2006/relationships/image" Target="../media/image399.png"/><Relationship Id="rId9" Type="http://schemas.openxmlformats.org/officeDocument/2006/relationships/image" Target="../media/image400.png"/><Relationship Id="rId10" Type="http://schemas.openxmlformats.org/officeDocument/2006/relationships/image" Target="../media/image401.png"/><Relationship Id="rId11" Type="http://schemas.openxmlformats.org/officeDocument/2006/relationships/image" Target="../media/image402.png"/><Relationship Id="rId12" Type="http://schemas.openxmlformats.org/officeDocument/2006/relationships/image" Target="../media/image403.png"/><Relationship Id="rId13" Type="http://schemas.openxmlformats.org/officeDocument/2006/relationships/image" Target="../media/image404.png"/><Relationship Id="rId14" Type="http://schemas.openxmlformats.org/officeDocument/2006/relationships/image" Target="../media/image405.png"/><Relationship Id="rId15" Type="http://schemas.openxmlformats.org/officeDocument/2006/relationships/image" Target="../media/image406.png"/><Relationship Id="rId16" Type="http://schemas.openxmlformats.org/officeDocument/2006/relationships/image" Target="../media/image407.png"/><Relationship Id="rId17" Type="http://schemas.openxmlformats.org/officeDocument/2006/relationships/image" Target="../media/image408.png"/><Relationship Id="rId18" Type="http://schemas.openxmlformats.org/officeDocument/2006/relationships/image" Target="../media/image409.png"/><Relationship Id="rId19" Type="http://schemas.openxmlformats.org/officeDocument/2006/relationships/image" Target="../media/image410.png"/><Relationship Id="rId20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411.png"/><Relationship Id="rId2" Type="http://schemas.openxmlformats.org/officeDocument/2006/relationships/image" Target="../media/image412.png"/><Relationship Id="rId3" Type="http://schemas.openxmlformats.org/officeDocument/2006/relationships/image" Target="../media/image413.png"/><Relationship Id="rId4" Type="http://schemas.openxmlformats.org/officeDocument/2006/relationships/image" Target="../media/image414.png"/><Relationship Id="rId5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415.png"/><Relationship Id="rId2" Type="http://schemas.openxmlformats.org/officeDocument/2006/relationships/image" Target="../media/image416.png"/><Relationship Id="rId3" Type="http://schemas.openxmlformats.org/officeDocument/2006/relationships/image" Target="../media/image417.png"/><Relationship Id="rId4" Type="http://schemas.openxmlformats.org/officeDocument/2006/relationships/image" Target="../media/image418.png"/><Relationship Id="rId5" Type="http://schemas.openxmlformats.org/officeDocument/2006/relationships/image" Target="../media/image419.png"/><Relationship Id="rId6" Type="http://schemas.openxmlformats.org/officeDocument/2006/relationships/image" Target="../media/image420.png"/><Relationship Id="rId7" Type="http://schemas.openxmlformats.org/officeDocument/2006/relationships/image" Target="../media/image421.png"/><Relationship Id="rId8" Type="http://schemas.openxmlformats.org/officeDocument/2006/relationships/image" Target="../media/image422.png"/><Relationship Id="rId9" Type="http://schemas.openxmlformats.org/officeDocument/2006/relationships/image" Target="../media/image423.png"/><Relationship Id="rId10" Type="http://schemas.openxmlformats.org/officeDocument/2006/relationships/image" Target="../media/image424.png"/><Relationship Id="rId11" Type="http://schemas.openxmlformats.org/officeDocument/2006/relationships/image" Target="../media/image425.png"/><Relationship Id="rId12" Type="http://schemas.openxmlformats.org/officeDocument/2006/relationships/image" Target="../media/image426.png"/><Relationship Id="rId13" Type="http://schemas.openxmlformats.org/officeDocument/2006/relationships/image" Target="../media/image427.png"/><Relationship Id="rId14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428.jpeg"/><Relationship Id="rId2" Type="http://schemas.openxmlformats.org/officeDocument/2006/relationships/hyperlink" Target="http://www.resilientsystems.co.uk/" TargetMode="External"/><Relationship Id="rId3" Type="http://schemas.openxmlformats.org/officeDocument/2006/relationships/slideLayout" Target="../slideLayouts/slideLayout2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429.jpeg"/><Relationship Id="rId2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430.jpeg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431.jpeg"/><Relationship Id="rId2" Type="http://schemas.openxmlformats.org/officeDocument/2006/relationships/hyperlink" Target="http://www.informatik.uni-bremen.de/" TargetMode="External"/><Relationship Id="rId3" Type="http://schemas.openxmlformats.org/officeDocument/2006/relationships/slideLayout" Target="../slideLayouts/slideLayout2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432.jpeg"/><Relationship Id="rId2" Type="http://schemas.openxmlformats.org/officeDocument/2006/relationships/hyperlink" Target="http://pande.stanford.edu/" TargetMode="External"/><Relationship Id="rId3" Type="http://schemas.openxmlformats.org/officeDocument/2006/relationships/slideLayout" Target="../slideLayouts/slideLayout2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433.jpeg"/><Relationship Id="rId2" Type="http://schemas.openxmlformats.org/officeDocument/2006/relationships/slideLayout" Target="../slideLayouts/slideLayout1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434.jpeg"/><Relationship Id="rId2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435.jpeg"/><Relationship Id="rId2" Type="http://schemas.openxmlformats.org/officeDocument/2006/relationships/slideLayout" Target="../slideLayouts/slideLayout1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436.jpeg"/><Relationship Id="rId2" Type="http://schemas.openxmlformats.org/officeDocument/2006/relationships/slideLayout" Target="../slideLayouts/slideLayout25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437.jpeg"/><Relationship Id="rId2" Type="http://schemas.openxmlformats.org/officeDocument/2006/relationships/slideLayout" Target="../slideLayouts/slideLayout13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438.jpeg"/><Relationship Id="rId2" Type="http://schemas.openxmlformats.org/officeDocument/2006/relationships/slideLayout" Target="../slideLayouts/slideLayout13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439.jpe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129240" y="191160"/>
            <a:ext cx="5501880" cy="82080"/>
          </a:xfrm>
          <a:custGeom>
            <a:avLst/>
            <a:gdLst/>
            <a:ahLst/>
            <a:rect l="l" t="t" r="r" b="b"/>
            <a:pathLst>
              <a:path w="5502275" h="82550">
                <a:moveTo>
                  <a:pt x="54508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01666" y="82384"/>
                </a:lnTo>
                <a:lnTo>
                  <a:pt x="5501666" y="50800"/>
                </a:lnTo>
                <a:lnTo>
                  <a:pt x="5497657" y="31075"/>
                </a:lnTo>
                <a:lnTo>
                  <a:pt x="5486743" y="14922"/>
                </a:lnTo>
                <a:lnTo>
                  <a:pt x="5470590" y="4008"/>
                </a:lnTo>
                <a:lnTo>
                  <a:pt x="5450866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69" name="Group 2"/>
          <p:cNvGrpSpPr/>
          <p:nvPr/>
        </p:nvGrpSpPr>
        <p:grpSpPr>
          <a:xfrm>
            <a:off x="129240" y="235800"/>
            <a:ext cx="5551920" cy="722880"/>
            <a:chOff x="129240" y="235800"/>
            <a:chExt cx="5551920" cy="722880"/>
          </a:xfrm>
        </p:grpSpPr>
        <p:pic>
          <p:nvPicPr>
            <p:cNvPr id="170" name="object 4" descr=""/>
            <p:cNvPicPr/>
            <p:nvPr/>
          </p:nvPicPr>
          <p:blipFill>
            <a:blip r:embed="rId1"/>
            <a:stretch/>
          </p:blipFill>
          <p:spPr>
            <a:xfrm>
              <a:off x="180000" y="8571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1" name="object 5" descr=""/>
            <p:cNvPicPr/>
            <p:nvPr/>
          </p:nvPicPr>
          <p:blipFill>
            <a:blip r:embed="rId2"/>
            <a:stretch/>
          </p:blipFill>
          <p:spPr>
            <a:xfrm>
              <a:off x="230760" y="8445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2" name="object 6" descr=""/>
            <p:cNvPicPr/>
            <p:nvPr/>
          </p:nvPicPr>
          <p:blipFill>
            <a:blip r:embed="rId3"/>
            <a:stretch/>
          </p:blipFill>
          <p:spPr>
            <a:xfrm>
              <a:off x="5630760" y="241920"/>
              <a:ext cx="50400" cy="614880"/>
            </a:xfrm>
            <a:prstGeom prst="rect">
              <a:avLst/>
            </a:prstGeom>
            <a:ln>
              <a:noFill/>
            </a:ln>
          </p:spPr>
        </p:pic>
        <p:sp>
          <p:nvSpPr>
            <p:cNvPr id="173" name="CustomShape 3"/>
            <p:cNvSpPr/>
            <p:nvPr/>
          </p:nvSpPr>
          <p:spPr>
            <a:xfrm>
              <a:off x="129240" y="235800"/>
              <a:ext cx="5501880" cy="672120"/>
            </a:xfrm>
            <a:custGeom>
              <a:avLst/>
              <a:gdLst/>
              <a:ahLst/>
              <a:rect l="l" t="t" r="r" b="b"/>
              <a:pathLst>
                <a:path w="5502275" h="672465">
                  <a:moveTo>
                    <a:pt x="5501666" y="0"/>
                  </a:moveTo>
                  <a:lnTo>
                    <a:pt x="0" y="0"/>
                  </a:lnTo>
                  <a:lnTo>
                    <a:pt x="0" y="621482"/>
                  </a:lnTo>
                  <a:lnTo>
                    <a:pt x="4008" y="641206"/>
                  </a:lnTo>
                  <a:lnTo>
                    <a:pt x="14922" y="657359"/>
                  </a:lnTo>
                  <a:lnTo>
                    <a:pt x="31075" y="668274"/>
                  </a:lnTo>
                  <a:lnTo>
                    <a:pt x="50800" y="672282"/>
                  </a:lnTo>
                  <a:lnTo>
                    <a:pt x="5450866" y="672282"/>
                  </a:lnTo>
                  <a:lnTo>
                    <a:pt x="5470590" y="668274"/>
                  </a:lnTo>
                  <a:lnTo>
                    <a:pt x="5486743" y="657359"/>
                  </a:lnTo>
                  <a:lnTo>
                    <a:pt x="5497657" y="641206"/>
                  </a:lnTo>
                  <a:lnTo>
                    <a:pt x="5501666" y="621482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CustomShape 4"/>
            <p:cNvSpPr/>
            <p:nvPr/>
          </p:nvSpPr>
          <p:spPr>
            <a:xfrm>
              <a:off x="5630760" y="279720"/>
              <a:ext cx="360" cy="596520"/>
            </a:xfrm>
            <a:custGeom>
              <a:avLst/>
              <a:gdLst/>
              <a:ahLst/>
              <a:rect l="l" t="t" r="r" b="b"/>
              <a:pathLst>
                <a:path w="0" h="596900">
                  <a:moveTo>
                    <a:pt x="0" y="596295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CustomShape 5"/>
            <p:cNvSpPr/>
            <p:nvPr/>
          </p:nvSpPr>
          <p:spPr>
            <a:xfrm>
              <a:off x="5630760" y="2671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CustomShape 6"/>
            <p:cNvSpPr/>
            <p:nvPr/>
          </p:nvSpPr>
          <p:spPr>
            <a:xfrm>
              <a:off x="5630760" y="2545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CustomShape 7"/>
            <p:cNvSpPr/>
            <p:nvPr/>
          </p:nvSpPr>
          <p:spPr>
            <a:xfrm>
              <a:off x="5630760" y="2419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8" name="TextShape 8"/>
          <p:cNvSpPr txBox="1"/>
          <p:nvPr/>
        </p:nvSpPr>
        <p:spPr>
          <a:xfrm>
            <a:off x="1355040" y="301320"/>
            <a:ext cx="3050280" cy="544320"/>
          </a:xfrm>
          <a:prstGeom prst="rect">
            <a:avLst/>
          </a:prstGeom>
          <a:noFill/>
          <a:ln>
            <a:noFill/>
          </a:ln>
        </p:spPr>
        <p:txBody>
          <a:bodyPr lIns="0" rIns="0" tIns="2520" bIns="0">
            <a:spAutoFit/>
          </a:bodyPr>
          <a:p>
            <a:pPr marL="209520" indent="-197280">
              <a:lnSpc>
                <a:spcPct val="106000"/>
              </a:lnSpc>
              <a:spcBef>
                <a:spcPts val="20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Fundamentals</a:t>
            </a:r>
            <a:r>
              <a:rPr b="0" lang="en-US" sz="1400" spc="11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2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1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Intelligence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Chapter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01:</a:t>
            </a:r>
            <a:r>
              <a:rPr b="0" lang="en-US" sz="1400" spc="20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rgbClr val="3333b2"/>
                </a:solidFill>
                <a:latin typeface="Arial"/>
              </a:rPr>
              <a:t>Introduction</a:t>
            </a:r>
            <a:r>
              <a:rPr b="1" lang="en-US" sz="1400" spc="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1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1" lang="en-US" sz="1400" spc="-21" strike="noStrike">
                <a:solidFill>
                  <a:srgbClr val="3333b2"/>
                </a:solidFill>
                <a:latin typeface="Arial"/>
              </a:rPr>
              <a:t>A.I.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179" name="CustomShape 9"/>
          <p:cNvSpPr/>
          <p:nvPr/>
        </p:nvSpPr>
        <p:spPr>
          <a:xfrm>
            <a:off x="257760" y="1100160"/>
            <a:ext cx="5244840" cy="65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algn="ctr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c92626"/>
                </a:solidFill>
                <a:latin typeface="Arial"/>
              </a:rPr>
              <a:t>Khaula Qadeer</a:t>
            </a:r>
            <a:endParaRPr b="0" lang="en-US" sz="1400" spc="-1" strike="noStrike">
              <a:latin typeface="Arial"/>
            </a:endParaRPr>
          </a:p>
          <a:p>
            <a:pPr marL="887040" algn="ctr">
              <a:lnSpc>
                <a:spcPct val="73000"/>
              </a:lnSpc>
              <a:spcBef>
                <a:spcPts val="1485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Courier New"/>
              </a:rPr>
              <a:t>COMSATS University Islamabad, Lahore Campus</a:t>
            </a:r>
            <a:endParaRPr b="0" lang="en-US" sz="900" spc="-1" strike="noStrike">
              <a:latin typeface="Arial"/>
            </a:endParaRPr>
          </a:p>
          <a:p>
            <a:pPr marL="824760">
              <a:lnSpc>
                <a:spcPct val="100000"/>
              </a:lnSpc>
            </a:pPr>
            <a:endParaRPr b="0" lang="en-US" sz="900" spc="-1" strike="noStrike">
              <a:latin typeface="Arial"/>
            </a:endParaRPr>
          </a:p>
        </p:txBody>
      </p:sp>
      <p:sp>
        <p:nvSpPr>
          <p:cNvPr id="180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23AD71E4-CE47-4E85-A5E5-FEDD17B81C7B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Outline</a:t>
            </a:r>
            <a:endParaRPr b="0" lang="en-US" sz="1400" spc="-1" strike="noStrike">
              <a:latin typeface="Calibri"/>
            </a:endParaRPr>
          </a:p>
        </p:txBody>
      </p:sp>
      <p:pic>
        <p:nvPicPr>
          <p:cNvPr id="182" name="object 3" descr=""/>
          <p:cNvPicPr/>
          <p:nvPr/>
        </p:nvPicPr>
        <p:blipFill>
          <a:blip r:embed="rId1"/>
          <a:stretch/>
        </p:blipFill>
        <p:spPr>
          <a:xfrm>
            <a:off x="127080" y="9003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83" name="CustomShape 2"/>
          <p:cNvSpPr/>
          <p:nvPr/>
        </p:nvSpPr>
        <p:spPr>
          <a:xfrm>
            <a:off x="175680" y="91656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1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84" name="CustomShape 3"/>
          <p:cNvSpPr/>
          <p:nvPr/>
        </p:nvSpPr>
        <p:spPr>
          <a:xfrm>
            <a:off x="349200" y="893520"/>
            <a:ext cx="12132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AI: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Fiction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vs.</a:t>
            </a:r>
            <a:r>
              <a:rPr b="0" lang="en-US" sz="1000" spc="38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Reality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85" name="object 6" descr=""/>
          <p:cNvPicPr/>
          <p:nvPr/>
        </p:nvPicPr>
        <p:blipFill>
          <a:blip r:embed="rId2"/>
          <a:stretch/>
        </p:blipFill>
        <p:spPr>
          <a:xfrm>
            <a:off x="127080" y="13478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86" name="CustomShape 4"/>
          <p:cNvSpPr/>
          <p:nvPr/>
        </p:nvSpPr>
        <p:spPr>
          <a:xfrm>
            <a:off x="175680" y="13640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2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87" name="CustomShape 5"/>
          <p:cNvSpPr/>
          <p:nvPr/>
        </p:nvSpPr>
        <p:spPr>
          <a:xfrm>
            <a:off x="349200" y="1341000"/>
            <a:ext cx="6721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What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is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AI?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88" name="object 9" descr=""/>
          <p:cNvPicPr/>
          <p:nvPr/>
        </p:nvPicPr>
        <p:blipFill>
          <a:blip r:embed="rId3"/>
          <a:stretch/>
        </p:blipFill>
        <p:spPr>
          <a:xfrm>
            <a:off x="127080" y="17949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89" name="CustomShape 6"/>
          <p:cNvSpPr/>
          <p:nvPr/>
        </p:nvSpPr>
        <p:spPr>
          <a:xfrm>
            <a:off x="175680" y="18104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90" name="CustomShape 7"/>
          <p:cNvSpPr/>
          <p:nvPr/>
        </p:nvSpPr>
        <p:spPr>
          <a:xfrm>
            <a:off x="349200" y="1788120"/>
            <a:ext cx="1692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Foundations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and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History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91" name="object 12" descr=""/>
          <p:cNvPicPr/>
          <p:nvPr/>
        </p:nvPicPr>
        <p:blipFill>
          <a:blip r:embed="rId4"/>
          <a:stretch/>
        </p:blipFill>
        <p:spPr>
          <a:xfrm>
            <a:off x="127080" y="22424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92" name="CustomShape 8"/>
          <p:cNvSpPr/>
          <p:nvPr/>
        </p:nvSpPr>
        <p:spPr>
          <a:xfrm>
            <a:off x="175680" y="22586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4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93" name="CustomShape 9"/>
          <p:cNvSpPr/>
          <p:nvPr/>
        </p:nvSpPr>
        <p:spPr>
          <a:xfrm>
            <a:off x="349200" y="2235600"/>
            <a:ext cx="10645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AI: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State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the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Art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4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27EF3288-A905-4DA8-B982-98EFCE0F20DA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Outline</a:t>
            </a:r>
            <a:endParaRPr b="0" lang="en-US" sz="1400" spc="-1" strike="noStrike">
              <a:latin typeface="Calibri"/>
            </a:endParaRPr>
          </a:p>
        </p:txBody>
      </p:sp>
      <p:pic>
        <p:nvPicPr>
          <p:cNvPr id="196" name="object 3" descr=""/>
          <p:cNvPicPr/>
          <p:nvPr/>
        </p:nvPicPr>
        <p:blipFill>
          <a:blip r:embed="rId1"/>
          <a:stretch/>
        </p:blipFill>
        <p:spPr>
          <a:xfrm>
            <a:off x="127080" y="9003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97" name="CustomShape 2"/>
          <p:cNvSpPr/>
          <p:nvPr/>
        </p:nvSpPr>
        <p:spPr>
          <a:xfrm>
            <a:off x="175680" y="91656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1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349200" y="893520"/>
            <a:ext cx="12132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AI: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Fiction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vs.</a:t>
            </a:r>
            <a:r>
              <a:rPr b="0" lang="en-US" sz="1000" spc="38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Reality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99" name="object 6" descr=""/>
          <p:cNvPicPr/>
          <p:nvPr/>
        </p:nvPicPr>
        <p:blipFill>
          <a:blip r:embed="rId2"/>
          <a:stretch/>
        </p:blipFill>
        <p:spPr>
          <a:xfrm>
            <a:off x="127080" y="13478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200" name="CustomShape 4"/>
          <p:cNvSpPr/>
          <p:nvPr/>
        </p:nvSpPr>
        <p:spPr>
          <a:xfrm>
            <a:off x="175680" y="13640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2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201" name="CustomShape 5"/>
          <p:cNvSpPr/>
          <p:nvPr/>
        </p:nvSpPr>
        <p:spPr>
          <a:xfrm>
            <a:off x="349200" y="1341000"/>
            <a:ext cx="6721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What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AI?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2" name="object 9" descr=""/>
          <p:cNvPicPr/>
          <p:nvPr/>
        </p:nvPicPr>
        <p:blipFill>
          <a:blip r:embed="rId3"/>
          <a:stretch/>
        </p:blipFill>
        <p:spPr>
          <a:xfrm>
            <a:off x="127080" y="17949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203" name="CustomShape 6"/>
          <p:cNvSpPr/>
          <p:nvPr/>
        </p:nvSpPr>
        <p:spPr>
          <a:xfrm>
            <a:off x="175680" y="18104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204" name="CustomShape 7"/>
          <p:cNvSpPr/>
          <p:nvPr/>
        </p:nvSpPr>
        <p:spPr>
          <a:xfrm>
            <a:off x="349200" y="1788120"/>
            <a:ext cx="1692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Foundations</a:t>
            </a:r>
            <a:r>
              <a:rPr b="0" lang="en-US" sz="1000" spc="-21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History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5" name="object 12" descr=""/>
          <p:cNvPicPr/>
          <p:nvPr/>
        </p:nvPicPr>
        <p:blipFill>
          <a:blip r:embed="rId4"/>
          <a:stretch/>
        </p:blipFill>
        <p:spPr>
          <a:xfrm>
            <a:off x="127080" y="22424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206" name="CustomShape 8"/>
          <p:cNvSpPr/>
          <p:nvPr/>
        </p:nvSpPr>
        <p:spPr>
          <a:xfrm>
            <a:off x="175680" y="22586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4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207" name="CustomShape 9"/>
          <p:cNvSpPr/>
          <p:nvPr/>
        </p:nvSpPr>
        <p:spPr>
          <a:xfrm>
            <a:off x="349200" y="2235600"/>
            <a:ext cx="10645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AI: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State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Art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8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7E985CA6-FB6D-422C-B0AC-812D49536F01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210" name="Group 2"/>
          <p:cNvGrpSpPr/>
          <p:nvPr/>
        </p:nvGrpSpPr>
        <p:grpSpPr>
          <a:xfrm>
            <a:off x="129240" y="1587600"/>
            <a:ext cx="5551920" cy="284400"/>
            <a:chOff x="129240" y="1587600"/>
            <a:chExt cx="5551920" cy="284400"/>
          </a:xfrm>
        </p:grpSpPr>
        <p:sp>
          <p:nvSpPr>
            <p:cNvPr id="211" name="CustomShape 3"/>
            <p:cNvSpPr/>
            <p:nvPr/>
          </p:nvSpPr>
          <p:spPr>
            <a:xfrm>
              <a:off x="129240" y="158760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12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177048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3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175788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4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1638000"/>
              <a:ext cx="50400" cy="132120"/>
            </a:xfrm>
            <a:prstGeom prst="rect">
              <a:avLst/>
            </a:prstGeom>
            <a:ln>
              <a:noFill/>
            </a:ln>
          </p:spPr>
        </p:pic>
        <p:sp>
          <p:nvSpPr>
            <p:cNvPr id="215" name="CustomShape 4"/>
            <p:cNvSpPr/>
            <p:nvPr/>
          </p:nvSpPr>
          <p:spPr>
            <a:xfrm>
              <a:off x="129240" y="1631880"/>
              <a:ext cx="5501880" cy="189360"/>
            </a:xfrm>
            <a:custGeom>
              <a:avLst/>
              <a:gdLst/>
              <a:ahLst/>
              <a:rect l="l" t="t" r="r" b="b"/>
              <a:pathLst>
                <a:path w="5502275" h="189864">
                  <a:moveTo>
                    <a:pt x="5501666" y="0"/>
                  </a:moveTo>
                  <a:lnTo>
                    <a:pt x="0" y="0"/>
                  </a:lnTo>
                  <a:lnTo>
                    <a:pt x="0" y="138625"/>
                  </a:lnTo>
                  <a:lnTo>
                    <a:pt x="4008" y="158350"/>
                  </a:lnTo>
                  <a:lnTo>
                    <a:pt x="14922" y="174503"/>
                  </a:lnTo>
                  <a:lnTo>
                    <a:pt x="31075" y="185417"/>
                  </a:lnTo>
                  <a:lnTo>
                    <a:pt x="50800" y="189425"/>
                  </a:lnTo>
                  <a:lnTo>
                    <a:pt x="5450866" y="189425"/>
                  </a:lnTo>
                  <a:lnTo>
                    <a:pt x="5470590" y="185417"/>
                  </a:lnTo>
                  <a:lnTo>
                    <a:pt x="5486743" y="174503"/>
                  </a:lnTo>
                  <a:lnTo>
                    <a:pt x="5497657" y="158350"/>
                  </a:lnTo>
                  <a:lnTo>
                    <a:pt x="5501666" y="138625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CustomShape 5"/>
            <p:cNvSpPr/>
            <p:nvPr/>
          </p:nvSpPr>
          <p:spPr>
            <a:xfrm>
              <a:off x="5630760" y="1676160"/>
              <a:ext cx="360" cy="113400"/>
            </a:xfrm>
            <a:custGeom>
              <a:avLst/>
              <a:gdLst/>
              <a:ahLst/>
              <a:rect l="l" t="t" r="r" b="b"/>
              <a:pathLst>
                <a:path w="0" h="113664">
                  <a:moveTo>
                    <a:pt x="0" y="113437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CustomShape 6"/>
            <p:cNvSpPr/>
            <p:nvPr/>
          </p:nvSpPr>
          <p:spPr>
            <a:xfrm>
              <a:off x="5630760" y="16635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CustomShape 7"/>
            <p:cNvSpPr/>
            <p:nvPr/>
          </p:nvSpPr>
          <p:spPr>
            <a:xfrm>
              <a:off x="5630760" y="16509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CustomShape 8"/>
            <p:cNvSpPr/>
            <p:nvPr/>
          </p:nvSpPr>
          <p:spPr>
            <a:xfrm>
              <a:off x="5630760" y="16380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0" name="CustomShape 9"/>
          <p:cNvSpPr/>
          <p:nvPr/>
        </p:nvSpPr>
        <p:spPr>
          <a:xfrm>
            <a:off x="167400" y="1611000"/>
            <a:ext cx="17902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There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is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plenty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AI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in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fiction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1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33ABD1FF-C6E7-487C-8F5E-298C98DE8F38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23" name="object 3" descr=""/>
          <p:cNvPicPr/>
          <p:nvPr/>
        </p:nvPicPr>
        <p:blipFill>
          <a:blip r:embed="rId1"/>
          <a:stretch/>
        </p:blipFill>
        <p:spPr>
          <a:xfrm>
            <a:off x="664200" y="416520"/>
            <a:ext cx="4430880" cy="2492640"/>
          </a:xfrm>
          <a:prstGeom prst="rect">
            <a:avLst/>
          </a:prstGeom>
          <a:ln>
            <a:noFill/>
          </a:ln>
        </p:spPr>
      </p:pic>
      <p:sp>
        <p:nvSpPr>
          <p:cNvPr id="224" name="CustomShape 2"/>
          <p:cNvSpPr/>
          <p:nvPr/>
        </p:nvSpPr>
        <p:spPr>
          <a:xfrm>
            <a:off x="1784160" y="2922120"/>
            <a:ext cx="18406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Metropolis”,</a:t>
            </a:r>
            <a:r>
              <a:rPr b="0" lang="en-US" sz="1000" spc="-4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1927,</a:t>
            </a:r>
            <a:r>
              <a:rPr b="0" lang="en-US" sz="1000" spc="-4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4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Fritz</a:t>
            </a:r>
            <a:r>
              <a:rPr b="0" lang="en-US" sz="1000" spc="-41" strike="noStrike">
                <a:latin typeface="Arial"/>
              </a:rPr>
              <a:t> </a:t>
            </a:r>
            <a:r>
              <a:rPr b="0" lang="en-US" sz="1000" spc="-21" strike="noStrike">
                <a:latin typeface="Arial"/>
              </a:rPr>
              <a:t>Lang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25" name="Group 3"/>
          <p:cNvGrpSpPr/>
          <p:nvPr/>
        </p:nvGrpSpPr>
        <p:grpSpPr>
          <a:xfrm>
            <a:off x="129240" y="3165480"/>
            <a:ext cx="5501880" cy="75240"/>
            <a:chOff x="129240" y="3165480"/>
            <a:chExt cx="5501880" cy="75240"/>
          </a:xfrm>
        </p:grpSpPr>
        <p:sp>
          <p:nvSpPr>
            <p:cNvPr id="226" name="CustomShape 4"/>
            <p:cNvSpPr/>
            <p:nvPr/>
          </p:nvSpPr>
          <p:spPr>
            <a:xfrm>
              <a:off x="129240" y="3165480"/>
              <a:ext cx="5501880" cy="74520"/>
            </a:xfrm>
            <a:custGeom>
              <a:avLst/>
              <a:gdLst/>
              <a:ahLst/>
              <a:rect l="l" t="t" r="r" b="b"/>
              <a:pathLst>
                <a:path w="5502275" h="74930">
                  <a:moveTo>
                    <a:pt x="5501665" y="44424"/>
                  </a:moveTo>
                  <a:lnTo>
                    <a:pt x="5500370" y="44424"/>
                  </a:lnTo>
                  <a:lnTo>
                    <a:pt x="5497665" y="31076"/>
                  </a:lnTo>
                  <a:lnTo>
                    <a:pt x="5486743" y="14922"/>
                  </a:lnTo>
                  <a:lnTo>
                    <a:pt x="5470601" y="4013"/>
                  </a:lnTo>
                  <a:lnTo>
                    <a:pt x="5450865" y="0"/>
                  </a:ln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74650"/>
                  </a:lnTo>
                  <a:lnTo>
                    <a:pt x="5501665" y="74650"/>
                  </a:lnTo>
                  <a:lnTo>
                    <a:pt x="5501665" y="50812"/>
                  </a:lnTo>
                  <a:lnTo>
                    <a:pt x="5501665" y="44424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CustomShape 5"/>
            <p:cNvSpPr/>
            <p:nvPr/>
          </p:nvSpPr>
          <p:spPr>
            <a:xfrm>
              <a:off x="5630760" y="3228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CustomShape 6"/>
            <p:cNvSpPr/>
            <p:nvPr/>
          </p:nvSpPr>
          <p:spPr>
            <a:xfrm>
              <a:off x="5630760" y="3215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9" name="TextShape 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fld id="{CEEB5179-783B-4251-BF47-BA1568559D82}" type="slidenum">
              <a:rPr b="0" lang="en-US" sz="500" spc="-1" strike="noStrike">
                <a:solidFill>
                  <a:srgbClr val="000000"/>
                </a:solidFill>
                <a:latin typeface="Arial"/>
              </a:rPr>
              <a:t>1</a:t>
            </a:fld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31" name="object 3" descr=""/>
          <p:cNvPicPr/>
          <p:nvPr/>
        </p:nvPicPr>
        <p:blipFill>
          <a:blip r:embed="rId1"/>
          <a:stretch/>
        </p:blipFill>
        <p:spPr>
          <a:xfrm>
            <a:off x="667080" y="416520"/>
            <a:ext cx="4425480" cy="2492640"/>
          </a:xfrm>
          <a:prstGeom prst="rect">
            <a:avLst/>
          </a:prstGeom>
          <a:ln>
            <a:noFill/>
          </a:ln>
        </p:spPr>
      </p:pic>
      <p:sp>
        <p:nvSpPr>
          <p:cNvPr id="232" name="CustomShape 2"/>
          <p:cNvSpPr/>
          <p:nvPr/>
        </p:nvSpPr>
        <p:spPr>
          <a:xfrm>
            <a:off x="1319040" y="2927880"/>
            <a:ext cx="280512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2001,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Space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Odyssey”,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1968,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Stanley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Kubrick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33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234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35" name="object 6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36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0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42" name="object 3" descr=""/>
          <p:cNvPicPr/>
          <p:nvPr/>
        </p:nvPicPr>
        <p:blipFill>
          <a:blip r:embed="rId1"/>
          <a:stretch/>
        </p:blipFill>
        <p:spPr>
          <a:xfrm>
            <a:off x="668880" y="416520"/>
            <a:ext cx="4422240" cy="2492640"/>
          </a:xfrm>
          <a:prstGeom prst="rect">
            <a:avLst/>
          </a:prstGeom>
          <a:ln>
            <a:noFill/>
          </a:ln>
        </p:spPr>
      </p:pic>
      <p:sp>
        <p:nvSpPr>
          <p:cNvPr id="243" name="CustomShape 2"/>
          <p:cNvSpPr/>
          <p:nvPr/>
        </p:nvSpPr>
        <p:spPr>
          <a:xfrm>
            <a:off x="1714320" y="2927880"/>
            <a:ext cx="205020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Star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Wars”,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1977,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George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Lucas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44" name="Group 3"/>
          <p:cNvGrpSpPr/>
          <p:nvPr/>
        </p:nvGrpSpPr>
        <p:grpSpPr>
          <a:xfrm>
            <a:off x="129240" y="3165480"/>
            <a:ext cx="5501880" cy="75240"/>
            <a:chOff x="129240" y="3165480"/>
            <a:chExt cx="5501880" cy="75240"/>
          </a:xfrm>
        </p:grpSpPr>
        <p:sp>
          <p:nvSpPr>
            <p:cNvPr id="245" name="CustomShape 4"/>
            <p:cNvSpPr/>
            <p:nvPr/>
          </p:nvSpPr>
          <p:spPr>
            <a:xfrm>
              <a:off x="129240" y="3165480"/>
              <a:ext cx="5501880" cy="74520"/>
            </a:xfrm>
            <a:custGeom>
              <a:avLst/>
              <a:gdLst/>
              <a:ahLst/>
              <a:rect l="l" t="t" r="r" b="b"/>
              <a:pathLst>
                <a:path w="5502275" h="74930">
                  <a:moveTo>
                    <a:pt x="5501665" y="44424"/>
                  </a:moveTo>
                  <a:lnTo>
                    <a:pt x="5500370" y="44424"/>
                  </a:lnTo>
                  <a:lnTo>
                    <a:pt x="5497665" y="31076"/>
                  </a:lnTo>
                  <a:lnTo>
                    <a:pt x="5486743" y="14922"/>
                  </a:lnTo>
                  <a:lnTo>
                    <a:pt x="5470601" y="4013"/>
                  </a:lnTo>
                  <a:lnTo>
                    <a:pt x="5450865" y="0"/>
                  </a:ln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74650"/>
                  </a:lnTo>
                  <a:lnTo>
                    <a:pt x="5501665" y="74650"/>
                  </a:lnTo>
                  <a:lnTo>
                    <a:pt x="5501665" y="50812"/>
                  </a:lnTo>
                  <a:lnTo>
                    <a:pt x="5501665" y="44424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CustomShape 5"/>
            <p:cNvSpPr/>
            <p:nvPr/>
          </p:nvSpPr>
          <p:spPr>
            <a:xfrm>
              <a:off x="5630760" y="3228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CustomShape 6"/>
            <p:cNvSpPr/>
            <p:nvPr/>
          </p:nvSpPr>
          <p:spPr>
            <a:xfrm>
              <a:off x="5630760" y="3215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8" name="CustomShape 7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0" name="object 3" descr=""/>
          <p:cNvPicPr/>
          <p:nvPr/>
        </p:nvPicPr>
        <p:blipFill>
          <a:blip r:embed="rId1"/>
          <a:stretch/>
        </p:blipFill>
        <p:spPr>
          <a:xfrm>
            <a:off x="901440" y="416520"/>
            <a:ext cx="3956760" cy="2492640"/>
          </a:xfrm>
          <a:prstGeom prst="rect">
            <a:avLst/>
          </a:prstGeom>
          <a:ln>
            <a:noFill/>
          </a:ln>
        </p:spPr>
      </p:pic>
      <p:sp>
        <p:nvSpPr>
          <p:cNvPr id="251" name="CustomShape 2"/>
          <p:cNvSpPr/>
          <p:nvPr/>
        </p:nvSpPr>
        <p:spPr>
          <a:xfrm>
            <a:off x="1684800" y="2927880"/>
            <a:ext cx="214416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Blade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Runner”,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1982,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Ridley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Scott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52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253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54" name="object 6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55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9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61" name="object 3" descr=""/>
          <p:cNvPicPr/>
          <p:nvPr/>
        </p:nvPicPr>
        <p:blipFill>
          <a:blip r:embed="rId1"/>
          <a:stretch/>
        </p:blipFill>
        <p:spPr>
          <a:xfrm>
            <a:off x="680400" y="416520"/>
            <a:ext cx="4399200" cy="2492640"/>
          </a:xfrm>
          <a:prstGeom prst="rect">
            <a:avLst/>
          </a:prstGeom>
          <a:ln>
            <a:noFill/>
          </a:ln>
        </p:spPr>
      </p:pic>
      <p:sp>
        <p:nvSpPr>
          <p:cNvPr id="262" name="CustomShape 2"/>
          <p:cNvSpPr/>
          <p:nvPr/>
        </p:nvSpPr>
        <p:spPr>
          <a:xfrm>
            <a:off x="1662840" y="2927880"/>
            <a:ext cx="222264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12" strike="noStrike">
                <a:latin typeface="Arial"/>
              </a:rPr>
              <a:t>“</a:t>
            </a:r>
            <a:r>
              <a:rPr b="0" lang="en-US" sz="1000" spc="-12" strike="noStrike">
                <a:latin typeface="Arial"/>
              </a:rPr>
              <a:t>Terminator”,</a:t>
            </a:r>
            <a:r>
              <a:rPr b="0" lang="en-US" sz="1000" spc="-3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1984,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James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Cameron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63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264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65" name="object 6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66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0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72" name="object 3" descr=""/>
          <p:cNvPicPr/>
          <p:nvPr/>
        </p:nvPicPr>
        <p:blipFill>
          <a:blip r:embed="rId1"/>
          <a:stretch/>
        </p:blipFill>
        <p:spPr>
          <a:xfrm>
            <a:off x="648360" y="416520"/>
            <a:ext cx="4462560" cy="2492640"/>
          </a:xfrm>
          <a:prstGeom prst="rect">
            <a:avLst/>
          </a:prstGeom>
          <a:ln>
            <a:noFill/>
          </a:ln>
        </p:spPr>
      </p:pic>
      <p:sp>
        <p:nvSpPr>
          <p:cNvPr id="273" name="CustomShape 2"/>
          <p:cNvSpPr/>
          <p:nvPr/>
        </p:nvSpPr>
        <p:spPr>
          <a:xfrm>
            <a:off x="1273320" y="2927880"/>
            <a:ext cx="303732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A.I.,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Artificial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Intelligence”,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2001,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Steven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Spielberg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74" name="Group 3"/>
          <p:cNvGrpSpPr/>
          <p:nvPr/>
        </p:nvGrpSpPr>
        <p:grpSpPr>
          <a:xfrm>
            <a:off x="129240" y="3165480"/>
            <a:ext cx="5501880" cy="75240"/>
            <a:chOff x="129240" y="3165480"/>
            <a:chExt cx="5501880" cy="75240"/>
          </a:xfrm>
        </p:grpSpPr>
        <p:sp>
          <p:nvSpPr>
            <p:cNvPr id="275" name="CustomShape 4"/>
            <p:cNvSpPr/>
            <p:nvPr/>
          </p:nvSpPr>
          <p:spPr>
            <a:xfrm>
              <a:off x="129240" y="3165480"/>
              <a:ext cx="5501880" cy="74520"/>
            </a:xfrm>
            <a:custGeom>
              <a:avLst/>
              <a:gdLst/>
              <a:ahLst/>
              <a:rect l="l" t="t" r="r" b="b"/>
              <a:pathLst>
                <a:path w="5502275" h="74930">
                  <a:moveTo>
                    <a:pt x="5501665" y="44424"/>
                  </a:moveTo>
                  <a:lnTo>
                    <a:pt x="5500370" y="44424"/>
                  </a:lnTo>
                  <a:lnTo>
                    <a:pt x="5497665" y="31076"/>
                  </a:lnTo>
                  <a:lnTo>
                    <a:pt x="5486743" y="14922"/>
                  </a:lnTo>
                  <a:lnTo>
                    <a:pt x="5470601" y="4013"/>
                  </a:lnTo>
                  <a:lnTo>
                    <a:pt x="5450865" y="0"/>
                  </a:ln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74650"/>
                  </a:lnTo>
                  <a:lnTo>
                    <a:pt x="5501665" y="74650"/>
                  </a:lnTo>
                  <a:lnTo>
                    <a:pt x="5501665" y="50812"/>
                  </a:lnTo>
                  <a:lnTo>
                    <a:pt x="5501665" y="44424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CustomShape 5"/>
            <p:cNvSpPr/>
            <p:nvPr/>
          </p:nvSpPr>
          <p:spPr>
            <a:xfrm>
              <a:off x="5630760" y="3228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CustomShape 6"/>
            <p:cNvSpPr/>
            <p:nvPr/>
          </p:nvSpPr>
          <p:spPr>
            <a:xfrm>
              <a:off x="5630760" y="3215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8" name="CustomShape 7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80" name="object 3" descr=""/>
          <p:cNvPicPr/>
          <p:nvPr/>
        </p:nvPicPr>
        <p:blipFill>
          <a:blip r:embed="rId1"/>
          <a:stretch/>
        </p:blipFill>
        <p:spPr>
          <a:xfrm>
            <a:off x="634680" y="416520"/>
            <a:ext cx="4467600" cy="2492640"/>
          </a:xfrm>
          <a:prstGeom prst="rect">
            <a:avLst/>
          </a:prstGeom>
          <a:ln>
            <a:noFill/>
          </a:ln>
        </p:spPr>
      </p:pic>
      <p:sp>
        <p:nvSpPr>
          <p:cNvPr id="281" name="CustomShape 2"/>
          <p:cNvSpPr/>
          <p:nvPr/>
        </p:nvSpPr>
        <p:spPr>
          <a:xfrm>
            <a:off x="1906560" y="2927880"/>
            <a:ext cx="180612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I,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Robot”,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2004,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Alex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Proyas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82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283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84" name="object 6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85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9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91" name="object 3" descr=""/>
          <p:cNvPicPr/>
          <p:nvPr/>
        </p:nvPicPr>
        <p:blipFill>
          <a:blip r:embed="rId1"/>
          <a:stretch/>
        </p:blipFill>
        <p:spPr>
          <a:xfrm>
            <a:off x="1321920" y="416520"/>
            <a:ext cx="3115800" cy="2492640"/>
          </a:xfrm>
          <a:prstGeom prst="rect">
            <a:avLst/>
          </a:prstGeom>
          <a:ln>
            <a:noFill/>
          </a:ln>
        </p:spPr>
      </p:pic>
      <p:sp>
        <p:nvSpPr>
          <p:cNvPr id="292" name="CustomShape 2"/>
          <p:cNvSpPr/>
          <p:nvPr/>
        </p:nvSpPr>
        <p:spPr>
          <a:xfrm>
            <a:off x="1845720" y="2927880"/>
            <a:ext cx="1963080" cy="1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>
            <a:spAutoFit/>
          </a:bodyPr>
          <a:p>
            <a:pPr marL="12600">
              <a:lnSpc>
                <a:spcPct val="100000"/>
              </a:lnSpc>
              <a:spcBef>
                <a:spcPts val="51"/>
              </a:spcBef>
            </a:pPr>
            <a:r>
              <a:rPr b="0" lang="en-US" sz="1000" spc="-21" strike="noStrike">
                <a:latin typeface="Arial"/>
              </a:rPr>
              <a:t>“</a:t>
            </a:r>
            <a:r>
              <a:rPr b="0" lang="en-US" sz="1000" spc="-21" strike="noStrike">
                <a:latin typeface="Arial"/>
              </a:rPr>
              <a:t>Wall-</a:t>
            </a:r>
            <a:r>
              <a:rPr b="0" lang="en-US" sz="1000" spc="-1" strike="noStrike">
                <a:latin typeface="Arial"/>
              </a:rPr>
              <a:t>E”,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2008,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Andrew</a:t>
            </a:r>
            <a:r>
              <a:rPr b="0" lang="en-US" sz="1000" spc="-12" strike="noStrike">
                <a:latin typeface="Arial"/>
              </a:rPr>
              <a:t> Stanton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93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294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95" name="object 6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96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0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302" name="object 3" descr=""/>
          <p:cNvPicPr/>
          <p:nvPr/>
        </p:nvPicPr>
        <p:blipFill>
          <a:blip r:embed="rId1"/>
          <a:stretch/>
        </p:blipFill>
        <p:spPr>
          <a:xfrm>
            <a:off x="644400" y="416520"/>
            <a:ext cx="4442400" cy="2481120"/>
          </a:xfrm>
          <a:prstGeom prst="rect">
            <a:avLst/>
          </a:prstGeom>
          <a:ln>
            <a:noFill/>
          </a:ln>
        </p:spPr>
      </p:pic>
      <p:sp>
        <p:nvSpPr>
          <p:cNvPr id="303" name="CustomShape 2"/>
          <p:cNvSpPr/>
          <p:nvPr/>
        </p:nvSpPr>
        <p:spPr>
          <a:xfrm>
            <a:off x="1800720" y="2922120"/>
            <a:ext cx="2088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Ex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Machina”,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2015,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Alex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Garland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304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305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06" name="object 7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07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1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95400" y="45720"/>
            <a:ext cx="9770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313" name="object 3" descr=""/>
          <p:cNvPicPr/>
          <p:nvPr/>
        </p:nvPicPr>
        <p:blipFill>
          <a:blip r:embed="rId1"/>
          <a:stretch/>
        </p:blipFill>
        <p:spPr>
          <a:xfrm>
            <a:off x="644400" y="416520"/>
            <a:ext cx="4470840" cy="2492640"/>
          </a:xfrm>
          <a:prstGeom prst="rect">
            <a:avLst/>
          </a:prstGeom>
          <a:ln>
            <a:noFill/>
          </a:ln>
        </p:spPr>
      </p:pic>
      <p:sp>
        <p:nvSpPr>
          <p:cNvPr id="314" name="CustomShape 2"/>
          <p:cNvSpPr/>
          <p:nvPr/>
        </p:nvSpPr>
        <p:spPr>
          <a:xfrm>
            <a:off x="1484280" y="2922120"/>
            <a:ext cx="275616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“</a:t>
            </a:r>
            <a:r>
              <a:rPr b="0" lang="en-US" sz="1000" spc="-1" strike="noStrike">
                <a:latin typeface="Arial"/>
              </a:rPr>
              <a:t>Blade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Runner,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2049”,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2017,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by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Denis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Villeneuve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315" name="Group 3"/>
          <p:cNvGrpSpPr/>
          <p:nvPr/>
        </p:nvGrpSpPr>
        <p:grpSpPr>
          <a:xfrm>
            <a:off x="129240" y="3163680"/>
            <a:ext cx="5551920" cy="76320"/>
            <a:chOff x="129240" y="3163680"/>
            <a:chExt cx="5551920" cy="76320"/>
          </a:xfrm>
        </p:grpSpPr>
        <p:sp>
          <p:nvSpPr>
            <p:cNvPr id="316" name="CustomShape 4"/>
            <p:cNvSpPr/>
            <p:nvPr/>
          </p:nvSpPr>
          <p:spPr>
            <a:xfrm>
              <a:off x="129240" y="3163680"/>
              <a:ext cx="5501880" cy="75960"/>
            </a:xfrm>
            <a:custGeom>
              <a:avLst/>
              <a:gdLst/>
              <a:ahLst/>
              <a:rect l="l" t="t" r="r" b="b"/>
              <a:pathLst>
                <a:path w="5502275" h="7620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76162"/>
                  </a:lnTo>
                  <a:lnTo>
                    <a:pt x="5501666" y="76162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17" name="object 7" descr=""/>
            <p:cNvPicPr/>
            <p:nvPr/>
          </p:nvPicPr>
          <p:blipFill>
            <a:blip r:embed="rId2"/>
            <a:stretch/>
          </p:blipFill>
          <p:spPr>
            <a:xfrm>
              <a:off x="5630760" y="3214440"/>
              <a:ext cx="50400" cy="25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18" name="CustomShape 5"/>
            <p:cNvSpPr/>
            <p:nvPr/>
          </p:nvSpPr>
          <p:spPr>
            <a:xfrm>
              <a:off x="129240" y="3208320"/>
              <a:ext cx="5501880" cy="31320"/>
            </a:xfrm>
            <a:custGeom>
              <a:avLst/>
              <a:gdLst/>
              <a:ahLst/>
              <a:rect l="l" t="t" r="r" b="b"/>
              <a:pathLst>
                <a:path w="5502275" h="31750">
                  <a:moveTo>
                    <a:pt x="5501666" y="0"/>
                  </a:moveTo>
                  <a:lnTo>
                    <a:pt x="0" y="0"/>
                  </a:lnTo>
                  <a:lnTo>
                    <a:pt x="0" y="31751"/>
                  </a:lnTo>
                  <a:lnTo>
                    <a:pt x="5501666" y="3175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efbf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CustomShape 6"/>
            <p:cNvSpPr/>
            <p:nvPr/>
          </p:nvSpPr>
          <p:spPr>
            <a:xfrm>
              <a:off x="5630760" y="3239640"/>
              <a:ext cx="360" cy="360"/>
            </a:xfrm>
            <a:custGeom>
              <a:avLst/>
              <a:gdLst/>
              <a:ahLst/>
              <a:rect l="l" t="t" r="r" b="b"/>
              <a:pathLst>
                <a:path w="0" h="635">
                  <a:moveTo>
                    <a:pt x="0" y="21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CustomShape 7"/>
            <p:cNvSpPr/>
            <p:nvPr/>
          </p:nvSpPr>
          <p:spPr>
            <a:xfrm>
              <a:off x="5630760" y="32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7f7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CustomShape 8"/>
            <p:cNvSpPr/>
            <p:nvPr/>
          </p:nvSpPr>
          <p:spPr>
            <a:xfrm>
              <a:off x="5630760" y="321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fcfcf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2" name="CustomShape 9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Shape 1"/>
          <p:cNvSpPr txBox="1"/>
          <p:nvPr/>
        </p:nvSpPr>
        <p:spPr>
          <a:xfrm>
            <a:off x="95400" y="45720"/>
            <a:ext cx="294156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Fiction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324" name="Group 2"/>
          <p:cNvGrpSpPr/>
          <p:nvPr/>
        </p:nvGrpSpPr>
        <p:grpSpPr>
          <a:xfrm>
            <a:off x="129240" y="1183680"/>
            <a:ext cx="5551920" cy="737280"/>
            <a:chOff x="129240" y="1183680"/>
            <a:chExt cx="5551920" cy="737280"/>
          </a:xfrm>
        </p:grpSpPr>
        <p:sp>
          <p:nvSpPr>
            <p:cNvPr id="325" name="CustomShape 3"/>
            <p:cNvSpPr/>
            <p:nvPr/>
          </p:nvSpPr>
          <p:spPr>
            <a:xfrm>
              <a:off x="129240" y="118368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26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181944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7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18068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8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1234440"/>
              <a:ext cx="50400" cy="584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329" name="CustomShape 4"/>
            <p:cNvSpPr/>
            <p:nvPr/>
          </p:nvSpPr>
          <p:spPr>
            <a:xfrm>
              <a:off x="129240" y="1228320"/>
              <a:ext cx="5501880" cy="642240"/>
            </a:xfrm>
            <a:custGeom>
              <a:avLst/>
              <a:gdLst/>
              <a:ahLst/>
              <a:rect l="l" t="t" r="r" b="b"/>
              <a:pathLst>
                <a:path w="5502275" h="642619">
                  <a:moveTo>
                    <a:pt x="5501666" y="0"/>
                  </a:moveTo>
                  <a:lnTo>
                    <a:pt x="0" y="0"/>
                  </a:lnTo>
                  <a:lnTo>
                    <a:pt x="0" y="591211"/>
                  </a:lnTo>
                  <a:lnTo>
                    <a:pt x="4008" y="610936"/>
                  </a:lnTo>
                  <a:lnTo>
                    <a:pt x="14922" y="627089"/>
                  </a:lnTo>
                  <a:lnTo>
                    <a:pt x="31075" y="638003"/>
                  </a:lnTo>
                  <a:lnTo>
                    <a:pt x="50800" y="642012"/>
                  </a:lnTo>
                  <a:lnTo>
                    <a:pt x="5450866" y="642012"/>
                  </a:lnTo>
                  <a:lnTo>
                    <a:pt x="5470590" y="638003"/>
                  </a:lnTo>
                  <a:lnTo>
                    <a:pt x="5486743" y="627089"/>
                  </a:lnTo>
                  <a:lnTo>
                    <a:pt x="5497657" y="610936"/>
                  </a:lnTo>
                  <a:lnTo>
                    <a:pt x="5501666" y="59121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CustomShape 5"/>
            <p:cNvSpPr/>
            <p:nvPr/>
          </p:nvSpPr>
          <p:spPr>
            <a:xfrm>
              <a:off x="5630760" y="1272600"/>
              <a:ext cx="360" cy="565920"/>
            </a:xfrm>
            <a:custGeom>
              <a:avLst/>
              <a:gdLst/>
              <a:ahLst/>
              <a:rect l="l" t="t" r="r" b="b"/>
              <a:pathLst>
                <a:path w="0" h="566419">
                  <a:moveTo>
                    <a:pt x="0" y="56602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CustomShape 6"/>
            <p:cNvSpPr/>
            <p:nvPr/>
          </p:nvSpPr>
          <p:spPr>
            <a:xfrm>
              <a:off x="5630760" y="1259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CustomShape 7"/>
            <p:cNvSpPr/>
            <p:nvPr/>
          </p:nvSpPr>
          <p:spPr>
            <a:xfrm>
              <a:off x="5630760" y="124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CustomShape 8"/>
            <p:cNvSpPr/>
            <p:nvPr/>
          </p:nvSpPr>
          <p:spPr>
            <a:xfrm>
              <a:off x="5630760" y="1234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4" name="CustomShape 9"/>
          <p:cNvSpPr/>
          <p:nvPr/>
        </p:nvSpPr>
        <p:spPr>
          <a:xfrm>
            <a:off x="167400" y="1204560"/>
            <a:ext cx="5343840" cy="62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and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many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others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0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ts val="1199"/>
              </a:lnSpc>
            </a:pPr>
            <a:r>
              <a:rPr b="0" lang="en-US" sz="1000" spc="-1" strike="noStrike">
                <a:latin typeface="Arial"/>
              </a:rPr>
              <a:t>(see,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e.g.,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ts val="1199"/>
              </a:lnSpc>
            </a:pPr>
            <a:r>
              <a:rPr b="0" lang="en-US" sz="1000" spc="-12" strike="noStrike" u="sng">
                <a:solidFill>
                  <a:srgbClr val="0000ff"/>
                </a:solidFill>
                <a:uFillTx/>
                <a:latin typeface="Courier New"/>
                <a:hlinkClick r:id="rId4"/>
              </a:rPr>
              <a:t>https://www.looper.com/198685/the-stunning-evolution-</a:t>
            </a:r>
            <a:r>
              <a:rPr b="0" lang="en-US" sz="1000" spc="-1" strike="noStrike" u="sng">
                <a:solidFill>
                  <a:srgbClr val="0000ff"/>
                </a:solidFill>
                <a:uFillTx/>
                <a:latin typeface="Courier New"/>
                <a:hlinkClick r:id="rId5"/>
              </a:rPr>
              <a:t>of-ai-in-</a:t>
            </a:r>
            <a:r>
              <a:rPr b="0" lang="en-US" sz="1000" spc="-12" strike="noStrike" u="sng">
                <a:solidFill>
                  <a:srgbClr val="0000ff"/>
                </a:solidFill>
                <a:uFillTx/>
                <a:latin typeface="Courier New"/>
                <a:hlinkClick r:id="rId6"/>
              </a:rPr>
              <a:t>movies/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5" name="CustomShape 10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337" name="Group 2"/>
          <p:cNvGrpSpPr/>
          <p:nvPr/>
        </p:nvGrpSpPr>
        <p:grpSpPr>
          <a:xfrm>
            <a:off x="129240" y="1404720"/>
            <a:ext cx="5551920" cy="285840"/>
            <a:chOff x="129240" y="1404720"/>
            <a:chExt cx="5551920" cy="285840"/>
          </a:xfrm>
        </p:grpSpPr>
        <p:sp>
          <p:nvSpPr>
            <p:cNvPr id="338" name="CustomShape 3"/>
            <p:cNvSpPr/>
            <p:nvPr/>
          </p:nvSpPr>
          <p:spPr>
            <a:xfrm>
              <a:off x="129240" y="14047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39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15894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0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15764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1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145512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342" name="CustomShape 4"/>
            <p:cNvSpPr/>
            <p:nvPr/>
          </p:nvSpPr>
          <p:spPr>
            <a:xfrm>
              <a:off x="129240" y="144900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5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CustomShape 5"/>
            <p:cNvSpPr/>
            <p:nvPr/>
          </p:nvSpPr>
          <p:spPr>
            <a:xfrm>
              <a:off x="5630760" y="149328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69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CustomShape 6"/>
            <p:cNvSpPr/>
            <p:nvPr/>
          </p:nvSpPr>
          <p:spPr>
            <a:xfrm>
              <a:off x="5630760" y="1480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CustomShape 7"/>
            <p:cNvSpPr/>
            <p:nvPr/>
          </p:nvSpPr>
          <p:spPr>
            <a:xfrm>
              <a:off x="5630760" y="1468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CustomShape 8"/>
            <p:cNvSpPr/>
            <p:nvPr/>
          </p:nvSpPr>
          <p:spPr>
            <a:xfrm>
              <a:off x="5630760" y="14551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7" name="TextShape 9"/>
          <p:cNvSpPr txBox="1"/>
          <p:nvPr/>
        </p:nvSpPr>
        <p:spPr>
          <a:xfrm>
            <a:off x="167400" y="1428120"/>
            <a:ext cx="2994480" cy="5540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Many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fantasies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from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fiction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are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becoming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reality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...</a:t>
            </a:r>
            <a:endParaRPr b="0" lang="en-US" sz="1000" spc="-1" strike="noStrike">
              <a:latin typeface="Calibri"/>
            </a:endParaRPr>
          </a:p>
        </p:txBody>
      </p:sp>
      <p:sp>
        <p:nvSpPr>
          <p:cNvPr id="348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0" name="CustomShape 2"/>
          <p:cNvSpPr/>
          <p:nvPr/>
        </p:nvSpPr>
        <p:spPr>
          <a:xfrm>
            <a:off x="2261880" y="308160"/>
            <a:ext cx="12358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self-</a:t>
            </a:r>
            <a:r>
              <a:rPr b="0" lang="en-US" sz="1000" spc="-1" strike="noStrike">
                <a:latin typeface="Arial"/>
              </a:rPr>
              <a:t>driving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cars,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51" name="object 4" descr=""/>
          <p:cNvPicPr/>
          <p:nvPr/>
        </p:nvPicPr>
        <p:blipFill>
          <a:blip r:embed="rId1"/>
          <a:stretch/>
        </p:blipFill>
        <p:spPr>
          <a:xfrm>
            <a:off x="651240" y="612000"/>
            <a:ext cx="4456800" cy="2492640"/>
          </a:xfrm>
          <a:prstGeom prst="rect">
            <a:avLst/>
          </a:prstGeom>
          <a:ln>
            <a:noFill/>
          </a:ln>
        </p:spPr>
      </p:pic>
      <p:sp>
        <p:nvSpPr>
          <p:cNvPr id="352" name="CustomShape 3"/>
          <p:cNvSpPr/>
          <p:nvPr/>
        </p:nvSpPr>
        <p:spPr>
          <a:xfrm>
            <a:off x="2570400" y="3107880"/>
            <a:ext cx="42336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21" strike="noStrike">
                <a:latin typeface="Arial"/>
              </a:rPr>
              <a:t>©WATMO</a:t>
            </a:r>
            <a:r>
              <a:rPr b="0" lang="en-US" sz="500" spc="9" strike="noStrike">
                <a:latin typeface="Arial"/>
              </a:rPr>
              <a:t> </a:t>
            </a:r>
            <a:r>
              <a:rPr b="0" lang="en-US" sz="500" spc="-21" strike="noStrike">
                <a:latin typeface="Arial"/>
              </a:rPr>
              <a:t>Inc.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53" name="TextShape 4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7308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5" name="CustomShape 2"/>
          <p:cNvSpPr/>
          <p:nvPr/>
        </p:nvSpPr>
        <p:spPr>
          <a:xfrm>
            <a:off x="1863360" y="308160"/>
            <a:ext cx="20329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43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autonomous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vacuum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cleaners,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56" name="object 4" descr=""/>
          <p:cNvPicPr/>
          <p:nvPr/>
        </p:nvPicPr>
        <p:blipFill>
          <a:blip r:embed="rId1"/>
          <a:stretch/>
        </p:blipFill>
        <p:spPr>
          <a:xfrm>
            <a:off x="915480" y="612000"/>
            <a:ext cx="3928680" cy="2492640"/>
          </a:xfrm>
          <a:prstGeom prst="rect">
            <a:avLst/>
          </a:prstGeom>
          <a:ln>
            <a:noFill/>
          </a:ln>
        </p:spPr>
      </p:pic>
      <p:sp>
        <p:nvSpPr>
          <p:cNvPr id="357" name="CustomShape 3"/>
          <p:cNvSpPr/>
          <p:nvPr/>
        </p:nvSpPr>
        <p:spPr>
          <a:xfrm>
            <a:off x="2594880" y="3107880"/>
            <a:ext cx="37440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©iRobot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21" strike="noStrike">
                <a:latin typeface="Arial"/>
              </a:rPr>
              <a:t>Inc.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58" name="CustomShape 4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2106360" y="308160"/>
            <a:ext cx="15472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soccer-</a:t>
            </a:r>
            <a:r>
              <a:rPr b="0" lang="en-US" sz="1000" spc="-1" strike="noStrike">
                <a:latin typeface="Arial"/>
              </a:rPr>
              <a:t>playing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robots,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61" name="object 4" descr=""/>
          <p:cNvPicPr/>
          <p:nvPr/>
        </p:nvPicPr>
        <p:blipFill>
          <a:blip r:embed="rId1"/>
          <a:stretch/>
        </p:blipFill>
        <p:spPr>
          <a:xfrm>
            <a:off x="346680" y="612000"/>
            <a:ext cx="5042160" cy="2492640"/>
          </a:xfrm>
          <a:prstGeom prst="rect">
            <a:avLst/>
          </a:prstGeom>
          <a:ln>
            <a:noFill/>
          </a:ln>
        </p:spPr>
      </p:pic>
      <p:sp>
        <p:nvSpPr>
          <p:cNvPr id="362" name="CustomShape 3"/>
          <p:cNvSpPr/>
          <p:nvPr/>
        </p:nvSpPr>
        <p:spPr>
          <a:xfrm>
            <a:off x="2702160" y="3107880"/>
            <a:ext cx="214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2" strike="noStrike">
                <a:latin typeface="Arial"/>
              </a:rPr>
              <a:t>©Sony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63" name="CustomShape 4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5" name="CustomShape 2"/>
          <p:cNvSpPr/>
          <p:nvPr/>
        </p:nvSpPr>
        <p:spPr>
          <a:xfrm>
            <a:off x="1977840" y="308160"/>
            <a:ext cx="18043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</a:t>
            </a:r>
            <a:r>
              <a:rPr b="0" lang="en-US" sz="1000" spc="5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acrobatic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humanoid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robots,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66" name="object 4" descr=""/>
          <p:cNvPicPr/>
          <p:nvPr/>
        </p:nvPicPr>
        <p:blipFill>
          <a:blip r:embed="rId1"/>
          <a:stretch/>
        </p:blipFill>
        <p:spPr>
          <a:xfrm>
            <a:off x="366840" y="612000"/>
            <a:ext cx="5002920" cy="2492640"/>
          </a:xfrm>
          <a:prstGeom prst="rect">
            <a:avLst/>
          </a:prstGeom>
          <a:ln>
            <a:noFill/>
          </a:ln>
        </p:spPr>
      </p:pic>
      <p:sp>
        <p:nvSpPr>
          <p:cNvPr id="367" name="CustomShape 3"/>
          <p:cNvSpPr/>
          <p:nvPr/>
        </p:nvSpPr>
        <p:spPr>
          <a:xfrm>
            <a:off x="2536200" y="3107880"/>
            <a:ext cx="5641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©Boston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2" strike="noStrike">
                <a:latin typeface="Arial"/>
              </a:rPr>
              <a:t>Dynamics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68" name="CustomShape 4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0" name="CustomShape 2"/>
          <p:cNvSpPr/>
          <p:nvPr/>
        </p:nvSpPr>
        <p:spPr>
          <a:xfrm>
            <a:off x="2010240" y="308160"/>
            <a:ext cx="17395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autonomous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trading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bots,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71" name="object 4" descr=""/>
          <p:cNvPicPr/>
          <p:nvPr/>
        </p:nvPicPr>
        <p:blipFill>
          <a:blip r:embed="rId1"/>
          <a:stretch/>
        </p:blipFill>
        <p:spPr>
          <a:xfrm>
            <a:off x="825840" y="612000"/>
            <a:ext cx="4107600" cy="2492640"/>
          </a:xfrm>
          <a:prstGeom prst="rect">
            <a:avLst/>
          </a:prstGeom>
          <a:ln>
            <a:noFill/>
          </a:ln>
        </p:spPr>
      </p:pic>
      <p:sp>
        <p:nvSpPr>
          <p:cNvPr id="372" name="CustomShape 3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4" name="CustomShape 2"/>
          <p:cNvSpPr/>
          <p:nvPr/>
        </p:nvSpPr>
        <p:spPr>
          <a:xfrm>
            <a:off x="2247480" y="308160"/>
            <a:ext cx="126504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vocal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assistants,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75" name="object 4" descr=""/>
          <p:cNvPicPr/>
          <p:nvPr/>
        </p:nvPicPr>
        <p:blipFill>
          <a:blip r:embed="rId1"/>
          <a:stretch/>
        </p:blipFill>
        <p:spPr>
          <a:xfrm>
            <a:off x="1036800" y="712080"/>
            <a:ext cx="3759120" cy="2206080"/>
          </a:xfrm>
          <a:prstGeom prst="rect">
            <a:avLst/>
          </a:prstGeom>
          <a:ln>
            <a:noFill/>
          </a:ln>
        </p:spPr>
      </p:pic>
      <p:sp>
        <p:nvSpPr>
          <p:cNvPr id="376" name="CustomShape 3"/>
          <p:cNvSpPr/>
          <p:nvPr/>
        </p:nvSpPr>
        <p:spPr>
          <a:xfrm>
            <a:off x="2684520" y="3107880"/>
            <a:ext cx="3031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2" strike="noStrike">
                <a:latin typeface="Arial"/>
              </a:rPr>
              <a:t>©Amazon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77" name="CustomShape 4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9" name="CustomShape 2"/>
          <p:cNvSpPr/>
          <p:nvPr/>
        </p:nvSpPr>
        <p:spPr>
          <a:xfrm>
            <a:off x="1920240" y="308160"/>
            <a:ext cx="19198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image/face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recognition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tools,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80" name="object 4" descr=""/>
          <p:cNvPicPr/>
          <p:nvPr/>
        </p:nvPicPr>
        <p:blipFill>
          <a:blip r:embed="rId1"/>
          <a:stretch/>
        </p:blipFill>
        <p:spPr>
          <a:xfrm>
            <a:off x="794160" y="612360"/>
            <a:ext cx="4171320" cy="2492640"/>
          </a:xfrm>
          <a:prstGeom prst="rect">
            <a:avLst/>
          </a:prstGeom>
          <a:ln>
            <a:noFill/>
          </a:ln>
        </p:spPr>
      </p:pic>
      <p:sp>
        <p:nvSpPr>
          <p:cNvPr id="381" name="CustomShape 3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95400" y="-18000"/>
            <a:ext cx="4032000" cy="49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0640" bIns="0">
            <a:spAutoFit/>
          </a:bodyPr>
          <a:p>
            <a:pPr marL="12600">
              <a:lnSpc>
                <a:spcPct val="100000"/>
              </a:lnSpc>
              <a:spcBef>
                <a:spcPts val="635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  <a:p>
            <a:pPr marL="1550160">
              <a:lnSpc>
                <a:spcPct val="100000"/>
              </a:lnSpc>
              <a:spcBef>
                <a:spcPts val="34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...</a:t>
            </a:r>
            <a:r>
              <a:rPr b="0" lang="en-US" sz="1000" spc="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world-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champion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beating chess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players,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83" name="object 3" descr=""/>
          <p:cNvPicPr/>
          <p:nvPr/>
        </p:nvPicPr>
        <p:blipFill>
          <a:blip r:embed="rId1"/>
          <a:stretch/>
        </p:blipFill>
        <p:spPr>
          <a:xfrm>
            <a:off x="967680" y="612000"/>
            <a:ext cx="3824280" cy="2492640"/>
          </a:xfrm>
          <a:prstGeom prst="rect">
            <a:avLst/>
          </a:prstGeom>
          <a:ln>
            <a:noFill/>
          </a:ln>
        </p:spPr>
      </p:pic>
      <p:sp>
        <p:nvSpPr>
          <p:cNvPr id="384" name="CustomShape 2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CustomShape 1"/>
          <p:cNvSpPr/>
          <p:nvPr/>
        </p:nvSpPr>
        <p:spPr>
          <a:xfrm>
            <a:off x="95400" y="-18000"/>
            <a:ext cx="3937320" cy="49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0640" bIns="0">
            <a:spAutoFit/>
          </a:bodyPr>
          <a:p>
            <a:pPr marL="12600">
              <a:lnSpc>
                <a:spcPct val="100000"/>
              </a:lnSpc>
              <a:spcBef>
                <a:spcPts val="635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  <a:p>
            <a:pPr marL="1644480">
              <a:lnSpc>
                <a:spcPct val="100000"/>
              </a:lnSpc>
              <a:spcBef>
                <a:spcPts val="34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...</a:t>
            </a:r>
            <a:r>
              <a:rPr b="0" lang="en-US" sz="1000" spc="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world-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champion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beating go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players,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86" name="object 3" descr=""/>
          <p:cNvPicPr/>
          <p:nvPr/>
        </p:nvPicPr>
        <p:blipFill>
          <a:blip r:embed="rId1"/>
          <a:stretch/>
        </p:blipFill>
        <p:spPr>
          <a:xfrm>
            <a:off x="664920" y="612000"/>
            <a:ext cx="4429800" cy="2492640"/>
          </a:xfrm>
          <a:prstGeom prst="rect">
            <a:avLst/>
          </a:prstGeom>
          <a:ln>
            <a:noFill/>
          </a:ln>
        </p:spPr>
      </p:pic>
      <p:sp>
        <p:nvSpPr>
          <p:cNvPr id="387" name="CustomShape 2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2287440" y="308160"/>
            <a:ext cx="11851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5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AI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fighter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pilots,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90" name="object 4" descr=""/>
          <p:cNvPicPr/>
          <p:nvPr/>
        </p:nvPicPr>
        <p:blipFill>
          <a:blip r:embed="rId1"/>
          <a:stretch/>
        </p:blipFill>
        <p:spPr>
          <a:xfrm>
            <a:off x="667800" y="612000"/>
            <a:ext cx="4424400" cy="2492640"/>
          </a:xfrm>
          <a:prstGeom prst="rect">
            <a:avLst/>
          </a:prstGeom>
          <a:ln>
            <a:noFill/>
          </a:ln>
        </p:spPr>
      </p:pic>
      <p:sp>
        <p:nvSpPr>
          <p:cNvPr id="391" name="CustomShape 3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95400" y="45720"/>
            <a:ext cx="99720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4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Reality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393" name="Group 2"/>
          <p:cNvGrpSpPr/>
          <p:nvPr/>
        </p:nvGrpSpPr>
        <p:grpSpPr>
          <a:xfrm>
            <a:off x="129240" y="1276560"/>
            <a:ext cx="5551920" cy="343080"/>
            <a:chOff x="129240" y="1276560"/>
            <a:chExt cx="5551920" cy="343080"/>
          </a:xfrm>
        </p:grpSpPr>
        <p:sp>
          <p:nvSpPr>
            <p:cNvPr id="394" name="CustomShape 3"/>
            <p:cNvSpPr/>
            <p:nvPr/>
          </p:nvSpPr>
          <p:spPr>
            <a:xfrm>
              <a:off x="129240" y="127656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95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151848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96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15055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97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1326960"/>
              <a:ext cx="50400" cy="190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98" name="CustomShape 4"/>
            <p:cNvSpPr/>
            <p:nvPr/>
          </p:nvSpPr>
          <p:spPr>
            <a:xfrm>
              <a:off x="129240" y="1320840"/>
              <a:ext cx="5501880" cy="248040"/>
            </a:xfrm>
            <a:custGeom>
              <a:avLst/>
              <a:gdLst/>
              <a:ahLst/>
              <a:rect l="l" t="t" r="r" b="b"/>
              <a:pathLst>
                <a:path w="5502275" h="248284">
                  <a:moveTo>
                    <a:pt x="5501666" y="0"/>
                  </a:moveTo>
                  <a:lnTo>
                    <a:pt x="0" y="0"/>
                  </a:lnTo>
                  <a:lnTo>
                    <a:pt x="0" y="197397"/>
                  </a:lnTo>
                  <a:lnTo>
                    <a:pt x="4008" y="217122"/>
                  </a:lnTo>
                  <a:lnTo>
                    <a:pt x="14922" y="233275"/>
                  </a:lnTo>
                  <a:lnTo>
                    <a:pt x="31075" y="244189"/>
                  </a:lnTo>
                  <a:lnTo>
                    <a:pt x="50800" y="248197"/>
                  </a:lnTo>
                  <a:lnTo>
                    <a:pt x="5450866" y="248197"/>
                  </a:lnTo>
                  <a:lnTo>
                    <a:pt x="5470590" y="244189"/>
                  </a:lnTo>
                  <a:lnTo>
                    <a:pt x="5486743" y="233275"/>
                  </a:lnTo>
                  <a:lnTo>
                    <a:pt x="5497657" y="217122"/>
                  </a:lnTo>
                  <a:lnTo>
                    <a:pt x="5501666" y="19739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" name="CustomShape 5"/>
            <p:cNvSpPr/>
            <p:nvPr/>
          </p:nvSpPr>
          <p:spPr>
            <a:xfrm>
              <a:off x="5630760" y="1365120"/>
              <a:ext cx="360" cy="172440"/>
            </a:xfrm>
            <a:custGeom>
              <a:avLst/>
              <a:gdLst/>
              <a:ahLst/>
              <a:rect l="l" t="t" r="r" b="b"/>
              <a:pathLst>
                <a:path w="0" h="172719">
                  <a:moveTo>
                    <a:pt x="0" y="17220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" name="CustomShape 6"/>
            <p:cNvSpPr/>
            <p:nvPr/>
          </p:nvSpPr>
          <p:spPr>
            <a:xfrm>
              <a:off x="5630760" y="13525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1" name="CustomShape 7"/>
            <p:cNvSpPr/>
            <p:nvPr/>
          </p:nvSpPr>
          <p:spPr>
            <a:xfrm>
              <a:off x="5630760" y="13399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2" name="CustomShape 8"/>
            <p:cNvSpPr/>
            <p:nvPr/>
          </p:nvSpPr>
          <p:spPr>
            <a:xfrm>
              <a:off x="5630760" y="13269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03" name="CustomShape 9"/>
          <p:cNvSpPr/>
          <p:nvPr/>
        </p:nvSpPr>
        <p:spPr>
          <a:xfrm>
            <a:off x="167400" y="1359000"/>
            <a:ext cx="12556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and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many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others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4" name="CustomShape 10"/>
          <p:cNvSpPr/>
          <p:nvPr/>
        </p:nvSpPr>
        <p:spPr>
          <a:xfrm>
            <a:off x="5539680" y="3140280"/>
            <a:ext cx="16992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7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Outline</a:t>
            </a:r>
            <a:endParaRPr b="0" lang="en-US" sz="1400" spc="-1" strike="noStrike">
              <a:latin typeface="Calibri"/>
            </a:endParaRPr>
          </a:p>
        </p:txBody>
      </p:sp>
      <p:pic>
        <p:nvPicPr>
          <p:cNvPr id="406" name="object 3" descr=""/>
          <p:cNvPicPr/>
          <p:nvPr/>
        </p:nvPicPr>
        <p:blipFill>
          <a:blip r:embed="rId1"/>
          <a:stretch/>
        </p:blipFill>
        <p:spPr>
          <a:xfrm>
            <a:off x="127080" y="9003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407" name="CustomShape 2"/>
          <p:cNvSpPr/>
          <p:nvPr/>
        </p:nvSpPr>
        <p:spPr>
          <a:xfrm>
            <a:off x="175680" y="91656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1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408" name="CustomShape 3"/>
          <p:cNvSpPr/>
          <p:nvPr/>
        </p:nvSpPr>
        <p:spPr>
          <a:xfrm>
            <a:off x="349200" y="893520"/>
            <a:ext cx="12132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AI: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Fiction</a:t>
            </a:r>
            <a:r>
              <a:rPr b="0" lang="en-US" sz="1000" spc="-21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vs.</a:t>
            </a:r>
            <a:r>
              <a:rPr b="0" lang="en-US" sz="1000" spc="38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Reality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409" name="object 6" descr=""/>
          <p:cNvPicPr/>
          <p:nvPr/>
        </p:nvPicPr>
        <p:blipFill>
          <a:blip r:embed="rId2"/>
          <a:stretch/>
        </p:blipFill>
        <p:spPr>
          <a:xfrm>
            <a:off x="127080" y="13478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410" name="CustomShape 4"/>
          <p:cNvSpPr/>
          <p:nvPr/>
        </p:nvSpPr>
        <p:spPr>
          <a:xfrm>
            <a:off x="175680" y="13640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2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349200" y="1341000"/>
            <a:ext cx="6721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What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is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AI?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412" name="object 9" descr=""/>
          <p:cNvPicPr/>
          <p:nvPr/>
        </p:nvPicPr>
        <p:blipFill>
          <a:blip r:embed="rId3"/>
          <a:stretch/>
        </p:blipFill>
        <p:spPr>
          <a:xfrm>
            <a:off x="127080" y="17949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413" name="CustomShape 6"/>
          <p:cNvSpPr/>
          <p:nvPr/>
        </p:nvSpPr>
        <p:spPr>
          <a:xfrm>
            <a:off x="175680" y="18104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414" name="CustomShape 7"/>
          <p:cNvSpPr/>
          <p:nvPr/>
        </p:nvSpPr>
        <p:spPr>
          <a:xfrm>
            <a:off x="349200" y="1788120"/>
            <a:ext cx="1692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Foundations</a:t>
            </a:r>
            <a:r>
              <a:rPr b="0" lang="en-US" sz="1000" spc="-21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History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415" name="object 12" descr=""/>
          <p:cNvPicPr/>
          <p:nvPr/>
        </p:nvPicPr>
        <p:blipFill>
          <a:blip r:embed="rId4"/>
          <a:stretch/>
        </p:blipFill>
        <p:spPr>
          <a:xfrm>
            <a:off x="127080" y="22424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416" name="CustomShape 8"/>
          <p:cNvSpPr/>
          <p:nvPr/>
        </p:nvSpPr>
        <p:spPr>
          <a:xfrm>
            <a:off x="175680" y="22586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4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417" name="CustomShape 9"/>
          <p:cNvSpPr/>
          <p:nvPr/>
        </p:nvSpPr>
        <p:spPr>
          <a:xfrm>
            <a:off x="349200" y="2235600"/>
            <a:ext cx="10645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AI: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State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Art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8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8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vs.</a:t>
            </a:r>
            <a:r>
              <a:rPr b="0" lang="en-US" sz="1400" spc="21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Intelligence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420" name="Group 2"/>
          <p:cNvGrpSpPr/>
          <p:nvPr/>
        </p:nvGrpSpPr>
        <p:grpSpPr>
          <a:xfrm>
            <a:off x="129240" y="628200"/>
            <a:ext cx="5551920" cy="1138320"/>
            <a:chOff x="129240" y="628200"/>
            <a:chExt cx="5551920" cy="1138320"/>
          </a:xfrm>
        </p:grpSpPr>
        <p:sp>
          <p:nvSpPr>
            <p:cNvPr id="421" name="CustomShape 3"/>
            <p:cNvSpPr/>
            <p:nvPr/>
          </p:nvSpPr>
          <p:spPr>
            <a:xfrm>
              <a:off x="129240" y="628200"/>
              <a:ext cx="5501880" cy="181800"/>
            </a:xfrm>
            <a:custGeom>
              <a:avLst/>
              <a:gdLst/>
              <a:ahLst/>
              <a:rect l="l" t="t" r="r" b="b"/>
              <a:pathLst>
                <a:path w="5502275" h="18224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708"/>
                  </a:lnTo>
                  <a:lnTo>
                    <a:pt x="5501666" y="18170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22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7974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23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16650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24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16524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25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672480"/>
              <a:ext cx="50400" cy="992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426" name="CustomShape 4"/>
            <p:cNvSpPr/>
            <p:nvPr/>
          </p:nvSpPr>
          <p:spPr>
            <a:xfrm>
              <a:off x="129240" y="841680"/>
              <a:ext cx="5501880" cy="874080"/>
            </a:xfrm>
            <a:custGeom>
              <a:avLst/>
              <a:gdLst/>
              <a:ahLst/>
              <a:rect l="l" t="t" r="r" b="b"/>
              <a:pathLst>
                <a:path w="5502275" h="874394">
                  <a:moveTo>
                    <a:pt x="5501666" y="0"/>
                  </a:moveTo>
                  <a:lnTo>
                    <a:pt x="0" y="0"/>
                  </a:lnTo>
                  <a:lnTo>
                    <a:pt x="0" y="823390"/>
                  </a:lnTo>
                  <a:lnTo>
                    <a:pt x="4008" y="843115"/>
                  </a:lnTo>
                  <a:lnTo>
                    <a:pt x="14922" y="859268"/>
                  </a:lnTo>
                  <a:lnTo>
                    <a:pt x="31075" y="870182"/>
                  </a:lnTo>
                  <a:lnTo>
                    <a:pt x="50800" y="874190"/>
                  </a:lnTo>
                  <a:lnTo>
                    <a:pt x="5450866" y="874190"/>
                  </a:lnTo>
                  <a:lnTo>
                    <a:pt x="5470590" y="870182"/>
                  </a:lnTo>
                  <a:lnTo>
                    <a:pt x="5486743" y="859268"/>
                  </a:lnTo>
                  <a:lnTo>
                    <a:pt x="5497657" y="843115"/>
                  </a:lnTo>
                  <a:lnTo>
                    <a:pt x="5501666" y="823390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7" name="CustomShape 5"/>
            <p:cNvSpPr/>
            <p:nvPr/>
          </p:nvSpPr>
          <p:spPr>
            <a:xfrm>
              <a:off x="5630760" y="710640"/>
              <a:ext cx="360" cy="973080"/>
            </a:xfrm>
            <a:custGeom>
              <a:avLst/>
              <a:gdLst/>
              <a:ahLst/>
              <a:rect l="l" t="t" r="r" b="b"/>
              <a:pathLst>
                <a:path w="0" h="973455">
                  <a:moveTo>
                    <a:pt x="0" y="973442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CustomShape 6"/>
            <p:cNvSpPr/>
            <p:nvPr/>
          </p:nvSpPr>
          <p:spPr>
            <a:xfrm>
              <a:off x="5630760" y="698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9" name="CustomShape 7"/>
            <p:cNvSpPr/>
            <p:nvPr/>
          </p:nvSpPr>
          <p:spPr>
            <a:xfrm>
              <a:off x="5630760" y="685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0" name="CustomShape 8"/>
            <p:cNvSpPr/>
            <p:nvPr/>
          </p:nvSpPr>
          <p:spPr>
            <a:xfrm>
              <a:off x="5630760" y="672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31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0771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2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41876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33" name="Group 9"/>
          <p:cNvGrpSpPr/>
          <p:nvPr/>
        </p:nvGrpSpPr>
        <p:grpSpPr>
          <a:xfrm>
            <a:off x="129240" y="1867680"/>
            <a:ext cx="5551920" cy="987840"/>
            <a:chOff x="129240" y="1867680"/>
            <a:chExt cx="5551920" cy="987840"/>
          </a:xfrm>
        </p:grpSpPr>
        <p:sp>
          <p:nvSpPr>
            <p:cNvPr id="434" name="CustomShape 10"/>
            <p:cNvSpPr/>
            <p:nvPr/>
          </p:nvSpPr>
          <p:spPr>
            <a:xfrm>
              <a:off x="129240" y="186768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35" name="object 18" descr=""/>
            <p:cNvPicPr/>
            <p:nvPr/>
          </p:nvPicPr>
          <p:blipFill>
            <a:blip r:embed="rId7"/>
            <a:stretch/>
          </p:blipFill>
          <p:spPr>
            <a:xfrm>
              <a:off x="129240" y="20397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6" name="object 19" descr=""/>
            <p:cNvPicPr/>
            <p:nvPr/>
          </p:nvPicPr>
          <p:blipFill>
            <a:blip r:embed="rId8"/>
            <a:stretch/>
          </p:blipFill>
          <p:spPr>
            <a:xfrm>
              <a:off x="180000" y="27540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7" name="object 20" descr=""/>
            <p:cNvPicPr/>
            <p:nvPr/>
          </p:nvPicPr>
          <p:blipFill>
            <a:blip r:embed="rId9"/>
            <a:stretch/>
          </p:blipFill>
          <p:spPr>
            <a:xfrm>
              <a:off x="230760" y="27414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8" name="object 21" descr=""/>
            <p:cNvPicPr/>
            <p:nvPr/>
          </p:nvPicPr>
          <p:blipFill>
            <a:blip r:embed="rId10"/>
            <a:stretch/>
          </p:blipFill>
          <p:spPr>
            <a:xfrm>
              <a:off x="5630760" y="1911960"/>
              <a:ext cx="50400" cy="8416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39" name="CustomShape 11"/>
            <p:cNvSpPr/>
            <p:nvPr/>
          </p:nvSpPr>
          <p:spPr>
            <a:xfrm>
              <a:off x="129240" y="2084040"/>
              <a:ext cx="5501880" cy="721080"/>
            </a:xfrm>
            <a:custGeom>
              <a:avLst/>
              <a:gdLst/>
              <a:ahLst/>
              <a:rect l="l" t="t" r="r" b="b"/>
              <a:pathLst>
                <a:path w="5502275" h="721360">
                  <a:moveTo>
                    <a:pt x="5501666" y="0"/>
                  </a:moveTo>
                  <a:lnTo>
                    <a:pt x="0" y="0"/>
                  </a:lnTo>
                  <a:lnTo>
                    <a:pt x="0" y="670039"/>
                  </a:lnTo>
                  <a:lnTo>
                    <a:pt x="4008" y="689764"/>
                  </a:lnTo>
                  <a:lnTo>
                    <a:pt x="14922" y="705916"/>
                  </a:lnTo>
                  <a:lnTo>
                    <a:pt x="31075" y="716831"/>
                  </a:lnTo>
                  <a:lnTo>
                    <a:pt x="50800" y="720839"/>
                  </a:lnTo>
                  <a:lnTo>
                    <a:pt x="5450866" y="720839"/>
                  </a:lnTo>
                  <a:lnTo>
                    <a:pt x="5470590" y="716831"/>
                  </a:lnTo>
                  <a:lnTo>
                    <a:pt x="5486743" y="705916"/>
                  </a:lnTo>
                  <a:lnTo>
                    <a:pt x="5497657" y="689764"/>
                  </a:lnTo>
                  <a:lnTo>
                    <a:pt x="5501666" y="670039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" name="CustomShape 12"/>
            <p:cNvSpPr/>
            <p:nvPr/>
          </p:nvSpPr>
          <p:spPr>
            <a:xfrm>
              <a:off x="5630760" y="1950120"/>
              <a:ext cx="360" cy="823320"/>
            </a:xfrm>
            <a:custGeom>
              <a:avLst/>
              <a:gdLst/>
              <a:ahLst/>
              <a:rect l="l" t="t" r="r" b="b"/>
              <a:pathLst>
                <a:path w="0" h="823594">
                  <a:moveTo>
                    <a:pt x="0" y="823001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CustomShape 13"/>
            <p:cNvSpPr/>
            <p:nvPr/>
          </p:nvSpPr>
          <p:spPr>
            <a:xfrm>
              <a:off x="5630760" y="19371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CustomShape 14"/>
            <p:cNvSpPr/>
            <p:nvPr/>
          </p:nvSpPr>
          <p:spPr>
            <a:xfrm>
              <a:off x="5630760" y="19245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CustomShape 15"/>
            <p:cNvSpPr/>
            <p:nvPr/>
          </p:nvSpPr>
          <p:spPr>
            <a:xfrm>
              <a:off x="5630760" y="19119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44" name="object 27" descr=""/>
            <p:cNvPicPr/>
            <p:nvPr/>
          </p:nvPicPr>
          <p:blipFill>
            <a:blip r:embed="rId11"/>
            <a:stretch/>
          </p:blipFill>
          <p:spPr>
            <a:xfrm>
              <a:off x="299520" y="23194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45" name="object 28" descr=""/>
            <p:cNvPicPr/>
            <p:nvPr/>
          </p:nvPicPr>
          <p:blipFill>
            <a:blip r:embed="rId12"/>
            <a:stretch/>
          </p:blipFill>
          <p:spPr>
            <a:xfrm>
              <a:off x="299520" y="250920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46" name="CustomShape 16"/>
          <p:cNvSpPr/>
          <p:nvPr/>
        </p:nvSpPr>
        <p:spPr>
          <a:xfrm>
            <a:off x="167400" y="565560"/>
            <a:ext cx="5184360" cy="219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>
            <a:spAutoFit/>
          </a:bodyPr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Intelligence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0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For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thousands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years,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we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have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tried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understand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how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think: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how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can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“handful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matter”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perceive,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understand,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predict,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manipulate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world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far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larger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more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complicated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than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itself?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89"/>
              </a:spcBef>
            </a:pP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involves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many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disciplines,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including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logic,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psychology,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cognitive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science,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neuroscience,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philosophy,</a:t>
            </a:r>
            <a:r>
              <a:rPr b="0" lang="en-US" sz="10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ethics,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linguistics,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445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Intelligence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00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field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Artificial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Intelligence (AI)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goes further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still: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it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attempts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not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just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understand,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but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also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build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intelligent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entities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95"/>
              </a:spcBef>
            </a:pP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involves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all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above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disciplines,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but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also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mathematics,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science,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engineering,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economics,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control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theory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&amp;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cybernetics,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electronics,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7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is</a:t>
            </a:r>
            <a:r>
              <a:rPr b="0" lang="en-US" sz="1400" spc="4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Intelligence?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449" name="Group 2"/>
          <p:cNvGrpSpPr/>
          <p:nvPr/>
        </p:nvGrpSpPr>
        <p:grpSpPr>
          <a:xfrm>
            <a:off x="129240" y="1092960"/>
            <a:ext cx="5551920" cy="1065240"/>
            <a:chOff x="129240" y="1092960"/>
            <a:chExt cx="5551920" cy="1065240"/>
          </a:xfrm>
        </p:grpSpPr>
        <p:sp>
          <p:nvSpPr>
            <p:cNvPr id="450" name="CustomShape 3"/>
            <p:cNvSpPr/>
            <p:nvPr/>
          </p:nvSpPr>
          <p:spPr>
            <a:xfrm>
              <a:off x="129240" y="109296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51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126504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2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05668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3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04408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4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1137240"/>
              <a:ext cx="50400" cy="919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55" name="CustomShape 4"/>
            <p:cNvSpPr/>
            <p:nvPr/>
          </p:nvSpPr>
          <p:spPr>
            <a:xfrm>
              <a:off x="129240" y="1309320"/>
              <a:ext cx="5501880" cy="798480"/>
            </a:xfrm>
            <a:custGeom>
              <a:avLst/>
              <a:gdLst/>
              <a:ahLst/>
              <a:rect l="l" t="t" r="r" b="b"/>
              <a:pathLst>
                <a:path w="5502275" h="798830">
                  <a:moveTo>
                    <a:pt x="5501666" y="0"/>
                  </a:moveTo>
                  <a:lnTo>
                    <a:pt x="0" y="0"/>
                  </a:lnTo>
                  <a:lnTo>
                    <a:pt x="0" y="747475"/>
                  </a:lnTo>
                  <a:lnTo>
                    <a:pt x="4008" y="767199"/>
                  </a:lnTo>
                  <a:lnTo>
                    <a:pt x="14922" y="783352"/>
                  </a:lnTo>
                  <a:lnTo>
                    <a:pt x="31075" y="794266"/>
                  </a:lnTo>
                  <a:lnTo>
                    <a:pt x="50800" y="798275"/>
                  </a:lnTo>
                  <a:lnTo>
                    <a:pt x="5450866" y="798275"/>
                  </a:lnTo>
                  <a:lnTo>
                    <a:pt x="5470590" y="794266"/>
                  </a:lnTo>
                  <a:lnTo>
                    <a:pt x="5486743" y="783352"/>
                  </a:lnTo>
                  <a:lnTo>
                    <a:pt x="5497657" y="767199"/>
                  </a:lnTo>
                  <a:lnTo>
                    <a:pt x="5501666" y="747475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CustomShape 5"/>
            <p:cNvSpPr/>
            <p:nvPr/>
          </p:nvSpPr>
          <p:spPr>
            <a:xfrm>
              <a:off x="5630760" y="1175400"/>
              <a:ext cx="360" cy="900720"/>
            </a:xfrm>
            <a:custGeom>
              <a:avLst/>
              <a:gdLst/>
              <a:ahLst/>
              <a:rect l="l" t="t" r="r" b="b"/>
              <a:pathLst>
                <a:path w="0" h="901064">
                  <a:moveTo>
                    <a:pt x="0" y="900437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CustomShape 6"/>
            <p:cNvSpPr/>
            <p:nvPr/>
          </p:nvSpPr>
          <p:spPr>
            <a:xfrm>
              <a:off x="5630760" y="1162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CustomShape 7"/>
            <p:cNvSpPr/>
            <p:nvPr/>
          </p:nvSpPr>
          <p:spPr>
            <a:xfrm>
              <a:off x="5630760" y="11498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CustomShape 8"/>
            <p:cNvSpPr/>
            <p:nvPr/>
          </p:nvSpPr>
          <p:spPr>
            <a:xfrm>
              <a:off x="5630760" y="1137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0" name="TextShape 9"/>
          <p:cNvSpPr txBox="1"/>
          <p:nvPr/>
        </p:nvSpPr>
        <p:spPr>
          <a:xfrm>
            <a:off x="153360" y="593640"/>
            <a:ext cx="5406840" cy="2294640"/>
          </a:xfrm>
          <a:prstGeom prst="rect">
            <a:avLst/>
          </a:prstGeom>
          <a:noFill/>
          <a:ln>
            <a:noFill/>
          </a:ln>
        </p:spPr>
        <p:txBody>
          <a:bodyPr lIns="0" rIns="0" tIns="503280" bIns="0">
            <a:spAutoFit/>
          </a:bodyPr>
          <a:p>
            <a:pPr marL="2664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(from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Wikipedia)</a:t>
            </a:r>
            <a:endParaRPr b="0" lang="en-US" sz="1000" spc="-1" strike="noStrike">
              <a:latin typeface="Calibri"/>
            </a:endParaRPr>
          </a:p>
          <a:p>
            <a:pPr marL="26640">
              <a:lnSpc>
                <a:spcPts val="1199"/>
              </a:lnSpc>
              <a:spcBef>
                <a:spcPts val="40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i="1" lang="en-US" sz="1000" spc="-1" strike="noStrike">
                <a:solidFill>
                  <a:srgbClr val="c92626"/>
                </a:solidFill>
                <a:latin typeface="Arial"/>
              </a:rPr>
              <a:t>Intelligence</a:t>
            </a:r>
            <a:r>
              <a:rPr b="0" i="1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has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been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defined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many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ways:</a:t>
            </a:r>
            <a:r>
              <a:rPr b="0" i="1" lang="en-US" sz="10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capacity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logic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2" strike="noStrike">
                <a:solidFill>
                  <a:srgbClr val="0000ff"/>
                </a:solidFill>
                <a:latin typeface="Arial"/>
              </a:rPr>
              <a:t>understanding</a:t>
            </a:r>
            <a:r>
              <a:rPr b="0" i="1" lang="en-US" sz="1000" spc="-12" strike="noStrike">
                <a:solidFill>
                  <a:srgbClr val="000000"/>
                </a:solidFill>
                <a:latin typeface="Arial"/>
              </a:rPr>
              <a:t>,</a:t>
            </a:r>
            <a:endParaRPr b="0" lang="en-US" sz="1000" spc="-1" strike="noStrike">
              <a:latin typeface="Calibri"/>
            </a:endParaRPr>
          </a:p>
          <a:p>
            <a:pPr marL="26640">
              <a:lnSpc>
                <a:spcPts val="1199"/>
              </a:lnSpc>
              <a:spcBef>
                <a:spcPts val="34"/>
              </a:spcBef>
            </a:pPr>
            <a:r>
              <a:rPr b="0" i="1" lang="en-US" sz="1000" spc="-12" strike="noStrike">
                <a:solidFill>
                  <a:srgbClr val="0000ff"/>
                </a:solidFill>
                <a:latin typeface="Arial"/>
              </a:rPr>
              <a:t>self-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awareness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learning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emotional</a:t>
            </a:r>
            <a:r>
              <a:rPr b="0" i="1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reasoning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planning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creativity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critical</a:t>
            </a:r>
            <a:r>
              <a:rPr b="0" i="1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i="1" lang="en-US" sz="1000" spc="-12" strike="noStrike">
                <a:solidFill>
                  <a:srgbClr val="0000ff"/>
                </a:solidFill>
                <a:latin typeface="Arial"/>
              </a:rPr>
              <a:t>thinking</a:t>
            </a:r>
            <a:r>
              <a:rPr b="0" i="1" lang="en-US" sz="1000" spc="-12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i="1" lang="en-US" sz="1000" spc="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2" strike="noStrike">
                <a:solidFill>
                  <a:srgbClr val="0000ff"/>
                </a:solidFill>
                <a:latin typeface="Arial"/>
              </a:rPr>
              <a:t>problem-solving</a:t>
            </a:r>
            <a:r>
              <a:rPr b="0" i="1" lang="en-US" sz="1000" spc="-12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000" spc="-1" strike="noStrike">
              <a:latin typeface="Calibri"/>
            </a:endParaRPr>
          </a:p>
          <a:p>
            <a:pPr marL="26640">
              <a:lnSpc>
                <a:spcPts val="1151"/>
              </a:lnSpc>
            </a:pP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More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2" strike="noStrike">
                <a:solidFill>
                  <a:srgbClr val="000000"/>
                </a:solidFill>
                <a:latin typeface="Arial"/>
              </a:rPr>
              <a:t>generally,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it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can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described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ability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c92626"/>
                </a:solidFill>
                <a:latin typeface="Arial"/>
              </a:rPr>
              <a:t>perceive</a:t>
            </a:r>
            <a:r>
              <a:rPr b="0" i="1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or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c92626"/>
                </a:solidFill>
                <a:latin typeface="Arial"/>
              </a:rPr>
              <a:t>infer</a:t>
            </a:r>
            <a:r>
              <a:rPr b="0" i="1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information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i="1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c92626"/>
                </a:solidFill>
                <a:latin typeface="Arial"/>
              </a:rPr>
              <a:t>retain</a:t>
            </a:r>
            <a:r>
              <a:rPr b="0" i="1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it</a:t>
            </a:r>
            <a:endParaRPr b="0" lang="en-US" sz="1000" spc="-1" strike="noStrike">
              <a:latin typeface="Calibri"/>
            </a:endParaRPr>
          </a:p>
          <a:p>
            <a:pPr marL="26640">
              <a:lnSpc>
                <a:spcPts val="1199"/>
              </a:lnSpc>
            </a:pP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i="1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i="1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c92626"/>
                </a:solidFill>
                <a:latin typeface="Arial"/>
              </a:rPr>
              <a:t>applied</a:t>
            </a:r>
            <a:r>
              <a:rPr b="0" i="1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towards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adaptive</a:t>
            </a:r>
            <a:r>
              <a:rPr b="0" i="1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behaviors</a:t>
            </a:r>
            <a:r>
              <a:rPr b="0" i="1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within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environment</a:t>
            </a:r>
            <a:r>
              <a:rPr b="0" i="1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or</a:t>
            </a:r>
            <a:r>
              <a:rPr b="0" i="1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" strike="noStrike">
                <a:solidFill>
                  <a:srgbClr val="0000ff"/>
                </a:solidFill>
                <a:latin typeface="Arial"/>
              </a:rPr>
              <a:t>context</a:t>
            </a:r>
            <a:r>
              <a:rPr b="0" i="1" lang="en-US" sz="10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i="1" lang="en-US" sz="1000" spc="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en-US" sz="1000" spc="-12" strike="noStrike">
                <a:solidFill>
                  <a:srgbClr val="000000"/>
                </a:solidFill>
                <a:latin typeface="Arial"/>
              </a:rPr>
              <a:t>(...)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”</a:t>
            </a:r>
            <a:endParaRPr b="0" lang="en-US" sz="1000" spc="-1" strike="noStrike">
              <a:latin typeface="Calibri"/>
            </a:endParaRPr>
          </a:p>
        </p:txBody>
      </p:sp>
      <p:sp>
        <p:nvSpPr>
          <p:cNvPr id="461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Intelligence?</a:t>
            </a:r>
            <a:r>
              <a:rPr b="0" lang="en-US" sz="1400" spc="1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463" name="CustomShape 2"/>
          <p:cNvSpPr/>
          <p:nvPr/>
        </p:nvSpPr>
        <p:spPr>
          <a:xfrm>
            <a:off x="129240" y="429120"/>
            <a:ext cx="5501880" cy="180000"/>
          </a:xfrm>
          <a:custGeom>
            <a:avLst/>
            <a:gdLst/>
            <a:ahLst/>
            <a:rect l="l" t="t" r="r" b="b"/>
            <a:pathLst>
              <a:path w="5502275" h="180340">
                <a:moveTo>
                  <a:pt x="54508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0187"/>
                </a:lnTo>
                <a:lnTo>
                  <a:pt x="5501666" y="180187"/>
                </a:lnTo>
                <a:lnTo>
                  <a:pt x="5501666" y="50800"/>
                </a:lnTo>
                <a:lnTo>
                  <a:pt x="5497657" y="31075"/>
                </a:lnTo>
                <a:lnTo>
                  <a:pt x="5486743" y="14922"/>
                </a:lnTo>
                <a:lnTo>
                  <a:pt x="5470590" y="4008"/>
                </a:lnTo>
                <a:lnTo>
                  <a:pt x="5450866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3"/>
          <p:cNvSpPr/>
          <p:nvPr/>
        </p:nvSpPr>
        <p:spPr>
          <a:xfrm>
            <a:off x="167400" y="417960"/>
            <a:ext cx="136224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Example:</a:t>
            </a:r>
            <a:r>
              <a:rPr b="0" lang="en-US" sz="10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simple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puzzle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465" name="Group 4"/>
          <p:cNvGrpSpPr/>
          <p:nvPr/>
        </p:nvGrpSpPr>
        <p:grpSpPr>
          <a:xfrm>
            <a:off x="129240" y="473400"/>
            <a:ext cx="5551920" cy="2744280"/>
            <a:chOff x="129240" y="473400"/>
            <a:chExt cx="5551920" cy="2744280"/>
          </a:xfrm>
        </p:grpSpPr>
        <p:pic>
          <p:nvPicPr>
            <p:cNvPr id="466" name="object 6" descr=""/>
            <p:cNvPicPr/>
            <p:nvPr/>
          </p:nvPicPr>
          <p:blipFill>
            <a:blip r:embed="rId1"/>
            <a:stretch/>
          </p:blipFill>
          <p:spPr>
            <a:xfrm>
              <a:off x="129240" y="59652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7" name="object 7" descr=""/>
            <p:cNvPicPr/>
            <p:nvPr/>
          </p:nvPicPr>
          <p:blipFill>
            <a:blip r:embed="rId2"/>
            <a:stretch/>
          </p:blipFill>
          <p:spPr>
            <a:xfrm>
              <a:off x="180000" y="31161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8" name="object 8" descr=""/>
            <p:cNvPicPr/>
            <p:nvPr/>
          </p:nvPicPr>
          <p:blipFill>
            <a:blip r:embed="rId3"/>
            <a:stretch/>
          </p:blipFill>
          <p:spPr>
            <a:xfrm>
              <a:off x="230760" y="31035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9" name="object 9" descr=""/>
            <p:cNvPicPr/>
            <p:nvPr/>
          </p:nvPicPr>
          <p:blipFill>
            <a:blip r:embed="rId4"/>
            <a:stretch/>
          </p:blipFill>
          <p:spPr>
            <a:xfrm>
              <a:off x="5630760" y="473400"/>
              <a:ext cx="50400" cy="26424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0" name="CustomShape 5"/>
            <p:cNvSpPr/>
            <p:nvPr/>
          </p:nvSpPr>
          <p:spPr>
            <a:xfrm>
              <a:off x="129240" y="640800"/>
              <a:ext cx="5501880" cy="2526480"/>
            </a:xfrm>
            <a:custGeom>
              <a:avLst/>
              <a:gdLst/>
              <a:ahLst/>
              <a:rect l="l" t="t" r="r" b="b"/>
              <a:pathLst>
                <a:path w="5502275" h="2526665">
                  <a:moveTo>
                    <a:pt x="5501666" y="0"/>
                  </a:moveTo>
                  <a:lnTo>
                    <a:pt x="0" y="0"/>
                  </a:lnTo>
                  <a:lnTo>
                    <a:pt x="0" y="2475318"/>
                  </a:lnTo>
                  <a:lnTo>
                    <a:pt x="4008" y="2495043"/>
                  </a:lnTo>
                  <a:lnTo>
                    <a:pt x="14922" y="2511196"/>
                  </a:lnTo>
                  <a:lnTo>
                    <a:pt x="31075" y="2522110"/>
                  </a:lnTo>
                  <a:lnTo>
                    <a:pt x="50800" y="2526119"/>
                  </a:lnTo>
                  <a:lnTo>
                    <a:pt x="5450866" y="2526119"/>
                  </a:lnTo>
                  <a:lnTo>
                    <a:pt x="5470590" y="2522110"/>
                  </a:lnTo>
                  <a:lnTo>
                    <a:pt x="5486743" y="2511196"/>
                  </a:lnTo>
                  <a:lnTo>
                    <a:pt x="5497657" y="2495043"/>
                  </a:lnTo>
                  <a:lnTo>
                    <a:pt x="5501666" y="2475318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CustomShape 6"/>
            <p:cNvSpPr/>
            <p:nvPr/>
          </p:nvSpPr>
          <p:spPr>
            <a:xfrm>
              <a:off x="5630760" y="511560"/>
              <a:ext cx="360" cy="2624040"/>
            </a:xfrm>
            <a:custGeom>
              <a:avLst/>
              <a:gdLst/>
              <a:ahLst/>
              <a:rect l="l" t="t" r="r" b="b"/>
              <a:pathLst>
                <a:path w="0" h="2624455">
                  <a:moveTo>
                    <a:pt x="0" y="2623857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CustomShape 7"/>
            <p:cNvSpPr/>
            <p:nvPr/>
          </p:nvSpPr>
          <p:spPr>
            <a:xfrm>
              <a:off x="5630760" y="498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CustomShape 8"/>
            <p:cNvSpPr/>
            <p:nvPr/>
          </p:nvSpPr>
          <p:spPr>
            <a:xfrm>
              <a:off x="5630760" y="4860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CustomShape 9"/>
            <p:cNvSpPr/>
            <p:nvPr/>
          </p:nvSpPr>
          <p:spPr>
            <a:xfrm>
              <a:off x="5630760" y="4734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75" name="object 15" descr=""/>
            <p:cNvPicPr/>
            <p:nvPr/>
          </p:nvPicPr>
          <p:blipFill>
            <a:blip r:embed="rId5"/>
            <a:stretch/>
          </p:blipFill>
          <p:spPr>
            <a:xfrm>
              <a:off x="1454040" y="768960"/>
              <a:ext cx="1349640" cy="11386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76" name="object 16" descr=""/>
            <p:cNvPicPr/>
            <p:nvPr/>
          </p:nvPicPr>
          <p:blipFill>
            <a:blip r:embed="rId6"/>
            <a:stretch/>
          </p:blipFill>
          <p:spPr>
            <a:xfrm>
              <a:off x="2955960" y="666360"/>
              <a:ext cx="1349640" cy="124128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77" name="CustomShape 10"/>
          <p:cNvSpPr/>
          <p:nvPr/>
        </p:nvSpPr>
        <p:spPr>
          <a:xfrm>
            <a:off x="2456640" y="1940040"/>
            <a:ext cx="846720" cy="7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400" spc="-1" strike="noStrike">
                <a:solidFill>
                  <a:srgbClr val="9300d3"/>
                </a:solidFill>
                <a:latin typeface="Arial"/>
              </a:rPr>
              <a:t>(Courtesy</a:t>
            </a:r>
            <a:r>
              <a:rPr b="0" lang="en-US" sz="400" spc="4" strike="noStrike">
                <a:solidFill>
                  <a:srgbClr val="9300d3"/>
                </a:solidFill>
                <a:latin typeface="Arial"/>
              </a:rPr>
              <a:t> </a:t>
            </a:r>
            <a:r>
              <a:rPr b="0" lang="en-US" sz="400" spc="-1" strike="noStrike">
                <a:solidFill>
                  <a:srgbClr val="9300d3"/>
                </a:solidFill>
                <a:latin typeface="Arial"/>
              </a:rPr>
              <a:t>of</a:t>
            </a:r>
            <a:r>
              <a:rPr b="0" lang="en-US" sz="400" spc="4" strike="noStrike">
                <a:solidFill>
                  <a:srgbClr val="9300d3"/>
                </a:solidFill>
                <a:latin typeface="Arial"/>
              </a:rPr>
              <a:t> </a:t>
            </a:r>
            <a:r>
              <a:rPr b="0" lang="en-US" sz="400" spc="-12" strike="noStrike">
                <a:solidFill>
                  <a:srgbClr val="9300d3"/>
                </a:solidFill>
                <a:latin typeface="Arial"/>
              </a:rPr>
              <a:t>Michela</a:t>
            </a:r>
            <a:r>
              <a:rPr b="0" lang="en-US" sz="400" spc="9" strike="noStrike">
                <a:solidFill>
                  <a:srgbClr val="9300d3"/>
                </a:solidFill>
                <a:latin typeface="Arial"/>
              </a:rPr>
              <a:t> </a:t>
            </a:r>
            <a:r>
              <a:rPr b="0" lang="en-US" sz="400" spc="-12" strike="noStrike">
                <a:solidFill>
                  <a:srgbClr val="9300d3"/>
                </a:solidFill>
                <a:latin typeface="Arial"/>
              </a:rPr>
              <a:t>Milano,</a:t>
            </a:r>
            <a:r>
              <a:rPr b="0" lang="en-US" sz="400" spc="4" strike="noStrike">
                <a:solidFill>
                  <a:srgbClr val="9300d3"/>
                </a:solidFill>
                <a:latin typeface="Arial"/>
              </a:rPr>
              <a:t> </a:t>
            </a:r>
            <a:r>
              <a:rPr b="0" lang="en-US" sz="400" spc="-12" strike="noStrike">
                <a:solidFill>
                  <a:srgbClr val="9300d3"/>
                </a:solidFill>
                <a:latin typeface="Arial"/>
              </a:rPr>
              <a:t>UniBO)</a:t>
            </a:r>
            <a:endParaRPr b="0" lang="en-US" sz="400" spc="-1" strike="noStrike">
              <a:latin typeface="Arial"/>
            </a:endParaRPr>
          </a:p>
        </p:txBody>
      </p:sp>
      <p:grpSp>
        <p:nvGrpSpPr>
          <p:cNvPr id="478" name="Group 11"/>
          <p:cNvGrpSpPr/>
          <p:nvPr/>
        </p:nvGrpSpPr>
        <p:grpSpPr>
          <a:xfrm>
            <a:off x="299520" y="2100960"/>
            <a:ext cx="69840" cy="411480"/>
            <a:chOff x="299520" y="2100960"/>
            <a:chExt cx="69840" cy="411480"/>
          </a:xfrm>
        </p:grpSpPr>
        <p:pic>
          <p:nvPicPr>
            <p:cNvPr id="479" name="object 19" descr=""/>
            <p:cNvPicPr/>
            <p:nvPr/>
          </p:nvPicPr>
          <p:blipFill>
            <a:blip r:embed="rId7"/>
            <a:stretch/>
          </p:blipFill>
          <p:spPr>
            <a:xfrm>
              <a:off x="299520" y="21009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80" name="object 20" descr=""/>
            <p:cNvPicPr/>
            <p:nvPr/>
          </p:nvPicPr>
          <p:blipFill>
            <a:blip r:embed="rId8"/>
            <a:stretch/>
          </p:blipFill>
          <p:spPr>
            <a:xfrm>
              <a:off x="299520" y="244260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81" name="CustomShape 12"/>
          <p:cNvSpPr/>
          <p:nvPr/>
        </p:nvSpPr>
        <p:spPr>
          <a:xfrm>
            <a:off x="420480" y="2006280"/>
            <a:ext cx="3137760" cy="67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9960" bIns="0">
            <a:spAutoFit/>
          </a:bodyPr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latin typeface="Arial"/>
              </a:rPr>
              <a:t>What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is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the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solution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this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puzzle?</a:t>
            </a:r>
            <a:endParaRPr b="0" lang="en-US" sz="1000" spc="-1" strike="noStrike">
              <a:latin typeface="Arial"/>
            </a:endParaRPr>
          </a:p>
          <a:p>
            <a:pPr marL="1332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900" spc="168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(I’d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say)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B: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result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column-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by-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column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clockwise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rotation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What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have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you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done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solving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it?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482" name="Group 13"/>
          <p:cNvGrpSpPr/>
          <p:nvPr/>
        </p:nvGrpSpPr>
        <p:grpSpPr>
          <a:xfrm>
            <a:off x="501840" y="2579760"/>
            <a:ext cx="122400" cy="261360"/>
            <a:chOff x="501840" y="2579760"/>
            <a:chExt cx="122400" cy="261360"/>
          </a:xfrm>
        </p:grpSpPr>
        <p:pic>
          <p:nvPicPr>
            <p:cNvPr id="483" name="object 23" descr=""/>
            <p:cNvPicPr/>
            <p:nvPr/>
          </p:nvPicPr>
          <p:blipFill>
            <a:blip r:embed="rId9"/>
            <a:stretch/>
          </p:blipFill>
          <p:spPr>
            <a:xfrm>
              <a:off x="501840" y="2579760"/>
              <a:ext cx="122400" cy="122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84" name="object 24" descr=""/>
            <p:cNvPicPr/>
            <p:nvPr/>
          </p:nvPicPr>
          <p:blipFill>
            <a:blip r:embed="rId10"/>
            <a:stretch/>
          </p:blipFill>
          <p:spPr>
            <a:xfrm>
              <a:off x="501840" y="2718720"/>
              <a:ext cx="122400" cy="1224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85" name="CustomShape 14"/>
          <p:cNvSpPr/>
          <p:nvPr/>
        </p:nvSpPr>
        <p:spPr>
          <a:xfrm>
            <a:off x="533160" y="2581200"/>
            <a:ext cx="6048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52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5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96"/>
              </a:spcBef>
            </a:pPr>
            <a:r>
              <a:rPr b="0" lang="en-US" sz="500" spc="-52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486" name="object 26" descr=""/>
          <p:cNvPicPr/>
          <p:nvPr/>
        </p:nvPicPr>
        <p:blipFill>
          <a:blip r:embed="rId11"/>
          <a:stretch/>
        </p:blipFill>
        <p:spPr>
          <a:xfrm>
            <a:off x="501840" y="2997000"/>
            <a:ext cx="122400" cy="122400"/>
          </a:xfrm>
          <a:prstGeom prst="rect">
            <a:avLst/>
          </a:prstGeom>
          <a:ln>
            <a:noFill/>
          </a:ln>
        </p:spPr>
      </p:pic>
      <p:sp>
        <p:nvSpPr>
          <p:cNvPr id="487" name="CustomShape 15"/>
          <p:cNvSpPr/>
          <p:nvPr/>
        </p:nvSpPr>
        <p:spPr>
          <a:xfrm>
            <a:off x="533160" y="2998080"/>
            <a:ext cx="6048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52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488" name="CustomShape 16"/>
          <p:cNvSpPr/>
          <p:nvPr/>
        </p:nvSpPr>
        <p:spPr>
          <a:xfrm>
            <a:off x="673560" y="2553120"/>
            <a:ext cx="2661480" cy="70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80" bIns="0">
            <a:spAutoFit/>
          </a:bodyPr>
          <a:p>
            <a:pPr marL="12600">
              <a:lnSpc>
                <a:spcPct val="101000"/>
              </a:lnSpc>
              <a:spcBef>
                <a:spcPts val="79"/>
              </a:spcBef>
            </a:pPr>
            <a:r>
              <a:rPr b="0" lang="en-US" sz="900" spc="-1" strike="noStrike">
                <a:latin typeface="Arial"/>
              </a:rPr>
              <a:t>read</a:t>
            </a:r>
            <a:r>
              <a:rPr b="0" lang="en-US" sz="900" spc="-35" strike="noStrike">
                <a:latin typeface="Arial"/>
              </a:rPr>
              <a:t> </a:t>
            </a:r>
            <a:r>
              <a:rPr b="0" lang="en-US" sz="900" spc="-1" strike="noStrike">
                <a:latin typeface="Arial"/>
              </a:rPr>
              <a:t>&amp;</a:t>
            </a:r>
            <a:r>
              <a:rPr b="0" lang="en-US" sz="900" spc="-21" strike="noStrike">
                <a:latin typeface="Arial"/>
              </a:rPr>
              <a:t> </a:t>
            </a:r>
            <a:r>
              <a:rPr b="0" lang="en-US" sz="900" spc="-1" strike="noStrike">
                <a:latin typeface="Arial"/>
              </a:rPr>
              <a:t>recognize</a:t>
            </a:r>
            <a:r>
              <a:rPr b="0" lang="en-US" sz="900" spc="-15" strike="noStrike">
                <a:latin typeface="Arial"/>
              </a:rPr>
              <a:t> </a:t>
            </a:r>
            <a:r>
              <a:rPr b="0" lang="en-US" sz="900" spc="-1" strike="noStrike">
                <a:latin typeface="Arial"/>
              </a:rPr>
              <a:t>figures</a:t>
            </a:r>
            <a:r>
              <a:rPr b="0" lang="en-US" sz="900" spc="-21" strike="noStrike">
                <a:latin typeface="Arial"/>
              </a:rPr>
              <a:t> </a:t>
            </a:r>
            <a:r>
              <a:rPr b="0" lang="en-US" sz="900" spc="-46" strike="noStrike">
                <a:latin typeface="Lucida Sans Unicode"/>
              </a:rPr>
              <a:t>=⇒</a:t>
            </a:r>
            <a:r>
              <a:rPr b="0" lang="en-US" sz="900" spc="-35" strike="noStrike">
                <a:latin typeface="Lucida Sans Unicode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perceive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information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recognize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patterns,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problem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candidate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solutions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</a:pPr>
            <a:r>
              <a:rPr b="0" lang="en-US" sz="900" spc="-46" strike="noStrike">
                <a:solidFill>
                  <a:srgbClr val="0000ff"/>
                </a:solidFill>
                <a:latin typeface="Lucida Sans Unicode"/>
              </a:rPr>
              <a:t>=⇒</a:t>
            </a:r>
            <a:r>
              <a:rPr b="0" lang="en-US" sz="900" spc="-35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retain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choose</a:t>
            </a:r>
            <a:r>
              <a:rPr b="0" lang="en-US" sz="900" spc="-60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solution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46" strike="noStrike">
                <a:solidFill>
                  <a:srgbClr val="0000ff"/>
                </a:solidFill>
                <a:latin typeface="Lucida Sans Unicode"/>
              </a:rPr>
              <a:t>=⇒</a:t>
            </a:r>
            <a:r>
              <a:rPr b="0" lang="en-US" sz="900" spc="-35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infer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other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9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11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is</a:t>
            </a:r>
            <a:r>
              <a:rPr b="0" lang="en-US" sz="1400" spc="8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8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Intelligence?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491" name="Group 2"/>
          <p:cNvGrpSpPr/>
          <p:nvPr/>
        </p:nvGrpSpPr>
        <p:grpSpPr>
          <a:xfrm>
            <a:off x="129240" y="752760"/>
            <a:ext cx="5551920" cy="1916280"/>
            <a:chOff x="129240" y="752760"/>
            <a:chExt cx="5551920" cy="1916280"/>
          </a:xfrm>
        </p:grpSpPr>
        <p:sp>
          <p:nvSpPr>
            <p:cNvPr id="492" name="CustomShape 3"/>
            <p:cNvSpPr/>
            <p:nvPr/>
          </p:nvSpPr>
          <p:spPr>
            <a:xfrm>
              <a:off x="129240" y="752760"/>
              <a:ext cx="5501880" cy="175680"/>
            </a:xfrm>
            <a:custGeom>
              <a:avLst/>
              <a:gdLst/>
              <a:ahLst/>
              <a:rect l="l" t="t" r="r" b="b"/>
              <a:pathLst>
                <a:path w="5502275" h="17589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445"/>
                  </a:lnTo>
                  <a:lnTo>
                    <a:pt x="5501666" y="175445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93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91548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94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5675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95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5549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96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796680"/>
              <a:ext cx="50400" cy="17704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97" name="CustomShape 4"/>
            <p:cNvSpPr/>
            <p:nvPr/>
          </p:nvSpPr>
          <p:spPr>
            <a:xfrm>
              <a:off x="129240" y="959760"/>
              <a:ext cx="5501880" cy="1658880"/>
            </a:xfrm>
            <a:custGeom>
              <a:avLst/>
              <a:gdLst/>
              <a:ahLst/>
              <a:rect l="l" t="t" r="r" b="b"/>
              <a:pathLst>
                <a:path w="5502275" h="1659255">
                  <a:moveTo>
                    <a:pt x="5501666" y="0"/>
                  </a:moveTo>
                  <a:lnTo>
                    <a:pt x="0" y="0"/>
                  </a:lnTo>
                  <a:lnTo>
                    <a:pt x="0" y="1607858"/>
                  </a:lnTo>
                  <a:lnTo>
                    <a:pt x="4008" y="1627582"/>
                  </a:lnTo>
                  <a:lnTo>
                    <a:pt x="14922" y="1643735"/>
                  </a:lnTo>
                  <a:lnTo>
                    <a:pt x="31075" y="1654649"/>
                  </a:lnTo>
                  <a:lnTo>
                    <a:pt x="50800" y="1658658"/>
                  </a:lnTo>
                  <a:lnTo>
                    <a:pt x="5450866" y="1658658"/>
                  </a:lnTo>
                  <a:lnTo>
                    <a:pt x="5470590" y="1654649"/>
                  </a:lnTo>
                  <a:lnTo>
                    <a:pt x="5486743" y="1643735"/>
                  </a:lnTo>
                  <a:lnTo>
                    <a:pt x="5497657" y="1627582"/>
                  </a:lnTo>
                  <a:lnTo>
                    <a:pt x="5501666" y="1607858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CustomShape 5"/>
            <p:cNvSpPr/>
            <p:nvPr/>
          </p:nvSpPr>
          <p:spPr>
            <a:xfrm>
              <a:off x="5630760" y="834840"/>
              <a:ext cx="360" cy="1751760"/>
            </a:xfrm>
            <a:custGeom>
              <a:avLst/>
              <a:gdLst/>
              <a:ahLst/>
              <a:rect l="l" t="t" r="r" b="b"/>
              <a:pathLst>
                <a:path w="0" h="1751964">
                  <a:moveTo>
                    <a:pt x="0" y="1751647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CustomShape 6"/>
            <p:cNvSpPr/>
            <p:nvPr/>
          </p:nvSpPr>
          <p:spPr>
            <a:xfrm>
              <a:off x="5630760" y="822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CustomShape 7"/>
            <p:cNvSpPr/>
            <p:nvPr/>
          </p:nvSpPr>
          <p:spPr>
            <a:xfrm>
              <a:off x="5630760" y="809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1" name="CustomShape 8"/>
            <p:cNvSpPr/>
            <p:nvPr/>
          </p:nvSpPr>
          <p:spPr>
            <a:xfrm>
              <a:off x="5630760" y="796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02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1952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03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6887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04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21578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05" name="object 17" descr=""/>
            <p:cNvPicPr/>
            <p:nvPr/>
          </p:nvPicPr>
          <p:blipFill>
            <a:blip r:embed="rId8"/>
            <a:stretch/>
          </p:blipFill>
          <p:spPr>
            <a:xfrm>
              <a:off x="566280" y="229680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06" name="CustomShape 9"/>
          <p:cNvSpPr/>
          <p:nvPr/>
        </p:nvSpPr>
        <p:spPr>
          <a:xfrm>
            <a:off x="167400" y="702000"/>
            <a:ext cx="5013720" cy="185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720" bIns="0">
            <a:spAutoFit/>
          </a:bodyPr>
          <a:p>
            <a:pPr marL="12600">
              <a:lnSpc>
                <a:spcPct val="100000"/>
              </a:lnSpc>
              <a:spcBef>
                <a:spcPts val="431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Different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definitions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due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different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criteria</a:t>
            </a:r>
            <a:endParaRPr b="0" lang="en-US" sz="1000" spc="-1" strike="noStrike">
              <a:latin typeface="Arial"/>
            </a:endParaRPr>
          </a:p>
          <a:p>
            <a:pPr marL="265320" indent="-253080">
              <a:lnSpc>
                <a:spcPct val="124000"/>
              </a:lnSpc>
              <a:spcBef>
                <a:spcPts val="34"/>
              </a:spcBef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Historically,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four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approaches,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along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two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orthogonal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dimensions: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thought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processes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&amp;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reasoning</a:t>
            </a:r>
            <a:endParaRPr b="0" lang="en-US" sz="1000" spc="-1" strike="noStrike">
              <a:latin typeface="Arial"/>
            </a:endParaRPr>
          </a:p>
          <a:p>
            <a:pPr marL="265320" indent="-253080">
              <a:lnSpc>
                <a:spcPts val="1196"/>
              </a:lnSpc>
            </a:pP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vs.</a:t>
            </a:r>
            <a:endParaRPr b="0" lang="en-US" sz="1000" spc="-1" strike="noStrike">
              <a:latin typeface="Arial"/>
            </a:endParaRPr>
          </a:p>
          <a:p>
            <a:pPr marL="265320" indent="-253080">
              <a:lnSpc>
                <a:spcPts val="1199"/>
              </a:lnSpc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behavior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&amp;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action</a:t>
            </a:r>
            <a:endParaRPr b="0" lang="en-US" sz="1000" spc="-1" strike="noStrike">
              <a:latin typeface="Arial"/>
            </a:endParaRPr>
          </a:p>
          <a:p>
            <a:pPr marL="265320" indent="-25308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Success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according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human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standards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vs.</a:t>
            </a:r>
            <a:endParaRPr b="0" lang="en-US" sz="1000" spc="-1" strike="noStrike">
              <a:latin typeface="Arial"/>
            </a:endParaRPr>
          </a:p>
          <a:p>
            <a:pPr marL="265320" indent="-253080">
              <a:lnSpc>
                <a:spcPts val="1091"/>
              </a:lnSpc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success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according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ideal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concept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intelligence:</a:t>
            </a:r>
            <a:r>
              <a:rPr b="0" lang="en-US" sz="1000" spc="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rationality.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1000"/>
              </a:lnSpc>
              <a:spcBef>
                <a:spcPts val="181"/>
              </a:spcBef>
            </a:pP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human-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centered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approach:</a:t>
            </a:r>
            <a:r>
              <a:rPr b="0" lang="en-US" sz="900" spc="2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involves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observations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hypotheses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about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behavior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rationalist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approach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involves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combination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mathematics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engineering.</a:t>
            </a:r>
            <a:endParaRPr b="0" lang="en-US" sz="900" spc="-1" strike="noStrike">
              <a:latin typeface="Arial"/>
            </a:endParaRPr>
          </a:p>
          <a:p>
            <a:pPr marL="12600" indent="-253080">
              <a:lnSpc>
                <a:spcPct val="100000"/>
              </a:lnSpc>
              <a:spcBef>
                <a:spcPts val="309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four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groups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have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both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disparaged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helped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each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other.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07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12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CustomShape 1"/>
          <p:cNvSpPr/>
          <p:nvPr/>
        </p:nvSpPr>
        <p:spPr>
          <a:xfrm>
            <a:off x="95400" y="45720"/>
            <a:ext cx="296064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is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Intelligence?</a:t>
            </a:r>
            <a:r>
              <a:rPr b="0" lang="en-US" sz="1400" spc="21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509" name="object 3" descr=""/>
          <p:cNvPicPr/>
          <p:nvPr/>
        </p:nvPicPr>
        <p:blipFill>
          <a:blip r:embed="rId1"/>
          <a:stretch/>
        </p:blipFill>
        <p:spPr>
          <a:xfrm>
            <a:off x="626040" y="455400"/>
            <a:ext cx="4515120" cy="2765160"/>
          </a:xfrm>
          <a:prstGeom prst="rect">
            <a:avLst/>
          </a:prstGeom>
          <a:ln>
            <a:noFill/>
          </a:ln>
        </p:spPr>
      </p:pic>
      <p:sp>
        <p:nvSpPr>
          <p:cNvPr id="510" name="TextShape 2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13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Thinking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20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cognitive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modeling</a:t>
            </a:r>
            <a:r>
              <a:rPr b="0" lang="en-US" sz="1400" spc="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512" name="Group 2"/>
          <p:cNvGrpSpPr/>
          <p:nvPr/>
        </p:nvGrpSpPr>
        <p:grpSpPr>
          <a:xfrm>
            <a:off x="129240" y="645120"/>
            <a:ext cx="5551920" cy="258840"/>
            <a:chOff x="129240" y="645120"/>
            <a:chExt cx="5551920" cy="258840"/>
          </a:xfrm>
        </p:grpSpPr>
        <p:sp>
          <p:nvSpPr>
            <p:cNvPr id="513" name="CustomShape 3"/>
            <p:cNvSpPr/>
            <p:nvPr/>
          </p:nvSpPr>
          <p:spPr>
            <a:xfrm>
              <a:off x="129240" y="6451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14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8028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15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695520"/>
              <a:ext cx="5450400" cy="208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16" name="CustomShape 4"/>
            <p:cNvSpPr/>
            <p:nvPr/>
          </p:nvSpPr>
          <p:spPr>
            <a:xfrm>
              <a:off x="129240" y="689400"/>
              <a:ext cx="5501880" cy="164160"/>
            </a:xfrm>
            <a:custGeom>
              <a:avLst/>
              <a:gdLst/>
              <a:ahLst/>
              <a:rect l="l" t="t" r="r" b="b"/>
              <a:pathLst>
                <a:path w="5502275" h="164465">
                  <a:moveTo>
                    <a:pt x="5501666" y="0"/>
                  </a:moveTo>
                  <a:lnTo>
                    <a:pt x="0" y="0"/>
                  </a:lnTo>
                  <a:lnTo>
                    <a:pt x="0" y="113446"/>
                  </a:lnTo>
                  <a:lnTo>
                    <a:pt x="4008" y="133170"/>
                  </a:lnTo>
                  <a:lnTo>
                    <a:pt x="14922" y="149323"/>
                  </a:lnTo>
                  <a:lnTo>
                    <a:pt x="31075" y="160238"/>
                  </a:lnTo>
                  <a:lnTo>
                    <a:pt x="50800" y="164246"/>
                  </a:lnTo>
                  <a:lnTo>
                    <a:pt x="5450866" y="164246"/>
                  </a:lnTo>
                  <a:lnTo>
                    <a:pt x="5470590" y="160238"/>
                  </a:lnTo>
                  <a:lnTo>
                    <a:pt x="5486743" y="149323"/>
                  </a:lnTo>
                  <a:lnTo>
                    <a:pt x="5497657" y="133170"/>
                  </a:lnTo>
                  <a:lnTo>
                    <a:pt x="5501666" y="113446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7" name="CustomShape 5"/>
            <p:cNvSpPr/>
            <p:nvPr/>
          </p:nvSpPr>
          <p:spPr>
            <a:xfrm>
              <a:off x="5630760" y="733680"/>
              <a:ext cx="360" cy="87840"/>
            </a:xfrm>
            <a:custGeom>
              <a:avLst/>
              <a:gdLst/>
              <a:ahLst/>
              <a:rect l="l" t="t" r="r" b="b"/>
              <a:pathLst>
                <a:path w="0" h="88265">
                  <a:moveTo>
                    <a:pt x="0" y="88258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CustomShape 6"/>
            <p:cNvSpPr/>
            <p:nvPr/>
          </p:nvSpPr>
          <p:spPr>
            <a:xfrm>
              <a:off x="5630760" y="721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9" name="CustomShape 7"/>
            <p:cNvSpPr/>
            <p:nvPr/>
          </p:nvSpPr>
          <p:spPr>
            <a:xfrm>
              <a:off x="5630760" y="7081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CustomShape 8"/>
            <p:cNvSpPr/>
            <p:nvPr/>
          </p:nvSpPr>
          <p:spPr>
            <a:xfrm>
              <a:off x="5630760" y="6955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521" name="object 12" descr=""/>
          <p:cNvPicPr/>
          <p:nvPr/>
        </p:nvPicPr>
        <p:blipFill>
          <a:blip r:embed="rId3"/>
          <a:stretch/>
        </p:blipFill>
        <p:spPr>
          <a:xfrm>
            <a:off x="299520" y="1021320"/>
            <a:ext cx="69840" cy="69840"/>
          </a:xfrm>
          <a:prstGeom prst="rect">
            <a:avLst/>
          </a:prstGeom>
          <a:ln>
            <a:noFill/>
          </a:ln>
        </p:spPr>
      </p:pic>
      <p:pic>
        <p:nvPicPr>
          <p:cNvPr id="522" name="object 13" descr=""/>
          <p:cNvPicPr/>
          <p:nvPr/>
        </p:nvPicPr>
        <p:blipFill>
          <a:blip r:embed="rId4"/>
          <a:stretch/>
        </p:blipFill>
        <p:spPr>
          <a:xfrm>
            <a:off x="566280" y="1376640"/>
            <a:ext cx="56160" cy="56160"/>
          </a:xfrm>
          <a:prstGeom prst="rect">
            <a:avLst/>
          </a:prstGeom>
          <a:ln>
            <a:noFill/>
          </a:ln>
        </p:spPr>
      </p:pic>
      <p:pic>
        <p:nvPicPr>
          <p:cNvPr id="523" name="object 14" descr=""/>
          <p:cNvPicPr/>
          <p:nvPr/>
        </p:nvPicPr>
        <p:blipFill>
          <a:blip r:embed="rId5"/>
          <a:stretch/>
        </p:blipFill>
        <p:spPr>
          <a:xfrm>
            <a:off x="299520" y="1552680"/>
            <a:ext cx="69840" cy="69840"/>
          </a:xfrm>
          <a:prstGeom prst="rect">
            <a:avLst/>
          </a:prstGeom>
          <a:ln>
            <a:noFill/>
          </a:ln>
        </p:spPr>
      </p:pic>
      <p:pic>
        <p:nvPicPr>
          <p:cNvPr id="524" name="object 15" descr=""/>
          <p:cNvPicPr/>
          <p:nvPr/>
        </p:nvPicPr>
        <p:blipFill>
          <a:blip r:embed="rId6"/>
          <a:stretch/>
        </p:blipFill>
        <p:spPr>
          <a:xfrm>
            <a:off x="299520" y="1730160"/>
            <a:ext cx="69840" cy="69840"/>
          </a:xfrm>
          <a:prstGeom prst="rect">
            <a:avLst/>
          </a:prstGeom>
          <a:ln>
            <a:noFill/>
          </a:ln>
        </p:spPr>
      </p:pic>
      <p:pic>
        <p:nvPicPr>
          <p:cNvPr id="525" name="object 16" descr=""/>
          <p:cNvPicPr/>
          <p:nvPr/>
        </p:nvPicPr>
        <p:blipFill>
          <a:blip r:embed="rId7"/>
          <a:stretch/>
        </p:blipFill>
        <p:spPr>
          <a:xfrm>
            <a:off x="566280" y="1908000"/>
            <a:ext cx="56160" cy="56160"/>
          </a:xfrm>
          <a:prstGeom prst="rect">
            <a:avLst/>
          </a:prstGeom>
          <a:ln>
            <a:noFill/>
          </a:ln>
        </p:spPr>
      </p:pic>
      <p:pic>
        <p:nvPicPr>
          <p:cNvPr id="526" name="object 17" descr=""/>
          <p:cNvPicPr/>
          <p:nvPr/>
        </p:nvPicPr>
        <p:blipFill>
          <a:blip r:embed="rId8"/>
          <a:stretch/>
        </p:blipFill>
        <p:spPr>
          <a:xfrm>
            <a:off x="566280" y="2047320"/>
            <a:ext cx="56160" cy="56160"/>
          </a:xfrm>
          <a:prstGeom prst="rect">
            <a:avLst/>
          </a:prstGeom>
          <a:ln>
            <a:noFill/>
          </a:ln>
        </p:spPr>
      </p:pic>
      <p:pic>
        <p:nvPicPr>
          <p:cNvPr id="527" name="object 18" descr=""/>
          <p:cNvPicPr/>
          <p:nvPr/>
        </p:nvPicPr>
        <p:blipFill>
          <a:blip r:embed="rId9"/>
          <a:stretch/>
        </p:blipFill>
        <p:spPr>
          <a:xfrm>
            <a:off x="299520" y="2210760"/>
            <a:ext cx="69840" cy="69840"/>
          </a:xfrm>
          <a:prstGeom prst="rect">
            <a:avLst/>
          </a:prstGeom>
          <a:ln>
            <a:noFill/>
          </a:ln>
        </p:spPr>
      </p:pic>
      <p:pic>
        <p:nvPicPr>
          <p:cNvPr id="528" name="object 19" descr=""/>
          <p:cNvPicPr/>
          <p:nvPr/>
        </p:nvPicPr>
        <p:blipFill>
          <a:blip r:embed="rId10"/>
          <a:stretch/>
        </p:blipFill>
        <p:spPr>
          <a:xfrm>
            <a:off x="566280" y="2388960"/>
            <a:ext cx="56160" cy="56160"/>
          </a:xfrm>
          <a:prstGeom prst="rect">
            <a:avLst/>
          </a:prstGeom>
          <a:ln>
            <a:noFill/>
          </a:ln>
        </p:spPr>
      </p:pic>
      <p:pic>
        <p:nvPicPr>
          <p:cNvPr id="529" name="object 20" descr=""/>
          <p:cNvPicPr/>
          <p:nvPr/>
        </p:nvPicPr>
        <p:blipFill>
          <a:blip r:embed="rId11"/>
          <a:stretch/>
        </p:blipFill>
        <p:spPr>
          <a:xfrm>
            <a:off x="566280" y="2527920"/>
            <a:ext cx="56160" cy="56160"/>
          </a:xfrm>
          <a:prstGeom prst="rect">
            <a:avLst/>
          </a:prstGeom>
          <a:ln>
            <a:noFill/>
          </a:ln>
        </p:spPr>
      </p:pic>
      <p:sp>
        <p:nvSpPr>
          <p:cNvPr id="530" name="CustomShape 9"/>
          <p:cNvSpPr/>
          <p:nvPr/>
        </p:nvSpPr>
        <p:spPr>
          <a:xfrm>
            <a:off x="153360" y="668520"/>
            <a:ext cx="4682880" cy="241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2664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How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do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humans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think?</a:t>
            </a:r>
            <a:endParaRPr b="0" lang="en-US" sz="1000" spc="-1" strike="noStrike">
              <a:latin typeface="Arial"/>
            </a:endParaRPr>
          </a:p>
          <a:p>
            <a:pPr marL="279360">
              <a:lnSpc>
                <a:spcPct val="100000"/>
              </a:lnSpc>
              <a:spcBef>
                <a:spcPts val="1054"/>
              </a:spcBef>
            </a:pPr>
            <a:r>
              <a:rPr b="0" lang="en-US" sz="1000" spc="-1" strike="noStrike">
                <a:latin typeface="Arial"/>
              </a:rPr>
              <a:t>Idea: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develop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theory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mind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1000" spc="123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express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theory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as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computer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programs</a:t>
            </a:r>
            <a:endParaRPr b="0" lang="en-US" sz="1000" spc="-1" strike="noStrike">
              <a:latin typeface="Arial"/>
            </a:endParaRPr>
          </a:p>
          <a:p>
            <a:pPr marL="53280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e.g.</a:t>
            </a:r>
            <a:r>
              <a:rPr b="0" lang="en-US" sz="900" spc="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Newell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&amp;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Simon’s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General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Problem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Solver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(1961)</a:t>
            </a:r>
            <a:endParaRPr b="0" lang="en-US" sz="900" spc="-1" strike="noStrike">
              <a:latin typeface="Arial"/>
            </a:endParaRPr>
          </a:p>
          <a:p>
            <a:pPr marL="27936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Requires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scientific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theories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brain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activities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(cognitive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model)</a:t>
            </a:r>
            <a:endParaRPr b="0" lang="en-US" sz="1000" spc="-1" strike="noStrike">
              <a:latin typeface="Arial"/>
            </a:endParaRPr>
          </a:p>
          <a:p>
            <a:pPr marL="279360">
              <a:lnSpc>
                <a:spcPct val="100000"/>
              </a:lnSpc>
              <a:spcBef>
                <a:spcPts val="196"/>
              </a:spcBef>
            </a:pP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Inter-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disciplinary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field:</a:t>
            </a:r>
            <a:r>
              <a:rPr b="0" lang="en-US" sz="1000" spc="38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Cognitive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Science</a:t>
            </a:r>
            <a:endParaRPr b="0" lang="en-US" sz="1000" spc="-1" strike="noStrike">
              <a:latin typeface="Arial"/>
            </a:endParaRPr>
          </a:p>
          <a:p>
            <a:pPr marL="532800">
              <a:lnSpc>
                <a:spcPct val="101000"/>
              </a:lnSpc>
              <a:spcBef>
                <a:spcPts val="17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combines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computer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models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from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AI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experimental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techniques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from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psychology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construct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precise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testable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theories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mind</a:t>
            </a:r>
            <a:endParaRPr b="0" lang="en-US" sz="900" spc="-1" strike="noStrike">
              <a:latin typeface="Arial"/>
            </a:endParaRPr>
          </a:p>
          <a:p>
            <a:pPr marL="532800" indent="-253080">
              <a:lnSpc>
                <a:spcPct val="108000"/>
              </a:lnSpc>
              <a:spcBef>
                <a:spcPts val="111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AI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Cognitive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Science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nowadays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distinct</a:t>
            </a:r>
            <a:r>
              <a:rPr b="0" lang="en-US" sz="1000" spc="49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A.I: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find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algorithm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performing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well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task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C.S: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find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good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model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performance</a:t>
            </a:r>
            <a:endParaRPr b="0" lang="en-US" sz="900" spc="-1" strike="noStrike">
              <a:latin typeface="Arial"/>
            </a:endParaRPr>
          </a:p>
          <a:p>
            <a:pPr marL="27936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although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they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fertilize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each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other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(e.g.</a:t>
            </a:r>
            <a:r>
              <a:rPr b="0" lang="en-US" sz="1000" spc="43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computer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vision)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1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14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2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533" name="Group 2"/>
          <p:cNvGrpSpPr/>
          <p:nvPr/>
        </p:nvGrpSpPr>
        <p:grpSpPr>
          <a:xfrm>
            <a:off x="129240" y="681120"/>
            <a:ext cx="5551920" cy="286200"/>
            <a:chOff x="129240" y="681120"/>
            <a:chExt cx="5551920" cy="286200"/>
          </a:xfrm>
        </p:grpSpPr>
        <p:sp>
          <p:nvSpPr>
            <p:cNvPr id="534" name="CustomShape 3"/>
            <p:cNvSpPr/>
            <p:nvPr/>
          </p:nvSpPr>
          <p:spPr>
            <a:xfrm>
              <a:off x="129240" y="6811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35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8658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6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8532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7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73188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38" name="CustomShape 4"/>
            <p:cNvSpPr/>
            <p:nvPr/>
          </p:nvSpPr>
          <p:spPr>
            <a:xfrm>
              <a:off x="129240" y="72576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4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9" name="CustomShape 5"/>
            <p:cNvSpPr/>
            <p:nvPr/>
          </p:nvSpPr>
          <p:spPr>
            <a:xfrm>
              <a:off x="5630760" y="77004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69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0" name="CustomShape 6"/>
            <p:cNvSpPr/>
            <p:nvPr/>
          </p:nvSpPr>
          <p:spPr>
            <a:xfrm>
              <a:off x="5630760" y="757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1" name="CustomShape 7"/>
            <p:cNvSpPr/>
            <p:nvPr/>
          </p:nvSpPr>
          <p:spPr>
            <a:xfrm>
              <a:off x="5630760" y="744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2" name="CustomShape 8"/>
            <p:cNvSpPr/>
            <p:nvPr/>
          </p:nvSpPr>
          <p:spPr>
            <a:xfrm>
              <a:off x="5630760" y="731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43" name="Group 9"/>
          <p:cNvGrpSpPr/>
          <p:nvPr/>
        </p:nvGrpSpPr>
        <p:grpSpPr>
          <a:xfrm>
            <a:off x="129240" y="1220400"/>
            <a:ext cx="5551920" cy="1555560"/>
            <a:chOff x="129240" y="1220400"/>
            <a:chExt cx="5551920" cy="1555560"/>
          </a:xfrm>
        </p:grpSpPr>
        <p:sp>
          <p:nvSpPr>
            <p:cNvPr id="544" name="CustomShape 10"/>
            <p:cNvSpPr/>
            <p:nvPr/>
          </p:nvSpPr>
          <p:spPr>
            <a:xfrm>
              <a:off x="129240" y="1220400"/>
              <a:ext cx="5501880" cy="181800"/>
            </a:xfrm>
            <a:custGeom>
              <a:avLst/>
              <a:gdLst/>
              <a:ahLst/>
              <a:rect l="l" t="t" r="r" b="b"/>
              <a:pathLst>
                <a:path w="5502275" h="18224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708"/>
                  </a:lnTo>
                  <a:lnTo>
                    <a:pt x="5501666" y="18170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45" name="object 15" descr=""/>
            <p:cNvPicPr/>
            <p:nvPr/>
          </p:nvPicPr>
          <p:blipFill>
            <a:blip r:embed="rId4"/>
            <a:stretch/>
          </p:blipFill>
          <p:spPr>
            <a:xfrm>
              <a:off x="129240" y="138924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46" name="object 16" descr=""/>
            <p:cNvPicPr/>
            <p:nvPr/>
          </p:nvPicPr>
          <p:blipFill>
            <a:blip r:embed="rId5"/>
            <a:stretch/>
          </p:blipFill>
          <p:spPr>
            <a:xfrm>
              <a:off x="180000" y="267444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47" name="object 17" descr=""/>
            <p:cNvPicPr/>
            <p:nvPr/>
          </p:nvPicPr>
          <p:blipFill>
            <a:blip r:embed="rId6"/>
            <a:stretch/>
          </p:blipFill>
          <p:spPr>
            <a:xfrm>
              <a:off x="230760" y="26618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48" name="object 18" descr=""/>
            <p:cNvPicPr/>
            <p:nvPr/>
          </p:nvPicPr>
          <p:blipFill>
            <a:blip r:embed="rId7"/>
            <a:stretch/>
          </p:blipFill>
          <p:spPr>
            <a:xfrm>
              <a:off x="5630760" y="1264680"/>
              <a:ext cx="50400" cy="14097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49" name="CustomShape 11"/>
            <p:cNvSpPr/>
            <p:nvPr/>
          </p:nvSpPr>
          <p:spPr>
            <a:xfrm>
              <a:off x="129240" y="1433520"/>
              <a:ext cx="5501880" cy="1292040"/>
            </a:xfrm>
            <a:custGeom>
              <a:avLst/>
              <a:gdLst/>
              <a:ahLst/>
              <a:rect l="l" t="t" r="r" b="b"/>
              <a:pathLst>
                <a:path w="5502275" h="1292225">
                  <a:moveTo>
                    <a:pt x="5501666" y="0"/>
                  </a:moveTo>
                  <a:lnTo>
                    <a:pt x="0" y="0"/>
                  </a:lnTo>
                  <a:lnTo>
                    <a:pt x="0" y="1240930"/>
                  </a:lnTo>
                  <a:lnTo>
                    <a:pt x="4008" y="1260655"/>
                  </a:lnTo>
                  <a:lnTo>
                    <a:pt x="14922" y="1276808"/>
                  </a:lnTo>
                  <a:lnTo>
                    <a:pt x="31075" y="1287722"/>
                  </a:lnTo>
                  <a:lnTo>
                    <a:pt x="50800" y="1291731"/>
                  </a:lnTo>
                  <a:lnTo>
                    <a:pt x="5450866" y="1291731"/>
                  </a:lnTo>
                  <a:lnTo>
                    <a:pt x="5470590" y="1287722"/>
                  </a:lnTo>
                  <a:lnTo>
                    <a:pt x="5486743" y="1276808"/>
                  </a:lnTo>
                  <a:lnTo>
                    <a:pt x="5497657" y="1260655"/>
                  </a:lnTo>
                  <a:lnTo>
                    <a:pt x="5501666" y="1240930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0" name="CustomShape 12"/>
            <p:cNvSpPr/>
            <p:nvPr/>
          </p:nvSpPr>
          <p:spPr>
            <a:xfrm>
              <a:off x="5630760" y="1302480"/>
              <a:ext cx="360" cy="1391040"/>
            </a:xfrm>
            <a:custGeom>
              <a:avLst/>
              <a:gdLst/>
              <a:ahLst/>
              <a:rect l="l" t="t" r="r" b="b"/>
              <a:pathLst>
                <a:path w="0" h="1391285">
                  <a:moveTo>
                    <a:pt x="0" y="139097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CustomShape 13"/>
            <p:cNvSpPr/>
            <p:nvPr/>
          </p:nvSpPr>
          <p:spPr>
            <a:xfrm>
              <a:off x="5630760" y="1289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2" name="CustomShape 14"/>
            <p:cNvSpPr/>
            <p:nvPr/>
          </p:nvSpPr>
          <p:spPr>
            <a:xfrm>
              <a:off x="5630760" y="1277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CustomShape 15"/>
            <p:cNvSpPr/>
            <p:nvPr/>
          </p:nvSpPr>
          <p:spPr>
            <a:xfrm>
              <a:off x="5630760" y="1264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54" name="object 24" descr=""/>
            <p:cNvPicPr/>
            <p:nvPr/>
          </p:nvPicPr>
          <p:blipFill>
            <a:blip r:embed="rId8"/>
            <a:stretch/>
          </p:blipFill>
          <p:spPr>
            <a:xfrm>
              <a:off x="375480" y="14792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5" name="object 25" descr=""/>
            <p:cNvPicPr/>
            <p:nvPr/>
          </p:nvPicPr>
          <p:blipFill>
            <a:blip r:embed="rId9"/>
            <a:stretch/>
          </p:blipFill>
          <p:spPr>
            <a:xfrm>
              <a:off x="375480" y="16693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6" name="object 26" descr=""/>
            <p:cNvPicPr/>
            <p:nvPr/>
          </p:nvPicPr>
          <p:blipFill>
            <a:blip r:embed="rId10"/>
            <a:stretch/>
          </p:blipFill>
          <p:spPr>
            <a:xfrm>
              <a:off x="642240" y="19864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7" name="object 27" descr=""/>
            <p:cNvPicPr/>
            <p:nvPr/>
          </p:nvPicPr>
          <p:blipFill>
            <a:blip r:embed="rId11"/>
            <a:stretch/>
          </p:blipFill>
          <p:spPr>
            <a:xfrm>
              <a:off x="642240" y="21254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8" name="object 28" descr=""/>
            <p:cNvPicPr/>
            <p:nvPr/>
          </p:nvPicPr>
          <p:blipFill>
            <a:blip r:embed="rId12"/>
            <a:stretch/>
          </p:blipFill>
          <p:spPr>
            <a:xfrm>
              <a:off x="642240" y="22647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9" name="object 29" descr=""/>
            <p:cNvPicPr/>
            <p:nvPr/>
          </p:nvPicPr>
          <p:blipFill>
            <a:blip r:embed="rId13"/>
            <a:stretch/>
          </p:blipFill>
          <p:spPr>
            <a:xfrm>
              <a:off x="375480" y="258012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60" name="CustomShape 16"/>
          <p:cNvSpPr/>
          <p:nvPr/>
        </p:nvSpPr>
        <p:spPr>
          <a:xfrm>
            <a:off x="167400" y="704880"/>
            <a:ext cx="3866760" cy="21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When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does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system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behave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intelligently?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341640">
              <a:lnSpc>
                <a:spcPct val="100000"/>
              </a:lnSpc>
              <a:spcBef>
                <a:spcPts val="400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Alan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Turing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“Computing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Machinery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Intelligence”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(1950)</a:t>
            </a:r>
            <a:endParaRPr b="0" lang="en-US" sz="1000" spc="-1" strike="noStrike">
              <a:latin typeface="Arial"/>
            </a:endParaRPr>
          </a:p>
          <a:p>
            <a:pPr marL="341640">
              <a:lnSpc>
                <a:spcPts val="1100"/>
              </a:lnSpc>
              <a:spcBef>
                <a:spcPts val="41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Operational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test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intelligence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(aka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“The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Imitation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game”):</a:t>
            </a:r>
            <a:endParaRPr b="0" lang="en-US" sz="1000" spc="-1" strike="noStrike">
              <a:latin typeface="Arial"/>
            </a:endParaRPr>
          </a:p>
          <a:p>
            <a:pPr marL="594360">
              <a:lnSpc>
                <a:spcPct val="101000"/>
              </a:lnSpc>
              <a:spcBef>
                <a:spcPts val="15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human,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computer,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different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room.</a:t>
            </a:r>
            <a:r>
              <a:rPr b="0" lang="en-US" sz="900" spc="49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should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classify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machine.</a:t>
            </a:r>
            <a:endParaRPr b="0" lang="en-US" sz="900" spc="-1" strike="noStrike">
              <a:latin typeface="Arial"/>
            </a:endParaRPr>
          </a:p>
          <a:p>
            <a:pPr marL="59436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Can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mislead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classified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52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human?</a:t>
            </a:r>
            <a:endParaRPr b="0" lang="en-US" sz="900" spc="-1" strike="noStrike">
              <a:latin typeface="Arial"/>
            </a:endParaRPr>
          </a:p>
          <a:p>
            <a:pPr marL="34164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behave</a:t>
            </a:r>
            <a:r>
              <a:rPr b="0" lang="en-US" sz="1000" spc="-7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intelligently”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Lucida Sans Unicode"/>
              </a:rPr>
              <a:t>⇐⇒</a:t>
            </a:r>
            <a:r>
              <a:rPr b="0" lang="en-US" sz="1000" spc="-60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”behave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humanly”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1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2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563" name="Group 2"/>
          <p:cNvGrpSpPr/>
          <p:nvPr/>
        </p:nvGrpSpPr>
        <p:grpSpPr>
          <a:xfrm>
            <a:off x="129240" y="546840"/>
            <a:ext cx="5551920" cy="285840"/>
            <a:chOff x="129240" y="546840"/>
            <a:chExt cx="5551920" cy="285840"/>
          </a:xfrm>
        </p:grpSpPr>
        <p:sp>
          <p:nvSpPr>
            <p:cNvPr id="564" name="CustomShape 3"/>
            <p:cNvSpPr/>
            <p:nvPr/>
          </p:nvSpPr>
          <p:spPr>
            <a:xfrm>
              <a:off x="129240" y="54684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65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7311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66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7185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67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59724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68" name="CustomShape 4"/>
            <p:cNvSpPr/>
            <p:nvPr/>
          </p:nvSpPr>
          <p:spPr>
            <a:xfrm>
              <a:off x="129240" y="59112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4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CustomShape 5"/>
            <p:cNvSpPr/>
            <p:nvPr/>
          </p:nvSpPr>
          <p:spPr>
            <a:xfrm>
              <a:off x="5630760" y="63540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70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CustomShape 6"/>
            <p:cNvSpPr/>
            <p:nvPr/>
          </p:nvSpPr>
          <p:spPr>
            <a:xfrm>
              <a:off x="5630760" y="622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CustomShape 7"/>
            <p:cNvSpPr/>
            <p:nvPr/>
          </p:nvSpPr>
          <p:spPr>
            <a:xfrm>
              <a:off x="5630760" y="6098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CustomShape 8"/>
            <p:cNvSpPr/>
            <p:nvPr/>
          </p:nvSpPr>
          <p:spPr>
            <a:xfrm>
              <a:off x="5630760" y="597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3" name="Group 9"/>
          <p:cNvGrpSpPr/>
          <p:nvPr/>
        </p:nvGrpSpPr>
        <p:grpSpPr>
          <a:xfrm>
            <a:off x="129240" y="1085760"/>
            <a:ext cx="5551920" cy="1891800"/>
            <a:chOff x="129240" y="1085760"/>
            <a:chExt cx="5551920" cy="1891800"/>
          </a:xfrm>
        </p:grpSpPr>
        <p:sp>
          <p:nvSpPr>
            <p:cNvPr id="574" name="CustomShape 10"/>
            <p:cNvSpPr/>
            <p:nvPr/>
          </p:nvSpPr>
          <p:spPr>
            <a:xfrm>
              <a:off x="129240" y="1085760"/>
              <a:ext cx="5501880" cy="181800"/>
            </a:xfrm>
            <a:custGeom>
              <a:avLst/>
              <a:gdLst/>
              <a:ahLst/>
              <a:rect l="l" t="t" r="r" b="b"/>
              <a:pathLst>
                <a:path w="5502275" h="18224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708"/>
                  </a:lnTo>
                  <a:lnTo>
                    <a:pt x="5501666" y="18170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75" name="object 15" descr=""/>
            <p:cNvPicPr/>
            <p:nvPr/>
          </p:nvPicPr>
          <p:blipFill>
            <a:blip r:embed="rId4"/>
            <a:stretch/>
          </p:blipFill>
          <p:spPr>
            <a:xfrm>
              <a:off x="129240" y="12549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76" name="object 16" descr=""/>
            <p:cNvPicPr/>
            <p:nvPr/>
          </p:nvPicPr>
          <p:blipFill>
            <a:blip r:embed="rId5"/>
            <a:stretch/>
          </p:blipFill>
          <p:spPr>
            <a:xfrm>
              <a:off x="180000" y="28764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77" name="object 17" descr=""/>
            <p:cNvPicPr/>
            <p:nvPr/>
          </p:nvPicPr>
          <p:blipFill>
            <a:blip r:embed="rId6"/>
            <a:stretch/>
          </p:blipFill>
          <p:spPr>
            <a:xfrm>
              <a:off x="230760" y="28634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78" name="object 18" descr=""/>
            <p:cNvPicPr/>
            <p:nvPr/>
          </p:nvPicPr>
          <p:blipFill>
            <a:blip r:embed="rId7"/>
            <a:stretch/>
          </p:blipFill>
          <p:spPr>
            <a:xfrm>
              <a:off x="5630760" y="1130040"/>
              <a:ext cx="50400" cy="1745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79" name="CustomShape 11"/>
            <p:cNvSpPr/>
            <p:nvPr/>
          </p:nvSpPr>
          <p:spPr>
            <a:xfrm>
              <a:off x="129240" y="1299240"/>
              <a:ext cx="5501880" cy="1627920"/>
            </a:xfrm>
            <a:custGeom>
              <a:avLst/>
              <a:gdLst/>
              <a:ahLst/>
              <a:rect l="l" t="t" r="r" b="b"/>
              <a:pathLst>
                <a:path w="5502275" h="1628139">
                  <a:moveTo>
                    <a:pt x="5501666" y="0"/>
                  </a:moveTo>
                  <a:lnTo>
                    <a:pt x="0" y="0"/>
                  </a:lnTo>
                  <a:lnTo>
                    <a:pt x="0" y="1577086"/>
                  </a:lnTo>
                  <a:lnTo>
                    <a:pt x="4008" y="1596810"/>
                  </a:lnTo>
                  <a:lnTo>
                    <a:pt x="14922" y="1612963"/>
                  </a:lnTo>
                  <a:lnTo>
                    <a:pt x="31075" y="1623877"/>
                  </a:lnTo>
                  <a:lnTo>
                    <a:pt x="50800" y="1627886"/>
                  </a:lnTo>
                  <a:lnTo>
                    <a:pt x="5450866" y="1627886"/>
                  </a:lnTo>
                  <a:lnTo>
                    <a:pt x="5470590" y="1623877"/>
                  </a:lnTo>
                  <a:lnTo>
                    <a:pt x="5486743" y="1612963"/>
                  </a:lnTo>
                  <a:lnTo>
                    <a:pt x="5497657" y="1596810"/>
                  </a:lnTo>
                  <a:lnTo>
                    <a:pt x="5501666" y="1577086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CustomShape 12"/>
            <p:cNvSpPr/>
            <p:nvPr/>
          </p:nvSpPr>
          <p:spPr>
            <a:xfrm>
              <a:off x="5630760" y="1168200"/>
              <a:ext cx="360" cy="1726920"/>
            </a:xfrm>
            <a:custGeom>
              <a:avLst/>
              <a:gdLst/>
              <a:ahLst/>
              <a:rect l="l" t="t" r="r" b="b"/>
              <a:pathLst>
                <a:path w="0" h="1727200">
                  <a:moveTo>
                    <a:pt x="0" y="172713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CustomShape 13"/>
            <p:cNvSpPr/>
            <p:nvPr/>
          </p:nvSpPr>
          <p:spPr>
            <a:xfrm>
              <a:off x="5630760" y="1155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2" name="CustomShape 14"/>
            <p:cNvSpPr/>
            <p:nvPr/>
          </p:nvSpPr>
          <p:spPr>
            <a:xfrm>
              <a:off x="5630760" y="1142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CustomShape 15"/>
            <p:cNvSpPr/>
            <p:nvPr/>
          </p:nvSpPr>
          <p:spPr>
            <a:xfrm>
              <a:off x="5630760" y="1130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84" name="object 24" descr=""/>
            <p:cNvPicPr/>
            <p:nvPr/>
          </p:nvPicPr>
          <p:blipFill>
            <a:blip r:embed="rId8"/>
            <a:stretch/>
          </p:blipFill>
          <p:spPr>
            <a:xfrm>
              <a:off x="375480" y="15130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85" name="object 25" descr=""/>
            <p:cNvPicPr/>
            <p:nvPr/>
          </p:nvPicPr>
          <p:blipFill>
            <a:blip r:embed="rId9"/>
            <a:stretch/>
          </p:blipFill>
          <p:spPr>
            <a:xfrm>
              <a:off x="375480" y="1702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86" name="object 26" descr=""/>
            <p:cNvPicPr/>
            <p:nvPr/>
          </p:nvPicPr>
          <p:blipFill>
            <a:blip r:embed="rId10"/>
            <a:stretch/>
          </p:blipFill>
          <p:spPr>
            <a:xfrm>
              <a:off x="642240" y="20199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87" name="object 27" descr=""/>
            <p:cNvPicPr/>
            <p:nvPr/>
          </p:nvPicPr>
          <p:blipFill>
            <a:blip r:embed="rId11"/>
            <a:stretch/>
          </p:blipFill>
          <p:spPr>
            <a:xfrm>
              <a:off x="642240" y="2159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88" name="object 28" descr=""/>
            <p:cNvPicPr/>
            <p:nvPr/>
          </p:nvPicPr>
          <p:blipFill>
            <a:blip r:embed="rId12"/>
            <a:stretch/>
          </p:blipFill>
          <p:spPr>
            <a:xfrm>
              <a:off x="642240" y="22982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89" name="object 29" descr=""/>
            <p:cNvPicPr/>
            <p:nvPr/>
          </p:nvPicPr>
          <p:blipFill>
            <a:blip r:embed="rId13"/>
            <a:stretch/>
          </p:blipFill>
          <p:spPr>
            <a:xfrm>
              <a:off x="375480" y="261360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90" name="CustomShape 16"/>
          <p:cNvSpPr/>
          <p:nvPr/>
        </p:nvSpPr>
        <p:spPr>
          <a:xfrm>
            <a:off x="167400" y="570240"/>
            <a:ext cx="3866760" cy="229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When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does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system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behave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intelligently?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75"/>
              </a:spcBef>
            </a:pPr>
            <a:endParaRPr b="0" lang="en-US" sz="1000" spc="-1" strike="noStrike">
              <a:latin typeface="Arial"/>
            </a:endParaRPr>
          </a:p>
          <a:p>
            <a:pPr marL="341640">
              <a:lnSpc>
                <a:spcPct val="100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Alan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Turing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“Computing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Machinery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Intelligence”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(1950)</a:t>
            </a:r>
            <a:endParaRPr b="0" lang="en-US" sz="1000" spc="-1" strike="noStrike">
              <a:latin typeface="Arial"/>
            </a:endParaRPr>
          </a:p>
          <a:p>
            <a:pPr marL="341640">
              <a:lnSpc>
                <a:spcPts val="1100"/>
              </a:lnSpc>
              <a:spcBef>
                <a:spcPts val="41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Operational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test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intelligence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(aka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“The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Imitation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game”):</a:t>
            </a:r>
            <a:endParaRPr b="0" lang="en-US" sz="1000" spc="-1" strike="noStrike">
              <a:latin typeface="Arial"/>
            </a:endParaRPr>
          </a:p>
          <a:p>
            <a:pPr marL="594360">
              <a:lnSpc>
                <a:spcPct val="101000"/>
              </a:lnSpc>
              <a:spcBef>
                <a:spcPts val="15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human,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computer,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different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room.</a:t>
            </a:r>
            <a:r>
              <a:rPr b="0" lang="en-US" sz="900" spc="49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should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classify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machine.</a:t>
            </a:r>
            <a:endParaRPr b="0" lang="en-US" sz="900" spc="-1" strike="noStrike">
              <a:latin typeface="Arial"/>
            </a:endParaRPr>
          </a:p>
          <a:p>
            <a:pPr marL="59436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Can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mislead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classified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52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human?</a:t>
            </a:r>
            <a:endParaRPr b="0" lang="en-US" sz="900" spc="-1" strike="noStrike">
              <a:latin typeface="Arial"/>
            </a:endParaRPr>
          </a:p>
          <a:p>
            <a:pPr marL="341640">
              <a:lnSpc>
                <a:spcPct val="100000"/>
              </a:lnSpc>
              <a:spcBef>
                <a:spcPts val="309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behave</a:t>
            </a:r>
            <a:r>
              <a:rPr b="0" lang="en-US" sz="1000" spc="-7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intelligently”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Lucida Sans Unicode"/>
              </a:rPr>
              <a:t>⇐⇒</a:t>
            </a:r>
            <a:r>
              <a:rPr b="0" lang="en-US" sz="1000" spc="-60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”behave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humanly”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591" name="object 31" descr=""/>
          <p:cNvPicPr/>
          <p:nvPr/>
        </p:nvPicPr>
        <p:blipFill>
          <a:blip r:embed="rId14"/>
          <a:stretch/>
        </p:blipFill>
        <p:spPr>
          <a:xfrm>
            <a:off x="4357440" y="1324440"/>
            <a:ext cx="1177560" cy="1557720"/>
          </a:xfrm>
          <a:prstGeom prst="rect">
            <a:avLst/>
          </a:prstGeom>
          <a:ln>
            <a:noFill/>
          </a:ln>
        </p:spPr>
      </p:pic>
      <p:sp>
        <p:nvSpPr>
          <p:cNvPr id="592" name="CustomShape 17"/>
          <p:cNvSpPr/>
          <p:nvPr/>
        </p:nvSpPr>
        <p:spPr>
          <a:xfrm>
            <a:off x="5504760" y="3137400"/>
            <a:ext cx="20484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15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2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594" name="Group 2"/>
          <p:cNvGrpSpPr/>
          <p:nvPr/>
        </p:nvGrpSpPr>
        <p:grpSpPr>
          <a:xfrm>
            <a:off x="129240" y="546840"/>
            <a:ext cx="5551920" cy="285840"/>
            <a:chOff x="129240" y="546840"/>
            <a:chExt cx="5551920" cy="285840"/>
          </a:xfrm>
        </p:grpSpPr>
        <p:sp>
          <p:nvSpPr>
            <p:cNvPr id="595" name="CustomShape 3"/>
            <p:cNvSpPr/>
            <p:nvPr/>
          </p:nvSpPr>
          <p:spPr>
            <a:xfrm>
              <a:off x="129240" y="54684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96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7311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97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7185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98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59724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99" name="CustomShape 4"/>
            <p:cNvSpPr/>
            <p:nvPr/>
          </p:nvSpPr>
          <p:spPr>
            <a:xfrm>
              <a:off x="129240" y="59112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4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0" name="CustomShape 5"/>
            <p:cNvSpPr/>
            <p:nvPr/>
          </p:nvSpPr>
          <p:spPr>
            <a:xfrm>
              <a:off x="5630760" y="63540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70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1" name="CustomShape 6"/>
            <p:cNvSpPr/>
            <p:nvPr/>
          </p:nvSpPr>
          <p:spPr>
            <a:xfrm>
              <a:off x="5630760" y="622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2" name="CustomShape 7"/>
            <p:cNvSpPr/>
            <p:nvPr/>
          </p:nvSpPr>
          <p:spPr>
            <a:xfrm>
              <a:off x="5630760" y="6098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3" name="CustomShape 8"/>
            <p:cNvSpPr/>
            <p:nvPr/>
          </p:nvSpPr>
          <p:spPr>
            <a:xfrm>
              <a:off x="5630760" y="597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4" name="Group 9"/>
          <p:cNvGrpSpPr/>
          <p:nvPr/>
        </p:nvGrpSpPr>
        <p:grpSpPr>
          <a:xfrm>
            <a:off x="129240" y="1085760"/>
            <a:ext cx="5551920" cy="1891800"/>
            <a:chOff x="129240" y="1085760"/>
            <a:chExt cx="5551920" cy="1891800"/>
          </a:xfrm>
        </p:grpSpPr>
        <p:sp>
          <p:nvSpPr>
            <p:cNvPr id="605" name="CustomShape 10"/>
            <p:cNvSpPr/>
            <p:nvPr/>
          </p:nvSpPr>
          <p:spPr>
            <a:xfrm>
              <a:off x="129240" y="1085760"/>
              <a:ext cx="5501880" cy="181800"/>
            </a:xfrm>
            <a:custGeom>
              <a:avLst/>
              <a:gdLst/>
              <a:ahLst/>
              <a:rect l="l" t="t" r="r" b="b"/>
              <a:pathLst>
                <a:path w="5502275" h="18224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708"/>
                  </a:lnTo>
                  <a:lnTo>
                    <a:pt x="5501666" y="18170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06" name="object 15" descr=""/>
            <p:cNvPicPr/>
            <p:nvPr/>
          </p:nvPicPr>
          <p:blipFill>
            <a:blip r:embed="rId4"/>
            <a:stretch/>
          </p:blipFill>
          <p:spPr>
            <a:xfrm>
              <a:off x="129240" y="12549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07" name="object 16" descr=""/>
            <p:cNvPicPr/>
            <p:nvPr/>
          </p:nvPicPr>
          <p:blipFill>
            <a:blip r:embed="rId5"/>
            <a:stretch/>
          </p:blipFill>
          <p:spPr>
            <a:xfrm>
              <a:off x="180000" y="28764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08" name="object 17" descr=""/>
            <p:cNvPicPr/>
            <p:nvPr/>
          </p:nvPicPr>
          <p:blipFill>
            <a:blip r:embed="rId6"/>
            <a:stretch/>
          </p:blipFill>
          <p:spPr>
            <a:xfrm>
              <a:off x="230760" y="28634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09" name="object 18" descr=""/>
            <p:cNvPicPr/>
            <p:nvPr/>
          </p:nvPicPr>
          <p:blipFill>
            <a:blip r:embed="rId7"/>
            <a:stretch/>
          </p:blipFill>
          <p:spPr>
            <a:xfrm>
              <a:off x="5630760" y="1130040"/>
              <a:ext cx="50400" cy="1745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610" name="CustomShape 11"/>
            <p:cNvSpPr/>
            <p:nvPr/>
          </p:nvSpPr>
          <p:spPr>
            <a:xfrm>
              <a:off x="129240" y="1299240"/>
              <a:ext cx="5501880" cy="1627920"/>
            </a:xfrm>
            <a:custGeom>
              <a:avLst/>
              <a:gdLst/>
              <a:ahLst/>
              <a:rect l="l" t="t" r="r" b="b"/>
              <a:pathLst>
                <a:path w="5502275" h="1628139">
                  <a:moveTo>
                    <a:pt x="5501666" y="0"/>
                  </a:moveTo>
                  <a:lnTo>
                    <a:pt x="0" y="0"/>
                  </a:lnTo>
                  <a:lnTo>
                    <a:pt x="0" y="1577086"/>
                  </a:lnTo>
                  <a:lnTo>
                    <a:pt x="4008" y="1596810"/>
                  </a:lnTo>
                  <a:lnTo>
                    <a:pt x="14922" y="1612963"/>
                  </a:lnTo>
                  <a:lnTo>
                    <a:pt x="31075" y="1623877"/>
                  </a:lnTo>
                  <a:lnTo>
                    <a:pt x="50800" y="1627886"/>
                  </a:lnTo>
                  <a:lnTo>
                    <a:pt x="5450866" y="1627886"/>
                  </a:lnTo>
                  <a:lnTo>
                    <a:pt x="5470590" y="1623877"/>
                  </a:lnTo>
                  <a:lnTo>
                    <a:pt x="5486743" y="1612963"/>
                  </a:lnTo>
                  <a:lnTo>
                    <a:pt x="5497657" y="1596810"/>
                  </a:lnTo>
                  <a:lnTo>
                    <a:pt x="5501666" y="1577086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1" name="CustomShape 12"/>
            <p:cNvSpPr/>
            <p:nvPr/>
          </p:nvSpPr>
          <p:spPr>
            <a:xfrm>
              <a:off x="5630760" y="1168200"/>
              <a:ext cx="360" cy="1726920"/>
            </a:xfrm>
            <a:custGeom>
              <a:avLst/>
              <a:gdLst/>
              <a:ahLst/>
              <a:rect l="l" t="t" r="r" b="b"/>
              <a:pathLst>
                <a:path w="0" h="1727200">
                  <a:moveTo>
                    <a:pt x="0" y="172713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2" name="CustomShape 13"/>
            <p:cNvSpPr/>
            <p:nvPr/>
          </p:nvSpPr>
          <p:spPr>
            <a:xfrm>
              <a:off x="5630760" y="1155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3" name="CustomShape 14"/>
            <p:cNvSpPr/>
            <p:nvPr/>
          </p:nvSpPr>
          <p:spPr>
            <a:xfrm>
              <a:off x="5630760" y="1142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4" name="CustomShape 15"/>
            <p:cNvSpPr/>
            <p:nvPr/>
          </p:nvSpPr>
          <p:spPr>
            <a:xfrm>
              <a:off x="5630760" y="1130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15" name="object 24" descr=""/>
            <p:cNvPicPr/>
            <p:nvPr/>
          </p:nvPicPr>
          <p:blipFill>
            <a:blip r:embed="rId8"/>
            <a:stretch/>
          </p:blipFill>
          <p:spPr>
            <a:xfrm>
              <a:off x="375480" y="15130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16" name="object 25" descr=""/>
            <p:cNvPicPr/>
            <p:nvPr/>
          </p:nvPicPr>
          <p:blipFill>
            <a:blip r:embed="rId9"/>
            <a:stretch/>
          </p:blipFill>
          <p:spPr>
            <a:xfrm>
              <a:off x="375480" y="1702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17" name="object 26" descr=""/>
            <p:cNvPicPr/>
            <p:nvPr/>
          </p:nvPicPr>
          <p:blipFill>
            <a:blip r:embed="rId10"/>
            <a:stretch/>
          </p:blipFill>
          <p:spPr>
            <a:xfrm>
              <a:off x="642240" y="20199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18" name="object 27" descr=""/>
            <p:cNvPicPr/>
            <p:nvPr/>
          </p:nvPicPr>
          <p:blipFill>
            <a:blip r:embed="rId11"/>
            <a:stretch/>
          </p:blipFill>
          <p:spPr>
            <a:xfrm>
              <a:off x="642240" y="2159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19" name="object 28" descr=""/>
            <p:cNvPicPr/>
            <p:nvPr/>
          </p:nvPicPr>
          <p:blipFill>
            <a:blip r:embed="rId12"/>
            <a:stretch/>
          </p:blipFill>
          <p:spPr>
            <a:xfrm>
              <a:off x="642240" y="22982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20" name="object 29" descr=""/>
            <p:cNvPicPr/>
            <p:nvPr/>
          </p:nvPicPr>
          <p:blipFill>
            <a:blip r:embed="rId13"/>
            <a:stretch/>
          </p:blipFill>
          <p:spPr>
            <a:xfrm>
              <a:off x="375480" y="261360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21" name="CustomShape 16"/>
          <p:cNvSpPr/>
          <p:nvPr/>
        </p:nvSpPr>
        <p:spPr>
          <a:xfrm>
            <a:off x="167400" y="570240"/>
            <a:ext cx="3866760" cy="229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When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does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system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behave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intelligently?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75"/>
              </a:spcBef>
            </a:pPr>
            <a:endParaRPr b="0" lang="en-US" sz="1000" spc="-1" strike="noStrike">
              <a:latin typeface="Arial"/>
            </a:endParaRPr>
          </a:p>
          <a:p>
            <a:pPr marL="341640">
              <a:lnSpc>
                <a:spcPct val="100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Alan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Turing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“Computing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Machinery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Intelligence”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(1950)</a:t>
            </a:r>
            <a:endParaRPr b="0" lang="en-US" sz="1000" spc="-1" strike="noStrike">
              <a:latin typeface="Arial"/>
            </a:endParaRPr>
          </a:p>
          <a:p>
            <a:pPr marL="341640">
              <a:lnSpc>
                <a:spcPts val="1100"/>
              </a:lnSpc>
              <a:spcBef>
                <a:spcPts val="41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Operational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test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intelligence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(aka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“The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Imitation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game”):</a:t>
            </a:r>
            <a:endParaRPr b="0" lang="en-US" sz="1000" spc="-1" strike="noStrike">
              <a:latin typeface="Arial"/>
            </a:endParaRPr>
          </a:p>
          <a:p>
            <a:pPr marL="594360">
              <a:lnSpc>
                <a:spcPct val="101000"/>
              </a:lnSpc>
              <a:spcBef>
                <a:spcPts val="15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human,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computer,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different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room.</a:t>
            </a:r>
            <a:r>
              <a:rPr b="0" lang="en-US" sz="900" spc="49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should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classify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machine.</a:t>
            </a:r>
            <a:endParaRPr b="0" lang="en-US" sz="900" spc="-1" strike="noStrike">
              <a:latin typeface="Arial"/>
            </a:endParaRPr>
          </a:p>
          <a:p>
            <a:pPr marL="59436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Can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mislead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classified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52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human?</a:t>
            </a:r>
            <a:endParaRPr b="0" lang="en-US" sz="900" spc="-1" strike="noStrike">
              <a:latin typeface="Arial"/>
            </a:endParaRPr>
          </a:p>
          <a:p>
            <a:pPr marL="341640">
              <a:lnSpc>
                <a:spcPct val="100000"/>
              </a:lnSpc>
              <a:spcBef>
                <a:spcPts val="309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behave</a:t>
            </a:r>
            <a:r>
              <a:rPr b="0" lang="en-US" sz="1000" spc="-7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intelligently”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Lucida Sans Unicode"/>
              </a:rPr>
              <a:t>⇐⇒</a:t>
            </a:r>
            <a:r>
              <a:rPr b="0" lang="en-US" sz="1000" spc="-60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”behave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humanly”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622" name="object 31" descr=""/>
          <p:cNvPicPr/>
          <p:nvPr/>
        </p:nvPicPr>
        <p:blipFill>
          <a:blip r:embed="rId14"/>
          <a:stretch/>
        </p:blipFill>
        <p:spPr>
          <a:xfrm>
            <a:off x="4357440" y="1324800"/>
            <a:ext cx="1121760" cy="1557720"/>
          </a:xfrm>
          <a:prstGeom prst="rect">
            <a:avLst/>
          </a:prstGeom>
          <a:ln>
            <a:noFill/>
          </a:ln>
        </p:spPr>
      </p:pic>
      <p:sp>
        <p:nvSpPr>
          <p:cNvPr id="623" name="CustomShape 17"/>
          <p:cNvSpPr/>
          <p:nvPr/>
        </p:nvSpPr>
        <p:spPr>
          <a:xfrm>
            <a:off x="5504760" y="3137400"/>
            <a:ext cx="20484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15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2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2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625" name="Group 2"/>
          <p:cNvGrpSpPr/>
          <p:nvPr/>
        </p:nvGrpSpPr>
        <p:grpSpPr>
          <a:xfrm>
            <a:off x="129240" y="551520"/>
            <a:ext cx="5551920" cy="285840"/>
            <a:chOff x="129240" y="551520"/>
            <a:chExt cx="5551920" cy="285840"/>
          </a:xfrm>
        </p:grpSpPr>
        <p:sp>
          <p:nvSpPr>
            <p:cNvPr id="626" name="CustomShape 3"/>
            <p:cNvSpPr/>
            <p:nvPr/>
          </p:nvSpPr>
          <p:spPr>
            <a:xfrm>
              <a:off x="129240" y="5515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27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7362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28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7232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29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60228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630" name="CustomShape 4"/>
            <p:cNvSpPr/>
            <p:nvPr/>
          </p:nvSpPr>
          <p:spPr>
            <a:xfrm>
              <a:off x="129240" y="59580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4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1" name="CustomShape 5"/>
            <p:cNvSpPr/>
            <p:nvPr/>
          </p:nvSpPr>
          <p:spPr>
            <a:xfrm>
              <a:off x="5630760" y="64008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70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CustomShape 6"/>
            <p:cNvSpPr/>
            <p:nvPr/>
          </p:nvSpPr>
          <p:spPr>
            <a:xfrm>
              <a:off x="5630760" y="627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CustomShape 7"/>
            <p:cNvSpPr/>
            <p:nvPr/>
          </p:nvSpPr>
          <p:spPr>
            <a:xfrm>
              <a:off x="5630760" y="614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CustomShape 8"/>
            <p:cNvSpPr/>
            <p:nvPr/>
          </p:nvSpPr>
          <p:spPr>
            <a:xfrm>
              <a:off x="5630760" y="602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5" name="Group 9"/>
          <p:cNvGrpSpPr/>
          <p:nvPr/>
        </p:nvGrpSpPr>
        <p:grpSpPr>
          <a:xfrm>
            <a:off x="129240" y="1090800"/>
            <a:ext cx="5551920" cy="1879560"/>
            <a:chOff x="129240" y="1090800"/>
            <a:chExt cx="5551920" cy="1879560"/>
          </a:xfrm>
        </p:grpSpPr>
        <p:sp>
          <p:nvSpPr>
            <p:cNvPr id="636" name="CustomShape 10"/>
            <p:cNvSpPr/>
            <p:nvPr/>
          </p:nvSpPr>
          <p:spPr>
            <a:xfrm>
              <a:off x="129240" y="1090800"/>
              <a:ext cx="5501880" cy="181800"/>
            </a:xfrm>
            <a:custGeom>
              <a:avLst/>
              <a:gdLst/>
              <a:ahLst/>
              <a:rect l="l" t="t" r="r" b="b"/>
              <a:pathLst>
                <a:path w="5502275" h="18224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708"/>
                  </a:lnTo>
                  <a:lnTo>
                    <a:pt x="5501666" y="18170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37" name="object 15" descr=""/>
            <p:cNvPicPr/>
            <p:nvPr/>
          </p:nvPicPr>
          <p:blipFill>
            <a:blip r:embed="rId4"/>
            <a:stretch/>
          </p:blipFill>
          <p:spPr>
            <a:xfrm>
              <a:off x="129240" y="125964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38" name="object 16" descr=""/>
            <p:cNvPicPr/>
            <p:nvPr/>
          </p:nvPicPr>
          <p:blipFill>
            <a:blip r:embed="rId5"/>
            <a:stretch/>
          </p:blipFill>
          <p:spPr>
            <a:xfrm>
              <a:off x="180000" y="28692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39" name="object 17" descr=""/>
            <p:cNvPicPr/>
            <p:nvPr/>
          </p:nvPicPr>
          <p:blipFill>
            <a:blip r:embed="rId6"/>
            <a:stretch/>
          </p:blipFill>
          <p:spPr>
            <a:xfrm>
              <a:off x="230760" y="28562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40" name="object 18" descr=""/>
            <p:cNvPicPr/>
            <p:nvPr/>
          </p:nvPicPr>
          <p:blipFill>
            <a:blip r:embed="rId7"/>
            <a:stretch/>
          </p:blipFill>
          <p:spPr>
            <a:xfrm>
              <a:off x="5630760" y="1135080"/>
              <a:ext cx="50400" cy="1733760"/>
            </a:xfrm>
            <a:prstGeom prst="rect">
              <a:avLst/>
            </a:prstGeom>
            <a:ln>
              <a:noFill/>
            </a:ln>
          </p:spPr>
        </p:pic>
        <p:sp>
          <p:nvSpPr>
            <p:cNvPr id="641" name="CustomShape 11"/>
            <p:cNvSpPr/>
            <p:nvPr/>
          </p:nvSpPr>
          <p:spPr>
            <a:xfrm>
              <a:off x="129240" y="1303920"/>
              <a:ext cx="5501880" cy="1615680"/>
            </a:xfrm>
            <a:custGeom>
              <a:avLst/>
              <a:gdLst/>
              <a:ahLst/>
              <a:rect l="l" t="t" r="r" b="b"/>
              <a:pathLst>
                <a:path w="5502275" h="1616075">
                  <a:moveTo>
                    <a:pt x="5501666" y="0"/>
                  </a:moveTo>
                  <a:lnTo>
                    <a:pt x="0" y="0"/>
                  </a:lnTo>
                  <a:lnTo>
                    <a:pt x="0" y="1565071"/>
                  </a:lnTo>
                  <a:lnTo>
                    <a:pt x="4008" y="1584796"/>
                  </a:lnTo>
                  <a:lnTo>
                    <a:pt x="14922" y="1600949"/>
                  </a:lnTo>
                  <a:lnTo>
                    <a:pt x="31075" y="1611863"/>
                  </a:lnTo>
                  <a:lnTo>
                    <a:pt x="50800" y="1615872"/>
                  </a:lnTo>
                  <a:lnTo>
                    <a:pt x="5450866" y="1615872"/>
                  </a:lnTo>
                  <a:lnTo>
                    <a:pt x="5470590" y="1611863"/>
                  </a:lnTo>
                  <a:lnTo>
                    <a:pt x="5486743" y="1600949"/>
                  </a:lnTo>
                  <a:lnTo>
                    <a:pt x="5497657" y="1584796"/>
                  </a:lnTo>
                  <a:lnTo>
                    <a:pt x="5501666" y="156507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2" name="CustomShape 12"/>
            <p:cNvSpPr/>
            <p:nvPr/>
          </p:nvSpPr>
          <p:spPr>
            <a:xfrm>
              <a:off x="5630760" y="1172880"/>
              <a:ext cx="360" cy="1714680"/>
            </a:xfrm>
            <a:custGeom>
              <a:avLst/>
              <a:gdLst/>
              <a:ahLst/>
              <a:rect l="l" t="t" r="r" b="b"/>
              <a:pathLst>
                <a:path w="0" h="1715135">
                  <a:moveTo>
                    <a:pt x="0" y="1715122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3" name="CustomShape 13"/>
            <p:cNvSpPr/>
            <p:nvPr/>
          </p:nvSpPr>
          <p:spPr>
            <a:xfrm>
              <a:off x="5630760" y="1160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4" name="CustomShape 14"/>
            <p:cNvSpPr/>
            <p:nvPr/>
          </p:nvSpPr>
          <p:spPr>
            <a:xfrm>
              <a:off x="5630760" y="1147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5" name="CustomShape 15"/>
            <p:cNvSpPr/>
            <p:nvPr/>
          </p:nvSpPr>
          <p:spPr>
            <a:xfrm>
              <a:off x="5630760" y="11347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46" name="object 24" descr=""/>
            <p:cNvPicPr/>
            <p:nvPr/>
          </p:nvPicPr>
          <p:blipFill>
            <a:blip r:embed="rId8"/>
            <a:stretch/>
          </p:blipFill>
          <p:spPr>
            <a:xfrm>
              <a:off x="375480" y="15116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47" name="object 25" descr=""/>
            <p:cNvPicPr/>
            <p:nvPr/>
          </p:nvPicPr>
          <p:blipFill>
            <a:blip r:embed="rId9"/>
            <a:stretch/>
          </p:blipFill>
          <p:spPr>
            <a:xfrm>
              <a:off x="375480" y="17017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48" name="object 26" descr=""/>
            <p:cNvPicPr/>
            <p:nvPr/>
          </p:nvPicPr>
          <p:blipFill>
            <a:blip r:embed="rId10"/>
            <a:stretch/>
          </p:blipFill>
          <p:spPr>
            <a:xfrm>
              <a:off x="642240" y="20188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49" name="object 27" descr=""/>
            <p:cNvPicPr/>
            <p:nvPr/>
          </p:nvPicPr>
          <p:blipFill>
            <a:blip r:embed="rId11"/>
            <a:stretch/>
          </p:blipFill>
          <p:spPr>
            <a:xfrm>
              <a:off x="642240" y="21582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0" name="object 28" descr=""/>
            <p:cNvPicPr/>
            <p:nvPr/>
          </p:nvPicPr>
          <p:blipFill>
            <a:blip r:embed="rId12"/>
            <a:stretch/>
          </p:blipFill>
          <p:spPr>
            <a:xfrm>
              <a:off x="642240" y="22971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1" name="object 29" descr=""/>
            <p:cNvPicPr/>
            <p:nvPr/>
          </p:nvPicPr>
          <p:blipFill>
            <a:blip r:embed="rId13"/>
            <a:stretch/>
          </p:blipFill>
          <p:spPr>
            <a:xfrm>
              <a:off x="375480" y="261252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52" name="CustomShape 16"/>
          <p:cNvSpPr/>
          <p:nvPr/>
        </p:nvSpPr>
        <p:spPr>
          <a:xfrm>
            <a:off x="167400" y="575280"/>
            <a:ext cx="3866760" cy="228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When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does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system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behave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intelligently?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24"/>
              </a:spcBef>
            </a:pPr>
            <a:endParaRPr b="0" lang="en-US" sz="1000" spc="-1" strike="noStrike">
              <a:latin typeface="Arial"/>
            </a:endParaRPr>
          </a:p>
          <a:p>
            <a:pPr marL="341640">
              <a:lnSpc>
                <a:spcPct val="100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Alan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Turing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“Computing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Machinery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Intelligence”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(1950)</a:t>
            </a:r>
            <a:endParaRPr b="0" lang="en-US" sz="1000" spc="-1" strike="noStrike">
              <a:latin typeface="Arial"/>
            </a:endParaRPr>
          </a:p>
          <a:p>
            <a:pPr marL="341640">
              <a:lnSpc>
                <a:spcPts val="1100"/>
              </a:lnSpc>
              <a:spcBef>
                <a:spcPts val="41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Operational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test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intelligence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(aka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“The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Imitation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game”):</a:t>
            </a:r>
            <a:endParaRPr b="0" lang="en-US" sz="1000" spc="-1" strike="noStrike">
              <a:latin typeface="Arial"/>
            </a:endParaRPr>
          </a:p>
          <a:p>
            <a:pPr marL="594360">
              <a:lnSpc>
                <a:spcPct val="101000"/>
              </a:lnSpc>
              <a:spcBef>
                <a:spcPts val="15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human,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computer,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different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room.</a:t>
            </a:r>
            <a:r>
              <a:rPr b="0" lang="en-US" sz="900" spc="49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should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classify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machine.</a:t>
            </a:r>
            <a:endParaRPr b="0" lang="en-US" sz="900" spc="-1" strike="noStrike">
              <a:latin typeface="Arial"/>
            </a:endParaRPr>
          </a:p>
          <a:p>
            <a:pPr marL="59436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Can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mislead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interrogator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classified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52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human?</a:t>
            </a:r>
            <a:endParaRPr b="0" lang="en-US" sz="900" spc="-1" strike="noStrike">
              <a:latin typeface="Arial"/>
            </a:endParaRPr>
          </a:p>
          <a:p>
            <a:pPr marL="34164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behave</a:t>
            </a:r>
            <a:r>
              <a:rPr b="0" lang="en-US" sz="1000" spc="-7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intelligently”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Lucida Sans Unicode"/>
              </a:rPr>
              <a:t>⇐⇒</a:t>
            </a:r>
            <a:r>
              <a:rPr b="0" lang="en-US" sz="1000" spc="-60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”behave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humanly”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653" name="object 31" descr=""/>
          <p:cNvPicPr/>
          <p:nvPr/>
        </p:nvPicPr>
        <p:blipFill>
          <a:blip r:embed="rId14"/>
          <a:stretch/>
        </p:blipFill>
        <p:spPr>
          <a:xfrm>
            <a:off x="4357440" y="1329480"/>
            <a:ext cx="810000" cy="1545840"/>
          </a:xfrm>
          <a:prstGeom prst="rect">
            <a:avLst/>
          </a:prstGeom>
          <a:ln>
            <a:noFill/>
          </a:ln>
        </p:spPr>
      </p:pic>
      <p:sp>
        <p:nvSpPr>
          <p:cNvPr id="654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Approach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656" name="Group 2"/>
          <p:cNvGrpSpPr/>
          <p:nvPr/>
        </p:nvGrpSpPr>
        <p:grpSpPr>
          <a:xfrm>
            <a:off x="129240" y="531000"/>
            <a:ext cx="5551920" cy="1784880"/>
            <a:chOff x="129240" y="531000"/>
            <a:chExt cx="5551920" cy="1784880"/>
          </a:xfrm>
        </p:grpSpPr>
        <p:sp>
          <p:nvSpPr>
            <p:cNvPr id="657" name="CustomShape 3"/>
            <p:cNvSpPr/>
            <p:nvPr/>
          </p:nvSpPr>
          <p:spPr>
            <a:xfrm>
              <a:off x="129240" y="53100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58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70308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9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2147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60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2017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61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575280"/>
              <a:ext cx="50400" cy="1638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662" name="CustomShape 4"/>
            <p:cNvSpPr/>
            <p:nvPr/>
          </p:nvSpPr>
          <p:spPr>
            <a:xfrm>
              <a:off x="129240" y="747360"/>
              <a:ext cx="5501880" cy="1517760"/>
            </a:xfrm>
            <a:custGeom>
              <a:avLst/>
              <a:gdLst/>
              <a:ahLst/>
              <a:rect l="l" t="t" r="r" b="b"/>
              <a:pathLst>
                <a:path w="5502275" h="1518285">
                  <a:moveTo>
                    <a:pt x="5501666" y="0"/>
                  </a:moveTo>
                  <a:lnTo>
                    <a:pt x="0" y="0"/>
                  </a:lnTo>
                  <a:lnTo>
                    <a:pt x="0" y="1467154"/>
                  </a:lnTo>
                  <a:lnTo>
                    <a:pt x="4008" y="1486879"/>
                  </a:lnTo>
                  <a:lnTo>
                    <a:pt x="14922" y="1503032"/>
                  </a:lnTo>
                  <a:lnTo>
                    <a:pt x="31075" y="1513946"/>
                  </a:lnTo>
                  <a:lnTo>
                    <a:pt x="50800" y="1517955"/>
                  </a:lnTo>
                  <a:lnTo>
                    <a:pt x="5450866" y="1517955"/>
                  </a:lnTo>
                  <a:lnTo>
                    <a:pt x="5470590" y="1513946"/>
                  </a:lnTo>
                  <a:lnTo>
                    <a:pt x="5486743" y="1503032"/>
                  </a:lnTo>
                  <a:lnTo>
                    <a:pt x="5497657" y="1486879"/>
                  </a:lnTo>
                  <a:lnTo>
                    <a:pt x="5501666" y="146715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3" name="CustomShape 5"/>
            <p:cNvSpPr/>
            <p:nvPr/>
          </p:nvSpPr>
          <p:spPr>
            <a:xfrm>
              <a:off x="5630760" y="613440"/>
              <a:ext cx="360" cy="1620000"/>
            </a:xfrm>
            <a:custGeom>
              <a:avLst/>
              <a:gdLst/>
              <a:ahLst/>
              <a:rect l="l" t="t" r="r" b="b"/>
              <a:pathLst>
                <a:path w="0" h="1620520">
                  <a:moveTo>
                    <a:pt x="0" y="162012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4" name="CustomShape 6"/>
            <p:cNvSpPr/>
            <p:nvPr/>
          </p:nvSpPr>
          <p:spPr>
            <a:xfrm>
              <a:off x="5630760" y="6008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5" name="CustomShape 7"/>
            <p:cNvSpPr/>
            <p:nvPr/>
          </p:nvSpPr>
          <p:spPr>
            <a:xfrm>
              <a:off x="5630760" y="588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6" name="CustomShape 8"/>
            <p:cNvSpPr/>
            <p:nvPr/>
          </p:nvSpPr>
          <p:spPr>
            <a:xfrm>
              <a:off x="5630760" y="575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67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7930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68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982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69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11725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0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13626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1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17420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2" name="object 19" descr=""/>
            <p:cNvPicPr/>
            <p:nvPr/>
          </p:nvPicPr>
          <p:blipFill>
            <a:blip r:embed="rId10"/>
            <a:stretch/>
          </p:blipFill>
          <p:spPr>
            <a:xfrm>
              <a:off x="299520" y="19317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3" name="object 20" descr=""/>
            <p:cNvPicPr/>
            <p:nvPr/>
          </p:nvPicPr>
          <p:blipFill>
            <a:blip r:embed="rId11"/>
            <a:stretch/>
          </p:blipFill>
          <p:spPr>
            <a:xfrm>
              <a:off x="299520" y="212148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74" name="Group 9"/>
          <p:cNvGrpSpPr/>
          <p:nvPr/>
        </p:nvGrpSpPr>
        <p:grpSpPr>
          <a:xfrm>
            <a:off x="129240" y="2417400"/>
            <a:ext cx="5551920" cy="475560"/>
            <a:chOff x="129240" y="2417400"/>
            <a:chExt cx="5551920" cy="475560"/>
          </a:xfrm>
        </p:grpSpPr>
        <p:sp>
          <p:nvSpPr>
            <p:cNvPr id="675" name="CustomShape 10"/>
            <p:cNvSpPr/>
            <p:nvPr/>
          </p:nvSpPr>
          <p:spPr>
            <a:xfrm>
              <a:off x="129240" y="241740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76" name="object 23" descr=""/>
            <p:cNvPicPr/>
            <p:nvPr/>
          </p:nvPicPr>
          <p:blipFill>
            <a:blip r:embed="rId12"/>
            <a:stretch/>
          </p:blipFill>
          <p:spPr>
            <a:xfrm>
              <a:off x="180000" y="27918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7" name="object 24" descr=""/>
            <p:cNvPicPr/>
            <p:nvPr/>
          </p:nvPicPr>
          <p:blipFill>
            <a:blip r:embed="rId13"/>
            <a:stretch/>
          </p:blipFill>
          <p:spPr>
            <a:xfrm>
              <a:off x="230760" y="27788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8" name="object 25" descr=""/>
            <p:cNvPicPr/>
            <p:nvPr/>
          </p:nvPicPr>
          <p:blipFill>
            <a:blip r:embed="rId14"/>
            <a:stretch/>
          </p:blipFill>
          <p:spPr>
            <a:xfrm>
              <a:off x="5630760" y="2467800"/>
              <a:ext cx="50400" cy="323280"/>
            </a:xfrm>
            <a:prstGeom prst="rect">
              <a:avLst/>
            </a:prstGeom>
            <a:ln>
              <a:noFill/>
            </a:ln>
          </p:spPr>
        </p:pic>
        <p:sp>
          <p:nvSpPr>
            <p:cNvPr id="679" name="CustomShape 11"/>
            <p:cNvSpPr/>
            <p:nvPr/>
          </p:nvSpPr>
          <p:spPr>
            <a:xfrm>
              <a:off x="129240" y="2461680"/>
              <a:ext cx="5501880" cy="380520"/>
            </a:xfrm>
            <a:custGeom>
              <a:avLst/>
              <a:gdLst/>
              <a:ahLst/>
              <a:rect l="l" t="t" r="r" b="b"/>
              <a:pathLst>
                <a:path w="5502275" h="381000">
                  <a:moveTo>
                    <a:pt x="5501666" y="0"/>
                  </a:moveTo>
                  <a:lnTo>
                    <a:pt x="0" y="0"/>
                  </a:lnTo>
                  <a:lnTo>
                    <a:pt x="0" y="329934"/>
                  </a:lnTo>
                  <a:lnTo>
                    <a:pt x="4008" y="349659"/>
                  </a:lnTo>
                  <a:lnTo>
                    <a:pt x="14922" y="365812"/>
                  </a:lnTo>
                  <a:lnTo>
                    <a:pt x="31075" y="376726"/>
                  </a:lnTo>
                  <a:lnTo>
                    <a:pt x="50800" y="380734"/>
                  </a:lnTo>
                  <a:lnTo>
                    <a:pt x="5450866" y="380734"/>
                  </a:lnTo>
                  <a:lnTo>
                    <a:pt x="5470590" y="376726"/>
                  </a:lnTo>
                  <a:lnTo>
                    <a:pt x="5486743" y="365812"/>
                  </a:lnTo>
                  <a:lnTo>
                    <a:pt x="5497657" y="349659"/>
                  </a:lnTo>
                  <a:lnTo>
                    <a:pt x="5501666" y="32993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CustomShape 12"/>
            <p:cNvSpPr/>
            <p:nvPr/>
          </p:nvSpPr>
          <p:spPr>
            <a:xfrm>
              <a:off x="5630760" y="2505960"/>
              <a:ext cx="360" cy="304560"/>
            </a:xfrm>
            <a:custGeom>
              <a:avLst/>
              <a:gdLst/>
              <a:ahLst/>
              <a:rect l="l" t="t" r="r" b="b"/>
              <a:pathLst>
                <a:path w="0" h="304800">
                  <a:moveTo>
                    <a:pt x="0" y="304747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CustomShape 13"/>
            <p:cNvSpPr/>
            <p:nvPr/>
          </p:nvSpPr>
          <p:spPr>
            <a:xfrm>
              <a:off x="5630760" y="24933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CustomShape 14"/>
            <p:cNvSpPr/>
            <p:nvPr/>
          </p:nvSpPr>
          <p:spPr>
            <a:xfrm>
              <a:off x="5630760" y="24804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CustomShape 15"/>
            <p:cNvSpPr/>
            <p:nvPr/>
          </p:nvSpPr>
          <p:spPr>
            <a:xfrm>
              <a:off x="5630760" y="2467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84" name="object 31" descr=""/>
            <p:cNvPicPr/>
            <p:nvPr/>
          </p:nvPicPr>
          <p:blipFill>
            <a:blip r:embed="rId15"/>
            <a:stretch/>
          </p:blipFill>
          <p:spPr>
            <a:xfrm>
              <a:off x="299520" y="25074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85" name="object 32" descr=""/>
            <p:cNvPicPr/>
            <p:nvPr/>
          </p:nvPicPr>
          <p:blipFill>
            <a:blip r:embed="rId16"/>
            <a:stretch/>
          </p:blipFill>
          <p:spPr>
            <a:xfrm>
              <a:off x="299520" y="269712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86" name="CustomShape 16"/>
          <p:cNvSpPr/>
          <p:nvPr/>
        </p:nvSpPr>
        <p:spPr>
          <a:xfrm>
            <a:off x="167400" y="471600"/>
            <a:ext cx="5301360" cy="277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>
            <a:spAutoFit/>
          </a:bodyPr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Capabilities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for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passing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Turing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24000"/>
              </a:lnSpc>
              <a:spcBef>
                <a:spcPts val="111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natural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language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processing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enable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it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communicate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successfully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English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(or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other)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knowledge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representation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store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what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knows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hears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automated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reasoning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answer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questions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draw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new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conclusions</a:t>
            </a:r>
            <a:endParaRPr b="0" lang="en-US" sz="1000" spc="-1" strike="noStrike">
              <a:latin typeface="Arial"/>
            </a:endParaRPr>
          </a:p>
          <a:p>
            <a:pPr marL="12600" indent="252720">
              <a:lnSpc>
                <a:spcPct val="124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machine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learning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adapt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new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circumstances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detect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extrapolate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patterns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Total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Turing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test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(with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physical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interaction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wrt.</a:t>
            </a:r>
            <a:r>
              <a:rPr b="0" lang="en-US" sz="1000" spc="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interrogator):</a:t>
            </a:r>
            <a:endParaRPr b="0" lang="en-US" sz="1000" spc="-1" strike="noStrike">
              <a:latin typeface="Arial"/>
            </a:endParaRPr>
          </a:p>
          <a:p>
            <a:pPr marL="265320" indent="252720">
              <a:lnSpc>
                <a:spcPct val="124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computer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vision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perceive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objects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computer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speech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communicate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orally</a:t>
            </a:r>
            <a:endParaRPr b="0" lang="en-US" sz="1000" spc="-1" strike="noStrike">
              <a:latin typeface="Arial"/>
            </a:endParaRPr>
          </a:p>
          <a:p>
            <a:pPr marL="265320" indent="25272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robotics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manipulate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objects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move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about</a:t>
            </a:r>
            <a:endParaRPr b="0" lang="en-US" sz="1000" spc="-1" strike="noStrike">
              <a:latin typeface="Arial"/>
            </a:endParaRPr>
          </a:p>
          <a:p>
            <a:pPr marL="265320" indent="252720">
              <a:lnSpc>
                <a:spcPct val="100000"/>
              </a:lnSpc>
              <a:spcBef>
                <a:spcPts val="686"/>
              </a:spcBef>
            </a:pPr>
            <a:endParaRPr b="0" lang="en-US" sz="1000" spc="-1" strike="noStrike">
              <a:latin typeface="Arial"/>
            </a:endParaRPr>
          </a:p>
          <a:p>
            <a:pPr marL="265320" indent="252720">
              <a:lnSpc>
                <a:spcPct val="100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These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disciplines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compose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most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  <a:p>
            <a:pPr marL="265320" indent="252720">
              <a:lnSpc>
                <a:spcPct val="100000"/>
              </a:lnSpc>
              <a:spcBef>
                <a:spcPts val="295"/>
              </a:spcBef>
            </a:pP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Turing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Test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still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relevant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AI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(although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not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fundamental)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87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16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Approach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689" name="Group 2"/>
          <p:cNvGrpSpPr/>
          <p:nvPr/>
        </p:nvGrpSpPr>
        <p:grpSpPr>
          <a:xfrm>
            <a:off x="129240" y="552960"/>
            <a:ext cx="5551920" cy="1100160"/>
            <a:chOff x="129240" y="552960"/>
            <a:chExt cx="5551920" cy="1100160"/>
          </a:xfrm>
        </p:grpSpPr>
        <p:sp>
          <p:nvSpPr>
            <p:cNvPr id="690" name="CustomShape 3"/>
            <p:cNvSpPr/>
            <p:nvPr/>
          </p:nvSpPr>
          <p:spPr>
            <a:xfrm>
              <a:off x="129240" y="55296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91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72468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92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15516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93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15390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94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597240"/>
              <a:ext cx="50400" cy="954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695" name="CustomShape 4"/>
            <p:cNvSpPr/>
            <p:nvPr/>
          </p:nvSpPr>
          <p:spPr>
            <a:xfrm>
              <a:off x="129240" y="768960"/>
              <a:ext cx="5501880" cy="833400"/>
            </a:xfrm>
            <a:custGeom>
              <a:avLst/>
              <a:gdLst/>
              <a:ahLst/>
              <a:rect l="l" t="t" r="r" b="b"/>
              <a:pathLst>
                <a:path w="5502275" h="833755">
                  <a:moveTo>
                    <a:pt x="5501666" y="0"/>
                  </a:moveTo>
                  <a:lnTo>
                    <a:pt x="0" y="0"/>
                  </a:lnTo>
                  <a:lnTo>
                    <a:pt x="0" y="782617"/>
                  </a:lnTo>
                  <a:lnTo>
                    <a:pt x="4008" y="802341"/>
                  </a:lnTo>
                  <a:lnTo>
                    <a:pt x="14922" y="818494"/>
                  </a:lnTo>
                  <a:lnTo>
                    <a:pt x="31075" y="829409"/>
                  </a:lnTo>
                  <a:lnTo>
                    <a:pt x="50800" y="833417"/>
                  </a:lnTo>
                  <a:lnTo>
                    <a:pt x="5450866" y="833417"/>
                  </a:lnTo>
                  <a:lnTo>
                    <a:pt x="5470590" y="829409"/>
                  </a:lnTo>
                  <a:lnTo>
                    <a:pt x="5486743" y="818494"/>
                  </a:lnTo>
                  <a:lnTo>
                    <a:pt x="5497657" y="802341"/>
                  </a:lnTo>
                  <a:lnTo>
                    <a:pt x="5501666" y="78261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CustomShape 5"/>
            <p:cNvSpPr/>
            <p:nvPr/>
          </p:nvSpPr>
          <p:spPr>
            <a:xfrm>
              <a:off x="5630760" y="635040"/>
              <a:ext cx="360" cy="935640"/>
            </a:xfrm>
            <a:custGeom>
              <a:avLst/>
              <a:gdLst/>
              <a:ahLst/>
              <a:rect l="l" t="t" r="r" b="b"/>
              <a:pathLst>
                <a:path w="0" h="935990">
                  <a:moveTo>
                    <a:pt x="0" y="93557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CustomShape 6"/>
            <p:cNvSpPr/>
            <p:nvPr/>
          </p:nvSpPr>
          <p:spPr>
            <a:xfrm>
              <a:off x="5630760" y="6224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CustomShape 7"/>
            <p:cNvSpPr/>
            <p:nvPr/>
          </p:nvSpPr>
          <p:spPr>
            <a:xfrm>
              <a:off x="5630760" y="6098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CustomShape 8"/>
            <p:cNvSpPr/>
            <p:nvPr/>
          </p:nvSpPr>
          <p:spPr>
            <a:xfrm>
              <a:off x="5630760" y="597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00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8146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01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11322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02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12956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03" name="object 17" descr=""/>
            <p:cNvPicPr/>
            <p:nvPr/>
          </p:nvPicPr>
          <p:blipFill>
            <a:blip r:embed="rId8"/>
            <a:stretch/>
          </p:blipFill>
          <p:spPr>
            <a:xfrm>
              <a:off x="566280" y="147384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704" name="Group 9"/>
          <p:cNvGrpSpPr/>
          <p:nvPr/>
        </p:nvGrpSpPr>
        <p:grpSpPr>
          <a:xfrm>
            <a:off x="129240" y="1754280"/>
            <a:ext cx="5551920" cy="1214280"/>
            <a:chOff x="129240" y="1754280"/>
            <a:chExt cx="5551920" cy="1214280"/>
          </a:xfrm>
        </p:grpSpPr>
        <p:sp>
          <p:nvSpPr>
            <p:cNvPr id="705" name="CustomShape 10"/>
            <p:cNvSpPr/>
            <p:nvPr/>
          </p:nvSpPr>
          <p:spPr>
            <a:xfrm>
              <a:off x="129240" y="175428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06" name="object 20" descr=""/>
            <p:cNvPicPr/>
            <p:nvPr/>
          </p:nvPicPr>
          <p:blipFill>
            <a:blip r:embed="rId9"/>
            <a:stretch/>
          </p:blipFill>
          <p:spPr>
            <a:xfrm>
              <a:off x="129240" y="19263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07" name="object 21" descr=""/>
            <p:cNvPicPr/>
            <p:nvPr/>
          </p:nvPicPr>
          <p:blipFill>
            <a:blip r:embed="rId10"/>
            <a:stretch/>
          </p:blipFill>
          <p:spPr>
            <a:xfrm>
              <a:off x="180000" y="286704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08" name="object 22" descr=""/>
            <p:cNvPicPr/>
            <p:nvPr/>
          </p:nvPicPr>
          <p:blipFill>
            <a:blip r:embed="rId11"/>
            <a:stretch/>
          </p:blipFill>
          <p:spPr>
            <a:xfrm>
              <a:off x="230760" y="28544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09" name="object 23" descr=""/>
            <p:cNvPicPr/>
            <p:nvPr/>
          </p:nvPicPr>
          <p:blipFill>
            <a:blip r:embed="rId12"/>
            <a:stretch/>
          </p:blipFill>
          <p:spPr>
            <a:xfrm>
              <a:off x="5630760" y="1798560"/>
              <a:ext cx="50400" cy="1068120"/>
            </a:xfrm>
            <a:prstGeom prst="rect">
              <a:avLst/>
            </a:prstGeom>
            <a:ln>
              <a:noFill/>
            </a:ln>
          </p:spPr>
        </p:pic>
        <p:sp>
          <p:nvSpPr>
            <p:cNvPr id="710" name="CustomShape 11"/>
            <p:cNvSpPr/>
            <p:nvPr/>
          </p:nvSpPr>
          <p:spPr>
            <a:xfrm>
              <a:off x="129240" y="1970640"/>
              <a:ext cx="5501880" cy="947160"/>
            </a:xfrm>
            <a:custGeom>
              <a:avLst/>
              <a:gdLst/>
              <a:ahLst/>
              <a:rect l="l" t="t" r="r" b="b"/>
              <a:pathLst>
                <a:path w="5502275" h="947419">
                  <a:moveTo>
                    <a:pt x="5501666" y="0"/>
                  </a:moveTo>
                  <a:lnTo>
                    <a:pt x="0" y="0"/>
                  </a:lnTo>
                  <a:lnTo>
                    <a:pt x="0" y="896396"/>
                  </a:lnTo>
                  <a:lnTo>
                    <a:pt x="4008" y="916121"/>
                  </a:lnTo>
                  <a:lnTo>
                    <a:pt x="14922" y="932274"/>
                  </a:lnTo>
                  <a:lnTo>
                    <a:pt x="31075" y="943188"/>
                  </a:lnTo>
                  <a:lnTo>
                    <a:pt x="50800" y="947196"/>
                  </a:lnTo>
                  <a:lnTo>
                    <a:pt x="5450866" y="947196"/>
                  </a:lnTo>
                  <a:lnTo>
                    <a:pt x="5470590" y="943188"/>
                  </a:lnTo>
                  <a:lnTo>
                    <a:pt x="5486743" y="932274"/>
                  </a:lnTo>
                  <a:lnTo>
                    <a:pt x="5497657" y="916121"/>
                  </a:lnTo>
                  <a:lnTo>
                    <a:pt x="5501666" y="896396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CustomShape 12"/>
            <p:cNvSpPr/>
            <p:nvPr/>
          </p:nvSpPr>
          <p:spPr>
            <a:xfrm>
              <a:off x="5630760" y="1836720"/>
              <a:ext cx="360" cy="1049400"/>
            </a:xfrm>
            <a:custGeom>
              <a:avLst/>
              <a:gdLst/>
              <a:ahLst/>
              <a:rect l="l" t="t" r="r" b="b"/>
              <a:pathLst>
                <a:path w="0" h="1049655">
                  <a:moveTo>
                    <a:pt x="0" y="1049358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CustomShape 13"/>
            <p:cNvSpPr/>
            <p:nvPr/>
          </p:nvSpPr>
          <p:spPr>
            <a:xfrm>
              <a:off x="5630760" y="18241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CustomShape 14"/>
            <p:cNvSpPr/>
            <p:nvPr/>
          </p:nvSpPr>
          <p:spPr>
            <a:xfrm>
              <a:off x="5630760" y="18115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CustomShape 15"/>
            <p:cNvSpPr/>
            <p:nvPr/>
          </p:nvSpPr>
          <p:spPr>
            <a:xfrm>
              <a:off x="5630760" y="17985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15" name="object 29" descr=""/>
            <p:cNvPicPr/>
            <p:nvPr/>
          </p:nvPicPr>
          <p:blipFill>
            <a:blip r:embed="rId13"/>
            <a:stretch/>
          </p:blipFill>
          <p:spPr>
            <a:xfrm>
              <a:off x="299520" y="20134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16" name="object 30" descr=""/>
            <p:cNvPicPr/>
            <p:nvPr/>
          </p:nvPicPr>
          <p:blipFill>
            <a:blip r:embed="rId14"/>
            <a:stretch/>
          </p:blipFill>
          <p:spPr>
            <a:xfrm>
              <a:off x="299520" y="22032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17" name="object 31" descr=""/>
            <p:cNvPicPr/>
            <p:nvPr/>
          </p:nvPicPr>
          <p:blipFill>
            <a:blip r:embed="rId15"/>
            <a:stretch/>
          </p:blipFill>
          <p:spPr>
            <a:xfrm>
              <a:off x="299520" y="23929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18" name="object 32" descr=""/>
            <p:cNvPicPr/>
            <p:nvPr/>
          </p:nvPicPr>
          <p:blipFill>
            <a:blip r:embed="rId16"/>
            <a:stretch/>
          </p:blipFill>
          <p:spPr>
            <a:xfrm>
              <a:off x="299520" y="25830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19" name="object 33" descr=""/>
            <p:cNvPicPr/>
            <p:nvPr/>
          </p:nvPicPr>
          <p:blipFill>
            <a:blip r:embed="rId17"/>
            <a:stretch/>
          </p:blipFill>
          <p:spPr>
            <a:xfrm>
              <a:off x="299520" y="277272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20" name="CustomShape 16"/>
          <p:cNvSpPr/>
          <p:nvPr/>
        </p:nvSpPr>
        <p:spPr>
          <a:xfrm>
            <a:off x="167400" y="493200"/>
            <a:ext cx="5200200" cy="237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>
            <a:spAutoFit/>
          </a:bodyPr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Some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successes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with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ts val="1100"/>
              </a:lnSpc>
              <a:spcBef>
                <a:spcPts val="524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(2014)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chatbot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by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Eugene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Goostman,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mimicking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answer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13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years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old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boy,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has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succeeded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test.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70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chatbots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are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now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frequently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available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vocal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assistants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are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now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common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use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e.g.</a:t>
            </a:r>
            <a:r>
              <a:rPr b="0" lang="en-US" sz="900" spc="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Alexa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(Amazon),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Siri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(Apple),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Cortana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(Microsoft),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...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561"/>
              </a:spcBef>
            </a:pP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Limitations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Turing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380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not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reproducible,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constructive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or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amenable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mathematical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analysis</a:t>
            </a:r>
            <a:endParaRPr b="0" lang="en-US" sz="1000" spc="-1" strike="noStrike">
              <a:latin typeface="Arial"/>
            </a:endParaRPr>
          </a:p>
          <a:p>
            <a:pPr marL="300240" indent="-35280">
              <a:lnSpc>
                <a:spcPct val="124000"/>
              </a:lnSpc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researchers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devoted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little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effort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make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pass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Test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[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Do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humans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always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pass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test?</a:t>
            </a:r>
            <a:r>
              <a:rPr b="0" lang="en-US" sz="1000" spc="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(See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e.g.</a:t>
            </a:r>
            <a:r>
              <a:rPr b="0" lang="en-US" sz="1000" spc="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 u="sng">
                <a:solidFill>
                  <a:srgbClr val="0000ff"/>
                </a:solidFill>
                <a:uFill>
                  <a:solidFill>
                    <a:srgbClr val="9300d3"/>
                  </a:solidFill>
                </a:uFill>
                <a:latin typeface="Arial"/>
                <a:hlinkClick r:id="rId18"/>
              </a:rPr>
              <a:t>here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)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52" strike="noStrike">
                <a:solidFill>
                  <a:srgbClr val="0000ff"/>
                </a:solidFill>
                <a:latin typeface="Arial"/>
              </a:rPr>
              <a:t>]</a:t>
            </a:r>
            <a:endParaRPr b="0" lang="en-US" sz="1000" spc="-1" strike="noStrike">
              <a:latin typeface="Arial"/>
            </a:endParaRPr>
          </a:p>
          <a:p>
            <a:pPr marL="265320" indent="-35280">
              <a:lnSpc>
                <a:spcPct val="124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Should</a:t>
            </a:r>
            <a:r>
              <a:rPr b="0" lang="en-US" sz="10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really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emulate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humans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achieve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intelligence?</a:t>
            </a:r>
            <a:r>
              <a:rPr b="0" lang="en-US" sz="1000" spc="49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Shouldn’t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study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underlying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principles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intelligence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instead?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21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17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Humanly:</a:t>
            </a:r>
            <a:r>
              <a:rPr b="0" lang="en-US" sz="1400" spc="1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Turing</a:t>
            </a:r>
            <a:r>
              <a:rPr b="0" lang="en-US" sz="1400" spc="4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Test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Approach</a:t>
            </a:r>
            <a:r>
              <a:rPr b="0" lang="en-US" sz="14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723" name="Group 2"/>
          <p:cNvGrpSpPr/>
          <p:nvPr/>
        </p:nvGrpSpPr>
        <p:grpSpPr>
          <a:xfrm>
            <a:off x="129240" y="469800"/>
            <a:ext cx="5551920" cy="2622960"/>
            <a:chOff x="129240" y="469800"/>
            <a:chExt cx="5551920" cy="2622960"/>
          </a:xfrm>
        </p:grpSpPr>
        <p:sp>
          <p:nvSpPr>
            <p:cNvPr id="724" name="CustomShape 3"/>
            <p:cNvSpPr/>
            <p:nvPr/>
          </p:nvSpPr>
          <p:spPr>
            <a:xfrm>
              <a:off x="129240" y="469800"/>
              <a:ext cx="5501880" cy="180000"/>
            </a:xfrm>
            <a:custGeom>
              <a:avLst/>
              <a:gdLst/>
              <a:ahLst/>
              <a:rect l="l" t="t" r="r" b="b"/>
              <a:pathLst>
                <a:path w="5502275" h="18034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187"/>
                  </a:lnTo>
                  <a:lnTo>
                    <a:pt x="5501666" y="18018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4d3d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25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6375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26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9916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27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9786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28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514080"/>
              <a:ext cx="50400" cy="2476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729" name="CustomShape 4"/>
            <p:cNvSpPr/>
            <p:nvPr/>
          </p:nvSpPr>
          <p:spPr>
            <a:xfrm>
              <a:off x="129240" y="681840"/>
              <a:ext cx="5501880" cy="2360520"/>
            </a:xfrm>
            <a:custGeom>
              <a:avLst/>
              <a:gdLst/>
              <a:ahLst/>
              <a:rect l="l" t="t" r="r" b="b"/>
              <a:pathLst>
                <a:path w="5502275" h="2360930">
                  <a:moveTo>
                    <a:pt x="5501666" y="0"/>
                  </a:moveTo>
                  <a:lnTo>
                    <a:pt x="0" y="0"/>
                  </a:lnTo>
                  <a:lnTo>
                    <a:pt x="0" y="2309660"/>
                  </a:lnTo>
                  <a:lnTo>
                    <a:pt x="4008" y="2329384"/>
                  </a:lnTo>
                  <a:lnTo>
                    <a:pt x="14922" y="2345537"/>
                  </a:lnTo>
                  <a:lnTo>
                    <a:pt x="31075" y="2356451"/>
                  </a:lnTo>
                  <a:lnTo>
                    <a:pt x="50800" y="2360460"/>
                  </a:lnTo>
                  <a:lnTo>
                    <a:pt x="5450866" y="2360460"/>
                  </a:lnTo>
                  <a:lnTo>
                    <a:pt x="5470590" y="2356451"/>
                  </a:lnTo>
                  <a:lnTo>
                    <a:pt x="5486743" y="2345537"/>
                  </a:lnTo>
                  <a:lnTo>
                    <a:pt x="5497657" y="2329384"/>
                  </a:lnTo>
                  <a:lnTo>
                    <a:pt x="5501666" y="2309660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0" name="CustomShape 5"/>
            <p:cNvSpPr/>
            <p:nvPr/>
          </p:nvSpPr>
          <p:spPr>
            <a:xfrm>
              <a:off x="5630760" y="552240"/>
              <a:ext cx="360" cy="2458440"/>
            </a:xfrm>
            <a:custGeom>
              <a:avLst/>
              <a:gdLst/>
              <a:ahLst/>
              <a:rect l="l" t="t" r="r" b="b"/>
              <a:pathLst>
                <a:path w="0" h="2458720">
                  <a:moveTo>
                    <a:pt x="0" y="24581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1" name="CustomShape 6"/>
            <p:cNvSpPr/>
            <p:nvPr/>
          </p:nvSpPr>
          <p:spPr>
            <a:xfrm>
              <a:off x="5630760" y="539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2" name="CustomShape 7"/>
            <p:cNvSpPr/>
            <p:nvPr/>
          </p:nvSpPr>
          <p:spPr>
            <a:xfrm>
              <a:off x="5630760" y="527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3" name="CustomShape 8"/>
            <p:cNvSpPr/>
            <p:nvPr/>
          </p:nvSpPr>
          <p:spPr>
            <a:xfrm>
              <a:off x="5630760" y="514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34" name="CustomShape 9"/>
          <p:cNvSpPr/>
          <p:nvPr/>
        </p:nvSpPr>
        <p:spPr>
          <a:xfrm>
            <a:off x="167400" y="408960"/>
            <a:ext cx="501156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2280" bIns="0">
            <a:spAutoFit/>
          </a:bodyPr>
          <a:p>
            <a:pPr marL="12600">
              <a:lnSpc>
                <a:spcPct val="100000"/>
              </a:lnSpc>
              <a:spcBef>
                <a:spcPts val="490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Metaphorical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Example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91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Successful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flight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machines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have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not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been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developed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by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imitating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birds,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rather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by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studying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engines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aerodynamics.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735" name="Group 10"/>
          <p:cNvGrpSpPr/>
          <p:nvPr/>
        </p:nvGrpSpPr>
        <p:grpSpPr>
          <a:xfrm>
            <a:off x="861480" y="1094040"/>
            <a:ext cx="4037040" cy="1622880"/>
            <a:chOff x="861480" y="1094040"/>
            <a:chExt cx="4037040" cy="1622880"/>
          </a:xfrm>
        </p:grpSpPr>
        <p:pic>
          <p:nvPicPr>
            <p:cNvPr id="736" name="object 16" descr=""/>
            <p:cNvPicPr/>
            <p:nvPr/>
          </p:nvPicPr>
          <p:blipFill>
            <a:blip r:embed="rId5"/>
            <a:stretch/>
          </p:blipFill>
          <p:spPr>
            <a:xfrm>
              <a:off x="861480" y="1094040"/>
              <a:ext cx="1619640" cy="16228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37" name="object 17" descr=""/>
            <p:cNvPicPr/>
            <p:nvPr/>
          </p:nvPicPr>
          <p:blipFill>
            <a:blip r:embed="rId6"/>
            <a:stretch/>
          </p:blipFill>
          <p:spPr>
            <a:xfrm>
              <a:off x="2738880" y="1158840"/>
              <a:ext cx="2159640" cy="15577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38" name="CustomShape 11"/>
          <p:cNvSpPr/>
          <p:nvPr/>
        </p:nvSpPr>
        <p:spPr>
          <a:xfrm>
            <a:off x="167400" y="2830320"/>
            <a:ext cx="117108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(see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e.g.</a:t>
            </a:r>
            <a:r>
              <a:rPr b="0" lang="en-US" sz="1000" spc="52" strike="noStrike">
                <a:latin typeface="Arial"/>
              </a:rPr>
              <a:t> </a:t>
            </a:r>
            <a:r>
              <a:rPr b="0" lang="en-US" sz="1000" spc="-1" strike="noStrike" u="sng">
                <a:solidFill>
                  <a:srgbClr val="0000ff"/>
                </a:solidFill>
                <a:uFill>
                  <a:solidFill>
                    <a:srgbClr val="9300d3"/>
                  </a:solidFill>
                </a:uFill>
                <a:latin typeface="Arial"/>
                <a:hlinkClick r:id="rId7"/>
              </a:rPr>
              <a:t>this</a:t>
            </a:r>
            <a:r>
              <a:rPr b="0" lang="en-US" sz="1000" spc="-12" strike="noStrike" u="sng">
                <a:solidFill>
                  <a:srgbClr val="0000ff"/>
                </a:solidFill>
                <a:uFill>
                  <a:solidFill>
                    <a:srgbClr val="9300d3"/>
                  </a:solidFill>
                </a:uFill>
                <a:latin typeface="Arial"/>
                <a:hlinkClick r:id="rId8"/>
              </a:rPr>
              <a:t> video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).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39" name="TextShape 12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18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Thinking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Rationally:</a:t>
            </a:r>
            <a:r>
              <a:rPr b="0" lang="en-US" sz="1400" spc="19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8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“Laws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8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Thought”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741" name="Group 2"/>
          <p:cNvGrpSpPr/>
          <p:nvPr/>
        </p:nvGrpSpPr>
        <p:grpSpPr>
          <a:xfrm>
            <a:off x="129240" y="373320"/>
            <a:ext cx="5551920" cy="2747520"/>
            <a:chOff x="129240" y="373320"/>
            <a:chExt cx="5551920" cy="2747520"/>
          </a:xfrm>
        </p:grpSpPr>
        <p:sp>
          <p:nvSpPr>
            <p:cNvPr id="742" name="CustomShape 3"/>
            <p:cNvSpPr/>
            <p:nvPr/>
          </p:nvSpPr>
          <p:spPr>
            <a:xfrm>
              <a:off x="129240" y="3733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43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5580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44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5454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45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42408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46" name="CustomShape 4"/>
            <p:cNvSpPr/>
            <p:nvPr/>
          </p:nvSpPr>
          <p:spPr>
            <a:xfrm>
              <a:off x="129240" y="41796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4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7" name="CustomShape 5"/>
            <p:cNvSpPr/>
            <p:nvPr/>
          </p:nvSpPr>
          <p:spPr>
            <a:xfrm>
              <a:off x="5630760" y="46224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70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8" name="CustomShape 6"/>
            <p:cNvSpPr/>
            <p:nvPr/>
          </p:nvSpPr>
          <p:spPr>
            <a:xfrm>
              <a:off x="5630760" y="449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9" name="CustomShape 7"/>
            <p:cNvSpPr/>
            <p:nvPr/>
          </p:nvSpPr>
          <p:spPr>
            <a:xfrm>
              <a:off x="5630760" y="436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0" name="CustomShape 8"/>
            <p:cNvSpPr/>
            <p:nvPr/>
          </p:nvSpPr>
          <p:spPr>
            <a:xfrm>
              <a:off x="5630760" y="424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1" name="CustomShape 9"/>
            <p:cNvSpPr/>
            <p:nvPr/>
          </p:nvSpPr>
          <p:spPr>
            <a:xfrm>
              <a:off x="129240" y="67536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52" name="object 14" descr=""/>
            <p:cNvPicPr/>
            <p:nvPr/>
          </p:nvPicPr>
          <p:blipFill>
            <a:blip r:embed="rId4"/>
            <a:stretch/>
          </p:blipFill>
          <p:spPr>
            <a:xfrm>
              <a:off x="180000" y="30193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53" name="object 15" descr=""/>
            <p:cNvPicPr/>
            <p:nvPr/>
          </p:nvPicPr>
          <p:blipFill>
            <a:blip r:embed="rId5"/>
            <a:stretch/>
          </p:blipFill>
          <p:spPr>
            <a:xfrm>
              <a:off x="230760" y="30067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54" name="object 16" descr=""/>
            <p:cNvPicPr/>
            <p:nvPr/>
          </p:nvPicPr>
          <p:blipFill>
            <a:blip r:embed="rId6"/>
            <a:stretch/>
          </p:blipFill>
          <p:spPr>
            <a:xfrm>
              <a:off x="5630760" y="725760"/>
              <a:ext cx="50400" cy="2293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755" name="CustomShape 10"/>
            <p:cNvSpPr/>
            <p:nvPr/>
          </p:nvSpPr>
          <p:spPr>
            <a:xfrm>
              <a:off x="129240" y="719640"/>
              <a:ext cx="5501880" cy="2350440"/>
            </a:xfrm>
            <a:custGeom>
              <a:avLst/>
              <a:gdLst/>
              <a:ahLst/>
              <a:rect l="l" t="t" r="r" b="b"/>
              <a:pathLst>
                <a:path w="5502275" h="2350770">
                  <a:moveTo>
                    <a:pt x="5501666" y="0"/>
                  </a:moveTo>
                  <a:lnTo>
                    <a:pt x="0" y="0"/>
                  </a:lnTo>
                  <a:lnTo>
                    <a:pt x="0" y="2299576"/>
                  </a:lnTo>
                  <a:lnTo>
                    <a:pt x="4008" y="2319301"/>
                  </a:lnTo>
                  <a:lnTo>
                    <a:pt x="14922" y="2335453"/>
                  </a:lnTo>
                  <a:lnTo>
                    <a:pt x="31075" y="2346368"/>
                  </a:lnTo>
                  <a:lnTo>
                    <a:pt x="50800" y="2350376"/>
                  </a:lnTo>
                  <a:lnTo>
                    <a:pt x="5450866" y="2350376"/>
                  </a:lnTo>
                  <a:lnTo>
                    <a:pt x="5470590" y="2346368"/>
                  </a:lnTo>
                  <a:lnTo>
                    <a:pt x="5486743" y="2335453"/>
                  </a:lnTo>
                  <a:lnTo>
                    <a:pt x="5497657" y="2319301"/>
                  </a:lnTo>
                  <a:lnTo>
                    <a:pt x="5501666" y="2299576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6" name="CustomShape 11"/>
            <p:cNvSpPr/>
            <p:nvPr/>
          </p:nvSpPr>
          <p:spPr>
            <a:xfrm>
              <a:off x="5630760" y="763920"/>
              <a:ext cx="360" cy="2274120"/>
            </a:xfrm>
            <a:custGeom>
              <a:avLst/>
              <a:gdLst/>
              <a:ahLst/>
              <a:rect l="l" t="t" r="r" b="b"/>
              <a:pathLst>
                <a:path w="0" h="2274570">
                  <a:moveTo>
                    <a:pt x="0" y="2274391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7" name="CustomShape 12"/>
            <p:cNvSpPr/>
            <p:nvPr/>
          </p:nvSpPr>
          <p:spPr>
            <a:xfrm>
              <a:off x="5630760" y="7513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8" name="CustomShape 13"/>
            <p:cNvSpPr/>
            <p:nvPr/>
          </p:nvSpPr>
          <p:spPr>
            <a:xfrm>
              <a:off x="5630760" y="7383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9" name="CustomShape 14"/>
            <p:cNvSpPr/>
            <p:nvPr/>
          </p:nvSpPr>
          <p:spPr>
            <a:xfrm>
              <a:off x="5630760" y="7257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60" name="object 22" descr=""/>
            <p:cNvPicPr/>
            <p:nvPr/>
          </p:nvPicPr>
          <p:blipFill>
            <a:blip r:embed="rId7"/>
            <a:stretch/>
          </p:blipFill>
          <p:spPr>
            <a:xfrm>
              <a:off x="299520" y="7653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1" name="object 23" descr=""/>
            <p:cNvPicPr/>
            <p:nvPr/>
          </p:nvPicPr>
          <p:blipFill>
            <a:blip r:embed="rId8"/>
            <a:stretch/>
          </p:blipFill>
          <p:spPr>
            <a:xfrm>
              <a:off x="566280" y="9435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2" name="object 24" descr=""/>
            <p:cNvPicPr/>
            <p:nvPr/>
          </p:nvPicPr>
          <p:blipFill>
            <a:blip r:embed="rId9"/>
            <a:stretch/>
          </p:blipFill>
          <p:spPr>
            <a:xfrm>
              <a:off x="299520" y="13852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3" name="object 25" descr=""/>
            <p:cNvPicPr/>
            <p:nvPr/>
          </p:nvPicPr>
          <p:blipFill>
            <a:blip r:embed="rId10"/>
            <a:stretch/>
          </p:blipFill>
          <p:spPr>
            <a:xfrm>
              <a:off x="566280" y="17028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4" name="object 26" descr=""/>
            <p:cNvPicPr/>
            <p:nvPr/>
          </p:nvPicPr>
          <p:blipFill>
            <a:blip r:embed="rId11"/>
            <a:stretch/>
          </p:blipFill>
          <p:spPr>
            <a:xfrm>
              <a:off x="566280" y="18417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5" name="object 27" descr=""/>
            <p:cNvPicPr/>
            <p:nvPr/>
          </p:nvPicPr>
          <p:blipFill>
            <a:blip r:embed="rId12"/>
            <a:stretch/>
          </p:blipFill>
          <p:spPr>
            <a:xfrm>
              <a:off x="566280" y="19810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6" name="object 28" descr=""/>
            <p:cNvPicPr/>
            <p:nvPr/>
          </p:nvPicPr>
          <p:blipFill>
            <a:blip r:embed="rId13"/>
            <a:stretch/>
          </p:blipFill>
          <p:spPr>
            <a:xfrm>
              <a:off x="299520" y="21445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7" name="object 29" descr=""/>
            <p:cNvPicPr/>
            <p:nvPr/>
          </p:nvPicPr>
          <p:blipFill>
            <a:blip r:embed="rId14"/>
            <a:stretch/>
          </p:blipFill>
          <p:spPr>
            <a:xfrm>
              <a:off x="566280" y="23227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8" name="object 30" descr=""/>
            <p:cNvPicPr/>
            <p:nvPr/>
          </p:nvPicPr>
          <p:blipFill>
            <a:blip r:embed="rId15"/>
            <a:stretch/>
          </p:blipFill>
          <p:spPr>
            <a:xfrm>
              <a:off x="566280" y="24616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69" name="object 31" descr=""/>
            <p:cNvPicPr/>
            <p:nvPr/>
          </p:nvPicPr>
          <p:blipFill>
            <a:blip r:embed="rId16"/>
            <a:stretch/>
          </p:blipFill>
          <p:spPr>
            <a:xfrm>
              <a:off x="299520" y="26254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70" name="object 32" descr=""/>
            <p:cNvPicPr/>
            <p:nvPr/>
          </p:nvPicPr>
          <p:blipFill>
            <a:blip r:embed="rId17"/>
            <a:stretch/>
          </p:blipFill>
          <p:spPr>
            <a:xfrm>
              <a:off x="566280" y="28033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71" name="object 33" descr=""/>
            <p:cNvPicPr/>
            <p:nvPr/>
          </p:nvPicPr>
          <p:blipFill>
            <a:blip r:embed="rId18"/>
            <a:stretch/>
          </p:blipFill>
          <p:spPr>
            <a:xfrm>
              <a:off x="566280" y="294264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72" name="CustomShape 15"/>
          <p:cNvSpPr/>
          <p:nvPr/>
        </p:nvSpPr>
        <p:spPr>
          <a:xfrm>
            <a:off x="167400" y="397080"/>
            <a:ext cx="5344920" cy="276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8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Can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we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capture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the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laws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thought?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</a:pPr>
            <a:r>
              <a:rPr b="0" lang="en-US" sz="1000" spc="-1" strike="noStrike">
                <a:latin typeface="Arial"/>
              </a:rPr>
              <a:t>Aristotle:</a:t>
            </a:r>
            <a:r>
              <a:rPr b="0" lang="en-US" sz="1000" spc="49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What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are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correct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argument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thought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processes?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1000"/>
              </a:lnSpc>
              <a:spcBef>
                <a:spcPts val="181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codify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“right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thinking”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i.e.</a:t>
            </a:r>
            <a:r>
              <a:rPr b="0" lang="en-US" sz="900" spc="2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irrefutable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reasoning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processes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syllogisms):</a:t>
            </a:r>
            <a:r>
              <a:rPr b="0" lang="en-US" sz="900" spc="29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(e.g.</a:t>
            </a:r>
            <a:r>
              <a:rPr b="0" lang="en-US" sz="900" spc="29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“all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men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mortal;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Socrates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man;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therefore,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Socrates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mortal”)</a:t>
            </a:r>
            <a:endParaRPr b="0" lang="en-US" sz="900" spc="-1" strike="noStrike">
              <a:latin typeface="Arial"/>
            </a:endParaRPr>
          </a:p>
          <a:p>
            <a:pPr marL="26676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900" spc="143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Logic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Logical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inference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ts val="1100"/>
              </a:lnSpc>
              <a:spcBef>
                <a:spcPts val="33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Logicist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tradition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AI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hopes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create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intelligent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systems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using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logic-based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inference systems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70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“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algorithm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=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logic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+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control”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20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logic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programming,</a:t>
            </a:r>
            <a:r>
              <a:rPr b="0" lang="en-US" sz="9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automated-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deduction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systems,</a:t>
            </a:r>
            <a:r>
              <a:rPr b="0" lang="en-US" sz="9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...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logics:</a:t>
            </a:r>
            <a:r>
              <a:rPr b="0" lang="en-US" sz="900" spc="2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propositional,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first-order,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modal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&amp;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decription,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temporal,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...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46" strike="noStrike">
                <a:solidFill>
                  <a:srgbClr val="0000ff"/>
                </a:solidFill>
                <a:latin typeface="Arial"/>
              </a:rPr>
              <a:t>Two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main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limitations: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1000"/>
              </a:lnSpc>
              <a:spcBef>
                <a:spcPts val="181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not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easy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state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informal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into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formal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terms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logic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problems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undecidable</a:t>
            </a:r>
            <a:r>
              <a:rPr b="0" lang="en-US" sz="900" spc="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or</a:t>
            </a:r>
            <a:r>
              <a:rPr b="0" lang="en-US" sz="900" spc="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computationally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 very</a:t>
            </a:r>
            <a:r>
              <a:rPr b="0" lang="en-US" sz="900" spc="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hard</a:t>
            </a:r>
            <a:r>
              <a:rPr b="0" lang="en-US" sz="900" spc="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(NP-hard)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Logical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reasoning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currently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part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many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fields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1000"/>
              </a:lnSpc>
              <a:spcBef>
                <a:spcPts val="176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problem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solving,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representation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&amp;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reasoning,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planning,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does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not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exhaustively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cover 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73" name="TextShape 16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816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19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Rationally:</a:t>
            </a:r>
            <a:r>
              <a:rPr b="0" lang="en-US" sz="1400" spc="22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Rational-Agent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775" name="Group 2"/>
          <p:cNvGrpSpPr/>
          <p:nvPr/>
        </p:nvGrpSpPr>
        <p:grpSpPr>
          <a:xfrm>
            <a:off x="129240" y="357120"/>
            <a:ext cx="5551920" cy="2801520"/>
            <a:chOff x="129240" y="357120"/>
            <a:chExt cx="5551920" cy="2801520"/>
          </a:xfrm>
        </p:grpSpPr>
        <p:sp>
          <p:nvSpPr>
            <p:cNvPr id="776" name="CustomShape 3"/>
            <p:cNvSpPr/>
            <p:nvPr/>
          </p:nvSpPr>
          <p:spPr>
            <a:xfrm>
              <a:off x="129240" y="3571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77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5418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78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5288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79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407520"/>
              <a:ext cx="50400" cy="133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80" name="CustomShape 4"/>
            <p:cNvSpPr/>
            <p:nvPr/>
          </p:nvSpPr>
          <p:spPr>
            <a:xfrm>
              <a:off x="129240" y="401400"/>
              <a:ext cx="5501880" cy="190800"/>
            </a:xfrm>
            <a:custGeom>
              <a:avLst/>
              <a:gdLst/>
              <a:ahLst/>
              <a:rect l="l" t="t" r="r" b="b"/>
              <a:pathLst>
                <a:path w="5502275" h="191134">
                  <a:moveTo>
                    <a:pt x="5501666" y="0"/>
                  </a:moveTo>
                  <a:lnTo>
                    <a:pt x="0" y="0"/>
                  </a:lnTo>
                  <a:lnTo>
                    <a:pt x="0" y="140144"/>
                  </a:lnTo>
                  <a:lnTo>
                    <a:pt x="4008" y="159869"/>
                  </a:lnTo>
                  <a:lnTo>
                    <a:pt x="14922" y="176022"/>
                  </a:lnTo>
                  <a:lnTo>
                    <a:pt x="31075" y="186936"/>
                  </a:lnTo>
                  <a:lnTo>
                    <a:pt x="50800" y="190944"/>
                  </a:lnTo>
                  <a:lnTo>
                    <a:pt x="5450866" y="190944"/>
                  </a:lnTo>
                  <a:lnTo>
                    <a:pt x="5470590" y="186936"/>
                  </a:lnTo>
                  <a:lnTo>
                    <a:pt x="5486743" y="176022"/>
                  </a:lnTo>
                  <a:lnTo>
                    <a:pt x="5497657" y="159869"/>
                  </a:lnTo>
                  <a:lnTo>
                    <a:pt x="5501666" y="14014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CustomShape 5"/>
            <p:cNvSpPr/>
            <p:nvPr/>
          </p:nvSpPr>
          <p:spPr>
            <a:xfrm>
              <a:off x="5630760" y="445680"/>
              <a:ext cx="360" cy="115200"/>
            </a:xfrm>
            <a:custGeom>
              <a:avLst/>
              <a:gdLst/>
              <a:ahLst/>
              <a:rect l="l" t="t" r="r" b="b"/>
              <a:pathLst>
                <a:path w="0" h="115570">
                  <a:moveTo>
                    <a:pt x="0" y="11495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CustomShape 6"/>
            <p:cNvSpPr/>
            <p:nvPr/>
          </p:nvSpPr>
          <p:spPr>
            <a:xfrm>
              <a:off x="5630760" y="433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CustomShape 7"/>
            <p:cNvSpPr/>
            <p:nvPr/>
          </p:nvSpPr>
          <p:spPr>
            <a:xfrm>
              <a:off x="5630760" y="420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CustomShape 8"/>
            <p:cNvSpPr/>
            <p:nvPr/>
          </p:nvSpPr>
          <p:spPr>
            <a:xfrm>
              <a:off x="5630760" y="4075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CustomShape 9"/>
            <p:cNvSpPr/>
            <p:nvPr/>
          </p:nvSpPr>
          <p:spPr>
            <a:xfrm>
              <a:off x="129240" y="634320"/>
              <a:ext cx="5501880" cy="181800"/>
            </a:xfrm>
            <a:custGeom>
              <a:avLst/>
              <a:gdLst/>
              <a:ahLst/>
              <a:rect l="l" t="t" r="r" b="b"/>
              <a:pathLst>
                <a:path w="5502275" h="18224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708"/>
                  </a:lnTo>
                  <a:lnTo>
                    <a:pt x="5501666" y="18170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86" name="object 14" descr=""/>
            <p:cNvPicPr/>
            <p:nvPr/>
          </p:nvPicPr>
          <p:blipFill>
            <a:blip r:embed="rId4"/>
            <a:stretch/>
          </p:blipFill>
          <p:spPr>
            <a:xfrm>
              <a:off x="129240" y="80352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87" name="object 15" descr=""/>
            <p:cNvPicPr/>
            <p:nvPr/>
          </p:nvPicPr>
          <p:blipFill>
            <a:blip r:embed="rId5"/>
            <a:stretch/>
          </p:blipFill>
          <p:spPr>
            <a:xfrm>
              <a:off x="180000" y="30571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88" name="object 16" descr=""/>
            <p:cNvPicPr/>
            <p:nvPr/>
          </p:nvPicPr>
          <p:blipFill>
            <a:blip r:embed="rId6"/>
            <a:stretch/>
          </p:blipFill>
          <p:spPr>
            <a:xfrm>
              <a:off x="230760" y="30445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89" name="object 17" descr=""/>
            <p:cNvPicPr/>
            <p:nvPr/>
          </p:nvPicPr>
          <p:blipFill>
            <a:blip r:embed="rId7"/>
            <a:stretch/>
          </p:blipFill>
          <p:spPr>
            <a:xfrm>
              <a:off x="5630760" y="678600"/>
              <a:ext cx="50400" cy="2378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90" name="CustomShape 10"/>
            <p:cNvSpPr/>
            <p:nvPr/>
          </p:nvSpPr>
          <p:spPr>
            <a:xfrm>
              <a:off x="129240" y="847800"/>
              <a:ext cx="5501880" cy="2260080"/>
            </a:xfrm>
            <a:custGeom>
              <a:avLst/>
              <a:gdLst/>
              <a:ahLst/>
              <a:rect l="l" t="t" r="r" b="b"/>
              <a:pathLst>
                <a:path w="5502275" h="2260600">
                  <a:moveTo>
                    <a:pt x="5501666" y="0"/>
                  </a:moveTo>
                  <a:lnTo>
                    <a:pt x="0" y="0"/>
                  </a:lnTo>
                  <a:lnTo>
                    <a:pt x="0" y="2209469"/>
                  </a:lnTo>
                  <a:lnTo>
                    <a:pt x="4008" y="2229194"/>
                  </a:lnTo>
                  <a:lnTo>
                    <a:pt x="14922" y="2245347"/>
                  </a:lnTo>
                  <a:lnTo>
                    <a:pt x="31075" y="2256261"/>
                  </a:lnTo>
                  <a:lnTo>
                    <a:pt x="50800" y="2260270"/>
                  </a:lnTo>
                  <a:lnTo>
                    <a:pt x="5450866" y="2260270"/>
                  </a:lnTo>
                  <a:lnTo>
                    <a:pt x="5470590" y="2256261"/>
                  </a:lnTo>
                  <a:lnTo>
                    <a:pt x="5486743" y="2245347"/>
                  </a:lnTo>
                  <a:lnTo>
                    <a:pt x="5497657" y="2229194"/>
                  </a:lnTo>
                  <a:lnTo>
                    <a:pt x="5501666" y="2209469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CustomShape 11"/>
            <p:cNvSpPr/>
            <p:nvPr/>
          </p:nvSpPr>
          <p:spPr>
            <a:xfrm>
              <a:off x="5630760" y="716760"/>
              <a:ext cx="360" cy="2359440"/>
            </a:xfrm>
            <a:custGeom>
              <a:avLst/>
              <a:gdLst/>
              <a:ahLst/>
              <a:rect l="l" t="t" r="r" b="b"/>
              <a:pathLst>
                <a:path w="0" h="2359660">
                  <a:moveTo>
                    <a:pt x="0" y="235952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CustomShape 12"/>
            <p:cNvSpPr/>
            <p:nvPr/>
          </p:nvSpPr>
          <p:spPr>
            <a:xfrm>
              <a:off x="5630760" y="7041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CustomShape 13"/>
            <p:cNvSpPr/>
            <p:nvPr/>
          </p:nvSpPr>
          <p:spPr>
            <a:xfrm>
              <a:off x="5630760" y="6912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CustomShape 14"/>
            <p:cNvSpPr/>
            <p:nvPr/>
          </p:nvSpPr>
          <p:spPr>
            <a:xfrm>
              <a:off x="5630760" y="678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95" name="object 23" descr=""/>
            <p:cNvPicPr/>
            <p:nvPr/>
          </p:nvPicPr>
          <p:blipFill>
            <a:blip r:embed="rId8"/>
            <a:stretch/>
          </p:blipFill>
          <p:spPr>
            <a:xfrm>
              <a:off x="299520" y="8906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96" name="object 24" descr=""/>
            <p:cNvPicPr/>
            <p:nvPr/>
          </p:nvPicPr>
          <p:blipFill>
            <a:blip r:embed="rId9"/>
            <a:stretch/>
          </p:blipFill>
          <p:spPr>
            <a:xfrm>
              <a:off x="566280" y="10684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97" name="object 25" descr=""/>
            <p:cNvPicPr/>
            <p:nvPr/>
          </p:nvPicPr>
          <p:blipFill>
            <a:blip r:embed="rId10"/>
            <a:stretch/>
          </p:blipFill>
          <p:spPr>
            <a:xfrm>
              <a:off x="299520" y="12322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98" name="object 26" descr=""/>
            <p:cNvPicPr/>
            <p:nvPr/>
          </p:nvPicPr>
          <p:blipFill>
            <a:blip r:embed="rId11"/>
            <a:stretch/>
          </p:blipFill>
          <p:spPr>
            <a:xfrm>
              <a:off x="566280" y="14101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99" name="object 27" descr=""/>
            <p:cNvPicPr/>
            <p:nvPr/>
          </p:nvPicPr>
          <p:blipFill>
            <a:blip r:embed="rId12"/>
            <a:stretch/>
          </p:blipFill>
          <p:spPr>
            <a:xfrm>
              <a:off x="566280" y="15494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0" name="object 28" descr=""/>
            <p:cNvPicPr/>
            <p:nvPr/>
          </p:nvPicPr>
          <p:blipFill>
            <a:blip r:embed="rId13"/>
            <a:stretch/>
          </p:blipFill>
          <p:spPr>
            <a:xfrm>
              <a:off x="299520" y="17254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1" name="object 29" descr=""/>
            <p:cNvPicPr/>
            <p:nvPr/>
          </p:nvPicPr>
          <p:blipFill>
            <a:blip r:embed="rId14"/>
            <a:stretch/>
          </p:blipFill>
          <p:spPr>
            <a:xfrm>
              <a:off x="299520" y="19026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2" name="object 30" descr=""/>
            <p:cNvPicPr/>
            <p:nvPr/>
          </p:nvPicPr>
          <p:blipFill>
            <a:blip r:embed="rId15"/>
            <a:stretch/>
          </p:blipFill>
          <p:spPr>
            <a:xfrm>
              <a:off x="566280" y="20808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3" name="object 31" descr=""/>
            <p:cNvPicPr/>
            <p:nvPr/>
          </p:nvPicPr>
          <p:blipFill>
            <a:blip r:embed="rId16"/>
            <a:stretch/>
          </p:blipFill>
          <p:spPr>
            <a:xfrm>
              <a:off x="566280" y="22201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4" name="object 32" descr=""/>
            <p:cNvPicPr/>
            <p:nvPr/>
          </p:nvPicPr>
          <p:blipFill>
            <a:blip r:embed="rId17"/>
            <a:stretch/>
          </p:blipFill>
          <p:spPr>
            <a:xfrm>
              <a:off x="299520" y="23835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5" name="object 33" descr=""/>
            <p:cNvPicPr/>
            <p:nvPr/>
          </p:nvPicPr>
          <p:blipFill>
            <a:blip r:embed="rId18"/>
            <a:stretch/>
          </p:blipFill>
          <p:spPr>
            <a:xfrm>
              <a:off x="566280" y="25617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06" name="object 34" descr=""/>
            <p:cNvPicPr/>
            <p:nvPr/>
          </p:nvPicPr>
          <p:blipFill>
            <a:blip r:embed="rId19"/>
            <a:stretch/>
          </p:blipFill>
          <p:spPr>
            <a:xfrm>
              <a:off x="566280" y="284004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07" name="CustomShape 15"/>
          <p:cNvSpPr/>
          <p:nvPr/>
        </p:nvSpPr>
        <p:spPr>
          <a:xfrm>
            <a:off x="167400" y="380520"/>
            <a:ext cx="5179320" cy="282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Problem:</a:t>
            </a:r>
            <a:r>
              <a:rPr b="0" lang="en-US" sz="1000" spc="38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Can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we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make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systems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“do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the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right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thing”?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0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Rational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Agents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380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An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agent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entity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that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perceives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acts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persists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over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prolonged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time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period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rational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agent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acts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so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as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1000"/>
              </a:lnSpc>
              <a:spcBef>
                <a:spcPts val="181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achieve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best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outcome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(maximize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goal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achievement),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or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achieve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best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expected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outcome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(under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uncertainty)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Rational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agents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need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all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skills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needed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Turing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Test!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1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Thinking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rationally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sometimes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part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being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rational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agent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e.g.</a:t>
            </a:r>
            <a:r>
              <a:rPr b="0" lang="en-US" sz="900" spc="24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planning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action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sometimes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action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without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thinking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(e.g.</a:t>
            </a:r>
            <a:r>
              <a:rPr b="0" lang="en-US" sz="900" spc="1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reflexes)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46" strike="noStrike">
                <a:solidFill>
                  <a:srgbClr val="c92626"/>
                </a:solidFill>
                <a:latin typeface="Arial"/>
              </a:rPr>
              <a:t>Two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advantages</a:t>
            </a:r>
            <a:r>
              <a:rPr b="0" lang="en-US" sz="1000" spc="-4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over</a:t>
            </a:r>
            <a:r>
              <a:rPr b="0" lang="en-US" sz="10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previous</a:t>
            </a:r>
            <a:r>
              <a:rPr b="0" lang="en-US" sz="10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approaches: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1000"/>
              </a:lnSpc>
              <a:spcBef>
                <a:spcPts val="181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More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general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than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law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thoughts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approach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(correct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inference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is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just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one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several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possible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mechanisms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achieving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rationality)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1000"/>
              </a:lnSpc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More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amenable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scientific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development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than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human-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emulation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approaches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(rationality mathematically</a:t>
            </a:r>
            <a:r>
              <a:rPr b="0" lang="en-US" sz="9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well defined &amp;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general)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8" name="TextShape 16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Acting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Rationally:</a:t>
            </a:r>
            <a:r>
              <a:rPr b="0" lang="en-US" sz="1400" spc="22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11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Rational-Agent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Approach</a:t>
            </a:r>
            <a:r>
              <a:rPr b="0" lang="en-US" sz="1400" spc="11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1" strike="noStrike">
                <a:solidFill>
                  <a:srgbClr val="3333b2"/>
                </a:solidFill>
                <a:latin typeface="Arial"/>
              </a:rPr>
              <a:t>[c.]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810" name="Group 2"/>
          <p:cNvGrpSpPr/>
          <p:nvPr/>
        </p:nvGrpSpPr>
        <p:grpSpPr>
          <a:xfrm>
            <a:off x="129240" y="868320"/>
            <a:ext cx="5551920" cy="437760"/>
            <a:chOff x="129240" y="868320"/>
            <a:chExt cx="5551920" cy="437760"/>
          </a:xfrm>
        </p:grpSpPr>
        <p:sp>
          <p:nvSpPr>
            <p:cNvPr id="811" name="CustomShape 3"/>
            <p:cNvSpPr/>
            <p:nvPr/>
          </p:nvSpPr>
          <p:spPr>
            <a:xfrm>
              <a:off x="129240" y="86832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12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12045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13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11919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14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918720"/>
              <a:ext cx="50400" cy="285480"/>
            </a:xfrm>
            <a:prstGeom prst="rect">
              <a:avLst/>
            </a:prstGeom>
            <a:ln>
              <a:noFill/>
            </a:ln>
          </p:spPr>
        </p:pic>
        <p:sp>
          <p:nvSpPr>
            <p:cNvPr id="815" name="CustomShape 4"/>
            <p:cNvSpPr/>
            <p:nvPr/>
          </p:nvSpPr>
          <p:spPr>
            <a:xfrm>
              <a:off x="129240" y="912600"/>
              <a:ext cx="5501880" cy="342720"/>
            </a:xfrm>
            <a:custGeom>
              <a:avLst/>
              <a:gdLst/>
              <a:ahLst/>
              <a:rect l="l" t="t" r="r" b="b"/>
              <a:pathLst>
                <a:path w="5502275" h="342900">
                  <a:moveTo>
                    <a:pt x="5501666" y="0"/>
                  </a:moveTo>
                  <a:lnTo>
                    <a:pt x="0" y="0"/>
                  </a:lnTo>
                  <a:lnTo>
                    <a:pt x="0" y="291976"/>
                  </a:lnTo>
                  <a:lnTo>
                    <a:pt x="4008" y="311701"/>
                  </a:lnTo>
                  <a:lnTo>
                    <a:pt x="14922" y="327854"/>
                  </a:lnTo>
                  <a:lnTo>
                    <a:pt x="31075" y="338768"/>
                  </a:lnTo>
                  <a:lnTo>
                    <a:pt x="50800" y="342777"/>
                  </a:lnTo>
                  <a:lnTo>
                    <a:pt x="5450866" y="342777"/>
                  </a:lnTo>
                  <a:lnTo>
                    <a:pt x="5470590" y="338768"/>
                  </a:lnTo>
                  <a:lnTo>
                    <a:pt x="5486743" y="327854"/>
                  </a:lnTo>
                  <a:lnTo>
                    <a:pt x="5497657" y="311701"/>
                  </a:lnTo>
                  <a:lnTo>
                    <a:pt x="5501666" y="291976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6" name="CustomShape 5"/>
            <p:cNvSpPr/>
            <p:nvPr/>
          </p:nvSpPr>
          <p:spPr>
            <a:xfrm>
              <a:off x="5630760" y="956880"/>
              <a:ext cx="360" cy="267120"/>
            </a:xfrm>
            <a:custGeom>
              <a:avLst/>
              <a:gdLst/>
              <a:ahLst/>
              <a:rect l="l" t="t" r="r" b="b"/>
              <a:pathLst>
                <a:path w="0" h="267334">
                  <a:moveTo>
                    <a:pt x="0" y="26678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CustomShape 6"/>
            <p:cNvSpPr/>
            <p:nvPr/>
          </p:nvSpPr>
          <p:spPr>
            <a:xfrm>
              <a:off x="5630760" y="944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CustomShape 7"/>
            <p:cNvSpPr/>
            <p:nvPr/>
          </p:nvSpPr>
          <p:spPr>
            <a:xfrm>
              <a:off x="5630760" y="9313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CustomShape 8"/>
            <p:cNvSpPr/>
            <p:nvPr/>
          </p:nvSpPr>
          <p:spPr>
            <a:xfrm>
              <a:off x="5630760" y="9187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0" name="Group 9"/>
          <p:cNvGrpSpPr/>
          <p:nvPr/>
        </p:nvGrpSpPr>
        <p:grpSpPr>
          <a:xfrm>
            <a:off x="129240" y="1407240"/>
            <a:ext cx="5551920" cy="1088280"/>
            <a:chOff x="129240" y="1407240"/>
            <a:chExt cx="5551920" cy="1088280"/>
          </a:xfrm>
        </p:grpSpPr>
        <p:sp>
          <p:nvSpPr>
            <p:cNvPr id="821" name="CustomShape 10"/>
            <p:cNvSpPr/>
            <p:nvPr/>
          </p:nvSpPr>
          <p:spPr>
            <a:xfrm>
              <a:off x="129240" y="1407240"/>
              <a:ext cx="5501880" cy="172440"/>
            </a:xfrm>
            <a:custGeom>
              <a:avLst/>
              <a:gdLst/>
              <a:ahLst/>
              <a:rect l="l" t="t" r="r" b="b"/>
              <a:pathLst>
                <a:path w="5502275" h="172719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2534"/>
                  </a:lnTo>
                  <a:lnTo>
                    <a:pt x="5501666" y="17253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f4d3d3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22" name="object 15" descr=""/>
            <p:cNvPicPr/>
            <p:nvPr/>
          </p:nvPicPr>
          <p:blipFill>
            <a:blip r:embed="rId4"/>
            <a:stretch/>
          </p:blipFill>
          <p:spPr>
            <a:xfrm>
              <a:off x="129240" y="156708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23" name="object 16" descr=""/>
            <p:cNvPicPr/>
            <p:nvPr/>
          </p:nvPicPr>
          <p:blipFill>
            <a:blip r:embed="rId5"/>
            <a:stretch/>
          </p:blipFill>
          <p:spPr>
            <a:xfrm>
              <a:off x="180000" y="23940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24" name="object 17" descr=""/>
            <p:cNvPicPr/>
            <p:nvPr/>
          </p:nvPicPr>
          <p:blipFill>
            <a:blip r:embed="rId6"/>
            <a:stretch/>
          </p:blipFill>
          <p:spPr>
            <a:xfrm>
              <a:off x="230760" y="23814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25" name="object 18" descr=""/>
            <p:cNvPicPr/>
            <p:nvPr/>
          </p:nvPicPr>
          <p:blipFill>
            <a:blip r:embed="rId7"/>
            <a:stretch/>
          </p:blipFill>
          <p:spPr>
            <a:xfrm>
              <a:off x="5630760" y="1451520"/>
              <a:ext cx="50400" cy="942120"/>
            </a:xfrm>
            <a:prstGeom prst="rect">
              <a:avLst/>
            </a:prstGeom>
            <a:ln>
              <a:noFill/>
            </a:ln>
          </p:spPr>
        </p:pic>
        <p:sp>
          <p:nvSpPr>
            <p:cNvPr id="826" name="CustomShape 11"/>
            <p:cNvSpPr/>
            <p:nvPr/>
          </p:nvSpPr>
          <p:spPr>
            <a:xfrm>
              <a:off x="129240" y="1611360"/>
              <a:ext cx="5501880" cy="833400"/>
            </a:xfrm>
            <a:custGeom>
              <a:avLst/>
              <a:gdLst/>
              <a:ahLst/>
              <a:rect l="l" t="t" r="r" b="b"/>
              <a:pathLst>
                <a:path w="5502275" h="833755">
                  <a:moveTo>
                    <a:pt x="5501666" y="0"/>
                  </a:moveTo>
                  <a:lnTo>
                    <a:pt x="0" y="0"/>
                  </a:lnTo>
                  <a:lnTo>
                    <a:pt x="0" y="782617"/>
                  </a:lnTo>
                  <a:lnTo>
                    <a:pt x="4008" y="802341"/>
                  </a:lnTo>
                  <a:lnTo>
                    <a:pt x="14922" y="818494"/>
                  </a:lnTo>
                  <a:lnTo>
                    <a:pt x="31075" y="829409"/>
                  </a:lnTo>
                  <a:lnTo>
                    <a:pt x="50800" y="833417"/>
                  </a:lnTo>
                  <a:lnTo>
                    <a:pt x="5450866" y="833417"/>
                  </a:lnTo>
                  <a:lnTo>
                    <a:pt x="5470590" y="829409"/>
                  </a:lnTo>
                  <a:lnTo>
                    <a:pt x="5486743" y="818494"/>
                  </a:lnTo>
                  <a:lnTo>
                    <a:pt x="5497657" y="802341"/>
                  </a:lnTo>
                  <a:lnTo>
                    <a:pt x="5501666" y="78261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f9e9e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7" name="CustomShape 12"/>
            <p:cNvSpPr/>
            <p:nvPr/>
          </p:nvSpPr>
          <p:spPr>
            <a:xfrm>
              <a:off x="5630760" y="1489680"/>
              <a:ext cx="360" cy="923400"/>
            </a:xfrm>
            <a:custGeom>
              <a:avLst/>
              <a:gdLst/>
              <a:ahLst/>
              <a:rect l="l" t="t" r="r" b="b"/>
              <a:pathLst>
                <a:path w="0" h="923925">
                  <a:moveTo>
                    <a:pt x="0" y="92349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8" name="CustomShape 13"/>
            <p:cNvSpPr/>
            <p:nvPr/>
          </p:nvSpPr>
          <p:spPr>
            <a:xfrm>
              <a:off x="5630760" y="1477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9" name="CustomShape 14"/>
            <p:cNvSpPr/>
            <p:nvPr/>
          </p:nvSpPr>
          <p:spPr>
            <a:xfrm>
              <a:off x="5630760" y="14641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0" name="CustomShape 15"/>
            <p:cNvSpPr/>
            <p:nvPr/>
          </p:nvSpPr>
          <p:spPr>
            <a:xfrm>
              <a:off x="5630760" y="14515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31" name="object 24" descr=""/>
            <p:cNvPicPr/>
            <p:nvPr/>
          </p:nvPicPr>
          <p:blipFill>
            <a:blip r:embed="rId8"/>
            <a:stretch/>
          </p:blipFill>
          <p:spPr>
            <a:xfrm>
              <a:off x="299520" y="16570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32" name="object 25" descr=""/>
            <p:cNvPicPr/>
            <p:nvPr/>
          </p:nvPicPr>
          <p:blipFill>
            <a:blip r:embed="rId9"/>
            <a:stretch/>
          </p:blipFill>
          <p:spPr>
            <a:xfrm>
              <a:off x="566280" y="1835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33" name="object 26" descr=""/>
            <p:cNvPicPr/>
            <p:nvPr/>
          </p:nvPicPr>
          <p:blipFill>
            <a:blip r:embed="rId10"/>
            <a:stretch/>
          </p:blipFill>
          <p:spPr>
            <a:xfrm>
              <a:off x="566280" y="19746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34" name="object 27" descr=""/>
            <p:cNvPicPr/>
            <p:nvPr/>
          </p:nvPicPr>
          <p:blipFill>
            <a:blip r:embed="rId11"/>
            <a:stretch/>
          </p:blipFill>
          <p:spPr>
            <a:xfrm>
              <a:off x="566280" y="231624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35" name="CustomShape 16"/>
          <p:cNvSpPr/>
          <p:nvPr/>
        </p:nvSpPr>
        <p:spPr>
          <a:xfrm>
            <a:off x="153360" y="891720"/>
            <a:ext cx="5195880" cy="151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2664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This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course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concentrates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on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general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principles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rational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agents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components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for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constructing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them.</a:t>
            </a:r>
            <a:r>
              <a:rPr b="0" lang="en-US" sz="1000" spc="58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(Following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AIMA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book.)</a:t>
            </a:r>
            <a:endParaRPr b="0" lang="en-US" sz="1000" spc="-1" strike="noStrike">
              <a:latin typeface="Arial"/>
            </a:endParaRPr>
          </a:p>
          <a:p>
            <a:pPr marL="26640">
              <a:lnSpc>
                <a:spcPct val="100000"/>
              </a:lnSpc>
              <a:spcBef>
                <a:spcPts val="420"/>
              </a:spcBef>
            </a:pPr>
            <a:endParaRPr b="0" lang="en-US" sz="1000" spc="-1" strike="noStrike">
              <a:latin typeface="Arial"/>
            </a:endParaRPr>
          </a:p>
          <a:p>
            <a:pPr marL="26640">
              <a:lnSpc>
                <a:spcPct val="100000"/>
              </a:lnSpc>
              <a:spcBef>
                <a:spcPts val="6"/>
              </a:spcBef>
            </a:pP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Remark</a:t>
            </a:r>
            <a:endParaRPr b="0" lang="en-US" sz="1000" spc="-1" strike="noStrike">
              <a:latin typeface="Arial"/>
            </a:endParaRPr>
          </a:p>
          <a:p>
            <a:pPr marL="279360">
              <a:lnSpc>
                <a:spcPct val="100000"/>
              </a:lnSpc>
              <a:spcBef>
                <a:spcPts val="329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achieving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perfect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rationality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is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not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feasible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complex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environments</a:t>
            </a:r>
            <a:endParaRPr b="0" lang="en-US" sz="1000" spc="-1" strike="noStrike">
              <a:latin typeface="Arial"/>
            </a:endParaRPr>
          </a:p>
          <a:p>
            <a:pPr marL="53280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computational</a:t>
            </a:r>
            <a:r>
              <a:rPr b="0" lang="en-US" sz="900" spc="-4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demands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too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high</a:t>
            </a:r>
            <a:endParaRPr b="0" lang="en-US" sz="900" spc="-1" strike="noStrike">
              <a:latin typeface="Arial"/>
            </a:endParaRPr>
          </a:p>
          <a:p>
            <a:pPr marL="532800">
              <a:lnSpc>
                <a:spcPct val="100000"/>
              </a:lnSpc>
              <a:spcBef>
                <a:spcPts val="14"/>
              </a:spcBef>
            </a:pP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however,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good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working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hypothesis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starting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point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analysis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Lucida Sans Unicode"/>
              </a:rPr>
              <a:t>=⇒</a:t>
            </a:r>
            <a:r>
              <a:rPr b="0" lang="en-US" sz="1000" spc="97" strike="noStrike">
                <a:solidFill>
                  <a:srgbClr val="c92626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dealing</a:t>
            </a:r>
            <a:r>
              <a:rPr b="0" lang="en-US" sz="1000" spc="-4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with</a:t>
            </a:r>
            <a:r>
              <a:rPr b="0" lang="en-US" sz="1000" spc="-4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limited</a:t>
            </a:r>
            <a:r>
              <a:rPr b="0" lang="en-US" sz="1000" spc="-4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rationality</a:t>
            </a:r>
            <a:endParaRPr b="0" lang="en-US" sz="1000" spc="-1" strike="noStrike">
              <a:latin typeface="Arial"/>
            </a:endParaRPr>
          </a:p>
          <a:p>
            <a:pPr marL="53280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acting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appropriately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when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not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enough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time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do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all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computations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36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21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6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6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Classification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838" name="Group 2"/>
          <p:cNvGrpSpPr/>
          <p:nvPr/>
        </p:nvGrpSpPr>
        <p:grpSpPr>
          <a:xfrm>
            <a:off x="129240" y="721800"/>
            <a:ext cx="5551920" cy="798120"/>
            <a:chOff x="129240" y="721800"/>
            <a:chExt cx="5551920" cy="798120"/>
          </a:xfrm>
        </p:grpSpPr>
        <p:sp>
          <p:nvSpPr>
            <p:cNvPr id="839" name="CustomShape 3"/>
            <p:cNvSpPr/>
            <p:nvPr/>
          </p:nvSpPr>
          <p:spPr>
            <a:xfrm>
              <a:off x="129240" y="72180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40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89388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41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14184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42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14058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43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766080"/>
              <a:ext cx="50400" cy="651960"/>
            </a:xfrm>
            <a:prstGeom prst="rect">
              <a:avLst/>
            </a:prstGeom>
            <a:ln>
              <a:noFill/>
            </a:ln>
          </p:spPr>
        </p:pic>
        <p:sp>
          <p:nvSpPr>
            <p:cNvPr id="844" name="CustomShape 4"/>
            <p:cNvSpPr/>
            <p:nvPr/>
          </p:nvSpPr>
          <p:spPr>
            <a:xfrm>
              <a:off x="129240" y="938160"/>
              <a:ext cx="5501880" cy="531000"/>
            </a:xfrm>
            <a:custGeom>
              <a:avLst/>
              <a:gdLst/>
              <a:ahLst/>
              <a:rect l="l" t="t" r="r" b="b"/>
              <a:pathLst>
                <a:path w="5502275" h="531494">
                  <a:moveTo>
                    <a:pt x="5501666" y="0"/>
                  </a:moveTo>
                  <a:lnTo>
                    <a:pt x="0" y="0"/>
                  </a:lnTo>
                  <a:lnTo>
                    <a:pt x="0" y="480247"/>
                  </a:lnTo>
                  <a:lnTo>
                    <a:pt x="4008" y="499972"/>
                  </a:lnTo>
                  <a:lnTo>
                    <a:pt x="14922" y="516125"/>
                  </a:lnTo>
                  <a:lnTo>
                    <a:pt x="31075" y="527039"/>
                  </a:lnTo>
                  <a:lnTo>
                    <a:pt x="50800" y="531048"/>
                  </a:lnTo>
                  <a:lnTo>
                    <a:pt x="5450866" y="531048"/>
                  </a:lnTo>
                  <a:lnTo>
                    <a:pt x="5470590" y="527039"/>
                  </a:lnTo>
                  <a:lnTo>
                    <a:pt x="5486743" y="516125"/>
                  </a:lnTo>
                  <a:lnTo>
                    <a:pt x="5497657" y="499972"/>
                  </a:lnTo>
                  <a:lnTo>
                    <a:pt x="5501666" y="48024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5" name="CustomShape 5"/>
            <p:cNvSpPr/>
            <p:nvPr/>
          </p:nvSpPr>
          <p:spPr>
            <a:xfrm>
              <a:off x="5630760" y="804240"/>
              <a:ext cx="360" cy="633240"/>
            </a:xfrm>
            <a:custGeom>
              <a:avLst/>
              <a:gdLst/>
              <a:ahLst/>
              <a:rect l="l" t="t" r="r" b="b"/>
              <a:pathLst>
                <a:path w="0" h="633730">
                  <a:moveTo>
                    <a:pt x="0" y="63321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6" name="CustomShape 6"/>
            <p:cNvSpPr/>
            <p:nvPr/>
          </p:nvSpPr>
          <p:spPr>
            <a:xfrm>
              <a:off x="5630760" y="791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7" name="CustomShape 7"/>
            <p:cNvSpPr/>
            <p:nvPr/>
          </p:nvSpPr>
          <p:spPr>
            <a:xfrm>
              <a:off x="5630760" y="778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8" name="CustomShape 8"/>
            <p:cNvSpPr/>
            <p:nvPr/>
          </p:nvSpPr>
          <p:spPr>
            <a:xfrm>
              <a:off x="5630760" y="766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49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9838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50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17360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851" name="Group 9"/>
          <p:cNvGrpSpPr/>
          <p:nvPr/>
        </p:nvGrpSpPr>
        <p:grpSpPr>
          <a:xfrm>
            <a:off x="129240" y="1621080"/>
            <a:ext cx="5551920" cy="1094040"/>
            <a:chOff x="129240" y="1621080"/>
            <a:chExt cx="5551920" cy="1094040"/>
          </a:xfrm>
        </p:grpSpPr>
        <p:sp>
          <p:nvSpPr>
            <p:cNvPr id="852" name="CustomShape 10"/>
            <p:cNvSpPr/>
            <p:nvPr/>
          </p:nvSpPr>
          <p:spPr>
            <a:xfrm>
              <a:off x="129240" y="1621080"/>
              <a:ext cx="5501880" cy="175680"/>
            </a:xfrm>
            <a:custGeom>
              <a:avLst/>
              <a:gdLst/>
              <a:ahLst/>
              <a:rect l="l" t="t" r="r" b="b"/>
              <a:pathLst>
                <a:path w="5502275" h="17589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445"/>
                  </a:lnTo>
                  <a:lnTo>
                    <a:pt x="5501666" y="175445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53" name="object 18" descr=""/>
            <p:cNvPicPr/>
            <p:nvPr/>
          </p:nvPicPr>
          <p:blipFill>
            <a:blip r:embed="rId7"/>
            <a:stretch/>
          </p:blipFill>
          <p:spPr>
            <a:xfrm>
              <a:off x="129240" y="17838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54" name="object 19" descr=""/>
            <p:cNvPicPr/>
            <p:nvPr/>
          </p:nvPicPr>
          <p:blipFill>
            <a:blip r:embed="rId8"/>
            <a:stretch/>
          </p:blipFill>
          <p:spPr>
            <a:xfrm>
              <a:off x="180000" y="26136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55" name="object 20" descr=""/>
            <p:cNvPicPr/>
            <p:nvPr/>
          </p:nvPicPr>
          <p:blipFill>
            <a:blip r:embed="rId9"/>
            <a:stretch/>
          </p:blipFill>
          <p:spPr>
            <a:xfrm>
              <a:off x="230760" y="26010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56" name="object 21" descr=""/>
            <p:cNvPicPr/>
            <p:nvPr/>
          </p:nvPicPr>
          <p:blipFill>
            <a:blip r:embed="rId10"/>
            <a:stretch/>
          </p:blipFill>
          <p:spPr>
            <a:xfrm>
              <a:off x="5630760" y="1665360"/>
              <a:ext cx="50400" cy="947880"/>
            </a:xfrm>
            <a:prstGeom prst="rect">
              <a:avLst/>
            </a:prstGeom>
            <a:ln>
              <a:noFill/>
            </a:ln>
          </p:spPr>
        </p:pic>
        <p:sp>
          <p:nvSpPr>
            <p:cNvPr id="857" name="CustomShape 11"/>
            <p:cNvSpPr/>
            <p:nvPr/>
          </p:nvSpPr>
          <p:spPr>
            <a:xfrm>
              <a:off x="129240" y="1828080"/>
              <a:ext cx="5501880" cy="835920"/>
            </a:xfrm>
            <a:custGeom>
              <a:avLst/>
              <a:gdLst/>
              <a:ahLst/>
              <a:rect l="l" t="t" r="r" b="b"/>
              <a:pathLst>
                <a:path w="5502275" h="836294">
                  <a:moveTo>
                    <a:pt x="5501666" y="0"/>
                  </a:moveTo>
                  <a:lnTo>
                    <a:pt x="0" y="0"/>
                  </a:lnTo>
                  <a:lnTo>
                    <a:pt x="0" y="785432"/>
                  </a:lnTo>
                  <a:lnTo>
                    <a:pt x="4008" y="805157"/>
                  </a:lnTo>
                  <a:lnTo>
                    <a:pt x="14922" y="821310"/>
                  </a:lnTo>
                  <a:lnTo>
                    <a:pt x="31075" y="832224"/>
                  </a:lnTo>
                  <a:lnTo>
                    <a:pt x="50800" y="836233"/>
                  </a:lnTo>
                  <a:lnTo>
                    <a:pt x="5450866" y="836233"/>
                  </a:lnTo>
                  <a:lnTo>
                    <a:pt x="5470590" y="832224"/>
                  </a:lnTo>
                  <a:lnTo>
                    <a:pt x="5486743" y="821310"/>
                  </a:lnTo>
                  <a:lnTo>
                    <a:pt x="5497657" y="805157"/>
                  </a:lnTo>
                  <a:lnTo>
                    <a:pt x="5501666" y="785432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8" name="CustomShape 12"/>
            <p:cNvSpPr/>
            <p:nvPr/>
          </p:nvSpPr>
          <p:spPr>
            <a:xfrm>
              <a:off x="5630760" y="1703520"/>
              <a:ext cx="360" cy="929160"/>
            </a:xfrm>
            <a:custGeom>
              <a:avLst/>
              <a:gdLst/>
              <a:ahLst/>
              <a:rect l="l" t="t" r="r" b="b"/>
              <a:pathLst>
                <a:path w="0" h="929639">
                  <a:moveTo>
                    <a:pt x="0" y="929221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9" name="CustomShape 13"/>
            <p:cNvSpPr/>
            <p:nvPr/>
          </p:nvSpPr>
          <p:spPr>
            <a:xfrm>
              <a:off x="5630760" y="16905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0" name="CustomShape 14"/>
            <p:cNvSpPr/>
            <p:nvPr/>
          </p:nvSpPr>
          <p:spPr>
            <a:xfrm>
              <a:off x="5630760" y="16779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1" name="CustomShape 15"/>
            <p:cNvSpPr/>
            <p:nvPr/>
          </p:nvSpPr>
          <p:spPr>
            <a:xfrm>
              <a:off x="5630760" y="16653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62" name="object 27" descr=""/>
            <p:cNvPicPr/>
            <p:nvPr/>
          </p:nvPicPr>
          <p:blipFill>
            <a:blip r:embed="rId11"/>
            <a:stretch/>
          </p:blipFill>
          <p:spPr>
            <a:xfrm>
              <a:off x="299520" y="1873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63" name="object 28" descr=""/>
            <p:cNvPicPr/>
            <p:nvPr/>
          </p:nvPicPr>
          <p:blipFill>
            <a:blip r:embed="rId12"/>
            <a:stretch/>
          </p:blipFill>
          <p:spPr>
            <a:xfrm>
              <a:off x="299520" y="221544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64" name="CustomShape 16"/>
          <p:cNvSpPr/>
          <p:nvPr/>
        </p:nvSpPr>
        <p:spPr>
          <a:xfrm>
            <a:off x="167400" y="662040"/>
            <a:ext cx="5218200" cy="19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>
            <a:spAutoFit/>
          </a:bodyPr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Weak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vs.</a:t>
            </a:r>
            <a:r>
              <a:rPr b="0" lang="en-US" sz="1000" spc="2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Strong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AI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24000"/>
              </a:lnSpc>
              <a:spcBef>
                <a:spcPts val="111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Weak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AI: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it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possible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build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systems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that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act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as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if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were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intelligent?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Strong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AI: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possible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build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systems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that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are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intelligent?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ts val="1196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(i.e.,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that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have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conscious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minds,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wills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sentiments?)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434"/>
              </a:spcBef>
            </a:pP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General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vs.</a:t>
            </a:r>
            <a:r>
              <a:rPr b="0" lang="en-US" sz="1000" spc="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Narrow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AI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329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General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refers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systems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able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cope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with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any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generalized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task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which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asked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it,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much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like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human.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ts val="1199"/>
              </a:lnSpc>
              <a:spcBef>
                <a:spcPts val="289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Narrow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refers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systems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able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handle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one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particular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task.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ts val="1199"/>
              </a:lnSpc>
              <a:spcBef>
                <a:spcPts val="34"/>
              </a:spcBef>
            </a:pPr>
            <a:r>
              <a:rPr b="0" lang="en-US" sz="1000" spc="-80" strike="noStrike">
                <a:solidFill>
                  <a:srgbClr val="0000ff"/>
                </a:solidFill>
                <a:latin typeface="Lucida Sans Unicode"/>
              </a:rPr>
              <a:t>=⇒</a:t>
            </a:r>
            <a:r>
              <a:rPr b="0" lang="en-US" sz="1000" spc="-41" strike="noStrike">
                <a:solidFill>
                  <a:srgbClr val="0000ff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system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displays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certain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degree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intelligence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only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particular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narrow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field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to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perform</a:t>
            </a:r>
            <a:r>
              <a:rPr b="0" lang="en-US" sz="10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highly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specialized</a:t>
            </a:r>
            <a:r>
              <a:rPr b="0" lang="en-US" sz="10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tasks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65" name="TextShape 17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22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Classification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867" name="Group 2"/>
          <p:cNvGrpSpPr/>
          <p:nvPr/>
        </p:nvGrpSpPr>
        <p:grpSpPr>
          <a:xfrm>
            <a:off x="129240" y="857520"/>
            <a:ext cx="5551920" cy="1654200"/>
            <a:chOff x="129240" y="857520"/>
            <a:chExt cx="5551920" cy="1654200"/>
          </a:xfrm>
        </p:grpSpPr>
        <p:sp>
          <p:nvSpPr>
            <p:cNvPr id="868" name="CustomShape 3"/>
            <p:cNvSpPr/>
            <p:nvPr/>
          </p:nvSpPr>
          <p:spPr>
            <a:xfrm>
              <a:off x="129240" y="85752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69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10278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70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4102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71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3976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72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901800"/>
              <a:ext cx="50400" cy="1508040"/>
            </a:xfrm>
            <a:prstGeom prst="rect">
              <a:avLst/>
            </a:prstGeom>
            <a:ln>
              <a:noFill/>
            </a:ln>
          </p:spPr>
        </p:pic>
        <p:sp>
          <p:nvSpPr>
            <p:cNvPr id="873" name="CustomShape 4"/>
            <p:cNvSpPr/>
            <p:nvPr/>
          </p:nvSpPr>
          <p:spPr>
            <a:xfrm>
              <a:off x="129240" y="1072080"/>
              <a:ext cx="5501880" cy="1388880"/>
            </a:xfrm>
            <a:custGeom>
              <a:avLst/>
              <a:gdLst/>
              <a:ahLst/>
              <a:rect l="l" t="t" r="r" b="b"/>
              <a:pathLst>
                <a:path w="5502275" h="1389380">
                  <a:moveTo>
                    <a:pt x="5501666" y="0"/>
                  </a:moveTo>
                  <a:lnTo>
                    <a:pt x="0" y="0"/>
                  </a:lnTo>
                  <a:lnTo>
                    <a:pt x="0" y="1337970"/>
                  </a:lnTo>
                  <a:lnTo>
                    <a:pt x="4008" y="1357695"/>
                  </a:lnTo>
                  <a:lnTo>
                    <a:pt x="14922" y="1373848"/>
                  </a:lnTo>
                  <a:lnTo>
                    <a:pt x="31075" y="1384762"/>
                  </a:lnTo>
                  <a:lnTo>
                    <a:pt x="50800" y="1388770"/>
                  </a:lnTo>
                  <a:lnTo>
                    <a:pt x="5450866" y="1388770"/>
                  </a:lnTo>
                  <a:lnTo>
                    <a:pt x="5470590" y="1384762"/>
                  </a:lnTo>
                  <a:lnTo>
                    <a:pt x="5486743" y="1373848"/>
                  </a:lnTo>
                  <a:lnTo>
                    <a:pt x="5497657" y="1357695"/>
                  </a:lnTo>
                  <a:lnTo>
                    <a:pt x="5501666" y="1337970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4" name="CustomShape 5"/>
            <p:cNvSpPr/>
            <p:nvPr/>
          </p:nvSpPr>
          <p:spPr>
            <a:xfrm>
              <a:off x="5630760" y="939960"/>
              <a:ext cx="360" cy="1489320"/>
            </a:xfrm>
            <a:custGeom>
              <a:avLst/>
              <a:gdLst/>
              <a:ahLst/>
              <a:rect l="l" t="t" r="r" b="b"/>
              <a:pathLst>
                <a:path w="0" h="1489710">
                  <a:moveTo>
                    <a:pt x="0" y="1489417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5" name="CustomShape 6"/>
            <p:cNvSpPr/>
            <p:nvPr/>
          </p:nvSpPr>
          <p:spPr>
            <a:xfrm>
              <a:off x="5630760" y="9270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6" name="CustomShape 7"/>
            <p:cNvSpPr/>
            <p:nvPr/>
          </p:nvSpPr>
          <p:spPr>
            <a:xfrm>
              <a:off x="5630760" y="9144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7" name="CustomShape 8"/>
            <p:cNvSpPr/>
            <p:nvPr/>
          </p:nvSpPr>
          <p:spPr>
            <a:xfrm>
              <a:off x="5630760" y="901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78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117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79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12960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0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14353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1" name="object 17" descr=""/>
            <p:cNvPicPr/>
            <p:nvPr/>
          </p:nvPicPr>
          <p:blipFill>
            <a:blip r:embed="rId8"/>
            <a:stretch/>
          </p:blipFill>
          <p:spPr>
            <a:xfrm>
              <a:off x="566280" y="1574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2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17377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3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19159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4" name="object 20" descr=""/>
            <p:cNvPicPr/>
            <p:nvPr/>
          </p:nvPicPr>
          <p:blipFill>
            <a:blip r:embed="rId11"/>
            <a:stretch/>
          </p:blipFill>
          <p:spPr>
            <a:xfrm>
              <a:off x="566280" y="20552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5" name="object 21" descr=""/>
            <p:cNvPicPr/>
            <p:nvPr/>
          </p:nvPicPr>
          <p:blipFill>
            <a:blip r:embed="rId12"/>
            <a:stretch/>
          </p:blipFill>
          <p:spPr>
            <a:xfrm>
              <a:off x="566280" y="21942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6" name="object 22" descr=""/>
            <p:cNvPicPr/>
            <p:nvPr/>
          </p:nvPicPr>
          <p:blipFill>
            <a:blip r:embed="rId13"/>
            <a:stretch/>
          </p:blipFill>
          <p:spPr>
            <a:xfrm>
              <a:off x="566280" y="233352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87" name="CustomShape 9"/>
          <p:cNvSpPr/>
          <p:nvPr/>
        </p:nvSpPr>
        <p:spPr>
          <a:xfrm>
            <a:off x="167400" y="799200"/>
            <a:ext cx="4628160" cy="161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>
            <a:spAutoFit/>
          </a:bodyPr>
          <a:p>
            <a:pPr marL="265320" indent="-253080">
              <a:lnSpc>
                <a:spcPct val="132000"/>
              </a:lnSpc>
              <a:spcBef>
                <a:spcPts val="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Symbolic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Approach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vs.</a:t>
            </a:r>
            <a:r>
              <a:rPr b="0" lang="en-US" sz="1000" spc="3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Connectionist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Approach </a:t>
            </a:r>
            <a:r>
              <a:rPr b="0" lang="en-US" sz="1000" spc="-41" strike="noStrike">
                <a:solidFill>
                  <a:srgbClr val="0000ff"/>
                </a:solidFill>
                <a:latin typeface="Arial"/>
              </a:rPr>
              <a:t>Top-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down,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or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Symbolic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Approach: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Symbolic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representation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Logics,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ontologies,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rule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based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systems,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declarative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architecture Human-understandable</a:t>
            </a:r>
            <a:r>
              <a:rPr b="0" lang="en-US" sz="900" spc="7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models</a:t>
            </a:r>
            <a:endParaRPr b="0" lang="en-US" sz="900" spc="-1" strike="noStrike">
              <a:latin typeface="Arial"/>
            </a:endParaRPr>
          </a:p>
          <a:p>
            <a:pPr marL="26532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Bottom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up,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or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Connectionist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Approach: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Based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Neural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networks.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1000"/>
              </a:lnSpc>
            </a:pP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not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symbolic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it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“encoded”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into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connections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between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neurons.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Concepts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learned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by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examples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Non</a:t>
            </a:r>
            <a:r>
              <a:rPr b="0" lang="en-US" sz="9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understandable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 by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humans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88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23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Outline</a:t>
            </a:r>
            <a:endParaRPr b="0" lang="en-US" sz="1400" spc="-1" strike="noStrike">
              <a:latin typeface="Calibri"/>
            </a:endParaRPr>
          </a:p>
        </p:txBody>
      </p:sp>
      <p:pic>
        <p:nvPicPr>
          <p:cNvPr id="890" name="object 3" descr=""/>
          <p:cNvPicPr/>
          <p:nvPr/>
        </p:nvPicPr>
        <p:blipFill>
          <a:blip r:embed="rId1"/>
          <a:stretch/>
        </p:blipFill>
        <p:spPr>
          <a:xfrm>
            <a:off x="127080" y="9003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891" name="CustomShape 2"/>
          <p:cNvSpPr/>
          <p:nvPr/>
        </p:nvSpPr>
        <p:spPr>
          <a:xfrm>
            <a:off x="175680" y="91656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1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92" name="CustomShape 3"/>
          <p:cNvSpPr/>
          <p:nvPr/>
        </p:nvSpPr>
        <p:spPr>
          <a:xfrm>
            <a:off x="349200" y="893520"/>
            <a:ext cx="12132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AI: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Fiction</a:t>
            </a:r>
            <a:r>
              <a:rPr b="0" lang="en-US" sz="1000" spc="-21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vs.</a:t>
            </a:r>
            <a:r>
              <a:rPr b="0" lang="en-US" sz="1000" spc="38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Reality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93" name="object 6" descr=""/>
          <p:cNvPicPr/>
          <p:nvPr/>
        </p:nvPicPr>
        <p:blipFill>
          <a:blip r:embed="rId2"/>
          <a:stretch/>
        </p:blipFill>
        <p:spPr>
          <a:xfrm>
            <a:off x="127080" y="13478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894" name="CustomShape 4"/>
          <p:cNvSpPr/>
          <p:nvPr/>
        </p:nvSpPr>
        <p:spPr>
          <a:xfrm>
            <a:off x="175680" y="13640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2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95" name="CustomShape 5"/>
          <p:cNvSpPr/>
          <p:nvPr/>
        </p:nvSpPr>
        <p:spPr>
          <a:xfrm>
            <a:off x="349200" y="1341000"/>
            <a:ext cx="6721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What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AI?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96" name="object 9" descr=""/>
          <p:cNvPicPr/>
          <p:nvPr/>
        </p:nvPicPr>
        <p:blipFill>
          <a:blip r:embed="rId3"/>
          <a:stretch/>
        </p:blipFill>
        <p:spPr>
          <a:xfrm>
            <a:off x="127080" y="17949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897" name="CustomShape 6"/>
          <p:cNvSpPr/>
          <p:nvPr/>
        </p:nvSpPr>
        <p:spPr>
          <a:xfrm>
            <a:off x="175680" y="18104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98" name="CustomShape 7"/>
          <p:cNvSpPr/>
          <p:nvPr/>
        </p:nvSpPr>
        <p:spPr>
          <a:xfrm>
            <a:off x="349200" y="1788120"/>
            <a:ext cx="1692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Foundations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and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History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99" name="object 12" descr=""/>
          <p:cNvPicPr/>
          <p:nvPr/>
        </p:nvPicPr>
        <p:blipFill>
          <a:blip r:embed="rId4"/>
          <a:stretch/>
        </p:blipFill>
        <p:spPr>
          <a:xfrm>
            <a:off x="127080" y="22424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900" name="CustomShape 8"/>
          <p:cNvSpPr/>
          <p:nvPr/>
        </p:nvSpPr>
        <p:spPr>
          <a:xfrm>
            <a:off x="175680" y="22586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4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901" name="CustomShape 9"/>
          <p:cNvSpPr/>
          <p:nvPr/>
        </p:nvSpPr>
        <p:spPr>
          <a:xfrm>
            <a:off x="349200" y="2235600"/>
            <a:ext cx="10645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AI: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State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Art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02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24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Foundations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8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Intelligence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904" name="Group 2"/>
          <p:cNvGrpSpPr/>
          <p:nvPr/>
        </p:nvGrpSpPr>
        <p:grpSpPr>
          <a:xfrm>
            <a:off x="129240" y="676080"/>
            <a:ext cx="5551920" cy="2107800"/>
            <a:chOff x="129240" y="676080"/>
            <a:chExt cx="5551920" cy="2107800"/>
          </a:xfrm>
        </p:grpSpPr>
        <p:sp>
          <p:nvSpPr>
            <p:cNvPr id="905" name="CustomShape 3"/>
            <p:cNvSpPr/>
            <p:nvPr/>
          </p:nvSpPr>
          <p:spPr>
            <a:xfrm>
              <a:off x="129240" y="67608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06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26823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07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26697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08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726480"/>
              <a:ext cx="50400" cy="195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909" name="CustomShape 4"/>
            <p:cNvSpPr/>
            <p:nvPr/>
          </p:nvSpPr>
          <p:spPr>
            <a:xfrm>
              <a:off x="129240" y="720360"/>
              <a:ext cx="5501880" cy="2012760"/>
            </a:xfrm>
            <a:custGeom>
              <a:avLst/>
              <a:gdLst/>
              <a:ahLst/>
              <a:rect l="l" t="t" r="r" b="b"/>
              <a:pathLst>
                <a:path w="5502275" h="2012950">
                  <a:moveTo>
                    <a:pt x="5501666" y="0"/>
                  </a:moveTo>
                  <a:lnTo>
                    <a:pt x="0" y="0"/>
                  </a:lnTo>
                  <a:lnTo>
                    <a:pt x="0" y="1962137"/>
                  </a:lnTo>
                  <a:lnTo>
                    <a:pt x="4008" y="1981862"/>
                  </a:lnTo>
                  <a:lnTo>
                    <a:pt x="14922" y="1998014"/>
                  </a:lnTo>
                  <a:lnTo>
                    <a:pt x="31075" y="2008929"/>
                  </a:lnTo>
                  <a:lnTo>
                    <a:pt x="50800" y="2012937"/>
                  </a:lnTo>
                  <a:lnTo>
                    <a:pt x="5450866" y="2012937"/>
                  </a:lnTo>
                  <a:lnTo>
                    <a:pt x="5470590" y="2008929"/>
                  </a:lnTo>
                  <a:lnTo>
                    <a:pt x="5486743" y="1998014"/>
                  </a:lnTo>
                  <a:lnTo>
                    <a:pt x="5497657" y="1981862"/>
                  </a:lnTo>
                  <a:lnTo>
                    <a:pt x="5501666" y="196213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0" name="CustomShape 5"/>
            <p:cNvSpPr/>
            <p:nvPr/>
          </p:nvSpPr>
          <p:spPr>
            <a:xfrm>
              <a:off x="5630760" y="764640"/>
              <a:ext cx="360" cy="1937160"/>
            </a:xfrm>
            <a:custGeom>
              <a:avLst/>
              <a:gdLst/>
              <a:ahLst/>
              <a:rect l="l" t="t" r="r" b="b"/>
              <a:pathLst>
                <a:path w="0" h="1937385">
                  <a:moveTo>
                    <a:pt x="0" y="1936952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1" name="CustomShape 6"/>
            <p:cNvSpPr/>
            <p:nvPr/>
          </p:nvSpPr>
          <p:spPr>
            <a:xfrm>
              <a:off x="5630760" y="752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2" name="CustomShape 7"/>
            <p:cNvSpPr/>
            <p:nvPr/>
          </p:nvSpPr>
          <p:spPr>
            <a:xfrm>
              <a:off x="5630760" y="7390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3" name="CustomShape 8"/>
            <p:cNvSpPr/>
            <p:nvPr/>
          </p:nvSpPr>
          <p:spPr>
            <a:xfrm>
              <a:off x="5630760" y="7264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14" name="object 13" descr=""/>
            <p:cNvPicPr/>
            <p:nvPr/>
          </p:nvPicPr>
          <p:blipFill>
            <a:blip r:embed="rId4"/>
            <a:stretch/>
          </p:blipFill>
          <p:spPr>
            <a:xfrm>
              <a:off x="299520" y="955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15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2974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16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6390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17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1828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18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20185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19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22086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20" name="object 19" descr=""/>
            <p:cNvPicPr/>
            <p:nvPr/>
          </p:nvPicPr>
          <p:blipFill>
            <a:blip r:embed="rId10"/>
            <a:stretch/>
          </p:blipFill>
          <p:spPr>
            <a:xfrm>
              <a:off x="299520" y="23983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21" name="object 20" descr=""/>
            <p:cNvPicPr/>
            <p:nvPr/>
          </p:nvPicPr>
          <p:blipFill>
            <a:blip r:embed="rId11"/>
            <a:stretch/>
          </p:blipFill>
          <p:spPr>
            <a:xfrm>
              <a:off x="299520" y="258804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22" name="TextShape 9"/>
          <p:cNvSpPr txBox="1"/>
          <p:nvPr/>
        </p:nvSpPr>
        <p:spPr>
          <a:xfrm>
            <a:off x="153360" y="593640"/>
            <a:ext cx="5406840" cy="2241000"/>
          </a:xfrm>
          <a:prstGeom prst="rect">
            <a:avLst/>
          </a:prstGeom>
          <a:noFill/>
          <a:ln>
            <a:noFill/>
          </a:ln>
        </p:spPr>
        <p:txBody>
          <a:bodyPr lIns="0" rIns="0" tIns="118080" bIns="0">
            <a:spAutoFit/>
          </a:bodyPr>
          <a:p>
            <a:pPr marL="26640">
              <a:lnSpc>
                <a:spcPct val="100000"/>
              </a:lnSpc>
              <a:spcBef>
                <a:spcPts val="394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Different</a:t>
            </a:r>
            <a:r>
              <a:rPr b="0" lang="en-US" sz="10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fields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have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contributed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ideas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viewpoints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techniques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Philosophy:</a:t>
            </a:r>
            <a:r>
              <a:rPr b="0" lang="en-US" sz="1000" spc="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Logic,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reasoning,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mind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physical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system,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foundations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learning,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language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rationality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89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Mathematics:</a:t>
            </a:r>
            <a:r>
              <a:rPr b="0" lang="en-US" sz="1000" spc="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Formal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representation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proof,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computation,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(un)decidability,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(in)tractability, probability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ts val="1491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Economics:</a:t>
            </a:r>
            <a:r>
              <a:rPr b="0" lang="en-US" sz="1000" spc="3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formal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theory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rational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decisions,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game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theory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Neuroscience:</a:t>
            </a:r>
            <a:r>
              <a:rPr b="0" lang="en-US" sz="1000" spc="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physical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substrate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mental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activities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01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Psychology:</a:t>
            </a:r>
            <a:r>
              <a:rPr b="0" lang="en-US" sz="1000" spc="5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adaptation,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phenomena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perception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motor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control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24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Computer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Science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&amp;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Engineering:</a:t>
            </a:r>
            <a:r>
              <a:rPr b="0" lang="en-US" sz="1000" spc="43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algorithms,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structures,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efficient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implementations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Control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Theory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&amp;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Cybernetics:</a:t>
            </a:r>
            <a:r>
              <a:rPr b="0" lang="en-US" sz="1000" spc="3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homeostatic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systems,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stability,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optimal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agent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design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Linguistics:</a:t>
            </a:r>
            <a:r>
              <a:rPr b="0" lang="en-US" sz="1000" spc="4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knowledge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representation,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grammar</a:t>
            </a:r>
            <a:endParaRPr b="0" lang="en-US" sz="1000" spc="-1" strike="noStrike">
              <a:latin typeface="Calibri"/>
            </a:endParaRPr>
          </a:p>
        </p:txBody>
      </p:sp>
      <p:sp>
        <p:nvSpPr>
          <p:cNvPr id="923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25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Intelligence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925" name="Group 2"/>
          <p:cNvGrpSpPr/>
          <p:nvPr/>
        </p:nvGrpSpPr>
        <p:grpSpPr>
          <a:xfrm>
            <a:off x="129240" y="968760"/>
            <a:ext cx="5551920" cy="1375920"/>
            <a:chOff x="129240" y="968760"/>
            <a:chExt cx="5551920" cy="1375920"/>
          </a:xfrm>
        </p:grpSpPr>
        <p:sp>
          <p:nvSpPr>
            <p:cNvPr id="926" name="CustomShape 3"/>
            <p:cNvSpPr/>
            <p:nvPr/>
          </p:nvSpPr>
          <p:spPr>
            <a:xfrm>
              <a:off x="129240" y="96876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27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11394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28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2431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29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23056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30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1013040"/>
              <a:ext cx="50400" cy="1229760"/>
            </a:xfrm>
            <a:prstGeom prst="rect">
              <a:avLst/>
            </a:prstGeom>
            <a:ln>
              <a:noFill/>
            </a:ln>
          </p:spPr>
        </p:pic>
        <p:sp>
          <p:nvSpPr>
            <p:cNvPr id="931" name="CustomShape 4"/>
            <p:cNvSpPr/>
            <p:nvPr/>
          </p:nvSpPr>
          <p:spPr>
            <a:xfrm>
              <a:off x="129240" y="1183680"/>
              <a:ext cx="5501880" cy="1110240"/>
            </a:xfrm>
            <a:custGeom>
              <a:avLst/>
              <a:gdLst/>
              <a:ahLst/>
              <a:rect l="l" t="t" r="r" b="b"/>
              <a:pathLst>
                <a:path w="5502275" h="1110614">
                  <a:moveTo>
                    <a:pt x="5501666" y="0"/>
                  </a:moveTo>
                  <a:lnTo>
                    <a:pt x="0" y="0"/>
                  </a:lnTo>
                  <a:lnTo>
                    <a:pt x="0" y="1059610"/>
                  </a:lnTo>
                  <a:lnTo>
                    <a:pt x="4008" y="1079335"/>
                  </a:lnTo>
                  <a:lnTo>
                    <a:pt x="14922" y="1095488"/>
                  </a:lnTo>
                  <a:lnTo>
                    <a:pt x="31075" y="1106402"/>
                  </a:lnTo>
                  <a:lnTo>
                    <a:pt x="50800" y="1110410"/>
                  </a:lnTo>
                  <a:lnTo>
                    <a:pt x="5450866" y="1110410"/>
                  </a:lnTo>
                  <a:lnTo>
                    <a:pt x="5470590" y="1106402"/>
                  </a:lnTo>
                  <a:lnTo>
                    <a:pt x="5486743" y="1095488"/>
                  </a:lnTo>
                  <a:lnTo>
                    <a:pt x="5497657" y="1079335"/>
                  </a:lnTo>
                  <a:lnTo>
                    <a:pt x="5501666" y="1059610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2" name="CustomShape 5"/>
            <p:cNvSpPr/>
            <p:nvPr/>
          </p:nvSpPr>
          <p:spPr>
            <a:xfrm>
              <a:off x="5630760" y="1051200"/>
              <a:ext cx="360" cy="1211040"/>
            </a:xfrm>
            <a:custGeom>
              <a:avLst/>
              <a:gdLst/>
              <a:ahLst/>
              <a:rect l="l" t="t" r="r" b="b"/>
              <a:pathLst>
                <a:path w="0" h="1211580">
                  <a:moveTo>
                    <a:pt x="0" y="1211052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3" name="CustomShape 6"/>
            <p:cNvSpPr/>
            <p:nvPr/>
          </p:nvSpPr>
          <p:spPr>
            <a:xfrm>
              <a:off x="5630760" y="1038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4" name="CustomShape 7"/>
            <p:cNvSpPr/>
            <p:nvPr/>
          </p:nvSpPr>
          <p:spPr>
            <a:xfrm>
              <a:off x="5630760" y="1025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5" name="CustomShape 8"/>
            <p:cNvSpPr/>
            <p:nvPr/>
          </p:nvSpPr>
          <p:spPr>
            <a:xfrm>
              <a:off x="5630760" y="10130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36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2294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37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15465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38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16858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39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18493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40" name="object 18" descr=""/>
            <p:cNvPicPr/>
            <p:nvPr/>
          </p:nvPicPr>
          <p:blipFill>
            <a:blip r:embed="rId9"/>
            <a:stretch/>
          </p:blipFill>
          <p:spPr>
            <a:xfrm>
              <a:off x="566280" y="20271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41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216648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42" name="TextShape 9"/>
          <p:cNvSpPr txBox="1"/>
          <p:nvPr/>
        </p:nvSpPr>
        <p:spPr>
          <a:xfrm>
            <a:off x="153360" y="593640"/>
            <a:ext cx="5406840" cy="2170440"/>
          </a:xfrm>
          <a:prstGeom prst="rect">
            <a:avLst/>
          </a:prstGeom>
          <a:noFill/>
          <a:ln>
            <a:noFill/>
          </a:ln>
        </p:spPr>
        <p:txBody>
          <a:bodyPr lIns="0" rIns="0" tIns="379080" bIns="0">
            <a:spAutoFit/>
          </a:bodyPr>
          <a:p>
            <a:pPr marL="26640">
              <a:lnSpc>
                <a:spcPct val="100000"/>
              </a:lnSpc>
              <a:spcBef>
                <a:spcPts val="490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Gestation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(1943-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1955)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ts val="1100"/>
              </a:lnSpc>
              <a:spcBef>
                <a:spcPts val="510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1943: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Warren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Mc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Culloch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Walter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Pitts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model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artificial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Boolean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neurons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perform computations</a:t>
            </a:r>
            <a:endParaRPr b="0" lang="en-US" sz="1000" spc="-1" strike="noStrike">
              <a:latin typeface="Calibri"/>
            </a:endParaRPr>
          </a:p>
          <a:p>
            <a:pPr marL="532800">
              <a:lnSpc>
                <a:spcPct val="100000"/>
              </a:lnSpc>
              <a:spcBef>
                <a:spcPts val="170"/>
              </a:spcBef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First</a:t>
            </a:r>
            <a:r>
              <a:rPr b="0" lang="en-US" sz="9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steps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toward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connectionist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computation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</a:rPr>
              <a:t>learning</a:t>
            </a:r>
            <a:endParaRPr b="0" lang="en-US" sz="900" spc="-1" strike="noStrike">
              <a:latin typeface="Calibri"/>
            </a:endParaRPr>
          </a:p>
          <a:p>
            <a:pPr marL="53280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Marvin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Minsky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Dann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Edmonds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(1951)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constructed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first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neural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network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</a:rPr>
              <a:t>computer</a:t>
            </a:r>
            <a:endParaRPr b="0" lang="en-US" sz="9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1950:</a:t>
            </a:r>
            <a:r>
              <a:rPr b="0" lang="en-US" sz="1000" spc="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Alan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Turing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en-US" sz="1000" spc="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“Computing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Machinery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Intelligence”</a:t>
            </a:r>
            <a:endParaRPr b="0" lang="en-US" sz="1000" spc="-1" strike="noStrike">
              <a:latin typeface="Calibri"/>
            </a:endParaRPr>
          </a:p>
          <a:p>
            <a:pPr marL="532800">
              <a:lnSpc>
                <a:spcPct val="100000"/>
              </a:lnSpc>
              <a:spcBef>
                <a:spcPts val="196"/>
              </a:spcBef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</a:rPr>
              <a:t>Turing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</a:rPr>
              <a:t>Test</a:t>
            </a:r>
            <a:endParaRPr b="0" lang="en-US" sz="900" spc="-1" strike="noStrike">
              <a:latin typeface="Calibri"/>
            </a:endParaRPr>
          </a:p>
          <a:p>
            <a:pPr marL="53280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First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complete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vision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</a:rPr>
              <a:t> AI</a:t>
            </a:r>
            <a:endParaRPr b="0" lang="en-US" sz="900" spc="-1" strike="noStrike">
              <a:latin typeface="Calibri"/>
            </a:endParaRPr>
          </a:p>
        </p:txBody>
      </p:sp>
      <p:sp>
        <p:nvSpPr>
          <p:cNvPr id="943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26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Shape 1"/>
          <p:cNvSpPr txBox="1"/>
          <p:nvPr/>
        </p:nvSpPr>
        <p:spPr>
          <a:xfrm>
            <a:off x="95400" y="45720"/>
            <a:ext cx="344340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945" name="Group 2"/>
          <p:cNvGrpSpPr/>
          <p:nvPr/>
        </p:nvGrpSpPr>
        <p:grpSpPr>
          <a:xfrm>
            <a:off x="129240" y="339120"/>
            <a:ext cx="5551920" cy="2819520"/>
            <a:chOff x="129240" y="339120"/>
            <a:chExt cx="5551920" cy="2819520"/>
          </a:xfrm>
        </p:grpSpPr>
        <p:sp>
          <p:nvSpPr>
            <p:cNvPr id="946" name="CustomShape 3"/>
            <p:cNvSpPr/>
            <p:nvPr/>
          </p:nvSpPr>
          <p:spPr>
            <a:xfrm>
              <a:off x="129240" y="33912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47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5094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48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30571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49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30445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50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383400"/>
              <a:ext cx="50400" cy="2673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951" name="CustomShape 4"/>
            <p:cNvSpPr/>
            <p:nvPr/>
          </p:nvSpPr>
          <p:spPr>
            <a:xfrm>
              <a:off x="129240" y="553680"/>
              <a:ext cx="5501880" cy="2554200"/>
            </a:xfrm>
            <a:custGeom>
              <a:avLst/>
              <a:gdLst/>
              <a:ahLst/>
              <a:rect l="l" t="t" r="r" b="b"/>
              <a:pathLst>
                <a:path w="5502275" h="2554605">
                  <a:moveTo>
                    <a:pt x="5501666" y="0"/>
                  </a:moveTo>
                  <a:lnTo>
                    <a:pt x="0" y="0"/>
                  </a:lnTo>
                  <a:lnTo>
                    <a:pt x="0" y="2503385"/>
                  </a:lnTo>
                  <a:lnTo>
                    <a:pt x="4008" y="2523110"/>
                  </a:lnTo>
                  <a:lnTo>
                    <a:pt x="14922" y="2539263"/>
                  </a:lnTo>
                  <a:lnTo>
                    <a:pt x="31075" y="2550177"/>
                  </a:lnTo>
                  <a:lnTo>
                    <a:pt x="50800" y="2554186"/>
                  </a:lnTo>
                  <a:lnTo>
                    <a:pt x="5450866" y="2554186"/>
                  </a:lnTo>
                  <a:lnTo>
                    <a:pt x="5470590" y="2550177"/>
                  </a:lnTo>
                  <a:lnTo>
                    <a:pt x="5486743" y="2539263"/>
                  </a:lnTo>
                  <a:lnTo>
                    <a:pt x="5497657" y="2523110"/>
                  </a:lnTo>
                  <a:lnTo>
                    <a:pt x="5501666" y="2503385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2" name="CustomShape 5"/>
            <p:cNvSpPr/>
            <p:nvPr/>
          </p:nvSpPr>
          <p:spPr>
            <a:xfrm>
              <a:off x="5630760" y="421560"/>
              <a:ext cx="360" cy="2654640"/>
            </a:xfrm>
            <a:custGeom>
              <a:avLst/>
              <a:gdLst/>
              <a:ahLst/>
              <a:rect l="l" t="t" r="r" b="b"/>
              <a:pathLst>
                <a:path w="0" h="2654935">
                  <a:moveTo>
                    <a:pt x="0" y="2654833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3" name="CustomShape 6"/>
            <p:cNvSpPr/>
            <p:nvPr/>
          </p:nvSpPr>
          <p:spPr>
            <a:xfrm>
              <a:off x="5630760" y="408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4" name="CustomShape 7"/>
            <p:cNvSpPr/>
            <p:nvPr/>
          </p:nvSpPr>
          <p:spPr>
            <a:xfrm>
              <a:off x="5630760" y="3960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5" name="CustomShape 8"/>
            <p:cNvSpPr/>
            <p:nvPr/>
          </p:nvSpPr>
          <p:spPr>
            <a:xfrm>
              <a:off x="5630760" y="3834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56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5994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57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8978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58" name="object 16" descr=""/>
            <p:cNvPicPr/>
            <p:nvPr/>
          </p:nvPicPr>
          <p:blipFill>
            <a:blip r:embed="rId7"/>
            <a:stretch/>
          </p:blipFill>
          <p:spPr>
            <a:xfrm>
              <a:off x="819360" y="1043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59" name="object 17" descr=""/>
            <p:cNvPicPr/>
            <p:nvPr/>
          </p:nvPicPr>
          <p:blipFill>
            <a:blip r:embed="rId8"/>
            <a:stretch/>
          </p:blipFill>
          <p:spPr>
            <a:xfrm>
              <a:off x="819360" y="11635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0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13269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1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14860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2" name="object 20" descr=""/>
            <p:cNvPicPr/>
            <p:nvPr/>
          </p:nvPicPr>
          <p:blipFill>
            <a:blip r:embed="rId11"/>
            <a:stretch/>
          </p:blipFill>
          <p:spPr>
            <a:xfrm>
              <a:off x="819360" y="16315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3" name="object 21" descr=""/>
            <p:cNvPicPr/>
            <p:nvPr/>
          </p:nvPicPr>
          <p:blipFill>
            <a:blip r:embed="rId12"/>
            <a:stretch/>
          </p:blipFill>
          <p:spPr>
            <a:xfrm>
              <a:off x="819360" y="17517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4" name="object 22" descr=""/>
            <p:cNvPicPr/>
            <p:nvPr/>
          </p:nvPicPr>
          <p:blipFill>
            <a:blip r:embed="rId13"/>
            <a:stretch/>
          </p:blipFill>
          <p:spPr>
            <a:xfrm>
              <a:off x="819360" y="18720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5" name="object 23" descr=""/>
            <p:cNvPicPr/>
            <p:nvPr/>
          </p:nvPicPr>
          <p:blipFill>
            <a:blip r:embed="rId14"/>
            <a:stretch/>
          </p:blipFill>
          <p:spPr>
            <a:xfrm>
              <a:off x="566280" y="21376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6" name="object 24" descr=""/>
            <p:cNvPicPr/>
            <p:nvPr/>
          </p:nvPicPr>
          <p:blipFill>
            <a:blip r:embed="rId15"/>
            <a:stretch/>
          </p:blipFill>
          <p:spPr>
            <a:xfrm>
              <a:off x="819360" y="22831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7" name="object 25" descr=""/>
            <p:cNvPicPr/>
            <p:nvPr/>
          </p:nvPicPr>
          <p:blipFill>
            <a:blip r:embed="rId16"/>
            <a:stretch/>
          </p:blipFill>
          <p:spPr>
            <a:xfrm>
              <a:off x="819360" y="24033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8" name="object 26" descr=""/>
            <p:cNvPicPr/>
            <p:nvPr/>
          </p:nvPicPr>
          <p:blipFill>
            <a:blip r:embed="rId17"/>
            <a:stretch/>
          </p:blipFill>
          <p:spPr>
            <a:xfrm>
              <a:off x="566280" y="25488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69" name="object 27" descr=""/>
            <p:cNvPicPr/>
            <p:nvPr/>
          </p:nvPicPr>
          <p:blipFill>
            <a:blip r:embed="rId18"/>
            <a:stretch/>
          </p:blipFill>
          <p:spPr>
            <a:xfrm>
              <a:off x="819360" y="26946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70" name="object 28" descr=""/>
            <p:cNvPicPr/>
            <p:nvPr/>
          </p:nvPicPr>
          <p:blipFill>
            <a:blip r:embed="rId19"/>
            <a:stretch/>
          </p:blipFill>
          <p:spPr>
            <a:xfrm>
              <a:off x="566280" y="297900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71" name="CustomShape 9"/>
          <p:cNvSpPr/>
          <p:nvPr/>
        </p:nvSpPr>
        <p:spPr>
          <a:xfrm>
            <a:off x="167400" y="280800"/>
            <a:ext cx="5216040" cy="30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2280" bIns="0">
            <a:spAutoFit/>
          </a:bodyPr>
          <a:p>
            <a:pPr marL="12600">
              <a:lnSpc>
                <a:spcPct val="100000"/>
              </a:lnSpc>
              <a:spcBef>
                <a:spcPts val="490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Birth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(1956)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and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Era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Great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Expectations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ts val="1100"/>
              </a:lnSpc>
              <a:spcBef>
                <a:spcPts val="510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Darmouth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Workshop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(1956)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brought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together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top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minds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automata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theory,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neural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nets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study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intelligence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20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Allen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Newell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Herbert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Simon:</a:t>
            </a:r>
            <a:r>
              <a:rPr b="0" lang="en-US" sz="900" spc="29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Logic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Theorist</a:t>
            </a:r>
            <a:endParaRPr b="0" lang="en-US" sz="900" spc="-1" strike="noStrike">
              <a:latin typeface="Arial"/>
            </a:endParaRPr>
          </a:p>
          <a:p>
            <a:pPr marL="771480">
              <a:lnSpc>
                <a:spcPts val="950"/>
              </a:lnSpc>
              <a:spcBef>
                <a:spcPts val="204"/>
              </a:spcBef>
            </a:pP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first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 nonnumerical thinking program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used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theorem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 proving proved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theorems from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Russel&amp;Whitehead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 Principia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Mathematica</a:t>
            </a:r>
            <a:endParaRPr b="0" lang="en-US" sz="8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04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era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great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expectations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(1952-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1969)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45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Newell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Simon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introduced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General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Problem</a:t>
            </a:r>
            <a:r>
              <a:rPr b="0" lang="en-US" sz="900" spc="-4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Solver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(GPS)</a:t>
            </a:r>
            <a:endParaRPr b="0" lang="en-US" sz="900" spc="-1" strike="noStrike">
              <a:latin typeface="Arial"/>
            </a:endParaRPr>
          </a:p>
          <a:p>
            <a:pPr marL="771480">
              <a:lnSpc>
                <a:spcPts val="955"/>
              </a:lnSpc>
              <a:spcBef>
                <a:spcPts val="164"/>
              </a:spcBef>
            </a:pP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could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handle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(limited)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number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logical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puzzles</a:t>
            </a:r>
            <a:endParaRPr b="0" lang="en-US" sz="800" spc="-1" strike="noStrike">
              <a:latin typeface="Arial"/>
            </a:endParaRPr>
          </a:p>
          <a:p>
            <a:pPr marL="771480">
              <a:lnSpc>
                <a:spcPts val="944"/>
              </a:lnSpc>
            </a:pP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imitation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problem-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solving:</a:t>
            </a:r>
            <a:r>
              <a:rPr b="0" lang="en-US" sz="800" spc="24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strategy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address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subgoals</a:t>
            </a:r>
            <a:endParaRPr b="0" lang="en-US" sz="800" spc="-1" strike="noStrike">
              <a:latin typeface="Arial"/>
            </a:endParaRPr>
          </a:p>
          <a:p>
            <a:pPr marL="771480">
              <a:lnSpc>
                <a:spcPts val="950"/>
              </a:lnSpc>
              <a:spcBef>
                <a:spcPts val="34"/>
              </a:spcBef>
            </a:pP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Idea:</a:t>
            </a:r>
            <a:r>
              <a:rPr b="0" lang="en-US" sz="800" spc="1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any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system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(human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or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machine)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exhibiting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intelligence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must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operate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by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manipulating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data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structures</a:t>
            </a:r>
            <a:r>
              <a:rPr b="0" lang="en-US" sz="8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composed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8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symbols</a:t>
            </a:r>
            <a:endParaRPr b="0" lang="en-US" sz="8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51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John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McCarthy</a:t>
            </a:r>
            <a:endParaRPr b="0" lang="en-US" sz="900" spc="-1" strike="noStrike">
              <a:latin typeface="Arial"/>
            </a:endParaRPr>
          </a:p>
          <a:p>
            <a:pPr marL="771480">
              <a:lnSpc>
                <a:spcPts val="955"/>
              </a:lnSpc>
              <a:spcBef>
                <a:spcPts val="164"/>
              </a:spcBef>
            </a:pPr>
            <a:r>
              <a:rPr b="0" lang="en-US" sz="800" spc="-12" strike="noStrike">
                <a:solidFill>
                  <a:srgbClr val="0000ff"/>
                </a:solidFill>
                <a:latin typeface="Arial"/>
              </a:rPr>
              <a:t>Invented</a:t>
            </a:r>
            <a:r>
              <a:rPr b="0" lang="en-US" sz="8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LISP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(and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time-sharing)</a:t>
            </a:r>
            <a:endParaRPr b="0" lang="en-US" sz="800" spc="-1" strike="noStrike">
              <a:latin typeface="Arial"/>
            </a:endParaRPr>
          </a:p>
          <a:p>
            <a:pPr marL="771480">
              <a:lnSpc>
                <a:spcPts val="955"/>
              </a:lnSpc>
            </a:pP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Logic-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oriented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Advice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26" strike="noStrike">
                <a:solidFill>
                  <a:srgbClr val="c92626"/>
                </a:solidFill>
                <a:latin typeface="Arial"/>
              </a:rPr>
              <a:t>Taker,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decoupling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knowledge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8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reasoning</a:t>
            </a:r>
            <a:endParaRPr b="0" lang="en-US" sz="8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85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Marvin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Minsky</a:t>
            </a:r>
            <a:endParaRPr b="0" lang="en-US" sz="900" spc="-1" strike="noStrike">
              <a:latin typeface="Arial"/>
            </a:endParaRPr>
          </a:p>
          <a:p>
            <a:pPr marL="771480">
              <a:lnSpc>
                <a:spcPts val="950"/>
              </a:lnSpc>
              <a:spcBef>
                <a:spcPts val="204"/>
              </a:spcBef>
            </a:pPr>
            <a:r>
              <a:rPr b="0" lang="en-US" sz="800" spc="-12" strike="noStrike">
                <a:solidFill>
                  <a:srgbClr val="0000ff"/>
                </a:solidFill>
                <a:latin typeface="Arial"/>
              </a:rPr>
              <a:t>addressed</a:t>
            </a:r>
            <a:r>
              <a:rPr b="0" lang="en-US" sz="8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microworlds,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problems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limited</a:t>
            </a:r>
            <a:r>
              <a:rPr b="0" lang="en-US" sz="8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domain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that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appear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8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require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intelligence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solve</a:t>
            </a:r>
            <a:r>
              <a:rPr b="0" lang="en-US" sz="8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(e.g. blocks-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world,</a:t>
            </a:r>
            <a:r>
              <a:rPr b="0" lang="en-US" sz="8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c92626"/>
                </a:solidFill>
                <a:latin typeface="Arial"/>
              </a:rPr>
              <a:t>geometric</a:t>
            </a:r>
            <a:r>
              <a:rPr b="0" lang="en-US" sz="8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800" spc="-12" strike="noStrike">
                <a:solidFill>
                  <a:srgbClr val="c92626"/>
                </a:solidFill>
                <a:latin typeface="Arial"/>
              </a:rPr>
              <a:t>problems)</a:t>
            </a:r>
            <a:endParaRPr b="0" lang="en-US" sz="8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20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S.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Winograd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J.D.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Cowan,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et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al.:</a:t>
            </a:r>
            <a:r>
              <a:rPr b="0" lang="en-US" sz="900" spc="38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early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work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neural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networks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2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27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974" name="Group 2"/>
          <p:cNvGrpSpPr/>
          <p:nvPr/>
        </p:nvGrpSpPr>
        <p:grpSpPr>
          <a:xfrm>
            <a:off x="129240" y="1000440"/>
            <a:ext cx="5551920" cy="1296720"/>
            <a:chOff x="129240" y="1000440"/>
            <a:chExt cx="5551920" cy="1296720"/>
          </a:xfrm>
        </p:grpSpPr>
        <p:sp>
          <p:nvSpPr>
            <p:cNvPr id="975" name="CustomShape 3"/>
            <p:cNvSpPr/>
            <p:nvPr/>
          </p:nvSpPr>
          <p:spPr>
            <a:xfrm>
              <a:off x="129240" y="100044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76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117072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77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1960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78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18304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79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1044720"/>
              <a:ext cx="50400" cy="1150920"/>
            </a:xfrm>
            <a:prstGeom prst="rect">
              <a:avLst/>
            </a:prstGeom>
            <a:ln>
              <a:noFill/>
            </a:ln>
          </p:spPr>
        </p:pic>
        <p:sp>
          <p:nvSpPr>
            <p:cNvPr id="980" name="CustomShape 4"/>
            <p:cNvSpPr/>
            <p:nvPr/>
          </p:nvSpPr>
          <p:spPr>
            <a:xfrm>
              <a:off x="129240" y="1215000"/>
              <a:ext cx="5501880" cy="1031400"/>
            </a:xfrm>
            <a:custGeom>
              <a:avLst/>
              <a:gdLst/>
              <a:ahLst/>
              <a:rect l="l" t="t" r="r" b="b"/>
              <a:pathLst>
                <a:path w="5502275" h="1031875">
                  <a:moveTo>
                    <a:pt x="5501666" y="0"/>
                  </a:moveTo>
                  <a:lnTo>
                    <a:pt x="0" y="0"/>
                  </a:lnTo>
                  <a:lnTo>
                    <a:pt x="0" y="980782"/>
                  </a:lnTo>
                  <a:lnTo>
                    <a:pt x="4008" y="1000507"/>
                  </a:lnTo>
                  <a:lnTo>
                    <a:pt x="14922" y="1016660"/>
                  </a:lnTo>
                  <a:lnTo>
                    <a:pt x="31075" y="1027574"/>
                  </a:lnTo>
                  <a:lnTo>
                    <a:pt x="50800" y="1031583"/>
                  </a:lnTo>
                  <a:lnTo>
                    <a:pt x="5450866" y="1031583"/>
                  </a:lnTo>
                  <a:lnTo>
                    <a:pt x="5470590" y="1027574"/>
                  </a:lnTo>
                  <a:lnTo>
                    <a:pt x="5486743" y="1016660"/>
                  </a:lnTo>
                  <a:lnTo>
                    <a:pt x="5497657" y="1000507"/>
                  </a:lnTo>
                  <a:lnTo>
                    <a:pt x="5501666" y="980782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1" name="CustomShape 5"/>
            <p:cNvSpPr/>
            <p:nvPr/>
          </p:nvSpPr>
          <p:spPr>
            <a:xfrm>
              <a:off x="5630760" y="1082520"/>
              <a:ext cx="360" cy="1132560"/>
            </a:xfrm>
            <a:custGeom>
              <a:avLst/>
              <a:gdLst/>
              <a:ahLst/>
              <a:rect l="l" t="t" r="r" b="b"/>
              <a:pathLst>
                <a:path w="0" h="1132839">
                  <a:moveTo>
                    <a:pt x="0" y="113222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2" name="CustomShape 6"/>
            <p:cNvSpPr/>
            <p:nvPr/>
          </p:nvSpPr>
          <p:spPr>
            <a:xfrm>
              <a:off x="5630760" y="10699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3" name="CustomShape 7"/>
            <p:cNvSpPr/>
            <p:nvPr/>
          </p:nvSpPr>
          <p:spPr>
            <a:xfrm>
              <a:off x="5630760" y="10573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4" name="CustomShape 8"/>
            <p:cNvSpPr/>
            <p:nvPr/>
          </p:nvSpPr>
          <p:spPr>
            <a:xfrm>
              <a:off x="5630760" y="104472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85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2578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86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14360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87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15994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88" name="object 17" descr=""/>
            <p:cNvPicPr/>
            <p:nvPr/>
          </p:nvPicPr>
          <p:blipFill>
            <a:blip r:embed="rId8"/>
            <a:stretch/>
          </p:blipFill>
          <p:spPr>
            <a:xfrm>
              <a:off x="566280" y="17776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89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19411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0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211932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91" name="CustomShape 9"/>
          <p:cNvSpPr/>
          <p:nvPr/>
        </p:nvSpPr>
        <p:spPr>
          <a:xfrm>
            <a:off x="167400" y="945000"/>
            <a:ext cx="3933360" cy="167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>
            <a:spAutoFit/>
          </a:bodyPr>
          <a:p>
            <a:pPr marL="265320" indent="-253080">
              <a:lnSpc>
                <a:spcPct val="130000"/>
              </a:lnSpc>
              <a:spcBef>
                <a:spcPts val="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Collapse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research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(1966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-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1973)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Progress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was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slower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than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expected.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enthusiast</a:t>
            </a:r>
            <a:r>
              <a:rPr b="0" lang="en-US" sz="900" spc="-4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predictions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turned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unrealistic</a:t>
            </a:r>
            <a:endParaRPr b="0" lang="en-US" sz="900" spc="-1" strike="noStrike">
              <a:latin typeface="Arial"/>
            </a:endParaRPr>
          </a:p>
          <a:p>
            <a:pPr marL="26532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Some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lacked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scalability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computational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intractability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due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combinatorial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explosion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search</a:t>
            </a:r>
            <a:endParaRPr b="0" lang="en-US" sz="900" spc="-1" strike="noStrike">
              <a:latin typeface="Arial"/>
            </a:endParaRPr>
          </a:p>
          <a:p>
            <a:pPr marL="26532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Fundamental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limitations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on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techniques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representations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Minsky&amp;Papert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(1969):</a:t>
            </a:r>
            <a:r>
              <a:rPr b="0" lang="en-US" sz="900" spc="43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important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limitations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to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neural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networks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2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28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994" name="Group 2"/>
          <p:cNvGrpSpPr/>
          <p:nvPr/>
        </p:nvGrpSpPr>
        <p:grpSpPr>
          <a:xfrm>
            <a:off x="129240" y="357120"/>
            <a:ext cx="5551920" cy="2849400"/>
            <a:chOff x="129240" y="357120"/>
            <a:chExt cx="5551920" cy="2849400"/>
          </a:xfrm>
        </p:grpSpPr>
        <p:sp>
          <p:nvSpPr>
            <p:cNvPr id="995" name="CustomShape 3"/>
            <p:cNvSpPr/>
            <p:nvPr/>
          </p:nvSpPr>
          <p:spPr>
            <a:xfrm>
              <a:off x="129240" y="35712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996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5292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7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1150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8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1024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9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401400"/>
              <a:ext cx="50400" cy="1713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00" name="CustomShape 4"/>
            <p:cNvSpPr/>
            <p:nvPr/>
          </p:nvSpPr>
          <p:spPr>
            <a:xfrm>
              <a:off x="129240" y="573480"/>
              <a:ext cx="5501880" cy="1592280"/>
            </a:xfrm>
            <a:custGeom>
              <a:avLst/>
              <a:gdLst/>
              <a:ahLst/>
              <a:rect l="l" t="t" r="r" b="b"/>
              <a:pathLst>
                <a:path w="5502275" h="1592580">
                  <a:moveTo>
                    <a:pt x="5501666" y="0"/>
                  </a:moveTo>
                  <a:lnTo>
                    <a:pt x="0" y="0"/>
                  </a:lnTo>
                  <a:lnTo>
                    <a:pt x="0" y="1541780"/>
                  </a:lnTo>
                  <a:lnTo>
                    <a:pt x="4008" y="1561504"/>
                  </a:lnTo>
                  <a:lnTo>
                    <a:pt x="14922" y="1577657"/>
                  </a:lnTo>
                  <a:lnTo>
                    <a:pt x="31075" y="1588571"/>
                  </a:lnTo>
                  <a:lnTo>
                    <a:pt x="50800" y="1592580"/>
                  </a:lnTo>
                  <a:lnTo>
                    <a:pt x="5450866" y="1592580"/>
                  </a:lnTo>
                  <a:lnTo>
                    <a:pt x="5470590" y="1588571"/>
                  </a:lnTo>
                  <a:lnTo>
                    <a:pt x="5486743" y="1577657"/>
                  </a:lnTo>
                  <a:lnTo>
                    <a:pt x="5497657" y="1561504"/>
                  </a:lnTo>
                  <a:lnTo>
                    <a:pt x="5501666" y="1541780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1" name="CustomShape 5"/>
            <p:cNvSpPr/>
            <p:nvPr/>
          </p:nvSpPr>
          <p:spPr>
            <a:xfrm>
              <a:off x="5630760" y="439560"/>
              <a:ext cx="360" cy="1694520"/>
            </a:xfrm>
            <a:custGeom>
              <a:avLst/>
              <a:gdLst/>
              <a:ahLst/>
              <a:rect l="l" t="t" r="r" b="b"/>
              <a:pathLst>
                <a:path w="0" h="1694814">
                  <a:moveTo>
                    <a:pt x="0" y="1694738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2" name="CustomShape 6"/>
            <p:cNvSpPr/>
            <p:nvPr/>
          </p:nvSpPr>
          <p:spPr>
            <a:xfrm>
              <a:off x="5630760" y="426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3" name="CustomShape 7"/>
            <p:cNvSpPr/>
            <p:nvPr/>
          </p:nvSpPr>
          <p:spPr>
            <a:xfrm>
              <a:off x="5630760" y="4140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4" name="CustomShape 8"/>
            <p:cNvSpPr/>
            <p:nvPr/>
          </p:nvSpPr>
          <p:spPr>
            <a:xfrm>
              <a:off x="5630760" y="4014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05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6192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06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7970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07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9363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08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12391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09" name="object 18" descr=""/>
            <p:cNvPicPr/>
            <p:nvPr/>
          </p:nvPicPr>
          <p:blipFill>
            <a:blip r:embed="rId9"/>
            <a:stretch/>
          </p:blipFill>
          <p:spPr>
            <a:xfrm>
              <a:off x="566280" y="14169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0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1556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1" name="object 20" descr=""/>
            <p:cNvPicPr/>
            <p:nvPr/>
          </p:nvPicPr>
          <p:blipFill>
            <a:blip r:embed="rId11"/>
            <a:stretch/>
          </p:blipFill>
          <p:spPr>
            <a:xfrm>
              <a:off x="566280" y="16956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2" name="object 21" descr=""/>
            <p:cNvPicPr/>
            <p:nvPr/>
          </p:nvPicPr>
          <p:blipFill>
            <a:blip r:embed="rId12"/>
            <a:stretch/>
          </p:blipFill>
          <p:spPr>
            <a:xfrm>
              <a:off x="299520" y="18590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3" name="object 22" descr=""/>
            <p:cNvPicPr/>
            <p:nvPr/>
          </p:nvPicPr>
          <p:blipFill>
            <a:blip r:embed="rId13"/>
            <a:stretch/>
          </p:blipFill>
          <p:spPr>
            <a:xfrm>
              <a:off x="566280" y="2037240"/>
              <a:ext cx="56160" cy="56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14" name="CustomShape 9"/>
            <p:cNvSpPr/>
            <p:nvPr/>
          </p:nvSpPr>
          <p:spPr>
            <a:xfrm>
              <a:off x="129240" y="220788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15" name="object 24" descr=""/>
            <p:cNvPicPr/>
            <p:nvPr/>
          </p:nvPicPr>
          <p:blipFill>
            <a:blip r:embed="rId14"/>
            <a:stretch/>
          </p:blipFill>
          <p:spPr>
            <a:xfrm>
              <a:off x="129240" y="23781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6" name="object 25" descr=""/>
            <p:cNvPicPr/>
            <p:nvPr/>
          </p:nvPicPr>
          <p:blipFill>
            <a:blip r:embed="rId15"/>
            <a:stretch/>
          </p:blipFill>
          <p:spPr>
            <a:xfrm>
              <a:off x="180000" y="31053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7" name="object 26" descr=""/>
            <p:cNvPicPr/>
            <p:nvPr/>
          </p:nvPicPr>
          <p:blipFill>
            <a:blip r:embed="rId16"/>
            <a:stretch/>
          </p:blipFill>
          <p:spPr>
            <a:xfrm>
              <a:off x="230760" y="30924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8" name="object 27" descr=""/>
            <p:cNvPicPr/>
            <p:nvPr/>
          </p:nvPicPr>
          <p:blipFill>
            <a:blip r:embed="rId17"/>
            <a:stretch/>
          </p:blipFill>
          <p:spPr>
            <a:xfrm>
              <a:off x="5630760" y="2252160"/>
              <a:ext cx="50400" cy="8528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19" name="CustomShape 10"/>
            <p:cNvSpPr/>
            <p:nvPr/>
          </p:nvSpPr>
          <p:spPr>
            <a:xfrm>
              <a:off x="129240" y="2422440"/>
              <a:ext cx="5501880" cy="733680"/>
            </a:xfrm>
            <a:custGeom>
              <a:avLst/>
              <a:gdLst/>
              <a:ahLst/>
              <a:rect l="l" t="t" r="r" b="b"/>
              <a:pathLst>
                <a:path w="5502275" h="734060">
                  <a:moveTo>
                    <a:pt x="5501666" y="0"/>
                  </a:moveTo>
                  <a:lnTo>
                    <a:pt x="0" y="0"/>
                  </a:lnTo>
                  <a:lnTo>
                    <a:pt x="0" y="682692"/>
                  </a:lnTo>
                  <a:lnTo>
                    <a:pt x="4008" y="702417"/>
                  </a:lnTo>
                  <a:lnTo>
                    <a:pt x="14922" y="718570"/>
                  </a:lnTo>
                  <a:lnTo>
                    <a:pt x="31075" y="729484"/>
                  </a:lnTo>
                  <a:lnTo>
                    <a:pt x="50800" y="733492"/>
                  </a:lnTo>
                  <a:lnTo>
                    <a:pt x="5450866" y="733492"/>
                  </a:lnTo>
                  <a:lnTo>
                    <a:pt x="5470590" y="729484"/>
                  </a:lnTo>
                  <a:lnTo>
                    <a:pt x="5486743" y="718570"/>
                  </a:lnTo>
                  <a:lnTo>
                    <a:pt x="5497657" y="702417"/>
                  </a:lnTo>
                  <a:lnTo>
                    <a:pt x="5501666" y="682692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0" name="CustomShape 11"/>
            <p:cNvSpPr/>
            <p:nvPr/>
          </p:nvSpPr>
          <p:spPr>
            <a:xfrm>
              <a:off x="5630760" y="2290320"/>
              <a:ext cx="360" cy="834120"/>
            </a:xfrm>
            <a:custGeom>
              <a:avLst/>
              <a:gdLst/>
              <a:ahLst/>
              <a:rect l="l" t="t" r="r" b="b"/>
              <a:pathLst>
                <a:path w="0" h="834389">
                  <a:moveTo>
                    <a:pt x="0" y="83413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1" name="CustomShape 12"/>
            <p:cNvSpPr/>
            <p:nvPr/>
          </p:nvSpPr>
          <p:spPr>
            <a:xfrm>
              <a:off x="5630760" y="22773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2" name="CustomShape 13"/>
            <p:cNvSpPr/>
            <p:nvPr/>
          </p:nvSpPr>
          <p:spPr>
            <a:xfrm>
              <a:off x="5630760" y="22647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3" name="CustomShape 14"/>
            <p:cNvSpPr/>
            <p:nvPr/>
          </p:nvSpPr>
          <p:spPr>
            <a:xfrm>
              <a:off x="5630760" y="22521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24" name="object 33" descr=""/>
            <p:cNvPicPr/>
            <p:nvPr/>
          </p:nvPicPr>
          <p:blipFill>
            <a:blip r:embed="rId18"/>
            <a:stretch/>
          </p:blipFill>
          <p:spPr>
            <a:xfrm>
              <a:off x="299520" y="24681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5" name="object 34" descr=""/>
            <p:cNvPicPr/>
            <p:nvPr/>
          </p:nvPicPr>
          <p:blipFill>
            <a:blip r:embed="rId19"/>
            <a:stretch/>
          </p:blipFill>
          <p:spPr>
            <a:xfrm>
              <a:off x="566280" y="26463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6" name="object 35" descr=""/>
            <p:cNvPicPr/>
            <p:nvPr/>
          </p:nvPicPr>
          <p:blipFill>
            <a:blip r:embed="rId20"/>
            <a:stretch/>
          </p:blipFill>
          <p:spPr>
            <a:xfrm>
              <a:off x="299520" y="28224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7" name="object 36" descr=""/>
            <p:cNvPicPr/>
            <p:nvPr/>
          </p:nvPicPr>
          <p:blipFill>
            <a:blip r:embed="rId21"/>
            <a:stretch/>
          </p:blipFill>
          <p:spPr>
            <a:xfrm>
              <a:off x="299520" y="301248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28" name="CustomShape 15"/>
          <p:cNvSpPr/>
          <p:nvPr/>
        </p:nvSpPr>
        <p:spPr>
          <a:xfrm>
            <a:off x="167400" y="297360"/>
            <a:ext cx="4478400" cy="29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>
            <a:spAutoFit/>
          </a:bodyPr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Revival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 via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knowledge-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based systems (1969-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1970)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405"/>
              </a:spcBef>
            </a:pP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General-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purpose</a:t>
            </a:r>
            <a:r>
              <a:rPr b="0" lang="en-US" sz="1000" spc="4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80" strike="noStrike">
                <a:solidFill>
                  <a:srgbClr val="c92626"/>
                </a:solidFill>
                <a:latin typeface="Lucida Sans Unicode"/>
              </a:rPr>
              <a:t>=⇒</a:t>
            </a:r>
            <a:r>
              <a:rPr b="0" lang="en-US" sz="1000" spc="-26" strike="noStrike">
                <a:solidFill>
                  <a:srgbClr val="c92626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domain</a:t>
            </a:r>
            <a:r>
              <a:rPr b="0" lang="en-US" sz="1000" spc="4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specific</a:t>
            </a:r>
            <a:r>
              <a:rPr b="0" lang="en-US" sz="1000" spc="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systems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narrow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domains,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exploiting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domain-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specific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knowledge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1000"/>
              </a:lnSpc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E.g.</a:t>
            </a:r>
            <a:r>
              <a:rPr b="0" lang="en-US" sz="900" spc="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DENDRAL: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successful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inferring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molecular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structure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from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information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by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mass-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spectrometer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Buchanan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et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al.</a:t>
            </a:r>
            <a:r>
              <a:rPr b="0" lang="en-US" sz="900" spc="29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1969)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Expert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systems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applied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areas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human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expertise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1000"/>
              </a:lnSpc>
              <a:spcBef>
                <a:spcPts val="17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e.g.,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MYCIN: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diagnose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blood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infections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(Feigenbaum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et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al.)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based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450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domain-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specific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rules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from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experts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&amp;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textbooks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calculus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for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uncertainty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215"/>
              </a:spcBef>
            </a:pP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Several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progresses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Natural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language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processing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incorporate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domain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knowledge</a:t>
            </a:r>
            <a:r>
              <a:rPr b="0" lang="en-US" sz="9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NLP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34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 becomes an industry (1980-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present)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391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commercial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expert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system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R1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at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DEC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McDermott,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1982)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helped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configure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orders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for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900" spc="-4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system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(saves:</a:t>
            </a:r>
            <a:r>
              <a:rPr b="0" lang="en-US" sz="900" spc="9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40M$/year)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24000"/>
              </a:lnSpc>
              <a:spcBef>
                <a:spcPts val="20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followed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period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national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industry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investments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AI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followed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period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expert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systems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industry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busts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(“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Winter”)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29" name="TextShape 16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29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031" name="Group 2"/>
          <p:cNvGrpSpPr/>
          <p:nvPr/>
        </p:nvGrpSpPr>
        <p:grpSpPr>
          <a:xfrm>
            <a:off x="129240" y="1134000"/>
            <a:ext cx="5551920" cy="962640"/>
            <a:chOff x="129240" y="1134000"/>
            <a:chExt cx="5551920" cy="962640"/>
          </a:xfrm>
        </p:grpSpPr>
        <p:sp>
          <p:nvSpPr>
            <p:cNvPr id="1032" name="CustomShape 3"/>
            <p:cNvSpPr/>
            <p:nvPr/>
          </p:nvSpPr>
          <p:spPr>
            <a:xfrm>
              <a:off x="129240" y="113400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33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130464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34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19951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35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19825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36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1178280"/>
              <a:ext cx="50400" cy="81648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37" name="CustomShape 4"/>
            <p:cNvSpPr/>
            <p:nvPr/>
          </p:nvSpPr>
          <p:spPr>
            <a:xfrm>
              <a:off x="129240" y="1348920"/>
              <a:ext cx="5501880" cy="696960"/>
            </a:xfrm>
            <a:custGeom>
              <a:avLst/>
              <a:gdLst/>
              <a:ahLst/>
              <a:rect l="l" t="t" r="r" b="b"/>
              <a:pathLst>
                <a:path w="5502275" h="697230">
                  <a:moveTo>
                    <a:pt x="5501666" y="0"/>
                  </a:moveTo>
                  <a:lnTo>
                    <a:pt x="0" y="0"/>
                  </a:lnTo>
                  <a:lnTo>
                    <a:pt x="0" y="646252"/>
                  </a:lnTo>
                  <a:lnTo>
                    <a:pt x="4008" y="665976"/>
                  </a:lnTo>
                  <a:lnTo>
                    <a:pt x="14922" y="682129"/>
                  </a:lnTo>
                  <a:lnTo>
                    <a:pt x="31075" y="693044"/>
                  </a:lnTo>
                  <a:lnTo>
                    <a:pt x="50800" y="697052"/>
                  </a:lnTo>
                  <a:lnTo>
                    <a:pt x="5450866" y="697052"/>
                  </a:lnTo>
                  <a:lnTo>
                    <a:pt x="5470590" y="693044"/>
                  </a:lnTo>
                  <a:lnTo>
                    <a:pt x="5486743" y="682129"/>
                  </a:lnTo>
                  <a:lnTo>
                    <a:pt x="5497657" y="665976"/>
                  </a:lnTo>
                  <a:lnTo>
                    <a:pt x="5501666" y="646252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8" name="CustomShape 5"/>
            <p:cNvSpPr/>
            <p:nvPr/>
          </p:nvSpPr>
          <p:spPr>
            <a:xfrm>
              <a:off x="5630760" y="1216440"/>
              <a:ext cx="360" cy="797760"/>
            </a:xfrm>
            <a:custGeom>
              <a:avLst/>
              <a:gdLst/>
              <a:ahLst/>
              <a:rect l="l" t="t" r="r" b="b"/>
              <a:pathLst>
                <a:path w="0" h="798194">
                  <a:moveTo>
                    <a:pt x="0" y="797695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9" name="CustomShape 6"/>
            <p:cNvSpPr/>
            <p:nvPr/>
          </p:nvSpPr>
          <p:spPr>
            <a:xfrm>
              <a:off x="5630760" y="12038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0" name="CustomShape 7"/>
            <p:cNvSpPr/>
            <p:nvPr/>
          </p:nvSpPr>
          <p:spPr>
            <a:xfrm>
              <a:off x="5630760" y="1191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1" name="CustomShape 8"/>
            <p:cNvSpPr/>
            <p:nvPr/>
          </p:nvSpPr>
          <p:spPr>
            <a:xfrm>
              <a:off x="5630760" y="1178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42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3946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43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157284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44" name="CustomShape 9"/>
          <p:cNvSpPr/>
          <p:nvPr/>
        </p:nvSpPr>
        <p:spPr>
          <a:xfrm>
            <a:off x="153360" y="1076040"/>
            <a:ext cx="4151880" cy="105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>
            <a:spAutoFit/>
          </a:bodyPr>
          <a:p>
            <a:pPr marL="279360" indent="-253080">
              <a:lnSpc>
                <a:spcPct val="132000"/>
              </a:lnSpc>
              <a:spcBef>
                <a:spcPts val="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return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neural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networks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(1986-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present)</a:t>
            </a:r>
            <a:r>
              <a:rPr b="0" lang="en-US" sz="1000" spc="49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(re)invented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back-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propagation</a:t>
            </a:r>
            <a:r>
              <a:rPr b="0" lang="en-US" sz="1000" spc="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learning</a:t>
            </a:r>
            <a:r>
              <a:rPr b="0" lang="en-US" sz="1000" spc="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algorithm</a:t>
            </a:r>
            <a:endParaRPr b="0" lang="en-US" sz="1000" spc="-1" strike="noStrike">
              <a:latin typeface="Arial"/>
            </a:endParaRPr>
          </a:p>
          <a:p>
            <a:pPr marL="53280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applied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many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learning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problems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computer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science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psychology</a:t>
            </a:r>
            <a:endParaRPr b="0" lang="en-US" sz="900" spc="-1" strike="noStrike">
              <a:latin typeface="Arial"/>
            </a:endParaRPr>
          </a:p>
          <a:p>
            <a:pPr marL="279360" indent="-26712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1000" spc="117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revival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connectionist</a:t>
            </a:r>
            <a:r>
              <a:rPr b="0" lang="en-US" sz="10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models</a:t>
            </a:r>
            <a:r>
              <a:rPr b="0" lang="en-US" sz="10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for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intelligent</a:t>
            </a:r>
            <a:r>
              <a:rPr b="0" lang="en-US" sz="10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systems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(vs.</a:t>
            </a:r>
            <a:r>
              <a:rPr b="0" lang="en-US" sz="1000" spc="24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symbolic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or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logicist</a:t>
            </a:r>
            <a:r>
              <a:rPr b="0" lang="en-US" sz="10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approaches)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5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047" name="Group 2"/>
          <p:cNvGrpSpPr/>
          <p:nvPr/>
        </p:nvGrpSpPr>
        <p:grpSpPr>
          <a:xfrm>
            <a:off x="129240" y="553320"/>
            <a:ext cx="5551920" cy="2414520"/>
            <a:chOff x="129240" y="553320"/>
            <a:chExt cx="5551920" cy="2414520"/>
          </a:xfrm>
        </p:grpSpPr>
        <p:sp>
          <p:nvSpPr>
            <p:cNvPr id="1048" name="CustomShape 3"/>
            <p:cNvSpPr/>
            <p:nvPr/>
          </p:nvSpPr>
          <p:spPr>
            <a:xfrm>
              <a:off x="129240" y="553320"/>
              <a:ext cx="5501880" cy="183240"/>
            </a:xfrm>
            <a:custGeom>
              <a:avLst/>
              <a:gdLst/>
              <a:ahLst/>
              <a:rect l="l" t="t" r="r" b="b"/>
              <a:pathLst>
                <a:path w="5502275" h="183515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98"/>
                  </a:lnTo>
                  <a:lnTo>
                    <a:pt x="5501666" y="183098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49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72360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50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8663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51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8537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52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597600"/>
              <a:ext cx="50400" cy="2268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53" name="CustomShape 4"/>
            <p:cNvSpPr/>
            <p:nvPr/>
          </p:nvSpPr>
          <p:spPr>
            <a:xfrm>
              <a:off x="129240" y="767880"/>
              <a:ext cx="5501880" cy="2149200"/>
            </a:xfrm>
            <a:custGeom>
              <a:avLst/>
              <a:gdLst/>
              <a:ahLst/>
              <a:rect l="l" t="t" r="r" b="b"/>
              <a:pathLst>
                <a:path w="5502275" h="2149475">
                  <a:moveTo>
                    <a:pt x="5501666" y="0"/>
                  </a:moveTo>
                  <a:lnTo>
                    <a:pt x="0" y="0"/>
                  </a:lnTo>
                  <a:lnTo>
                    <a:pt x="0" y="2098497"/>
                  </a:lnTo>
                  <a:lnTo>
                    <a:pt x="4008" y="2118221"/>
                  </a:lnTo>
                  <a:lnTo>
                    <a:pt x="14922" y="2134374"/>
                  </a:lnTo>
                  <a:lnTo>
                    <a:pt x="31075" y="2145289"/>
                  </a:lnTo>
                  <a:lnTo>
                    <a:pt x="50800" y="2149297"/>
                  </a:lnTo>
                  <a:lnTo>
                    <a:pt x="5450866" y="2149297"/>
                  </a:lnTo>
                  <a:lnTo>
                    <a:pt x="5470590" y="2145289"/>
                  </a:lnTo>
                  <a:lnTo>
                    <a:pt x="5486743" y="2134374"/>
                  </a:lnTo>
                  <a:lnTo>
                    <a:pt x="5497657" y="2118221"/>
                  </a:lnTo>
                  <a:lnTo>
                    <a:pt x="5501666" y="209849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4" name="CustomShape 5"/>
            <p:cNvSpPr/>
            <p:nvPr/>
          </p:nvSpPr>
          <p:spPr>
            <a:xfrm>
              <a:off x="5630760" y="635760"/>
              <a:ext cx="360" cy="2250000"/>
            </a:xfrm>
            <a:custGeom>
              <a:avLst/>
              <a:gdLst/>
              <a:ahLst/>
              <a:rect l="l" t="t" r="r" b="b"/>
              <a:pathLst>
                <a:path w="0" h="2250440">
                  <a:moveTo>
                    <a:pt x="0" y="2249944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5" name="CustomShape 6"/>
            <p:cNvSpPr/>
            <p:nvPr/>
          </p:nvSpPr>
          <p:spPr>
            <a:xfrm>
              <a:off x="5630760" y="622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6" name="CustomShape 7"/>
            <p:cNvSpPr/>
            <p:nvPr/>
          </p:nvSpPr>
          <p:spPr>
            <a:xfrm>
              <a:off x="5630760" y="6102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7" name="CustomShape 8"/>
            <p:cNvSpPr/>
            <p:nvPr/>
          </p:nvSpPr>
          <p:spPr>
            <a:xfrm>
              <a:off x="5630760" y="597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58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8136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59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9918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0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11311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1" name="object 17" descr=""/>
            <p:cNvPicPr/>
            <p:nvPr/>
          </p:nvPicPr>
          <p:blipFill>
            <a:blip r:embed="rId8"/>
            <a:stretch/>
          </p:blipFill>
          <p:spPr>
            <a:xfrm>
              <a:off x="566280" y="12700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2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14335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3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16117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4" name="object 20" descr=""/>
            <p:cNvPicPr/>
            <p:nvPr/>
          </p:nvPicPr>
          <p:blipFill>
            <a:blip r:embed="rId11"/>
            <a:stretch/>
          </p:blipFill>
          <p:spPr>
            <a:xfrm>
              <a:off x="566280" y="17510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5" name="object 21" descr=""/>
            <p:cNvPicPr/>
            <p:nvPr/>
          </p:nvPicPr>
          <p:blipFill>
            <a:blip r:embed="rId12"/>
            <a:stretch/>
          </p:blipFill>
          <p:spPr>
            <a:xfrm>
              <a:off x="299520" y="20538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6" name="object 22" descr=""/>
            <p:cNvPicPr/>
            <p:nvPr/>
          </p:nvPicPr>
          <p:blipFill>
            <a:blip r:embed="rId13"/>
            <a:stretch/>
          </p:blipFill>
          <p:spPr>
            <a:xfrm>
              <a:off x="566280" y="22316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7" name="object 23" descr=""/>
            <p:cNvPicPr/>
            <p:nvPr/>
          </p:nvPicPr>
          <p:blipFill>
            <a:blip r:embed="rId14"/>
            <a:stretch/>
          </p:blipFill>
          <p:spPr>
            <a:xfrm>
              <a:off x="566280" y="23709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8" name="object 24" descr=""/>
            <p:cNvPicPr/>
            <p:nvPr/>
          </p:nvPicPr>
          <p:blipFill>
            <a:blip r:embed="rId15"/>
            <a:stretch/>
          </p:blipFill>
          <p:spPr>
            <a:xfrm>
              <a:off x="566280" y="26492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9" name="object 25" descr=""/>
            <p:cNvPicPr/>
            <p:nvPr/>
          </p:nvPicPr>
          <p:blipFill>
            <a:blip r:embed="rId16"/>
            <a:stretch/>
          </p:blipFill>
          <p:spPr>
            <a:xfrm>
              <a:off x="566280" y="278856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70" name="CustomShape 9"/>
          <p:cNvSpPr/>
          <p:nvPr/>
        </p:nvSpPr>
        <p:spPr>
          <a:xfrm>
            <a:off x="167400" y="495000"/>
            <a:ext cx="5377320" cy="251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2280" bIns="0">
            <a:spAutoFit/>
          </a:bodyPr>
          <a:p>
            <a:pPr marL="12600">
              <a:lnSpc>
                <a:spcPct val="100000"/>
              </a:lnSpc>
              <a:spcBef>
                <a:spcPts val="490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adopts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scientific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method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(1987-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present)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391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 “gentle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revolution”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 in AI content</a:t>
            </a:r>
            <a:r>
              <a:rPr b="0" lang="en-US" sz="1000" spc="4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and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methodology</a:t>
            </a:r>
            <a:endParaRPr b="0" lang="en-US" sz="1000" spc="-1" strike="noStrike">
              <a:latin typeface="Arial"/>
            </a:endParaRPr>
          </a:p>
          <a:p>
            <a:pPr marL="51876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build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on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existing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theories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than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propose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brand-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new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ones</a:t>
            </a:r>
            <a:endParaRPr b="0" lang="en-US" sz="900" spc="-1" strike="noStrike">
              <a:latin typeface="Arial"/>
            </a:endParaRPr>
          </a:p>
          <a:p>
            <a:pPr marL="518760">
              <a:lnSpc>
                <a:spcPct val="101000"/>
              </a:lnSpc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base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claims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on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rigorous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theorems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or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hard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experimental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evidence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rather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than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on</a:t>
            </a:r>
            <a:r>
              <a:rPr b="0" lang="en-US" sz="9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intuition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show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relevance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real-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world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applications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rather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than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toy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example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8000"/>
              </a:lnSpc>
              <a:spcBef>
                <a:spcPts val="10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has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finally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come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firmly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under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scientific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method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hypotheses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must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be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subjected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to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rigorous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empirical</a:t>
            </a:r>
            <a:r>
              <a:rPr b="0" lang="en-US" sz="900" spc="-2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experiment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results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must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be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analyzed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statistically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for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their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importance</a:t>
            </a:r>
            <a:endParaRPr b="0" lang="en-US" sz="900" spc="-1" strike="noStrike">
              <a:latin typeface="Arial"/>
            </a:endParaRPr>
          </a:p>
          <a:p>
            <a:pPr marL="266760" indent="-253080">
              <a:lnSpc>
                <a:spcPct val="100000"/>
              </a:lnSpc>
              <a:spcBef>
                <a:spcPts val="20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900" spc="137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general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increase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in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</a:rPr>
              <a:t>technical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</a:rPr>
              <a:t>depth</a:t>
            </a:r>
            <a:endParaRPr b="0" lang="en-US" sz="900" spc="-1" strike="noStrike">
              <a:latin typeface="Arial"/>
            </a:endParaRPr>
          </a:p>
          <a:p>
            <a:pPr marL="26532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Resurgence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probability,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focus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uncertainty</a:t>
            </a:r>
            <a:endParaRPr b="0" lang="en-US" sz="10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(speech</a:t>
            </a:r>
            <a:r>
              <a:rPr b="0" lang="en-US" sz="900" spc="-5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&amp;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handwriting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recognition):</a:t>
            </a:r>
            <a:r>
              <a:rPr b="0" lang="en-US" sz="900" spc="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hidden</a:t>
            </a:r>
            <a:r>
              <a:rPr b="0" lang="en-US" sz="900" spc="-4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Markov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models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1000"/>
              </a:lnSpc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neural</a:t>
            </a:r>
            <a:r>
              <a:rPr b="0" lang="en-US" sz="900" spc="-60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networks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benefited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from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statistics,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pattern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recognition,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machine</a:t>
            </a:r>
            <a:r>
              <a:rPr b="0" lang="en-US" sz="900" spc="-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learning</a:t>
            </a:r>
            <a:r>
              <a:rPr b="0" lang="en-US" sz="900" spc="-3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46" strike="noStrike">
                <a:solidFill>
                  <a:srgbClr val="c92626"/>
                </a:solidFill>
                <a:latin typeface="Lucida Sans Unicode"/>
              </a:rPr>
              <a:t>=⇒</a:t>
            </a:r>
            <a:r>
              <a:rPr b="0" lang="en-US" sz="900" spc="-35" strike="noStrike">
                <a:solidFill>
                  <a:srgbClr val="c92626"/>
                </a:solidFill>
                <a:latin typeface="Lucida Sans Unicode"/>
              </a:rPr>
              <a:t> 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data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mining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rigorous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reasoning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with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uncertainty:</a:t>
            </a:r>
            <a:r>
              <a:rPr b="0" lang="en-US" sz="900" spc="3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Baynesian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networks</a:t>
            </a:r>
            <a:endParaRPr b="0" lang="en-US" sz="900" spc="-1" strike="noStrike">
              <a:latin typeface="Arial"/>
            </a:endParaRPr>
          </a:p>
          <a:p>
            <a:pPr marL="518760" indent="-25308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Similar</a:t>
            </a:r>
            <a:r>
              <a:rPr b="0" lang="en-US" sz="9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“gentle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c92626"/>
                </a:solidFill>
                <a:latin typeface="Arial"/>
              </a:rPr>
              <a:t>revolutions”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occurred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9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robotics,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computer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vision,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representation.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71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31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073" name="Group 2"/>
          <p:cNvGrpSpPr/>
          <p:nvPr/>
        </p:nvGrpSpPr>
        <p:grpSpPr>
          <a:xfrm>
            <a:off x="129240" y="805680"/>
            <a:ext cx="5551920" cy="1783440"/>
            <a:chOff x="129240" y="805680"/>
            <a:chExt cx="5551920" cy="1783440"/>
          </a:xfrm>
        </p:grpSpPr>
        <p:sp>
          <p:nvSpPr>
            <p:cNvPr id="1074" name="CustomShape 3"/>
            <p:cNvSpPr/>
            <p:nvPr/>
          </p:nvSpPr>
          <p:spPr>
            <a:xfrm>
              <a:off x="129240" y="80568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75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97776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76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48796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77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4750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78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849960"/>
              <a:ext cx="50400" cy="163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79" name="CustomShape 4"/>
            <p:cNvSpPr/>
            <p:nvPr/>
          </p:nvSpPr>
          <p:spPr>
            <a:xfrm>
              <a:off x="129240" y="1022040"/>
              <a:ext cx="5501880" cy="1516680"/>
            </a:xfrm>
            <a:custGeom>
              <a:avLst/>
              <a:gdLst/>
              <a:ahLst/>
              <a:rect l="l" t="t" r="r" b="b"/>
              <a:pathLst>
                <a:path w="5502275" h="1517014">
                  <a:moveTo>
                    <a:pt x="5501666" y="0"/>
                  </a:moveTo>
                  <a:lnTo>
                    <a:pt x="0" y="0"/>
                  </a:lnTo>
                  <a:lnTo>
                    <a:pt x="0" y="1465859"/>
                  </a:lnTo>
                  <a:lnTo>
                    <a:pt x="4008" y="1485584"/>
                  </a:lnTo>
                  <a:lnTo>
                    <a:pt x="14922" y="1501737"/>
                  </a:lnTo>
                  <a:lnTo>
                    <a:pt x="31075" y="1512651"/>
                  </a:lnTo>
                  <a:lnTo>
                    <a:pt x="50800" y="1516659"/>
                  </a:lnTo>
                  <a:lnTo>
                    <a:pt x="5450866" y="1516659"/>
                  </a:lnTo>
                  <a:lnTo>
                    <a:pt x="5470590" y="1512651"/>
                  </a:lnTo>
                  <a:lnTo>
                    <a:pt x="5486743" y="1501737"/>
                  </a:lnTo>
                  <a:lnTo>
                    <a:pt x="5497657" y="1485584"/>
                  </a:lnTo>
                  <a:lnTo>
                    <a:pt x="5501666" y="1465859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0" name="CustomShape 5"/>
            <p:cNvSpPr/>
            <p:nvPr/>
          </p:nvSpPr>
          <p:spPr>
            <a:xfrm>
              <a:off x="5630760" y="888120"/>
              <a:ext cx="360" cy="1618920"/>
            </a:xfrm>
            <a:custGeom>
              <a:avLst/>
              <a:gdLst/>
              <a:ahLst/>
              <a:rect l="l" t="t" r="r" b="b"/>
              <a:pathLst>
                <a:path w="0" h="1619250">
                  <a:moveTo>
                    <a:pt x="0" y="161883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1" name="CustomShape 6"/>
            <p:cNvSpPr/>
            <p:nvPr/>
          </p:nvSpPr>
          <p:spPr>
            <a:xfrm>
              <a:off x="5630760" y="8751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2" name="CustomShape 7"/>
            <p:cNvSpPr/>
            <p:nvPr/>
          </p:nvSpPr>
          <p:spPr>
            <a:xfrm>
              <a:off x="5630760" y="8625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3" name="CustomShape 8"/>
            <p:cNvSpPr/>
            <p:nvPr/>
          </p:nvSpPr>
          <p:spPr>
            <a:xfrm>
              <a:off x="5630760" y="8499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84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0677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5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5483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6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17265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7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18900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8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22316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9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240984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90" name="TextShape 9"/>
          <p:cNvSpPr txBox="1"/>
          <p:nvPr/>
        </p:nvSpPr>
        <p:spPr>
          <a:xfrm>
            <a:off x="153360" y="593640"/>
            <a:ext cx="5406840" cy="1956240"/>
          </a:xfrm>
          <a:prstGeom prst="rect">
            <a:avLst/>
          </a:prstGeom>
          <a:noFill/>
          <a:ln>
            <a:noFill/>
          </a:ln>
        </p:spPr>
        <p:txBody>
          <a:bodyPr lIns="0" rIns="0" tIns="164880" bIns="0">
            <a:spAutoFit/>
          </a:bodyPr>
          <a:p>
            <a:pPr marL="279360" indent="-253080">
              <a:lnSpc>
                <a:spcPct val="133000"/>
              </a:lnSpc>
              <a:spcBef>
                <a:spcPts val="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emergence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intelligent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agents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(1995-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present)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renewed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interest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“whole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agent”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problem:</a:t>
            </a:r>
            <a:endParaRPr b="0" lang="en-US" sz="1000" spc="-1" strike="noStrike">
              <a:latin typeface="Calibri"/>
            </a:endParaRPr>
          </a:p>
          <a:p>
            <a:pPr marL="279360" indent="-253080">
              <a:lnSpc>
                <a:spcPts val="1199"/>
              </a:lnSpc>
              <a:spcBef>
                <a:spcPts val="34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How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does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agent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act/behave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embedded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real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environments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continuous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sensory inputs?”</a:t>
            </a:r>
            <a:endParaRPr b="0" lang="en-US" sz="1000" spc="-1" strike="noStrike">
              <a:latin typeface="Calibri"/>
            </a:endParaRPr>
          </a:p>
          <a:p>
            <a:pPr marL="279360" indent="-253080">
              <a:lnSpc>
                <a:spcPct val="100000"/>
              </a:lnSpc>
              <a:spcBef>
                <a:spcPts val="150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Es: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AI in the internet domain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“-bots”</a:t>
            </a:r>
            <a:endParaRPr b="0" lang="en-US" sz="1000" spc="-1" strike="noStrike">
              <a:latin typeface="Calibri"/>
            </a:endParaRPr>
          </a:p>
          <a:p>
            <a:pPr marL="53280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Decision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support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systems,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robotic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agents,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natural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</a:rPr>
              <a:t>language</a:t>
            </a:r>
            <a:endParaRPr b="0" lang="en-US" sz="900" spc="-1" strike="noStrike">
              <a:latin typeface="Calibri"/>
            </a:endParaRPr>
          </a:p>
          <a:p>
            <a:pPr marL="27936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Need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interaction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between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sensing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reasoning</a:t>
            </a:r>
            <a:endParaRPr b="0" lang="en-US" sz="1000" spc="-1" strike="noStrike">
              <a:latin typeface="Calibri"/>
            </a:endParaRPr>
          </a:p>
          <a:p>
            <a:pPr marL="28080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900" spc="128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reasoning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planning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must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handle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</a:rPr>
              <a:t>uncertainty</a:t>
            </a:r>
            <a:endParaRPr b="0" lang="en-US" sz="900" spc="-1" strike="noStrike">
              <a:latin typeface="Calibri"/>
            </a:endParaRPr>
          </a:p>
          <a:p>
            <a:pPr marL="279360" indent="-25308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forced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into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much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closer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contact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other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fields</a:t>
            </a:r>
            <a:endParaRPr b="0" lang="en-US" sz="1000" spc="-1" strike="noStrike">
              <a:latin typeface="Calibri"/>
            </a:endParaRPr>
          </a:p>
          <a:p>
            <a:pPr marL="532800" indent="-25308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e.g.</a:t>
            </a:r>
            <a:r>
              <a:rPr b="0" lang="en-US" sz="9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control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theory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economics</a:t>
            </a:r>
            <a:endParaRPr b="0" lang="en-US" sz="900" spc="-1" strike="noStrike">
              <a:latin typeface="Calibri"/>
            </a:endParaRPr>
          </a:p>
        </p:txBody>
      </p:sp>
      <p:sp>
        <p:nvSpPr>
          <p:cNvPr id="1091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32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093" name="Group 2"/>
          <p:cNvGrpSpPr/>
          <p:nvPr/>
        </p:nvGrpSpPr>
        <p:grpSpPr>
          <a:xfrm>
            <a:off x="129240" y="653400"/>
            <a:ext cx="5551920" cy="2164320"/>
            <a:chOff x="129240" y="653400"/>
            <a:chExt cx="5551920" cy="2164320"/>
          </a:xfrm>
        </p:grpSpPr>
        <p:sp>
          <p:nvSpPr>
            <p:cNvPr id="1094" name="CustomShape 3"/>
            <p:cNvSpPr/>
            <p:nvPr/>
          </p:nvSpPr>
          <p:spPr>
            <a:xfrm>
              <a:off x="129240" y="65340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95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82548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6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71620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7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70360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8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697680"/>
              <a:ext cx="50400" cy="2018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99" name="CustomShape 4"/>
            <p:cNvSpPr/>
            <p:nvPr/>
          </p:nvSpPr>
          <p:spPr>
            <a:xfrm>
              <a:off x="129240" y="869760"/>
              <a:ext cx="5501880" cy="1897560"/>
            </a:xfrm>
            <a:custGeom>
              <a:avLst/>
              <a:gdLst/>
              <a:ahLst/>
              <a:rect l="l" t="t" r="r" b="b"/>
              <a:pathLst>
                <a:path w="5502275" h="1898014">
                  <a:moveTo>
                    <a:pt x="5501666" y="0"/>
                  </a:moveTo>
                  <a:lnTo>
                    <a:pt x="0" y="0"/>
                  </a:lnTo>
                  <a:lnTo>
                    <a:pt x="0" y="1846745"/>
                  </a:lnTo>
                  <a:lnTo>
                    <a:pt x="4008" y="1866469"/>
                  </a:lnTo>
                  <a:lnTo>
                    <a:pt x="14922" y="1882622"/>
                  </a:lnTo>
                  <a:lnTo>
                    <a:pt x="31075" y="1893536"/>
                  </a:lnTo>
                  <a:lnTo>
                    <a:pt x="50800" y="1897545"/>
                  </a:lnTo>
                  <a:lnTo>
                    <a:pt x="5450866" y="1897545"/>
                  </a:lnTo>
                  <a:lnTo>
                    <a:pt x="5470590" y="1893536"/>
                  </a:lnTo>
                  <a:lnTo>
                    <a:pt x="5486743" y="1882622"/>
                  </a:lnTo>
                  <a:lnTo>
                    <a:pt x="5497657" y="1866469"/>
                  </a:lnTo>
                  <a:lnTo>
                    <a:pt x="5501666" y="1846745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0" name="CustomShape 5"/>
            <p:cNvSpPr/>
            <p:nvPr/>
          </p:nvSpPr>
          <p:spPr>
            <a:xfrm>
              <a:off x="5630760" y="735840"/>
              <a:ext cx="360" cy="1999800"/>
            </a:xfrm>
            <a:custGeom>
              <a:avLst/>
              <a:gdLst/>
              <a:ahLst/>
              <a:rect l="l" t="t" r="r" b="b"/>
              <a:pathLst>
                <a:path w="0" h="2000250">
                  <a:moveTo>
                    <a:pt x="0" y="1999703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1" name="CustomShape 6"/>
            <p:cNvSpPr/>
            <p:nvPr/>
          </p:nvSpPr>
          <p:spPr>
            <a:xfrm>
              <a:off x="5630760" y="7228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2" name="CustomShape 7"/>
            <p:cNvSpPr/>
            <p:nvPr/>
          </p:nvSpPr>
          <p:spPr>
            <a:xfrm>
              <a:off x="5630760" y="7102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3" name="CustomShape 8"/>
            <p:cNvSpPr/>
            <p:nvPr/>
          </p:nvSpPr>
          <p:spPr>
            <a:xfrm>
              <a:off x="5630760" y="69768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04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2567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05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4468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06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21301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07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262332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108" name="TextShape 9"/>
          <p:cNvSpPr txBox="1"/>
          <p:nvPr/>
        </p:nvSpPr>
        <p:spPr>
          <a:xfrm>
            <a:off x="153360" y="593640"/>
            <a:ext cx="5406840" cy="2126520"/>
          </a:xfrm>
          <a:prstGeom prst="rect">
            <a:avLst/>
          </a:prstGeom>
          <a:noFill/>
          <a:ln>
            <a:noFill/>
          </a:ln>
        </p:spPr>
        <p:txBody>
          <a:bodyPr lIns="0" rIns="0" tIns="63360" bIns="0">
            <a:spAutoFit/>
          </a:bodyPr>
          <a:p>
            <a:pPr marL="2664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availability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of very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large data</a:t>
            </a:r>
            <a:r>
              <a:rPr b="0" lang="en-US" sz="1000" spc="-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sets (2001-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present)</a:t>
            </a:r>
            <a:endParaRPr b="0" lang="en-US" sz="1000" spc="-1" strike="noStrike">
              <a:latin typeface="Calibri"/>
            </a:endParaRPr>
          </a:p>
          <a:p>
            <a:pPr marL="26640">
              <a:lnSpc>
                <a:spcPct val="100000"/>
              </a:lnSpc>
              <a:spcBef>
                <a:spcPts val="40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Big</a:t>
            </a:r>
            <a:r>
              <a:rPr b="0" lang="en-US" sz="10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data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massive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computing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power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(e.g.</a:t>
            </a:r>
            <a:r>
              <a:rPr b="0" lang="en-US" sz="1000" spc="3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GPUs)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have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enabled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deep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networks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properly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trained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work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properly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89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Until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recently: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emphasis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algorithms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Recent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works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AI: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emphasis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data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(for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machine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learning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&amp;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deep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learning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000" spc="-1" strike="noStrike">
              <a:latin typeface="Calibri"/>
            </a:endParaRPr>
          </a:p>
          <a:p>
            <a:pPr marL="279360" indent="-267120">
              <a:lnSpc>
                <a:spcPct val="100000"/>
              </a:lnSpc>
              <a:spcBef>
                <a:spcPts val="286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Lucida Sans Unicode"/>
              </a:rPr>
              <a:t>=⇒</a:t>
            </a:r>
            <a:r>
              <a:rPr b="0" lang="en-US" sz="1000" spc="137" strike="noStrike">
                <a:solidFill>
                  <a:srgbClr val="3333b2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learning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methods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rather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than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hand-coded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knowledge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engineering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used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express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the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knowledge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system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needs</a:t>
            </a:r>
            <a:endParaRPr b="0" lang="en-US" sz="1000" spc="-1" strike="noStrike">
              <a:latin typeface="Calibri"/>
            </a:endParaRPr>
          </a:p>
          <a:p>
            <a:pPr marL="279360" indent="-267120">
              <a:lnSpc>
                <a:spcPts val="1199"/>
              </a:lnSpc>
              <a:spcBef>
                <a:spcPts val="289"/>
              </a:spcBef>
            </a:pPr>
            <a:r>
              <a:rPr b="0" lang="en-US" sz="1000" spc="-80" strike="noStrike">
                <a:solidFill>
                  <a:srgbClr val="000000"/>
                </a:solidFill>
                <a:latin typeface="Lucida Sans Unicode"/>
              </a:rPr>
              <a:t>=⇒</a:t>
            </a:r>
            <a:r>
              <a:rPr b="0" lang="en-US" sz="1000" spc="-41" strike="noStrike">
                <a:solidFill>
                  <a:srgbClr val="000000"/>
                </a:solidFill>
                <a:latin typeface="Lucida Sans Unicode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Large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amount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and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variety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AI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applications</a:t>
            </a:r>
            <a:endParaRPr b="0" lang="en-US" sz="1000" spc="-1" strike="noStrike">
              <a:latin typeface="Calibri"/>
            </a:endParaRPr>
          </a:p>
          <a:p>
            <a:pPr marL="279360" indent="-267120">
              <a:lnSpc>
                <a:spcPts val="1199"/>
              </a:lnSpc>
              <a:spcBef>
                <a:spcPts val="40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speech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image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recognition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spam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filtering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robotics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machine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translation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autonomous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vehicles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game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playing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...)</a:t>
            </a:r>
            <a:endParaRPr b="0" lang="en-US" sz="1000" spc="-1" strike="noStrike">
              <a:latin typeface="Calibri"/>
            </a:endParaRPr>
          </a:p>
          <a:p>
            <a:pPr marL="279360" indent="-267120">
              <a:lnSpc>
                <a:spcPct val="100000"/>
              </a:lnSpc>
              <a:spcBef>
                <a:spcPts val="249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many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applications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are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now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deeply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embedded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infrastructure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every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industry</a:t>
            </a:r>
            <a:endParaRPr b="0" lang="en-US" sz="1000" spc="-1" strike="noStrike">
              <a:latin typeface="Calibri"/>
            </a:endParaRPr>
          </a:p>
        </p:txBody>
      </p:sp>
      <p:sp>
        <p:nvSpPr>
          <p:cNvPr id="1109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33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Brief</a:t>
            </a:r>
            <a:r>
              <a:rPr b="0" lang="en-US" sz="1400" spc="103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History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of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Artificial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Intelligence</a:t>
            </a:r>
            <a:r>
              <a:rPr b="0" lang="en-US" sz="1400" spc="10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[cont.]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111" name="Group 2"/>
          <p:cNvGrpSpPr/>
          <p:nvPr/>
        </p:nvGrpSpPr>
        <p:grpSpPr>
          <a:xfrm>
            <a:off x="129240" y="805320"/>
            <a:ext cx="5551920" cy="1784520"/>
            <a:chOff x="129240" y="805320"/>
            <a:chExt cx="5551920" cy="1784520"/>
          </a:xfrm>
        </p:grpSpPr>
        <p:sp>
          <p:nvSpPr>
            <p:cNvPr id="1112" name="CustomShape 3"/>
            <p:cNvSpPr/>
            <p:nvPr/>
          </p:nvSpPr>
          <p:spPr>
            <a:xfrm>
              <a:off x="129240" y="805320"/>
              <a:ext cx="5501880" cy="184320"/>
            </a:xfrm>
            <a:custGeom>
              <a:avLst/>
              <a:gdLst/>
              <a:ahLst/>
              <a:rect l="l" t="t" r="r" b="b"/>
              <a:pathLst>
                <a:path w="5502275" h="184784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4617"/>
                  </a:lnTo>
                  <a:lnTo>
                    <a:pt x="5501666" y="184617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13" name="object 5" descr=""/>
            <p:cNvPicPr/>
            <p:nvPr/>
          </p:nvPicPr>
          <p:blipFill>
            <a:blip r:embed="rId1"/>
            <a:stretch/>
          </p:blipFill>
          <p:spPr>
            <a:xfrm>
              <a:off x="129240" y="977040"/>
              <a:ext cx="5501160" cy="5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14" name="object 6" descr=""/>
            <p:cNvPicPr/>
            <p:nvPr/>
          </p:nvPicPr>
          <p:blipFill>
            <a:blip r:embed="rId2"/>
            <a:stretch/>
          </p:blipFill>
          <p:spPr>
            <a:xfrm>
              <a:off x="180000" y="248868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15" name="object 7" descr=""/>
            <p:cNvPicPr/>
            <p:nvPr/>
          </p:nvPicPr>
          <p:blipFill>
            <a:blip r:embed="rId3"/>
            <a:stretch/>
          </p:blipFill>
          <p:spPr>
            <a:xfrm>
              <a:off x="230760" y="24757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16" name="object 8" descr=""/>
            <p:cNvPicPr/>
            <p:nvPr/>
          </p:nvPicPr>
          <p:blipFill>
            <a:blip r:embed="rId4"/>
            <a:stretch/>
          </p:blipFill>
          <p:spPr>
            <a:xfrm>
              <a:off x="5630760" y="849600"/>
              <a:ext cx="50400" cy="1638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17" name="CustomShape 4"/>
            <p:cNvSpPr/>
            <p:nvPr/>
          </p:nvSpPr>
          <p:spPr>
            <a:xfrm>
              <a:off x="129240" y="1021320"/>
              <a:ext cx="5501880" cy="1517760"/>
            </a:xfrm>
            <a:custGeom>
              <a:avLst/>
              <a:gdLst/>
              <a:ahLst/>
              <a:rect l="l" t="t" r="r" b="b"/>
              <a:pathLst>
                <a:path w="5502275" h="1518285">
                  <a:moveTo>
                    <a:pt x="5501666" y="0"/>
                  </a:moveTo>
                  <a:lnTo>
                    <a:pt x="0" y="0"/>
                  </a:lnTo>
                  <a:lnTo>
                    <a:pt x="0" y="1467154"/>
                  </a:lnTo>
                  <a:lnTo>
                    <a:pt x="4008" y="1486879"/>
                  </a:lnTo>
                  <a:lnTo>
                    <a:pt x="14922" y="1503032"/>
                  </a:lnTo>
                  <a:lnTo>
                    <a:pt x="31075" y="1513946"/>
                  </a:lnTo>
                  <a:lnTo>
                    <a:pt x="50800" y="1517955"/>
                  </a:lnTo>
                  <a:lnTo>
                    <a:pt x="5450866" y="1517955"/>
                  </a:lnTo>
                  <a:lnTo>
                    <a:pt x="5470590" y="1513946"/>
                  </a:lnTo>
                  <a:lnTo>
                    <a:pt x="5486743" y="1503032"/>
                  </a:lnTo>
                  <a:lnTo>
                    <a:pt x="5497657" y="1486879"/>
                  </a:lnTo>
                  <a:lnTo>
                    <a:pt x="5501666" y="1467154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8" name="CustomShape 5"/>
            <p:cNvSpPr/>
            <p:nvPr/>
          </p:nvSpPr>
          <p:spPr>
            <a:xfrm>
              <a:off x="5630760" y="887400"/>
              <a:ext cx="360" cy="1620000"/>
            </a:xfrm>
            <a:custGeom>
              <a:avLst/>
              <a:gdLst/>
              <a:ahLst/>
              <a:rect l="l" t="t" r="r" b="b"/>
              <a:pathLst>
                <a:path w="0" h="1620520">
                  <a:moveTo>
                    <a:pt x="0" y="162012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9" name="CustomShape 6"/>
            <p:cNvSpPr/>
            <p:nvPr/>
          </p:nvSpPr>
          <p:spPr>
            <a:xfrm>
              <a:off x="5630760" y="8748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0" name="CustomShape 7"/>
            <p:cNvSpPr/>
            <p:nvPr/>
          </p:nvSpPr>
          <p:spPr>
            <a:xfrm>
              <a:off x="5630760" y="8622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1" name="CustomShape 8"/>
            <p:cNvSpPr/>
            <p:nvPr/>
          </p:nvSpPr>
          <p:spPr>
            <a:xfrm>
              <a:off x="5630760" y="849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22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0670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23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5606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24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17503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25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224388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126" name="TextShape 9"/>
          <p:cNvSpPr txBox="1"/>
          <p:nvPr/>
        </p:nvSpPr>
        <p:spPr>
          <a:xfrm>
            <a:off x="153360" y="593640"/>
            <a:ext cx="5406840" cy="2006640"/>
          </a:xfrm>
          <a:prstGeom prst="rect">
            <a:avLst/>
          </a:prstGeom>
          <a:noFill/>
          <a:ln>
            <a:noFill/>
          </a:ln>
        </p:spPr>
        <p:txBody>
          <a:bodyPr lIns="0" rIns="0" tIns="215280" bIns="0">
            <a:spAutoFit/>
          </a:bodyPr>
          <a:p>
            <a:pPr marL="26640">
              <a:lnSpc>
                <a:spcPct val="100000"/>
              </a:lnSpc>
              <a:spcBef>
                <a:spcPts val="499"/>
              </a:spcBef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Deep-Learning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Tsunami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</a:rPr>
              <a:t>(2015-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</a:rPr>
              <a:t>present)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40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Deep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Learning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waves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have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lapped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shores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computational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linguistics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several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years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now,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but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2015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seems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like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year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when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full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force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tsunami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hit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major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Natural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Language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Processing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(NLP)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conferences.”</a:t>
            </a:r>
            <a:r>
              <a:rPr b="0" lang="en-US" sz="1000" spc="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C.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Manning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86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Previous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successes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fields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image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classification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speech...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Experts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field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LeCun,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Hinton,</a:t>
            </a:r>
            <a:r>
              <a:rPr b="0" lang="en-US" sz="10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Bengio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)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agree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fact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that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there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will</a:t>
            </a:r>
            <a:r>
              <a:rPr b="0" lang="en-US" sz="10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important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developments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text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video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understanding,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machine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translation,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question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answering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...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[Turing</a:t>
            </a:r>
            <a:r>
              <a:rPr b="0" lang="en-US" sz="10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award]</a:t>
            </a:r>
            <a:endParaRPr b="0" lang="en-US" sz="1000" spc="-1" strike="noStrike">
              <a:latin typeface="Calibri"/>
            </a:endParaRPr>
          </a:p>
          <a:p>
            <a:pPr marL="279360">
              <a:lnSpc>
                <a:spcPct val="100000"/>
              </a:lnSpc>
              <a:spcBef>
                <a:spcPts val="286"/>
              </a:spcBef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Google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masters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GO: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Deep-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learning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software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defeats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human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professional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first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time.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AlphaGo.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Nature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529,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445-446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(28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January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2016).</a:t>
            </a:r>
            <a:r>
              <a:rPr b="0" lang="en-US" sz="1000" spc="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March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2016,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Lee</a:t>
            </a:r>
            <a:r>
              <a:rPr b="0" lang="en-US" sz="10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Sedol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defeated.</a:t>
            </a:r>
            <a:endParaRPr b="0" lang="en-US" sz="1000" spc="-1" strike="noStrike">
              <a:latin typeface="Calibri"/>
            </a:endParaRPr>
          </a:p>
        </p:txBody>
      </p:sp>
      <p:sp>
        <p:nvSpPr>
          <p:cNvPr id="1127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34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Main</a:t>
            </a:r>
            <a:r>
              <a:rPr b="0" lang="en-US" sz="1400" spc="69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Research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Venues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129" name="Group 2"/>
          <p:cNvGrpSpPr/>
          <p:nvPr/>
        </p:nvGrpSpPr>
        <p:grpSpPr>
          <a:xfrm>
            <a:off x="129240" y="511200"/>
            <a:ext cx="5551920" cy="2519640"/>
            <a:chOff x="129240" y="511200"/>
            <a:chExt cx="5551920" cy="2519640"/>
          </a:xfrm>
        </p:grpSpPr>
        <p:sp>
          <p:nvSpPr>
            <p:cNvPr id="1130" name="CustomShape 3"/>
            <p:cNvSpPr/>
            <p:nvPr/>
          </p:nvSpPr>
          <p:spPr>
            <a:xfrm>
              <a:off x="129240" y="51120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31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292968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32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29167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33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561960"/>
              <a:ext cx="50400" cy="2367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34" name="CustomShape 4"/>
            <p:cNvSpPr/>
            <p:nvPr/>
          </p:nvSpPr>
          <p:spPr>
            <a:xfrm>
              <a:off x="129240" y="555480"/>
              <a:ext cx="5501880" cy="2424600"/>
            </a:xfrm>
            <a:custGeom>
              <a:avLst/>
              <a:gdLst/>
              <a:ahLst/>
              <a:rect l="l" t="t" r="r" b="b"/>
              <a:pathLst>
                <a:path w="5502275" h="2425065">
                  <a:moveTo>
                    <a:pt x="5501666" y="0"/>
                  </a:moveTo>
                  <a:lnTo>
                    <a:pt x="0" y="0"/>
                  </a:lnTo>
                  <a:lnTo>
                    <a:pt x="0" y="2373947"/>
                  </a:lnTo>
                  <a:lnTo>
                    <a:pt x="4008" y="2393672"/>
                  </a:lnTo>
                  <a:lnTo>
                    <a:pt x="14922" y="2409825"/>
                  </a:lnTo>
                  <a:lnTo>
                    <a:pt x="31075" y="2420739"/>
                  </a:lnTo>
                  <a:lnTo>
                    <a:pt x="50800" y="2424747"/>
                  </a:lnTo>
                  <a:lnTo>
                    <a:pt x="5450866" y="2424747"/>
                  </a:lnTo>
                  <a:lnTo>
                    <a:pt x="5470590" y="2420739"/>
                  </a:lnTo>
                  <a:lnTo>
                    <a:pt x="5486743" y="2409825"/>
                  </a:lnTo>
                  <a:lnTo>
                    <a:pt x="5497657" y="2393672"/>
                  </a:lnTo>
                  <a:lnTo>
                    <a:pt x="5501666" y="2373947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5" name="CustomShape 5"/>
            <p:cNvSpPr/>
            <p:nvPr/>
          </p:nvSpPr>
          <p:spPr>
            <a:xfrm>
              <a:off x="5630760" y="599760"/>
              <a:ext cx="360" cy="2348640"/>
            </a:xfrm>
            <a:custGeom>
              <a:avLst/>
              <a:gdLst/>
              <a:ahLst/>
              <a:rect l="l" t="t" r="r" b="b"/>
              <a:pathLst>
                <a:path w="0" h="2348865">
                  <a:moveTo>
                    <a:pt x="0" y="2348763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6" name="CustomShape 6"/>
            <p:cNvSpPr/>
            <p:nvPr/>
          </p:nvSpPr>
          <p:spPr>
            <a:xfrm>
              <a:off x="5630760" y="5871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7" name="CustomShape 7"/>
            <p:cNvSpPr/>
            <p:nvPr/>
          </p:nvSpPr>
          <p:spPr>
            <a:xfrm>
              <a:off x="5630760" y="57456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8" name="CustomShape 8"/>
            <p:cNvSpPr/>
            <p:nvPr/>
          </p:nvSpPr>
          <p:spPr>
            <a:xfrm>
              <a:off x="5630760" y="5616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39" name="object 13" descr=""/>
            <p:cNvPicPr/>
            <p:nvPr/>
          </p:nvPicPr>
          <p:blipFill>
            <a:blip r:embed="rId4"/>
            <a:stretch/>
          </p:blipFill>
          <p:spPr>
            <a:xfrm>
              <a:off x="299520" y="5983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0" name="object 14" descr=""/>
            <p:cNvPicPr/>
            <p:nvPr/>
          </p:nvPicPr>
          <p:blipFill>
            <a:blip r:embed="rId5"/>
            <a:stretch/>
          </p:blipFill>
          <p:spPr>
            <a:xfrm>
              <a:off x="566280" y="7765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1" name="object 15" descr=""/>
            <p:cNvPicPr/>
            <p:nvPr/>
          </p:nvPicPr>
          <p:blipFill>
            <a:blip r:embed="rId6"/>
            <a:stretch/>
          </p:blipFill>
          <p:spPr>
            <a:xfrm>
              <a:off x="566280" y="9158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2" name="object 16" descr=""/>
            <p:cNvPicPr/>
            <p:nvPr/>
          </p:nvPicPr>
          <p:blipFill>
            <a:blip r:embed="rId7"/>
            <a:stretch/>
          </p:blipFill>
          <p:spPr>
            <a:xfrm>
              <a:off x="566280" y="10548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3" name="object 17" descr=""/>
            <p:cNvPicPr/>
            <p:nvPr/>
          </p:nvPicPr>
          <p:blipFill>
            <a:blip r:embed="rId8"/>
            <a:stretch/>
          </p:blipFill>
          <p:spPr>
            <a:xfrm>
              <a:off x="566280" y="11941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4" name="object 18" descr=""/>
            <p:cNvPicPr/>
            <p:nvPr/>
          </p:nvPicPr>
          <p:blipFill>
            <a:blip r:embed="rId9"/>
            <a:stretch/>
          </p:blipFill>
          <p:spPr>
            <a:xfrm>
              <a:off x="566280" y="13330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5" name="object 19" descr=""/>
            <p:cNvPicPr/>
            <p:nvPr/>
          </p:nvPicPr>
          <p:blipFill>
            <a:blip r:embed="rId10"/>
            <a:stretch/>
          </p:blipFill>
          <p:spPr>
            <a:xfrm>
              <a:off x="566280" y="147240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6" name="object 20" descr=""/>
            <p:cNvPicPr/>
            <p:nvPr/>
          </p:nvPicPr>
          <p:blipFill>
            <a:blip r:embed="rId11"/>
            <a:stretch/>
          </p:blipFill>
          <p:spPr>
            <a:xfrm>
              <a:off x="299520" y="16358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7" name="object 21" descr=""/>
            <p:cNvPicPr/>
            <p:nvPr/>
          </p:nvPicPr>
          <p:blipFill>
            <a:blip r:embed="rId12"/>
            <a:stretch/>
          </p:blipFill>
          <p:spPr>
            <a:xfrm>
              <a:off x="566280" y="18140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8" name="object 22" descr=""/>
            <p:cNvPicPr/>
            <p:nvPr/>
          </p:nvPicPr>
          <p:blipFill>
            <a:blip r:embed="rId13"/>
            <a:stretch/>
          </p:blipFill>
          <p:spPr>
            <a:xfrm>
              <a:off x="566280" y="195336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9" name="object 23" descr=""/>
            <p:cNvPicPr/>
            <p:nvPr/>
          </p:nvPicPr>
          <p:blipFill>
            <a:blip r:embed="rId14"/>
            <a:stretch/>
          </p:blipFill>
          <p:spPr>
            <a:xfrm>
              <a:off x="566280" y="209232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50" name="object 24" descr=""/>
            <p:cNvPicPr/>
            <p:nvPr/>
          </p:nvPicPr>
          <p:blipFill>
            <a:blip r:embed="rId15"/>
            <a:stretch/>
          </p:blipFill>
          <p:spPr>
            <a:xfrm>
              <a:off x="566280" y="22316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51" name="object 25" descr=""/>
            <p:cNvPicPr/>
            <p:nvPr/>
          </p:nvPicPr>
          <p:blipFill>
            <a:blip r:embed="rId16"/>
            <a:stretch/>
          </p:blipFill>
          <p:spPr>
            <a:xfrm>
              <a:off x="299520" y="23950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52" name="object 26" descr=""/>
            <p:cNvPicPr/>
            <p:nvPr/>
          </p:nvPicPr>
          <p:blipFill>
            <a:blip r:embed="rId17"/>
            <a:stretch/>
          </p:blipFill>
          <p:spPr>
            <a:xfrm>
              <a:off x="566280" y="257328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53" name="object 27" descr=""/>
            <p:cNvPicPr/>
            <p:nvPr/>
          </p:nvPicPr>
          <p:blipFill>
            <a:blip r:embed="rId18"/>
            <a:stretch/>
          </p:blipFill>
          <p:spPr>
            <a:xfrm>
              <a:off x="566280" y="2712240"/>
              <a:ext cx="56160" cy="56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54" name="object 28" descr=""/>
            <p:cNvPicPr/>
            <p:nvPr/>
          </p:nvPicPr>
          <p:blipFill>
            <a:blip r:embed="rId19"/>
            <a:stretch/>
          </p:blipFill>
          <p:spPr>
            <a:xfrm>
              <a:off x="566280" y="2851560"/>
              <a:ext cx="56160" cy="561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155" name="CustomShape 9"/>
          <p:cNvSpPr/>
          <p:nvPr/>
        </p:nvSpPr>
        <p:spPr>
          <a:xfrm>
            <a:off x="420480" y="503640"/>
            <a:ext cx="3674520" cy="28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9960" bIns="0">
            <a:spAutoFit/>
          </a:bodyPr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Major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Journals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1000"/>
              </a:lnSpc>
              <a:spcBef>
                <a:spcPts val="181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Artificial</a:t>
            </a:r>
            <a:r>
              <a:rPr b="0" lang="en-US" sz="900" spc="-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Intelligence Computational</a:t>
            </a:r>
            <a:r>
              <a:rPr b="0" lang="en-US" sz="900" spc="63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Intelligence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Journal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Artificial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Intelligence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Research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IEEE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Transactions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Pattern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Analysis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Machine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Intelligence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IEEE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Intelligent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Systems</a:t>
            </a:r>
            <a:endParaRPr b="0" lang="en-US" sz="900" spc="-1" strike="noStrike">
              <a:latin typeface="Arial"/>
            </a:endParaRPr>
          </a:p>
          <a:p>
            <a:pPr marL="29736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[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area-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specific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journals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52" strike="noStrike">
                <a:solidFill>
                  <a:srgbClr val="0000ff"/>
                </a:solidFill>
                <a:latin typeface="Arial"/>
              </a:rPr>
              <a:t>]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Main</a:t>
            </a:r>
            <a:r>
              <a:rPr b="0" lang="en-US" sz="1000" spc="-2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10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ff"/>
                </a:solidFill>
                <a:latin typeface="Arial"/>
              </a:rPr>
              <a:t>Conferences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1000"/>
              </a:lnSpc>
              <a:spcBef>
                <a:spcPts val="181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International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Joint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Conference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(IJCAI)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National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Conference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(AAAI)</a:t>
            </a:r>
            <a:r>
              <a:rPr b="0" lang="en-US" sz="900" spc="497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European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Conference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on</a:t>
            </a:r>
            <a:r>
              <a:rPr b="0" lang="en-US" sz="900" spc="-1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AI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 (ECAI)</a:t>
            </a:r>
            <a:endParaRPr b="0" lang="en-US" sz="900" spc="-1" strike="noStrike">
              <a:latin typeface="Arial"/>
            </a:endParaRPr>
          </a:p>
          <a:p>
            <a:pPr marL="297360">
              <a:lnSpc>
                <a:spcPct val="100000"/>
              </a:lnSpc>
              <a:spcBef>
                <a:spcPts val="14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[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area-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specific</a:t>
            </a:r>
            <a:r>
              <a:rPr b="0" lang="en-US" sz="900" spc="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conferences</a:t>
            </a:r>
            <a:r>
              <a:rPr b="0" lang="en-US" sz="900" spc="4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52" strike="noStrike">
                <a:solidFill>
                  <a:srgbClr val="0000ff"/>
                </a:solidFill>
                <a:latin typeface="Arial"/>
              </a:rPr>
              <a:t>]</a:t>
            </a:r>
            <a:endParaRPr b="0" lang="en-US" sz="9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15"/>
              </a:spcBef>
            </a:pP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Main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professional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societies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ff"/>
                </a:solidFill>
                <a:latin typeface="Arial"/>
              </a:rPr>
              <a:t>for</a:t>
            </a:r>
            <a:r>
              <a:rPr b="0" lang="en-US" sz="10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ff"/>
                </a:solidFill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  <a:p>
            <a:pPr marL="265320">
              <a:lnSpc>
                <a:spcPct val="100000"/>
              </a:lnSpc>
              <a:spcBef>
                <a:spcPts val="196"/>
              </a:spcBef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American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Association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for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Artificial</a:t>
            </a:r>
            <a:r>
              <a:rPr b="0" lang="en-US" sz="900" spc="-41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Intelligence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(AAAI)</a:t>
            </a:r>
            <a:endParaRPr b="0" lang="en-US" sz="900" spc="-1" strike="noStrike">
              <a:latin typeface="Arial"/>
            </a:endParaRPr>
          </a:p>
          <a:p>
            <a:pPr marL="265320">
              <a:lnSpc>
                <a:spcPct val="101000"/>
              </a:lnSpc>
            </a:pP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ACM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Special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Interest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Group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</a:t>
            </a:r>
            <a:r>
              <a:rPr b="0" lang="en-US" sz="900" spc="-35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Artificial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Intelligence</a:t>
            </a:r>
            <a:r>
              <a:rPr b="0" lang="en-US" sz="900" spc="-32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(SIGART)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Society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for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Artificial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Intelligence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and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Simulation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" strike="noStrike">
                <a:solidFill>
                  <a:srgbClr val="0000ff"/>
                </a:solidFill>
                <a:latin typeface="Arial"/>
              </a:rPr>
              <a:t>of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Behaviour</a:t>
            </a:r>
            <a:r>
              <a:rPr b="0" lang="en-US" sz="900" spc="-26" strike="noStrike">
                <a:solidFill>
                  <a:srgbClr val="0000ff"/>
                </a:solidFill>
                <a:latin typeface="Arial"/>
              </a:rPr>
              <a:t> </a:t>
            </a:r>
            <a:r>
              <a:rPr b="0" lang="en-US" sz="900" spc="-12" strike="noStrike">
                <a:solidFill>
                  <a:srgbClr val="0000ff"/>
                </a:solidFill>
                <a:latin typeface="Arial"/>
              </a:rPr>
              <a:t>(AISB)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56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35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2" strike="noStrike">
                <a:solidFill>
                  <a:srgbClr val="3333b2"/>
                </a:solidFill>
                <a:latin typeface="Arial"/>
              </a:rPr>
              <a:t>Outline</a:t>
            </a:r>
            <a:endParaRPr b="0" lang="en-US" sz="1400" spc="-1" strike="noStrike">
              <a:latin typeface="Calibri"/>
            </a:endParaRPr>
          </a:p>
        </p:txBody>
      </p:sp>
      <p:pic>
        <p:nvPicPr>
          <p:cNvPr id="1158" name="object 3" descr=""/>
          <p:cNvPicPr/>
          <p:nvPr/>
        </p:nvPicPr>
        <p:blipFill>
          <a:blip r:embed="rId1"/>
          <a:stretch/>
        </p:blipFill>
        <p:spPr>
          <a:xfrm>
            <a:off x="127080" y="9003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159" name="CustomShape 2"/>
          <p:cNvSpPr/>
          <p:nvPr/>
        </p:nvSpPr>
        <p:spPr>
          <a:xfrm>
            <a:off x="175680" y="91656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1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160" name="CustomShape 3"/>
          <p:cNvSpPr/>
          <p:nvPr/>
        </p:nvSpPr>
        <p:spPr>
          <a:xfrm>
            <a:off x="349200" y="893520"/>
            <a:ext cx="12132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AI: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Fiction</a:t>
            </a:r>
            <a:r>
              <a:rPr b="0" lang="en-US" sz="1000" spc="-21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vs.</a:t>
            </a:r>
            <a:r>
              <a:rPr b="0" lang="en-US" sz="1000" spc="38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Reality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61" name="object 6" descr=""/>
          <p:cNvPicPr/>
          <p:nvPr/>
        </p:nvPicPr>
        <p:blipFill>
          <a:blip r:embed="rId2"/>
          <a:stretch/>
        </p:blipFill>
        <p:spPr>
          <a:xfrm>
            <a:off x="127080" y="13478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162" name="CustomShape 4"/>
          <p:cNvSpPr/>
          <p:nvPr/>
        </p:nvSpPr>
        <p:spPr>
          <a:xfrm>
            <a:off x="175680" y="13640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2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163" name="CustomShape 5"/>
          <p:cNvSpPr/>
          <p:nvPr/>
        </p:nvSpPr>
        <p:spPr>
          <a:xfrm>
            <a:off x="349200" y="1341000"/>
            <a:ext cx="6721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What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is</a:t>
            </a:r>
            <a:r>
              <a:rPr b="0" lang="en-US" sz="1000" spc="-12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AI?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64" name="object 9" descr=""/>
          <p:cNvPicPr/>
          <p:nvPr/>
        </p:nvPicPr>
        <p:blipFill>
          <a:blip r:embed="rId3"/>
          <a:stretch/>
        </p:blipFill>
        <p:spPr>
          <a:xfrm>
            <a:off x="127080" y="179496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165" name="CustomShape 6"/>
          <p:cNvSpPr/>
          <p:nvPr/>
        </p:nvSpPr>
        <p:spPr>
          <a:xfrm>
            <a:off x="175680" y="18104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fafafd"/>
                </a:solidFill>
                <a:latin typeface="Arial"/>
              </a:rPr>
              <a:t>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166" name="CustomShape 7"/>
          <p:cNvSpPr/>
          <p:nvPr/>
        </p:nvSpPr>
        <p:spPr>
          <a:xfrm>
            <a:off x="349200" y="1788120"/>
            <a:ext cx="1692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Foundations</a:t>
            </a:r>
            <a:r>
              <a:rPr b="0" lang="en-US" sz="1000" spc="-21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and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History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ccccc"/>
                </a:solidFill>
                <a:latin typeface="Arial"/>
              </a:rPr>
              <a:t>of</a:t>
            </a:r>
            <a:r>
              <a:rPr b="0" lang="en-US" sz="1000" spc="-15" strike="noStrike">
                <a:solidFill>
                  <a:srgbClr val="cccccc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ccccc"/>
                </a:solidFill>
                <a:latin typeface="Arial"/>
              </a:rPr>
              <a:t>AI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67" name="object 12" descr=""/>
          <p:cNvPicPr/>
          <p:nvPr/>
        </p:nvPicPr>
        <p:blipFill>
          <a:blip r:embed="rId4"/>
          <a:stretch/>
        </p:blipFill>
        <p:spPr>
          <a:xfrm>
            <a:off x="127080" y="2242440"/>
            <a:ext cx="171720" cy="171720"/>
          </a:xfrm>
          <a:prstGeom prst="rect">
            <a:avLst/>
          </a:prstGeom>
          <a:ln>
            <a:noFill/>
          </a:ln>
        </p:spPr>
      </p:pic>
      <p:sp>
        <p:nvSpPr>
          <p:cNvPr id="1168" name="CustomShape 8"/>
          <p:cNvSpPr/>
          <p:nvPr/>
        </p:nvSpPr>
        <p:spPr>
          <a:xfrm>
            <a:off x="175680" y="2258640"/>
            <a:ext cx="74520" cy="1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52" strike="noStrike">
                <a:solidFill>
                  <a:srgbClr val="eaeaf7"/>
                </a:solidFill>
                <a:latin typeface="Arial"/>
              </a:rPr>
              <a:t>4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169" name="CustomShape 9"/>
          <p:cNvSpPr/>
          <p:nvPr/>
        </p:nvSpPr>
        <p:spPr>
          <a:xfrm>
            <a:off x="349200" y="2235600"/>
            <a:ext cx="106452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latin typeface="Arial"/>
              </a:rPr>
              <a:t>AI: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State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of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the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26" strike="noStrike">
                <a:latin typeface="Arial"/>
              </a:rPr>
              <a:t>Art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70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36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TextShape 1"/>
          <p:cNvSpPr txBox="1"/>
          <p:nvPr/>
        </p:nvSpPr>
        <p:spPr>
          <a:xfrm>
            <a:off x="95400" y="45720"/>
            <a:ext cx="433728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is</a:t>
            </a:r>
            <a:r>
              <a:rPr b="0" lang="en-US" sz="1400" spc="58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everywhere</a:t>
            </a:r>
            <a:r>
              <a:rPr b="0" lang="en-US" sz="1400" spc="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...</a:t>
            </a:r>
            <a:endParaRPr b="0" lang="en-US" sz="1400" spc="-1" strike="noStrike">
              <a:latin typeface="Calibri"/>
            </a:endParaRPr>
          </a:p>
        </p:txBody>
      </p:sp>
      <p:grpSp>
        <p:nvGrpSpPr>
          <p:cNvPr id="1172" name="Group 2"/>
          <p:cNvGrpSpPr/>
          <p:nvPr/>
        </p:nvGrpSpPr>
        <p:grpSpPr>
          <a:xfrm>
            <a:off x="129240" y="732240"/>
            <a:ext cx="5551920" cy="1967400"/>
            <a:chOff x="129240" y="732240"/>
            <a:chExt cx="5551920" cy="1967400"/>
          </a:xfrm>
        </p:grpSpPr>
        <p:sp>
          <p:nvSpPr>
            <p:cNvPr id="1173" name="CustomShape 3"/>
            <p:cNvSpPr/>
            <p:nvPr/>
          </p:nvSpPr>
          <p:spPr>
            <a:xfrm>
              <a:off x="129240" y="732240"/>
              <a:ext cx="5501880" cy="82080"/>
            </a:xfrm>
            <a:custGeom>
              <a:avLst/>
              <a:gdLst/>
              <a:ahLst/>
              <a:rect l="l" t="t" r="r" b="b"/>
              <a:pathLst>
                <a:path w="5502275" h="82550">
                  <a:moveTo>
                    <a:pt x="54508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01666" y="82384"/>
                  </a:lnTo>
                  <a:lnTo>
                    <a:pt x="5501666" y="50800"/>
                  </a:lnTo>
                  <a:lnTo>
                    <a:pt x="5497657" y="31075"/>
                  </a:lnTo>
                  <a:lnTo>
                    <a:pt x="5486743" y="14922"/>
                  </a:lnTo>
                  <a:lnTo>
                    <a:pt x="5470590" y="4008"/>
                  </a:lnTo>
                  <a:lnTo>
                    <a:pt x="54508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74" name="object 5" descr=""/>
            <p:cNvPicPr/>
            <p:nvPr/>
          </p:nvPicPr>
          <p:blipFill>
            <a:blip r:embed="rId1"/>
            <a:stretch/>
          </p:blipFill>
          <p:spPr>
            <a:xfrm>
              <a:off x="180000" y="2598120"/>
              <a:ext cx="101160" cy="10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75" name="object 6" descr=""/>
            <p:cNvPicPr/>
            <p:nvPr/>
          </p:nvPicPr>
          <p:blipFill>
            <a:blip r:embed="rId2"/>
            <a:stretch/>
          </p:blipFill>
          <p:spPr>
            <a:xfrm>
              <a:off x="230760" y="2585520"/>
              <a:ext cx="5450400" cy="1141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76" name="object 7" descr=""/>
            <p:cNvPicPr/>
            <p:nvPr/>
          </p:nvPicPr>
          <p:blipFill>
            <a:blip r:embed="rId3"/>
            <a:stretch/>
          </p:blipFill>
          <p:spPr>
            <a:xfrm>
              <a:off x="5630760" y="782640"/>
              <a:ext cx="50400" cy="18151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77" name="CustomShape 4"/>
            <p:cNvSpPr/>
            <p:nvPr/>
          </p:nvSpPr>
          <p:spPr>
            <a:xfrm>
              <a:off x="129240" y="776520"/>
              <a:ext cx="5501880" cy="1872360"/>
            </a:xfrm>
            <a:custGeom>
              <a:avLst/>
              <a:gdLst/>
              <a:ahLst/>
              <a:rect l="l" t="t" r="r" b="b"/>
              <a:pathLst>
                <a:path w="5502275" h="1872614">
                  <a:moveTo>
                    <a:pt x="5501666" y="0"/>
                  </a:moveTo>
                  <a:lnTo>
                    <a:pt x="0" y="0"/>
                  </a:lnTo>
                  <a:lnTo>
                    <a:pt x="0" y="1821561"/>
                  </a:lnTo>
                  <a:lnTo>
                    <a:pt x="4008" y="1841285"/>
                  </a:lnTo>
                  <a:lnTo>
                    <a:pt x="14922" y="1857438"/>
                  </a:lnTo>
                  <a:lnTo>
                    <a:pt x="31075" y="1868352"/>
                  </a:lnTo>
                  <a:lnTo>
                    <a:pt x="50800" y="1872361"/>
                  </a:lnTo>
                  <a:lnTo>
                    <a:pt x="5450866" y="1872361"/>
                  </a:lnTo>
                  <a:lnTo>
                    <a:pt x="5470590" y="1868352"/>
                  </a:lnTo>
                  <a:lnTo>
                    <a:pt x="5486743" y="1857438"/>
                  </a:lnTo>
                  <a:lnTo>
                    <a:pt x="5497657" y="1841285"/>
                  </a:lnTo>
                  <a:lnTo>
                    <a:pt x="5501666" y="1821561"/>
                  </a:lnTo>
                  <a:lnTo>
                    <a:pt x="550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8" name="CustomShape 5"/>
            <p:cNvSpPr/>
            <p:nvPr/>
          </p:nvSpPr>
          <p:spPr>
            <a:xfrm>
              <a:off x="5630760" y="820800"/>
              <a:ext cx="360" cy="1796040"/>
            </a:xfrm>
            <a:custGeom>
              <a:avLst/>
              <a:gdLst/>
              <a:ahLst/>
              <a:rect l="l" t="t" r="r" b="b"/>
              <a:pathLst>
                <a:path w="0" h="1796414">
                  <a:moveTo>
                    <a:pt x="0" y="1796376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7f7f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9" name="CustomShape 6"/>
            <p:cNvSpPr/>
            <p:nvPr/>
          </p:nvSpPr>
          <p:spPr>
            <a:xfrm>
              <a:off x="5630760" y="80820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afafa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0" name="CustomShape 7"/>
            <p:cNvSpPr/>
            <p:nvPr/>
          </p:nvSpPr>
          <p:spPr>
            <a:xfrm>
              <a:off x="5630760" y="7952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cec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1" name="CustomShape 8"/>
            <p:cNvSpPr/>
            <p:nvPr/>
          </p:nvSpPr>
          <p:spPr>
            <a:xfrm>
              <a:off x="5630760" y="782640"/>
              <a:ext cx="360" cy="12240"/>
            </a:xfrm>
            <a:custGeom>
              <a:avLst/>
              <a:gdLst/>
              <a:ah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82" name="object 13" descr=""/>
            <p:cNvPicPr/>
            <p:nvPr/>
          </p:nvPicPr>
          <p:blipFill>
            <a:blip r:embed="rId4"/>
            <a:stretch/>
          </p:blipFill>
          <p:spPr>
            <a:xfrm>
              <a:off x="299520" y="8222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3" name="object 14" descr=""/>
            <p:cNvPicPr/>
            <p:nvPr/>
          </p:nvPicPr>
          <p:blipFill>
            <a:blip r:embed="rId5"/>
            <a:stretch/>
          </p:blipFill>
          <p:spPr>
            <a:xfrm>
              <a:off x="299520" y="10119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4" name="object 15" descr=""/>
            <p:cNvPicPr/>
            <p:nvPr/>
          </p:nvPicPr>
          <p:blipFill>
            <a:blip r:embed="rId6"/>
            <a:stretch/>
          </p:blipFill>
          <p:spPr>
            <a:xfrm>
              <a:off x="299520" y="12020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5" name="object 16" descr=""/>
            <p:cNvPicPr/>
            <p:nvPr/>
          </p:nvPicPr>
          <p:blipFill>
            <a:blip r:embed="rId7"/>
            <a:stretch/>
          </p:blipFill>
          <p:spPr>
            <a:xfrm>
              <a:off x="299520" y="139176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6" name="object 17" descr=""/>
            <p:cNvPicPr/>
            <p:nvPr/>
          </p:nvPicPr>
          <p:blipFill>
            <a:blip r:embed="rId8"/>
            <a:stretch/>
          </p:blipFill>
          <p:spPr>
            <a:xfrm>
              <a:off x="299520" y="158148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7" name="object 18" descr=""/>
            <p:cNvPicPr/>
            <p:nvPr/>
          </p:nvPicPr>
          <p:blipFill>
            <a:blip r:embed="rId9"/>
            <a:stretch/>
          </p:blipFill>
          <p:spPr>
            <a:xfrm>
              <a:off x="299520" y="177120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8" name="object 19" descr=""/>
            <p:cNvPicPr/>
            <p:nvPr/>
          </p:nvPicPr>
          <p:blipFill>
            <a:blip r:embed="rId10"/>
            <a:stretch/>
          </p:blipFill>
          <p:spPr>
            <a:xfrm>
              <a:off x="299520" y="19609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9" name="object 20" descr=""/>
            <p:cNvPicPr/>
            <p:nvPr/>
          </p:nvPicPr>
          <p:blipFill>
            <a:blip r:embed="rId11"/>
            <a:stretch/>
          </p:blipFill>
          <p:spPr>
            <a:xfrm>
              <a:off x="299520" y="215064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90" name="object 21" descr=""/>
            <p:cNvPicPr/>
            <p:nvPr/>
          </p:nvPicPr>
          <p:blipFill>
            <a:blip r:embed="rId12"/>
            <a:stretch/>
          </p:blipFill>
          <p:spPr>
            <a:xfrm>
              <a:off x="299520" y="2340720"/>
              <a:ext cx="69840" cy="698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91" name="object 22" descr=""/>
            <p:cNvPicPr/>
            <p:nvPr/>
          </p:nvPicPr>
          <p:blipFill>
            <a:blip r:embed="rId13"/>
            <a:stretch/>
          </p:blipFill>
          <p:spPr>
            <a:xfrm>
              <a:off x="299520" y="2530440"/>
              <a:ext cx="69840" cy="69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192" name="CustomShape 9"/>
          <p:cNvSpPr/>
          <p:nvPr/>
        </p:nvSpPr>
        <p:spPr>
          <a:xfrm>
            <a:off x="420480" y="717840"/>
            <a:ext cx="2468520" cy="190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040" bIns="0">
            <a:spAutoFit/>
          </a:bodyPr>
          <a:p>
            <a:pPr marL="12600">
              <a:lnSpc>
                <a:spcPct val="100000"/>
              </a:lnSpc>
              <a:spcBef>
                <a:spcPts val="394"/>
              </a:spcBef>
            </a:pPr>
            <a:r>
              <a:rPr b="0" lang="en-US" sz="1000" spc="-1" strike="noStrike">
                <a:latin typeface="Arial"/>
              </a:rPr>
              <a:t>Search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engines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latin typeface="Arial"/>
              </a:rPr>
              <a:t>Route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planning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(e.g.</a:t>
            </a:r>
            <a:r>
              <a:rPr b="0" lang="en-US" sz="1000" spc="38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maps,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traffic)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24000"/>
              </a:lnSpc>
            </a:pPr>
            <a:r>
              <a:rPr b="0" lang="en-US" sz="1000" spc="-1" strike="noStrike">
                <a:latin typeface="Arial"/>
              </a:rPr>
              <a:t>Logistics</a:t>
            </a:r>
            <a:r>
              <a:rPr b="0" lang="en-US" sz="1000" spc="-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(e.g.</a:t>
            </a:r>
            <a:r>
              <a:rPr b="0" lang="en-US" sz="1000" spc="3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packages,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inventory,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airlines) </a:t>
            </a:r>
            <a:r>
              <a:rPr b="0" lang="en-US" sz="1000" spc="-1" strike="noStrike">
                <a:latin typeface="Arial"/>
              </a:rPr>
              <a:t>Medical</a:t>
            </a:r>
            <a:r>
              <a:rPr b="0" lang="en-US" sz="1000" spc="-26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diagnosis,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machine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diagnosis </a:t>
            </a:r>
            <a:r>
              <a:rPr b="0" lang="en-US" sz="1000" spc="-1" strike="noStrike">
                <a:latin typeface="Arial"/>
              </a:rPr>
              <a:t>Automated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help</a:t>
            </a:r>
            <a:r>
              <a:rPr b="0" lang="en-US" sz="1000" spc="-21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desks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latin typeface="Arial"/>
              </a:rPr>
              <a:t>Spam/fraud</a:t>
            </a:r>
            <a:r>
              <a:rPr b="0" lang="en-US" sz="1000" spc="-15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detection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24000"/>
              </a:lnSpc>
            </a:pPr>
            <a:r>
              <a:rPr b="0" lang="en-US" sz="1000" spc="-1" strike="noStrike">
                <a:latin typeface="Arial"/>
              </a:rPr>
              <a:t>Smarter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devices,</a:t>
            </a:r>
            <a:r>
              <a:rPr b="0" lang="en-US" sz="1000" spc="-1" strike="noStrike">
                <a:latin typeface="Arial"/>
              </a:rPr>
              <a:t> e.g.</a:t>
            </a:r>
            <a:r>
              <a:rPr b="0" lang="en-US" sz="1000" spc="58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cameras </a:t>
            </a:r>
            <a:r>
              <a:rPr b="0" lang="en-US" sz="1000" spc="-1" strike="noStrike">
                <a:latin typeface="Arial"/>
              </a:rPr>
              <a:t>Product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recommendations </a:t>
            </a:r>
            <a:r>
              <a:rPr b="0" lang="en-US" sz="1000" spc="-1" strike="noStrike">
                <a:latin typeface="Arial"/>
              </a:rPr>
              <a:t>Assistants,</a:t>
            </a:r>
            <a:r>
              <a:rPr b="0" lang="en-US" sz="1000" spc="-12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smart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homes</a:t>
            </a:r>
            <a:endParaRPr b="0" lang="en-US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95"/>
              </a:spcBef>
            </a:pPr>
            <a:r>
              <a:rPr b="0" lang="en-US" sz="1000" spc="-1" strike="noStrike">
                <a:latin typeface="Arial"/>
              </a:rPr>
              <a:t>...</a:t>
            </a:r>
            <a:r>
              <a:rPr b="0" lang="en-US" sz="1000" spc="58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Lots</a:t>
            </a:r>
            <a:r>
              <a:rPr b="0" lang="en-US" sz="1000" spc="-7" strike="noStrike">
                <a:latin typeface="Arial"/>
              </a:rPr>
              <a:t> </a:t>
            </a:r>
            <a:r>
              <a:rPr b="0" lang="en-US" sz="1000" spc="-12" strike="noStrike">
                <a:latin typeface="Arial"/>
              </a:rPr>
              <a:t>more!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93" name="TextShape 10"/>
          <p:cNvSpPr txBox="1"/>
          <p:nvPr/>
        </p:nvSpPr>
        <p:spPr>
          <a:xfrm>
            <a:off x="5479200" y="3140280"/>
            <a:ext cx="230400" cy="1891080"/>
          </a:xfrm>
          <a:prstGeom prst="rect">
            <a:avLst/>
          </a:prstGeom>
          <a:noFill/>
          <a:ln>
            <a:noFill/>
          </a:ln>
        </p:spPr>
        <p:txBody>
          <a:bodyPr lIns="0" rIns="0" tIns="9360" bIns="0">
            <a:spAutoFit/>
          </a:bodyPr>
          <a:p>
            <a:pPr marL="3744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37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5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</a:rPr>
              <a:t>39</a:t>
            </a:r>
            <a:endParaRPr b="0" lang="en-US" sz="500" spc="-1" strike="noStrike">
              <a:latin typeface="Times New Roman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TextShape 1"/>
          <p:cNvSpPr txBox="1"/>
          <p:nvPr/>
        </p:nvSpPr>
        <p:spPr>
          <a:xfrm>
            <a:off x="95400" y="45720"/>
            <a:ext cx="294156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1195" name="CustomShape 2"/>
          <p:cNvSpPr/>
          <p:nvPr/>
        </p:nvSpPr>
        <p:spPr>
          <a:xfrm>
            <a:off x="1527120" y="371520"/>
            <a:ext cx="27054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3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classify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incoming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e-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mails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as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spam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(or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not),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96" name="object 4" descr=""/>
          <p:cNvPicPr/>
          <p:nvPr/>
        </p:nvPicPr>
        <p:blipFill>
          <a:blip r:embed="rId1"/>
          <a:stretch/>
        </p:blipFill>
        <p:spPr>
          <a:xfrm>
            <a:off x="1802520" y="696240"/>
            <a:ext cx="1883520" cy="2050560"/>
          </a:xfrm>
          <a:prstGeom prst="rect">
            <a:avLst/>
          </a:prstGeom>
          <a:ln>
            <a:noFill/>
          </a:ln>
        </p:spPr>
      </p:pic>
      <p:sp>
        <p:nvSpPr>
          <p:cNvPr id="1197" name="CustomShape 3"/>
          <p:cNvSpPr/>
          <p:nvPr/>
        </p:nvSpPr>
        <p:spPr>
          <a:xfrm>
            <a:off x="2116440" y="2856600"/>
            <a:ext cx="131616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Courier New"/>
                <a:hlinkClick r:id="rId2"/>
              </a:rPr>
              <a:t>http://www.resilientsystems.co.uk/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198" name="CustomShape 4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CustomShape 1"/>
          <p:cNvSpPr/>
          <p:nvPr/>
        </p:nvSpPr>
        <p:spPr>
          <a:xfrm>
            <a:off x="95400" y="45720"/>
            <a:ext cx="3736440" cy="5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1845360">
              <a:lnSpc>
                <a:spcPct val="100000"/>
              </a:lnSpc>
              <a:spcBef>
                <a:spcPts val="160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3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predict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stock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price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evolution,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 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00" name="object 3" descr=""/>
          <p:cNvPicPr/>
          <p:nvPr/>
        </p:nvPicPr>
        <p:blipFill>
          <a:blip r:embed="rId1"/>
          <a:stretch/>
        </p:blipFill>
        <p:spPr>
          <a:xfrm>
            <a:off x="956160" y="811080"/>
            <a:ext cx="3831480" cy="1919520"/>
          </a:xfrm>
          <a:prstGeom prst="rect">
            <a:avLst/>
          </a:prstGeom>
          <a:ln>
            <a:noFill/>
          </a:ln>
        </p:spPr>
      </p:pic>
      <p:sp>
        <p:nvSpPr>
          <p:cNvPr id="1201" name="CustomShape 2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CustomShape 1"/>
          <p:cNvSpPr/>
          <p:nvPr/>
        </p:nvSpPr>
        <p:spPr>
          <a:xfrm>
            <a:off x="95400" y="45720"/>
            <a:ext cx="3702960" cy="48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1878840">
              <a:lnSpc>
                <a:spcPct val="100000"/>
              </a:lnSpc>
              <a:spcBef>
                <a:spcPts val="839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4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understanding handwriting,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03" name="object 3" descr=""/>
          <p:cNvPicPr/>
          <p:nvPr/>
        </p:nvPicPr>
        <p:blipFill>
          <a:blip r:embed="rId1"/>
          <a:stretch/>
        </p:blipFill>
        <p:spPr>
          <a:xfrm>
            <a:off x="1926000" y="729720"/>
            <a:ext cx="1954080" cy="2065320"/>
          </a:xfrm>
          <a:prstGeom prst="rect">
            <a:avLst/>
          </a:prstGeom>
          <a:ln>
            <a:noFill/>
          </a:ln>
        </p:spPr>
      </p:pic>
      <p:sp>
        <p:nvSpPr>
          <p:cNvPr id="1204" name="CustomShape 2"/>
          <p:cNvSpPr/>
          <p:nvPr/>
        </p:nvSpPr>
        <p:spPr>
          <a:xfrm>
            <a:off x="2509920" y="2855520"/>
            <a:ext cx="56412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[LeCun</a:t>
            </a:r>
            <a:r>
              <a:rPr b="0" lang="en-US" sz="500" spc="-15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et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al.</a:t>
            </a:r>
            <a:r>
              <a:rPr b="0" lang="en-US" sz="500" spc="29" strike="noStrike">
                <a:latin typeface="Arial"/>
              </a:rPr>
              <a:t> </a:t>
            </a:r>
            <a:r>
              <a:rPr b="0" lang="en-US" sz="500" spc="-12" strike="noStrike">
                <a:latin typeface="Arial"/>
              </a:rPr>
              <a:t>1989]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05" name="CustomShape 3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TextShape 1"/>
          <p:cNvSpPr txBox="1"/>
          <p:nvPr/>
        </p:nvSpPr>
        <p:spPr>
          <a:xfrm>
            <a:off x="95400" y="45720"/>
            <a:ext cx="294156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1207" name="CustomShape 2"/>
          <p:cNvSpPr/>
          <p:nvPr/>
        </p:nvSpPr>
        <p:spPr>
          <a:xfrm>
            <a:off x="2179440" y="370440"/>
            <a:ext cx="140184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43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learn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grab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cup,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08" name="object 4" descr=""/>
          <p:cNvPicPr/>
          <p:nvPr/>
        </p:nvPicPr>
        <p:blipFill>
          <a:blip r:embed="rId1"/>
          <a:stretch/>
        </p:blipFill>
        <p:spPr>
          <a:xfrm>
            <a:off x="912600" y="673920"/>
            <a:ext cx="3934800" cy="2180880"/>
          </a:xfrm>
          <a:prstGeom prst="rect">
            <a:avLst/>
          </a:prstGeom>
          <a:ln>
            <a:noFill/>
          </a:ln>
        </p:spPr>
      </p:pic>
      <p:sp>
        <p:nvSpPr>
          <p:cNvPr id="1209" name="CustomShape 3"/>
          <p:cNvSpPr/>
          <p:nvPr/>
        </p:nvSpPr>
        <p:spPr>
          <a:xfrm>
            <a:off x="2101680" y="2855520"/>
            <a:ext cx="139788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Courier New"/>
                <a:hlinkClick r:id="rId2"/>
              </a:rPr>
              <a:t>http://www.informatik.uni-bremen.de/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10" name="CustomShape 4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TextShape 1"/>
          <p:cNvSpPr txBox="1"/>
          <p:nvPr/>
        </p:nvSpPr>
        <p:spPr>
          <a:xfrm>
            <a:off x="95400" y="45720"/>
            <a:ext cx="294156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1212" name="CustomShape 2"/>
          <p:cNvSpPr/>
          <p:nvPr/>
        </p:nvSpPr>
        <p:spPr>
          <a:xfrm>
            <a:off x="1597320" y="371520"/>
            <a:ext cx="256500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43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design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molecule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with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given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properties,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13" name="object 4" descr=""/>
          <p:cNvPicPr/>
          <p:nvPr/>
        </p:nvPicPr>
        <p:blipFill>
          <a:blip r:embed="rId1"/>
          <a:stretch/>
        </p:blipFill>
        <p:spPr>
          <a:xfrm>
            <a:off x="1833120" y="680040"/>
            <a:ext cx="1927080" cy="2078640"/>
          </a:xfrm>
          <a:prstGeom prst="rect">
            <a:avLst/>
          </a:prstGeom>
          <a:ln>
            <a:noFill/>
          </a:ln>
        </p:spPr>
      </p:pic>
      <p:sp>
        <p:nvSpPr>
          <p:cNvPr id="1214" name="CustomShape 3"/>
          <p:cNvSpPr/>
          <p:nvPr/>
        </p:nvSpPr>
        <p:spPr>
          <a:xfrm>
            <a:off x="2303640" y="2856600"/>
            <a:ext cx="101232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Courier New"/>
                <a:hlinkClick r:id="rId2"/>
              </a:rPr>
              <a:t>http://pande.stanford.edu/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15" name="CustomShape 4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CustomShape 1"/>
          <p:cNvSpPr/>
          <p:nvPr/>
        </p:nvSpPr>
        <p:spPr>
          <a:xfrm>
            <a:off x="95400" y="45720"/>
            <a:ext cx="4008240" cy="74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85"/>
              </a:spcBef>
            </a:pPr>
            <a:endParaRPr b="0" lang="en-US" sz="1400" spc="-1" strike="noStrike">
              <a:latin typeface="Arial"/>
            </a:endParaRPr>
          </a:p>
          <a:p>
            <a:pPr marL="1572840">
              <a:lnSpc>
                <a:spcPct val="100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43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translate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text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from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Chinese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English,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17" name="object 3" descr=""/>
          <p:cNvPicPr/>
          <p:nvPr/>
        </p:nvPicPr>
        <p:blipFill>
          <a:blip r:embed="rId1"/>
          <a:stretch/>
        </p:blipFill>
        <p:spPr>
          <a:xfrm>
            <a:off x="1347480" y="1101960"/>
            <a:ext cx="2829960" cy="1233360"/>
          </a:xfrm>
          <a:prstGeom prst="rect">
            <a:avLst/>
          </a:prstGeom>
          <a:ln>
            <a:noFill/>
          </a:ln>
        </p:spPr>
      </p:pic>
      <p:sp>
        <p:nvSpPr>
          <p:cNvPr id="1218" name="CustomShape 2"/>
          <p:cNvSpPr/>
          <p:nvPr/>
        </p:nvSpPr>
        <p:spPr>
          <a:xfrm>
            <a:off x="2606040" y="2480760"/>
            <a:ext cx="39528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©Google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21" strike="noStrike">
                <a:latin typeface="Arial"/>
              </a:rPr>
              <a:t>Inc.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19" name="CustomShape 3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CustomShape 1"/>
          <p:cNvSpPr/>
          <p:nvPr/>
        </p:nvSpPr>
        <p:spPr>
          <a:xfrm>
            <a:off x="95400" y="45720"/>
            <a:ext cx="362052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85"/>
              </a:spcBef>
            </a:pPr>
            <a:endParaRPr b="0" lang="en-US" sz="1400" spc="-1" strike="noStrike">
              <a:latin typeface="Arial"/>
            </a:endParaRPr>
          </a:p>
          <a:p>
            <a:pPr marL="1960920">
              <a:lnSpc>
                <a:spcPct val="100000"/>
              </a:lnSpc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3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convert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voice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into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text,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21" name="object 3" descr=""/>
          <p:cNvPicPr/>
          <p:nvPr/>
        </p:nvPicPr>
        <p:blipFill>
          <a:blip r:embed="rId1"/>
          <a:stretch/>
        </p:blipFill>
        <p:spPr>
          <a:xfrm>
            <a:off x="1055160" y="1113480"/>
            <a:ext cx="3479040" cy="1405440"/>
          </a:xfrm>
          <a:prstGeom prst="rect">
            <a:avLst/>
          </a:prstGeom>
          <a:ln>
            <a:noFill/>
          </a:ln>
        </p:spPr>
      </p:pic>
      <p:sp>
        <p:nvSpPr>
          <p:cNvPr id="1222" name="CustomShape 2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CustomShape 1"/>
          <p:cNvSpPr/>
          <p:nvPr/>
        </p:nvSpPr>
        <p:spPr>
          <a:xfrm>
            <a:off x="95400" y="45720"/>
            <a:ext cx="3647880" cy="52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1934280">
              <a:lnSpc>
                <a:spcPct val="100000"/>
              </a:lnSpc>
              <a:spcBef>
                <a:spcPts val="1114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43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predict</a:t>
            </a:r>
            <a:r>
              <a:rPr b="0" lang="en-US" sz="1000" spc="-2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traffic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trajectories,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24" name="object 3" descr=""/>
          <p:cNvPicPr/>
          <p:nvPr/>
        </p:nvPicPr>
        <p:blipFill>
          <a:blip r:embed="rId1"/>
          <a:stretch/>
        </p:blipFill>
        <p:spPr>
          <a:xfrm>
            <a:off x="798840" y="709560"/>
            <a:ext cx="4158360" cy="2180880"/>
          </a:xfrm>
          <a:prstGeom prst="rect">
            <a:avLst/>
          </a:prstGeom>
          <a:ln>
            <a:noFill/>
          </a:ln>
        </p:spPr>
      </p:pic>
      <p:sp>
        <p:nvSpPr>
          <p:cNvPr id="1225" name="CustomShape 2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TextShape 1"/>
          <p:cNvSpPr txBox="1"/>
          <p:nvPr/>
        </p:nvSpPr>
        <p:spPr>
          <a:xfrm>
            <a:off x="95400" y="45720"/>
            <a:ext cx="2941560" cy="559080"/>
          </a:xfrm>
          <a:prstGeom prst="rect">
            <a:avLst/>
          </a:prstGeom>
          <a:noFill/>
          <a:ln>
            <a:noFill/>
          </a:ln>
        </p:spPr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Calibri"/>
            </a:endParaRPr>
          </a:p>
        </p:txBody>
      </p:sp>
      <p:sp>
        <p:nvSpPr>
          <p:cNvPr id="1227" name="CustomShape 2"/>
          <p:cNvSpPr/>
          <p:nvPr/>
        </p:nvSpPr>
        <p:spPr>
          <a:xfrm>
            <a:off x="1509480" y="370080"/>
            <a:ext cx="2741040" cy="16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5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automatically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writing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the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caption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of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figure,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28" name="object 4" descr=""/>
          <p:cNvPicPr/>
          <p:nvPr/>
        </p:nvPicPr>
        <p:blipFill>
          <a:blip r:embed="rId1"/>
          <a:stretch/>
        </p:blipFill>
        <p:spPr>
          <a:xfrm>
            <a:off x="1131840" y="689040"/>
            <a:ext cx="3468960" cy="2134800"/>
          </a:xfrm>
          <a:prstGeom prst="rect">
            <a:avLst/>
          </a:prstGeom>
          <a:ln>
            <a:noFill/>
          </a:ln>
        </p:spPr>
      </p:pic>
      <p:sp>
        <p:nvSpPr>
          <p:cNvPr id="1229" name="CustomShape 3"/>
          <p:cNvSpPr/>
          <p:nvPr/>
        </p:nvSpPr>
        <p:spPr>
          <a:xfrm>
            <a:off x="1897200" y="2855160"/>
            <a:ext cx="187848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[Karpathy</a:t>
            </a:r>
            <a:r>
              <a:rPr b="0" lang="en-US" sz="500" spc="-12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&amp;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2" strike="noStrike">
                <a:latin typeface="Arial"/>
              </a:rPr>
              <a:t>Fei-</a:t>
            </a:r>
            <a:r>
              <a:rPr b="0" lang="en-US" sz="500" spc="-1" strike="noStrike">
                <a:latin typeface="Arial"/>
              </a:rPr>
              <a:t>Fei,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2015;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Donahue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et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al.,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2015;</a:t>
            </a:r>
            <a:r>
              <a:rPr b="0" lang="en-US" sz="500" spc="-12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Xu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et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al,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2" strike="noStrike">
                <a:latin typeface="Arial"/>
              </a:rPr>
              <a:t>2015;...]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30" name="CustomShape 4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CustomShape 1"/>
          <p:cNvSpPr/>
          <p:nvPr/>
        </p:nvSpPr>
        <p:spPr>
          <a:xfrm>
            <a:off x="95400" y="45720"/>
            <a:ext cx="3552480" cy="48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2029320">
              <a:lnSpc>
                <a:spcPct val="100000"/>
              </a:lnSpc>
              <a:spcBef>
                <a:spcPts val="831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58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driving 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autonomously,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32" name="object 3" descr=""/>
          <p:cNvPicPr/>
          <p:nvPr/>
        </p:nvPicPr>
        <p:blipFill>
          <a:blip r:embed="rId1"/>
          <a:stretch/>
        </p:blipFill>
        <p:spPr>
          <a:xfrm>
            <a:off x="1120320" y="673560"/>
            <a:ext cx="3519000" cy="2180880"/>
          </a:xfrm>
          <a:prstGeom prst="rect">
            <a:avLst/>
          </a:prstGeom>
          <a:ln>
            <a:noFill/>
          </a:ln>
        </p:spPr>
      </p:pic>
      <p:sp>
        <p:nvSpPr>
          <p:cNvPr id="1233" name="CustomShape 2"/>
          <p:cNvSpPr/>
          <p:nvPr/>
        </p:nvSpPr>
        <p:spPr>
          <a:xfrm>
            <a:off x="2649600" y="2854800"/>
            <a:ext cx="39528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©Google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21" strike="noStrike">
                <a:latin typeface="Arial"/>
              </a:rPr>
              <a:t>Inc.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34" name="CustomShape 3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CustomShape 1"/>
          <p:cNvSpPr/>
          <p:nvPr/>
        </p:nvSpPr>
        <p:spPr>
          <a:xfrm>
            <a:off x="95400" y="45720"/>
            <a:ext cx="3602520" cy="48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  <a:p>
            <a:pPr marL="1979280">
              <a:lnSpc>
                <a:spcPct val="100000"/>
              </a:lnSpc>
              <a:spcBef>
                <a:spcPts val="83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49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run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&amp;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jump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on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two</a:t>
            </a:r>
            <a:r>
              <a:rPr b="0" lang="en-US" sz="1000" spc="-15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legs,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36" name="object 3" descr=""/>
          <p:cNvPicPr/>
          <p:nvPr/>
        </p:nvPicPr>
        <p:blipFill>
          <a:blip r:embed="rId1"/>
          <a:stretch/>
        </p:blipFill>
        <p:spPr>
          <a:xfrm>
            <a:off x="681120" y="673920"/>
            <a:ext cx="4377240" cy="2180880"/>
          </a:xfrm>
          <a:prstGeom prst="rect">
            <a:avLst/>
          </a:prstGeom>
          <a:ln>
            <a:noFill/>
          </a:ln>
        </p:spPr>
      </p:pic>
      <p:sp>
        <p:nvSpPr>
          <p:cNvPr id="1237" name="CustomShape 2"/>
          <p:cNvSpPr/>
          <p:nvPr/>
        </p:nvSpPr>
        <p:spPr>
          <a:xfrm>
            <a:off x="2580480" y="2855160"/>
            <a:ext cx="564120" cy="8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500" spc="-1" strike="noStrike">
                <a:latin typeface="Arial"/>
              </a:rPr>
              <a:t>©Boston</a:t>
            </a:r>
            <a:r>
              <a:rPr b="0" lang="en-US" sz="500" spc="-7" strike="noStrike">
                <a:latin typeface="Arial"/>
              </a:rPr>
              <a:t> </a:t>
            </a:r>
            <a:r>
              <a:rPr b="0" lang="en-US" sz="500" spc="-12" strike="noStrike">
                <a:latin typeface="Arial"/>
              </a:rPr>
              <a:t>Dynamics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238" name="CustomShape 3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CustomShape 1"/>
          <p:cNvSpPr/>
          <p:nvPr/>
        </p:nvSpPr>
        <p:spPr>
          <a:xfrm>
            <a:off x="95400" y="45720"/>
            <a:ext cx="2941560" cy="23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What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can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AI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Systems</a:t>
            </a:r>
            <a:r>
              <a:rPr b="0" lang="en-US" sz="1400" spc="77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3333b2"/>
                </a:solidFill>
                <a:latin typeface="Arial"/>
              </a:rPr>
              <a:t>Currently</a:t>
            </a:r>
            <a:r>
              <a:rPr b="0" lang="en-US" sz="1400" spc="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3333b2"/>
                </a:solidFill>
                <a:latin typeface="Arial"/>
              </a:rPr>
              <a:t>Do?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40" name="TextShape 2"/>
          <p:cNvSpPr txBox="1"/>
          <p:nvPr/>
        </p:nvSpPr>
        <p:spPr>
          <a:xfrm>
            <a:off x="1386720" y="405720"/>
            <a:ext cx="2986560" cy="5540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...</a:t>
            </a:r>
            <a:r>
              <a:rPr b="0" lang="en-US" sz="1000" spc="5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beat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top-gun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pilot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in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a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simulated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F16</a:t>
            </a:r>
            <a:r>
              <a:rPr b="0" lang="en-US" sz="1000" spc="-7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c92626"/>
                </a:solidFill>
                <a:latin typeface="Arial"/>
              </a:rPr>
              <a:t>dogfight,</a:t>
            </a:r>
            <a:r>
              <a:rPr b="0" lang="en-US" sz="1000" spc="-12" strike="noStrike">
                <a:solidFill>
                  <a:srgbClr val="c92626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c92626"/>
                </a:solidFill>
                <a:latin typeface="Arial"/>
              </a:rPr>
              <a:t>...</a:t>
            </a:r>
            <a:endParaRPr b="0" lang="en-US" sz="1000" spc="-1" strike="noStrike">
              <a:latin typeface="Calibri"/>
            </a:endParaRPr>
          </a:p>
        </p:txBody>
      </p:sp>
      <p:pic>
        <p:nvPicPr>
          <p:cNvPr id="1241" name="object 4" descr=""/>
          <p:cNvPicPr/>
          <p:nvPr/>
        </p:nvPicPr>
        <p:blipFill>
          <a:blip r:embed="rId1"/>
          <a:stretch/>
        </p:blipFill>
        <p:spPr>
          <a:xfrm>
            <a:off x="944280" y="709560"/>
            <a:ext cx="3871440" cy="2180880"/>
          </a:xfrm>
          <a:prstGeom prst="rect">
            <a:avLst/>
          </a:prstGeom>
          <a:ln>
            <a:noFill/>
          </a:ln>
        </p:spPr>
      </p:pic>
      <p:sp>
        <p:nvSpPr>
          <p:cNvPr id="1242" name="CustomShape 3"/>
          <p:cNvSpPr/>
          <p:nvPr/>
        </p:nvSpPr>
        <p:spPr>
          <a:xfrm>
            <a:off x="5504760" y="3140280"/>
            <a:ext cx="204840" cy="8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US" sz="500" spc="-1" strike="noStrike">
                <a:latin typeface="Arial"/>
              </a:rPr>
              <a:t>38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1" strike="noStrike">
                <a:latin typeface="Arial"/>
              </a:rPr>
              <a:t>/</a:t>
            </a:r>
            <a:r>
              <a:rPr b="0" lang="en-US" sz="500" spc="-60" strike="noStrike">
                <a:latin typeface="Arial"/>
              </a:rPr>
              <a:t> </a:t>
            </a:r>
            <a:r>
              <a:rPr b="0" lang="en-US" sz="500" spc="-26" strike="noStrike">
                <a:latin typeface="Arial"/>
              </a:rPr>
              <a:t>39</a:t>
            </a:r>
            <a:endParaRPr b="0" lang="en-US" sz="5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Neat_Office/6.2.8.2$Windows_x86 LibreOffice_project/</Application>
  <Words>4048</Words>
  <Paragraphs>499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2026-09-06T16:04:35Z</dcterms:created>
  <dc:creator>Roberto Sebastiani</dc:creator>
  <dc:description/>
  <dc:language>en-US</dc:language>
  <cp:lastModifiedBy/>
  <dcterms:modified xsi:type="dcterms:W3CDTF">2026-09-07T13:09:36Z</dcterms:modified>
  <cp:revision>3</cp:revision>
  <dc:subject/>
  <dc:title>Fundamentals of Artificial Intelligence  Chapter 01: Introduction to A.I.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verter">
    <vt:lpwstr>StructuredOutput v10.0.20070.1</vt:lpwstr>
  </property>
  <property fmtid="{D5CDD505-2E9C-101B-9397-08002B2CF9AE}" pid="4" name="Created">
    <vt:filetime>2021-09-11T00:00:00Z</vt:filetime>
  </property>
  <property fmtid="{D5CDD505-2E9C-101B-9397-08002B2CF9AE}" pid="5" name="Creator">
    <vt:lpwstr>LaTeX with Beamer class</vt:lpwstr>
  </property>
  <property fmtid="{D5CDD505-2E9C-101B-9397-08002B2CF9AE}" pid="6" name="HiddenSlides">
    <vt:i4>0</vt:i4>
  </property>
  <property fmtid="{D5CDD505-2E9C-101B-9397-08002B2CF9AE}" pid="7" name="HyperlinksChanged">
    <vt:bool>0</vt:bool>
  </property>
  <property fmtid="{D5CDD505-2E9C-101B-9397-08002B2CF9AE}" pid="8" name="LastSaved">
    <vt:filetime>2026-09-06T00:00:00Z</vt:filetime>
  </property>
  <property fmtid="{D5CDD505-2E9C-101B-9397-08002B2CF9AE}" pid="9" name="LinksUpToDate">
    <vt:bool>0</vt:bool>
  </property>
  <property fmtid="{D5CDD505-2E9C-101B-9397-08002B2CF9AE}" pid="10" name="MMClips">
    <vt:i4>0</vt:i4>
  </property>
  <property fmtid="{D5CDD505-2E9C-101B-9397-08002B2CF9AE}" pid="11" name="Notes">
    <vt:i4>0</vt:i4>
  </property>
  <property fmtid="{D5CDD505-2E9C-101B-9397-08002B2CF9AE}" pid="12" name="PTEX.Fullbanner">
    <vt:lpwstr>This is pdfTeX, Version 3.14159265-2.6-1.40.20 (TeX Live 2019/Debian) kpathsea version 6.3.1</vt:lpwstr>
  </property>
  <property fmtid="{D5CDD505-2E9C-101B-9397-08002B2CF9AE}" pid="13" name="PresentationFormat">
    <vt:lpwstr>Custom</vt:lpwstr>
  </property>
  <property fmtid="{D5CDD505-2E9C-101B-9397-08002B2CF9AE}" pid="14" name="Producer">
    <vt:lpwstr>3-Heights(TM) PDF Security Shell 4.8.25.2 (http://www.pdf-tools.com)</vt:lpwstr>
  </property>
  <property fmtid="{D5CDD505-2E9C-101B-9397-08002B2CF9AE}" pid="15" name="ScaleCrop">
    <vt:bool>0</vt:bool>
  </property>
  <property fmtid="{D5CDD505-2E9C-101B-9397-08002B2CF9AE}" pid="16" name="ShareDoc">
    <vt:bool>0</vt:bool>
  </property>
  <property fmtid="{D5CDD505-2E9C-101B-9397-08002B2CF9AE}" pid="17" name="Slides">
    <vt:i4>72</vt:i4>
  </property>
</Properties>
</file>