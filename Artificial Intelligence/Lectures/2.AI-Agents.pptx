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7" r:id="rId3"/>
    <p:sldId id="258" r:id="rId4"/>
    <p:sldId id="259" r:id="rId5"/>
    <p:sldId id="260" r:id="rId6"/>
    <p:sldId id="261" r:id="rId7"/>
    <p:sldId id="263" r:id="rId8"/>
    <p:sldId id="264" r:id="rId9"/>
    <p:sldId id="265" r:id="rId10"/>
    <p:sldId id="266" r:id="rId12"/>
    <p:sldId id="267" r:id="rId13"/>
    <p:sldId id="268" r:id="rId14"/>
    <p:sldId id="269" r:id="rId15"/>
    <p:sldId id="270" r:id="rId16"/>
    <p:sldId id="271" r:id="rId17"/>
    <p:sldId id="272" r:id="rId18"/>
    <p:sldId id="293" r:id="rId19"/>
    <p:sldId id="285" r:id="rId20"/>
    <p:sldId id="286" r:id="rId21"/>
    <p:sldId id="287" r:id="rId22"/>
    <p:sldId id="296" r:id="rId23"/>
    <p:sldId id="297" r:id="rId24"/>
    <p:sldId id="295" r:id="rId25"/>
    <p:sldId id="298" r:id="rId26"/>
    <p:sldId id="299" r:id="rId27"/>
    <p:sldId id="288" r:id="rId28"/>
    <p:sldId id="290" r:id="rId29"/>
    <p:sldId id="300" r:id="rId30"/>
    <p:sldId id="291" r:id="rId31"/>
    <p:sldId id="273" r:id="rId32"/>
    <p:sldId id="301" r:id="rId33"/>
    <p:sldId id="302" r:id="rId34"/>
    <p:sldId id="274" r:id="rId35"/>
    <p:sldId id="275" r:id="rId36"/>
    <p:sldId id="277" r:id="rId37"/>
    <p:sldId id="278" r:id="rId38"/>
    <p:sldId id="280" r:id="rId39"/>
    <p:sldId id="282" r:id="rId40"/>
    <p:sldId id="283" r:id="rId41"/>
    <p:sldId id="284" r:id="rId42"/>
  </p:sldIdLst>
  <p:sldSz cx="9144000" cy="6858000" type="screen4x3"/>
  <p:notesSz cx="6858000" cy="9144000"/>
  <p:defaultTextStyle>
    <a:defPPr>
      <a:defRPr lang="en-US"/>
    </a:defPPr>
    <a:lvl1pPr marL="0" lvl="0"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1pPr>
    <a:lvl2pPr marL="457200" lvl="1"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2pPr>
    <a:lvl3pPr marL="914400" lvl="2"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3pPr>
    <a:lvl4pPr marL="1371600" lvl="3"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4pPr>
    <a:lvl5pPr marL="1828800" lvl="4"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5pPr>
    <a:lvl6pPr marL="2286000" lvl="5"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6pPr>
    <a:lvl7pPr marL="2743200" lvl="6"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7pPr>
    <a:lvl8pPr marL="3200400" lvl="7"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8pPr>
    <a:lvl9pPr marL="3657600" lvl="8" indent="0" algn="l" defTabSz="914400" rtl="0" eaLnBrk="0" fontAlgn="base" latinLnBrk="0" hangingPunct="0">
      <a:lnSpc>
        <a:spcPct val="100000"/>
      </a:lnSpc>
      <a:spcBef>
        <a:spcPct val="0"/>
      </a:spcBef>
      <a:spcAft>
        <a:spcPct val="0"/>
      </a:spcAft>
      <a:buNone/>
      <a:defRPr b="0" i="0" u="none" kern="1200" baseline="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showGuides="1">
      <p:cViewPr varScale="1">
        <p:scale>
          <a:sx n="82" d="100"/>
          <a:sy n="82" d="100"/>
        </p:scale>
        <p:origin x="1474"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5" Type="http://schemas.openxmlformats.org/officeDocument/2006/relationships/tableStyles" Target="tableStyles.xml"/><Relationship Id="rId44" Type="http://schemas.openxmlformats.org/officeDocument/2006/relationships/viewProps" Target="viewProps.xml"/><Relationship Id="rId43" Type="http://schemas.openxmlformats.org/officeDocument/2006/relationships/presProps" Target="presProps.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fld id="{48EC8830-17F8-49BF-B3CB-54BF950FAF1A}" type="datetimeFigureOut">
              <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rPr>
            </a:fld>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marL="0" marR="0" lvl="0" indent="0" algn="l" defTabSz="914400" rtl="0" eaLnBrk="0" fontAlgn="base" latinLnBrk="0" hangingPunct="0">
              <a:lnSpc>
                <a:spcPct val="100000"/>
              </a:lnSpc>
              <a:spcBef>
                <a:spcPct val="3000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Click to edit Master text styles</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Second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Third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Fourth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mn-lt"/>
                <a:ea typeface="+mn-ea"/>
                <a:cs typeface="+mn-cs"/>
              </a:rPr>
              <a:t>Fifth level</a:t>
            </a:r>
            <a:endParaRPr kumimoji="0" 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lstStyle>
            <a:lvl1pPr algn="r">
              <a:defRPr sz="1200"/>
            </a:lvl1pPr>
          </a:lstStyle>
          <a:p>
            <a:pPr marL="0" marR="0" lvl="0" indent="0" algn="r" defTabSz="914400" rtl="0" eaLnBrk="1" fontAlgn="base" latinLnBrk="0" hangingPunct="1">
              <a:lnSpc>
                <a:spcPct val="100000"/>
              </a:lnSpc>
              <a:spcBef>
                <a:spcPct val="0"/>
              </a:spcBef>
              <a:spcAft>
                <a:spcPct val="0"/>
              </a:spcAft>
              <a:buClrTx/>
              <a:buSzTx/>
              <a:buFontTx/>
              <a:buNone/>
              <a:defRPr/>
            </a:pPr>
            <a:fld id="{424B38AA-7B2C-4A57-8EA2-6F3961703569}" type="slidenum">
              <a:rPr kumimoji="0" lang="en-US" altLang="en-US" sz="12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2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1266" name="Slide Image Placeholder 1"/>
          <p:cNvSpPr>
            <a:spLocks noGrp="1" noRot="1" noChangeAspect="1" noTextEdit="1"/>
          </p:cNvSpPr>
          <p:nvPr>
            <p:ph type="sldImg"/>
          </p:nvPr>
        </p:nvSpPr>
        <p:spPr>
          <a:ln>
            <a:solidFill>
              <a:srgbClr val="000000">
                <a:alpha val="100000"/>
              </a:srgbClr>
            </a:solidFill>
            <a:miter lim="800000"/>
          </a:ln>
        </p:spPr>
      </p:sp>
      <p:sp>
        <p:nvSpPr>
          <p:cNvPr id="11267" name="Notes Placeholder 2"/>
          <p:cNvSpPr>
            <a:spLocks noGrp="1"/>
          </p:cNvSpPr>
          <p:nvPr>
            <p:ph type="body" idx="1"/>
          </p:nvPr>
        </p:nvSpPr>
        <p:spPr>
          <a:noFill/>
          <a:ln>
            <a:noFill/>
          </a:ln>
        </p:spPr>
        <p:txBody>
          <a:bodyPr wrap="square" lIns="91440" tIns="45720" rIns="91440" bIns="45720" anchor="t" anchorCtr="0"/>
          <a:p>
            <a:pPr lvl="0" eaLnBrk="1" hangingPunct="1">
              <a:spcBef>
                <a:spcPct val="0"/>
              </a:spcBef>
            </a:pPr>
            <a:r>
              <a:rPr lang="en-US" altLang="en-US" dirty="0"/>
              <a:t>(all-knowing with infinite knowledge)</a:t>
            </a:r>
            <a:endParaRPr lang="en-US" altLang="en-US" dirty="0"/>
          </a:p>
          <a:p>
            <a:pPr lvl="0" eaLnBrk="1" hangingPunct="1">
              <a:spcBef>
                <a:spcPct val="0"/>
              </a:spcBef>
            </a:pPr>
            <a:endParaRPr lang="en-US" altLang="en-US" dirty="0"/>
          </a:p>
        </p:txBody>
      </p:sp>
      <p:sp>
        <p:nvSpPr>
          <p:cNvPr id="11268"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3554" name="Slide Image Placeholder 1"/>
          <p:cNvSpPr>
            <a:spLocks noGrp="1" noRot="1" noChangeAspect="1" noTextEdit="1"/>
          </p:cNvSpPr>
          <p:nvPr>
            <p:ph type="sldImg"/>
          </p:nvPr>
        </p:nvSpPr>
        <p:spPr>
          <a:ln>
            <a:solidFill>
              <a:srgbClr val="000000">
                <a:alpha val="100000"/>
              </a:srgbClr>
            </a:solidFill>
            <a:miter lim="800000"/>
          </a:ln>
        </p:spPr>
      </p:sp>
      <p:sp>
        <p:nvSpPr>
          <p:cNvPr id="23555" name="Notes Placeholder 2"/>
          <p:cNvSpPr>
            <a:spLocks noGrp="1"/>
          </p:cNvSpPr>
          <p:nvPr>
            <p:ph type="body" idx="1"/>
          </p:nvPr>
        </p:nvSpPr>
        <p:spPr>
          <a:noFill/>
          <a:ln>
            <a:noFill/>
          </a:ln>
        </p:spPr>
        <p:txBody>
          <a:bodyPr wrap="square" lIns="91440" tIns="45720" rIns="91440" bIns="45720" anchor="t" anchorCtr="0"/>
          <a:p>
            <a:pPr lvl="0" eaLnBrk="1" hangingPunct="1"/>
            <a:endParaRPr lang="en-US" altLang="en-US" dirty="0"/>
          </a:p>
        </p:txBody>
      </p:sp>
      <p:sp>
        <p:nvSpPr>
          <p:cNvPr id="23556"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0722" name="Slide Image Placeholder 1"/>
          <p:cNvSpPr>
            <a:spLocks noGrp="1" noRot="1" noChangeAspect="1" noTextEdit="1"/>
          </p:cNvSpPr>
          <p:nvPr>
            <p:ph type="sldImg"/>
          </p:nvPr>
        </p:nvSpPr>
        <p:spPr>
          <a:ln>
            <a:solidFill>
              <a:srgbClr val="000000">
                <a:alpha val="100000"/>
              </a:srgbClr>
            </a:solidFill>
            <a:miter lim="800000"/>
          </a:ln>
        </p:spPr>
      </p:sp>
      <p:sp>
        <p:nvSpPr>
          <p:cNvPr id="30723" name="Notes Placeholder 2"/>
          <p:cNvSpPr>
            <a:spLocks noGrp="1"/>
          </p:cNvSpPr>
          <p:nvPr>
            <p:ph type="body" idx="1"/>
          </p:nvPr>
        </p:nvSpPr>
        <p:spPr>
          <a:noFill/>
          <a:ln>
            <a:noFill/>
          </a:ln>
        </p:spPr>
        <p:txBody>
          <a:bodyPr wrap="square" lIns="91440" tIns="45720" rIns="91440" bIns="45720" anchor="t" anchorCtr="0"/>
          <a:p>
            <a:pPr lvl="0" eaLnBrk="1" hangingPunct="1"/>
            <a:endParaRPr lang="en-US" altLang="en-US" dirty="0"/>
          </a:p>
        </p:txBody>
      </p:sp>
      <p:sp>
        <p:nvSpPr>
          <p:cNvPr id="3072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0" name="Slide Image Placeholder 1"/>
          <p:cNvSpPr>
            <a:spLocks noGrp="1" noRot="1" noChangeAspect="1" noTextEdit="1"/>
          </p:cNvSpPr>
          <p:nvPr>
            <p:ph type="sldImg"/>
          </p:nvPr>
        </p:nvSpPr>
        <p:spPr>
          <a:ln>
            <a:solidFill>
              <a:srgbClr val="000000">
                <a:alpha val="100000"/>
              </a:srgbClr>
            </a:solidFill>
            <a:miter lim="800000"/>
          </a:ln>
        </p:spPr>
      </p:sp>
      <p:sp>
        <p:nvSpPr>
          <p:cNvPr id="32771" name="Notes Placeholder 2"/>
          <p:cNvSpPr>
            <a:spLocks noGrp="1"/>
          </p:cNvSpPr>
          <p:nvPr>
            <p:ph type="body" idx="1"/>
          </p:nvPr>
        </p:nvSpPr>
        <p:spPr>
          <a:noFill/>
          <a:ln>
            <a:noFill/>
          </a:ln>
        </p:spPr>
        <p:txBody>
          <a:bodyPr wrap="square" lIns="91440" tIns="45720" rIns="91440" bIns="45720" anchor="t" anchorCtr="0"/>
          <a:p>
            <a:pPr lvl="0" eaLnBrk="1" hangingPunct="1"/>
            <a:endParaRPr lang="en-US" altLang="en-US" dirty="0"/>
          </a:p>
        </p:txBody>
      </p:sp>
      <p:sp>
        <p:nvSpPr>
          <p:cNvPr id="32772"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35842" name="Slide Image Placeholder 1"/>
          <p:cNvSpPr>
            <a:spLocks noGrp="1" noRot="1" noChangeAspect="1" noTextEdit="1"/>
          </p:cNvSpPr>
          <p:nvPr>
            <p:ph type="sldImg"/>
          </p:nvPr>
        </p:nvSpPr>
        <p:spPr>
          <a:ln>
            <a:solidFill>
              <a:srgbClr val="000000">
                <a:alpha val="100000"/>
              </a:srgbClr>
            </a:solidFill>
            <a:miter lim="800000"/>
          </a:ln>
        </p:spPr>
      </p:sp>
      <p:sp>
        <p:nvSpPr>
          <p:cNvPr id="35843" name="Notes Placeholder 2"/>
          <p:cNvSpPr>
            <a:spLocks noGrp="1"/>
          </p:cNvSpPr>
          <p:nvPr>
            <p:ph type="body" idx="1"/>
          </p:nvPr>
        </p:nvSpPr>
        <p:spPr>
          <a:noFill/>
          <a:ln>
            <a:noFill/>
          </a:ln>
        </p:spPr>
        <p:txBody>
          <a:bodyPr wrap="square" lIns="91440" tIns="45720" rIns="91440" bIns="45720" anchor="t" anchorCtr="0"/>
          <a:p>
            <a:pPr lvl="0" eaLnBrk="1" hangingPunct="1"/>
            <a:endParaRPr lang="en-US" altLang="en-US" dirty="0"/>
          </a:p>
        </p:txBody>
      </p:sp>
      <p:sp>
        <p:nvSpPr>
          <p:cNvPr id="35844" name="Slide Number Placeholder 3"/>
          <p:cNvSpPr txBox="1">
            <a:spLocks noGrp="1"/>
          </p:cNvSpPr>
          <p:nvPr>
            <p:ph type="sldNum" sz="quarter"/>
          </p:nvPr>
        </p:nvSpPr>
        <p:spPr>
          <a:xfrm>
            <a:off x="3884613" y="8685213"/>
            <a:ext cx="2971800" cy="457200"/>
          </a:xfrm>
          <a:prstGeom prst="rect">
            <a:avLst/>
          </a:prstGeom>
          <a:noFill/>
          <a:ln w="9525">
            <a:noFill/>
          </a:ln>
        </p:spPr>
        <p:txBody>
          <a:bodyPr anchor="b" anchorCtr="0"/>
          <a:p>
            <a:pPr lvl="0" algn="r" eaLnBrk="1" hangingPunct="1">
              <a:spcBef>
                <a:spcPct val="0"/>
              </a:spcBef>
            </a:pPr>
            <a:fld id="{9A0DB2DC-4C9A-4742-B13C-FB6460FD3503}" type="slidenum">
              <a:rPr lang="en-US" altLang="en-US" dirty="0">
                <a:latin typeface="Arial" panose="020B0604020202020204" pitchFamily="34" charset="0"/>
              </a:rPr>
            </a:fld>
            <a:endParaRPr lang="en-US" altLang="en-US" dirty="0">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89E8BCE-0073-457B-A216-32443B53DB5F}" type="slidenum">
              <a:rPr kumimoji="0" lang="en-US" altLang="en-US"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89E8BCE-0073-457B-A216-32443B53DB5F}" type="slidenum">
              <a:rPr kumimoji="0" lang="en-US" altLang="en-US"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89E8BCE-0073-457B-A216-32443B53DB5F}" type="slidenum">
              <a:rPr kumimoji="0" lang="en-US" altLang="en-US"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89E8BCE-0073-457B-A216-32443B53DB5F}" type="slidenum">
              <a:rPr kumimoji="0" lang="en-US" altLang="en-US"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8" name="Footer Placeholder 7"/>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9" name="Slide Number Placeholder 8"/>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89E8BCE-0073-457B-A216-32443B53DB5F}" type="slidenum">
              <a:rPr kumimoji="0" lang="en-US" altLang="en-US"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Footer Placeholder 3"/>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Slide Number Placeholder 4"/>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89E8BCE-0073-457B-A216-32443B53DB5F}" type="slidenum">
              <a:rPr kumimoji="0" lang="en-US" altLang="en-US"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89E8BCE-0073-457B-A216-32443B53DB5F}" type="slidenum">
              <a:rPr kumimoji="0" lang="en-US" altLang="en-US"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89E8BCE-0073-457B-A216-32443B53DB5F}" type="slidenum">
              <a:rPr kumimoji="0" lang="en-US" altLang="en-US"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0" cap="none" spc="0" normalizeH="0" baseline="0" noProof="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Footer Placeholder 5"/>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7" name="Slide Number Placeholder 6"/>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89E8BCE-0073-457B-A216-32443B53DB5F}" type="slidenum">
              <a:rPr kumimoji="0" lang="en-US" altLang="en-US"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89E8BCE-0073-457B-A216-32443B53DB5F}" type="slidenum">
              <a:rPr kumimoji="0" lang="en-US" altLang="en-US"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base" latinLnBrk="0" hangingPunct="1">
              <a:lnSpc>
                <a:spcPct val="100000"/>
              </a:lnSpc>
              <a:spcBef>
                <a:spcPct val="0"/>
              </a:spcBef>
              <a:spcAft>
                <a:spcPct val="0"/>
              </a:spcAft>
              <a:buClrTx/>
              <a:buSzTx/>
              <a:buFontTx/>
              <a:buNone/>
              <a:defRPr/>
            </a:pPr>
            <a:fld id="{A89E8BCE-0073-457B-A216-32443B53DB5F}" type="slidenum">
              <a:rPr kumimoji="0" lang="en-US" altLang="en-US"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457200" y="274638"/>
            <a:ext cx="8229600" cy="1143000"/>
          </a:xfrm>
          <a:prstGeom prst="rect">
            <a:avLst/>
          </a:prstGeom>
          <a:noFill/>
          <a:ln w="9525">
            <a:noFill/>
          </a:ln>
        </p:spPr>
        <p:txBody>
          <a:bodyPr anchor="ctr" anchorCtr="0"/>
          <a:p>
            <a:pPr lvl="0"/>
            <a:r>
              <a:rPr lang="en-US" altLang="en-US" dirty="0"/>
              <a:t>Click to edit Master title style</a:t>
            </a:r>
            <a:endParaRPr lang="en-US" altLang="en-US" dirty="0"/>
          </a:p>
        </p:txBody>
      </p:sp>
      <p:sp>
        <p:nvSpPr>
          <p:cNvPr id="1027" name="Rectangle 3"/>
          <p:cNvSpPr>
            <a:spLocks noGrp="1"/>
          </p:cNvSpPr>
          <p:nvPr>
            <p:ph type="body" idx="1"/>
          </p:nvPr>
        </p:nvSpPr>
        <p:spPr>
          <a:xfrm>
            <a:off x="457200" y="1600200"/>
            <a:ext cx="8229600" cy="4525963"/>
          </a:xfrm>
          <a:prstGeom prst="rect">
            <a:avLst/>
          </a:prstGeom>
          <a:noFill/>
          <a:ln w="9525">
            <a:noFill/>
          </a:ln>
        </p:spPr>
        <p:txBody>
          <a:bodyPr/>
          <a:p>
            <a:pPr lvl="0"/>
            <a:r>
              <a:rPr lang="en-US" altLang="en-US" dirty="0"/>
              <a:t>Click to edit Master text styles</a:t>
            </a:r>
            <a:endParaRPr lang="en-US" altLang="en-US" dirty="0"/>
          </a:p>
          <a:p>
            <a:pPr lvl="1"/>
            <a:r>
              <a:rPr lang="en-US" altLang="en-US" dirty="0"/>
              <a:t>Second level</a:t>
            </a:r>
            <a:endParaRPr lang="en-US" altLang="en-US" dirty="0"/>
          </a:p>
          <a:p>
            <a:pPr lvl="2"/>
            <a:r>
              <a:rPr lang="en-US" altLang="en-US" dirty="0"/>
              <a:t>Third level</a:t>
            </a:r>
            <a:endParaRPr lang="en-US" altLang="en-US" dirty="0"/>
          </a:p>
          <a:p>
            <a:pPr lvl="3"/>
            <a:r>
              <a:rPr lang="en-US" altLang="en-US" dirty="0"/>
              <a:t>Fourth level</a:t>
            </a:r>
            <a:endParaRPr lang="en-US" altLang="en-US" dirty="0"/>
          </a:p>
          <a:p>
            <a:pPr lvl="4"/>
            <a:r>
              <a:rPr lang="en-US" altLang="en-US" dirty="0"/>
              <a:t>Fifth level</a:t>
            </a:r>
            <a:endParaRPr lang="en-US" altLang="en-US" dirty="0"/>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ln>
          <a:effectLst/>
        </p:spPr>
        <p:txBody>
          <a:bodyPr vert="horz" wrap="square" lIns="91440" tIns="45720" rIns="91440" bIns="45720" numCol="1" anchor="t" anchorCtr="0" compatLnSpc="1"/>
          <a:lstStyle>
            <a:lvl1pPr>
              <a:defRPr sz="140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ln>
          <a:effectLst/>
        </p:spPr>
        <p:txBody>
          <a:bodyPr vert="horz" wrap="square" lIns="91440" tIns="45720" rIns="91440" bIns="45720" numCol="1" anchor="t" anchorCtr="0" compatLnSpc="1"/>
          <a:lstStyle>
            <a:lvl1pPr algn="ctr">
              <a:defRPr sz="1400">
                <a:latin typeface="Arial" panose="020B060402020202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ln>
          <a:effectLst/>
        </p:spPr>
        <p:txBody>
          <a:bodyPr vert="horz" wrap="square" lIns="91440" tIns="45720" rIns="91440" bIns="45720" numCol="1" anchor="t" anchorCtr="0" compatLnSpc="1"/>
          <a:lstStyle>
            <a:lvl1pPr algn="r">
              <a:defRPr sz="1400"/>
            </a:lvl1pPr>
          </a:lstStyle>
          <a:p>
            <a:pPr marL="0" marR="0" lvl="0" indent="0" algn="r" defTabSz="914400" rtl="0" eaLnBrk="1" fontAlgn="base" latinLnBrk="0" hangingPunct="1">
              <a:lnSpc>
                <a:spcPct val="100000"/>
              </a:lnSpc>
              <a:spcBef>
                <a:spcPct val="0"/>
              </a:spcBef>
              <a:spcAft>
                <a:spcPct val="0"/>
              </a:spcAft>
              <a:buClrTx/>
              <a:buSzTx/>
              <a:buFontTx/>
              <a:buNone/>
              <a:defRPr/>
            </a:pPr>
            <a:fld id="{A89E8BCE-0073-457B-A216-32443B53DB5F}" type="slidenum">
              <a:rPr kumimoji="0" lang="en-US" altLang="en-US" sz="14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fld>
            <a:endParaRPr kumimoji="0" lang="en-US" altLang="en-US" sz="1400" b="0" i="0" u="none" strike="noStrike" kern="1200" cap="none" spc="0" normalizeH="0" baseline="0" noProof="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3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3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074" name="Rectangle 4"/>
          <p:cNvSpPr>
            <a:spLocks noGrp="1"/>
          </p:cNvSpPr>
          <p:nvPr>
            <p:ph type="ctrTitle"/>
          </p:nvPr>
        </p:nvSpPr>
        <p:spPr>
          <a:ln/>
        </p:spPr>
        <p:txBody>
          <a:bodyPr vert="horz" wrap="square" lIns="91440" tIns="45720" rIns="91440" bIns="45720" anchor="ctr" anchorCtr="0"/>
          <a:p>
            <a:pPr eaLnBrk="1" hangingPunct="1">
              <a:buClrTx/>
              <a:buSzTx/>
              <a:buFontTx/>
            </a:pPr>
            <a:r>
              <a:rPr lang="en-US" altLang="en-US" dirty="0"/>
              <a:t>Intelligent Agents</a:t>
            </a:r>
            <a:endParaRPr lang="en-US" altLang="en-US" dirty="0"/>
          </a:p>
        </p:txBody>
      </p:sp>
      <p:sp>
        <p:nvSpPr>
          <p:cNvPr id="3075" name="Rectangle 3"/>
          <p:cNvSpPr>
            <a:spLocks noGrp="1"/>
          </p:cNvSpPr>
          <p:nvPr>
            <p:ph type="subTitle" idx="1"/>
          </p:nvPr>
        </p:nvSpPr>
        <p:spPr>
          <a:ln/>
        </p:spPr>
        <p:txBody>
          <a:bodyPr vert="horz" wrap="square" lIns="91440" tIns="45720" rIns="91440" bIns="45720" anchor="t" anchorCtr="0"/>
          <a:p>
            <a:pPr eaLnBrk="1" hangingPunct="1">
              <a:buClrTx/>
              <a:buSzTx/>
              <a:buFontTx/>
            </a:pPr>
            <a:endParaRPr lang="en-US" altLang="en-US" dirty="0">
              <a:latin typeface="+mn-lt"/>
              <a:ea typeface="+mn-ea"/>
              <a:cs typeface="+mn-cs"/>
            </a:endParaRPr>
          </a:p>
          <a:p>
            <a:pPr eaLnBrk="1" hangingPunct="1">
              <a:buClrTx/>
              <a:buSzTx/>
              <a:buFontTx/>
            </a:pPr>
            <a:r>
              <a:rPr lang="en-US" altLang="en-US" dirty="0">
                <a:latin typeface="+mn-lt"/>
                <a:ea typeface="+mn-ea"/>
                <a:cs typeface="+mn-cs"/>
              </a:rPr>
              <a:t>Chapter 2</a:t>
            </a:r>
            <a:endParaRPr lang="en-US" altLang="en-US" dirty="0">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8" name="Rectangle 2"/>
          <p:cNvSpPr>
            <a:spLocks noGrp="1"/>
          </p:cNvSpPr>
          <p:nvPr>
            <p:ph type="title"/>
          </p:nvPr>
        </p:nvSpPr>
        <p:spPr>
          <a:ln/>
        </p:spPr>
        <p:txBody>
          <a:bodyPr vert="horz" wrap="square" lIns="91440" tIns="45720" rIns="91440" bIns="45720" anchor="ctr" anchorCtr="0"/>
          <a:p>
            <a:pPr eaLnBrk="1" hangingPunct="1"/>
            <a:r>
              <a:rPr lang="en-US" altLang="en-US" dirty="0"/>
              <a:t>Outline</a:t>
            </a:r>
            <a:endParaRPr lang="en-US" altLang="en-US" dirty="0"/>
          </a:p>
        </p:txBody>
      </p:sp>
      <p:sp>
        <p:nvSpPr>
          <p:cNvPr id="4099" name="Rectangle 3"/>
          <p:cNvSpPr>
            <a:spLocks noGrp="1"/>
          </p:cNvSpPr>
          <p:nvPr>
            <p:ph idx="1"/>
          </p:nvPr>
        </p:nvSpPr>
        <p:spPr>
          <a:ln/>
        </p:spPr>
        <p:txBody>
          <a:bodyPr vert="horz" wrap="square" lIns="91440" tIns="45720" rIns="91440" bIns="45720" anchor="t" anchorCtr="0"/>
          <a:p>
            <a:pPr eaLnBrk="1" hangingPunct="1"/>
            <a:r>
              <a:rPr lang="en-US" altLang="en-US" dirty="0"/>
              <a:t>Agents and environments</a:t>
            </a:r>
            <a:endParaRPr lang="en-US" altLang="en-US" dirty="0"/>
          </a:p>
          <a:p>
            <a:pPr eaLnBrk="1" hangingPunct="1"/>
            <a:r>
              <a:rPr lang="en-US" altLang="en-US" dirty="0"/>
              <a:t>Rationality</a:t>
            </a:r>
            <a:endParaRPr lang="en-US" altLang="en-US" dirty="0"/>
          </a:p>
          <a:p>
            <a:pPr eaLnBrk="1" hangingPunct="1"/>
            <a:r>
              <a:rPr lang="en-US" altLang="en-US" dirty="0"/>
              <a:t>PEAS (Performance measure, Environment, Actuators, Sensors)</a:t>
            </a:r>
            <a:endParaRPr lang="en-US" altLang="en-US" dirty="0"/>
          </a:p>
          <a:p>
            <a:pPr eaLnBrk="1" hangingPunct="1"/>
            <a:r>
              <a:rPr lang="en-US" altLang="en-US" dirty="0"/>
              <a:t>Environment types</a:t>
            </a:r>
            <a:endParaRPr lang="en-US" altLang="en-US" dirty="0"/>
          </a:p>
          <a:p>
            <a:pPr eaLnBrk="1" hangingPunct="1"/>
            <a:r>
              <a:rPr lang="en-US" altLang="en-US" dirty="0"/>
              <a:t>Agent types</a:t>
            </a:r>
            <a:endParaRPr lang="en-US"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2" name="Rectangle 2"/>
          <p:cNvSpPr>
            <a:spLocks noGrp="1"/>
          </p:cNvSpPr>
          <p:nvPr>
            <p:ph type="title"/>
          </p:nvPr>
        </p:nvSpPr>
        <p:spPr>
          <a:ln/>
        </p:spPr>
        <p:txBody>
          <a:bodyPr vert="horz" wrap="square" lIns="91440" tIns="45720" rIns="91440" bIns="45720" anchor="ctr" anchorCtr="0"/>
          <a:p>
            <a:pPr eaLnBrk="1" hangingPunct="1"/>
            <a:r>
              <a:rPr lang="en-US" altLang="en-US" dirty="0"/>
              <a:t>Agents</a:t>
            </a:r>
            <a:endParaRPr lang="en-US" altLang="en-US" dirty="0"/>
          </a:p>
        </p:txBody>
      </p:sp>
      <p:sp>
        <p:nvSpPr>
          <p:cNvPr id="5123" name="Rectangle 3"/>
          <p:cNvSpPr>
            <a:spLocks noGrp="1"/>
          </p:cNvSpPr>
          <p:nvPr>
            <p:ph idx="1"/>
          </p:nvPr>
        </p:nvSpPr>
        <p:spPr>
          <a:ln/>
        </p:spPr>
        <p:txBody>
          <a:bodyPr vert="horz" wrap="square" lIns="91440" tIns="45720" rIns="91440" bIns="45720" anchor="t" anchorCtr="0"/>
          <a:p>
            <a:pPr eaLnBrk="1" hangingPunct="1">
              <a:lnSpc>
                <a:spcPct val="90000"/>
              </a:lnSpc>
            </a:pPr>
            <a:r>
              <a:rPr lang="en-US" altLang="en-US" sz="2800" dirty="0"/>
              <a:t>An </a:t>
            </a:r>
            <a:r>
              <a:rPr lang="en-US" altLang="en-US" sz="2800" dirty="0">
                <a:solidFill>
                  <a:srgbClr val="FF0000"/>
                </a:solidFill>
              </a:rPr>
              <a:t>agent</a:t>
            </a:r>
            <a:r>
              <a:rPr lang="en-US" altLang="en-US" sz="2800" dirty="0"/>
              <a:t> is anything that can be viewed as </a:t>
            </a:r>
            <a:r>
              <a:rPr lang="en-US" altLang="en-US" sz="2800" dirty="0">
                <a:solidFill>
                  <a:srgbClr val="FF0000"/>
                </a:solidFill>
              </a:rPr>
              <a:t>perceiving</a:t>
            </a:r>
            <a:r>
              <a:rPr lang="en-US" altLang="en-US" sz="2800" dirty="0"/>
              <a:t> its </a:t>
            </a:r>
            <a:r>
              <a:rPr lang="en-US" altLang="en-US" sz="2800" dirty="0">
                <a:solidFill>
                  <a:srgbClr val="FF0000"/>
                </a:solidFill>
              </a:rPr>
              <a:t>environment</a:t>
            </a:r>
            <a:r>
              <a:rPr lang="en-US" altLang="en-US" sz="2800" dirty="0"/>
              <a:t> through </a:t>
            </a:r>
            <a:r>
              <a:rPr lang="en-US" altLang="en-US" sz="2800" dirty="0">
                <a:solidFill>
                  <a:srgbClr val="FF0000"/>
                </a:solidFill>
              </a:rPr>
              <a:t>sensors</a:t>
            </a:r>
            <a:r>
              <a:rPr lang="en-US" altLang="en-US" sz="2800" dirty="0"/>
              <a:t> and </a:t>
            </a:r>
            <a:r>
              <a:rPr lang="en-US" altLang="en-US" sz="2800" dirty="0">
                <a:solidFill>
                  <a:srgbClr val="FF0000"/>
                </a:solidFill>
              </a:rPr>
              <a:t>acting</a:t>
            </a:r>
            <a:r>
              <a:rPr lang="en-US" altLang="en-US" sz="2800" dirty="0"/>
              <a:t> upon that environment through </a:t>
            </a:r>
            <a:r>
              <a:rPr lang="en-US" altLang="en-US" sz="2800" dirty="0">
                <a:solidFill>
                  <a:srgbClr val="FF0000"/>
                </a:solidFill>
              </a:rPr>
              <a:t>actuators</a:t>
            </a:r>
            <a:endParaRPr lang="en-US" alt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146" name="Rectangle 2"/>
          <p:cNvSpPr>
            <a:spLocks noGrp="1"/>
          </p:cNvSpPr>
          <p:nvPr>
            <p:ph type="title"/>
          </p:nvPr>
        </p:nvSpPr>
        <p:spPr>
          <a:ln/>
        </p:spPr>
        <p:txBody>
          <a:bodyPr vert="horz" wrap="square" lIns="91440" tIns="45720" rIns="91440" bIns="45720" anchor="ctr" anchorCtr="0"/>
          <a:p>
            <a:pPr eaLnBrk="1" hangingPunct="1"/>
            <a:r>
              <a:rPr lang="en-US" altLang="en-US" dirty="0"/>
              <a:t>Agents and environments</a:t>
            </a:r>
            <a:endParaRPr lang="en-US" altLang="en-US" dirty="0"/>
          </a:p>
        </p:txBody>
      </p:sp>
      <p:sp>
        <p:nvSpPr>
          <p:cNvPr id="6147" name="Rectangle 3"/>
          <p:cNvSpPr>
            <a:spLocks noGrp="1"/>
          </p:cNvSpPr>
          <p:nvPr>
            <p:ph idx="1"/>
          </p:nvPr>
        </p:nvSpPr>
        <p:spPr>
          <a:ln/>
        </p:spPr>
        <p:txBody>
          <a:bodyPr vert="horz" wrap="square" lIns="91440" tIns="45720" rIns="91440" bIns="45720" anchor="t" anchorCtr="0"/>
          <a:p>
            <a:pPr eaLnBrk="1" hangingPunct="1">
              <a:buNone/>
            </a:pPr>
            <a:endParaRPr lang="en-US" altLang="en-US" sz="2800" dirty="0"/>
          </a:p>
          <a:p>
            <a:pPr eaLnBrk="1" hangingPunct="1">
              <a:buNone/>
            </a:pPr>
            <a:endParaRPr lang="en-US" altLang="en-US" sz="2800" dirty="0"/>
          </a:p>
          <a:p>
            <a:pPr eaLnBrk="1" hangingPunct="1">
              <a:buNone/>
            </a:pPr>
            <a:endParaRPr lang="en-US" altLang="en-US" sz="2800" dirty="0"/>
          </a:p>
          <a:p>
            <a:pPr eaLnBrk="1" hangingPunct="1"/>
            <a:r>
              <a:rPr lang="en-US" altLang="en-US" sz="2800" dirty="0"/>
              <a:t>The </a:t>
            </a:r>
            <a:r>
              <a:rPr lang="en-US" altLang="en-US" sz="2800" dirty="0">
                <a:solidFill>
                  <a:srgbClr val="FF0000"/>
                </a:solidFill>
              </a:rPr>
              <a:t>agent</a:t>
            </a:r>
            <a:r>
              <a:rPr lang="en-US" altLang="en-US" sz="2800" dirty="0"/>
              <a:t> </a:t>
            </a:r>
            <a:r>
              <a:rPr lang="en-US" altLang="en-US" sz="2800" dirty="0">
                <a:solidFill>
                  <a:srgbClr val="FF0000"/>
                </a:solidFill>
              </a:rPr>
              <a:t>function</a:t>
            </a:r>
            <a:r>
              <a:rPr lang="en-US" altLang="en-US" sz="2800" dirty="0"/>
              <a:t> maps from percept histories to actions:</a:t>
            </a:r>
            <a:endParaRPr lang="en-US" altLang="en-US" sz="2800" dirty="0"/>
          </a:p>
          <a:p>
            <a:pPr algn="ctr" eaLnBrk="1" hangingPunct="1">
              <a:buNone/>
            </a:pPr>
            <a:r>
              <a:rPr lang="en-US" altLang="en-US" sz="2800" dirty="0"/>
              <a:t>[</a:t>
            </a:r>
            <a:r>
              <a:rPr lang="en-US" altLang="en-US" sz="2800" i="1" dirty="0"/>
              <a:t>f</a:t>
            </a:r>
            <a:r>
              <a:rPr lang="en-US" altLang="en-US" sz="2800" dirty="0"/>
              <a:t>: </a:t>
            </a:r>
            <a:r>
              <a:rPr lang="en-US" altLang="en-US" sz="2800" dirty="0">
                <a:latin typeface="Monotype Corsiva" pitchFamily="66" charset="0"/>
              </a:rPr>
              <a:t>P*</a:t>
            </a:r>
            <a:r>
              <a:rPr lang="en-US" altLang="en-US" sz="2800" dirty="0"/>
              <a:t> </a:t>
            </a:r>
            <a:r>
              <a:rPr lang="en-US" altLang="en-US" sz="2800" dirty="0">
                <a:sym typeface="Wingdings" panose="05000000000000000000" pitchFamily="2" charset="2"/>
              </a:rPr>
              <a:t> </a:t>
            </a:r>
            <a:r>
              <a:rPr lang="en-US" altLang="en-US" sz="2800" dirty="0">
                <a:latin typeface="Monotype Corsiva" pitchFamily="66" charset="0"/>
              </a:rPr>
              <a:t>A</a:t>
            </a:r>
            <a:r>
              <a:rPr lang="en-US" altLang="en-US" sz="2800" dirty="0"/>
              <a:t>]</a:t>
            </a:r>
            <a:endParaRPr lang="en-US" altLang="en-US" sz="2800" dirty="0"/>
          </a:p>
          <a:p>
            <a:pPr eaLnBrk="1" hangingPunct="1"/>
            <a:r>
              <a:rPr lang="en-US" altLang="en-US" sz="2800" dirty="0"/>
              <a:t>The </a:t>
            </a:r>
            <a:r>
              <a:rPr lang="en-US" altLang="en-US" sz="2800" dirty="0">
                <a:solidFill>
                  <a:srgbClr val="FF0000"/>
                </a:solidFill>
              </a:rPr>
              <a:t>agent</a:t>
            </a:r>
            <a:r>
              <a:rPr lang="en-US" altLang="en-US" sz="2800" dirty="0"/>
              <a:t> </a:t>
            </a:r>
            <a:r>
              <a:rPr lang="en-US" altLang="en-US" sz="2800" dirty="0">
                <a:solidFill>
                  <a:srgbClr val="FF0000"/>
                </a:solidFill>
              </a:rPr>
              <a:t>program</a:t>
            </a:r>
            <a:r>
              <a:rPr lang="en-US" altLang="en-US" sz="2800" dirty="0"/>
              <a:t> runs on the physical </a:t>
            </a:r>
            <a:r>
              <a:rPr lang="en-US" altLang="en-US" sz="2800" dirty="0">
                <a:solidFill>
                  <a:srgbClr val="FF0000"/>
                </a:solidFill>
              </a:rPr>
              <a:t>architecture</a:t>
            </a:r>
            <a:r>
              <a:rPr lang="en-US" altLang="en-US" sz="2800" dirty="0"/>
              <a:t> to produce </a:t>
            </a:r>
            <a:r>
              <a:rPr lang="en-US" altLang="en-US" sz="2800" i="1" dirty="0"/>
              <a:t>f</a:t>
            </a:r>
            <a:endParaRPr lang="en-US" altLang="en-US" sz="2800" dirty="0"/>
          </a:p>
          <a:p>
            <a:pPr eaLnBrk="1" hangingPunct="1"/>
            <a:r>
              <a:rPr lang="en-US" altLang="en-US" sz="2800" dirty="0"/>
              <a:t>agent = architecture + program</a:t>
            </a:r>
            <a:endParaRPr lang="en-US" altLang="en-US" sz="2800" dirty="0"/>
          </a:p>
        </p:txBody>
      </p:sp>
      <p:pic>
        <p:nvPicPr>
          <p:cNvPr id="6148" name="Picture 4" descr="agent-environment"/>
          <p:cNvPicPr>
            <a:picLocks noChangeAspect="1"/>
          </p:cNvPicPr>
          <p:nvPr/>
        </p:nvPicPr>
        <p:blipFill>
          <a:blip r:embed="rId1"/>
          <a:stretch>
            <a:fillRect/>
          </a:stretch>
        </p:blipFill>
        <p:spPr>
          <a:xfrm>
            <a:off x="2667000" y="1447800"/>
            <a:ext cx="3733800" cy="1685925"/>
          </a:xfrm>
          <a:prstGeom prst="rect">
            <a:avLst/>
          </a:prstGeom>
          <a:noFill/>
          <a:ln w="9525">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7170" name="Rectangle 2"/>
          <p:cNvSpPr>
            <a:spLocks noGrp="1"/>
          </p:cNvSpPr>
          <p:nvPr>
            <p:ph type="title"/>
          </p:nvPr>
        </p:nvSpPr>
        <p:spPr>
          <a:ln/>
        </p:spPr>
        <p:txBody>
          <a:bodyPr vert="horz" wrap="square" lIns="91440" tIns="45720" rIns="91440" bIns="45720" anchor="ctr" anchorCtr="0"/>
          <a:p>
            <a:pPr eaLnBrk="1" hangingPunct="1"/>
            <a:r>
              <a:rPr lang="en-US" altLang="en-US" dirty="0"/>
              <a:t>Vacuum-cleaner world</a:t>
            </a:r>
            <a:endParaRPr lang="en-US" altLang="en-US" dirty="0"/>
          </a:p>
        </p:txBody>
      </p:sp>
      <p:sp>
        <p:nvSpPr>
          <p:cNvPr id="7171" name="Rectangle 3"/>
          <p:cNvSpPr>
            <a:spLocks noGrp="1"/>
          </p:cNvSpPr>
          <p:nvPr>
            <p:ph idx="1"/>
          </p:nvPr>
        </p:nvSpPr>
        <p:spPr>
          <a:ln/>
        </p:spPr>
        <p:txBody>
          <a:bodyPr vert="horz" wrap="square" lIns="91440" tIns="45720" rIns="91440" bIns="45720" anchor="t" anchorCtr="0"/>
          <a:p>
            <a:pPr eaLnBrk="1" hangingPunct="1"/>
            <a:endParaRPr lang="en-US" altLang="en-US" dirty="0"/>
          </a:p>
          <a:p>
            <a:pPr eaLnBrk="1" hangingPunct="1"/>
            <a:endParaRPr lang="en-US" altLang="en-US" dirty="0"/>
          </a:p>
          <a:p>
            <a:pPr eaLnBrk="1" hangingPunct="1"/>
            <a:endParaRPr lang="en-US" altLang="en-US" dirty="0"/>
          </a:p>
          <a:p>
            <a:pPr eaLnBrk="1" hangingPunct="1"/>
            <a:endParaRPr lang="en-US" altLang="en-US" dirty="0"/>
          </a:p>
          <a:p>
            <a:pPr eaLnBrk="1" hangingPunct="1"/>
            <a:r>
              <a:rPr lang="en-US" altLang="en-US" dirty="0"/>
              <a:t>Percepts: location and contents, e.g., [A,Dirty]</a:t>
            </a:r>
            <a:endParaRPr lang="en-US" altLang="en-US" dirty="0"/>
          </a:p>
          <a:p>
            <a:pPr eaLnBrk="1" hangingPunct="1"/>
            <a:r>
              <a:rPr lang="en-US" altLang="en-US" dirty="0"/>
              <a:t>Actions: </a:t>
            </a:r>
            <a:r>
              <a:rPr lang="en-US" altLang="en-US" i="1" dirty="0"/>
              <a:t>Left</a:t>
            </a:r>
            <a:r>
              <a:rPr lang="en-US" altLang="en-US" dirty="0"/>
              <a:t>, </a:t>
            </a:r>
            <a:r>
              <a:rPr lang="en-US" altLang="en-US" i="1" dirty="0"/>
              <a:t>Right</a:t>
            </a:r>
            <a:r>
              <a:rPr lang="en-US" altLang="en-US" dirty="0"/>
              <a:t>, </a:t>
            </a:r>
            <a:r>
              <a:rPr lang="en-US" altLang="en-US" i="1" dirty="0"/>
              <a:t>Suck</a:t>
            </a:r>
            <a:r>
              <a:rPr lang="en-US" altLang="en-US" dirty="0"/>
              <a:t>, </a:t>
            </a:r>
            <a:r>
              <a:rPr lang="en-US" altLang="en-US" i="1" dirty="0"/>
              <a:t>NoOp</a:t>
            </a:r>
            <a:endParaRPr lang="en-US" altLang="en-US" dirty="0"/>
          </a:p>
        </p:txBody>
      </p:sp>
      <p:pic>
        <p:nvPicPr>
          <p:cNvPr id="7172" name="Picture 4" descr="vacuum2-environment"/>
          <p:cNvPicPr>
            <a:picLocks noChangeAspect="1"/>
          </p:cNvPicPr>
          <p:nvPr/>
        </p:nvPicPr>
        <p:blipFill>
          <a:blip r:embed="rId1"/>
          <a:stretch>
            <a:fillRect/>
          </a:stretch>
        </p:blipFill>
        <p:spPr>
          <a:xfrm>
            <a:off x="3429000" y="2133600"/>
            <a:ext cx="2457450" cy="1257300"/>
          </a:xfrm>
          <a:prstGeom prst="rect">
            <a:avLst/>
          </a:prstGeom>
          <a:noFill/>
          <a:ln w="9525">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194" name="Rectangle 2"/>
          <p:cNvSpPr>
            <a:spLocks noGrp="1"/>
          </p:cNvSpPr>
          <p:nvPr>
            <p:ph type="title"/>
          </p:nvPr>
        </p:nvSpPr>
        <p:spPr>
          <a:ln/>
        </p:spPr>
        <p:txBody>
          <a:bodyPr vert="horz" wrap="square" lIns="91440" tIns="45720" rIns="91440" bIns="45720" anchor="ctr" anchorCtr="0"/>
          <a:p>
            <a:pPr eaLnBrk="1" hangingPunct="1"/>
            <a:r>
              <a:rPr lang="en-US" altLang="en-US" dirty="0"/>
              <a:t>Rational agents</a:t>
            </a:r>
            <a:endParaRPr lang="en-US" altLang="en-US" dirty="0"/>
          </a:p>
        </p:txBody>
      </p:sp>
      <p:sp>
        <p:nvSpPr>
          <p:cNvPr id="8195" name="Rectangle 3"/>
          <p:cNvSpPr>
            <a:spLocks noGrp="1"/>
          </p:cNvSpPr>
          <p:nvPr>
            <p:ph idx="1"/>
          </p:nvPr>
        </p:nvSpPr>
        <p:spPr>
          <a:ln/>
        </p:spPr>
        <p:txBody>
          <a:bodyPr vert="horz" wrap="square" lIns="91440" tIns="45720" rIns="91440" bIns="45720" anchor="t" anchorCtr="0"/>
          <a:p>
            <a:pPr eaLnBrk="1" hangingPunct="1">
              <a:lnSpc>
                <a:spcPct val="90000"/>
              </a:lnSpc>
            </a:pPr>
            <a:r>
              <a:rPr lang="en-US" altLang="en-US" sz="2800" dirty="0"/>
              <a:t>An agent should strive to "do the right thing", based on what it can perceive and the actions it can perform. The right action is the one that will cause the agent to be most successful</a:t>
            </a:r>
            <a:endParaRPr lang="en-US" altLang="en-US" sz="2800" dirty="0"/>
          </a:p>
          <a:p>
            <a:pPr eaLnBrk="1" hangingPunct="1">
              <a:lnSpc>
                <a:spcPct val="90000"/>
              </a:lnSpc>
            </a:pPr>
            <a:r>
              <a:rPr lang="en-US" altLang="en-US" sz="2800" dirty="0"/>
              <a:t>Performance measure: An objective criterion for success of an agent's behavior</a:t>
            </a:r>
            <a:endParaRPr lang="en-US" altLang="en-US" sz="2800" dirty="0"/>
          </a:p>
          <a:p>
            <a:pPr eaLnBrk="1" hangingPunct="1">
              <a:lnSpc>
                <a:spcPct val="90000"/>
              </a:lnSpc>
            </a:pPr>
            <a:r>
              <a:rPr lang="en-US" altLang="en-US" sz="2800" dirty="0"/>
              <a:t>E.g., performance measure of a vacuum-cleaner agent could be amount of dirt cleaned up, amount of time taken, amount of electricity consumed, amount of noise generated, etc.</a:t>
            </a:r>
            <a:endParaRPr lang="en-US" altLang="en-US" sz="2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Rectangle 2"/>
          <p:cNvSpPr>
            <a:spLocks noGrp="1"/>
          </p:cNvSpPr>
          <p:nvPr>
            <p:ph type="title"/>
          </p:nvPr>
        </p:nvSpPr>
        <p:spPr>
          <a:ln/>
        </p:spPr>
        <p:txBody>
          <a:bodyPr vert="horz" wrap="square" lIns="91440" tIns="45720" rIns="91440" bIns="45720" anchor="ctr" anchorCtr="0"/>
          <a:p>
            <a:pPr eaLnBrk="1" hangingPunct="1"/>
            <a:r>
              <a:rPr lang="en-US" altLang="en-US" dirty="0"/>
              <a:t>Rational agents</a:t>
            </a:r>
            <a:endParaRPr lang="en-US" altLang="en-US" dirty="0"/>
          </a:p>
        </p:txBody>
      </p:sp>
      <p:sp>
        <p:nvSpPr>
          <p:cNvPr id="9219" name="Rectangle 3"/>
          <p:cNvSpPr>
            <a:spLocks noGrp="1"/>
          </p:cNvSpPr>
          <p:nvPr>
            <p:ph idx="1"/>
          </p:nvPr>
        </p:nvSpPr>
        <p:spPr>
          <a:ln/>
        </p:spPr>
        <p:txBody>
          <a:bodyPr vert="horz" wrap="square" lIns="91440" tIns="45720" rIns="91440" bIns="45720" anchor="t" anchorCtr="0"/>
          <a:p>
            <a:pPr eaLnBrk="1" hangingPunct="1"/>
            <a:r>
              <a:rPr lang="en-US" altLang="en-US" dirty="0">
                <a:solidFill>
                  <a:srgbClr val="FF0000"/>
                </a:solidFill>
              </a:rPr>
              <a:t>Rational</a:t>
            </a:r>
            <a:r>
              <a:rPr lang="en-US" altLang="en-US" dirty="0"/>
              <a:t> </a:t>
            </a:r>
            <a:r>
              <a:rPr lang="en-US" altLang="en-US" dirty="0">
                <a:solidFill>
                  <a:srgbClr val="FF0000"/>
                </a:solidFill>
              </a:rPr>
              <a:t>Agent</a:t>
            </a:r>
            <a:r>
              <a:rPr lang="en-US" altLang="en-US" dirty="0"/>
              <a:t>: For each possible percept sequence, a rational agent should select an action that is expected to maximize its performance measure, given the evidence provided by the percept sequence and whatever built-in knowledge the agent has.</a:t>
            </a:r>
            <a:endParaRPr lang="en-US"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2" name="Rectangle 2"/>
          <p:cNvSpPr>
            <a:spLocks noGrp="1"/>
          </p:cNvSpPr>
          <p:nvPr>
            <p:ph type="title"/>
          </p:nvPr>
        </p:nvSpPr>
        <p:spPr>
          <a:ln/>
        </p:spPr>
        <p:txBody>
          <a:bodyPr vert="horz" wrap="square" lIns="91440" tIns="45720" rIns="91440" bIns="45720" anchor="ctr" anchorCtr="0"/>
          <a:p>
            <a:pPr eaLnBrk="1" hangingPunct="1"/>
            <a:r>
              <a:rPr lang="en-US" altLang="en-US" dirty="0"/>
              <a:t>Rational agents</a:t>
            </a:r>
            <a:endParaRPr lang="en-US" altLang="en-US" dirty="0"/>
          </a:p>
        </p:txBody>
      </p:sp>
      <p:sp>
        <p:nvSpPr>
          <p:cNvPr id="10243" name="Rectangle 3"/>
          <p:cNvSpPr>
            <a:spLocks noGrp="1"/>
          </p:cNvSpPr>
          <p:nvPr>
            <p:ph idx="1"/>
          </p:nvPr>
        </p:nvSpPr>
        <p:spPr>
          <a:ln/>
        </p:spPr>
        <p:txBody>
          <a:bodyPr vert="horz" wrap="square" lIns="91440" tIns="45720" rIns="91440" bIns="45720" anchor="t" anchorCtr="0"/>
          <a:p>
            <a:pPr eaLnBrk="1" hangingPunct="1">
              <a:lnSpc>
                <a:spcPct val="90000"/>
              </a:lnSpc>
            </a:pPr>
            <a:r>
              <a:rPr lang="en-US" altLang="en-US" dirty="0"/>
              <a:t>Rationality is distinct from omniscience </a:t>
            </a:r>
            <a:endParaRPr lang="en-US" altLang="en-US" dirty="0"/>
          </a:p>
          <a:p>
            <a:pPr eaLnBrk="1" hangingPunct="1">
              <a:lnSpc>
                <a:spcPct val="90000"/>
              </a:lnSpc>
            </a:pPr>
            <a:r>
              <a:rPr lang="en-US" altLang="en-US" dirty="0"/>
              <a:t>Agents can perform actions in order to modify future percepts so as to obtain useful information (information gathering, exploration)</a:t>
            </a:r>
            <a:endParaRPr lang="en-US" altLang="en-US" dirty="0"/>
          </a:p>
          <a:p>
            <a:pPr eaLnBrk="1" hangingPunct="1">
              <a:lnSpc>
                <a:spcPct val="90000"/>
              </a:lnSpc>
            </a:pPr>
            <a:r>
              <a:rPr lang="en-US" altLang="en-US" dirty="0"/>
              <a:t>An agent is </a:t>
            </a:r>
            <a:r>
              <a:rPr lang="en-US" altLang="en-US" dirty="0">
                <a:solidFill>
                  <a:srgbClr val="FF0000"/>
                </a:solidFill>
              </a:rPr>
              <a:t>autonomous</a:t>
            </a:r>
            <a:r>
              <a:rPr lang="en-US" altLang="en-US" dirty="0"/>
              <a:t> if its behavior is determined by its own experience (with ability to learn and adapt)</a:t>
            </a:r>
            <a:endParaRPr lang="en-US"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Rectangle 2"/>
          <p:cNvSpPr>
            <a:spLocks noGrp="1"/>
          </p:cNvSpPr>
          <p:nvPr>
            <p:ph type="title"/>
          </p:nvPr>
        </p:nvSpPr>
        <p:spPr>
          <a:ln/>
        </p:spPr>
        <p:txBody>
          <a:bodyPr vert="horz" wrap="square" lIns="91440" tIns="45720" rIns="91440" bIns="45720" anchor="ctr" anchorCtr="0"/>
          <a:p>
            <a:pPr eaLnBrk="1" hangingPunct="1"/>
            <a:r>
              <a:rPr lang="en-US" altLang="en-US" dirty="0"/>
              <a:t>PEAS</a:t>
            </a:r>
            <a:endParaRPr lang="en-US" altLang="en-US" dirty="0"/>
          </a:p>
        </p:txBody>
      </p:sp>
      <p:sp>
        <p:nvSpPr>
          <p:cNvPr id="12291" name="Rectangle 3"/>
          <p:cNvSpPr>
            <a:spLocks noGrp="1"/>
          </p:cNvSpPr>
          <p:nvPr>
            <p:ph idx="1"/>
          </p:nvPr>
        </p:nvSpPr>
        <p:spPr>
          <a:ln/>
        </p:spPr>
        <p:txBody>
          <a:bodyPr vert="horz" wrap="square" lIns="91440" tIns="45720" rIns="91440" bIns="45720" anchor="t" anchorCtr="0"/>
          <a:p>
            <a:pPr eaLnBrk="1" hangingPunct="1">
              <a:lnSpc>
                <a:spcPct val="90000"/>
              </a:lnSpc>
            </a:pPr>
            <a:r>
              <a:rPr lang="en-US" altLang="en-US" sz="2800" dirty="0"/>
              <a:t>PEAS: Performance measure, Environment, Actuators, Sensors</a:t>
            </a:r>
            <a:endParaRPr lang="en-US" altLang="en-US" sz="2800" dirty="0"/>
          </a:p>
          <a:p>
            <a:pPr eaLnBrk="1" hangingPunct="1">
              <a:lnSpc>
                <a:spcPct val="90000"/>
              </a:lnSpc>
            </a:pPr>
            <a:r>
              <a:rPr lang="en-US" altLang="en-US" sz="2800" dirty="0"/>
              <a:t>Must first specify the setting for intelligent agent design</a:t>
            </a:r>
            <a:endParaRPr lang="en-US" altLang="en-US" sz="2800" dirty="0"/>
          </a:p>
          <a:p>
            <a:pPr eaLnBrk="1" hangingPunct="1">
              <a:lnSpc>
                <a:spcPct val="90000"/>
              </a:lnSpc>
            </a:pPr>
            <a:r>
              <a:rPr lang="en-US" altLang="en-US" sz="2800" dirty="0"/>
              <a:t>Consider, e.g., the task of designing an automated taxi driver:</a:t>
            </a:r>
            <a:endParaRPr lang="en-US" altLang="en-US" sz="2800" dirty="0"/>
          </a:p>
          <a:p>
            <a:pPr lvl="1" eaLnBrk="1" hangingPunct="1">
              <a:lnSpc>
                <a:spcPct val="90000"/>
              </a:lnSpc>
            </a:pPr>
            <a:r>
              <a:rPr lang="en-US" altLang="en-US" sz="2400" dirty="0"/>
              <a:t>Performance measure</a:t>
            </a:r>
            <a:endParaRPr lang="en-US" altLang="en-US" sz="2400" dirty="0"/>
          </a:p>
          <a:p>
            <a:pPr lvl="1" eaLnBrk="1" hangingPunct="1">
              <a:lnSpc>
                <a:spcPct val="90000"/>
              </a:lnSpc>
            </a:pPr>
            <a:r>
              <a:rPr lang="en-US" altLang="en-US" sz="2400" dirty="0"/>
              <a:t>Environment</a:t>
            </a:r>
            <a:endParaRPr lang="en-US" altLang="en-US" sz="2400" dirty="0"/>
          </a:p>
          <a:p>
            <a:pPr lvl="1" eaLnBrk="1" hangingPunct="1">
              <a:lnSpc>
                <a:spcPct val="90000"/>
              </a:lnSpc>
            </a:pPr>
            <a:r>
              <a:rPr lang="en-US" altLang="en-US" sz="2400" dirty="0"/>
              <a:t>Actuators</a:t>
            </a:r>
            <a:endParaRPr lang="en-US" altLang="en-US" sz="2400" dirty="0"/>
          </a:p>
          <a:p>
            <a:pPr lvl="1" eaLnBrk="1" hangingPunct="1">
              <a:lnSpc>
                <a:spcPct val="90000"/>
              </a:lnSpc>
            </a:pPr>
            <a:r>
              <a:rPr lang="en-US" altLang="en-US" sz="2400" dirty="0"/>
              <a:t>Sensors</a:t>
            </a:r>
            <a:endParaRPr lang="en-US"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Rectangle 2"/>
          <p:cNvSpPr>
            <a:spLocks noGrp="1"/>
          </p:cNvSpPr>
          <p:nvPr>
            <p:ph type="title"/>
          </p:nvPr>
        </p:nvSpPr>
        <p:spPr>
          <a:ln/>
        </p:spPr>
        <p:txBody>
          <a:bodyPr vert="horz" wrap="square" lIns="91440" tIns="45720" rIns="91440" bIns="45720" anchor="ctr" anchorCtr="0"/>
          <a:p>
            <a:pPr eaLnBrk="1" hangingPunct="1"/>
            <a:r>
              <a:rPr lang="en-US" altLang="en-US" dirty="0"/>
              <a:t>PEAS</a:t>
            </a:r>
            <a:endParaRPr lang="en-US" altLang="en-US" dirty="0"/>
          </a:p>
        </p:txBody>
      </p:sp>
      <p:sp>
        <p:nvSpPr>
          <p:cNvPr id="13315" name="Rectangle 3"/>
          <p:cNvSpPr>
            <a:spLocks noGrp="1"/>
          </p:cNvSpPr>
          <p:nvPr>
            <p:ph idx="1"/>
          </p:nvPr>
        </p:nvSpPr>
        <p:spPr>
          <a:ln/>
        </p:spPr>
        <p:txBody>
          <a:bodyPr vert="horz" wrap="square" lIns="91440" tIns="45720" rIns="91440" bIns="45720" anchor="t" anchorCtr="0"/>
          <a:p>
            <a:pPr eaLnBrk="1" hangingPunct="1">
              <a:lnSpc>
                <a:spcPct val="80000"/>
              </a:lnSpc>
            </a:pPr>
            <a:r>
              <a:rPr lang="en-US" altLang="en-US" sz="2800" dirty="0"/>
              <a:t>Must first specify the setting for intelligent agent design</a:t>
            </a:r>
            <a:endParaRPr lang="en-US" altLang="en-US" sz="2800" dirty="0"/>
          </a:p>
          <a:p>
            <a:pPr eaLnBrk="1" hangingPunct="1">
              <a:lnSpc>
                <a:spcPct val="80000"/>
              </a:lnSpc>
            </a:pPr>
            <a:r>
              <a:rPr lang="en-US" altLang="en-US" sz="2800" dirty="0"/>
              <a:t>Consider, e.g., the task of designing an automated taxi driver:</a:t>
            </a:r>
            <a:endParaRPr lang="en-US" altLang="en-US" sz="2800" dirty="0"/>
          </a:p>
          <a:p>
            <a:pPr lvl="1" eaLnBrk="1" hangingPunct="1">
              <a:lnSpc>
                <a:spcPct val="80000"/>
              </a:lnSpc>
            </a:pPr>
            <a:r>
              <a:rPr lang="en-US" altLang="en-US" sz="2400" dirty="0"/>
              <a:t>Performance measure: Safe, fast, legal, comfortable trip, maximize profits</a:t>
            </a:r>
            <a:endParaRPr lang="en-US" altLang="en-US" sz="2400" dirty="0"/>
          </a:p>
          <a:p>
            <a:pPr lvl="1" eaLnBrk="1" hangingPunct="1">
              <a:lnSpc>
                <a:spcPct val="80000"/>
              </a:lnSpc>
            </a:pPr>
            <a:r>
              <a:rPr lang="en-US" altLang="en-US" sz="2400" dirty="0"/>
              <a:t>Environment: Roads, other traffic, pedestrians, customers</a:t>
            </a:r>
            <a:endParaRPr lang="en-US" altLang="en-US" sz="2400" dirty="0"/>
          </a:p>
          <a:p>
            <a:pPr lvl="1" eaLnBrk="1" hangingPunct="1">
              <a:lnSpc>
                <a:spcPct val="80000"/>
              </a:lnSpc>
            </a:pPr>
            <a:r>
              <a:rPr lang="en-US" altLang="en-US" sz="2400" dirty="0"/>
              <a:t>Actuators: Steering wheel, accelerator, brake, signal, horn</a:t>
            </a:r>
            <a:endParaRPr lang="en-US" altLang="en-US" sz="2400" dirty="0"/>
          </a:p>
          <a:p>
            <a:pPr lvl="1" eaLnBrk="1" hangingPunct="1">
              <a:lnSpc>
                <a:spcPct val="80000"/>
              </a:lnSpc>
            </a:pPr>
            <a:r>
              <a:rPr lang="en-US" altLang="en-US" sz="2400" dirty="0"/>
              <a:t>Sensors: Cameras, sonar, speedometer, GPS, odometer, engine sensors, keyboard</a:t>
            </a:r>
            <a:endParaRPr lang="en-US" alt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Rectangle 2"/>
          <p:cNvSpPr>
            <a:spLocks noGrp="1"/>
          </p:cNvSpPr>
          <p:nvPr>
            <p:ph type="title"/>
          </p:nvPr>
        </p:nvSpPr>
        <p:spPr>
          <a:ln/>
        </p:spPr>
        <p:txBody>
          <a:bodyPr vert="horz" wrap="square" lIns="91440" tIns="45720" rIns="91440" bIns="45720" anchor="ctr" anchorCtr="0"/>
          <a:p>
            <a:pPr eaLnBrk="1" hangingPunct="1"/>
            <a:r>
              <a:rPr lang="en-US" altLang="en-US" dirty="0"/>
              <a:t>PEAS</a:t>
            </a:r>
            <a:endParaRPr lang="en-US" altLang="en-US" dirty="0"/>
          </a:p>
        </p:txBody>
      </p:sp>
      <p:sp>
        <p:nvSpPr>
          <p:cNvPr id="14339" name="Rectangle 3"/>
          <p:cNvSpPr>
            <a:spLocks noGrp="1"/>
          </p:cNvSpPr>
          <p:nvPr>
            <p:ph idx="1"/>
          </p:nvPr>
        </p:nvSpPr>
        <p:spPr>
          <a:ln/>
        </p:spPr>
        <p:txBody>
          <a:bodyPr vert="horz" wrap="square" lIns="91440" tIns="45720" rIns="91440" bIns="45720" anchor="t" anchorCtr="0"/>
          <a:p>
            <a:pPr eaLnBrk="1" hangingPunct="1"/>
            <a:r>
              <a:rPr lang="en-US" altLang="en-US" dirty="0"/>
              <a:t>Agent: Medical diagnosis system</a:t>
            </a:r>
            <a:endParaRPr lang="en-US" altLang="en-US" dirty="0"/>
          </a:p>
          <a:p>
            <a:pPr eaLnBrk="1" hangingPunct="1"/>
            <a:r>
              <a:rPr lang="en-US" altLang="en-US" dirty="0"/>
              <a:t>Performance measure: Healthy patient, minimize costs, lawsuits</a:t>
            </a:r>
            <a:endParaRPr lang="en-US" altLang="en-US" dirty="0"/>
          </a:p>
          <a:p>
            <a:pPr eaLnBrk="1" hangingPunct="1"/>
            <a:r>
              <a:rPr lang="en-US" altLang="en-US" dirty="0"/>
              <a:t>Environment: Patient, hospital, staff</a:t>
            </a:r>
            <a:endParaRPr lang="en-US" altLang="en-US" dirty="0"/>
          </a:p>
          <a:p>
            <a:pPr eaLnBrk="1" hangingPunct="1"/>
            <a:r>
              <a:rPr lang="en-US" altLang="en-US" dirty="0"/>
              <a:t>Actuators: Screen display (questions, tests, diagnoses, treatments, referrals)</a:t>
            </a:r>
            <a:endParaRPr lang="en-US" altLang="en-US" dirty="0"/>
          </a:p>
          <a:p>
            <a:pPr eaLnBrk="1" hangingPunct="1"/>
            <a:r>
              <a:rPr lang="en-US" altLang="en-US" dirty="0"/>
              <a:t>Sensors: Keyboard (entry of symptoms, findings, patient's answers)</a:t>
            </a:r>
            <a:endParaRPr lang="en-US"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Rectangle 2"/>
          <p:cNvSpPr>
            <a:spLocks noGrp="1"/>
          </p:cNvSpPr>
          <p:nvPr>
            <p:ph type="title"/>
          </p:nvPr>
        </p:nvSpPr>
        <p:spPr>
          <a:ln/>
        </p:spPr>
        <p:txBody>
          <a:bodyPr vert="horz" wrap="square" lIns="91440" tIns="45720" rIns="91440" bIns="45720" anchor="ctr" anchorCtr="0"/>
          <a:p>
            <a:pPr eaLnBrk="1" hangingPunct="1"/>
            <a:r>
              <a:rPr lang="en-US" altLang="en-US" dirty="0"/>
              <a:t>PEAS</a:t>
            </a:r>
            <a:endParaRPr lang="en-US" altLang="en-US" dirty="0"/>
          </a:p>
        </p:txBody>
      </p:sp>
      <p:sp>
        <p:nvSpPr>
          <p:cNvPr id="15363" name="Rectangle 3"/>
          <p:cNvSpPr>
            <a:spLocks noGrp="1"/>
          </p:cNvSpPr>
          <p:nvPr>
            <p:ph idx="1"/>
          </p:nvPr>
        </p:nvSpPr>
        <p:spPr>
          <a:ln/>
        </p:spPr>
        <p:txBody>
          <a:bodyPr vert="horz" wrap="square" lIns="91440" tIns="45720" rIns="91440" bIns="45720" anchor="t" anchorCtr="0"/>
          <a:p>
            <a:pPr eaLnBrk="1" hangingPunct="1"/>
            <a:r>
              <a:rPr lang="en-US" altLang="en-US" dirty="0"/>
              <a:t>Agent: Part-picking robot</a:t>
            </a:r>
            <a:endParaRPr lang="en-US" altLang="en-US" dirty="0"/>
          </a:p>
          <a:p>
            <a:pPr eaLnBrk="1" hangingPunct="1"/>
            <a:r>
              <a:rPr lang="en-US" altLang="en-US" dirty="0"/>
              <a:t>Performance measure: Percentage of parts in correct bins</a:t>
            </a:r>
            <a:endParaRPr lang="en-US" altLang="en-US" dirty="0"/>
          </a:p>
          <a:p>
            <a:pPr eaLnBrk="1" hangingPunct="1"/>
            <a:r>
              <a:rPr lang="en-US" altLang="en-US" dirty="0"/>
              <a:t>Environment: Conveyor belt with parts, bins</a:t>
            </a:r>
            <a:endParaRPr lang="en-US" altLang="en-US" dirty="0"/>
          </a:p>
          <a:p>
            <a:pPr eaLnBrk="1" hangingPunct="1"/>
            <a:r>
              <a:rPr lang="en-US" altLang="en-US" dirty="0"/>
              <a:t>Actuators: Jointed arm and hand</a:t>
            </a:r>
            <a:endParaRPr lang="en-US" altLang="en-US" dirty="0"/>
          </a:p>
          <a:p>
            <a:pPr eaLnBrk="1" hangingPunct="1"/>
            <a:r>
              <a:rPr lang="en-US" altLang="en-US" dirty="0"/>
              <a:t>Sensors: Camera, joint angle sensors</a:t>
            </a:r>
            <a:endParaRPr lang="en-US"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Rectangle 2"/>
          <p:cNvSpPr>
            <a:spLocks noGrp="1"/>
          </p:cNvSpPr>
          <p:nvPr>
            <p:ph type="title"/>
          </p:nvPr>
        </p:nvSpPr>
        <p:spPr>
          <a:ln/>
        </p:spPr>
        <p:txBody>
          <a:bodyPr vert="horz" wrap="square" lIns="91440" tIns="45720" rIns="91440" bIns="45720" anchor="ctr" anchorCtr="0"/>
          <a:p>
            <a:pPr eaLnBrk="1" hangingPunct="1"/>
            <a:r>
              <a:rPr lang="en-US" altLang="en-US" dirty="0"/>
              <a:t>PEAS</a:t>
            </a:r>
            <a:endParaRPr lang="en-US" altLang="en-US" dirty="0"/>
          </a:p>
        </p:txBody>
      </p:sp>
      <p:sp>
        <p:nvSpPr>
          <p:cNvPr id="16387" name="Rectangle 3"/>
          <p:cNvSpPr>
            <a:spLocks noGrp="1"/>
          </p:cNvSpPr>
          <p:nvPr>
            <p:ph idx="1"/>
          </p:nvPr>
        </p:nvSpPr>
        <p:spPr>
          <a:ln/>
        </p:spPr>
        <p:txBody>
          <a:bodyPr vert="horz" wrap="square" lIns="91440" tIns="45720" rIns="91440" bIns="45720" anchor="t" anchorCtr="0"/>
          <a:p>
            <a:pPr eaLnBrk="1" hangingPunct="1"/>
            <a:r>
              <a:rPr lang="en-US" altLang="en-US" dirty="0"/>
              <a:t>Agent: Interactive English tutor</a:t>
            </a:r>
            <a:endParaRPr lang="en-US" altLang="en-US" dirty="0"/>
          </a:p>
          <a:p>
            <a:pPr eaLnBrk="1" hangingPunct="1"/>
            <a:r>
              <a:rPr lang="en-US" altLang="en-US" dirty="0"/>
              <a:t>Performance measure: Maximize student's score on test</a:t>
            </a:r>
            <a:endParaRPr lang="en-US" altLang="en-US" dirty="0"/>
          </a:p>
          <a:p>
            <a:pPr eaLnBrk="1" hangingPunct="1"/>
            <a:r>
              <a:rPr lang="en-US" altLang="en-US" dirty="0"/>
              <a:t>Environment: Set of students</a:t>
            </a:r>
            <a:endParaRPr lang="en-US" altLang="en-US" dirty="0"/>
          </a:p>
          <a:p>
            <a:pPr eaLnBrk="1" hangingPunct="1"/>
            <a:r>
              <a:rPr lang="en-US" altLang="en-US" dirty="0"/>
              <a:t>Actuators: Screen display (exercises, suggestions, corrections)</a:t>
            </a:r>
            <a:endParaRPr lang="en-US" altLang="en-US" dirty="0"/>
          </a:p>
          <a:p>
            <a:pPr eaLnBrk="1" hangingPunct="1"/>
            <a:r>
              <a:rPr lang="en-US" altLang="en-US" dirty="0"/>
              <a:t>Sensors: Keyboard</a:t>
            </a:r>
            <a:endParaRPr lang="en-US"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7410" name="Rectangle 2"/>
          <p:cNvSpPr>
            <a:spLocks noGrp="1"/>
          </p:cNvSpPr>
          <p:nvPr>
            <p:ph type="title"/>
          </p:nvPr>
        </p:nvSpPr>
        <p:spPr>
          <a:ln/>
        </p:spPr>
        <p:txBody>
          <a:bodyPr vert="horz" wrap="square" lIns="91440" tIns="45720" rIns="91440" bIns="45720" anchor="ctr" anchorCtr="0"/>
          <a:p>
            <a:pPr eaLnBrk="1" hangingPunct="1"/>
            <a:r>
              <a:rPr lang="en-US" altLang="en-US" dirty="0"/>
              <a:t>Environment types</a:t>
            </a:r>
            <a:endParaRPr lang="en-US" altLang="en-US" dirty="0"/>
          </a:p>
        </p:txBody>
      </p:sp>
      <p:sp>
        <p:nvSpPr>
          <p:cNvPr id="17411" name="Rectangle 3"/>
          <p:cNvSpPr>
            <a:spLocks noGrp="1"/>
          </p:cNvSpPr>
          <p:nvPr>
            <p:ph idx="1"/>
          </p:nvPr>
        </p:nvSpPr>
        <p:spPr>
          <a:ln/>
        </p:spPr>
        <p:txBody>
          <a:bodyPr vert="horz" wrap="square" lIns="91440" tIns="45720" rIns="91440" bIns="45720" anchor="t" anchorCtr="0"/>
          <a:p>
            <a:pPr eaLnBrk="1" hangingPunct="1">
              <a:lnSpc>
                <a:spcPct val="90000"/>
              </a:lnSpc>
            </a:pPr>
            <a:r>
              <a:rPr lang="en-US" altLang="en-US" sz="2400" dirty="0">
                <a:solidFill>
                  <a:srgbClr val="FF0000"/>
                </a:solidFill>
              </a:rPr>
              <a:t>Fully observable</a:t>
            </a:r>
            <a:r>
              <a:rPr lang="en-US" altLang="en-US" sz="2400" dirty="0"/>
              <a:t> (vs. partially observable): An agent's sensors give it access to the complete state of the environment at each point in time.</a:t>
            </a:r>
            <a:endParaRPr lang="en-US" altLang="en-US" sz="2400" dirty="0"/>
          </a:p>
          <a:p>
            <a:pPr eaLnBrk="1" hangingPunct="1">
              <a:lnSpc>
                <a:spcPct val="90000"/>
              </a:lnSpc>
            </a:pPr>
            <a:r>
              <a:rPr lang="en-US" altLang="en-US" sz="2400" dirty="0">
                <a:solidFill>
                  <a:srgbClr val="FF0000"/>
                </a:solidFill>
              </a:rPr>
              <a:t>Deterministic</a:t>
            </a:r>
            <a:r>
              <a:rPr lang="en-US" altLang="en-US" sz="2400" dirty="0"/>
              <a:t> (vs. stochastic): The next state of the environment is completely determined by the current state and the action executed by the agent. (If the environment is deterministic except for the actions of other agents, then the environment is </a:t>
            </a:r>
            <a:r>
              <a:rPr lang="en-US" altLang="en-US" sz="2400" dirty="0">
                <a:solidFill>
                  <a:srgbClr val="FF0000"/>
                </a:solidFill>
              </a:rPr>
              <a:t>strategic</a:t>
            </a:r>
            <a:r>
              <a:rPr lang="en-US" altLang="en-US" sz="2400" dirty="0"/>
              <a:t>)</a:t>
            </a:r>
            <a:endParaRPr lang="en-US" altLang="en-US" sz="2400" dirty="0"/>
          </a:p>
          <a:p>
            <a:pPr eaLnBrk="1" hangingPunct="1">
              <a:lnSpc>
                <a:spcPct val="90000"/>
              </a:lnSpc>
            </a:pPr>
            <a:r>
              <a:rPr lang="en-US" altLang="en-US" sz="2400" dirty="0">
                <a:solidFill>
                  <a:srgbClr val="FF0000"/>
                </a:solidFill>
              </a:rPr>
              <a:t>Episodic </a:t>
            </a:r>
            <a:r>
              <a:rPr lang="en-US" altLang="en-US" sz="2400" dirty="0"/>
              <a:t>(vs. sequential): The agent's experience is divided into atomic "episodes" (each episode consists of the agent perceiving and then performing a single action), and the choice of action in each episode depends only on the episode itself.</a:t>
            </a:r>
            <a:endParaRPr lang="en-US" alt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Rectangle 2"/>
          <p:cNvSpPr>
            <a:spLocks noGrp="1"/>
          </p:cNvSpPr>
          <p:nvPr>
            <p:ph type="title"/>
          </p:nvPr>
        </p:nvSpPr>
        <p:spPr>
          <a:ln/>
        </p:spPr>
        <p:txBody>
          <a:bodyPr vert="horz" wrap="square" lIns="91440" tIns="45720" rIns="91440" bIns="45720" anchor="ctr" anchorCtr="0"/>
          <a:p>
            <a:pPr eaLnBrk="1" hangingPunct="1"/>
            <a:r>
              <a:rPr lang="en-US" altLang="en-US" dirty="0"/>
              <a:t>Environment types</a:t>
            </a:r>
            <a:endParaRPr lang="en-US" altLang="en-US" dirty="0"/>
          </a:p>
        </p:txBody>
      </p:sp>
      <p:sp>
        <p:nvSpPr>
          <p:cNvPr id="18435" name="Rectangle 3"/>
          <p:cNvSpPr>
            <a:spLocks noGrp="1"/>
          </p:cNvSpPr>
          <p:nvPr>
            <p:ph idx="1"/>
          </p:nvPr>
        </p:nvSpPr>
        <p:spPr>
          <a:ln/>
        </p:spPr>
        <p:txBody>
          <a:bodyPr vert="horz" wrap="square" lIns="91440" tIns="45720" rIns="91440" bIns="45720" anchor="t" anchorCtr="0"/>
          <a:p>
            <a:pPr eaLnBrk="1" hangingPunct="1"/>
            <a:r>
              <a:rPr lang="en-US" altLang="en-US" sz="2800" dirty="0">
                <a:solidFill>
                  <a:srgbClr val="FF0000"/>
                </a:solidFill>
              </a:rPr>
              <a:t>Static </a:t>
            </a:r>
            <a:r>
              <a:rPr lang="en-US" altLang="en-US" sz="2800" dirty="0"/>
              <a:t>(vs. dynamic): The environment is unchanged while an agent is deliberating. (The environment is </a:t>
            </a:r>
            <a:r>
              <a:rPr lang="en-US" altLang="en-US" sz="2800" dirty="0">
                <a:solidFill>
                  <a:srgbClr val="FF0000"/>
                </a:solidFill>
              </a:rPr>
              <a:t>semidynamic</a:t>
            </a:r>
            <a:r>
              <a:rPr lang="en-US" altLang="en-US" sz="2800" dirty="0"/>
              <a:t> if the environment itself does not change with the passage of time but the agent's performance score does)</a:t>
            </a:r>
            <a:endParaRPr lang="en-US" altLang="en-US" sz="2800" dirty="0"/>
          </a:p>
          <a:p>
            <a:pPr eaLnBrk="1" hangingPunct="1"/>
            <a:r>
              <a:rPr lang="en-US" altLang="en-US" sz="2800" dirty="0">
                <a:solidFill>
                  <a:srgbClr val="FF0000"/>
                </a:solidFill>
              </a:rPr>
              <a:t>Discrete</a:t>
            </a:r>
            <a:r>
              <a:rPr lang="en-US" altLang="en-US" sz="2800" dirty="0"/>
              <a:t> (vs. continuous): A limited number of distinct, clearly defined percepts and actions.</a:t>
            </a:r>
            <a:endParaRPr lang="en-US" altLang="en-US" sz="2800" dirty="0"/>
          </a:p>
          <a:p>
            <a:pPr eaLnBrk="1" hangingPunct="1"/>
            <a:r>
              <a:rPr lang="en-US" altLang="en-US" sz="2800" dirty="0">
                <a:solidFill>
                  <a:srgbClr val="FF0000"/>
                </a:solidFill>
              </a:rPr>
              <a:t>Single agent</a:t>
            </a:r>
            <a:r>
              <a:rPr lang="en-US" altLang="en-US" sz="2800" dirty="0"/>
              <a:t> (vs. multiagent): An agent operating by itself in an environment.</a:t>
            </a:r>
            <a:endParaRPr lang="en-US" altLang="en-US" sz="2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458" name="Rectangle 2"/>
          <p:cNvSpPr>
            <a:spLocks noGrp="1"/>
          </p:cNvSpPr>
          <p:nvPr>
            <p:ph type="title"/>
          </p:nvPr>
        </p:nvSpPr>
        <p:spPr>
          <a:ln/>
        </p:spPr>
        <p:txBody>
          <a:bodyPr vert="horz" wrap="square" lIns="91440" tIns="45720" rIns="91440" bIns="45720" anchor="ctr" anchorCtr="0"/>
          <a:p>
            <a:pPr eaLnBrk="1" hangingPunct="1"/>
            <a:r>
              <a:rPr lang="en-US" altLang="en-US" dirty="0"/>
              <a:t>Environment types</a:t>
            </a:r>
            <a:endParaRPr lang="en-US" altLang="en-US" dirty="0"/>
          </a:p>
        </p:txBody>
      </p:sp>
      <p:sp>
        <p:nvSpPr>
          <p:cNvPr id="19459" name="Rectangle 3"/>
          <p:cNvSpPr>
            <a:spLocks noGrp="1"/>
          </p:cNvSpPr>
          <p:nvPr>
            <p:ph idx="1"/>
          </p:nvPr>
        </p:nvSpPr>
        <p:spPr>
          <a:ln/>
        </p:spPr>
        <p:txBody>
          <a:bodyPr vert="horz" wrap="square" lIns="91440" tIns="45720" rIns="91440" bIns="45720" anchor="t" anchorCtr="0"/>
          <a:p>
            <a:pPr eaLnBrk="1" hangingPunct="1"/>
            <a:r>
              <a:rPr lang="en-US" altLang="en-US" sz="2800" b="1" dirty="0">
                <a:solidFill>
                  <a:srgbClr val="FF0000"/>
                </a:solidFill>
              </a:rPr>
              <a:t>Uncertain </a:t>
            </a:r>
            <a:r>
              <a:rPr lang="en-US" altLang="en-US" sz="2800" dirty="0"/>
              <a:t>We say an environment is uncertain if it is not fully observable or not deterministic. </a:t>
            </a:r>
            <a:endParaRPr lang="en-US" altLang="en-US" sz="2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0482" name="Title 1"/>
          <p:cNvSpPr>
            <a:spLocks noGrp="1"/>
          </p:cNvSpPr>
          <p:nvPr>
            <p:ph type="title"/>
          </p:nvPr>
        </p:nvSpPr>
        <p:spPr>
          <a:ln/>
        </p:spPr>
        <p:txBody>
          <a:bodyPr vert="horz" wrap="square" lIns="91440" tIns="45720" rIns="91440" bIns="45720" anchor="ctr" anchorCtr="0"/>
          <a:p>
            <a:endParaRPr lang="en-US" alt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3200" b="1" i="0" u="none" strike="noStrike" kern="0" cap="none" spc="0" normalizeH="0" baseline="0" noProof="0" dirty="0">
                <a:ln>
                  <a:noFill/>
                </a:ln>
                <a:solidFill>
                  <a:schemeClr val="tx1"/>
                </a:solidFill>
                <a:effectLst/>
                <a:uLnTx/>
                <a:uFillTx/>
                <a:latin typeface="+mn-lt"/>
                <a:ea typeface="+mn-ea"/>
                <a:cs typeface="+mn-cs"/>
              </a:rPr>
              <a:t>Fully observable </a:t>
            </a:r>
            <a:endParaRPr kumimoji="0" lang="en-US" sz="32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a:ln>
                  <a:noFill/>
                </a:ln>
                <a:solidFill>
                  <a:schemeClr val="tx1"/>
                </a:solidFill>
                <a:effectLst/>
                <a:uLnTx/>
                <a:uFillTx/>
                <a:latin typeface="+mn-lt"/>
                <a:ea typeface="+mn-ea"/>
                <a:cs typeface="+mn-cs"/>
              </a:rPr>
              <a:t>For example, a checkers game can be classed as fully observable, because the agent can observe the full state of the game how many pieces the opponent has, how many pieces we have etc.</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1506" name="Title 1"/>
          <p:cNvSpPr>
            <a:spLocks noGrp="1"/>
          </p:cNvSpPr>
          <p:nvPr>
            <p:ph type="title"/>
          </p:nvPr>
        </p:nvSpPr>
        <p:spPr>
          <a:ln/>
        </p:spPr>
        <p:txBody>
          <a:bodyPr vert="horz" wrap="square" lIns="91440" tIns="45720" rIns="91440" bIns="45720" anchor="ctr" anchorCtr="0"/>
          <a:p>
            <a:endParaRPr lang="en-US" altLang="en-US" dirty="0"/>
          </a:p>
        </p:txBody>
      </p:sp>
      <p:sp>
        <p:nvSpPr>
          <p:cNvPr id="3" name="Content Placeholder 2"/>
          <p:cNvSpPr>
            <a:spLocks noGrp="1"/>
          </p:cNvSpPr>
          <p:nvPr>
            <p:ph idx="1"/>
          </p:nvPr>
        </p:nvSpPr>
        <p:spPr>
          <a:xfrm>
            <a:off x="457200" y="1646238"/>
            <a:ext cx="8229600" cy="4525963"/>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3200" b="1" i="0" u="none" strike="noStrike" kern="0" cap="none" spc="0" normalizeH="0" baseline="0" noProof="0" dirty="0">
                <a:ln>
                  <a:noFill/>
                </a:ln>
                <a:solidFill>
                  <a:schemeClr val="tx1"/>
                </a:solidFill>
                <a:effectLst/>
                <a:uLnTx/>
                <a:uFillTx/>
                <a:latin typeface="+mn-lt"/>
                <a:ea typeface="+mn-ea"/>
                <a:cs typeface="+mn-cs"/>
              </a:rPr>
              <a:t>Partially observable </a:t>
            </a:r>
            <a:endParaRPr kumimoji="0" lang="en-US" sz="32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a:ln>
                  <a:noFill/>
                </a:ln>
                <a:solidFill>
                  <a:schemeClr val="tx1"/>
                </a:solidFill>
                <a:effectLst/>
                <a:uLnTx/>
                <a:uFillTx/>
                <a:latin typeface="+mn-lt"/>
                <a:ea typeface="+mn-ea"/>
                <a:cs typeface="+mn-cs"/>
              </a:rPr>
              <a:t>An example of this could be a Poker game. The Agent may not know what cards the opponent has and will have to make best decision based on what cards the opponent has played.</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2530" name="Title 1"/>
          <p:cNvSpPr>
            <a:spLocks noGrp="1"/>
          </p:cNvSpPr>
          <p:nvPr>
            <p:ph type="title"/>
          </p:nvPr>
        </p:nvSpPr>
        <p:spPr>
          <a:ln/>
        </p:spPr>
        <p:txBody>
          <a:bodyPr vert="horz" wrap="square" lIns="91440" tIns="45720" rIns="91440" bIns="45720" anchor="ctr" anchorCtr="0"/>
          <a:p>
            <a:endParaRPr lang="en-US" alt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3200" b="1" i="0" u="none" strike="noStrike" kern="0" cap="none" spc="0" normalizeH="0" baseline="0" noProof="0" dirty="0">
                <a:ln>
                  <a:noFill/>
                </a:ln>
                <a:solidFill>
                  <a:schemeClr val="tx1"/>
                </a:solidFill>
                <a:effectLst/>
                <a:uLnTx/>
                <a:uFillTx/>
                <a:latin typeface="+mn-lt"/>
                <a:ea typeface="+mn-ea"/>
                <a:cs typeface="+mn-cs"/>
              </a:rPr>
              <a:t>Deterministic</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a:ln>
                  <a:noFill/>
                </a:ln>
                <a:solidFill>
                  <a:schemeClr val="tx1"/>
                </a:solidFill>
                <a:effectLst/>
                <a:uLnTx/>
                <a:uFillTx/>
                <a:latin typeface="+mn-lt"/>
                <a:ea typeface="+mn-ea"/>
                <a:cs typeface="+mn-cs"/>
              </a:rPr>
              <a:t>Deterministic environments are where your agent's actions uniquely determine the outcome. So for example, if we had a pawn while playing chess and we moved that piece from A2 to A3, that would always work. There is no uncertainty in the outcome of that move</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4578" name="Title 1"/>
          <p:cNvSpPr>
            <a:spLocks noGrp="1"/>
          </p:cNvSpPr>
          <p:nvPr>
            <p:ph type="title"/>
          </p:nvPr>
        </p:nvSpPr>
        <p:spPr>
          <a:ln/>
        </p:spPr>
        <p:txBody>
          <a:bodyPr vert="horz" wrap="square" lIns="91440" tIns="45720" rIns="91440" bIns="45720" anchor="ctr" anchorCtr="0"/>
          <a:p>
            <a:endParaRPr lang="en-US" alt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3200" b="1" i="0" u="none" strike="noStrike" kern="0" cap="none" spc="0" normalizeH="0" baseline="0" noProof="0" dirty="0">
                <a:ln>
                  <a:noFill/>
                </a:ln>
                <a:solidFill>
                  <a:schemeClr val="tx1"/>
                </a:solidFill>
                <a:effectLst/>
                <a:uLnTx/>
                <a:uFillTx/>
                <a:latin typeface="+mn-lt"/>
                <a:ea typeface="+mn-ea"/>
                <a:cs typeface="+mn-cs"/>
              </a:rPr>
              <a:t>Episodic</a:t>
            </a:r>
            <a:endParaRPr kumimoji="0" lang="en-US" sz="32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a:ln>
                  <a:noFill/>
                </a:ln>
                <a:solidFill>
                  <a:schemeClr val="tx1"/>
                </a:solidFill>
                <a:effectLst/>
                <a:uLnTx/>
                <a:uFillTx/>
                <a:latin typeface="+mn-lt"/>
                <a:ea typeface="+mn-ea"/>
                <a:cs typeface="+mn-cs"/>
              </a:rPr>
              <a:t>Many classification tasks are episodic. For example, an agent that has to spot defective parts on an assembly line bases each decision on the current part, regardless of previous decisions; moreover, the current decision doesn’t affect whether the next part is defective.</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Title 1"/>
          <p:cNvSpPr>
            <a:spLocks noGrp="1"/>
          </p:cNvSpPr>
          <p:nvPr>
            <p:ph type="title"/>
          </p:nvPr>
        </p:nvSpPr>
        <p:spPr>
          <a:ln/>
        </p:spPr>
        <p:txBody>
          <a:bodyPr vert="horz" wrap="square" lIns="91440" tIns="45720" rIns="91440" bIns="45720" anchor="ctr" anchorCtr="0"/>
          <a:p>
            <a:endParaRPr lang="en-US" alt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3200" b="1" i="0" u="none" strike="noStrike" kern="0" cap="none" spc="0" normalizeH="0" baseline="0" noProof="0" dirty="0">
                <a:ln>
                  <a:noFill/>
                </a:ln>
                <a:solidFill>
                  <a:schemeClr val="tx1"/>
                </a:solidFill>
                <a:effectLst/>
                <a:uLnTx/>
                <a:uFillTx/>
                <a:latin typeface="+mn-lt"/>
                <a:ea typeface="+mn-ea"/>
                <a:cs typeface="+mn-cs"/>
              </a:rPr>
              <a:t>Sequential</a:t>
            </a:r>
            <a:r>
              <a:rPr kumimoji="0" lang="en-US" sz="3200" b="0" i="0" u="none" strike="noStrike" kern="0" cap="none" spc="0" normalizeH="0" baseline="0" noProof="0" dirty="0">
                <a:ln>
                  <a:noFill/>
                </a:ln>
                <a:solidFill>
                  <a:schemeClr val="tx1"/>
                </a:solidFill>
                <a:effectLst/>
                <a:uLnTx/>
                <a:uFillTx/>
                <a:latin typeface="+mn-lt"/>
                <a:ea typeface="+mn-ea"/>
                <a:cs typeface="+mn-cs"/>
              </a:rPr>
              <a:t> </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a:ln>
                  <a:noFill/>
                </a:ln>
                <a:solidFill>
                  <a:schemeClr val="tx1"/>
                </a:solidFill>
                <a:effectLst/>
                <a:uLnTx/>
                <a:uFillTx/>
                <a:latin typeface="+mn-lt"/>
                <a:ea typeface="+mn-ea"/>
                <a:cs typeface="+mn-cs"/>
              </a:rPr>
              <a:t>In sequential environments, on the other hand, the current decision could affect all future decisions.</a:t>
            </a:r>
            <a:endParaRPr kumimoji="0" lang="en-US" sz="28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a:ln>
                  <a:noFill/>
                </a:ln>
                <a:solidFill>
                  <a:schemeClr val="tx1"/>
                </a:solidFill>
                <a:effectLst/>
                <a:uLnTx/>
                <a:uFillTx/>
                <a:latin typeface="+mn-lt"/>
                <a:ea typeface="+mn-ea"/>
                <a:cs typeface="+mn-cs"/>
              </a:rPr>
              <a:t>Chess and taxi driving are sequential: in both cases, short-term actions can have long-term consequences. </a:t>
            </a:r>
            <a:endParaRPr kumimoji="0" lang="en-US" sz="28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2800" b="0" i="0" u="none" strike="noStrike" kern="0" cap="none" spc="0" normalizeH="0" baseline="0" noProof="0" dirty="0">
                <a:ln>
                  <a:noFill/>
                </a:ln>
                <a:solidFill>
                  <a:schemeClr val="tx1"/>
                </a:solidFill>
                <a:effectLst/>
                <a:uLnTx/>
                <a:uFillTx/>
                <a:latin typeface="+mn-lt"/>
                <a:ea typeface="+mn-ea"/>
                <a:cs typeface="+mn-cs"/>
              </a:rPr>
              <a:t>Episodic environments are much simpler than sequential environments because the agent does not need to think ahead</a:t>
            </a:r>
            <a:r>
              <a:rPr kumimoji="0" lang="en-US" sz="3200" b="0" i="0" u="none" strike="noStrike" kern="0" cap="none" spc="0" normalizeH="0" baseline="0" noProof="0" dirty="0">
                <a:ln>
                  <a:noFill/>
                </a:ln>
                <a:solidFill>
                  <a:schemeClr val="tx1"/>
                </a:solidFill>
                <a:effectLst/>
                <a:uLnTx/>
                <a:uFillTx/>
                <a:latin typeface="+mn-lt"/>
                <a:ea typeface="+mn-ea"/>
                <a:cs typeface="+mn-cs"/>
              </a:rPr>
              <a:t>.</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6626" name="Title 1"/>
          <p:cNvSpPr>
            <a:spLocks noGrp="1"/>
          </p:cNvSpPr>
          <p:nvPr>
            <p:ph type="title"/>
          </p:nvPr>
        </p:nvSpPr>
        <p:spPr>
          <a:ln/>
        </p:spPr>
        <p:txBody>
          <a:bodyPr vert="horz" wrap="square" lIns="91440" tIns="45720" rIns="91440" bIns="45720" anchor="ctr" anchorCtr="0"/>
          <a:p>
            <a:endParaRPr lang="en-US" alt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3200" b="1" i="0" u="none" strike="noStrike" kern="0" cap="none" spc="0" normalizeH="0" baseline="0" noProof="0" dirty="0">
                <a:ln>
                  <a:noFill/>
                </a:ln>
                <a:solidFill>
                  <a:schemeClr val="tx1"/>
                </a:solidFill>
                <a:effectLst/>
                <a:uLnTx/>
                <a:uFillTx/>
                <a:latin typeface="+mn-lt"/>
                <a:ea typeface="+mn-ea"/>
                <a:cs typeface="+mn-cs"/>
              </a:rPr>
              <a:t>Static environments</a:t>
            </a:r>
            <a:endParaRPr kumimoji="0" lang="en-US" sz="32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a:ln>
                  <a:noFill/>
                </a:ln>
                <a:solidFill>
                  <a:schemeClr val="tx1"/>
                </a:solidFill>
                <a:effectLst/>
                <a:uLnTx/>
                <a:uFillTx/>
                <a:latin typeface="+mn-lt"/>
                <a:ea typeface="+mn-ea"/>
                <a:cs typeface="+mn-cs"/>
              </a:rPr>
              <a:t>easy to deal with because the agent need not keep looking at the world while it is deciding on an action, nor need it worry about the passage of time. </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a:ln>
                  <a:noFill/>
                </a:ln>
                <a:solidFill>
                  <a:schemeClr val="tx1"/>
                </a:solidFill>
                <a:effectLst/>
                <a:uLnTx/>
                <a:uFillTx/>
                <a:latin typeface="+mn-lt"/>
                <a:ea typeface="+mn-ea"/>
                <a:cs typeface="+mn-cs"/>
              </a:rPr>
              <a:t>Crossword puzzles are static.</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7650" name="Title 1"/>
          <p:cNvSpPr>
            <a:spLocks noGrp="1"/>
          </p:cNvSpPr>
          <p:nvPr>
            <p:ph type="title"/>
          </p:nvPr>
        </p:nvSpPr>
        <p:spPr>
          <a:ln/>
        </p:spPr>
        <p:txBody>
          <a:bodyPr vert="horz" wrap="square" lIns="91440" tIns="45720" rIns="91440" bIns="45720" anchor="ctr" anchorCtr="0"/>
          <a:p>
            <a:endParaRPr lang="en-US" alt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3200" b="1" i="0" u="none" strike="noStrike" kern="0" cap="none" spc="0" normalizeH="0" baseline="0" noProof="0" dirty="0">
                <a:ln>
                  <a:noFill/>
                </a:ln>
                <a:solidFill>
                  <a:schemeClr val="tx1"/>
                </a:solidFill>
                <a:effectLst/>
                <a:uLnTx/>
                <a:uFillTx/>
                <a:latin typeface="+mn-lt"/>
                <a:ea typeface="+mn-ea"/>
                <a:cs typeface="+mn-cs"/>
              </a:rPr>
              <a:t>Dynamic environments</a:t>
            </a:r>
            <a:endParaRPr kumimoji="0" lang="en-US" sz="32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a:ln>
                  <a:noFill/>
                </a:ln>
                <a:solidFill>
                  <a:schemeClr val="tx1"/>
                </a:solidFill>
                <a:effectLst/>
                <a:uLnTx/>
                <a:uFillTx/>
                <a:latin typeface="+mn-lt"/>
                <a:ea typeface="+mn-ea"/>
                <a:cs typeface="+mn-cs"/>
              </a:rPr>
              <a:t>continuously asking the agent what it wants to do, if it hasn’t decided yet, that counts as deciding to do nothing. </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endParaRPr kumimoji="0" lang="en-US" sz="32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a:ln>
                  <a:noFill/>
                </a:ln>
                <a:solidFill>
                  <a:schemeClr val="tx1"/>
                </a:solidFill>
                <a:effectLst/>
                <a:uLnTx/>
                <a:uFillTx/>
                <a:latin typeface="+mn-lt"/>
                <a:ea typeface="+mn-ea"/>
                <a:cs typeface="+mn-cs"/>
              </a:rPr>
              <a:t>Taxi driving is clearly dynamic: the other cars and the taxi itself keep moving</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8674" name="Title 1"/>
          <p:cNvSpPr>
            <a:spLocks noGrp="1"/>
          </p:cNvSpPr>
          <p:nvPr>
            <p:ph type="title"/>
          </p:nvPr>
        </p:nvSpPr>
        <p:spPr>
          <a:ln/>
        </p:spPr>
        <p:txBody>
          <a:bodyPr vert="horz" wrap="square" lIns="91440" tIns="45720" rIns="91440" bIns="45720" anchor="ctr" anchorCtr="0"/>
          <a:p>
            <a:endParaRPr lang="en-US" alt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3200" b="0" i="0" u="none" strike="noStrike" kern="0" cap="none" spc="0" normalizeH="0" baseline="0" noProof="0" dirty="0">
                <a:ln>
                  <a:noFill/>
                </a:ln>
                <a:solidFill>
                  <a:schemeClr val="tx1"/>
                </a:solidFill>
                <a:effectLst/>
                <a:uLnTx/>
                <a:uFillTx/>
                <a:latin typeface="+mn-lt"/>
                <a:ea typeface="+mn-ea"/>
                <a:cs typeface="+mn-cs"/>
              </a:rPr>
              <a:t>SEMIDYNAMIC</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a:ln>
                  <a:noFill/>
                </a:ln>
                <a:solidFill>
                  <a:schemeClr val="tx1"/>
                </a:solidFill>
                <a:effectLst/>
                <a:uLnTx/>
                <a:uFillTx/>
                <a:latin typeface="+mn-lt"/>
                <a:ea typeface="+mn-ea"/>
                <a:cs typeface="+mn-cs"/>
              </a:rPr>
              <a:t>Chess, when played with a clock, is </a:t>
            </a:r>
            <a:r>
              <a:rPr kumimoji="0" lang="en-US" sz="3200" b="0" i="0" u="none" strike="noStrike" kern="0" cap="none" spc="0" normalizeH="0" baseline="0" noProof="0" dirty="0" err="1">
                <a:ln>
                  <a:noFill/>
                </a:ln>
                <a:solidFill>
                  <a:schemeClr val="tx1"/>
                </a:solidFill>
                <a:effectLst/>
                <a:uLnTx/>
                <a:uFillTx/>
                <a:latin typeface="+mn-lt"/>
                <a:ea typeface="+mn-ea"/>
                <a:cs typeface="+mn-cs"/>
              </a:rPr>
              <a:t>semidynamic</a:t>
            </a:r>
            <a:r>
              <a:rPr kumimoji="0" lang="en-US" sz="3200" b="0" i="0" u="none" strike="noStrike" kern="0" cap="none" spc="0" normalizeH="0" baseline="0" noProof="0" dirty="0">
                <a:ln>
                  <a:noFill/>
                </a:ln>
                <a:solidFill>
                  <a:schemeClr val="tx1"/>
                </a:solidFill>
                <a:effectLst/>
                <a:uLnTx/>
                <a:uFillTx/>
                <a:latin typeface="+mn-lt"/>
                <a:ea typeface="+mn-ea"/>
                <a:cs typeface="+mn-cs"/>
              </a:rPr>
              <a:t>.</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9698" name="Title 1"/>
          <p:cNvSpPr>
            <a:spLocks noGrp="1"/>
          </p:cNvSpPr>
          <p:nvPr>
            <p:ph type="title"/>
          </p:nvPr>
        </p:nvSpPr>
        <p:spPr>
          <a:ln/>
        </p:spPr>
        <p:txBody>
          <a:bodyPr vert="horz" wrap="square" lIns="91440" tIns="45720" rIns="91440" bIns="45720" anchor="ctr" anchorCtr="0"/>
          <a:p>
            <a:endParaRPr lang="en-US" alt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3200" b="1" i="0" u="none" strike="noStrike" kern="0" cap="none" spc="0" normalizeH="0" baseline="0" noProof="0" dirty="0">
                <a:ln>
                  <a:noFill/>
                </a:ln>
                <a:solidFill>
                  <a:schemeClr val="tx1"/>
                </a:solidFill>
                <a:effectLst/>
                <a:uLnTx/>
                <a:uFillTx/>
                <a:latin typeface="+mn-lt"/>
                <a:ea typeface="+mn-ea"/>
                <a:cs typeface="+mn-cs"/>
              </a:rPr>
              <a:t>Discrete</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a:ln>
                  <a:noFill/>
                </a:ln>
                <a:solidFill>
                  <a:schemeClr val="tx1"/>
                </a:solidFill>
                <a:effectLst/>
                <a:uLnTx/>
                <a:uFillTx/>
                <a:latin typeface="+mn-lt"/>
                <a:ea typeface="+mn-ea"/>
                <a:cs typeface="+mn-cs"/>
              </a:rPr>
              <a:t>In discrete environments, we have a finite amount of action choices  and a finite amount of things that we can sense. Using our checkers example again, there are a finite amount of board positions and a finite amount of things we can do within the checkers environment.</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1746" name="Title 1"/>
          <p:cNvSpPr>
            <a:spLocks noGrp="1"/>
          </p:cNvSpPr>
          <p:nvPr>
            <p:ph type="title"/>
          </p:nvPr>
        </p:nvSpPr>
        <p:spPr>
          <a:ln/>
        </p:spPr>
        <p:txBody>
          <a:bodyPr vert="horz" wrap="square" lIns="91440" tIns="45720" rIns="91440" bIns="45720" anchor="ctr" anchorCtr="0"/>
          <a:p>
            <a:endParaRPr lang="en-US" alt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3200" b="1" i="0" u="none" strike="noStrike" kern="0" cap="none" spc="0" normalizeH="0" baseline="0" noProof="0" dirty="0">
                <a:ln>
                  <a:noFill/>
                </a:ln>
                <a:solidFill>
                  <a:schemeClr val="tx1"/>
                </a:solidFill>
                <a:effectLst/>
                <a:uLnTx/>
                <a:uFillTx/>
                <a:latin typeface="+mn-lt"/>
                <a:ea typeface="+mn-ea"/>
                <a:cs typeface="+mn-cs"/>
              </a:rPr>
              <a:t>Continuous</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a:ln>
                  <a:noFill/>
                </a:ln>
                <a:solidFill>
                  <a:schemeClr val="tx1"/>
                </a:solidFill>
                <a:effectLst/>
                <a:uLnTx/>
                <a:uFillTx/>
                <a:latin typeface="+mn-lt"/>
                <a:ea typeface="+mn-ea"/>
                <a:cs typeface="+mn-cs"/>
              </a:rPr>
              <a:t>In continuous environments, many actions can be sensed by our agents. To apply this to a medical context, a patient's temperature and blood pressure are continuous variables, and can be sensed by medical agents designed to capture vital signs from patients and then recommend diagnostic action to healthcare professionals.</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3794" name="Title 1"/>
          <p:cNvSpPr>
            <a:spLocks noGrp="1"/>
          </p:cNvSpPr>
          <p:nvPr>
            <p:ph type="title"/>
          </p:nvPr>
        </p:nvSpPr>
        <p:spPr>
          <a:ln/>
        </p:spPr>
        <p:txBody>
          <a:bodyPr vert="horz" wrap="square" lIns="91440" tIns="45720" rIns="91440" bIns="45720" anchor="ctr" anchorCtr="0"/>
          <a:p>
            <a:endParaRPr lang="en-US" altLang="en-US" dirty="0"/>
          </a:p>
        </p:txBody>
      </p:sp>
      <p:sp>
        <p:nvSpPr>
          <p:cNvPr id="33795" name="Content Placeholder 2"/>
          <p:cNvSpPr>
            <a:spLocks noGrp="1"/>
          </p:cNvSpPr>
          <p:nvPr>
            <p:ph idx="1"/>
          </p:nvPr>
        </p:nvSpPr>
        <p:spPr>
          <a:ln/>
        </p:spPr>
        <p:txBody>
          <a:bodyPr vert="horz" wrap="square" lIns="91440" tIns="45720" rIns="91440" bIns="45720" anchor="t" anchorCtr="0"/>
          <a:p>
            <a:r>
              <a:rPr lang="en-US" altLang="en-US" sz="2800" dirty="0"/>
              <a:t>Discrete vs. continuous: The discrete/continuous distinction applies to the state of the environment, to the way time is handled, and to the percepts and actions of the agent. Taxi driving is a continuous-state and continuous-time problem: the speed and location of the taxi and of the other vehicles sweep through a range of continuous values and do so smoothly over time. Taxi-driving actions are also continuous (steering angles, etc.). </a:t>
            </a:r>
            <a:endParaRPr lang="en-US" altLang="en-US" sz="2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4818" name="Title 1"/>
          <p:cNvSpPr>
            <a:spLocks noGrp="1"/>
          </p:cNvSpPr>
          <p:nvPr>
            <p:ph type="title"/>
          </p:nvPr>
        </p:nvSpPr>
        <p:spPr>
          <a:ln/>
        </p:spPr>
        <p:txBody>
          <a:bodyPr vert="horz" wrap="square" lIns="91440" tIns="45720" rIns="91440" bIns="45720" anchor="ctr" anchorCtr="0"/>
          <a:p>
            <a:endParaRPr lang="en-US" altLang="en-US" dirty="0"/>
          </a:p>
        </p:txBody>
      </p:sp>
      <p:sp>
        <p:nvSpPr>
          <p:cNvPr id="3" name="Content Placeholder 2"/>
          <p:cNvSpPr>
            <a:spLocks noGrp="1"/>
          </p:cNvSpPr>
          <p:nvPr>
            <p:ph idx="1"/>
          </p:nvPr>
        </p:nvSpPr>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Tx/>
              <a:buSzTx/>
              <a:buFontTx/>
              <a:buChar char="•"/>
              <a:defRPr/>
            </a:pPr>
            <a:r>
              <a:rPr kumimoji="0" lang="en-US" sz="3200" b="1" i="0" u="none" strike="noStrike" kern="0" cap="none" spc="0" normalizeH="0" baseline="0" noProof="0" dirty="0">
                <a:ln>
                  <a:noFill/>
                </a:ln>
                <a:solidFill>
                  <a:schemeClr val="tx1"/>
                </a:solidFill>
                <a:effectLst/>
                <a:uLnTx/>
                <a:uFillTx/>
                <a:latin typeface="+mn-lt"/>
                <a:ea typeface="+mn-ea"/>
                <a:cs typeface="+mn-cs"/>
              </a:rPr>
              <a:t>Single vs. Multi agent</a:t>
            </a:r>
            <a:endParaRPr kumimoji="0" lang="en-US" sz="3200" b="1" i="0" u="none" strike="noStrike" kern="0" cap="none" spc="0" normalizeH="0" baseline="0" noProof="0" dirty="0">
              <a:ln>
                <a:noFill/>
              </a:ln>
              <a:solidFill>
                <a:schemeClr val="tx1"/>
              </a:solidFill>
              <a:effectLst/>
              <a:uLnTx/>
              <a:uFillTx/>
              <a:latin typeface="+mn-lt"/>
              <a:ea typeface="+mn-ea"/>
              <a:cs typeface="+mn-cs"/>
            </a:endParaRPr>
          </a:p>
          <a:p>
            <a:pPr marL="0" marR="0" lvl="0" indent="0" algn="l" defTabSz="914400" rtl="0" eaLnBrk="0" fontAlgn="base" latinLnBrk="0" hangingPunct="0">
              <a:lnSpc>
                <a:spcPct val="100000"/>
              </a:lnSpc>
              <a:spcBef>
                <a:spcPct val="20000"/>
              </a:spcBef>
              <a:spcAft>
                <a:spcPct val="0"/>
              </a:spcAft>
              <a:buClrTx/>
              <a:buSzTx/>
              <a:buFontTx/>
              <a:buNone/>
              <a:defRPr/>
            </a:pPr>
            <a:r>
              <a:rPr kumimoji="0" lang="en-US" sz="3200" b="0" i="0" u="none" strike="noStrike" kern="0" cap="none" spc="0" normalizeH="0" baseline="0" noProof="0" dirty="0">
                <a:ln>
                  <a:noFill/>
                </a:ln>
                <a:solidFill>
                  <a:schemeClr val="tx1"/>
                </a:solidFill>
                <a:effectLst/>
                <a:uLnTx/>
                <a:uFillTx/>
                <a:latin typeface="+mn-lt"/>
                <a:ea typeface="+mn-ea"/>
                <a:cs typeface="+mn-cs"/>
              </a:rPr>
              <a:t>example, an agent solving a crossword puzzle by itself is clearly in a single-agent environment, whereas an agent playing chess is in a two agent environment</a:t>
            </a:r>
            <a:endParaRPr kumimoji="0" lang="en-US" sz="3200" b="0" i="0" u="none" strike="noStrike" kern="0" cap="none" spc="0" normalizeH="0" baseline="0" noProof="0" dirty="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ct val="100000"/>
              </a:lnSpc>
              <a:spcBef>
                <a:spcPct val="20000"/>
              </a:spcBef>
              <a:spcAft>
                <a:spcPct val="0"/>
              </a:spcAft>
              <a:buClrTx/>
              <a:buSzTx/>
              <a:buFontTx/>
              <a:buChar char="•"/>
              <a:defRPr/>
            </a:pPr>
            <a:r>
              <a:rPr kumimoji="0" lang="en-US" sz="3200" b="0" i="0" u="none" strike="noStrike" kern="0" cap="none" spc="0" normalizeH="0" baseline="0" noProof="0" dirty="0">
                <a:ln>
                  <a:noFill/>
                </a:ln>
                <a:solidFill>
                  <a:schemeClr val="tx1"/>
                </a:solidFill>
                <a:effectLst/>
                <a:uLnTx/>
                <a:uFillTx/>
                <a:latin typeface="+mn-lt"/>
                <a:ea typeface="+mn-ea"/>
                <a:cs typeface="Arial" panose="020B0604020202020204" pitchFamily="34" charset="0"/>
              </a:rPr>
              <a:t>Multi-agents environment</a:t>
            </a:r>
            <a:endParaRPr kumimoji="0" lang="en-US" sz="3200" b="0" i="0" u="none" strike="noStrike" kern="0" cap="none" spc="0" normalizeH="0" baseline="0" noProof="0" dirty="0">
              <a:ln>
                <a:noFill/>
              </a:ln>
              <a:solidFill>
                <a:schemeClr val="tx1"/>
              </a:solidFill>
              <a:effectLst/>
              <a:uLnTx/>
              <a:uFillTx/>
              <a:latin typeface="+mn-lt"/>
              <a:ea typeface="+mn-ea"/>
              <a:cs typeface="Arial" panose="020B0604020202020204" pitchFamily="34" charset="0"/>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a:ln>
                  <a:noFill/>
                </a:ln>
                <a:solidFill>
                  <a:schemeClr val="tx1"/>
                </a:solidFill>
                <a:effectLst/>
                <a:uLnTx/>
                <a:uFillTx/>
                <a:latin typeface="+mn-lt"/>
                <a:cs typeface="Arial" panose="020B0604020202020204" pitchFamily="34" charset="0"/>
              </a:rPr>
              <a:t>Competitive : chess</a:t>
            </a:r>
            <a:endParaRPr kumimoji="0" lang="en-US" sz="2800" b="0" i="0" u="none" strike="noStrike" kern="0" cap="none" spc="0" normalizeH="0" baseline="0" noProof="0" dirty="0">
              <a:ln>
                <a:noFill/>
              </a:ln>
              <a:solidFill>
                <a:schemeClr val="tx1"/>
              </a:solidFill>
              <a:effectLst/>
              <a:uLnTx/>
              <a:uFillTx/>
              <a:latin typeface="+mn-lt"/>
              <a:cs typeface="Arial" panose="020B0604020202020204" pitchFamily="34" charset="0"/>
            </a:endParaRPr>
          </a:p>
          <a:p>
            <a:pPr marL="742950" marR="0" lvl="1" indent="-285750" algn="l" defTabSz="914400" rtl="0" eaLnBrk="1" fontAlgn="base" latinLnBrk="0" hangingPunct="1">
              <a:lnSpc>
                <a:spcPct val="100000"/>
              </a:lnSpc>
              <a:spcBef>
                <a:spcPct val="20000"/>
              </a:spcBef>
              <a:spcAft>
                <a:spcPct val="0"/>
              </a:spcAft>
              <a:buClrTx/>
              <a:buSzTx/>
              <a:buFontTx/>
              <a:buChar char="–"/>
              <a:defRPr/>
            </a:pPr>
            <a:r>
              <a:rPr kumimoji="0" lang="en-US" sz="2800" b="0" i="0" u="none" strike="noStrike" kern="0" cap="none" spc="0" normalizeH="0" baseline="0" noProof="0" dirty="0">
                <a:ln>
                  <a:noFill/>
                </a:ln>
                <a:solidFill>
                  <a:schemeClr val="tx1"/>
                </a:solidFill>
                <a:effectLst/>
                <a:uLnTx/>
                <a:uFillTx/>
                <a:latin typeface="+mn-lt"/>
                <a:cs typeface="Arial" panose="020B0604020202020204" pitchFamily="34" charset="0"/>
              </a:rPr>
              <a:t>Cooperative : taxi </a:t>
            </a:r>
            <a:endParaRPr kumimoji="0" lang="en-US" sz="2800" b="0" i="0" u="none" strike="noStrike" kern="0" cap="none" spc="0" normalizeH="0" baseline="0" noProof="0" dirty="0">
              <a:ln>
                <a:noFill/>
              </a:ln>
              <a:solidFill>
                <a:schemeClr val="tx1"/>
              </a:solidFill>
              <a:effectLst/>
              <a:uLnTx/>
              <a:uFillTx/>
              <a:latin typeface="+mn-lt"/>
              <a:cs typeface="Arial" panose="020B0604020202020204" pitchFamily="34" charset="0"/>
            </a:endParaRPr>
          </a:p>
          <a:p>
            <a:pPr marL="342900" marR="0" lvl="0" indent="-342900" algn="l" defTabSz="914400" rtl="0" eaLnBrk="0" fontAlgn="base" latinLnBrk="0" hangingPunct="0">
              <a:lnSpc>
                <a:spcPct val="100000"/>
              </a:lnSpc>
              <a:spcBef>
                <a:spcPct val="20000"/>
              </a:spcBef>
              <a:spcAft>
                <a:spcPct val="0"/>
              </a:spcAft>
              <a:buClrTx/>
              <a:buSzTx/>
              <a:buFontTx/>
              <a:buChar char="•"/>
              <a:defRPr/>
            </a:pPr>
            <a:endParaRPr kumimoji="0" lang="en-US" sz="3200" b="0" i="0" u="none" strike="noStrike" kern="0" cap="none" spc="0" normalizeH="0" baseline="0" noProof="0" dirty="0">
              <a:ln>
                <a:noFill/>
              </a:ln>
              <a:solidFill>
                <a:schemeClr val="tx1"/>
              </a:solidFill>
              <a:effectLst/>
              <a:uLnTx/>
              <a:uFillTx/>
              <a:latin typeface="+mn-lt"/>
              <a:ea typeface="+mn-ea"/>
              <a:cs typeface="+mn-c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6866" name="Rectangle 2"/>
          <p:cNvSpPr>
            <a:spLocks noGrp="1"/>
          </p:cNvSpPr>
          <p:nvPr>
            <p:ph type="title"/>
          </p:nvPr>
        </p:nvSpPr>
        <p:spPr>
          <a:ln/>
        </p:spPr>
        <p:txBody>
          <a:bodyPr vert="horz" wrap="square" lIns="91440" tIns="45720" rIns="91440" bIns="45720" anchor="ctr" anchorCtr="0"/>
          <a:p>
            <a:pPr eaLnBrk="1" hangingPunct="1"/>
            <a:r>
              <a:rPr lang="en-US" altLang="en-US" dirty="0"/>
              <a:t>Environment types</a:t>
            </a:r>
            <a:endParaRPr lang="en-US" altLang="en-US" dirty="0"/>
          </a:p>
        </p:txBody>
      </p:sp>
      <p:sp>
        <p:nvSpPr>
          <p:cNvPr id="36867" name="Rectangle 3"/>
          <p:cNvSpPr>
            <a:spLocks noGrp="1"/>
          </p:cNvSpPr>
          <p:nvPr>
            <p:ph idx="1"/>
          </p:nvPr>
        </p:nvSpPr>
        <p:spPr>
          <a:ln/>
        </p:spPr>
        <p:txBody>
          <a:bodyPr vert="horz" wrap="square" lIns="91440" tIns="45720" rIns="91440" bIns="45720" anchor="t" anchorCtr="0"/>
          <a:p>
            <a:pPr eaLnBrk="1" hangingPunct="1">
              <a:lnSpc>
                <a:spcPct val="80000"/>
              </a:lnSpc>
              <a:buNone/>
            </a:pPr>
            <a:r>
              <a:rPr lang="en-US" altLang="en-US" sz="2000" dirty="0"/>
              <a:t>				Chess with 	Chess without 	Taxi driving </a:t>
            </a:r>
            <a:endParaRPr lang="en-US" altLang="en-US" sz="2000" dirty="0"/>
          </a:p>
          <a:p>
            <a:pPr eaLnBrk="1" hangingPunct="1">
              <a:lnSpc>
                <a:spcPct val="80000"/>
              </a:lnSpc>
              <a:buNone/>
            </a:pPr>
            <a:r>
              <a:rPr lang="en-US" altLang="en-US" sz="2000" dirty="0"/>
              <a:t>				a clock		a clock</a:t>
            </a:r>
            <a:endParaRPr lang="en-US" altLang="en-US" sz="2000" dirty="0"/>
          </a:p>
          <a:p>
            <a:pPr eaLnBrk="1" hangingPunct="1">
              <a:lnSpc>
                <a:spcPct val="80000"/>
              </a:lnSpc>
              <a:buNone/>
            </a:pPr>
            <a:r>
              <a:rPr lang="en-US" altLang="en-US" sz="2000" dirty="0"/>
              <a:t>Fully observable	Yes		Yes		No </a:t>
            </a:r>
            <a:endParaRPr lang="en-US" altLang="en-US" sz="2000" dirty="0"/>
          </a:p>
          <a:p>
            <a:pPr eaLnBrk="1" hangingPunct="1">
              <a:lnSpc>
                <a:spcPct val="80000"/>
              </a:lnSpc>
              <a:buNone/>
            </a:pPr>
            <a:r>
              <a:rPr lang="en-US" altLang="en-US" sz="2000" dirty="0"/>
              <a:t>Deterministic		Strategic	Strategic	No </a:t>
            </a:r>
            <a:endParaRPr lang="en-US" altLang="en-US" sz="2000" dirty="0"/>
          </a:p>
          <a:p>
            <a:pPr eaLnBrk="1" hangingPunct="1">
              <a:lnSpc>
                <a:spcPct val="80000"/>
              </a:lnSpc>
              <a:buNone/>
            </a:pPr>
            <a:r>
              <a:rPr lang="en-US" altLang="en-US" sz="2000" dirty="0"/>
              <a:t>Episodic          		No		No		No </a:t>
            </a:r>
            <a:endParaRPr lang="en-US" altLang="en-US" sz="2000" dirty="0"/>
          </a:p>
          <a:p>
            <a:pPr eaLnBrk="1" hangingPunct="1">
              <a:lnSpc>
                <a:spcPct val="80000"/>
              </a:lnSpc>
              <a:buNone/>
            </a:pPr>
            <a:r>
              <a:rPr lang="en-US" altLang="en-US" sz="2000" dirty="0"/>
              <a:t>Static 			Semi		Yes 		No </a:t>
            </a:r>
            <a:endParaRPr lang="en-US" altLang="en-US" sz="2000" dirty="0"/>
          </a:p>
          <a:p>
            <a:pPr eaLnBrk="1" hangingPunct="1">
              <a:lnSpc>
                <a:spcPct val="80000"/>
              </a:lnSpc>
              <a:buNone/>
            </a:pPr>
            <a:r>
              <a:rPr lang="en-US" altLang="en-US" sz="2000" dirty="0"/>
              <a:t>Discrete		Yes 		Yes		No</a:t>
            </a:r>
            <a:endParaRPr lang="en-US" altLang="en-US" sz="2000" dirty="0"/>
          </a:p>
          <a:p>
            <a:pPr eaLnBrk="1" hangingPunct="1">
              <a:lnSpc>
                <a:spcPct val="80000"/>
              </a:lnSpc>
              <a:buNone/>
            </a:pPr>
            <a:r>
              <a:rPr lang="en-US" altLang="en-US" sz="2000" dirty="0"/>
              <a:t>Single agent		No		No		No </a:t>
            </a:r>
            <a:endParaRPr lang="en-US" altLang="en-US" sz="2000" dirty="0"/>
          </a:p>
          <a:p>
            <a:pPr eaLnBrk="1" hangingPunct="1">
              <a:lnSpc>
                <a:spcPct val="80000"/>
              </a:lnSpc>
            </a:pPr>
            <a:endParaRPr lang="en-US" altLang="en-US" sz="2000" dirty="0"/>
          </a:p>
          <a:p>
            <a:pPr eaLnBrk="1" hangingPunct="1">
              <a:lnSpc>
                <a:spcPct val="80000"/>
              </a:lnSpc>
            </a:pPr>
            <a:r>
              <a:rPr lang="en-US" altLang="en-US" sz="2000" dirty="0"/>
              <a:t>The environment type largely determines the agent design
</a:t>
            </a:r>
            <a:endParaRPr lang="en-US" altLang="en-US" sz="2000" dirty="0"/>
          </a:p>
          <a:p>
            <a:pPr eaLnBrk="1" hangingPunct="1">
              <a:lnSpc>
                <a:spcPct val="80000"/>
              </a:lnSpc>
            </a:pPr>
            <a:r>
              <a:rPr lang="en-US" altLang="en-US" sz="2000" dirty="0"/>
              <a:t>The real world is (of course) partially observable, stochastic, sequential, dynamic, continuous, multi-agent
</a:t>
            </a:r>
            <a:endParaRPr lang="en-US" altLang="en-US" sz="2000" dirty="0"/>
          </a:p>
        </p:txBody>
      </p:sp>
      <p:graphicFrame>
        <p:nvGraphicFramePr>
          <p:cNvPr id="19466" name="Group 10"/>
          <p:cNvGraphicFramePr>
            <a:graphicFrameLocks noGrp="1"/>
          </p:cNvGraphicFramePr>
          <p:nvPr/>
        </p:nvGraphicFramePr>
        <p:xfrm>
          <a:off x="3124200" y="2209800"/>
          <a:ext cx="5410200" cy="1905000"/>
        </p:xfrm>
        <a:graphic>
          <a:graphicData uri="http://schemas.openxmlformats.org/drawingml/2006/table">
            <a:tbl>
              <a:tblPr/>
              <a:tblGrid>
                <a:gridCol w="5410200"/>
              </a:tblGrid>
              <a:tr h="1905000">
                <a:tc>
                  <a:txBody>
                    <a:bodyPr/>
                    <a:lstStyle/>
                    <a:p>
                      <a:pPr marL="0" marR="0" lvl="0" indent="0" algn="l" defTabSz="914400" rtl="0" eaLnBrk="1" fontAlgn="base" latinLnBrk="0" hangingPunct="1">
                        <a:lnSpc>
                          <a:spcPct val="100000"/>
                        </a:lnSpc>
                        <a:spcBef>
                          <a:spcPct val="20000"/>
                        </a:spcBef>
                        <a:spcAft>
                          <a:spcPct val="0"/>
                        </a:spcAft>
                        <a:buClrTx/>
                        <a:buSzTx/>
                        <a:buFontTx/>
                        <a:buNone/>
                      </a:pPr>
                      <a:endParaRPr kumimoji="0" lang="en-US" sz="2800" b="0" i="0" u="none" strike="noStrike" cap="none" normalizeH="0" baseline="0">
                        <a:ln>
                          <a:noFill/>
                        </a:ln>
                        <a:solidFill>
                          <a:schemeClr val="tx1"/>
                        </a:solidFill>
                        <a:effectLst/>
                        <a:latin typeface="Arial" panose="020B0604020202020204" pitchFamily="34"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7890" name="Title 1"/>
          <p:cNvSpPr>
            <a:spLocks noGrp="1"/>
          </p:cNvSpPr>
          <p:nvPr>
            <p:ph type="title"/>
          </p:nvPr>
        </p:nvSpPr>
        <p:spPr>
          <a:ln/>
        </p:spPr>
        <p:txBody>
          <a:bodyPr vert="horz" wrap="square" lIns="91440" tIns="45720" rIns="91440" bIns="45720" anchor="ctr" anchorCtr="0"/>
          <a:p>
            <a:r>
              <a:rPr lang="en-US" altLang="en-US" dirty="0"/>
              <a:t>Class exercise</a:t>
            </a:r>
            <a:endParaRPr lang="en-US" altLang="en-US" dirty="0"/>
          </a:p>
        </p:txBody>
      </p:sp>
      <p:sp>
        <p:nvSpPr>
          <p:cNvPr id="37891" name="Content Placeholder 2"/>
          <p:cNvSpPr>
            <a:spLocks noGrp="1"/>
          </p:cNvSpPr>
          <p:nvPr>
            <p:ph idx="1"/>
          </p:nvPr>
        </p:nvSpPr>
        <p:spPr>
          <a:ln/>
        </p:spPr>
        <p:txBody>
          <a:bodyPr vert="horz" wrap="square" lIns="91440" tIns="45720" rIns="91440" bIns="45720" anchor="t" anchorCtr="0"/>
          <a:p>
            <a:r>
              <a:rPr lang="en-US" altLang="en-US" dirty="0"/>
              <a:t>Internet book shopping agent</a:t>
            </a:r>
            <a:endParaRPr lang="en-US" altLang="en-US" dirty="0"/>
          </a:p>
          <a:p>
            <a:endParaRPr lang="en-US" alt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8914" name="Title 1"/>
          <p:cNvSpPr>
            <a:spLocks noGrp="1"/>
          </p:cNvSpPr>
          <p:nvPr>
            <p:ph type="title"/>
          </p:nvPr>
        </p:nvSpPr>
        <p:spPr>
          <a:ln/>
        </p:spPr>
        <p:txBody>
          <a:bodyPr vert="horz" wrap="square" lIns="91440" tIns="45720" rIns="91440" bIns="45720" anchor="ctr" anchorCtr="0"/>
          <a:p>
            <a:endParaRPr lang="en-US" altLang="en-US" dirty="0"/>
          </a:p>
        </p:txBody>
      </p:sp>
      <p:sp>
        <p:nvSpPr>
          <p:cNvPr id="38915" name="Rectangle 3"/>
          <p:cNvSpPr/>
          <p:nvPr/>
        </p:nvSpPr>
        <p:spPr>
          <a:xfrm>
            <a:off x="381000" y="1600200"/>
            <a:ext cx="8001000" cy="2308225"/>
          </a:xfrm>
          <a:prstGeom prst="rect">
            <a:avLst/>
          </a:prstGeom>
          <a:noFill/>
          <a:ln w="9525">
            <a:noFill/>
          </a:ln>
        </p:spPr>
        <p:txBody>
          <a:bodyPr>
            <a:sp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stStyle>
          <a:p>
            <a:pPr marL="0" lvl="0" indent="0" eaLnBrk="1" hangingPunct="1">
              <a:spcBef>
                <a:spcPct val="0"/>
              </a:spcBef>
              <a:buNone/>
            </a:pPr>
            <a:r>
              <a:rPr lang="en-US" altLang="en-US" sz="3600" dirty="0"/>
              <a:t>Write PEAS and discuss all environment types as well for following:</a:t>
            </a:r>
            <a:endParaRPr lang="en-US" altLang="en-US" sz="3600" dirty="0"/>
          </a:p>
          <a:p>
            <a:pPr marL="0" lvl="0" indent="0" eaLnBrk="1" hangingPunct="1">
              <a:spcBef>
                <a:spcPct val="0"/>
              </a:spcBef>
              <a:buNone/>
            </a:pPr>
            <a:r>
              <a:rPr lang="en-US" altLang="en-US" sz="3600" dirty="0"/>
              <a:t>Robot Soccer Player</a:t>
            </a:r>
            <a:endParaRPr lang="en-US" alt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9938" name="Rectangle 2"/>
          <p:cNvSpPr>
            <a:spLocks noGrp="1"/>
          </p:cNvSpPr>
          <p:nvPr>
            <p:ph type="title"/>
          </p:nvPr>
        </p:nvSpPr>
        <p:spPr>
          <a:ln/>
        </p:spPr>
        <p:txBody>
          <a:bodyPr vert="horz" wrap="square" lIns="91440" tIns="45720" rIns="91440" bIns="45720" anchor="ctr" anchorCtr="0"/>
          <a:p>
            <a:pPr eaLnBrk="1" hangingPunct="1"/>
            <a:r>
              <a:rPr lang="en-US" altLang="en-US" dirty="0"/>
              <a:t>Agent functions and programs</a:t>
            </a:r>
            <a:endParaRPr lang="en-US" altLang="en-US" dirty="0"/>
          </a:p>
        </p:txBody>
      </p:sp>
      <p:sp>
        <p:nvSpPr>
          <p:cNvPr id="39939" name="Rectangle 3"/>
          <p:cNvSpPr>
            <a:spLocks noGrp="1"/>
          </p:cNvSpPr>
          <p:nvPr>
            <p:ph idx="1"/>
          </p:nvPr>
        </p:nvSpPr>
        <p:spPr>
          <a:ln/>
        </p:spPr>
        <p:txBody>
          <a:bodyPr vert="horz" wrap="square" lIns="91440" tIns="45720" rIns="91440" bIns="45720" anchor="t" anchorCtr="0"/>
          <a:p>
            <a:pPr eaLnBrk="1" hangingPunct="1"/>
            <a:r>
              <a:rPr lang="en-US" altLang="en-US" dirty="0"/>
              <a:t>An agent is completely specified by the </a:t>
            </a:r>
            <a:r>
              <a:rPr lang="en-US" altLang="en-US" u="sng" dirty="0"/>
              <a:t>agent function</a:t>
            </a:r>
            <a:r>
              <a:rPr lang="en-US" altLang="en-US" dirty="0"/>
              <a:t> mapping percept sequences to actions</a:t>
            </a:r>
            <a:endParaRPr lang="en-US" altLang="en-US" dirty="0"/>
          </a:p>
          <a:p>
            <a:pPr eaLnBrk="1" hangingPunct="1"/>
            <a:r>
              <a:rPr lang="en-US" altLang="en-US" dirty="0"/>
              <a:t>One agent function (or a small equivalence class) is </a:t>
            </a:r>
            <a:r>
              <a:rPr lang="en-US" altLang="en-US" u="sng" dirty="0"/>
              <a:t>rational</a:t>
            </a:r>
            <a:r>
              <a:rPr lang="en-US" altLang="en-US" dirty="0"/>
              <a:t>
</a:t>
            </a:r>
            <a:endParaRPr lang="en-US" altLang="en-US" dirty="0"/>
          </a:p>
          <a:p>
            <a:pPr eaLnBrk="1" hangingPunct="1"/>
            <a:r>
              <a:rPr lang="en-US" altLang="en-US" dirty="0"/>
              <a:t>Aim: find a way to implement the rational agent function concisely
</a:t>
            </a:r>
            <a:endParaRPr lang="en-US" alt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2" name="Rectangle 2"/>
          <p:cNvSpPr>
            <a:spLocks noGrp="1"/>
          </p:cNvSpPr>
          <p:nvPr>
            <p:ph type="title"/>
          </p:nvPr>
        </p:nvSpPr>
        <p:spPr>
          <a:ln/>
        </p:spPr>
        <p:txBody>
          <a:bodyPr vert="horz" wrap="square" lIns="91440" tIns="45720" rIns="91440" bIns="45720" anchor="ctr" anchorCtr="0"/>
          <a:p>
            <a:pPr eaLnBrk="1" hangingPunct="1"/>
            <a:r>
              <a:rPr lang="en-US" altLang="en-US" dirty="0"/>
              <a:t>Table-lookup agent</a:t>
            </a:r>
            <a:endParaRPr lang="en-US" altLang="en-US" dirty="0"/>
          </a:p>
        </p:txBody>
      </p:sp>
      <p:sp>
        <p:nvSpPr>
          <p:cNvPr id="40963" name="Rectangle 3"/>
          <p:cNvSpPr>
            <a:spLocks noGrp="1"/>
          </p:cNvSpPr>
          <p:nvPr>
            <p:ph idx="1"/>
          </p:nvPr>
        </p:nvSpPr>
        <p:spPr>
          <a:ln/>
        </p:spPr>
        <p:txBody>
          <a:bodyPr vert="horz" wrap="square" lIns="91440" tIns="45720" rIns="91440" bIns="45720" anchor="t" anchorCtr="0"/>
          <a:p>
            <a:pPr eaLnBrk="1" hangingPunct="1"/>
            <a:r>
              <a:rPr lang="en-US" altLang="en-US" dirty="0"/>
              <a:t>Drawbacks:</a:t>
            </a:r>
            <a:endParaRPr lang="en-US" altLang="en-US" dirty="0"/>
          </a:p>
          <a:p>
            <a:pPr lvl="1" eaLnBrk="1" hangingPunct="1"/>
            <a:r>
              <a:rPr lang="en-US" altLang="en-US" dirty="0"/>
              <a:t>Huge table</a:t>
            </a:r>
            <a:endParaRPr lang="en-US" altLang="en-US" dirty="0"/>
          </a:p>
          <a:p>
            <a:pPr lvl="1" eaLnBrk="1" hangingPunct="1"/>
            <a:r>
              <a:rPr lang="en-US" altLang="en-US" dirty="0"/>
              <a:t>Take a long time to build the table</a:t>
            </a:r>
            <a:endParaRPr lang="en-US" altLang="en-US" dirty="0"/>
          </a:p>
          <a:p>
            <a:pPr lvl="1" eaLnBrk="1" hangingPunct="1"/>
            <a:r>
              <a:rPr lang="en-US" altLang="en-US" dirty="0"/>
              <a:t>No autonomy</a:t>
            </a:r>
            <a:endParaRPr lang="en-US" altLang="en-US" dirty="0"/>
          </a:p>
          <a:p>
            <a:pPr lvl="1" eaLnBrk="1" hangingPunct="1"/>
            <a:r>
              <a:rPr lang="en-US" altLang="en-US" dirty="0"/>
              <a:t>Even with learning, need a long time to learn the table entries</a:t>
            </a:r>
            <a:endParaRPr lang="en-US" alt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6" name="Rectangle 2"/>
          <p:cNvSpPr>
            <a:spLocks noGrp="1"/>
          </p:cNvSpPr>
          <p:nvPr>
            <p:ph type="title"/>
          </p:nvPr>
        </p:nvSpPr>
        <p:spPr>
          <a:ln/>
        </p:spPr>
        <p:txBody>
          <a:bodyPr vert="horz" wrap="square" lIns="91440" tIns="45720" rIns="91440" bIns="45720" anchor="ctr" anchorCtr="0"/>
          <a:p>
            <a:pPr eaLnBrk="1" hangingPunct="1"/>
            <a:r>
              <a:rPr lang="en-US" altLang="en-US" dirty="0"/>
              <a:t>Agent types</a:t>
            </a:r>
            <a:endParaRPr lang="en-US" altLang="en-US" dirty="0"/>
          </a:p>
        </p:txBody>
      </p:sp>
      <p:sp>
        <p:nvSpPr>
          <p:cNvPr id="41987" name="Rectangle 3"/>
          <p:cNvSpPr>
            <a:spLocks noGrp="1"/>
          </p:cNvSpPr>
          <p:nvPr>
            <p:ph idx="1"/>
          </p:nvPr>
        </p:nvSpPr>
        <p:spPr>
          <a:ln/>
        </p:spPr>
        <p:txBody>
          <a:bodyPr vert="horz" wrap="square" lIns="91440" tIns="45720" rIns="91440" bIns="45720" anchor="t" anchorCtr="0"/>
          <a:p>
            <a:pPr eaLnBrk="1" hangingPunct="1"/>
            <a:r>
              <a:rPr lang="en-US" altLang="en-US" dirty="0"/>
              <a:t>Five basic types in order of increasing generality:</a:t>
            </a:r>
            <a:endParaRPr lang="en-US" altLang="en-US" dirty="0"/>
          </a:p>
          <a:p>
            <a:pPr eaLnBrk="1" hangingPunct="1"/>
            <a:r>
              <a:rPr lang="en-US" altLang="en-US" dirty="0"/>
              <a:t>Simple reflex agents</a:t>
            </a:r>
            <a:endParaRPr lang="en-US" altLang="en-US" dirty="0"/>
          </a:p>
          <a:p>
            <a:pPr eaLnBrk="1" hangingPunct="1"/>
            <a:r>
              <a:rPr lang="en-US" altLang="en-US" dirty="0"/>
              <a:t>Model-based reflex agents</a:t>
            </a:r>
            <a:endParaRPr lang="en-US" altLang="en-US" dirty="0"/>
          </a:p>
          <a:p>
            <a:pPr eaLnBrk="1" hangingPunct="1"/>
            <a:r>
              <a:rPr lang="en-US" altLang="en-US" dirty="0"/>
              <a:t>Goal-based agents</a:t>
            </a:r>
            <a:endParaRPr lang="en-US" altLang="en-US" dirty="0"/>
          </a:p>
          <a:p>
            <a:pPr eaLnBrk="1" hangingPunct="1"/>
            <a:r>
              <a:rPr lang="en-US" altLang="en-US" dirty="0"/>
              <a:t>Utility-based agents</a:t>
            </a:r>
            <a:endParaRPr lang="en-US" altLang="en-US" dirty="0"/>
          </a:p>
          <a:p>
            <a:pPr eaLnBrk="1" hangingPunct="1"/>
            <a:r>
              <a:rPr lang="en-US" altLang="en-US" dirty="0"/>
              <a:t>Learning agents</a:t>
            </a:r>
            <a:endParaRPr lang="en-US" alt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3010" name="Rectangle 2"/>
          <p:cNvSpPr>
            <a:spLocks noGrp="1"/>
          </p:cNvSpPr>
          <p:nvPr>
            <p:ph type="title"/>
          </p:nvPr>
        </p:nvSpPr>
        <p:spPr>
          <a:ln/>
        </p:spPr>
        <p:txBody>
          <a:bodyPr vert="horz" wrap="square" lIns="91440" tIns="45720" rIns="91440" bIns="45720" anchor="ctr" anchorCtr="0"/>
          <a:p>
            <a:pPr eaLnBrk="1" hangingPunct="1"/>
            <a:r>
              <a:rPr lang="en-US" altLang="en-US" dirty="0"/>
              <a:t>Simple reflex agents</a:t>
            </a:r>
            <a:endParaRPr lang="en-US" altLang="en-US" dirty="0"/>
          </a:p>
        </p:txBody>
      </p:sp>
      <p:pic>
        <p:nvPicPr>
          <p:cNvPr id="43011" name="Picture 4" descr="simple-reflex-agent"/>
          <p:cNvPicPr>
            <a:picLocks noChangeAspect="1"/>
          </p:cNvPicPr>
          <p:nvPr>
            <p:ph idx="1"/>
          </p:nvPr>
        </p:nvPicPr>
        <p:blipFill>
          <a:blip r:embed="rId1"/>
          <a:srcRect/>
          <a:stretch>
            <a:fillRect/>
          </a:stretch>
        </p:blipFill>
        <p:spPr>
          <a:xfrm>
            <a:off x="457200" y="1371600"/>
            <a:ext cx="8153400" cy="5191125"/>
          </a:xfrm>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4034" name="Rectangle 2"/>
          <p:cNvSpPr>
            <a:spLocks noGrp="1"/>
          </p:cNvSpPr>
          <p:nvPr>
            <p:ph type="title"/>
          </p:nvPr>
        </p:nvSpPr>
        <p:spPr>
          <a:ln/>
        </p:spPr>
        <p:txBody>
          <a:bodyPr vert="horz" wrap="square" lIns="91440" tIns="45720" rIns="91440" bIns="45720" anchor="ctr" anchorCtr="0"/>
          <a:p>
            <a:pPr eaLnBrk="1" hangingPunct="1"/>
            <a:r>
              <a:rPr lang="en-US" altLang="en-US" dirty="0"/>
              <a:t>Model-based reflex agents</a:t>
            </a:r>
            <a:endParaRPr lang="en-US" altLang="en-US" dirty="0"/>
          </a:p>
        </p:txBody>
      </p:sp>
      <p:pic>
        <p:nvPicPr>
          <p:cNvPr id="44035" name="Picture 4" descr="reflex+state-agent"/>
          <p:cNvPicPr>
            <a:picLocks noChangeAspect="1"/>
          </p:cNvPicPr>
          <p:nvPr>
            <p:ph idx="1"/>
          </p:nvPr>
        </p:nvPicPr>
        <p:blipFill>
          <a:blip r:embed="rId1"/>
          <a:srcRect/>
          <a:stretch>
            <a:fillRect/>
          </a:stretch>
        </p:blipFill>
        <p:spPr>
          <a:xfrm>
            <a:off x="609600" y="1219200"/>
            <a:ext cx="8001000" cy="5092700"/>
          </a:xfrm>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058" name="Rectangle 2"/>
          <p:cNvSpPr>
            <a:spLocks noGrp="1"/>
          </p:cNvSpPr>
          <p:nvPr>
            <p:ph type="title"/>
          </p:nvPr>
        </p:nvSpPr>
        <p:spPr>
          <a:ln/>
        </p:spPr>
        <p:txBody>
          <a:bodyPr vert="horz" wrap="square" lIns="91440" tIns="45720" rIns="91440" bIns="45720" anchor="ctr" anchorCtr="0"/>
          <a:p>
            <a:pPr eaLnBrk="1" hangingPunct="1"/>
            <a:r>
              <a:rPr lang="en-US" altLang="en-US" dirty="0"/>
              <a:t>Goal-based agents</a:t>
            </a:r>
            <a:endParaRPr lang="en-US" altLang="en-US" dirty="0"/>
          </a:p>
        </p:txBody>
      </p:sp>
      <p:sp>
        <p:nvSpPr>
          <p:cNvPr id="45059" name="Rectangle 3"/>
          <p:cNvSpPr>
            <a:spLocks noGrp="1"/>
          </p:cNvSpPr>
          <p:nvPr>
            <p:ph type="body" idx="4294967295"/>
          </p:nvPr>
        </p:nvSpPr>
        <p:spPr>
          <a:xfrm>
            <a:off x="0" y="1600200"/>
            <a:ext cx="8229600" cy="4525963"/>
          </a:xfrm>
          <a:ln/>
        </p:spPr>
        <p:txBody>
          <a:bodyPr vert="horz" wrap="square" lIns="91440" tIns="45720" rIns="91440" bIns="45720" anchor="t" anchorCtr="0"/>
          <a:p>
            <a:pPr eaLnBrk="1" hangingPunct="1">
              <a:buNone/>
            </a:pPr>
            <a:r>
              <a:rPr lang="en-US" altLang="en-US" dirty="0"/>
              <a:t>
</a:t>
            </a:r>
            <a:endParaRPr lang="en-US" altLang="en-US" dirty="0"/>
          </a:p>
        </p:txBody>
      </p:sp>
      <p:pic>
        <p:nvPicPr>
          <p:cNvPr id="45060" name="Picture 5" descr="goal-based-agent"/>
          <p:cNvPicPr>
            <a:picLocks noChangeAspect="1"/>
          </p:cNvPicPr>
          <p:nvPr>
            <p:ph idx="1"/>
          </p:nvPr>
        </p:nvPicPr>
        <p:blipFill>
          <a:blip r:embed="rId1"/>
          <a:srcRect/>
          <a:stretch>
            <a:fillRect/>
          </a:stretch>
        </p:blipFill>
        <p:spPr>
          <a:xfrm>
            <a:off x="304800" y="1295400"/>
            <a:ext cx="8229600" cy="5238750"/>
          </a:xfrm>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2" name="Rectangle 2"/>
          <p:cNvSpPr>
            <a:spLocks noGrp="1"/>
          </p:cNvSpPr>
          <p:nvPr>
            <p:ph type="title"/>
          </p:nvPr>
        </p:nvSpPr>
        <p:spPr>
          <a:ln/>
        </p:spPr>
        <p:txBody>
          <a:bodyPr vert="horz" wrap="square" lIns="91440" tIns="45720" rIns="91440" bIns="45720" anchor="ctr" anchorCtr="0"/>
          <a:p>
            <a:pPr eaLnBrk="1" hangingPunct="1"/>
            <a:r>
              <a:rPr lang="en-US" altLang="en-US" dirty="0"/>
              <a:t>Utility-based agents</a:t>
            </a:r>
            <a:endParaRPr lang="en-US" altLang="en-US" dirty="0"/>
          </a:p>
        </p:txBody>
      </p:sp>
      <p:pic>
        <p:nvPicPr>
          <p:cNvPr id="46083" name="Picture 5" descr="utility-based-agent"/>
          <p:cNvPicPr>
            <a:picLocks noChangeAspect="1"/>
          </p:cNvPicPr>
          <p:nvPr>
            <p:ph idx="1"/>
          </p:nvPr>
        </p:nvPicPr>
        <p:blipFill>
          <a:blip r:embed="rId1"/>
          <a:srcRect/>
          <a:stretch>
            <a:fillRect/>
          </a:stretch>
        </p:blipFill>
        <p:spPr>
          <a:xfrm>
            <a:off x="304800" y="1295400"/>
            <a:ext cx="8382000" cy="5335588"/>
          </a:xfrm>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6" name="Rectangle 2"/>
          <p:cNvSpPr>
            <a:spLocks noGrp="1"/>
          </p:cNvSpPr>
          <p:nvPr>
            <p:ph type="title"/>
          </p:nvPr>
        </p:nvSpPr>
        <p:spPr>
          <a:ln/>
        </p:spPr>
        <p:txBody>
          <a:bodyPr vert="horz" wrap="square" lIns="91440" tIns="45720" rIns="91440" bIns="45720" anchor="ctr" anchorCtr="0"/>
          <a:p>
            <a:pPr eaLnBrk="1" hangingPunct="1"/>
            <a:r>
              <a:rPr lang="en-US" altLang="en-US" dirty="0"/>
              <a:t>Learning agents</a:t>
            </a:r>
            <a:endParaRPr lang="en-US" altLang="en-US" dirty="0"/>
          </a:p>
        </p:txBody>
      </p:sp>
      <p:pic>
        <p:nvPicPr>
          <p:cNvPr id="47107" name="Picture 9" descr="learning-agent"/>
          <p:cNvPicPr>
            <a:picLocks noChangeAspect="1"/>
          </p:cNvPicPr>
          <p:nvPr>
            <p:ph idx="1"/>
          </p:nvPr>
        </p:nvPicPr>
        <p:blipFill>
          <a:blip r:embed="rId1"/>
          <a:srcRect/>
          <a:stretch>
            <a:fillRect/>
          </a:stretch>
        </p:blipFill>
        <p:spPr>
          <a:xfrm>
            <a:off x="762000" y="1295400"/>
            <a:ext cx="7620000" cy="5353050"/>
          </a:xfrm>
          <a:ln/>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8316</Words>
  <Application>WPS Presentation</Application>
  <PresentationFormat>On-screen Show (4:3)</PresentationFormat>
  <Paragraphs>210</Paragraphs>
  <Slides>39</Slides>
  <Notes>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39</vt:i4>
      </vt:variant>
    </vt:vector>
  </HeadingPairs>
  <TitlesOfParts>
    <vt:vector size="48" baseType="lpstr">
      <vt:lpstr>Arial</vt:lpstr>
      <vt:lpstr>SimSun</vt:lpstr>
      <vt:lpstr>Wingdings</vt:lpstr>
      <vt:lpstr>Calibri</vt:lpstr>
      <vt:lpstr>Monotype Corsiva</vt:lpstr>
      <vt:lpstr>Segoe Print</vt:lpstr>
      <vt:lpstr>Microsoft YaHei</vt:lpstr>
      <vt:lpstr>Arial Unicode MS</vt:lpstr>
      <vt:lpstr>Default Design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NUS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Intelligent Agents</dc:title>
  <dc:creator>Min-Yen Kan</dc:creator>
  <cp:lastModifiedBy>khaul</cp:lastModifiedBy>
  <cp:revision>23</cp:revision>
  <dcterms:created xsi:type="dcterms:W3CDTF">2003-12-17T02:32:09Z</dcterms:created>
  <dcterms:modified xsi:type="dcterms:W3CDTF">2024-09-17T19:04:26Z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5D1A4D5673C74807B6E4DB8D1D1C6C9B_12</vt:lpwstr>
  </property>
  <property fmtid="{D5CDD505-2E9C-101B-9397-08002B2CF9AE}" pid="3" name="KSOProductBuildVer">
    <vt:lpwstr>1033-12.2.0.17119</vt:lpwstr>
  </property>
</Properties>
</file>