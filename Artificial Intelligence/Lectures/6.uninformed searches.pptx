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58" r:id="rId3"/>
    <p:sldId id="266" r:id="rId4"/>
    <p:sldId id="260" r:id="rId5"/>
    <p:sldId id="267" r:id="rId6"/>
    <p:sldId id="261" r:id="rId7"/>
    <p:sldId id="262" r:id="rId8"/>
    <p:sldId id="263" r:id="rId9"/>
    <p:sldId id="264" r:id="rId10"/>
    <p:sldId id="265" r:id="rId11"/>
    <p:sldId id="270" r:id="rId12"/>
    <p:sldId id="268" r:id="rId13"/>
    <p:sldId id="287" r:id="rId14"/>
    <p:sldId id="290" r:id="rId15"/>
    <p:sldId id="289" r:id="rId16"/>
    <p:sldId id="304" r:id="rId17"/>
    <p:sldId id="269" r:id="rId18"/>
    <p:sldId id="272" r:id="rId19"/>
    <p:sldId id="273" r:id="rId20"/>
    <p:sldId id="274" r:id="rId21"/>
    <p:sldId id="275" r:id="rId22"/>
    <p:sldId id="276" r:id="rId23"/>
    <p:sldId id="277" r:id="rId24"/>
    <p:sldId id="278" r:id="rId25"/>
    <p:sldId id="279" r:id="rId26"/>
    <p:sldId id="280" r:id="rId27"/>
    <p:sldId id="284" r:id="rId28"/>
    <p:sldId id="285" r:id="rId29"/>
    <p:sldId id="281" r:id="rId30"/>
    <p:sldId id="271" r:id="rId31"/>
    <p:sldId id="286" r:id="rId32"/>
    <p:sldId id="288" r:id="rId33"/>
    <p:sldId id="293" r:id="rId34"/>
    <p:sldId id="291" r:id="rId35"/>
    <p:sldId id="292" r:id="rId36"/>
    <p:sldId id="294" r:id="rId37"/>
    <p:sldId id="295" r:id="rId38"/>
    <p:sldId id="296" r:id="rId39"/>
    <p:sldId id="297" r:id="rId40"/>
    <p:sldId id="298" r:id="rId41"/>
    <p:sldId id="299" r:id="rId42"/>
    <p:sldId id="300" r:id="rId43"/>
    <p:sldId id="301" r:id="rId44"/>
    <p:sldId id="302" r:id="rId45"/>
    <p:sldId id="303" r:id="rId46"/>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5913"/>
  </p:normalViewPr>
  <p:slideViewPr>
    <p:cSldViewPr showGuides="1">
      <p:cViewPr varScale="1">
        <p:scale>
          <a:sx n="71" d="100"/>
          <a:sy n="71" d="100"/>
        </p:scale>
        <p:origin x="-1344" y="-90"/>
      </p:cViewPr>
      <p:guideLst>
        <p:guide orient="horz" pos="2160"/>
        <p:guide pos="2880"/>
      </p:guideLst>
    </p:cSldViewPr>
  </p:slideViewPr>
  <p:notesTextViewPr>
    <p:cViewPr>
      <p:scale>
        <a:sx n="100" d="100"/>
        <a:sy n="100" d="100"/>
      </p:scale>
      <p:origin x="0" y="0"/>
    </p:cViewPr>
  </p:notesTextViewPr>
  <p:gridSpacing cx="76199" cy="76199"/>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0" Type="http://schemas.openxmlformats.org/officeDocument/2006/relationships/tableStyles" Target="tableStyles.xml"/><Relationship Id="rId5" Type="http://schemas.openxmlformats.org/officeDocument/2006/relationships/slide" Target="slides/slide3.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notesMaster" Target="notesMasters/notesMaster1.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9E81E54-6CF5-4DCA-B92A-87533F7F0A34}"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mn-cs"/>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Fifth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fontAlgn="base" hangingPunct="1">
              <a:buNone/>
            </a:pPr>
            <a:fld id="{9A0DB2DC-4C9A-4742-B13C-FB6460FD3503}" type="slidenum">
              <a:rPr lang="en-US" sz="1200" strike="noStrike" noProof="1" dirty="0">
                <a:latin typeface="Arial" panose="020B0604020202020204" pitchFamily="34" charset="0"/>
                <a:ea typeface="+mn-ea"/>
                <a:cs typeface="+mn-cs"/>
              </a:rPr>
            </a:fld>
            <a:endParaRPr lang="en-US"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pPr fontAlgn="base"/>
            <a:r>
              <a:rPr lang="en-US" strike="noStrike" noProof="1" smtClean="0"/>
              <a:t>Click to edit Master title style</a:t>
            </a:r>
            <a:endParaRPr lang="en-US" strike="noStrike" noProof="1"/>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en-US" strike="noStrike" noProof="1" smtClean="0"/>
              <a:t>Click to edit Master subtitle style</a:t>
            </a:r>
            <a:endParaRPr 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None/>
            </a:pPr>
            <a:fld id="{9A0DB2DC-4C9A-4742-B13C-FB6460FD3503}" type="slidenum">
              <a:rPr lang="en-US" strike="noStrike" noProof="1" dirty="0">
                <a:latin typeface="Arial" panose="020B0604020202020204" pitchFamily="34" charset="0"/>
                <a:ea typeface="+mn-ea"/>
                <a:cs typeface="+mn-cs"/>
              </a:rPr>
            </a:fld>
            <a:endParaRPr lang="en-US" strike="noStrike" noProof="1"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None/>
            </a:pPr>
            <a:fld id="{9A0DB2DC-4C9A-4742-B13C-FB6460FD3503}" type="slidenum">
              <a:rPr lang="en-US" strike="noStrike" noProof="1" dirty="0">
                <a:latin typeface="Arial" panose="020B0604020202020204" pitchFamily="34" charset="0"/>
                <a:ea typeface="+mn-ea"/>
                <a:cs typeface="+mn-cs"/>
              </a:rPr>
            </a:fld>
            <a:endParaRPr lang="en-US" strike="noStrike" noProof="1"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en-US" strike="noStrike" noProof="1" smtClean="0"/>
              <a:t>Click to edit Master text styles</a:t>
            </a:r>
            <a:endParaRPr lang="en-US" strike="noStrike" noProof="1"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None/>
            </a:pPr>
            <a:fld id="{9A0DB2DC-4C9A-4742-B13C-FB6460FD3503}" type="slidenum">
              <a:rPr lang="en-US" strike="noStrike" noProof="1" dirty="0">
                <a:latin typeface="Arial" panose="020B0604020202020204" pitchFamily="34" charset="0"/>
                <a:ea typeface="+mn-ea"/>
                <a:cs typeface="+mn-cs"/>
              </a:rPr>
            </a:fld>
            <a:endParaRPr lang="en-US" strike="noStrike" noProof="1"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p>
            <a:pPr lvl="0" eaLnBrk="1" fontAlgn="base" hangingPunct="1">
              <a:buNone/>
            </a:pPr>
            <a:fld id="{9A0DB2DC-4C9A-4742-B13C-FB6460FD3503}" type="slidenum">
              <a:rPr lang="en-US" strike="noStrike" noProof="1" dirty="0">
                <a:latin typeface="Arial" panose="020B0604020202020204" pitchFamily="34" charset="0"/>
                <a:ea typeface="+mn-ea"/>
                <a:cs typeface="+mn-cs"/>
              </a:rPr>
            </a:fld>
            <a:endParaRPr lang="en-US" strike="noStrike" noProof="1"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smtClean="0"/>
              <a:t>Click to edit Master text styles</a:t>
            </a:r>
            <a:endParaRPr lang="en-US" strike="noStrike" noProof="1"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smtClean="0"/>
              <a:t>Click to edit Master text styles</a:t>
            </a:r>
            <a:endParaRPr lang="en-US" strike="noStrike" noProof="1"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9" name="Slide Number Placeholder 8"/>
          <p:cNvSpPr>
            <a:spLocks noGrp="1"/>
          </p:cNvSpPr>
          <p:nvPr>
            <p:ph type="sldNum" sz="quarter" idx="12"/>
          </p:nvPr>
        </p:nvSpPr>
        <p:spPr/>
        <p:txBody>
          <a:bodyPr/>
          <a:p>
            <a:pPr lvl="0" eaLnBrk="1" fontAlgn="base" hangingPunct="1">
              <a:buNone/>
            </a:pPr>
            <a:fld id="{9A0DB2DC-4C9A-4742-B13C-FB6460FD3503}" type="slidenum">
              <a:rPr lang="en-US" strike="noStrike" noProof="1" dirty="0">
                <a:latin typeface="Arial" panose="020B0604020202020204" pitchFamily="34" charset="0"/>
                <a:ea typeface="+mn-ea"/>
                <a:cs typeface="+mn-cs"/>
              </a:rPr>
            </a:fld>
            <a:endParaRPr lang="en-US" strike="noStrike" noProof="1"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2"/>
          </p:nvPr>
        </p:nvSpPr>
        <p:spPr/>
        <p:txBody>
          <a:bodyPr/>
          <a:p>
            <a:pPr lvl="0" eaLnBrk="1" fontAlgn="base" hangingPunct="1">
              <a:buNone/>
            </a:pPr>
            <a:fld id="{9A0DB2DC-4C9A-4742-B13C-FB6460FD3503}" type="slidenum">
              <a:rPr lang="en-US" strike="noStrike" noProof="1" dirty="0">
                <a:latin typeface="Arial" panose="020B0604020202020204" pitchFamily="34" charset="0"/>
                <a:ea typeface="+mn-ea"/>
                <a:cs typeface="+mn-cs"/>
              </a:rPr>
            </a:fld>
            <a:endParaRPr lang="en-US" strike="noStrike" noProof="1"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Slide Number Placeholder 3"/>
          <p:cNvSpPr>
            <a:spLocks noGrp="1"/>
          </p:cNvSpPr>
          <p:nvPr>
            <p:ph type="sldNum" sz="quarter" idx="12"/>
          </p:nvPr>
        </p:nvSpPr>
        <p:spPr/>
        <p:txBody>
          <a:bodyPr/>
          <a:p>
            <a:pPr lvl="0" eaLnBrk="1" fontAlgn="base" hangingPunct="1">
              <a:buNone/>
            </a:pPr>
            <a:fld id="{9A0DB2DC-4C9A-4742-B13C-FB6460FD3503}" type="slidenum">
              <a:rPr lang="en-US" strike="noStrike" noProof="1" dirty="0">
                <a:latin typeface="Arial" panose="020B0604020202020204" pitchFamily="34" charset="0"/>
                <a:ea typeface="+mn-ea"/>
                <a:cs typeface="+mn-cs"/>
              </a:rPr>
            </a:fld>
            <a:endParaRPr lang="en-US" strike="noStrike" noProof="1"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smtClean="0"/>
              <a:t>Click to edit Master text styles</a:t>
            </a:r>
            <a:endParaRPr 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p>
            <a:pPr lvl="0" eaLnBrk="1" fontAlgn="base" hangingPunct="1">
              <a:buNone/>
            </a:pPr>
            <a:fld id="{9A0DB2DC-4C9A-4742-B13C-FB6460FD3503}" type="slidenum">
              <a:rPr lang="en-US" strike="noStrike" noProof="1" dirty="0">
                <a:latin typeface="Arial" panose="020B0604020202020204" pitchFamily="34" charset="0"/>
                <a:ea typeface="+mn-ea"/>
                <a:cs typeface="+mn-cs"/>
              </a:rPr>
            </a:fld>
            <a:endParaRPr lang="en-US" strike="noStrike" noProof="1"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pPr fontAlgn="base"/>
            <a:r>
              <a:rPr lang="en-US" strike="noStrike" noProof="1" smtClean="0"/>
              <a:t>Click to edit Master title style</a:t>
            </a:r>
            <a:endParaRPr lang="en-US" strike="noStrike" noProof="1"/>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3200" b="0" i="0" u="none" strike="noStrike" kern="0" cap="none" spc="0" normalizeH="0" baseline="0" noProof="0" dirty="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smtClean="0"/>
              <a:t>Click to edit Master text styles</a:t>
            </a:r>
            <a:endParaRPr 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p>
            <a:pPr lvl="0" eaLnBrk="1" fontAlgn="base" hangingPunct="1">
              <a:buNone/>
            </a:pPr>
            <a:fld id="{9A0DB2DC-4C9A-4742-B13C-FB6460FD3503}" type="slidenum">
              <a:rPr lang="en-US" strike="noStrike" noProof="1" dirty="0">
                <a:latin typeface="Arial" panose="020B0604020202020204" pitchFamily="34" charset="0"/>
                <a:ea typeface="+mn-ea"/>
                <a:cs typeface="+mn-cs"/>
              </a:rPr>
            </a:fld>
            <a:endParaRPr lang="en-US" strike="noStrike" noProof="1"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None/>
            </a:pPr>
            <a:fld id="{9A0DB2DC-4C9A-4742-B13C-FB6460FD3503}" type="slidenum">
              <a:rPr lang="en-US" strike="noStrike" noProof="1" dirty="0">
                <a:latin typeface="Arial" panose="020B0604020202020204" pitchFamily="34" charset="0"/>
                <a:ea typeface="+mn-ea"/>
                <a:cs typeface="+mn-cs"/>
              </a:rPr>
            </a:fld>
            <a:endParaRPr lang="en-US" strike="noStrike" noProof="1"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a:xfrm>
            <a:off x="457200" y="274638"/>
            <a:ext cx="6019800" cy="5851525"/>
          </a:xfrm>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None/>
            </a:pPr>
            <a:fld id="{9A0DB2DC-4C9A-4742-B13C-FB6460FD3503}" type="slidenum">
              <a:rPr lang="en-US" strike="noStrike" noProof="1" dirty="0">
                <a:latin typeface="Arial" panose="020B0604020202020204" pitchFamily="34" charset="0"/>
                <a:ea typeface="+mn-ea"/>
                <a:cs typeface="+mn-cs"/>
              </a:rPr>
            </a:fld>
            <a:endParaRPr lang="en-US" strike="noStrike" noProof="1"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nchorCtr="0"/>
          <a:p>
            <a:pPr lvl="0"/>
            <a:r>
              <a:rPr lang="en-US" dirty="0"/>
              <a:t>Click to edit Master title style</a:t>
            </a:r>
            <a:endParaRPr lang="en-US" dirty="0"/>
          </a:p>
        </p:txBody>
      </p:sp>
      <p:sp>
        <p:nvSpPr>
          <p:cNvPr id="1027" name="Rectangle 3"/>
          <p:cNvSpPr>
            <a:spLocks noGrp="1"/>
          </p:cNvSpPr>
          <p:nvPr>
            <p:ph type="body"/>
          </p:nvPr>
        </p:nvSpPr>
        <p:spPr>
          <a:xfrm>
            <a:off x="457200" y="1600200"/>
            <a:ext cx="8229600" cy="4525963"/>
          </a:xfrm>
          <a:prstGeom prst="rect">
            <a:avLst/>
          </a:prstGeom>
          <a:noFill/>
          <a:ln w="9525">
            <a:noFill/>
          </a:ln>
        </p:spPr>
        <p:txBody>
          <a:bodyPr anchor="t" anchorCtr="0"/>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fontAlgn="base" hangingPunct="1">
              <a:buNone/>
            </a:pPr>
            <a:fld id="{9A0DB2DC-4C9A-4742-B13C-FB6460FD3503}" type="slidenum">
              <a:rPr lang="en-US" strike="noStrike" noProof="1" dirty="0">
                <a:latin typeface="Arial" panose="020B0604020202020204" pitchFamily="34" charset="0"/>
                <a:ea typeface="+mn-ea"/>
                <a:cs typeface="+mn-cs"/>
              </a:rPr>
            </a:fld>
            <a:endParaRPr lang="en-US" strike="noStrike" noProof="1"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Rectangle 1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buSzTx/>
            </a:pPr>
            <a:fld id="{9A0DB2DC-4C9A-4742-B13C-FB6460FD3503}" type="slidenum">
              <a:rPr lang="en-US" altLang="zh-CN" sz="1400" dirty="0">
                <a:solidFill>
                  <a:schemeClr val="bg2"/>
                </a:solidFill>
                <a:latin typeface="Tahoma" panose="020B0604030504040204" pitchFamily="34" charset="0"/>
              </a:rPr>
            </a:fld>
            <a:endParaRPr lang="en-US" altLang="zh-CN" sz="1400" dirty="0">
              <a:solidFill>
                <a:schemeClr val="bg2"/>
              </a:solidFill>
              <a:latin typeface="Tahoma" panose="020B0604030504040204" pitchFamily="34" charset="0"/>
            </a:endParaRPr>
          </a:p>
        </p:txBody>
      </p:sp>
      <p:sp>
        <p:nvSpPr>
          <p:cNvPr id="3074" name="Rectangle 4"/>
          <p:cNvSpPr>
            <a:spLocks noGrp="1"/>
          </p:cNvSpPr>
          <p:nvPr>
            <p:ph type="ctrTitle"/>
          </p:nvPr>
        </p:nvSpPr>
        <p:spPr>
          <a:ln/>
        </p:spPr>
        <p:txBody>
          <a:bodyPr vert="horz" wrap="square" lIns="91440" tIns="45720" rIns="91440" bIns="45720" anchor="ctr" anchorCtr="0"/>
          <a:p>
            <a:pPr eaLnBrk="1" hangingPunct="1">
              <a:buClrTx/>
              <a:buSzTx/>
              <a:buFontTx/>
            </a:pPr>
            <a:r>
              <a:rPr lang="en-US" dirty="0"/>
              <a:t>Solving problems by searching</a:t>
            </a:r>
            <a:endParaRPr lang="en-US" dirty="0"/>
          </a:p>
        </p:txBody>
      </p:sp>
      <p:sp>
        <p:nvSpPr>
          <p:cNvPr id="3075" name="Rectangle 3"/>
          <p:cNvSpPr>
            <a:spLocks noGrp="1"/>
          </p:cNvSpPr>
          <p:nvPr>
            <p:ph type="subTitle" idx="1"/>
          </p:nvPr>
        </p:nvSpPr>
        <p:spPr>
          <a:ln/>
        </p:spPr>
        <p:txBody>
          <a:bodyPr vert="horz" wrap="square" lIns="91440" tIns="45720" rIns="91440" bIns="45720" anchor="t" anchorCtr="0"/>
          <a:p>
            <a:pPr eaLnBrk="1" hangingPunct="1">
              <a:buClrTx/>
              <a:buSzTx/>
              <a:buFontTx/>
            </a:pPr>
            <a:r>
              <a:rPr lang="en-US" dirty="0">
                <a:latin typeface="+mn-lt"/>
                <a:ea typeface="+mn-ea"/>
                <a:cs typeface="+mn-cs"/>
              </a:rPr>
              <a:t>Chapter 3</a:t>
            </a:r>
            <a:endParaRPr lang="en-US" dirty="0">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Title 1"/>
          <p:cNvSpPr>
            <a:spLocks noGrp="1"/>
          </p:cNvSpPr>
          <p:nvPr>
            <p:ph type="title"/>
          </p:nvPr>
        </p:nvSpPr>
        <p:spPr>
          <a:ln/>
        </p:spPr>
        <p:txBody>
          <a:bodyPr vert="horz" wrap="square" lIns="91440" tIns="45720" rIns="91440" bIns="45720" anchor="ctr" anchorCtr="0"/>
          <a:p>
            <a:pPr>
              <a:buNone/>
            </a:pPr>
            <a:r>
              <a:rPr lang="en-US" dirty="0"/>
              <a:t>search strategies</a:t>
            </a:r>
            <a:endParaRPr lang="en-US" dirty="0"/>
          </a:p>
        </p:txBody>
      </p:sp>
      <p:sp>
        <p:nvSpPr>
          <p:cNvPr id="4098" name="Content Placeholder 2"/>
          <p:cNvSpPr>
            <a:spLocks noGrp="1"/>
          </p:cNvSpPr>
          <p:nvPr>
            <p:ph idx="1"/>
          </p:nvPr>
        </p:nvSpPr>
        <p:spPr>
          <a:ln/>
        </p:spPr>
        <p:txBody>
          <a:bodyPr vert="horz" wrap="square" lIns="91440" tIns="45720" rIns="91440" bIns="45720" anchor="t" anchorCtr="0"/>
          <a:p>
            <a:pPr marL="0" indent="0">
              <a:buNone/>
            </a:pPr>
            <a:r>
              <a:rPr lang="en-US" b="1" dirty="0">
                <a:solidFill>
                  <a:srgbClr val="000000"/>
                </a:solidFill>
                <a:latin typeface="Arial Unicode MS" pitchFamily="34" charset="-128"/>
              </a:rPr>
              <a:t>Generic search approach</a:t>
            </a:r>
            <a:r>
              <a:rPr lang="en-US" dirty="0">
                <a:solidFill>
                  <a:srgbClr val="000000"/>
                </a:solidFill>
                <a:latin typeface="Arial Unicode MS" pitchFamily="34" charset="-128"/>
              </a:rPr>
              <a:t>: </a:t>
            </a:r>
            <a:endParaRPr lang="en-US" dirty="0">
              <a:solidFill>
                <a:srgbClr val="000000"/>
              </a:solidFill>
              <a:latin typeface="Arial Unicode MS" pitchFamily="34" charset="-128"/>
            </a:endParaRPr>
          </a:p>
          <a:p>
            <a:pPr marL="0" indent="0">
              <a:buNone/>
            </a:pPr>
            <a:endParaRPr lang="en-US" dirty="0">
              <a:solidFill>
                <a:srgbClr val="000000"/>
              </a:solidFill>
              <a:latin typeface="Arial Unicode MS" pitchFamily="34" charset="-128"/>
            </a:endParaRPr>
          </a:p>
          <a:p>
            <a:pPr lvl="1">
              <a:buClr>
                <a:schemeClr val="tx1"/>
              </a:buClr>
              <a:buSzPct val="120000"/>
              <a:buChar char="•"/>
            </a:pPr>
            <a:r>
              <a:rPr lang="en-US" sz="2400" dirty="0">
                <a:solidFill>
                  <a:srgbClr val="000000"/>
                </a:solidFill>
                <a:latin typeface="Arial Unicode MS" pitchFamily="34" charset="-128"/>
              </a:rPr>
              <a:t>define a search space graph, </a:t>
            </a:r>
            <a:endParaRPr lang="en-US" sz="2400" dirty="0">
              <a:solidFill>
                <a:srgbClr val="000000"/>
              </a:solidFill>
              <a:latin typeface="Arial Unicode MS" pitchFamily="34" charset="-128"/>
            </a:endParaRPr>
          </a:p>
          <a:p>
            <a:pPr lvl="1">
              <a:buClr>
                <a:schemeClr val="tx1"/>
              </a:buClr>
              <a:buSzPct val="120000"/>
              <a:buChar char="•"/>
            </a:pPr>
            <a:r>
              <a:rPr lang="en-US" sz="2400" dirty="0">
                <a:solidFill>
                  <a:srgbClr val="000000"/>
                </a:solidFill>
                <a:latin typeface="Arial Unicode MS" pitchFamily="34" charset="-128"/>
              </a:rPr>
              <a:t>start from current state, </a:t>
            </a:r>
            <a:endParaRPr lang="en-US" sz="2400" dirty="0">
              <a:solidFill>
                <a:srgbClr val="000000"/>
              </a:solidFill>
              <a:latin typeface="Arial Unicode MS" pitchFamily="34" charset="-128"/>
            </a:endParaRPr>
          </a:p>
          <a:p>
            <a:pPr lvl="1">
              <a:buClr>
                <a:schemeClr val="tx1"/>
              </a:buClr>
              <a:buSzPct val="120000"/>
              <a:buChar char="•"/>
            </a:pPr>
            <a:r>
              <a:rPr lang="en-US" sz="2400" dirty="0">
                <a:solidFill>
                  <a:srgbClr val="000000"/>
                </a:solidFill>
                <a:latin typeface="Arial Unicode MS" pitchFamily="34" charset="-128"/>
              </a:rPr>
              <a:t>incrementally explore paths from current state until goal state is reached.</a:t>
            </a:r>
            <a:endParaRPr lang="en-US" sz="2400" dirty="0">
              <a:solidFill>
                <a:srgbClr val="000000"/>
              </a:solidFill>
              <a:latin typeface="Arial Unicode MS" pitchFamily="34" charset="-128"/>
            </a:endParaRPr>
          </a:p>
          <a:p>
            <a:pPr marL="0" inden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Title 1"/>
          <p:cNvSpPr>
            <a:spLocks noGrp="1"/>
          </p:cNvSpPr>
          <p:nvPr>
            <p:ph type="title"/>
          </p:nvPr>
        </p:nvSpPr>
        <p:spPr>
          <a:ln/>
        </p:spPr>
        <p:txBody>
          <a:bodyPr vert="horz" wrap="square" lIns="91440" tIns="45720" rIns="91440" bIns="45720" anchor="ctr" anchorCtr="0"/>
          <a:p>
            <a:pPr>
              <a:buNone/>
            </a:pPr>
            <a:r>
              <a:rPr lang="en-US" sz="4000" dirty="0"/>
              <a:t>search strategies</a:t>
            </a:r>
            <a:endParaRPr lang="en-US" sz="4000" dirty="0"/>
          </a:p>
        </p:txBody>
      </p:sp>
      <p:sp>
        <p:nvSpPr>
          <p:cNvPr id="3" name="Content Placeholder 2"/>
          <p:cNvSpPr>
            <a:spLocks noGrp="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sz="24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A search strategy is defined by picking the </a:t>
            </a:r>
            <a:r>
              <a:rPr kumimoji="0" lang="en-US" sz="2400" b="0" i="0" u="none" strike="noStrike" kern="0" cap="none" spc="0" normalizeH="0" baseline="0" noProof="0" dirty="0" smtClean="0">
                <a:ln>
                  <a:noFill/>
                </a:ln>
                <a:solidFill>
                  <a:srgbClr val="FF0000"/>
                </a:solidFill>
                <a:effectLst/>
                <a:uLnTx/>
                <a:uFillTx/>
                <a:latin typeface="Arial Unicode MS" pitchFamily="34" charset="-128"/>
                <a:ea typeface="Arial Unicode MS" pitchFamily="34" charset="-128"/>
                <a:cs typeface="Arial Unicode MS" pitchFamily="34" charset="-128"/>
              </a:rPr>
              <a:t>order of node expansion</a:t>
            </a:r>
            <a:endParaRPr kumimoji="0" lang="en-US" sz="24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sz="24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Strategies are evaluated along the following dimensions:</a:t>
            </a:r>
            <a:endParaRPr kumimoji="0" lang="en-US" sz="24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sz="2000" b="0" i="0" u="none" strike="noStrike" kern="0" cap="none" spc="0" normalizeH="0" baseline="0" noProof="0" dirty="0" smtClean="0">
                <a:ln>
                  <a:noFill/>
                </a:ln>
                <a:solidFill>
                  <a:schemeClr val="accent2"/>
                </a:solidFill>
                <a:effectLst/>
                <a:uLnTx/>
                <a:uFillTx/>
                <a:latin typeface="Arial Unicode MS" pitchFamily="34" charset="-128"/>
                <a:ea typeface="Arial Unicode MS" pitchFamily="34" charset="-128"/>
                <a:cs typeface="Arial Unicode MS" pitchFamily="34" charset="-128"/>
              </a:rPr>
              <a:t>completeness</a:t>
            </a:r>
            <a:r>
              <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 does it always find a solution if one exists?</a:t>
            </a: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sz="2000" b="0" i="0" u="none" strike="noStrike" kern="0" cap="none" spc="0" normalizeH="0" baseline="0" noProof="0" dirty="0" smtClean="0">
                <a:ln>
                  <a:noFill/>
                </a:ln>
                <a:solidFill>
                  <a:schemeClr val="accent2"/>
                </a:solidFill>
                <a:effectLst/>
                <a:uLnTx/>
                <a:uFillTx/>
                <a:latin typeface="Arial Unicode MS" pitchFamily="34" charset="-128"/>
                <a:ea typeface="Arial Unicode MS" pitchFamily="34" charset="-128"/>
                <a:cs typeface="Arial Unicode MS" pitchFamily="34" charset="-128"/>
              </a:rPr>
              <a:t>time complexity</a:t>
            </a:r>
            <a:r>
              <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 number of nodes generated</a:t>
            </a: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sz="2000" b="0" i="0" u="none" strike="noStrike" kern="0" cap="none" spc="0" normalizeH="0" baseline="0" noProof="0" dirty="0" smtClean="0">
                <a:ln>
                  <a:noFill/>
                </a:ln>
                <a:solidFill>
                  <a:schemeClr val="accent2"/>
                </a:solidFill>
                <a:effectLst/>
                <a:uLnTx/>
                <a:uFillTx/>
                <a:latin typeface="Arial Unicode MS" pitchFamily="34" charset="-128"/>
                <a:ea typeface="Arial Unicode MS" pitchFamily="34" charset="-128"/>
                <a:cs typeface="Arial Unicode MS" pitchFamily="34" charset="-128"/>
              </a:rPr>
              <a:t>space complexity</a:t>
            </a:r>
            <a:r>
              <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 maximum number of nodes in memory</a:t>
            </a: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sz="2000" b="0" i="0" u="none" strike="noStrike" kern="0" cap="none" spc="0" normalizeH="0" baseline="0" noProof="0" dirty="0" smtClean="0">
                <a:ln>
                  <a:noFill/>
                </a:ln>
                <a:solidFill>
                  <a:schemeClr val="accent2"/>
                </a:solidFill>
                <a:effectLst/>
                <a:uLnTx/>
                <a:uFillTx/>
                <a:latin typeface="Arial Unicode MS" pitchFamily="34" charset="-128"/>
                <a:ea typeface="Arial Unicode MS" pitchFamily="34" charset="-128"/>
                <a:cs typeface="Arial Unicode MS" pitchFamily="34" charset="-128"/>
              </a:rPr>
              <a:t>optimality</a:t>
            </a:r>
            <a:r>
              <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 does it always find a least-cost solution?</a:t>
            </a: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457200" marR="0" lvl="1" indent="0" algn="l" defTabSz="914400" rtl="0" eaLnBrk="1" fontAlgn="base" latinLnBrk="0" hangingPunct="1">
              <a:lnSpc>
                <a:spcPct val="90000"/>
              </a:lnSpc>
              <a:spcBef>
                <a:spcPct val="20000"/>
              </a:spcBef>
              <a:spcAft>
                <a:spcPct val="0"/>
              </a:spcAft>
              <a:buClrTx/>
              <a:buSzTx/>
              <a:buFontTx/>
              <a:buNone/>
              <a:defRPr/>
            </a:pP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sz="24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Time and space complexity are measured in terms of </a:t>
            </a:r>
            <a:endParaRPr kumimoji="0" lang="en-US" sz="24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sz="2000" b="0" i="1"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b:</a:t>
            </a:r>
            <a:r>
              <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 maximum branching factor of the search tree</a:t>
            </a: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sz="2000" b="0" i="1"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d: </a:t>
            </a:r>
            <a:r>
              <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depth of the least-cost solution</a:t>
            </a: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sz="2000" b="0" i="1"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m</a:t>
            </a:r>
            <a:r>
              <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 maximum depth of the state space (may be ∞)</a:t>
            </a: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sz="3200" b="0" i="0" u="none" strike="noStrike" kern="0" cap="none" spc="0" normalizeH="0" baseline="0" noProof="0" dirty="0">
              <a:ln>
                <a:noFill/>
              </a:ln>
              <a:solidFill>
                <a:schemeClr val="tx1"/>
              </a:solidFill>
              <a:effectLst/>
              <a:uLnTx/>
              <a:uFillTx/>
              <a:latin typeface="Arial Unicode MS" pitchFamily="34" charset="-128"/>
              <a:ea typeface="Arial Unicode MS" pitchFamily="34" charset="-128"/>
              <a:cs typeface="Arial Unicode MS" pitchFamily="34"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Content Placeholder 2"/>
          <p:cNvSpPr>
            <a:spLocks noGrp="1"/>
          </p:cNvSpPr>
          <p:nvPr>
            <p:ph idx="1"/>
          </p:nvPr>
        </p:nvSpPr>
        <p:spPr>
          <a:xfrm>
            <a:off x="457200" y="304800"/>
            <a:ext cx="8229600" cy="5745163"/>
          </a:xfrm>
          <a:ln/>
        </p:spPr>
        <p:txBody>
          <a:bodyPr vert="horz" wrap="square" lIns="91440" tIns="45720" rIns="91440" bIns="45720" anchor="t" anchorCtr="0"/>
          <a:p>
            <a:r>
              <a:rPr lang="en-US" sz="2400" dirty="0"/>
              <a:t>A search algorithm is complete if, whenever at least one solution exists, the algorithm is guaranteed to find a solution within a finite amount of time.</a:t>
            </a:r>
            <a:endParaRPr lang="en-US" sz="2400" dirty="0"/>
          </a:p>
          <a:p>
            <a:endParaRPr lang="en-US" sz="2400" dirty="0"/>
          </a:p>
          <a:p>
            <a:r>
              <a:rPr lang="en-US" sz="2400" dirty="0"/>
              <a:t>A search algorithm is optimal if, when it finds a solution , it is the best solution</a:t>
            </a:r>
            <a:endParaRPr lang="en-US" sz="2400" dirty="0"/>
          </a:p>
          <a:p>
            <a:endParaRPr lang="en-US" sz="2400" dirty="0"/>
          </a:p>
          <a:p>
            <a:r>
              <a:rPr lang="en-US" sz="2400" dirty="0"/>
              <a:t>The time complexity of a search algorithm is an expression for the worst-case amount of time it will take to run, expressed in terms of the maximum path length m and the maximum branching factor b.</a:t>
            </a:r>
            <a:endParaRPr lang="en-US" sz="2400" dirty="0"/>
          </a:p>
          <a:p>
            <a:endParaRPr lang="en-US" sz="2400" dirty="0"/>
          </a:p>
          <a:p>
            <a:r>
              <a:rPr lang="en-US" sz="2400" dirty="0"/>
              <a:t>The space complexity of a search algorithm is an expression for the worst-case amount of memory that the algorithm will use (number of nodes), Also expressed in terms of m and b.</a:t>
            </a:r>
            <a:endParaRPr lang="en-US" sz="2400" dirty="0"/>
          </a:p>
          <a:p>
            <a:endParaRPr lang="en-US" sz="2400" dirty="0"/>
          </a:p>
          <a:p>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Title 1"/>
          <p:cNvSpPr>
            <a:spLocks noGrp="1"/>
          </p:cNvSpPr>
          <p:nvPr>
            <p:ph type="title"/>
          </p:nvPr>
        </p:nvSpPr>
        <p:spPr>
          <a:ln/>
        </p:spPr>
        <p:txBody>
          <a:bodyPr vert="horz" wrap="square" lIns="91440" tIns="45720" rIns="91440" bIns="45720" anchor="ctr" anchorCtr="0"/>
          <a:p>
            <a:pPr>
              <a:buNone/>
            </a:pPr>
            <a:r>
              <a:rPr lang="en-US" dirty="0">
                <a:solidFill>
                  <a:schemeClr val="tx1"/>
                </a:solidFill>
              </a:rPr>
              <a:t>Uninformed </a:t>
            </a:r>
            <a:r>
              <a:rPr lang="en-US" dirty="0"/>
              <a:t>search strategies</a:t>
            </a:r>
            <a:endParaRPr lang="en-US" dirty="0"/>
          </a:p>
        </p:txBody>
      </p:sp>
      <p:sp>
        <p:nvSpPr>
          <p:cNvPr id="3" name="Content Placeholder 2"/>
          <p:cNvSpPr>
            <a:spLocks noGrp="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These searches use only the information available in the problem definition and </a:t>
            </a:r>
            <a:r>
              <a:rPr kumimoji="0" lang="en-GB"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systematically search complete graph, unguided</a:t>
            </a:r>
            <a:endParaRPr kumimoji="0" lang="en-GB"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Breadth-first search (BFS)</a:t>
            </a:r>
            <a:endPar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Uniform-cost search (UCS)</a:t>
            </a:r>
            <a:endPar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Depth-first search (DFS)</a:t>
            </a:r>
            <a:endPar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Depth-limited search (DLS)</a:t>
            </a:r>
            <a:endPar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Iterative deepening search</a:t>
            </a:r>
            <a:endPar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Bi-directional search</a:t>
            </a:r>
            <a:endPar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sz="3200" b="0" i="0" u="none" strike="noStrike" kern="0" cap="none" spc="0" normalizeH="0" baseline="0" noProof="0" dirty="0">
              <a:ln>
                <a:noFill/>
              </a:ln>
              <a:solidFill>
                <a:schemeClr val="tx1"/>
              </a:solidFill>
              <a:effectLst/>
              <a:uLnTx/>
              <a:uFillTx/>
              <a:latin typeface="Arial Unicode MS" pitchFamily="34" charset="-128"/>
              <a:ea typeface="Arial Unicode MS" pitchFamily="34" charset="-128"/>
              <a:cs typeface="Arial Unicode MS" pitchFamily="34"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Title 1"/>
          <p:cNvSpPr>
            <a:spLocks noGrp="1"/>
          </p:cNvSpPr>
          <p:nvPr>
            <p:ph type="title"/>
          </p:nvPr>
        </p:nvSpPr>
        <p:spPr>
          <a:ln/>
        </p:spPr>
        <p:txBody>
          <a:bodyPr vert="horz" wrap="square" lIns="91440" tIns="45720" rIns="91440" bIns="45720" anchor="ctr" anchorCtr="0"/>
          <a:p>
            <a:pPr>
              <a:buNone/>
            </a:pPr>
            <a:r>
              <a:rPr lang="en-GB" altLang="x-none" dirty="0"/>
              <a:t>Direction of search</a:t>
            </a:r>
            <a:endParaRPr lang="en-US" dirty="0"/>
          </a:p>
        </p:txBody>
      </p:sp>
      <p:sp>
        <p:nvSpPr>
          <p:cNvPr id="3" name="Content Placeholder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GB" sz="2800" b="1"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Forward search</a:t>
            </a:r>
            <a:r>
              <a:rPr kumimoji="0" lang="en-GB"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 from start to goal</a:t>
            </a:r>
            <a:endParaRPr kumimoji="0" lang="en-GB"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GB"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GB" sz="2800" b="1"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Backward search: </a:t>
            </a:r>
            <a:r>
              <a:rPr kumimoji="0" lang="en-GB"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from goal to start</a:t>
            </a:r>
            <a:endParaRPr kumimoji="0" lang="en-GB"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GB"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GB" sz="2800" b="1"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Bidirectional search</a:t>
            </a:r>
            <a:endParaRPr kumimoji="0" lang="en-GB" sz="2800" b="1"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2800" b="0" i="0" u="none" strike="noStrike" kern="0" cap="none" spc="0" normalizeH="0" baseline="0" noProof="0" dirty="0">
              <a:ln>
                <a:noFill/>
              </a:ln>
              <a:solidFill>
                <a:schemeClr val="tx1"/>
              </a:solidFill>
              <a:effectLst/>
              <a:uLnTx/>
              <a:uFillTx/>
              <a:latin typeface="Arial Unicode MS" pitchFamily="34" charset="-128"/>
              <a:ea typeface="Arial Unicode MS" pitchFamily="34" charset="-128"/>
              <a:cs typeface="Arial Unicode MS" pitchFamily="34"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Title 1"/>
          <p:cNvSpPr>
            <a:spLocks noGrp="1"/>
          </p:cNvSpPr>
          <p:nvPr>
            <p:ph type="title"/>
          </p:nvPr>
        </p:nvSpPr>
        <p:spPr>
          <a:ln/>
        </p:spPr>
        <p:txBody>
          <a:bodyPr vert="horz" wrap="square" lIns="91440" tIns="45720" rIns="91440" bIns="45720" anchor="ctr" anchorCtr="0"/>
          <a:p>
            <a:pPr>
              <a:buNone/>
            </a:pPr>
            <a:r>
              <a:rPr lang="en-US" dirty="0"/>
              <a:t>BFS search</a:t>
            </a:r>
            <a:endParaRPr lang="en-US" dirty="0"/>
          </a:p>
        </p:txBody>
      </p:sp>
      <p:sp>
        <p:nvSpPr>
          <p:cNvPr id="3" name="Content Placeholder 2"/>
          <p:cNvSpPr>
            <a:spLocks noGrp="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Expand shallowest unexpanded node, As the name BFS suggests, you are required to traverse the graph breadthwise as follows:</a:t>
            </a:r>
            <a:endPar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First move horizontally and visit all the nodes of the current layer</a:t>
            </a:r>
            <a:endPar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rPr>
              <a:t>Move to the next layer</a:t>
            </a:r>
            <a:endParaRPr kumimoji="0" lang="en-US" sz="2800" b="0" i="0" u="none" strike="noStrike" kern="0" cap="none" spc="0" normalizeH="0" baseline="0" noProof="0" dirty="0" smtClean="0">
              <a:ln>
                <a:noFill/>
              </a:ln>
              <a:solidFill>
                <a:schemeClr val="tx1"/>
              </a:solidFill>
              <a:effectLst/>
              <a:uLnTx/>
              <a:uFillTx/>
              <a:latin typeface="Arial Unicode MS" pitchFamily="34" charset="-128"/>
              <a:ea typeface="Arial Unicode MS" pitchFamily="34" charset="-128"/>
              <a:cs typeface="Arial Unicode MS" pitchFamily="34"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Title 1"/>
          <p:cNvSpPr>
            <a:spLocks noGrp="1"/>
          </p:cNvSpPr>
          <p:nvPr>
            <p:ph type="title"/>
          </p:nvPr>
        </p:nvSpPr>
        <p:spPr>
          <a:ln/>
        </p:spPr>
        <p:txBody>
          <a:bodyPr vert="horz" wrap="square" lIns="91440" tIns="45720" rIns="91440" bIns="45720" anchor="ctr" anchorCtr="0"/>
          <a:p>
            <a:pPr>
              <a:buNone/>
            </a:pPr>
            <a:r>
              <a:rPr lang="en-US" dirty="0"/>
              <a:t>BFS search</a:t>
            </a:r>
            <a:endParaRPr lang="en-US" dirty="0"/>
          </a:p>
        </p:txBody>
      </p:sp>
      <p:pic>
        <p:nvPicPr>
          <p:cNvPr id="10242" name="Content Placeholder 3" descr="Screen Clipping"/>
          <p:cNvPicPr>
            <a:picLocks noGrp="1" noChangeAspect="1"/>
          </p:cNvPicPr>
          <p:nvPr>
            <p:ph idx="1"/>
          </p:nvPr>
        </p:nvPicPr>
        <p:blipFill>
          <a:blip r:embed="rId1"/>
          <a:stretch>
            <a:fillRect/>
          </a:stretch>
        </p:blipFill>
        <p:spPr>
          <a:xfrm>
            <a:off x="1295400" y="1447800"/>
            <a:ext cx="6472238" cy="4724400"/>
          </a:xfr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Title 1"/>
          <p:cNvSpPr>
            <a:spLocks noGrp="1"/>
          </p:cNvSpPr>
          <p:nvPr>
            <p:ph type="title"/>
          </p:nvPr>
        </p:nvSpPr>
        <p:spPr>
          <a:ln/>
        </p:spPr>
        <p:txBody>
          <a:bodyPr vert="horz" wrap="square" lIns="91440" tIns="45720" rIns="91440" bIns="45720" anchor="ctr" anchorCtr="0"/>
          <a:p>
            <a:pPr>
              <a:buNone/>
            </a:pPr>
            <a:r>
              <a:rPr lang="en-US" sz="4000" dirty="0"/>
              <a:t>Properties of Breadth-First Search           </a:t>
            </a:r>
            <a:br>
              <a:rPr lang="en-US" sz="4000" dirty="0"/>
            </a:br>
            <a:endParaRPr lang="en-US" sz="4000" dirty="0"/>
          </a:p>
        </p:txBody>
      </p:sp>
      <p:sp>
        <p:nvSpPr>
          <p:cNvPr id="11266" name="Content Placeholder 2"/>
          <p:cNvSpPr>
            <a:spLocks noGrp="1"/>
          </p:cNvSpPr>
          <p:nvPr>
            <p:ph idx="1"/>
          </p:nvPr>
        </p:nvSpPr>
        <p:spPr>
          <a:ln/>
        </p:spPr>
        <p:txBody>
          <a:bodyPr vert="horz" wrap="square" lIns="91440" tIns="45720" rIns="91440" bIns="45720" anchor="t" anchorCtr="0"/>
          <a:p>
            <a:pPr>
              <a:lnSpc>
                <a:spcPct val="90000"/>
              </a:lnSpc>
            </a:pPr>
            <a:r>
              <a:rPr lang="en-US" sz="2400" dirty="0">
                <a:latin typeface="Arial Unicode MS" pitchFamily="34" charset="-128"/>
                <a:ea typeface="Arial Unicode MS" pitchFamily="34" charset="-128"/>
              </a:rPr>
              <a:t>Complete</a:t>
            </a:r>
            <a:endParaRPr lang="en-US" sz="2400" dirty="0">
              <a:latin typeface="Arial Unicode MS" pitchFamily="34" charset="-128"/>
              <a:ea typeface="Arial Unicode MS" pitchFamily="34" charset="-128"/>
            </a:endParaRPr>
          </a:p>
          <a:p>
            <a:pPr lvl="1">
              <a:lnSpc>
                <a:spcPct val="90000"/>
              </a:lnSpc>
            </a:pPr>
            <a:r>
              <a:rPr lang="en-US" sz="2000" dirty="0">
                <a:latin typeface="Arial Unicode MS" pitchFamily="34" charset="-128"/>
                <a:ea typeface="Arial Unicode MS" pitchFamily="34" charset="-128"/>
              </a:rPr>
              <a:t>Yes if b (max branching factor) is finite</a:t>
            </a:r>
            <a:endParaRPr lang="en-US" sz="2000" dirty="0">
              <a:latin typeface="Arial Unicode MS" pitchFamily="34" charset="-128"/>
              <a:ea typeface="Arial Unicode MS" pitchFamily="34" charset="-128"/>
            </a:endParaRPr>
          </a:p>
          <a:p>
            <a:pPr>
              <a:lnSpc>
                <a:spcPct val="90000"/>
              </a:lnSpc>
            </a:pPr>
            <a:r>
              <a:rPr lang="en-US" sz="2400" dirty="0">
                <a:latin typeface="Arial Unicode MS" pitchFamily="34" charset="-128"/>
                <a:ea typeface="Arial Unicode MS" pitchFamily="34" charset="-128"/>
              </a:rPr>
              <a:t>Time</a:t>
            </a:r>
            <a:endParaRPr lang="en-US" sz="2400" dirty="0">
              <a:latin typeface="Arial Unicode MS" pitchFamily="34" charset="-128"/>
              <a:ea typeface="Arial Unicode MS" pitchFamily="34" charset="-128"/>
            </a:endParaRPr>
          </a:p>
          <a:p>
            <a:pPr lvl="1">
              <a:lnSpc>
                <a:spcPct val="90000"/>
              </a:lnSpc>
            </a:pPr>
            <a:r>
              <a:rPr lang="en-US" sz="2000" dirty="0">
                <a:latin typeface="Arial Unicode MS" pitchFamily="34" charset="-128"/>
                <a:ea typeface="Arial Unicode MS" pitchFamily="34" charset="-128"/>
              </a:rPr>
              <a:t>1 + b + b</a:t>
            </a:r>
            <a:r>
              <a:rPr lang="en-US" sz="2000" baseline="30000" dirty="0">
                <a:latin typeface="Arial Unicode MS" pitchFamily="34" charset="-128"/>
                <a:ea typeface="Arial Unicode MS" pitchFamily="34" charset="-128"/>
              </a:rPr>
              <a:t>2</a:t>
            </a:r>
            <a:r>
              <a:rPr lang="en-US" sz="2000" dirty="0">
                <a:latin typeface="Arial Unicode MS" pitchFamily="34" charset="-128"/>
                <a:ea typeface="Arial Unicode MS" pitchFamily="34" charset="-128"/>
              </a:rPr>
              <a:t> + … + b</a:t>
            </a:r>
            <a:r>
              <a:rPr lang="en-US" sz="2000" baseline="30000" dirty="0">
                <a:latin typeface="Arial Unicode MS" pitchFamily="34" charset="-128"/>
                <a:ea typeface="Arial Unicode MS" pitchFamily="34" charset="-128"/>
              </a:rPr>
              <a:t>d</a:t>
            </a:r>
            <a:r>
              <a:rPr lang="en-US" sz="2000" dirty="0">
                <a:latin typeface="Arial Unicode MS" pitchFamily="34" charset="-128"/>
                <a:ea typeface="Arial Unicode MS" pitchFamily="34" charset="-128"/>
              </a:rPr>
              <a:t> + b(b</a:t>
            </a:r>
            <a:r>
              <a:rPr lang="en-US" sz="2000" baseline="30000" dirty="0">
                <a:latin typeface="Arial Unicode MS" pitchFamily="34" charset="-128"/>
                <a:ea typeface="Arial Unicode MS" pitchFamily="34" charset="-128"/>
              </a:rPr>
              <a:t>d</a:t>
            </a:r>
            <a:r>
              <a:rPr lang="en-US" sz="2000" dirty="0">
                <a:latin typeface="Arial Unicode MS" pitchFamily="34" charset="-128"/>
                <a:ea typeface="Arial Unicode MS" pitchFamily="34" charset="-128"/>
              </a:rPr>
              <a:t>-1) = O(b</a:t>
            </a:r>
            <a:r>
              <a:rPr lang="en-US" sz="2000" baseline="30000" dirty="0">
                <a:latin typeface="Arial Unicode MS" pitchFamily="34" charset="-128"/>
                <a:ea typeface="Arial Unicode MS" pitchFamily="34" charset="-128"/>
              </a:rPr>
              <a:t>d+1</a:t>
            </a:r>
            <a:r>
              <a:rPr lang="en-US" sz="2000" dirty="0">
                <a:latin typeface="Arial Unicode MS" pitchFamily="34" charset="-128"/>
                <a:ea typeface="Arial Unicode MS" pitchFamily="34" charset="-128"/>
              </a:rPr>
              <a:t>)</a:t>
            </a:r>
            <a:endParaRPr lang="en-US" sz="2000" dirty="0">
              <a:latin typeface="Arial Unicode MS" pitchFamily="34" charset="-128"/>
              <a:ea typeface="Arial Unicode MS" pitchFamily="34" charset="-128"/>
            </a:endParaRPr>
          </a:p>
          <a:p>
            <a:pPr lvl="1">
              <a:lnSpc>
                <a:spcPct val="90000"/>
              </a:lnSpc>
            </a:pPr>
            <a:r>
              <a:rPr lang="en-US" sz="2000" dirty="0">
                <a:latin typeface="Arial Unicode MS" pitchFamily="34" charset="-128"/>
                <a:ea typeface="Arial Unicode MS" pitchFamily="34" charset="-128"/>
              </a:rPr>
              <a:t>exponential in d</a:t>
            </a:r>
            <a:endParaRPr lang="en-US" sz="2000" dirty="0">
              <a:latin typeface="Arial Unicode MS" pitchFamily="34" charset="-128"/>
              <a:ea typeface="Arial Unicode MS" pitchFamily="34" charset="-128"/>
            </a:endParaRPr>
          </a:p>
          <a:p>
            <a:pPr>
              <a:lnSpc>
                <a:spcPct val="90000"/>
              </a:lnSpc>
            </a:pPr>
            <a:r>
              <a:rPr lang="en-US" sz="2400" dirty="0">
                <a:latin typeface="Arial Unicode MS" pitchFamily="34" charset="-128"/>
                <a:ea typeface="Arial Unicode MS" pitchFamily="34" charset="-128"/>
              </a:rPr>
              <a:t>Space</a:t>
            </a:r>
            <a:endParaRPr lang="en-US" sz="2400" dirty="0">
              <a:latin typeface="Arial Unicode MS" pitchFamily="34" charset="-128"/>
              <a:ea typeface="Arial Unicode MS" pitchFamily="34" charset="-128"/>
            </a:endParaRPr>
          </a:p>
          <a:p>
            <a:pPr lvl="1">
              <a:lnSpc>
                <a:spcPct val="90000"/>
              </a:lnSpc>
            </a:pPr>
            <a:r>
              <a:rPr lang="en-US" sz="2000" dirty="0">
                <a:latin typeface="Arial Unicode MS" pitchFamily="34" charset="-128"/>
                <a:ea typeface="Arial Unicode MS" pitchFamily="34" charset="-128"/>
              </a:rPr>
              <a:t>O(b</a:t>
            </a:r>
            <a:r>
              <a:rPr lang="en-US" sz="2000" baseline="30000" dirty="0">
                <a:latin typeface="Arial Unicode MS" pitchFamily="34" charset="-128"/>
                <a:ea typeface="Arial Unicode MS" pitchFamily="34" charset="-128"/>
              </a:rPr>
              <a:t>d+1</a:t>
            </a:r>
            <a:r>
              <a:rPr lang="en-US" sz="2000" dirty="0">
                <a:latin typeface="Arial Unicode MS" pitchFamily="34" charset="-128"/>
                <a:ea typeface="Arial Unicode MS" pitchFamily="34" charset="-128"/>
              </a:rPr>
              <a:t>)</a:t>
            </a:r>
            <a:endParaRPr lang="en-US" sz="2000" dirty="0">
              <a:latin typeface="Arial Unicode MS" pitchFamily="34" charset="-128"/>
              <a:ea typeface="Arial Unicode MS" pitchFamily="34" charset="-128"/>
            </a:endParaRPr>
          </a:p>
          <a:p>
            <a:pPr lvl="1">
              <a:lnSpc>
                <a:spcPct val="90000"/>
              </a:lnSpc>
            </a:pPr>
            <a:r>
              <a:rPr lang="en-US" sz="2000" dirty="0">
                <a:latin typeface="Arial Unicode MS" pitchFamily="34" charset="-128"/>
                <a:ea typeface="Arial Unicode MS" pitchFamily="34" charset="-128"/>
              </a:rPr>
              <a:t>Keeps every node in memory</a:t>
            </a:r>
            <a:endParaRPr lang="en-US" sz="2000" dirty="0">
              <a:latin typeface="Arial Unicode MS" pitchFamily="34" charset="-128"/>
              <a:ea typeface="Arial Unicode MS" pitchFamily="34" charset="-128"/>
            </a:endParaRPr>
          </a:p>
          <a:p>
            <a:pPr lvl="1">
              <a:lnSpc>
                <a:spcPct val="90000"/>
              </a:lnSpc>
            </a:pPr>
            <a:r>
              <a:rPr lang="en-US" sz="2000" dirty="0">
                <a:latin typeface="Arial Unicode MS" pitchFamily="34" charset="-128"/>
                <a:ea typeface="Arial Unicode MS" pitchFamily="34" charset="-128"/>
              </a:rPr>
              <a:t>This is the big problem; an agent that generates nodes at 10 MB/sec will produce 860 MB in 24 hours</a:t>
            </a:r>
            <a:endParaRPr lang="en-US" sz="2000" dirty="0">
              <a:latin typeface="Arial Unicode MS" pitchFamily="34" charset="-128"/>
              <a:ea typeface="Arial Unicode MS" pitchFamily="34" charset="-128"/>
            </a:endParaRPr>
          </a:p>
          <a:p>
            <a:pPr>
              <a:lnSpc>
                <a:spcPct val="90000"/>
              </a:lnSpc>
            </a:pPr>
            <a:r>
              <a:rPr lang="en-US" sz="2400" dirty="0">
                <a:latin typeface="Arial Unicode MS" pitchFamily="34" charset="-128"/>
                <a:ea typeface="Arial Unicode MS" pitchFamily="34" charset="-128"/>
              </a:rPr>
              <a:t>Optimal</a:t>
            </a:r>
            <a:endParaRPr lang="en-US" sz="2400" dirty="0">
              <a:latin typeface="Arial Unicode MS" pitchFamily="34" charset="-128"/>
              <a:ea typeface="Arial Unicode MS" pitchFamily="34" charset="-128"/>
            </a:endParaRPr>
          </a:p>
          <a:p>
            <a:pPr lvl="1">
              <a:lnSpc>
                <a:spcPct val="90000"/>
              </a:lnSpc>
            </a:pPr>
            <a:r>
              <a:rPr lang="en-US" sz="2000" dirty="0">
                <a:latin typeface="Arial Unicode MS" pitchFamily="34" charset="-128"/>
                <a:ea typeface="Arial Unicode MS" pitchFamily="34" charset="-128"/>
              </a:rPr>
              <a:t>Yes (if cost is 1 per step); not optimal in general</a:t>
            </a:r>
            <a:endParaRPr lang="en-US" sz="2000" dirty="0">
              <a:latin typeface="Arial Unicode MS" pitchFamily="34" charset="-128"/>
              <a:ea typeface="Arial Unicode MS" pitchFamily="34" charset="-128"/>
            </a:endParaRPr>
          </a:p>
          <a:p>
            <a:endParaRPr lang="en-US" dirty="0">
              <a:latin typeface="Arial Unicode MS" pitchFamily="34" charset="-128"/>
              <a:ea typeface="Arial Unicode MS" pitchFamily="34" charset="-12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Title 1"/>
          <p:cNvSpPr>
            <a:spLocks noGrp="1"/>
          </p:cNvSpPr>
          <p:nvPr>
            <p:ph type="title"/>
          </p:nvPr>
        </p:nvSpPr>
        <p:spPr>
          <a:xfrm>
            <a:off x="457200" y="22225"/>
            <a:ext cx="8229600" cy="1143000"/>
          </a:xfrm>
          <a:ln/>
        </p:spPr>
        <p:txBody>
          <a:bodyPr vert="horz" wrap="square" lIns="91440" tIns="45720" rIns="91440" bIns="45720" anchor="ctr" anchorCtr="0"/>
          <a:p>
            <a:pPr>
              <a:buNone/>
            </a:pPr>
            <a:r>
              <a:rPr lang="en-US" dirty="0"/>
              <a:t>BFS</a:t>
            </a:r>
            <a:endParaRPr lang="en-US" dirty="0"/>
          </a:p>
        </p:txBody>
      </p:sp>
      <p:pic>
        <p:nvPicPr>
          <p:cNvPr id="12290" name="Picture 3"/>
          <p:cNvPicPr>
            <a:picLocks noGrp="1" noChangeAspect="1"/>
          </p:cNvPicPr>
          <p:nvPr>
            <p:ph idx="1"/>
          </p:nvPr>
        </p:nvPicPr>
        <p:blipFill>
          <a:blip r:embed="rId1"/>
          <a:stretch>
            <a:fillRect/>
          </a:stretch>
        </p:blipFill>
        <p:spPr>
          <a:xfrm>
            <a:off x="1143000" y="1219200"/>
            <a:ext cx="6553200" cy="4906963"/>
          </a:xfr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Title 1"/>
          <p:cNvSpPr>
            <a:spLocks noGrp="1"/>
          </p:cNvSpPr>
          <p:nvPr>
            <p:ph type="title"/>
          </p:nvPr>
        </p:nvSpPr>
        <p:spPr>
          <a:ln/>
        </p:spPr>
        <p:txBody>
          <a:bodyPr vert="horz" wrap="square" lIns="91440" tIns="45720" rIns="91440" bIns="45720" anchor="ctr" anchorCtr="0"/>
          <a:p>
            <a:pPr>
              <a:buNone/>
            </a:pPr>
            <a:r>
              <a:rPr lang="en-US" dirty="0"/>
              <a:t>BFS</a:t>
            </a:r>
            <a:endParaRPr lang="en-US" dirty="0"/>
          </a:p>
        </p:txBody>
      </p:sp>
      <p:sp>
        <p:nvSpPr>
          <p:cNvPr id="3" name="Content Placeholder 2"/>
          <p:cNvSpPr>
            <a:spLocks noGrp="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800" b="0" i="0" u="none" strike="noStrike" kern="0" cap="none" spc="0" normalizeH="0" baseline="0" noProof="0" dirty="0" smtClean="0">
                <a:ln>
                  <a:noFill/>
                </a:ln>
                <a:solidFill>
                  <a:schemeClr val="tx1"/>
                </a:solidFill>
                <a:effectLst/>
                <a:uLnTx/>
                <a:uFillTx/>
                <a:latin typeface="Arial Unicode MS" pitchFamily="34" charset="-128"/>
                <a:ea typeface="+mn-ea"/>
                <a:cs typeface="+mn-cs"/>
              </a:rPr>
              <a:t>When is BFS </a:t>
            </a:r>
            <a:r>
              <a:rPr kumimoji="0" lang="en-US" sz="2800" b="0" i="0" u="none" strike="noStrike" kern="0" cap="none" spc="0" normalizeH="0" baseline="0" noProof="0" dirty="0" smtClean="0">
                <a:ln>
                  <a:noFill/>
                </a:ln>
                <a:solidFill>
                  <a:schemeClr val="accent2"/>
                </a:solidFill>
                <a:effectLst/>
                <a:uLnTx/>
                <a:uFillTx/>
                <a:latin typeface="Arial Unicode MS" pitchFamily="34" charset="-128"/>
                <a:ea typeface="+mn-ea"/>
                <a:cs typeface="+mn-cs"/>
              </a:rPr>
              <a:t>appropriate</a:t>
            </a:r>
            <a:r>
              <a:rPr kumimoji="0" lang="en-US" sz="2800" b="0" i="0" u="none" strike="noStrike" kern="0" cap="none" spc="0" normalizeH="0" baseline="0" noProof="0" dirty="0" smtClean="0">
                <a:ln>
                  <a:noFill/>
                </a:ln>
                <a:solidFill>
                  <a:schemeClr val="tx1"/>
                </a:solidFill>
                <a:effectLst/>
                <a:uLnTx/>
                <a:uFillTx/>
                <a:latin typeface="Arial Unicode MS" pitchFamily="34" charset="-128"/>
                <a:ea typeface="+mn-ea"/>
                <a:cs typeface="+mn-cs"/>
              </a:rPr>
              <a:t>?</a:t>
            </a:r>
            <a:endParaRPr kumimoji="0" lang="en-US" sz="2800" b="0" i="0" u="none" strike="noStrike" kern="0" cap="none" spc="0" normalizeH="0" baseline="0" noProof="0" dirty="0" smtClean="0">
              <a:ln>
                <a:noFill/>
              </a:ln>
              <a:solidFill>
                <a:schemeClr val="tx1"/>
              </a:solidFill>
              <a:effectLst/>
              <a:uLnTx/>
              <a:uFillTx/>
              <a:latin typeface="Arial Unicode MS" pitchFamily="34" charset="-128"/>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tx1"/>
              </a:buClr>
              <a:buSzPct val="120000"/>
              <a:buFontTx/>
              <a:buChar char="•"/>
              <a:defRPr/>
            </a:pPr>
            <a:r>
              <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rPr>
              <a:t>space is not a problem</a:t>
            </a: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endParaRPr>
          </a:p>
          <a:p>
            <a:pPr marL="742950" marR="0" lvl="1" indent="-285750" algn="l" defTabSz="914400" rtl="0" eaLnBrk="0" fontAlgn="base" latinLnBrk="0" hangingPunct="0">
              <a:lnSpc>
                <a:spcPct val="100000"/>
              </a:lnSpc>
              <a:spcBef>
                <a:spcPct val="20000"/>
              </a:spcBef>
              <a:spcAft>
                <a:spcPct val="0"/>
              </a:spcAft>
              <a:buClr>
                <a:schemeClr val="tx1"/>
              </a:buClr>
              <a:buSzPct val="120000"/>
              <a:buFontTx/>
              <a:buChar char="•"/>
              <a:defRPr/>
            </a:pPr>
            <a:r>
              <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rPr>
              <a:t>it's necessary to find the solution with the fewest arcs</a:t>
            </a: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endParaRPr>
          </a:p>
          <a:p>
            <a:pPr marL="742950" marR="0" lvl="1" indent="-285750" algn="l" defTabSz="914400" rtl="0" eaLnBrk="0" fontAlgn="base" latinLnBrk="0" hangingPunct="0">
              <a:lnSpc>
                <a:spcPct val="100000"/>
              </a:lnSpc>
              <a:spcBef>
                <a:spcPct val="20000"/>
              </a:spcBef>
              <a:spcAft>
                <a:spcPct val="0"/>
              </a:spcAft>
              <a:buClr>
                <a:schemeClr val="tx1"/>
              </a:buClr>
              <a:buSzPct val="120000"/>
              <a:buFontTx/>
              <a:buChar char="•"/>
              <a:defRPr/>
            </a:pPr>
            <a:r>
              <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rPr>
              <a:t>although all solutions may not be shallow, at least some are</a:t>
            </a: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endParaRPr>
          </a:p>
          <a:p>
            <a:pPr marL="742950" marR="0" lvl="1" indent="-285750" algn="l" defTabSz="914400" rtl="0" eaLnBrk="0" fontAlgn="base" latinLnBrk="0" hangingPunct="0">
              <a:lnSpc>
                <a:spcPct val="100000"/>
              </a:lnSpc>
              <a:spcBef>
                <a:spcPct val="20000"/>
              </a:spcBef>
              <a:spcAft>
                <a:spcPct val="0"/>
              </a:spcAft>
              <a:buClr>
                <a:schemeClr val="tx1"/>
              </a:buClr>
              <a:buSzPct val="120000"/>
              <a:buFontTx/>
              <a:buChar char="•"/>
              <a:defRPr/>
            </a:pPr>
            <a:r>
              <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rPr>
              <a:t>there may be infinite paths</a:t>
            </a: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endParaRPr>
          </a:p>
          <a:p>
            <a:pPr marL="742950" marR="0" lvl="1" indent="-285750" algn="l" defTabSz="914400" rtl="0" eaLnBrk="0" fontAlgn="base" latinLnBrk="0" hangingPunct="0">
              <a:lnSpc>
                <a:spcPct val="100000"/>
              </a:lnSpc>
              <a:spcBef>
                <a:spcPct val="20000"/>
              </a:spcBef>
              <a:spcAft>
                <a:spcPct val="0"/>
              </a:spcAft>
              <a:buClr>
                <a:schemeClr val="tx1"/>
              </a:buClr>
              <a:buSzPct val="120000"/>
              <a:buFontTx/>
              <a:buChar char="•"/>
              <a:defRPr/>
            </a:pP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800" b="0" i="0" u="none" strike="noStrike" kern="0" cap="none" spc="0" normalizeH="0" baseline="0" noProof="0" dirty="0" smtClean="0">
                <a:ln>
                  <a:noFill/>
                </a:ln>
                <a:solidFill>
                  <a:schemeClr val="tx1"/>
                </a:solidFill>
                <a:effectLst/>
                <a:uLnTx/>
                <a:uFillTx/>
                <a:latin typeface="Arial Unicode MS" pitchFamily="34" charset="-128"/>
                <a:ea typeface="+mn-ea"/>
                <a:cs typeface="+mn-cs"/>
              </a:rPr>
              <a:t>When is BFS </a:t>
            </a:r>
            <a:r>
              <a:rPr kumimoji="0" lang="en-US" sz="2800" b="0" i="0" u="none" strike="noStrike" kern="0" cap="none" spc="0" normalizeH="0" baseline="0" noProof="0" dirty="0" smtClean="0">
                <a:ln>
                  <a:noFill/>
                </a:ln>
                <a:solidFill>
                  <a:schemeClr val="accent2"/>
                </a:solidFill>
                <a:effectLst/>
                <a:uLnTx/>
                <a:uFillTx/>
                <a:latin typeface="Arial Unicode MS" pitchFamily="34" charset="-128"/>
                <a:ea typeface="+mn-ea"/>
                <a:cs typeface="+mn-cs"/>
              </a:rPr>
              <a:t>inappropriate</a:t>
            </a:r>
            <a:r>
              <a:rPr kumimoji="0" lang="en-US" sz="2800" b="0" i="0" u="none" strike="noStrike" kern="0" cap="none" spc="0" normalizeH="0" baseline="0" noProof="0" dirty="0" smtClean="0">
                <a:ln>
                  <a:noFill/>
                </a:ln>
                <a:solidFill>
                  <a:schemeClr val="tx1"/>
                </a:solidFill>
                <a:effectLst/>
                <a:uLnTx/>
                <a:uFillTx/>
                <a:latin typeface="Arial Unicode MS" pitchFamily="34" charset="-128"/>
                <a:ea typeface="+mn-ea"/>
                <a:cs typeface="+mn-cs"/>
              </a:rPr>
              <a:t>?</a:t>
            </a:r>
            <a:endParaRPr kumimoji="0" lang="en-US" sz="2800" b="0" i="0" u="none" strike="noStrike" kern="0" cap="none" spc="0" normalizeH="0" baseline="0" noProof="0" dirty="0" smtClean="0">
              <a:ln>
                <a:noFill/>
              </a:ln>
              <a:solidFill>
                <a:schemeClr val="tx1"/>
              </a:solidFill>
              <a:effectLst/>
              <a:uLnTx/>
              <a:uFillTx/>
              <a:latin typeface="Arial Unicode MS" pitchFamily="34" charset="-128"/>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tx1"/>
              </a:buClr>
              <a:buSzPct val="120000"/>
              <a:buFontTx/>
              <a:buChar char="•"/>
              <a:defRPr/>
            </a:pPr>
            <a:r>
              <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rPr>
              <a:t>space is limited</a:t>
            </a: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endParaRPr>
          </a:p>
          <a:p>
            <a:pPr marL="742950" marR="0" lvl="1" indent="-285750" algn="l" defTabSz="914400" rtl="0" eaLnBrk="0" fontAlgn="base" latinLnBrk="0" hangingPunct="0">
              <a:lnSpc>
                <a:spcPct val="100000"/>
              </a:lnSpc>
              <a:spcBef>
                <a:spcPct val="20000"/>
              </a:spcBef>
              <a:spcAft>
                <a:spcPct val="0"/>
              </a:spcAft>
              <a:buClr>
                <a:schemeClr val="tx1"/>
              </a:buClr>
              <a:buSzPct val="120000"/>
              <a:buFontTx/>
              <a:buChar char="•"/>
              <a:defRPr/>
            </a:pPr>
            <a:r>
              <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rPr>
              <a:t>all solutions tend to be located deep in the tree</a:t>
            </a: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endParaRPr>
          </a:p>
          <a:p>
            <a:pPr marL="742950" marR="0" lvl="1" indent="-285750" algn="l" defTabSz="914400" rtl="0" eaLnBrk="0" fontAlgn="base" latinLnBrk="0" hangingPunct="0">
              <a:lnSpc>
                <a:spcPct val="100000"/>
              </a:lnSpc>
              <a:spcBef>
                <a:spcPct val="20000"/>
              </a:spcBef>
              <a:spcAft>
                <a:spcPct val="0"/>
              </a:spcAft>
              <a:buClr>
                <a:schemeClr val="tx1"/>
              </a:buClr>
              <a:buSzPct val="120000"/>
              <a:buFontTx/>
              <a:buChar char="•"/>
              <a:defRPr/>
            </a:pPr>
            <a:r>
              <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rPr>
              <a:t>the branching factor is very large</a:t>
            </a: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endParaRPr>
          </a:p>
          <a:p>
            <a:pPr marL="742950" marR="0" lvl="1" indent="-285750" algn="l" defTabSz="914400" rtl="0" eaLnBrk="0" fontAlgn="base" latinLnBrk="0" hangingPunct="0">
              <a:lnSpc>
                <a:spcPct val="100000"/>
              </a:lnSpc>
              <a:spcBef>
                <a:spcPct val="20000"/>
              </a:spcBef>
              <a:spcAft>
                <a:spcPct val="0"/>
              </a:spcAft>
              <a:buClr>
                <a:schemeClr val="tx1"/>
              </a:buClr>
              <a:buSzPct val="120000"/>
              <a:buFontTx/>
              <a:buChar char="•"/>
              <a:defRPr/>
            </a:pP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sz="28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Title 1"/>
          <p:cNvSpPr>
            <a:spLocks noGrp="1"/>
          </p:cNvSpPr>
          <p:nvPr>
            <p:ph type="title"/>
          </p:nvPr>
        </p:nvSpPr>
        <p:spPr>
          <a:ln/>
        </p:spPr>
        <p:txBody>
          <a:bodyPr vert="horz" wrap="square" lIns="91440" tIns="45720" rIns="91440" bIns="45720" anchor="ctr" anchorCtr="0"/>
          <a:p>
            <a:pPr>
              <a:buNone/>
            </a:pPr>
            <a:r>
              <a:rPr lang="en-US" dirty="0"/>
              <a:t>UCS</a:t>
            </a:r>
            <a:endParaRPr lang="en-US" dirty="0"/>
          </a:p>
        </p:txBody>
      </p:sp>
      <p:sp>
        <p:nvSpPr>
          <p:cNvPr id="3" name="Content Placeholder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sz="3200" b="0" i="0" u="none" strike="noStrike" kern="0" cap="none" spc="0" normalizeH="0" baseline="0" noProof="0" dirty="0" smtClean="0">
                <a:ln>
                  <a:noFill/>
                </a:ln>
                <a:solidFill>
                  <a:schemeClr val="tx1"/>
                </a:solidFill>
                <a:effectLst/>
                <a:uLnTx/>
                <a:uFillTx/>
                <a:latin typeface="+mn-lt"/>
                <a:ea typeface="+mn-ea"/>
                <a:cs typeface="+mn-cs"/>
              </a:rPr>
              <a:t>Same idea as the algorithm for breadth-first search…but…</a:t>
            </a:r>
            <a:endParaRPr kumimoji="0" lang="en-US" sz="3200" b="0" i="0" u="none" strike="noStrike" kern="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sz="2800" b="0" i="0" u="none" strike="noStrike" kern="0" cap="none" spc="0" normalizeH="0" baseline="0" noProof="0" dirty="0" smtClean="0">
                <a:ln>
                  <a:noFill/>
                </a:ln>
                <a:solidFill>
                  <a:schemeClr val="tx1"/>
                </a:solidFill>
                <a:effectLst/>
                <a:uLnTx/>
                <a:uFillTx/>
                <a:latin typeface="+mn-lt"/>
                <a:ea typeface="Arial" panose="020B0604020202020204" pitchFamily="34" charset="0"/>
                <a:cs typeface="+mn-ea"/>
              </a:rPr>
              <a:t>Expand the </a:t>
            </a:r>
            <a:r>
              <a:rPr kumimoji="0" lang="en-US" sz="2800" b="1" i="1" u="sng" strike="noStrike" kern="0" cap="none" spc="0" normalizeH="0" baseline="0" noProof="0" dirty="0" smtClean="0">
                <a:ln>
                  <a:noFill/>
                </a:ln>
                <a:solidFill>
                  <a:schemeClr val="tx1"/>
                </a:solidFill>
                <a:effectLst/>
                <a:uLnTx/>
                <a:uFillTx/>
                <a:latin typeface="+mn-lt"/>
                <a:ea typeface="Arial" panose="020B0604020202020204" pitchFamily="34" charset="0"/>
                <a:cs typeface="+mn-ea"/>
              </a:rPr>
              <a:t>least-cost</a:t>
            </a:r>
            <a:r>
              <a:rPr kumimoji="0" lang="en-US" sz="2800" b="0" i="0" u="none" strike="noStrike" kern="0" cap="none" spc="0" normalizeH="0" baseline="0" noProof="0" dirty="0" smtClean="0">
                <a:ln>
                  <a:noFill/>
                </a:ln>
                <a:solidFill>
                  <a:schemeClr val="tx1"/>
                </a:solidFill>
                <a:effectLst/>
                <a:uLnTx/>
                <a:uFillTx/>
                <a:latin typeface="+mn-lt"/>
                <a:ea typeface="Arial" panose="020B0604020202020204" pitchFamily="34" charset="0"/>
                <a:cs typeface="+mn-ea"/>
              </a:rPr>
              <a:t> unexpanded node</a:t>
            </a:r>
            <a:endParaRPr kumimoji="0" lang="en-US" sz="2800" b="0" i="0" u="none" strike="noStrike" kern="0" cap="none" spc="0" normalizeH="0" baseline="0" noProof="0" dirty="0" smtClean="0">
              <a:ln>
                <a:noFill/>
              </a:ln>
              <a:solidFill>
                <a:schemeClr val="tx1"/>
              </a:solidFill>
              <a:effectLst/>
              <a:uLnTx/>
              <a:uFillTx/>
              <a:latin typeface="+mn-lt"/>
              <a:ea typeface="Arial" panose="020B0604020202020204" pitchFamily="34" charset="0"/>
              <a:cs typeface="+mn-ea"/>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sz="2800" b="0" i="0" u="none" strike="noStrike" kern="0" cap="none" spc="0" normalizeH="0" baseline="0" noProof="0" dirty="0" smtClean="0">
                <a:ln>
                  <a:noFill/>
                </a:ln>
                <a:solidFill>
                  <a:schemeClr val="tx1"/>
                </a:solidFill>
                <a:effectLst/>
                <a:uLnTx/>
                <a:uFillTx/>
                <a:latin typeface="+mn-lt"/>
                <a:ea typeface="Arial" panose="020B0604020202020204" pitchFamily="34" charset="0"/>
                <a:cs typeface="+mn-ea"/>
              </a:rPr>
              <a:t>FIFO queue is ordered by cost</a:t>
            </a:r>
            <a:endParaRPr kumimoji="0" lang="en-US" sz="2800" b="0" i="0" u="none" strike="noStrike" kern="0" cap="none" spc="0" normalizeH="0" baseline="0" noProof="0" dirty="0" smtClean="0">
              <a:ln>
                <a:noFill/>
              </a:ln>
              <a:solidFill>
                <a:schemeClr val="tx1"/>
              </a:solidFill>
              <a:effectLst/>
              <a:uLnTx/>
              <a:uFillTx/>
              <a:latin typeface="+mn-lt"/>
              <a:ea typeface="Arial" panose="020B0604020202020204" pitchFamily="34" charset="0"/>
              <a:cs typeface="+mn-ea"/>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sz="2800" b="0" i="0" u="none" strike="noStrike" kern="0" cap="none" spc="0" normalizeH="0" baseline="0" noProof="0" dirty="0" smtClean="0">
                <a:ln>
                  <a:noFill/>
                </a:ln>
                <a:solidFill>
                  <a:schemeClr val="tx1"/>
                </a:solidFill>
                <a:effectLst/>
                <a:uLnTx/>
                <a:uFillTx/>
                <a:latin typeface="+mn-lt"/>
                <a:ea typeface="Arial" panose="020B0604020202020204" pitchFamily="34" charset="0"/>
                <a:cs typeface="+mn-ea"/>
              </a:rPr>
              <a:t>Equivalent to regular breadth-first search if all step costs are equal</a:t>
            </a:r>
            <a:endParaRPr kumimoji="0" lang="en-US" sz="2800" b="0" i="0" u="none" strike="noStrike" kern="0" cap="none" spc="0" normalizeH="0" baseline="0" noProof="0" dirty="0" smtClean="0">
              <a:ln>
                <a:noFill/>
              </a:ln>
              <a:solidFill>
                <a:schemeClr val="tx1"/>
              </a:solidFill>
              <a:effectLst/>
              <a:uLnTx/>
              <a:uFillTx/>
              <a:latin typeface="+mn-lt"/>
              <a:ea typeface="Arial" panose="020B0604020202020204" pitchFamily="34" charset="0"/>
              <a:cs typeface="+mn-ea"/>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28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Title 1"/>
          <p:cNvSpPr>
            <a:spLocks noGrp="1"/>
          </p:cNvSpPr>
          <p:nvPr>
            <p:ph type="title"/>
          </p:nvPr>
        </p:nvSpPr>
        <p:spPr>
          <a:ln/>
        </p:spPr>
        <p:txBody>
          <a:bodyPr vert="horz" wrap="square" lIns="91440" tIns="45720" rIns="91440" bIns="45720" anchor="ctr" anchorCtr="0"/>
          <a:p>
            <a:pPr>
              <a:buNone/>
            </a:pPr>
            <a:r>
              <a:rPr lang="en-US" dirty="0"/>
              <a:t>UCS</a:t>
            </a:r>
            <a:endParaRPr lang="en-US" dirty="0"/>
          </a:p>
        </p:txBody>
      </p:sp>
      <p:sp>
        <p:nvSpPr>
          <p:cNvPr id="15362" name="Content Placeholder 2"/>
          <p:cNvSpPr>
            <a:spLocks noGrp="1"/>
          </p:cNvSpPr>
          <p:nvPr>
            <p:ph idx="1"/>
          </p:nvPr>
        </p:nvSpPr>
        <p:spPr>
          <a:ln/>
        </p:spPr>
        <p:txBody>
          <a:bodyPr vert="horz" wrap="square" lIns="91440" tIns="45720" rIns="91440" bIns="45720" anchor="t" anchorCtr="0"/>
          <a:p>
            <a:pPr>
              <a:lnSpc>
                <a:spcPct val="80000"/>
              </a:lnSpc>
            </a:pPr>
            <a:r>
              <a:rPr lang="en-US" sz="2800" dirty="0"/>
              <a:t>Complete</a:t>
            </a:r>
            <a:endParaRPr lang="en-US" sz="2800" dirty="0"/>
          </a:p>
          <a:p>
            <a:pPr lvl="1">
              <a:lnSpc>
                <a:spcPct val="80000"/>
              </a:lnSpc>
            </a:pPr>
            <a:r>
              <a:rPr lang="en-US" sz="2400" dirty="0"/>
              <a:t>Yes if the cost is greater than some threshold</a:t>
            </a:r>
            <a:endParaRPr lang="en-US" sz="2400" dirty="0"/>
          </a:p>
          <a:p>
            <a:pPr lvl="1">
              <a:lnSpc>
                <a:spcPct val="80000"/>
              </a:lnSpc>
            </a:pPr>
            <a:r>
              <a:rPr lang="en-US" sz="2400" dirty="0"/>
              <a:t>step cost &gt;= </a:t>
            </a:r>
            <a:r>
              <a:rPr lang="el-GR" altLang="x-none" sz="2400" dirty="0"/>
              <a:t>ε</a:t>
            </a:r>
            <a:endParaRPr lang="el-GR" altLang="x-none" sz="2400" dirty="0"/>
          </a:p>
          <a:p>
            <a:pPr>
              <a:lnSpc>
                <a:spcPct val="80000"/>
              </a:lnSpc>
            </a:pPr>
            <a:r>
              <a:rPr lang="en-US" sz="2800" dirty="0"/>
              <a:t>Time</a:t>
            </a:r>
            <a:endParaRPr lang="en-US" sz="2800" dirty="0"/>
          </a:p>
          <a:p>
            <a:pPr lvl="1">
              <a:lnSpc>
                <a:spcPct val="80000"/>
              </a:lnSpc>
            </a:pPr>
            <a:r>
              <a:rPr lang="en-US" sz="2400" dirty="0"/>
              <a:t>Complexity cannot be determined easily by d or d</a:t>
            </a:r>
            <a:endParaRPr lang="en-US" sz="2400" dirty="0"/>
          </a:p>
          <a:p>
            <a:pPr lvl="1">
              <a:lnSpc>
                <a:spcPct val="80000"/>
              </a:lnSpc>
            </a:pPr>
            <a:r>
              <a:rPr lang="en-US" sz="2400" dirty="0"/>
              <a:t>Let C* be the cost of the optimal solution</a:t>
            </a:r>
            <a:endParaRPr lang="en-US" sz="2400" dirty="0"/>
          </a:p>
          <a:p>
            <a:pPr lvl="1">
              <a:lnSpc>
                <a:spcPct val="80000"/>
              </a:lnSpc>
            </a:pPr>
            <a:r>
              <a:rPr lang="en-US" sz="2400" dirty="0"/>
              <a:t>O(b</a:t>
            </a:r>
            <a:r>
              <a:rPr lang="en-US" sz="2400" baseline="30000" dirty="0"/>
              <a:t>ceil(C*/ </a:t>
            </a:r>
            <a:r>
              <a:rPr lang="el-GR" altLang="x-none" sz="2400" baseline="30000" dirty="0"/>
              <a:t>ε</a:t>
            </a:r>
            <a:r>
              <a:rPr lang="en-US" sz="2400" baseline="30000" dirty="0"/>
              <a:t>)</a:t>
            </a:r>
            <a:r>
              <a:rPr lang="en-US" sz="2400" dirty="0"/>
              <a:t>)</a:t>
            </a:r>
            <a:endParaRPr lang="en-US" sz="2400" dirty="0"/>
          </a:p>
          <a:p>
            <a:pPr>
              <a:lnSpc>
                <a:spcPct val="80000"/>
              </a:lnSpc>
            </a:pPr>
            <a:r>
              <a:rPr lang="en-US" sz="2800" dirty="0"/>
              <a:t>Space</a:t>
            </a:r>
            <a:endParaRPr lang="en-US" sz="2800" dirty="0"/>
          </a:p>
          <a:p>
            <a:pPr lvl="1">
              <a:lnSpc>
                <a:spcPct val="80000"/>
              </a:lnSpc>
            </a:pPr>
            <a:r>
              <a:rPr lang="en-US" sz="2400" dirty="0"/>
              <a:t>O(b</a:t>
            </a:r>
            <a:r>
              <a:rPr lang="en-US" sz="2400" baseline="30000" dirty="0"/>
              <a:t>ceil(C*/ </a:t>
            </a:r>
            <a:r>
              <a:rPr lang="el-GR" altLang="x-none" sz="2400" baseline="30000" dirty="0"/>
              <a:t>ε</a:t>
            </a:r>
            <a:r>
              <a:rPr lang="en-US" sz="2400" baseline="30000" dirty="0"/>
              <a:t>)</a:t>
            </a:r>
            <a:r>
              <a:rPr lang="en-US" sz="2400" dirty="0"/>
              <a:t>)</a:t>
            </a:r>
            <a:endParaRPr lang="en-US" sz="2400" dirty="0"/>
          </a:p>
          <a:p>
            <a:pPr>
              <a:lnSpc>
                <a:spcPct val="80000"/>
              </a:lnSpc>
            </a:pPr>
            <a:r>
              <a:rPr lang="en-US" sz="2800" dirty="0"/>
              <a:t>Optimal</a:t>
            </a:r>
            <a:endParaRPr lang="en-US" sz="2800" dirty="0"/>
          </a:p>
          <a:p>
            <a:pPr lvl="1">
              <a:lnSpc>
                <a:spcPct val="80000"/>
              </a:lnSpc>
            </a:pPr>
            <a:r>
              <a:rPr lang="en-US" sz="2400" dirty="0"/>
              <a:t>Yes, Nodes are expanded in increasing order</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Title 1"/>
          <p:cNvSpPr>
            <a:spLocks noGrp="1"/>
          </p:cNvSpPr>
          <p:nvPr>
            <p:ph type="title"/>
          </p:nvPr>
        </p:nvSpPr>
        <p:spPr>
          <a:ln/>
        </p:spPr>
        <p:txBody>
          <a:bodyPr vert="horz" wrap="square" lIns="91440" tIns="45720" rIns="91440" bIns="45720" anchor="ctr" anchorCtr="0"/>
          <a:p>
            <a:pPr>
              <a:buNone/>
            </a:pPr>
            <a:r>
              <a:rPr lang="en-US" dirty="0"/>
              <a:t>UCS</a:t>
            </a:r>
            <a:endParaRPr lang="en-US" dirty="0"/>
          </a:p>
        </p:txBody>
      </p:sp>
      <p:pic>
        <p:nvPicPr>
          <p:cNvPr id="16386" name="Picture 4"/>
          <p:cNvPicPr>
            <a:picLocks noGrp="1" noChangeAspect="1"/>
          </p:cNvPicPr>
          <p:nvPr>
            <p:ph idx="1"/>
          </p:nvPr>
        </p:nvPicPr>
        <p:blipFill>
          <a:blip r:embed="rId1"/>
          <a:stretch>
            <a:fillRect/>
          </a:stretch>
        </p:blipFill>
        <p:spPr>
          <a:xfrm>
            <a:off x="1390650" y="1600200"/>
            <a:ext cx="6362700" cy="4525963"/>
          </a:xfrm>
          <a:ln w="19050"/>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102870" y="533400"/>
            <a:ext cx="8938260" cy="57823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Title 1"/>
          <p:cNvSpPr>
            <a:spLocks noGrp="1"/>
          </p:cNvSpPr>
          <p:nvPr>
            <p:ph type="title"/>
          </p:nvPr>
        </p:nvSpPr>
        <p:spPr>
          <a:ln/>
        </p:spPr>
        <p:txBody>
          <a:bodyPr vert="horz" wrap="square" lIns="91440" tIns="45720" rIns="91440" bIns="45720" anchor="ctr" anchorCtr="0"/>
          <a:p>
            <a:pPr>
              <a:buNone/>
            </a:pPr>
            <a:r>
              <a:rPr lang="en-US" dirty="0"/>
              <a:t>DFS</a:t>
            </a:r>
            <a:endParaRPr lang="en-US" dirty="0"/>
          </a:p>
        </p:txBody>
      </p:sp>
      <p:sp>
        <p:nvSpPr>
          <p:cNvPr id="17410" name="Content Placeholder 2"/>
          <p:cNvSpPr>
            <a:spLocks noGrp="1"/>
          </p:cNvSpPr>
          <p:nvPr>
            <p:ph idx="1"/>
          </p:nvPr>
        </p:nvSpPr>
        <p:spPr>
          <a:ln/>
        </p:spPr>
        <p:txBody>
          <a:bodyPr vert="horz" wrap="square" lIns="91440" tIns="45720" rIns="91440" bIns="45720" anchor="t" anchorCtr="0"/>
          <a:p>
            <a:r>
              <a:rPr lang="en-US" sz="2400" dirty="0">
                <a:latin typeface="Arial Unicode MS" pitchFamily="34" charset="-128"/>
                <a:ea typeface="Arial Unicode MS" pitchFamily="34" charset="-128"/>
              </a:rPr>
              <a:t>The DFS algorithm is a recursive algorithm that uses the idea of backtracking. It involves exhaustive searches of all the nodes by going ahead, if possible, else by backtracking.</a:t>
            </a:r>
            <a:endParaRPr lang="en-US" sz="2400" dirty="0">
              <a:latin typeface="Arial Unicode MS" pitchFamily="34" charset="-128"/>
              <a:ea typeface="Arial Unicode MS" pitchFamily="34" charset="-128"/>
            </a:endParaRPr>
          </a:p>
          <a:p>
            <a:endParaRPr lang="en-US" sz="2400" dirty="0">
              <a:latin typeface="Arial Unicode MS" pitchFamily="34" charset="-128"/>
              <a:ea typeface="Arial Unicode MS" pitchFamily="34" charset="-128"/>
            </a:endParaRPr>
          </a:p>
          <a:p>
            <a:r>
              <a:rPr lang="en-US" sz="2400" dirty="0">
                <a:latin typeface="Arial Unicode MS" pitchFamily="34" charset="-128"/>
                <a:ea typeface="Arial Unicode MS" pitchFamily="34" charset="-128"/>
              </a:rPr>
              <a:t>Here, the word backtrack means that when you are moving forward and there are no more nodes along the current path, you move backwards on the same path to find nodes to traverse. All the nodes will be visited on the current path till all the unvisited nodes have been traversed after which the next path will be selected.</a:t>
            </a:r>
            <a:endParaRPr lang="en-US" sz="2400" dirty="0">
              <a:latin typeface="Arial Unicode MS" pitchFamily="34" charset="-128"/>
              <a:ea typeface="Arial Unicode MS" pitchFamily="34" charset="-128"/>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Title 1"/>
          <p:cNvSpPr>
            <a:spLocks noGrp="1"/>
          </p:cNvSpPr>
          <p:nvPr>
            <p:ph type="title"/>
          </p:nvPr>
        </p:nvSpPr>
        <p:spPr>
          <a:ln/>
        </p:spPr>
        <p:txBody>
          <a:bodyPr vert="horz" wrap="square" lIns="91440" tIns="45720" rIns="91440" bIns="45720" anchor="ctr" anchorCtr="0"/>
          <a:p>
            <a:pPr>
              <a:buNone/>
            </a:pPr>
            <a:r>
              <a:rPr lang="en-US" dirty="0"/>
              <a:t>DFS</a:t>
            </a:r>
            <a:endParaRPr lang="en-US" dirty="0"/>
          </a:p>
        </p:txBody>
      </p:sp>
      <p:sp>
        <p:nvSpPr>
          <p:cNvPr id="18434" name="Content Placeholder 2"/>
          <p:cNvSpPr>
            <a:spLocks noGrp="1"/>
          </p:cNvSpPr>
          <p:nvPr>
            <p:ph idx="1"/>
          </p:nvPr>
        </p:nvSpPr>
        <p:spPr>
          <a:ln/>
        </p:spPr>
        <p:txBody>
          <a:bodyPr vert="horz" wrap="square" lIns="91440" tIns="45720" rIns="91440" bIns="45720" anchor="t" anchorCtr="0"/>
          <a:p>
            <a:r>
              <a:rPr lang="en-US" sz="2400" dirty="0"/>
              <a:t>Expand the </a:t>
            </a:r>
            <a:r>
              <a:rPr lang="en-US" sz="2400" b="1" i="1" u="sng" dirty="0"/>
              <a:t>deepest</a:t>
            </a:r>
            <a:r>
              <a:rPr lang="en-US" sz="2400" dirty="0"/>
              <a:t> unexpanded node</a:t>
            </a:r>
            <a:endParaRPr lang="en-US" sz="2400" dirty="0"/>
          </a:p>
          <a:p>
            <a:endParaRPr lang="en-US" sz="2400" dirty="0"/>
          </a:p>
          <a:p>
            <a:r>
              <a:rPr lang="en-US" sz="2400" dirty="0"/>
              <a:t>Unexplored successors are placed on a stack until fully explored</a:t>
            </a:r>
            <a:endParaRPr lang="en-US" sz="2400" dirty="0"/>
          </a:p>
          <a:p>
            <a:endParaRPr lang="en-US" sz="2400" dirty="0">
              <a:latin typeface="Arial Unicode MS" pitchFamily="34" charset="-128"/>
              <a:ea typeface="Arial Unicode MS" pitchFamily="34" charset="-128"/>
            </a:endParaRPr>
          </a:p>
          <a:p>
            <a:endParaRPr lang="en-US" sz="2400" dirty="0">
              <a:latin typeface="Arial Unicode MS" pitchFamily="34" charset="-128"/>
              <a:ea typeface="Arial Unicode MS" pitchFamily="34" charset="-128"/>
            </a:endParaRPr>
          </a:p>
        </p:txBody>
      </p:sp>
      <p:pic>
        <p:nvPicPr>
          <p:cNvPr id="18435" name="Picture 5"/>
          <p:cNvPicPr>
            <a:picLocks noChangeAspect="1"/>
          </p:cNvPicPr>
          <p:nvPr/>
        </p:nvPicPr>
        <p:blipFill>
          <a:blip r:embed="rId1"/>
          <a:stretch>
            <a:fillRect/>
          </a:stretch>
        </p:blipFill>
        <p:spPr>
          <a:xfrm>
            <a:off x="2286000" y="3581400"/>
            <a:ext cx="4200525" cy="2381250"/>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Title 1"/>
          <p:cNvSpPr>
            <a:spLocks noGrp="1"/>
          </p:cNvSpPr>
          <p:nvPr>
            <p:ph type="title"/>
          </p:nvPr>
        </p:nvSpPr>
        <p:spPr>
          <a:ln/>
        </p:spPr>
        <p:txBody>
          <a:bodyPr vert="horz" wrap="square" lIns="91440" tIns="45720" rIns="91440" bIns="45720" anchor="ctr" anchorCtr="0"/>
          <a:p>
            <a:pPr>
              <a:buNone/>
            </a:pPr>
            <a:r>
              <a:rPr lang="en-US" dirty="0"/>
              <a:t>DFS</a:t>
            </a:r>
            <a:endParaRPr lang="en-US" dirty="0"/>
          </a:p>
        </p:txBody>
      </p:sp>
      <p:sp>
        <p:nvSpPr>
          <p:cNvPr id="19458" name="Content Placeholder 2"/>
          <p:cNvSpPr>
            <a:spLocks noGrp="1"/>
          </p:cNvSpPr>
          <p:nvPr>
            <p:ph idx="1"/>
          </p:nvPr>
        </p:nvSpPr>
        <p:spPr>
          <a:ln/>
        </p:spPr>
        <p:txBody>
          <a:bodyPr vert="horz" wrap="square" lIns="91440" tIns="45720" rIns="91440" bIns="45720" anchor="t" anchorCtr="0"/>
          <a:p>
            <a:r>
              <a:rPr lang="en-US" sz="2400" dirty="0"/>
              <a:t>Expand the </a:t>
            </a:r>
            <a:r>
              <a:rPr lang="en-US" sz="2400" b="1" i="1" u="sng" dirty="0"/>
              <a:t>deepest</a:t>
            </a:r>
            <a:r>
              <a:rPr lang="en-US" sz="2400" dirty="0"/>
              <a:t> unexpanded node</a:t>
            </a:r>
            <a:endParaRPr lang="en-US" sz="2400" dirty="0"/>
          </a:p>
          <a:p>
            <a:endParaRPr lang="en-US" sz="2400" dirty="0"/>
          </a:p>
          <a:p>
            <a:r>
              <a:rPr lang="en-US" sz="2400" dirty="0"/>
              <a:t>Unexplored successors are placed on a stack until fully explored</a:t>
            </a:r>
            <a:endParaRPr lang="en-US" sz="2400" dirty="0"/>
          </a:p>
          <a:p>
            <a:endParaRPr lang="en-US" sz="2400" dirty="0">
              <a:latin typeface="Arial Unicode MS" pitchFamily="34" charset="-128"/>
              <a:ea typeface="Arial Unicode MS" pitchFamily="34" charset="-128"/>
            </a:endParaRPr>
          </a:p>
          <a:p>
            <a:endParaRPr lang="en-US" sz="2400" dirty="0">
              <a:latin typeface="Arial Unicode MS" pitchFamily="34" charset="-128"/>
              <a:ea typeface="Arial Unicode MS" pitchFamily="34" charset="-128"/>
            </a:endParaRPr>
          </a:p>
        </p:txBody>
      </p:sp>
      <p:pic>
        <p:nvPicPr>
          <p:cNvPr id="19459" name="Picture 4"/>
          <p:cNvPicPr>
            <a:picLocks noChangeAspect="1"/>
          </p:cNvPicPr>
          <p:nvPr/>
        </p:nvPicPr>
        <p:blipFill>
          <a:blip r:embed="rId1"/>
          <a:stretch>
            <a:fillRect/>
          </a:stretch>
        </p:blipFill>
        <p:spPr>
          <a:xfrm>
            <a:off x="2481263" y="3581400"/>
            <a:ext cx="4181475" cy="2371725"/>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Title 1"/>
          <p:cNvSpPr>
            <a:spLocks noGrp="1"/>
          </p:cNvSpPr>
          <p:nvPr>
            <p:ph type="title"/>
          </p:nvPr>
        </p:nvSpPr>
        <p:spPr>
          <a:ln/>
        </p:spPr>
        <p:txBody>
          <a:bodyPr vert="horz" wrap="square" lIns="91440" tIns="45720" rIns="91440" bIns="45720" anchor="ctr" anchorCtr="0"/>
          <a:p>
            <a:pPr>
              <a:buNone/>
            </a:pPr>
            <a:r>
              <a:rPr lang="en-US" dirty="0"/>
              <a:t>DFS</a:t>
            </a:r>
            <a:endParaRPr lang="en-US" dirty="0"/>
          </a:p>
        </p:txBody>
      </p:sp>
      <p:sp>
        <p:nvSpPr>
          <p:cNvPr id="20482" name="Content Placeholder 2"/>
          <p:cNvSpPr>
            <a:spLocks noGrp="1"/>
          </p:cNvSpPr>
          <p:nvPr>
            <p:ph idx="1"/>
          </p:nvPr>
        </p:nvSpPr>
        <p:spPr>
          <a:ln/>
        </p:spPr>
        <p:txBody>
          <a:bodyPr vert="horz" wrap="square" lIns="91440" tIns="45720" rIns="91440" bIns="45720" anchor="t" anchorCtr="0"/>
          <a:p>
            <a:r>
              <a:rPr lang="en-US" sz="2400" dirty="0"/>
              <a:t>Expand the </a:t>
            </a:r>
            <a:r>
              <a:rPr lang="en-US" sz="2400" b="1" i="1" u="sng" dirty="0"/>
              <a:t>deepest</a:t>
            </a:r>
            <a:r>
              <a:rPr lang="en-US" sz="2400" dirty="0"/>
              <a:t> unexpanded node</a:t>
            </a:r>
            <a:endParaRPr lang="en-US" sz="2400" dirty="0"/>
          </a:p>
          <a:p>
            <a:endParaRPr lang="en-US" sz="2400" dirty="0"/>
          </a:p>
          <a:p>
            <a:r>
              <a:rPr lang="en-US" sz="2400" dirty="0"/>
              <a:t>Unexplored successors are placed on a stack until fully explored</a:t>
            </a:r>
            <a:endParaRPr lang="en-US" sz="2400" dirty="0"/>
          </a:p>
          <a:p>
            <a:endParaRPr lang="en-US" sz="2400" dirty="0">
              <a:latin typeface="Arial Unicode MS" pitchFamily="34" charset="-128"/>
              <a:ea typeface="Arial Unicode MS" pitchFamily="34" charset="-128"/>
            </a:endParaRPr>
          </a:p>
          <a:p>
            <a:endParaRPr lang="en-US" sz="2400" dirty="0">
              <a:latin typeface="Arial Unicode MS" pitchFamily="34" charset="-128"/>
              <a:ea typeface="Arial Unicode MS" pitchFamily="34" charset="-128"/>
            </a:endParaRPr>
          </a:p>
        </p:txBody>
      </p:sp>
      <p:pic>
        <p:nvPicPr>
          <p:cNvPr id="20483" name="Picture 4"/>
          <p:cNvPicPr>
            <a:picLocks noChangeAspect="1"/>
          </p:cNvPicPr>
          <p:nvPr/>
        </p:nvPicPr>
        <p:blipFill>
          <a:blip r:embed="rId1"/>
          <a:stretch>
            <a:fillRect/>
          </a:stretch>
        </p:blipFill>
        <p:spPr>
          <a:xfrm>
            <a:off x="2286000" y="3657600"/>
            <a:ext cx="4124325" cy="2400300"/>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Title 1"/>
          <p:cNvSpPr>
            <a:spLocks noGrp="1"/>
          </p:cNvSpPr>
          <p:nvPr>
            <p:ph type="title"/>
          </p:nvPr>
        </p:nvSpPr>
        <p:spPr>
          <a:ln/>
        </p:spPr>
        <p:txBody>
          <a:bodyPr vert="horz" wrap="square" lIns="91440" tIns="45720" rIns="91440" bIns="45720" anchor="ctr" anchorCtr="0"/>
          <a:p>
            <a:pPr>
              <a:buNone/>
            </a:pPr>
            <a:r>
              <a:rPr lang="en-US" dirty="0"/>
              <a:t>DFS</a:t>
            </a:r>
            <a:endParaRPr lang="en-US" dirty="0"/>
          </a:p>
        </p:txBody>
      </p:sp>
      <p:sp>
        <p:nvSpPr>
          <p:cNvPr id="21506" name="Content Placeholder 2"/>
          <p:cNvSpPr>
            <a:spLocks noGrp="1"/>
          </p:cNvSpPr>
          <p:nvPr>
            <p:ph idx="1"/>
          </p:nvPr>
        </p:nvSpPr>
        <p:spPr>
          <a:ln/>
        </p:spPr>
        <p:txBody>
          <a:bodyPr vert="horz" wrap="square" lIns="91440" tIns="45720" rIns="91440" bIns="45720" anchor="t" anchorCtr="0"/>
          <a:p>
            <a:r>
              <a:rPr lang="en-US" sz="2400" dirty="0"/>
              <a:t>Expand the </a:t>
            </a:r>
            <a:r>
              <a:rPr lang="en-US" sz="2400" b="1" i="1" u="sng" dirty="0"/>
              <a:t>deepest</a:t>
            </a:r>
            <a:r>
              <a:rPr lang="en-US" sz="2400" dirty="0"/>
              <a:t> unexpanded node</a:t>
            </a:r>
            <a:endParaRPr lang="en-US" sz="2400" dirty="0"/>
          </a:p>
          <a:p>
            <a:endParaRPr lang="en-US" sz="2400" dirty="0"/>
          </a:p>
          <a:p>
            <a:r>
              <a:rPr lang="en-US" sz="2400" dirty="0"/>
              <a:t>Unexplored successors are placed on a stack until fully explored</a:t>
            </a:r>
            <a:endParaRPr lang="en-US" sz="2400" dirty="0"/>
          </a:p>
          <a:p>
            <a:endParaRPr lang="en-US" sz="2400" dirty="0">
              <a:latin typeface="Arial Unicode MS" pitchFamily="34" charset="-128"/>
              <a:ea typeface="Arial Unicode MS" pitchFamily="34" charset="-128"/>
            </a:endParaRPr>
          </a:p>
          <a:p>
            <a:endParaRPr lang="en-US" sz="2400" dirty="0">
              <a:latin typeface="Arial Unicode MS" pitchFamily="34" charset="-128"/>
              <a:ea typeface="Arial Unicode MS" pitchFamily="34" charset="-128"/>
            </a:endParaRPr>
          </a:p>
        </p:txBody>
      </p:sp>
      <p:pic>
        <p:nvPicPr>
          <p:cNvPr id="21507" name="Picture 4"/>
          <p:cNvPicPr>
            <a:picLocks noChangeAspect="1"/>
          </p:cNvPicPr>
          <p:nvPr/>
        </p:nvPicPr>
        <p:blipFill>
          <a:blip r:embed="rId1"/>
          <a:stretch>
            <a:fillRect/>
          </a:stretch>
        </p:blipFill>
        <p:spPr>
          <a:xfrm>
            <a:off x="2286000" y="3657600"/>
            <a:ext cx="4171950" cy="2343150"/>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Title 1"/>
          <p:cNvSpPr>
            <a:spLocks noGrp="1"/>
          </p:cNvSpPr>
          <p:nvPr>
            <p:ph type="title"/>
          </p:nvPr>
        </p:nvSpPr>
        <p:spPr>
          <a:ln/>
        </p:spPr>
        <p:txBody>
          <a:bodyPr vert="horz" wrap="square" lIns="91440" tIns="45720" rIns="91440" bIns="45720" anchor="ctr" anchorCtr="0"/>
          <a:p>
            <a:pPr>
              <a:buNone/>
            </a:pPr>
            <a:r>
              <a:rPr lang="en-US" dirty="0"/>
              <a:t>DFS</a:t>
            </a:r>
            <a:endParaRPr lang="en-US" dirty="0"/>
          </a:p>
        </p:txBody>
      </p:sp>
      <p:sp>
        <p:nvSpPr>
          <p:cNvPr id="22530" name="Content Placeholder 2"/>
          <p:cNvSpPr>
            <a:spLocks noGrp="1"/>
          </p:cNvSpPr>
          <p:nvPr>
            <p:ph idx="1"/>
          </p:nvPr>
        </p:nvSpPr>
        <p:spPr>
          <a:ln/>
        </p:spPr>
        <p:txBody>
          <a:bodyPr vert="horz" wrap="square" lIns="91440" tIns="45720" rIns="91440" bIns="45720" anchor="t" anchorCtr="0"/>
          <a:p>
            <a:r>
              <a:rPr lang="en-US" sz="2400" dirty="0"/>
              <a:t>Expand the </a:t>
            </a:r>
            <a:r>
              <a:rPr lang="en-US" sz="2400" b="1" i="1" u="sng" dirty="0"/>
              <a:t>deepest</a:t>
            </a:r>
            <a:r>
              <a:rPr lang="en-US" sz="2400" dirty="0"/>
              <a:t> unexpanded node</a:t>
            </a:r>
            <a:endParaRPr lang="en-US" sz="2400" dirty="0"/>
          </a:p>
          <a:p>
            <a:endParaRPr lang="en-US" sz="2400" dirty="0"/>
          </a:p>
          <a:p>
            <a:r>
              <a:rPr lang="en-US" sz="2400" dirty="0"/>
              <a:t>Unexplored successors are placed on a stack until fully explored</a:t>
            </a:r>
            <a:endParaRPr lang="en-US" sz="2400" dirty="0"/>
          </a:p>
          <a:p>
            <a:endParaRPr lang="en-US" sz="2400" dirty="0">
              <a:latin typeface="Arial Unicode MS" pitchFamily="34" charset="-128"/>
              <a:ea typeface="Arial Unicode MS" pitchFamily="34" charset="-128"/>
            </a:endParaRPr>
          </a:p>
          <a:p>
            <a:endParaRPr lang="en-US" sz="2400" dirty="0">
              <a:latin typeface="Arial Unicode MS" pitchFamily="34" charset="-128"/>
              <a:ea typeface="Arial Unicode MS" pitchFamily="34" charset="-128"/>
            </a:endParaRPr>
          </a:p>
        </p:txBody>
      </p:sp>
      <p:pic>
        <p:nvPicPr>
          <p:cNvPr id="22531" name="Picture 4"/>
          <p:cNvPicPr>
            <a:picLocks noChangeAspect="1"/>
          </p:cNvPicPr>
          <p:nvPr/>
        </p:nvPicPr>
        <p:blipFill>
          <a:blip r:embed="rId1"/>
          <a:stretch>
            <a:fillRect/>
          </a:stretch>
        </p:blipFill>
        <p:spPr>
          <a:xfrm>
            <a:off x="2286000" y="3581400"/>
            <a:ext cx="4124325" cy="2428875"/>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Title 1"/>
          <p:cNvSpPr>
            <a:spLocks noGrp="1"/>
          </p:cNvSpPr>
          <p:nvPr>
            <p:ph type="title"/>
          </p:nvPr>
        </p:nvSpPr>
        <p:spPr>
          <a:ln/>
        </p:spPr>
        <p:txBody>
          <a:bodyPr vert="horz" wrap="square" lIns="91440" tIns="45720" rIns="91440" bIns="45720" anchor="ctr" anchorCtr="0"/>
          <a:p>
            <a:pPr>
              <a:buNone/>
            </a:pPr>
            <a:r>
              <a:rPr lang="en-US" dirty="0"/>
              <a:t>DFS</a:t>
            </a:r>
            <a:endParaRPr lang="en-US" dirty="0"/>
          </a:p>
        </p:txBody>
      </p:sp>
      <p:sp>
        <p:nvSpPr>
          <p:cNvPr id="23554" name="Content Placeholder 2"/>
          <p:cNvSpPr>
            <a:spLocks noGrp="1"/>
          </p:cNvSpPr>
          <p:nvPr>
            <p:ph idx="1"/>
          </p:nvPr>
        </p:nvSpPr>
        <p:spPr>
          <a:ln/>
        </p:spPr>
        <p:txBody>
          <a:bodyPr vert="horz" wrap="square" lIns="91440" tIns="45720" rIns="91440" bIns="45720" anchor="t" anchorCtr="0"/>
          <a:p>
            <a:r>
              <a:rPr lang="en-US" sz="2400" dirty="0"/>
              <a:t>Expand the </a:t>
            </a:r>
            <a:r>
              <a:rPr lang="en-US" sz="2400" b="1" i="1" u="sng" dirty="0"/>
              <a:t>deepest</a:t>
            </a:r>
            <a:r>
              <a:rPr lang="en-US" sz="2400" dirty="0"/>
              <a:t> unexpanded node</a:t>
            </a:r>
            <a:endParaRPr lang="en-US" sz="2400" dirty="0"/>
          </a:p>
          <a:p>
            <a:endParaRPr lang="en-US" sz="2400" dirty="0"/>
          </a:p>
          <a:p>
            <a:r>
              <a:rPr lang="en-US" sz="2400" dirty="0"/>
              <a:t>Unexplored successors are placed on a stack until fully explored</a:t>
            </a:r>
            <a:endParaRPr lang="en-US" sz="2400" dirty="0"/>
          </a:p>
          <a:p>
            <a:endParaRPr lang="en-US" sz="2400" dirty="0">
              <a:latin typeface="Arial Unicode MS" pitchFamily="34" charset="-128"/>
              <a:ea typeface="Arial Unicode MS" pitchFamily="34" charset="-128"/>
            </a:endParaRPr>
          </a:p>
          <a:p>
            <a:endParaRPr lang="en-US" sz="2400" dirty="0">
              <a:latin typeface="Arial Unicode MS" pitchFamily="34" charset="-128"/>
              <a:ea typeface="Arial Unicode MS" pitchFamily="34" charset="-128"/>
            </a:endParaRPr>
          </a:p>
        </p:txBody>
      </p:sp>
      <p:pic>
        <p:nvPicPr>
          <p:cNvPr id="23555" name="Picture 4"/>
          <p:cNvPicPr>
            <a:picLocks noChangeAspect="1"/>
          </p:cNvPicPr>
          <p:nvPr/>
        </p:nvPicPr>
        <p:blipFill>
          <a:blip r:embed="rId1"/>
          <a:stretch>
            <a:fillRect/>
          </a:stretch>
        </p:blipFill>
        <p:spPr>
          <a:xfrm>
            <a:off x="2500313" y="3505200"/>
            <a:ext cx="4143375" cy="2381250"/>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Title 1"/>
          <p:cNvSpPr>
            <a:spLocks noGrp="1"/>
          </p:cNvSpPr>
          <p:nvPr>
            <p:ph type="title"/>
          </p:nvPr>
        </p:nvSpPr>
        <p:spPr>
          <a:ln/>
        </p:spPr>
        <p:txBody>
          <a:bodyPr vert="horz" wrap="square" lIns="91440" tIns="45720" rIns="91440" bIns="45720" anchor="ctr" anchorCtr="0"/>
          <a:p>
            <a:pPr>
              <a:buNone/>
            </a:pPr>
            <a:r>
              <a:rPr lang="en-US" dirty="0"/>
              <a:t>DFS</a:t>
            </a:r>
            <a:endParaRPr lang="en-US" dirty="0"/>
          </a:p>
        </p:txBody>
      </p:sp>
      <p:sp>
        <p:nvSpPr>
          <p:cNvPr id="24578" name="Content Placeholder 2"/>
          <p:cNvSpPr>
            <a:spLocks noGrp="1"/>
          </p:cNvSpPr>
          <p:nvPr>
            <p:ph idx="1"/>
          </p:nvPr>
        </p:nvSpPr>
        <p:spPr>
          <a:ln/>
        </p:spPr>
        <p:txBody>
          <a:bodyPr vert="horz" wrap="square" lIns="91440" tIns="45720" rIns="91440" bIns="45720" anchor="t" anchorCtr="0"/>
          <a:p>
            <a:r>
              <a:rPr lang="en-US" sz="2400" dirty="0"/>
              <a:t>Expand the </a:t>
            </a:r>
            <a:r>
              <a:rPr lang="en-US" sz="2400" b="1" i="1" u="sng" dirty="0"/>
              <a:t>deepest</a:t>
            </a:r>
            <a:r>
              <a:rPr lang="en-US" sz="2400" dirty="0"/>
              <a:t> unexpanded node</a:t>
            </a:r>
            <a:endParaRPr lang="en-US" sz="2400" dirty="0"/>
          </a:p>
          <a:p>
            <a:endParaRPr lang="en-US" sz="2400" dirty="0"/>
          </a:p>
          <a:p>
            <a:r>
              <a:rPr lang="en-US" sz="2400" dirty="0"/>
              <a:t>Unexplored successors are placed on a stack until fully explored</a:t>
            </a:r>
            <a:endParaRPr lang="en-US" sz="2400" dirty="0"/>
          </a:p>
          <a:p>
            <a:endParaRPr lang="en-US" sz="2400" dirty="0">
              <a:latin typeface="Arial Unicode MS" pitchFamily="34" charset="-128"/>
              <a:ea typeface="Arial Unicode MS" pitchFamily="34" charset="-128"/>
            </a:endParaRPr>
          </a:p>
          <a:p>
            <a:endParaRPr lang="en-US" sz="2400" dirty="0">
              <a:latin typeface="Arial Unicode MS" pitchFamily="34" charset="-128"/>
              <a:ea typeface="Arial Unicode MS" pitchFamily="34" charset="-128"/>
            </a:endParaRPr>
          </a:p>
        </p:txBody>
      </p:sp>
      <p:pic>
        <p:nvPicPr>
          <p:cNvPr id="24579" name="Picture 3"/>
          <p:cNvPicPr>
            <a:picLocks noChangeAspect="1"/>
          </p:cNvPicPr>
          <p:nvPr/>
        </p:nvPicPr>
        <p:blipFill>
          <a:blip r:embed="rId1"/>
          <a:stretch>
            <a:fillRect/>
          </a:stretch>
        </p:blipFill>
        <p:spPr>
          <a:xfrm>
            <a:off x="2490788" y="3451225"/>
            <a:ext cx="4162425" cy="2390775"/>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Title 1"/>
          <p:cNvSpPr>
            <a:spLocks noGrp="1"/>
          </p:cNvSpPr>
          <p:nvPr>
            <p:ph type="title"/>
          </p:nvPr>
        </p:nvSpPr>
        <p:spPr>
          <a:ln/>
        </p:spPr>
        <p:txBody>
          <a:bodyPr vert="horz" wrap="square" lIns="91440" tIns="45720" rIns="91440" bIns="45720" anchor="ctr" anchorCtr="0"/>
          <a:p>
            <a:pPr>
              <a:buNone/>
            </a:pPr>
            <a:r>
              <a:rPr lang="en-US" dirty="0"/>
              <a:t>DFS</a:t>
            </a:r>
            <a:endParaRPr lang="en-US" dirty="0"/>
          </a:p>
        </p:txBody>
      </p:sp>
      <p:sp>
        <p:nvSpPr>
          <p:cNvPr id="25602" name="Content Placeholder 2"/>
          <p:cNvSpPr>
            <a:spLocks noGrp="1"/>
          </p:cNvSpPr>
          <p:nvPr>
            <p:ph idx="1"/>
          </p:nvPr>
        </p:nvSpPr>
        <p:spPr>
          <a:ln/>
        </p:spPr>
        <p:txBody>
          <a:bodyPr vert="horz" wrap="square" lIns="91440" tIns="45720" rIns="91440" bIns="45720" anchor="t" anchorCtr="0"/>
          <a:p>
            <a:r>
              <a:rPr lang="en-US" sz="2400" dirty="0"/>
              <a:t>Expand the </a:t>
            </a:r>
            <a:r>
              <a:rPr lang="en-US" sz="2400" b="1" i="1" u="sng" dirty="0"/>
              <a:t>deepest</a:t>
            </a:r>
            <a:r>
              <a:rPr lang="en-US" sz="2400" dirty="0"/>
              <a:t> unexpanded node</a:t>
            </a:r>
            <a:endParaRPr lang="en-US" sz="2400" dirty="0"/>
          </a:p>
          <a:p>
            <a:endParaRPr lang="en-US" sz="2400" dirty="0"/>
          </a:p>
          <a:p>
            <a:r>
              <a:rPr lang="en-US" sz="2400" dirty="0"/>
              <a:t>Unexplored successors are placed on a stack until fully explored</a:t>
            </a:r>
            <a:endParaRPr lang="en-US" sz="2400" dirty="0"/>
          </a:p>
          <a:p>
            <a:endParaRPr lang="en-US" sz="2400" dirty="0">
              <a:latin typeface="Arial Unicode MS" pitchFamily="34" charset="-128"/>
              <a:ea typeface="Arial Unicode MS" pitchFamily="34" charset="-128"/>
            </a:endParaRPr>
          </a:p>
          <a:p>
            <a:endParaRPr lang="en-US" sz="2400" dirty="0">
              <a:latin typeface="Arial Unicode MS" pitchFamily="34" charset="-128"/>
              <a:ea typeface="Arial Unicode MS" pitchFamily="34" charset="-128"/>
            </a:endParaRPr>
          </a:p>
        </p:txBody>
      </p:sp>
      <p:pic>
        <p:nvPicPr>
          <p:cNvPr id="25603" name="Picture 4"/>
          <p:cNvPicPr>
            <a:picLocks noChangeAspect="1"/>
          </p:cNvPicPr>
          <p:nvPr/>
        </p:nvPicPr>
        <p:blipFill>
          <a:blip r:embed="rId1"/>
          <a:stretch>
            <a:fillRect/>
          </a:stretch>
        </p:blipFill>
        <p:spPr>
          <a:xfrm>
            <a:off x="2482850" y="3429000"/>
            <a:ext cx="4124325" cy="2390775"/>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Title 1"/>
          <p:cNvSpPr>
            <a:spLocks noGrp="1"/>
          </p:cNvSpPr>
          <p:nvPr>
            <p:ph type="title"/>
          </p:nvPr>
        </p:nvSpPr>
        <p:spPr>
          <a:ln/>
        </p:spPr>
        <p:txBody>
          <a:bodyPr vert="horz" wrap="square" lIns="91440" tIns="45720" rIns="91440" bIns="45720" anchor="ctr" anchorCtr="0"/>
          <a:p>
            <a:pPr>
              <a:buNone/>
            </a:pPr>
            <a:r>
              <a:rPr lang="en-US" dirty="0"/>
              <a:t>DFS</a:t>
            </a:r>
            <a:endParaRPr lang="en-US" dirty="0"/>
          </a:p>
        </p:txBody>
      </p:sp>
      <p:sp>
        <p:nvSpPr>
          <p:cNvPr id="26626" name="Content Placeholder 2"/>
          <p:cNvSpPr>
            <a:spLocks noGrp="1"/>
          </p:cNvSpPr>
          <p:nvPr>
            <p:ph idx="1"/>
          </p:nvPr>
        </p:nvSpPr>
        <p:spPr>
          <a:ln/>
        </p:spPr>
        <p:txBody>
          <a:bodyPr vert="horz" wrap="square" lIns="91440" tIns="45720" rIns="91440" bIns="45720" anchor="t" anchorCtr="0"/>
          <a:p>
            <a:r>
              <a:rPr lang="en-US" sz="2400" dirty="0"/>
              <a:t>Expand the </a:t>
            </a:r>
            <a:r>
              <a:rPr lang="en-US" sz="2400" b="1" i="1" u="sng" dirty="0"/>
              <a:t>deepest</a:t>
            </a:r>
            <a:r>
              <a:rPr lang="en-US" sz="2400" dirty="0"/>
              <a:t> unexpanded node</a:t>
            </a:r>
            <a:endParaRPr lang="en-US" sz="2400" dirty="0"/>
          </a:p>
          <a:p>
            <a:endParaRPr lang="en-US" sz="2400" dirty="0"/>
          </a:p>
          <a:p>
            <a:r>
              <a:rPr lang="en-US" sz="2400" dirty="0"/>
              <a:t>Unexplored successors are placed on a stack until fully explored</a:t>
            </a:r>
            <a:endParaRPr lang="en-US" sz="2400" dirty="0"/>
          </a:p>
          <a:p>
            <a:endParaRPr lang="en-US" sz="2400" dirty="0">
              <a:latin typeface="Arial Unicode MS" pitchFamily="34" charset="-128"/>
              <a:ea typeface="Arial Unicode MS" pitchFamily="34" charset="-128"/>
            </a:endParaRPr>
          </a:p>
          <a:p>
            <a:endParaRPr lang="en-US" sz="2400" dirty="0">
              <a:latin typeface="Arial Unicode MS" pitchFamily="34" charset="-128"/>
              <a:ea typeface="Arial Unicode MS" pitchFamily="34" charset="-128"/>
            </a:endParaRPr>
          </a:p>
        </p:txBody>
      </p:sp>
      <p:pic>
        <p:nvPicPr>
          <p:cNvPr id="26627" name="Picture 4"/>
          <p:cNvPicPr>
            <a:picLocks noChangeAspect="1"/>
          </p:cNvPicPr>
          <p:nvPr/>
        </p:nvPicPr>
        <p:blipFill>
          <a:blip r:embed="rId1"/>
          <a:stretch>
            <a:fillRect/>
          </a:stretch>
        </p:blipFill>
        <p:spPr>
          <a:xfrm>
            <a:off x="2505075" y="3429000"/>
            <a:ext cx="4133850" cy="2400300"/>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Title 1"/>
          <p:cNvSpPr>
            <a:spLocks noGrp="1"/>
          </p:cNvSpPr>
          <p:nvPr>
            <p:ph type="title"/>
          </p:nvPr>
        </p:nvSpPr>
        <p:spPr>
          <a:ln/>
        </p:spPr>
        <p:txBody>
          <a:bodyPr vert="horz" wrap="square" lIns="91440" tIns="45720" rIns="91440" bIns="45720" anchor="ctr" anchorCtr="0"/>
          <a:p>
            <a:pPr>
              <a:buNone/>
            </a:pPr>
            <a:r>
              <a:rPr lang="en-US" dirty="0"/>
              <a:t>DFS</a:t>
            </a:r>
            <a:endParaRPr lang="en-US" dirty="0"/>
          </a:p>
        </p:txBody>
      </p:sp>
      <p:sp>
        <p:nvSpPr>
          <p:cNvPr id="27650" name="Content Placeholder 2"/>
          <p:cNvSpPr>
            <a:spLocks noGrp="1"/>
          </p:cNvSpPr>
          <p:nvPr>
            <p:ph idx="1"/>
          </p:nvPr>
        </p:nvSpPr>
        <p:spPr>
          <a:ln/>
        </p:spPr>
        <p:txBody>
          <a:bodyPr vert="horz" wrap="square" lIns="91440" tIns="45720" rIns="91440" bIns="45720" anchor="t" anchorCtr="0"/>
          <a:p>
            <a:r>
              <a:rPr lang="en-US" sz="2400" dirty="0"/>
              <a:t>Expand the </a:t>
            </a:r>
            <a:r>
              <a:rPr lang="en-US" sz="2400" b="1" i="1" u="sng" dirty="0"/>
              <a:t>deepest</a:t>
            </a:r>
            <a:r>
              <a:rPr lang="en-US" sz="2400" dirty="0"/>
              <a:t> unexpanded node</a:t>
            </a:r>
            <a:endParaRPr lang="en-US" sz="2400" dirty="0"/>
          </a:p>
          <a:p>
            <a:endParaRPr lang="en-US" sz="2400" dirty="0"/>
          </a:p>
          <a:p>
            <a:r>
              <a:rPr lang="en-US" sz="2400" dirty="0"/>
              <a:t>Unexplored successors are placed on a stack until fully explored</a:t>
            </a:r>
            <a:endParaRPr lang="en-US" sz="2400" dirty="0"/>
          </a:p>
          <a:p>
            <a:endParaRPr lang="en-US" sz="2400" dirty="0">
              <a:latin typeface="Arial Unicode MS" pitchFamily="34" charset="-128"/>
              <a:ea typeface="Arial Unicode MS" pitchFamily="34" charset="-128"/>
            </a:endParaRPr>
          </a:p>
          <a:p>
            <a:endParaRPr lang="en-US" sz="2400" dirty="0">
              <a:latin typeface="Arial Unicode MS" pitchFamily="34" charset="-128"/>
              <a:ea typeface="Arial Unicode MS" pitchFamily="34" charset="-128"/>
            </a:endParaRPr>
          </a:p>
        </p:txBody>
      </p:sp>
      <p:pic>
        <p:nvPicPr>
          <p:cNvPr id="27651" name="Picture 4"/>
          <p:cNvPicPr>
            <a:picLocks noChangeAspect="1"/>
          </p:cNvPicPr>
          <p:nvPr/>
        </p:nvPicPr>
        <p:blipFill>
          <a:blip r:embed="rId1"/>
          <a:stretch>
            <a:fillRect/>
          </a:stretch>
        </p:blipFill>
        <p:spPr>
          <a:xfrm>
            <a:off x="2505075" y="3581400"/>
            <a:ext cx="4133850" cy="2381250"/>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Title 1"/>
          <p:cNvSpPr>
            <a:spLocks noGrp="1"/>
          </p:cNvSpPr>
          <p:nvPr>
            <p:ph type="title"/>
          </p:nvPr>
        </p:nvSpPr>
        <p:spPr>
          <a:ln/>
        </p:spPr>
        <p:txBody>
          <a:bodyPr vert="horz" wrap="square" lIns="91440" tIns="45720" rIns="91440" bIns="45720" anchor="ctr" anchorCtr="0"/>
          <a:p>
            <a:pPr>
              <a:buNone/>
            </a:pPr>
            <a:r>
              <a:rPr lang="en-US" dirty="0"/>
              <a:t>DFS</a:t>
            </a:r>
            <a:endParaRPr lang="en-US" dirty="0"/>
          </a:p>
        </p:txBody>
      </p:sp>
      <p:sp>
        <p:nvSpPr>
          <p:cNvPr id="28674" name="Content Placeholder 2"/>
          <p:cNvSpPr>
            <a:spLocks noGrp="1"/>
          </p:cNvSpPr>
          <p:nvPr>
            <p:ph idx="1"/>
          </p:nvPr>
        </p:nvSpPr>
        <p:spPr>
          <a:ln/>
        </p:spPr>
        <p:txBody>
          <a:bodyPr vert="horz" wrap="square" lIns="91440" tIns="45720" rIns="91440" bIns="45720" anchor="t" anchorCtr="0"/>
          <a:p>
            <a:r>
              <a:rPr lang="en-US" sz="2400" dirty="0"/>
              <a:t>Expand the </a:t>
            </a:r>
            <a:r>
              <a:rPr lang="en-US" sz="2400" b="1" i="1" u="sng" dirty="0"/>
              <a:t>deepest</a:t>
            </a:r>
            <a:r>
              <a:rPr lang="en-US" sz="2400" dirty="0"/>
              <a:t> unexpanded node</a:t>
            </a:r>
            <a:endParaRPr lang="en-US" sz="2400" dirty="0"/>
          </a:p>
          <a:p>
            <a:endParaRPr lang="en-US" sz="2400" dirty="0"/>
          </a:p>
          <a:p>
            <a:r>
              <a:rPr lang="en-US" sz="2400" dirty="0"/>
              <a:t>Unexplored successors are placed on a stack until fully explored</a:t>
            </a:r>
            <a:endParaRPr lang="en-US" sz="2400" dirty="0"/>
          </a:p>
          <a:p>
            <a:endParaRPr lang="en-US" sz="2400" dirty="0">
              <a:latin typeface="Arial Unicode MS" pitchFamily="34" charset="-128"/>
              <a:ea typeface="Arial Unicode MS" pitchFamily="34" charset="-128"/>
            </a:endParaRPr>
          </a:p>
          <a:p>
            <a:endParaRPr lang="en-US" sz="2400" dirty="0">
              <a:latin typeface="Arial Unicode MS" pitchFamily="34" charset="-128"/>
              <a:ea typeface="Arial Unicode MS" pitchFamily="34" charset="-128"/>
            </a:endParaRPr>
          </a:p>
        </p:txBody>
      </p:sp>
      <p:pic>
        <p:nvPicPr>
          <p:cNvPr id="28675" name="Picture 4"/>
          <p:cNvPicPr>
            <a:picLocks noChangeAspect="1"/>
          </p:cNvPicPr>
          <p:nvPr/>
        </p:nvPicPr>
        <p:blipFill>
          <a:blip r:embed="rId1"/>
          <a:stretch>
            <a:fillRect/>
          </a:stretch>
        </p:blipFill>
        <p:spPr>
          <a:xfrm>
            <a:off x="2528888" y="3733800"/>
            <a:ext cx="4086225" cy="2381250"/>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Title 1"/>
          <p:cNvSpPr>
            <a:spLocks noGrp="1"/>
          </p:cNvSpPr>
          <p:nvPr>
            <p:ph type="title"/>
          </p:nvPr>
        </p:nvSpPr>
        <p:spPr>
          <a:ln/>
        </p:spPr>
        <p:txBody>
          <a:bodyPr vert="horz" wrap="square" lIns="91440" tIns="45720" rIns="91440" bIns="45720" anchor="ctr" anchorCtr="0"/>
          <a:p>
            <a:pPr>
              <a:buNone/>
            </a:pPr>
            <a:r>
              <a:rPr lang="en-US" dirty="0"/>
              <a:t>DFS</a:t>
            </a:r>
            <a:endParaRPr lang="en-US" dirty="0"/>
          </a:p>
        </p:txBody>
      </p:sp>
      <p:sp>
        <p:nvSpPr>
          <p:cNvPr id="29698" name="Content Placeholder 2"/>
          <p:cNvSpPr>
            <a:spLocks noGrp="1"/>
          </p:cNvSpPr>
          <p:nvPr>
            <p:ph idx="1"/>
          </p:nvPr>
        </p:nvSpPr>
        <p:spPr>
          <a:ln/>
        </p:spPr>
        <p:txBody>
          <a:bodyPr vert="horz" wrap="square" lIns="91440" tIns="45720" rIns="91440" bIns="45720" anchor="t" anchorCtr="0"/>
          <a:p>
            <a:r>
              <a:rPr lang="en-US" sz="2400" dirty="0"/>
              <a:t>Expand the </a:t>
            </a:r>
            <a:r>
              <a:rPr lang="en-US" sz="2400" b="1" i="1" u="sng" dirty="0"/>
              <a:t>deepest</a:t>
            </a:r>
            <a:r>
              <a:rPr lang="en-US" sz="2400" dirty="0"/>
              <a:t> unexpanded node</a:t>
            </a:r>
            <a:endParaRPr lang="en-US" sz="2400" dirty="0"/>
          </a:p>
          <a:p>
            <a:endParaRPr lang="en-US" sz="2400" dirty="0"/>
          </a:p>
          <a:p>
            <a:r>
              <a:rPr lang="en-US" sz="2400" dirty="0"/>
              <a:t>Unexplored successors are placed on a stack until fully explored</a:t>
            </a:r>
            <a:endParaRPr lang="en-US" sz="2400" dirty="0"/>
          </a:p>
          <a:p>
            <a:endParaRPr lang="en-US" sz="2400" dirty="0">
              <a:latin typeface="Arial Unicode MS" pitchFamily="34" charset="-128"/>
              <a:ea typeface="Arial Unicode MS" pitchFamily="34" charset="-128"/>
            </a:endParaRPr>
          </a:p>
          <a:p>
            <a:endParaRPr lang="en-US" sz="2400" dirty="0">
              <a:latin typeface="Arial Unicode MS" pitchFamily="34" charset="-128"/>
              <a:ea typeface="Arial Unicode MS" pitchFamily="34" charset="-128"/>
            </a:endParaRPr>
          </a:p>
        </p:txBody>
      </p:sp>
      <p:pic>
        <p:nvPicPr>
          <p:cNvPr id="29699" name="Picture 4"/>
          <p:cNvPicPr>
            <a:picLocks noChangeAspect="1"/>
          </p:cNvPicPr>
          <p:nvPr/>
        </p:nvPicPr>
        <p:blipFill>
          <a:blip r:embed="rId1"/>
          <a:stretch>
            <a:fillRect/>
          </a:stretch>
        </p:blipFill>
        <p:spPr>
          <a:xfrm>
            <a:off x="2476500" y="3048000"/>
            <a:ext cx="4191000" cy="2390775"/>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Title 1"/>
          <p:cNvSpPr>
            <a:spLocks noGrp="1"/>
          </p:cNvSpPr>
          <p:nvPr>
            <p:ph type="title"/>
          </p:nvPr>
        </p:nvSpPr>
        <p:spPr>
          <a:ln/>
        </p:spPr>
        <p:txBody>
          <a:bodyPr vert="horz" wrap="square" lIns="91440" tIns="45720" rIns="91440" bIns="45720" anchor="ctr" anchorCtr="0"/>
          <a:p>
            <a:pPr>
              <a:buNone/>
            </a:pPr>
            <a:r>
              <a:rPr lang="en-US" dirty="0"/>
              <a:t>DFS</a:t>
            </a:r>
            <a:endParaRPr lang="en-US" dirty="0"/>
          </a:p>
        </p:txBody>
      </p:sp>
      <p:sp>
        <p:nvSpPr>
          <p:cNvPr id="3" name="Content Placeholder 2"/>
          <p:cNvSpPr>
            <a:spLocks noGrp="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800" b="0" i="0" u="none" strike="noStrike" kern="0" cap="none" spc="0" normalizeH="0" baseline="0" noProof="0" dirty="0" smtClean="0">
                <a:ln>
                  <a:noFill/>
                </a:ln>
                <a:solidFill>
                  <a:schemeClr val="tx1"/>
                </a:solidFill>
                <a:effectLst/>
                <a:uLnTx/>
                <a:uFillTx/>
                <a:latin typeface="Arial Unicode MS" pitchFamily="34" charset="-128"/>
                <a:ea typeface="+mn-ea"/>
                <a:cs typeface="+mn-cs"/>
              </a:rPr>
              <a:t>When is DFS </a:t>
            </a:r>
            <a:r>
              <a:rPr kumimoji="0" lang="en-US" sz="2800" b="0" i="0" u="none" strike="noStrike" kern="0" cap="none" spc="0" normalizeH="0" baseline="0" noProof="0" dirty="0" smtClean="0">
                <a:ln>
                  <a:noFill/>
                </a:ln>
                <a:solidFill>
                  <a:schemeClr val="accent2"/>
                </a:solidFill>
                <a:effectLst/>
                <a:uLnTx/>
                <a:uFillTx/>
                <a:latin typeface="Arial Unicode MS" pitchFamily="34" charset="-128"/>
                <a:ea typeface="+mn-ea"/>
                <a:cs typeface="+mn-cs"/>
              </a:rPr>
              <a:t>appropriate</a:t>
            </a:r>
            <a:r>
              <a:rPr kumimoji="0" lang="en-US" sz="2800" b="0" i="0" u="none" strike="noStrike" kern="0" cap="none" spc="0" normalizeH="0" baseline="0" noProof="0" dirty="0" smtClean="0">
                <a:ln>
                  <a:noFill/>
                </a:ln>
                <a:solidFill>
                  <a:schemeClr val="tx1"/>
                </a:solidFill>
                <a:effectLst/>
                <a:uLnTx/>
                <a:uFillTx/>
                <a:latin typeface="Arial Unicode MS" pitchFamily="34" charset="-128"/>
                <a:ea typeface="+mn-ea"/>
                <a:cs typeface="+mn-cs"/>
              </a:rPr>
              <a:t>?</a:t>
            </a:r>
            <a:endParaRPr kumimoji="0" lang="en-US" sz="2800" b="0" i="0" u="none" strike="noStrike" kern="0" cap="none" spc="0" normalizeH="0" baseline="0" noProof="0" dirty="0" smtClean="0">
              <a:ln>
                <a:noFill/>
              </a:ln>
              <a:solidFill>
                <a:schemeClr val="tx1"/>
              </a:solidFill>
              <a:effectLst/>
              <a:uLnTx/>
              <a:uFillTx/>
              <a:latin typeface="Arial Unicode MS" pitchFamily="34" charset="-128"/>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tx1"/>
              </a:buClr>
              <a:buSzPct val="120000"/>
              <a:buFontTx/>
              <a:buChar char="•"/>
              <a:defRPr/>
            </a:pPr>
            <a:r>
              <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rPr>
              <a:t>Space is restricted (complex state representation e.g., robotics)</a:t>
            </a: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endParaRPr>
          </a:p>
          <a:p>
            <a:pPr marL="742950" marR="0" lvl="1" indent="-285750" algn="l" defTabSz="914400" rtl="0" eaLnBrk="0" fontAlgn="base" latinLnBrk="0" hangingPunct="0">
              <a:lnSpc>
                <a:spcPct val="100000"/>
              </a:lnSpc>
              <a:spcBef>
                <a:spcPct val="20000"/>
              </a:spcBef>
              <a:spcAft>
                <a:spcPct val="0"/>
              </a:spcAft>
              <a:buClr>
                <a:schemeClr val="tx1"/>
              </a:buClr>
              <a:buSzPct val="120000"/>
              <a:buFontTx/>
              <a:buChar char="•"/>
              <a:defRPr/>
            </a:pPr>
            <a:r>
              <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rPr>
              <a:t>There are many solutions, perhaps with long path lengths, particularly for the case in which all paths lead to a solution</a:t>
            </a: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endParaRPr>
          </a:p>
          <a:p>
            <a:pPr marL="457200" marR="0" lvl="1" indent="0" algn="l" defTabSz="914400" rtl="0" eaLnBrk="0" fontAlgn="base" latinLnBrk="0" hangingPunct="0">
              <a:lnSpc>
                <a:spcPct val="100000"/>
              </a:lnSpc>
              <a:spcBef>
                <a:spcPct val="20000"/>
              </a:spcBef>
              <a:spcAft>
                <a:spcPct val="0"/>
              </a:spcAft>
              <a:buClr>
                <a:schemeClr val="tx1"/>
              </a:buClr>
              <a:buSzPct val="120000"/>
              <a:buFontTx/>
              <a:buNone/>
              <a:defRPr/>
            </a:pP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800" b="0" i="0" u="none" strike="noStrike" kern="0" cap="none" spc="0" normalizeH="0" baseline="0" noProof="0" dirty="0" smtClean="0">
                <a:ln>
                  <a:noFill/>
                </a:ln>
                <a:solidFill>
                  <a:schemeClr val="tx1"/>
                </a:solidFill>
                <a:effectLst/>
                <a:uLnTx/>
                <a:uFillTx/>
                <a:latin typeface="Arial Unicode MS" pitchFamily="34" charset="-128"/>
                <a:ea typeface="+mn-ea"/>
                <a:cs typeface="+mn-cs"/>
              </a:rPr>
              <a:t>When is DFS </a:t>
            </a:r>
            <a:r>
              <a:rPr kumimoji="0" lang="en-US" sz="2800" b="0" i="0" u="none" strike="noStrike" kern="0" cap="none" spc="0" normalizeH="0" baseline="0" noProof="0" dirty="0" smtClean="0">
                <a:ln>
                  <a:noFill/>
                </a:ln>
                <a:solidFill>
                  <a:schemeClr val="accent2"/>
                </a:solidFill>
                <a:effectLst/>
                <a:uLnTx/>
                <a:uFillTx/>
                <a:latin typeface="Arial Unicode MS" pitchFamily="34" charset="-128"/>
                <a:ea typeface="+mn-ea"/>
                <a:cs typeface="+mn-cs"/>
              </a:rPr>
              <a:t>inappropriate</a:t>
            </a:r>
            <a:r>
              <a:rPr kumimoji="0" lang="en-US" sz="2800" b="0" i="0" u="none" strike="noStrike" kern="0" cap="none" spc="0" normalizeH="0" baseline="0" noProof="0" dirty="0" smtClean="0">
                <a:ln>
                  <a:noFill/>
                </a:ln>
                <a:solidFill>
                  <a:schemeClr val="tx1"/>
                </a:solidFill>
                <a:effectLst/>
                <a:uLnTx/>
                <a:uFillTx/>
                <a:latin typeface="Arial Unicode MS" pitchFamily="34" charset="-128"/>
                <a:ea typeface="+mn-ea"/>
                <a:cs typeface="+mn-cs"/>
              </a:rPr>
              <a:t>?</a:t>
            </a:r>
            <a:endParaRPr kumimoji="0" lang="en-US" sz="2800" b="0" i="0" u="none" strike="noStrike" kern="0" cap="none" spc="0" normalizeH="0" baseline="0" noProof="0" dirty="0" smtClean="0">
              <a:ln>
                <a:noFill/>
              </a:ln>
              <a:solidFill>
                <a:schemeClr val="tx1"/>
              </a:solidFill>
              <a:effectLst/>
              <a:uLnTx/>
              <a:uFillTx/>
              <a:latin typeface="Arial Unicode MS" pitchFamily="34" charset="-128"/>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tx1"/>
              </a:buClr>
              <a:buSzPct val="120000"/>
              <a:buFontTx/>
              <a:buChar char="•"/>
              <a:defRPr/>
            </a:pPr>
            <a:r>
              <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rPr>
              <a:t>Infinite / cycles</a:t>
            </a: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endParaRPr>
          </a:p>
          <a:p>
            <a:pPr marL="742950" marR="0" lvl="1" indent="-285750" algn="l" defTabSz="914400" rtl="0" eaLnBrk="0" fontAlgn="base" latinLnBrk="0" hangingPunct="0">
              <a:lnSpc>
                <a:spcPct val="100000"/>
              </a:lnSpc>
              <a:spcBef>
                <a:spcPct val="20000"/>
              </a:spcBef>
              <a:spcAft>
                <a:spcPct val="0"/>
              </a:spcAft>
              <a:buClr>
                <a:schemeClr val="tx1"/>
              </a:buClr>
              <a:buSzPct val="120000"/>
              <a:buFontTx/>
              <a:buChar char="•"/>
              <a:defRPr/>
            </a:pPr>
            <a:r>
              <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rPr>
              <a:t>There are shallow solutions</a:t>
            </a: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endParaRPr>
          </a:p>
          <a:p>
            <a:pPr marL="457200" marR="0" lvl="1" indent="0" algn="l" defTabSz="914400" rtl="0" eaLnBrk="0" fontAlgn="base" latinLnBrk="0" hangingPunct="0">
              <a:lnSpc>
                <a:spcPct val="100000"/>
              </a:lnSpc>
              <a:spcBef>
                <a:spcPct val="20000"/>
              </a:spcBef>
              <a:spcAft>
                <a:spcPct val="0"/>
              </a:spcAft>
              <a:buClr>
                <a:schemeClr val="tx1"/>
              </a:buClr>
              <a:buSzPct val="120000"/>
              <a:buFontTx/>
              <a:buNone/>
              <a:defRPr/>
            </a:pPr>
            <a:endParaRPr kumimoji="0" lang="en-US" sz="2000" b="0" i="0" u="none" strike="noStrike" kern="0" cap="none" spc="0" normalizeH="0" baseline="0" noProof="0" dirty="0" smtClean="0">
              <a:ln>
                <a:noFill/>
              </a:ln>
              <a:solidFill>
                <a:schemeClr val="tx1"/>
              </a:solidFill>
              <a:effectLst/>
              <a:uLnTx/>
              <a:uFillTx/>
              <a:latin typeface="Arial Unicode MS" pitchFamily="34" charset="-128"/>
              <a:ea typeface="Arial" panose="020B0604020202020204" pitchFamily="34" charset="0"/>
              <a:cs typeface="+mn-ea"/>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sz="28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Title 1"/>
          <p:cNvSpPr>
            <a:spLocks noGrp="1"/>
          </p:cNvSpPr>
          <p:nvPr>
            <p:ph type="title"/>
          </p:nvPr>
        </p:nvSpPr>
        <p:spPr>
          <a:ln/>
        </p:spPr>
        <p:txBody>
          <a:bodyPr vert="horz" wrap="square" lIns="91440" tIns="45720" rIns="91440" bIns="45720" anchor="ctr" anchorCtr="0"/>
          <a:p>
            <a:pPr>
              <a:buNone/>
            </a:pPr>
            <a:r>
              <a:rPr lang="en-US" sz="4000" dirty="0"/>
              <a:t>Properties of Depth-First Search           </a:t>
            </a:r>
            <a:br>
              <a:rPr lang="en-US" sz="4000" dirty="0"/>
            </a:br>
            <a:endParaRPr lang="en-US" sz="4000" dirty="0"/>
          </a:p>
        </p:txBody>
      </p:sp>
      <p:sp>
        <p:nvSpPr>
          <p:cNvPr id="31746" name="Content Placeholder 2"/>
          <p:cNvSpPr>
            <a:spLocks noGrp="1"/>
          </p:cNvSpPr>
          <p:nvPr>
            <p:ph idx="1"/>
          </p:nvPr>
        </p:nvSpPr>
        <p:spPr>
          <a:ln/>
        </p:spPr>
        <p:txBody>
          <a:bodyPr vert="horz" wrap="square" lIns="91440" tIns="45720" rIns="91440" bIns="45720" anchor="t" anchorCtr="0"/>
          <a:p>
            <a:pPr>
              <a:lnSpc>
                <a:spcPct val="90000"/>
              </a:lnSpc>
            </a:pPr>
            <a:r>
              <a:rPr lang="en-US" sz="2400" dirty="0">
                <a:latin typeface="Arial Unicode MS" pitchFamily="34" charset="-128"/>
                <a:ea typeface="Arial Unicode MS" pitchFamily="34" charset="-128"/>
              </a:rPr>
              <a:t>Complete</a:t>
            </a:r>
            <a:endParaRPr lang="en-US" sz="2400" dirty="0">
              <a:latin typeface="Arial Unicode MS" pitchFamily="34" charset="-128"/>
              <a:ea typeface="Arial Unicode MS" pitchFamily="34" charset="-128"/>
            </a:endParaRPr>
          </a:p>
          <a:p>
            <a:pPr lvl="1">
              <a:lnSpc>
                <a:spcPct val="80000"/>
              </a:lnSpc>
            </a:pPr>
            <a:r>
              <a:rPr lang="en-US" sz="2000" dirty="0"/>
              <a:t>No: fails in infinite-depth spaces, spaces with loops</a:t>
            </a:r>
            <a:endParaRPr lang="en-US" sz="2000" dirty="0"/>
          </a:p>
          <a:p>
            <a:pPr lvl="2">
              <a:lnSpc>
                <a:spcPct val="80000"/>
              </a:lnSpc>
            </a:pPr>
            <a:r>
              <a:rPr lang="en-US" sz="1800" dirty="0"/>
              <a:t>Modify to avoid repeated spaces along path</a:t>
            </a:r>
            <a:endParaRPr lang="en-US" sz="1800" dirty="0"/>
          </a:p>
          <a:p>
            <a:pPr lvl="1">
              <a:lnSpc>
                <a:spcPct val="80000"/>
              </a:lnSpc>
            </a:pPr>
            <a:r>
              <a:rPr lang="en-US" sz="2000" dirty="0"/>
              <a:t>Yes: in finite spaces</a:t>
            </a:r>
            <a:endParaRPr lang="en-US" sz="2000" dirty="0"/>
          </a:p>
          <a:p>
            <a:pPr>
              <a:lnSpc>
                <a:spcPct val="90000"/>
              </a:lnSpc>
            </a:pPr>
            <a:r>
              <a:rPr lang="en-US" sz="2400" dirty="0">
                <a:latin typeface="Arial Unicode MS" pitchFamily="34" charset="-128"/>
                <a:ea typeface="Arial Unicode MS" pitchFamily="34" charset="-128"/>
              </a:rPr>
              <a:t>Time</a:t>
            </a:r>
            <a:endParaRPr lang="en-US" sz="2400" dirty="0">
              <a:latin typeface="Arial Unicode MS" pitchFamily="34" charset="-128"/>
              <a:ea typeface="Arial Unicode MS" pitchFamily="34" charset="-128"/>
            </a:endParaRPr>
          </a:p>
          <a:p>
            <a:pPr lvl="1">
              <a:lnSpc>
                <a:spcPct val="80000"/>
              </a:lnSpc>
            </a:pPr>
            <a:r>
              <a:rPr lang="en-US" sz="2000" dirty="0"/>
              <a:t>O(b</a:t>
            </a:r>
            <a:r>
              <a:rPr lang="en-US" sz="2000" baseline="30000" dirty="0"/>
              <a:t>m</a:t>
            </a:r>
            <a:r>
              <a:rPr lang="en-US" sz="2000" dirty="0"/>
              <a:t>)</a:t>
            </a:r>
            <a:endParaRPr lang="en-US" sz="2000" dirty="0"/>
          </a:p>
          <a:p>
            <a:pPr lvl="1">
              <a:lnSpc>
                <a:spcPct val="80000"/>
              </a:lnSpc>
            </a:pPr>
            <a:r>
              <a:rPr lang="en-US" sz="2000" dirty="0"/>
              <a:t>Not great if m is much larger than d</a:t>
            </a:r>
            <a:endParaRPr lang="en-US" sz="2000" dirty="0"/>
          </a:p>
          <a:p>
            <a:pPr lvl="1">
              <a:lnSpc>
                <a:spcPct val="80000"/>
              </a:lnSpc>
            </a:pPr>
            <a:r>
              <a:rPr lang="en-US" sz="2000" dirty="0"/>
              <a:t>But if the solutions are dense, this may be faster than breadth-first search</a:t>
            </a:r>
            <a:endParaRPr lang="en-US" sz="2000" dirty="0"/>
          </a:p>
          <a:p>
            <a:pPr>
              <a:lnSpc>
                <a:spcPct val="90000"/>
              </a:lnSpc>
            </a:pPr>
            <a:r>
              <a:rPr lang="en-US" sz="2400" dirty="0">
                <a:latin typeface="Arial Unicode MS" pitchFamily="34" charset="-128"/>
                <a:ea typeface="Arial Unicode MS" pitchFamily="34" charset="-128"/>
              </a:rPr>
              <a:t>Space</a:t>
            </a:r>
            <a:endParaRPr lang="en-US" sz="2400" dirty="0">
              <a:latin typeface="Arial Unicode MS" pitchFamily="34" charset="-128"/>
              <a:ea typeface="Arial Unicode MS" pitchFamily="34" charset="-128"/>
            </a:endParaRPr>
          </a:p>
          <a:p>
            <a:pPr lvl="1">
              <a:lnSpc>
                <a:spcPct val="80000"/>
              </a:lnSpc>
            </a:pPr>
            <a:r>
              <a:rPr lang="en-US" sz="2000" dirty="0"/>
              <a:t>O(bm)…linear space</a:t>
            </a:r>
            <a:endParaRPr lang="en-US" sz="2000" dirty="0"/>
          </a:p>
          <a:p>
            <a:pPr>
              <a:lnSpc>
                <a:spcPct val="90000"/>
              </a:lnSpc>
            </a:pPr>
            <a:r>
              <a:rPr lang="en-US" sz="2400" dirty="0">
                <a:latin typeface="Arial Unicode MS" pitchFamily="34" charset="-128"/>
                <a:ea typeface="Arial Unicode MS" pitchFamily="34" charset="-128"/>
              </a:rPr>
              <a:t>Optimal</a:t>
            </a:r>
            <a:endParaRPr lang="en-US" sz="2400" dirty="0">
              <a:latin typeface="Arial Unicode MS" pitchFamily="34" charset="-128"/>
              <a:ea typeface="Arial Unicode MS" pitchFamily="34" charset="-128"/>
            </a:endParaRPr>
          </a:p>
          <a:p>
            <a:pPr lvl="1">
              <a:lnSpc>
                <a:spcPct val="90000"/>
              </a:lnSpc>
            </a:pPr>
            <a:r>
              <a:rPr lang="en-US" sz="2000" dirty="0">
                <a:latin typeface="Arial Unicode MS" pitchFamily="34" charset="-128"/>
                <a:ea typeface="Arial Unicode MS" pitchFamily="34" charset="-128"/>
              </a:rPr>
              <a:t>No</a:t>
            </a:r>
            <a:endParaRPr lang="en-US" sz="2000" dirty="0">
              <a:latin typeface="Arial Unicode MS" pitchFamily="34" charset="-128"/>
              <a:ea typeface="Arial Unicode MS" pitchFamily="34" charset="-128"/>
            </a:endParaRPr>
          </a:p>
          <a:p>
            <a:endParaRPr lang="en-US" dirty="0">
              <a:latin typeface="Arial Unicode MS" pitchFamily="34" charset="-128"/>
              <a:ea typeface="Arial Unicode MS" pitchFamily="34" charset="-128"/>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Title 1"/>
          <p:cNvSpPr>
            <a:spLocks noGrp="1"/>
          </p:cNvSpPr>
          <p:nvPr>
            <p:ph type="title"/>
          </p:nvPr>
        </p:nvSpPr>
        <p:spPr>
          <a:ln/>
        </p:spPr>
        <p:txBody>
          <a:bodyPr vert="horz" wrap="square" lIns="91440" tIns="45720" rIns="91440" bIns="45720" anchor="ctr" anchorCtr="0"/>
          <a:p>
            <a:pPr>
              <a:buNone/>
            </a:pPr>
            <a:r>
              <a:rPr lang="en-US" dirty="0"/>
              <a:t>DFS</a:t>
            </a:r>
            <a:endParaRPr lang="en-US" dirty="0"/>
          </a:p>
        </p:txBody>
      </p:sp>
      <p:pic>
        <p:nvPicPr>
          <p:cNvPr id="32770" name="Picture 2"/>
          <p:cNvPicPr>
            <a:picLocks noGrp="1" noChangeAspect="1"/>
          </p:cNvPicPr>
          <p:nvPr>
            <p:ph idx="1"/>
          </p:nvPr>
        </p:nvPicPr>
        <p:blipFill>
          <a:blip r:embed="rId1"/>
          <a:stretch>
            <a:fillRect/>
          </a:stretch>
        </p:blipFill>
        <p:spPr>
          <a:xfrm>
            <a:off x="1381125" y="1600200"/>
            <a:ext cx="6381750" cy="4525963"/>
          </a:xfrm>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itle 1"/>
          <p:cNvSpPr>
            <a:spLocks noGrp="1"/>
          </p:cNvSpPr>
          <p:nvPr>
            <p:ph type="title"/>
          </p:nvPr>
        </p:nvSpPr>
        <p:spPr>
          <a:ln/>
        </p:spPr>
        <p:txBody>
          <a:bodyPr vert="horz" wrap="square" lIns="91440" tIns="45720" rIns="91440" bIns="45720" anchor="ctr" anchorCtr="0"/>
          <a:p>
            <a:pPr>
              <a:buNone/>
            </a:pPr>
            <a:endParaRPr lang="en-US" dirty="0"/>
          </a:p>
        </p:txBody>
      </p:sp>
      <p:sp>
        <p:nvSpPr>
          <p:cNvPr id="33794" name="Content Placeholder 2"/>
          <p:cNvSpPr>
            <a:spLocks noGrp="1"/>
          </p:cNvSpPr>
          <p:nvPr>
            <p:ph idx="1"/>
          </p:nvPr>
        </p:nvSpPr>
        <p:spPr>
          <a:ln/>
        </p:spPr>
        <p:txBody>
          <a:bodyPr vert="horz" wrap="square" lIns="91440" tIns="45720" rIns="91440" bIns="45720" anchor="t" anchorCtr="0"/>
          <a:p>
            <a:pPr marL="0" indent="0">
              <a:buNone/>
            </a:pPr>
            <a:r>
              <a:rPr lang="en-US" sz="2400" dirty="0">
                <a:latin typeface="Arial Unicode MS" pitchFamily="34" charset="-128"/>
                <a:ea typeface="Arial Unicode MS" pitchFamily="34" charset="-128"/>
              </a:rPr>
              <a:t>To avoid the infinite depth problem of DFS, we can decide to only search until depth L, i.e. we don’t expand beyond depth L.</a:t>
            </a:r>
            <a:endParaRPr lang="en-US" sz="2400" dirty="0">
              <a:latin typeface="Arial Unicode MS" pitchFamily="34" charset="-128"/>
              <a:ea typeface="Arial Unicode MS" pitchFamily="34" charset="-128"/>
            </a:endParaRPr>
          </a:p>
          <a:p>
            <a:pPr marL="0" indent="0">
              <a:buNone/>
            </a:pPr>
            <a:r>
              <a:rPr lang="en-US" sz="2400" dirty="0">
                <a:latin typeface="Arial Unicode MS" pitchFamily="34" charset="-128"/>
                <a:ea typeface="Arial Unicode MS" pitchFamily="34" charset="-128"/>
                <a:sym typeface="Wingdings" panose="05000000000000000000" pitchFamily="2" charset="2"/>
              </a:rPr>
              <a:t>  </a:t>
            </a:r>
            <a:r>
              <a:rPr lang="en-US" sz="2400" dirty="0">
                <a:solidFill>
                  <a:srgbClr val="FF0000"/>
                </a:solidFill>
                <a:latin typeface="Arial Unicode MS" pitchFamily="34" charset="-128"/>
                <a:ea typeface="Arial Unicode MS" pitchFamily="34" charset="-128"/>
                <a:sym typeface="Wingdings" panose="05000000000000000000" pitchFamily="2" charset="2"/>
              </a:rPr>
              <a:t>Depth-Limited Search</a:t>
            </a:r>
            <a:endParaRPr lang="en-US" sz="2400" dirty="0">
              <a:solidFill>
                <a:srgbClr val="FF0000"/>
              </a:solidFill>
              <a:latin typeface="Arial Unicode MS" pitchFamily="34" charset="-128"/>
              <a:ea typeface="Arial Unicode MS" pitchFamily="34" charset="-128"/>
              <a:sym typeface="Wingdings" panose="05000000000000000000" pitchFamily="2" charset="2"/>
            </a:endParaRPr>
          </a:p>
          <a:p>
            <a:pPr marL="0" indent="0">
              <a:buNone/>
            </a:pPr>
            <a:endParaRPr lang="en-US" sz="2400" dirty="0">
              <a:solidFill>
                <a:srgbClr val="FF0000"/>
              </a:solidFill>
              <a:latin typeface="Arial Unicode MS" pitchFamily="34" charset="-128"/>
              <a:ea typeface="Arial Unicode MS" pitchFamily="34" charset="-128"/>
              <a:sym typeface="Wingdings" panose="05000000000000000000" pitchFamily="2" charset="2"/>
            </a:endParaRPr>
          </a:p>
          <a:p>
            <a:pPr marL="0" indent="0">
              <a:buNone/>
            </a:pPr>
            <a:r>
              <a:rPr lang="en-US" sz="2400" dirty="0">
                <a:latin typeface="Arial Unicode MS" pitchFamily="34" charset="-128"/>
                <a:ea typeface="Arial Unicode MS" pitchFamily="34" charset="-128"/>
              </a:rPr>
              <a:t> What of solution is deeper than L? </a:t>
            </a:r>
            <a:r>
              <a:rPr lang="en-US" sz="2400" dirty="0">
                <a:latin typeface="Arial Unicode MS" pitchFamily="34" charset="-128"/>
                <a:ea typeface="Arial Unicode MS" pitchFamily="34" charset="-128"/>
                <a:sym typeface="Wingdings" panose="05000000000000000000" pitchFamily="2" charset="2"/>
              </a:rPr>
              <a:t> Increase L iteratively.</a:t>
            </a:r>
            <a:endParaRPr lang="en-US" sz="2400" dirty="0">
              <a:latin typeface="Arial Unicode MS" pitchFamily="34" charset="-128"/>
              <a:ea typeface="Arial Unicode MS" pitchFamily="34" charset="-128"/>
              <a:sym typeface="Wingdings" panose="05000000000000000000" pitchFamily="2" charset="2"/>
            </a:endParaRPr>
          </a:p>
          <a:p>
            <a:pPr marL="0" indent="0">
              <a:buNone/>
            </a:pPr>
            <a:r>
              <a:rPr lang="en-US" sz="2400" dirty="0">
                <a:latin typeface="Arial Unicode MS" pitchFamily="34" charset="-128"/>
                <a:ea typeface="Arial Unicode MS" pitchFamily="34" charset="-128"/>
                <a:sym typeface="Wingdings" panose="05000000000000000000" pitchFamily="2" charset="2"/>
              </a:rPr>
              <a:t>   </a:t>
            </a:r>
            <a:r>
              <a:rPr lang="en-US" sz="2400" dirty="0">
                <a:solidFill>
                  <a:srgbClr val="FF0000"/>
                </a:solidFill>
                <a:latin typeface="Arial Unicode MS" pitchFamily="34" charset="-128"/>
                <a:ea typeface="Arial Unicode MS" pitchFamily="34" charset="-128"/>
                <a:sym typeface="Wingdings" panose="05000000000000000000" pitchFamily="2" charset="2"/>
              </a:rPr>
              <a:t>Iterative Deepening Search</a:t>
            </a:r>
            <a:endParaRPr lang="en-US" sz="2400" dirty="0">
              <a:solidFill>
                <a:srgbClr val="FF0000"/>
              </a:solidFill>
              <a:latin typeface="Arial Unicode MS" pitchFamily="34" charset="-128"/>
              <a:ea typeface="Arial Unicode MS" pitchFamily="34" charset="-128"/>
              <a:sym typeface="Wingdings" panose="05000000000000000000" pitchFamily="2" charset="2"/>
            </a:endParaRPr>
          </a:p>
          <a:p>
            <a:pPr marL="0" indent="0">
              <a:buNone/>
            </a:pPr>
            <a:endParaRPr lang="en-US" sz="2400" dirty="0">
              <a:solidFill>
                <a:srgbClr val="FF0000"/>
              </a:solidFill>
              <a:latin typeface="Arial Unicode MS" pitchFamily="34" charset="-128"/>
              <a:ea typeface="Arial Unicode MS" pitchFamily="34" charset="-128"/>
            </a:endParaRPr>
          </a:p>
          <a:p>
            <a:pPr marL="0" indent="0">
              <a:buNone/>
            </a:pPr>
            <a:r>
              <a:rPr lang="en-US" sz="2400" dirty="0">
                <a:latin typeface="Arial Unicode MS" pitchFamily="34" charset="-128"/>
                <a:ea typeface="Arial Unicode MS" pitchFamily="34" charset="-128"/>
              </a:rPr>
              <a:t> As we shall see: this inherits the memory advantage of Depth-First search.</a:t>
            </a:r>
            <a:endParaRPr lang="en-US" sz="2400" dirty="0">
              <a:solidFill>
                <a:srgbClr val="FF0000"/>
              </a:solidFill>
              <a:latin typeface="Arial Unicode MS" pitchFamily="34" charset="-128"/>
              <a:ea typeface="Arial Unicode MS" pitchFamily="34" charset="-128"/>
            </a:endParaRPr>
          </a:p>
          <a:p>
            <a:pPr marL="0" indent="0">
              <a:buNone/>
            </a:pPr>
            <a:endParaRPr lang="en-US" sz="2400" dirty="0">
              <a:latin typeface="Arial Unicode MS" pitchFamily="34" charset="-128"/>
              <a:ea typeface="Arial Unicode MS" pitchFamily="34" charset="-128"/>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Title 1"/>
          <p:cNvSpPr>
            <a:spLocks noGrp="1"/>
          </p:cNvSpPr>
          <p:nvPr>
            <p:ph type="title"/>
          </p:nvPr>
        </p:nvSpPr>
        <p:spPr>
          <a:ln/>
        </p:spPr>
        <p:txBody>
          <a:bodyPr vert="horz" wrap="square" lIns="91440" tIns="45720" rIns="91440" bIns="45720" anchor="ctr" anchorCtr="0"/>
          <a:p>
            <a:pPr>
              <a:buNone/>
            </a:pPr>
            <a:r>
              <a:rPr lang="en-US" dirty="0"/>
              <a:t>DLS</a:t>
            </a:r>
            <a:endParaRPr lang="en-US" dirty="0"/>
          </a:p>
        </p:txBody>
      </p:sp>
      <p:sp>
        <p:nvSpPr>
          <p:cNvPr id="34818" name="Content Placeholder 2"/>
          <p:cNvSpPr>
            <a:spLocks noGrp="1"/>
          </p:cNvSpPr>
          <p:nvPr>
            <p:ph idx="1"/>
          </p:nvPr>
        </p:nvSpPr>
        <p:spPr>
          <a:ln/>
        </p:spPr>
        <p:txBody>
          <a:bodyPr vert="horz" wrap="square" lIns="91440" tIns="45720" rIns="91440" bIns="45720" anchor="t" anchorCtr="0"/>
          <a:p>
            <a:r>
              <a:rPr lang="en-US" dirty="0"/>
              <a:t>A variation of depth-first search that uses a depth limit</a:t>
            </a:r>
            <a:endParaRPr lang="en-US" dirty="0"/>
          </a:p>
          <a:p>
            <a:pPr lvl="1"/>
            <a:r>
              <a:rPr lang="en-US" dirty="0"/>
              <a:t>Alleviates the problem of unbounded trees</a:t>
            </a:r>
            <a:endParaRPr lang="en-US" dirty="0"/>
          </a:p>
          <a:p>
            <a:pPr lvl="1"/>
            <a:r>
              <a:rPr lang="en-US" dirty="0"/>
              <a:t>Search to a predetermined depth </a:t>
            </a:r>
            <a:r>
              <a:rPr lang="en-US" b="1" dirty="0">
                <a:latin typeface="Script MT Bold" pitchFamily="66" charset="0"/>
              </a:rPr>
              <a:t>l</a:t>
            </a:r>
            <a:r>
              <a:rPr lang="en-US" b="1" dirty="0"/>
              <a:t> </a:t>
            </a:r>
            <a:r>
              <a:rPr lang="en-US" dirty="0"/>
              <a:t>(“ell”)</a:t>
            </a:r>
            <a:endParaRPr lang="en-US" b="1" dirty="0">
              <a:latin typeface="Script MT Bold" pitchFamily="66" charset="0"/>
            </a:endParaRPr>
          </a:p>
          <a:p>
            <a:pPr lvl="1"/>
            <a:r>
              <a:rPr lang="en-US" dirty="0"/>
              <a:t>Nodes at depth </a:t>
            </a:r>
            <a:r>
              <a:rPr lang="en-US" dirty="0">
                <a:latin typeface="Script MT Bold" pitchFamily="66" charset="0"/>
              </a:rPr>
              <a:t>l</a:t>
            </a:r>
            <a:r>
              <a:rPr lang="en-US" dirty="0"/>
              <a:t> have no successors</a:t>
            </a:r>
            <a:endParaRPr lang="en-US" dirty="0"/>
          </a:p>
          <a:p>
            <a:endParaRPr lang="en-US" dirty="0"/>
          </a:p>
          <a:p>
            <a:r>
              <a:rPr lang="en-US" dirty="0"/>
              <a:t>Same as depth-first search if </a:t>
            </a:r>
            <a:r>
              <a:rPr lang="en-US" dirty="0">
                <a:latin typeface="Script MT Bold" pitchFamily="66" charset="0"/>
              </a:rPr>
              <a:t>l</a:t>
            </a:r>
            <a:r>
              <a:rPr lang="en-US" dirty="0"/>
              <a:t> = ∞</a:t>
            </a:r>
            <a:endParaRPr lang="en-US" dirty="0"/>
          </a:p>
          <a:p>
            <a:r>
              <a:rPr lang="en-US" dirty="0"/>
              <a:t>Can terminate for failure and cutoff</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Title 1"/>
          <p:cNvSpPr>
            <a:spLocks noGrp="1"/>
          </p:cNvSpPr>
          <p:nvPr>
            <p:ph type="title"/>
          </p:nvPr>
        </p:nvSpPr>
        <p:spPr>
          <a:ln/>
        </p:spPr>
        <p:txBody>
          <a:bodyPr vert="horz" wrap="square" lIns="91440" tIns="45720" rIns="91440" bIns="45720" anchor="ctr" anchorCtr="0"/>
          <a:p>
            <a:pPr>
              <a:buNone/>
            </a:pPr>
            <a:r>
              <a:rPr lang="en-US" dirty="0"/>
              <a:t>DLS</a:t>
            </a:r>
            <a:endParaRPr lang="en-US" dirty="0"/>
          </a:p>
        </p:txBody>
      </p:sp>
      <p:sp>
        <p:nvSpPr>
          <p:cNvPr id="35842" name="Content Placeholder 2"/>
          <p:cNvSpPr>
            <a:spLocks noGrp="1"/>
          </p:cNvSpPr>
          <p:nvPr>
            <p:ph idx="1"/>
          </p:nvPr>
        </p:nvSpPr>
        <p:spPr>
          <a:ln/>
        </p:spPr>
        <p:txBody>
          <a:bodyPr vert="horz" wrap="square" lIns="91440" tIns="45720" rIns="91440" bIns="45720" anchor="t" anchorCtr="0"/>
          <a:p>
            <a:r>
              <a:rPr lang="en-US" dirty="0">
                <a:latin typeface="Arial Unicode MS" pitchFamily="34" charset="-128"/>
                <a:ea typeface="Arial Unicode MS" pitchFamily="34" charset="-128"/>
              </a:rPr>
              <a:t>Complete</a:t>
            </a:r>
            <a:endParaRPr lang="en-US" dirty="0">
              <a:latin typeface="Arial Unicode MS" pitchFamily="34" charset="-128"/>
              <a:ea typeface="Arial Unicode MS" pitchFamily="34" charset="-128"/>
            </a:endParaRPr>
          </a:p>
          <a:p>
            <a:pPr lvl="1"/>
            <a:r>
              <a:rPr lang="en-US" dirty="0">
                <a:latin typeface="Arial Unicode MS" pitchFamily="34" charset="-128"/>
                <a:ea typeface="Arial Unicode MS" pitchFamily="34" charset="-128"/>
              </a:rPr>
              <a:t>Yes if l &lt; d</a:t>
            </a:r>
            <a:endParaRPr lang="en-US" dirty="0">
              <a:latin typeface="Arial Unicode MS" pitchFamily="34" charset="-128"/>
              <a:ea typeface="Arial Unicode MS" pitchFamily="34" charset="-128"/>
            </a:endParaRPr>
          </a:p>
          <a:p>
            <a:r>
              <a:rPr lang="en-US" dirty="0">
                <a:latin typeface="Arial Unicode MS" pitchFamily="34" charset="-128"/>
                <a:ea typeface="Arial Unicode MS" pitchFamily="34" charset="-128"/>
              </a:rPr>
              <a:t>Time</a:t>
            </a:r>
            <a:endParaRPr lang="en-US" dirty="0">
              <a:latin typeface="Arial Unicode MS" pitchFamily="34" charset="-128"/>
              <a:ea typeface="Arial Unicode MS" pitchFamily="34" charset="-128"/>
            </a:endParaRPr>
          </a:p>
          <a:p>
            <a:pPr lvl="1"/>
            <a:r>
              <a:rPr lang="en-US" dirty="0">
                <a:latin typeface="Arial Unicode MS" pitchFamily="34" charset="-128"/>
                <a:ea typeface="Arial Unicode MS" pitchFamily="34" charset="-128"/>
              </a:rPr>
              <a:t>O(b</a:t>
            </a:r>
            <a:r>
              <a:rPr lang="en-US" baseline="30000" dirty="0">
                <a:latin typeface="Arial Unicode MS" pitchFamily="34" charset="-128"/>
                <a:ea typeface="Arial Unicode MS" pitchFamily="34" charset="-128"/>
              </a:rPr>
              <a:t>l</a:t>
            </a:r>
            <a:r>
              <a:rPr lang="en-US" dirty="0">
                <a:latin typeface="Arial Unicode MS" pitchFamily="34" charset="-128"/>
                <a:ea typeface="Arial Unicode MS" pitchFamily="34" charset="-128"/>
              </a:rPr>
              <a:t>)</a:t>
            </a:r>
            <a:endParaRPr lang="en-US" dirty="0">
              <a:latin typeface="Arial Unicode MS" pitchFamily="34" charset="-128"/>
              <a:ea typeface="Arial Unicode MS" pitchFamily="34" charset="-128"/>
            </a:endParaRPr>
          </a:p>
          <a:p>
            <a:r>
              <a:rPr lang="en-US" dirty="0">
                <a:latin typeface="Arial Unicode MS" pitchFamily="34" charset="-128"/>
                <a:ea typeface="Arial Unicode MS" pitchFamily="34" charset="-128"/>
              </a:rPr>
              <a:t>Space</a:t>
            </a:r>
            <a:endParaRPr lang="en-US" dirty="0">
              <a:latin typeface="Arial Unicode MS" pitchFamily="34" charset="-128"/>
              <a:ea typeface="Arial Unicode MS" pitchFamily="34" charset="-128"/>
            </a:endParaRPr>
          </a:p>
          <a:p>
            <a:pPr lvl="1"/>
            <a:r>
              <a:rPr lang="en-US" dirty="0">
                <a:latin typeface="Arial Unicode MS" pitchFamily="34" charset="-128"/>
                <a:ea typeface="Arial Unicode MS" pitchFamily="34" charset="-128"/>
              </a:rPr>
              <a:t>O(bl)</a:t>
            </a:r>
            <a:endParaRPr lang="en-US" dirty="0">
              <a:latin typeface="Arial Unicode MS" pitchFamily="34" charset="-128"/>
              <a:ea typeface="Arial Unicode MS" pitchFamily="34" charset="-128"/>
            </a:endParaRPr>
          </a:p>
          <a:p>
            <a:r>
              <a:rPr lang="en-US" dirty="0">
                <a:latin typeface="Arial Unicode MS" pitchFamily="34" charset="-128"/>
                <a:ea typeface="Arial Unicode MS" pitchFamily="34" charset="-128"/>
              </a:rPr>
              <a:t>Optimal</a:t>
            </a:r>
            <a:endParaRPr lang="en-US" dirty="0">
              <a:latin typeface="Arial Unicode MS" pitchFamily="34" charset="-128"/>
              <a:ea typeface="Arial Unicode MS" pitchFamily="34" charset="-128"/>
            </a:endParaRPr>
          </a:p>
          <a:p>
            <a:pPr lvl="1"/>
            <a:r>
              <a:rPr lang="en-US" dirty="0">
                <a:latin typeface="Arial Unicode MS" pitchFamily="34" charset="-128"/>
                <a:ea typeface="Arial Unicode MS" pitchFamily="34" charset="-128"/>
              </a:rPr>
              <a:t>No if l &gt; d</a:t>
            </a:r>
            <a:endParaRPr lang="en-US" dirty="0">
              <a:latin typeface="Arial Unicode MS" pitchFamily="34" charset="-128"/>
              <a:ea typeface="Arial Unicode MS" pitchFamily="34" charset="-128"/>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Title 1"/>
          <p:cNvSpPr>
            <a:spLocks noGrp="1"/>
          </p:cNvSpPr>
          <p:nvPr>
            <p:ph type="title"/>
          </p:nvPr>
        </p:nvSpPr>
        <p:spPr>
          <a:ln/>
        </p:spPr>
        <p:txBody>
          <a:bodyPr vert="horz" wrap="square" lIns="91440" tIns="45720" rIns="91440" bIns="45720" anchor="ctr" anchorCtr="0"/>
          <a:p>
            <a:pPr>
              <a:buNone/>
            </a:pPr>
            <a:r>
              <a:rPr lang="en-US" dirty="0"/>
              <a:t>IDS</a:t>
            </a:r>
            <a:endParaRPr lang="en-US" dirty="0"/>
          </a:p>
        </p:txBody>
      </p:sp>
      <p:sp>
        <p:nvSpPr>
          <p:cNvPr id="36866" name="Content Placeholder 2"/>
          <p:cNvSpPr>
            <a:spLocks noGrp="1"/>
          </p:cNvSpPr>
          <p:nvPr>
            <p:ph idx="1"/>
          </p:nvPr>
        </p:nvSpPr>
        <p:spPr>
          <a:ln/>
        </p:spPr>
        <p:txBody>
          <a:bodyPr vert="horz" wrap="square" lIns="91440" tIns="45720" rIns="91440" bIns="45720" anchor="t" anchorCtr="0"/>
          <a:p>
            <a:r>
              <a:rPr lang="en-US" sz="2400" dirty="0">
                <a:latin typeface="Arial Unicode MS" pitchFamily="34" charset="-128"/>
                <a:ea typeface="Arial Unicode MS" pitchFamily="34" charset="-128"/>
              </a:rPr>
              <a:t>Iterative deepening depth-first search</a:t>
            </a:r>
            <a:endParaRPr lang="en-US" sz="2400" dirty="0">
              <a:latin typeface="Arial Unicode MS" pitchFamily="34" charset="-128"/>
              <a:ea typeface="Arial Unicode MS" pitchFamily="34" charset="-128"/>
            </a:endParaRPr>
          </a:p>
          <a:p>
            <a:pPr lvl="1"/>
            <a:r>
              <a:rPr lang="en-US" sz="2400" dirty="0">
                <a:latin typeface="Arial Unicode MS" pitchFamily="34" charset="-128"/>
                <a:ea typeface="Arial Unicode MS" pitchFamily="34" charset="-128"/>
              </a:rPr>
              <a:t>Uses depth-first search</a:t>
            </a:r>
            <a:endParaRPr lang="en-US" sz="2400" dirty="0">
              <a:latin typeface="Arial Unicode MS" pitchFamily="34" charset="-128"/>
              <a:ea typeface="Arial Unicode MS" pitchFamily="34" charset="-128"/>
            </a:endParaRPr>
          </a:p>
          <a:p>
            <a:pPr lvl="1"/>
            <a:r>
              <a:rPr lang="en-US" sz="2400" dirty="0">
                <a:latin typeface="Arial Unicode MS" pitchFamily="34" charset="-128"/>
                <a:ea typeface="Arial Unicode MS" pitchFamily="34" charset="-128"/>
              </a:rPr>
              <a:t>Finds the best depth limit</a:t>
            </a:r>
            <a:endParaRPr lang="en-US" sz="2400" dirty="0">
              <a:latin typeface="Arial Unicode MS" pitchFamily="34" charset="-128"/>
              <a:ea typeface="Arial Unicode MS" pitchFamily="34" charset="-128"/>
            </a:endParaRPr>
          </a:p>
          <a:p>
            <a:pPr lvl="2"/>
            <a:r>
              <a:rPr lang="en-US" dirty="0">
                <a:latin typeface="Arial Unicode MS" pitchFamily="34" charset="-128"/>
                <a:ea typeface="Arial Unicode MS" pitchFamily="34" charset="-128"/>
              </a:rPr>
              <a:t>Gradually increases the depth limit; 0, 1, 2, … until a goal is found</a:t>
            </a:r>
            <a:endParaRPr lang="en-US" dirty="0">
              <a:latin typeface="Arial Unicode MS" pitchFamily="34" charset="-128"/>
              <a:ea typeface="Arial Unicode MS" pitchFamily="34" charset="-128"/>
            </a:endParaRPr>
          </a:p>
          <a:p>
            <a:endParaRPr lang="en-US" sz="2400" dirty="0">
              <a:latin typeface="Arial Unicode MS" pitchFamily="34" charset="-128"/>
              <a:ea typeface="Arial Unicode MS" pitchFamily="34" charset="-128"/>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Slide Number Placeholder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buSzTx/>
            </a:pPr>
            <a:fld id="{9A0DB2DC-4C9A-4742-B13C-FB6460FD3503}" type="slidenum">
              <a:rPr lang="en-US" altLang="zh-CN" sz="1400" dirty="0"/>
            </a:fld>
            <a:endParaRPr lang="en-US" altLang="zh-CN" sz="1400" dirty="0"/>
          </a:p>
        </p:txBody>
      </p:sp>
      <p:sp>
        <p:nvSpPr>
          <p:cNvPr id="37890" name="Rectangle 2"/>
          <p:cNvSpPr>
            <a:spLocks noGrp="1"/>
          </p:cNvSpPr>
          <p:nvPr>
            <p:ph type="title"/>
          </p:nvPr>
        </p:nvSpPr>
        <p:spPr>
          <a:ln/>
        </p:spPr>
        <p:txBody>
          <a:bodyPr vert="horz" wrap="square" lIns="91440" tIns="45720" rIns="91440" bIns="45720" anchor="ctr" anchorCtr="0"/>
          <a:p>
            <a:pPr>
              <a:buNone/>
            </a:pPr>
            <a:r>
              <a:rPr lang="en-US" sz="4000" dirty="0"/>
              <a:t>Iterative deepening search </a:t>
            </a:r>
            <a:r>
              <a:rPr lang="en-US" sz="4000" i="1" dirty="0"/>
              <a:t>l </a:t>
            </a:r>
            <a:r>
              <a:rPr lang="en-US" sz="4000" dirty="0"/>
              <a:t>=0</a:t>
            </a:r>
            <a:endParaRPr lang="en-US" sz="4000" dirty="0"/>
          </a:p>
        </p:txBody>
      </p:sp>
      <p:pic>
        <p:nvPicPr>
          <p:cNvPr id="37891" name="Picture 4" descr="ids-progress1c"/>
          <p:cNvPicPr>
            <a:picLocks noChangeAspect="1"/>
          </p:cNvPicPr>
          <p:nvPr/>
        </p:nvPicPr>
        <p:blipFill>
          <a:blip r:embed="rId1"/>
          <a:stretch>
            <a:fillRect/>
          </a:stretch>
        </p:blipFill>
        <p:spPr>
          <a:xfrm>
            <a:off x="762000" y="1657350"/>
            <a:ext cx="7620000" cy="3543300"/>
          </a:xfrm>
          <a:prstGeom prst="rect">
            <a:avLst/>
          </a:prstGeom>
          <a:noFill/>
          <a:ln w="9525">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Slide Number Placeholder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buSzTx/>
            </a:pPr>
            <a:fld id="{9A0DB2DC-4C9A-4742-B13C-FB6460FD3503}" type="slidenum">
              <a:rPr lang="en-US" altLang="zh-CN" sz="1400" dirty="0"/>
            </a:fld>
            <a:endParaRPr lang="en-US" altLang="zh-CN" sz="1400" dirty="0"/>
          </a:p>
        </p:txBody>
      </p:sp>
      <p:sp>
        <p:nvSpPr>
          <p:cNvPr id="38914" name="Rectangle 2"/>
          <p:cNvSpPr>
            <a:spLocks noGrp="1"/>
          </p:cNvSpPr>
          <p:nvPr>
            <p:ph type="title"/>
          </p:nvPr>
        </p:nvSpPr>
        <p:spPr>
          <a:ln/>
        </p:spPr>
        <p:txBody>
          <a:bodyPr vert="horz" wrap="square" lIns="91440" tIns="45720" rIns="91440" bIns="45720" anchor="ctr" anchorCtr="0"/>
          <a:p>
            <a:pPr>
              <a:buNone/>
            </a:pPr>
            <a:r>
              <a:rPr lang="en-US" sz="4000" dirty="0"/>
              <a:t>Iterative deepening search </a:t>
            </a:r>
            <a:r>
              <a:rPr lang="en-US" sz="4000" i="1" dirty="0"/>
              <a:t>l </a:t>
            </a:r>
            <a:r>
              <a:rPr lang="en-US" sz="4000" dirty="0"/>
              <a:t>=1</a:t>
            </a:r>
            <a:endParaRPr lang="en-US" sz="4000" dirty="0"/>
          </a:p>
        </p:txBody>
      </p:sp>
      <p:pic>
        <p:nvPicPr>
          <p:cNvPr id="38915" name="Picture 4" descr="ids-progress2c"/>
          <p:cNvPicPr>
            <a:picLocks noChangeAspect="1"/>
          </p:cNvPicPr>
          <p:nvPr/>
        </p:nvPicPr>
        <p:blipFill>
          <a:blip r:embed="rId1"/>
          <a:stretch>
            <a:fillRect/>
          </a:stretch>
        </p:blipFill>
        <p:spPr>
          <a:xfrm>
            <a:off x="762000" y="1657350"/>
            <a:ext cx="7620000" cy="3543300"/>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Slide Number Placeholder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buSzTx/>
            </a:pPr>
            <a:fld id="{9A0DB2DC-4C9A-4742-B13C-FB6460FD3503}" type="slidenum">
              <a:rPr lang="en-US" altLang="zh-CN" sz="1400" dirty="0"/>
            </a:fld>
            <a:endParaRPr lang="en-US" altLang="zh-CN" sz="1400" dirty="0"/>
          </a:p>
        </p:txBody>
      </p:sp>
      <p:sp>
        <p:nvSpPr>
          <p:cNvPr id="39938" name="Rectangle 2"/>
          <p:cNvSpPr>
            <a:spLocks noGrp="1"/>
          </p:cNvSpPr>
          <p:nvPr>
            <p:ph type="title"/>
          </p:nvPr>
        </p:nvSpPr>
        <p:spPr>
          <a:ln/>
        </p:spPr>
        <p:txBody>
          <a:bodyPr vert="horz" wrap="square" lIns="91440" tIns="45720" rIns="91440" bIns="45720" anchor="ctr" anchorCtr="0"/>
          <a:p>
            <a:pPr>
              <a:buNone/>
            </a:pPr>
            <a:r>
              <a:rPr lang="en-US" sz="4000" dirty="0"/>
              <a:t>Iterative deepening search </a:t>
            </a:r>
            <a:r>
              <a:rPr lang="en-US" sz="4000" i="1" dirty="0"/>
              <a:t>l </a:t>
            </a:r>
            <a:r>
              <a:rPr lang="en-US" sz="4000" dirty="0"/>
              <a:t>=2</a:t>
            </a:r>
            <a:endParaRPr lang="en-US" sz="4000" dirty="0"/>
          </a:p>
        </p:txBody>
      </p:sp>
      <p:pic>
        <p:nvPicPr>
          <p:cNvPr id="39939" name="Picture 4" descr="ids-progress3c"/>
          <p:cNvPicPr>
            <a:picLocks noChangeAspect="1"/>
          </p:cNvPicPr>
          <p:nvPr/>
        </p:nvPicPr>
        <p:blipFill>
          <a:blip r:embed="rId1"/>
          <a:stretch>
            <a:fillRect/>
          </a:stretch>
        </p:blipFill>
        <p:spPr>
          <a:xfrm>
            <a:off x="762000" y="1652588"/>
            <a:ext cx="7620000" cy="3552825"/>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Slide Number Placeholder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buSzTx/>
            </a:pPr>
            <a:fld id="{9A0DB2DC-4C9A-4742-B13C-FB6460FD3503}" type="slidenum">
              <a:rPr lang="en-US" altLang="zh-CN" sz="1400" dirty="0"/>
            </a:fld>
            <a:endParaRPr lang="en-US" altLang="zh-CN" sz="1400" dirty="0"/>
          </a:p>
        </p:txBody>
      </p:sp>
      <p:sp>
        <p:nvSpPr>
          <p:cNvPr id="40962" name="Rectangle 2"/>
          <p:cNvSpPr>
            <a:spLocks noGrp="1"/>
          </p:cNvSpPr>
          <p:nvPr>
            <p:ph type="title"/>
          </p:nvPr>
        </p:nvSpPr>
        <p:spPr>
          <a:ln/>
        </p:spPr>
        <p:txBody>
          <a:bodyPr vert="horz" wrap="square" lIns="91440" tIns="45720" rIns="91440" bIns="45720" anchor="ctr" anchorCtr="0"/>
          <a:p>
            <a:pPr>
              <a:buNone/>
            </a:pPr>
            <a:r>
              <a:rPr lang="en-US" sz="4000" dirty="0"/>
              <a:t>Iterative deepening search </a:t>
            </a:r>
            <a:r>
              <a:rPr lang="en-US" sz="4000" i="1" dirty="0"/>
              <a:t>l </a:t>
            </a:r>
            <a:r>
              <a:rPr lang="en-US" sz="4000" dirty="0"/>
              <a:t>=3</a:t>
            </a:r>
            <a:endParaRPr lang="en-US" sz="4000" dirty="0"/>
          </a:p>
        </p:txBody>
      </p:sp>
      <p:pic>
        <p:nvPicPr>
          <p:cNvPr id="40963" name="Picture 4" descr="ids-progress4c"/>
          <p:cNvPicPr>
            <a:picLocks noChangeAspect="1"/>
          </p:cNvPicPr>
          <p:nvPr/>
        </p:nvPicPr>
        <p:blipFill>
          <a:blip r:embed="rId1"/>
          <a:stretch>
            <a:fillRect/>
          </a:stretch>
        </p:blipFill>
        <p:spPr>
          <a:xfrm>
            <a:off x="762000" y="1657350"/>
            <a:ext cx="7620000" cy="3543300"/>
          </a:xfrm>
          <a:prstGeom prst="rect">
            <a:avLst/>
          </a:prstGeom>
          <a:noFill/>
          <a:ln w="9525">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Title 1"/>
          <p:cNvSpPr>
            <a:spLocks noGrp="1"/>
          </p:cNvSpPr>
          <p:nvPr>
            <p:ph type="title"/>
          </p:nvPr>
        </p:nvSpPr>
        <p:spPr>
          <a:ln/>
        </p:spPr>
        <p:txBody>
          <a:bodyPr vert="horz" wrap="square" lIns="91440" tIns="45720" rIns="91440" bIns="45720" anchor="ctr" anchorCtr="0"/>
          <a:p>
            <a:pPr>
              <a:buNone/>
            </a:pPr>
            <a:r>
              <a:rPr lang="en-US" dirty="0"/>
              <a:t>IDS</a:t>
            </a:r>
            <a:endParaRPr lang="en-US" dirty="0"/>
          </a:p>
        </p:txBody>
      </p:sp>
      <p:sp>
        <p:nvSpPr>
          <p:cNvPr id="41986" name="Content Placeholder 2"/>
          <p:cNvSpPr>
            <a:spLocks noGrp="1"/>
          </p:cNvSpPr>
          <p:nvPr>
            <p:ph idx="1"/>
          </p:nvPr>
        </p:nvSpPr>
        <p:spPr>
          <a:ln/>
        </p:spPr>
        <p:txBody>
          <a:bodyPr vert="horz" wrap="square" lIns="91440" tIns="45720" rIns="91440" bIns="45720" anchor="t" anchorCtr="0"/>
          <a:p>
            <a:pPr>
              <a:lnSpc>
                <a:spcPct val="90000"/>
              </a:lnSpc>
            </a:pPr>
            <a:r>
              <a:rPr lang="en-US" dirty="0"/>
              <a:t>Complete</a:t>
            </a:r>
            <a:endParaRPr lang="en-US" dirty="0"/>
          </a:p>
          <a:p>
            <a:pPr lvl="1">
              <a:lnSpc>
                <a:spcPct val="90000"/>
              </a:lnSpc>
            </a:pPr>
            <a:r>
              <a:rPr lang="en-US" dirty="0"/>
              <a:t>Yes</a:t>
            </a:r>
            <a:endParaRPr lang="en-US" dirty="0"/>
          </a:p>
          <a:p>
            <a:pPr>
              <a:lnSpc>
                <a:spcPct val="90000"/>
              </a:lnSpc>
            </a:pPr>
            <a:r>
              <a:rPr lang="en-US" dirty="0"/>
              <a:t>Time</a:t>
            </a:r>
            <a:endParaRPr lang="en-US" dirty="0"/>
          </a:p>
          <a:p>
            <a:pPr lvl="1">
              <a:lnSpc>
                <a:spcPct val="90000"/>
              </a:lnSpc>
            </a:pPr>
            <a:r>
              <a:rPr lang="en-US" dirty="0"/>
              <a:t>O(b</a:t>
            </a:r>
            <a:r>
              <a:rPr lang="en-US" baseline="30000" dirty="0"/>
              <a:t>d</a:t>
            </a:r>
            <a:r>
              <a:rPr lang="en-US" dirty="0"/>
              <a:t>)</a:t>
            </a:r>
            <a:endParaRPr lang="en-US" dirty="0"/>
          </a:p>
          <a:p>
            <a:pPr>
              <a:lnSpc>
                <a:spcPct val="90000"/>
              </a:lnSpc>
            </a:pPr>
            <a:r>
              <a:rPr lang="en-US" dirty="0"/>
              <a:t>Space</a:t>
            </a:r>
            <a:endParaRPr lang="en-US" dirty="0"/>
          </a:p>
          <a:p>
            <a:pPr lvl="1">
              <a:lnSpc>
                <a:spcPct val="90000"/>
              </a:lnSpc>
            </a:pPr>
            <a:r>
              <a:rPr lang="en-US" dirty="0"/>
              <a:t>O(bd)</a:t>
            </a:r>
            <a:endParaRPr lang="en-US" dirty="0"/>
          </a:p>
          <a:p>
            <a:pPr>
              <a:lnSpc>
                <a:spcPct val="90000"/>
              </a:lnSpc>
            </a:pPr>
            <a:r>
              <a:rPr lang="en-US" dirty="0"/>
              <a:t>Optimal</a:t>
            </a:r>
            <a:endParaRPr lang="en-US" dirty="0"/>
          </a:p>
          <a:p>
            <a:pPr lvl="1">
              <a:lnSpc>
                <a:spcPct val="90000"/>
              </a:lnSpc>
            </a:pPr>
            <a:r>
              <a:rPr lang="en-US" dirty="0"/>
              <a:t>Yes if step cost = 1</a:t>
            </a:r>
            <a:endParaRPr lang="en-US" dirty="0"/>
          </a:p>
          <a:p>
            <a:pPr lvl="1">
              <a:lnSpc>
                <a:spcPct val="90000"/>
              </a:lnSpc>
            </a:pPr>
            <a:r>
              <a:rPr lang="en-US" dirty="0"/>
              <a:t>Can be modified to explore uniform cost tree</a:t>
            </a:r>
            <a:endParaRPr lang="en-US" dirty="0"/>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Title 1"/>
          <p:cNvSpPr>
            <a:spLocks noGrp="1"/>
          </p:cNvSpPr>
          <p:nvPr>
            <p:ph type="title"/>
          </p:nvPr>
        </p:nvSpPr>
        <p:spPr>
          <a:ln/>
        </p:spPr>
        <p:txBody>
          <a:bodyPr vert="horz" wrap="square" lIns="91440" tIns="45720" rIns="91440" bIns="45720" anchor="ctr" anchorCtr="0"/>
          <a:p>
            <a:pPr>
              <a:buNone/>
            </a:pPr>
            <a:r>
              <a:rPr lang="en-US" dirty="0"/>
              <a:t>Avoiding repeated states</a:t>
            </a:r>
            <a:endParaRPr lang="en-US" dirty="0"/>
          </a:p>
        </p:txBody>
      </p:sp>
      <p:sp>
        <p:nvSpPr>
          <p:cNvPr id="43010" name="Content Placeholder 2"/>
          <p:cNvSpPr>
            <a:spLocks noGrp="1"/>
          </p:cNvSpPr>
          <p:nvPr>
            <p:ph idx="1"/>
          </p:nvPr>
        </p:nvSpPr>
        <p:spPr>
          <a:ln/>
        </p:spPr>
        <p:txBody>
          <a:bodyPr vert="horz" wrap="square" lIns="91440" tIns="45720" rIns="91440" bIns="45720" anchor="t" anchorCtr="0"/>
          <a:p>
            <a:r>
              <a:rPr lang="en-US" sz="2800" dirty="0"/>
              <a:t>Complication of wasting time by expanding states that have already been encountered and expanded before</a:t>
            </a:r>
            <a:endParaRPr lang="en-US" sz="2800" dirty="0"/>
          </a:p>
          <a:p>
            <a:pPr lvl="1"/>
            <a:r>
              <a:rPr lang="en-US" sz="2400" dirty="0"/>
              <a:t>Failure to detect repeated states can turn a linear problem into an exponential one</a:t>
            </a:r>
            <a:endParaRPr lang="en-US" sz="2400" dirty="0"/>
          </a:p>
          <a:p>
            <a:endParaRPr lang="en-US" sz="2800" dirty="0"/>
          </a:p>
          <a:p>
            <a:r>
              <a:rPr lang="en-US" sz="2800" dirty="0"/>
              <a:t>Sometimes, repeated states are unavoidable</a:t>
            </a:r>
            <a:endParaRPr lang="en-US" sz="2800" dirty="0"/>
          </a:p>
          <a:p>
            <a:pPr lvl="1"/>
            <a:r>
              <a:rPr lang="en-US" sz="2400" dirty="0"/>
              <a:t>Problems where the actions are reversable</a:t>
            </a:r>
            <a:endParaRPr lang="en-US" sz="2400" dirty="0"/>
          </a:p>
          <a:p>
            <a:pPr lvl="2"/>
            <a:r>
              <a:rPr lang="en-US" sz="2000" dirty="0"/>
              <a:t>Route finding</a:t>
            </a:r>
            <a:endParaRPr lang="en-US" sz="2000" dirty="0"/>
          </a:p>
          <a:p>
            <a:pPr lvl="2"/>
            <a:r>
              <a:rPr lang="en-US" sz="2000" dirty="0"/>
              <a:t>Sliding blocks puzzles</a:t>
            </a:r>
            <a:endParaRPr lang="en-US" sz="2000" dirty="0"/>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Title 1"/>
          <p:cNvSpPr>
            <a:spLocks noGrp="1"/>
          </p:cNvSpPr>
          <p:nvPr>
            <p:ph type="title"/>
          </p:nvPr>
        </p:nvSpPr>
        <p:spPr>
          <a:ln/>
        </p:spPr>
        <p:txBody>
          <a:bodyPr vert="horz" wrap="square" lIns="91440" tIns="45720" rIns="91440" bIns="45720" anchor="ctr" anchorCtr="0"/>
          <a:p>
            <a:pPr>
              <a:buNone/>
            </a:pPr>
            <a:r>
              <a:rPr lang="en-US" dirty="0"/>
              <a:t>Avoiding repeated states</a:t>
            </a:r>
            <a:endParaRPr lang="en-US" dirty="0"/>
          </a:p>
        </p:txBody>
      </p:sp>
      <p:pic>
        <p:nvPicPr>
          <p:cNvPr id="44034" name="Picture 4"/>
          <p:cNvPicPr>
            <a:picLocks noGrp="1" noChangeAspect="1"/>
          </p:cNvPicPr>
          <p:nvPr>
            <p:ph idx="1"/>
          </p:nvPr>
        </p:nvPicPr>
        <p:blipFill>
          <a:blip r:embed="rId1"/>
          <a:stretch>
            <a:fillRect/>
          </a:stretch>
        </p:blipFill>
        <p:spPr>
          <a:xfrm>
            <a:off x="1633538" y="2720975"/>
            <a:ext cx="5876925" cy="2284413"/>
          </a:xfrm>
          <a:ln/>
        </p:spPr>
      </p:pic>
      <p:sp>
        <p:nvSpPr>
          <p:cNvPr id="44035" name="Text Box 5"/>
          <p:cNvSpPr txBox="1"/>
          <p:nvPr/>
        </p:nvSpPr>
        <p:spPr>
          <a:xfrm>
            <a:off x="1905000" y="5029200"/>
            <a:ext cx="1376363" cy="366713"/>
          </a:xfrm>
          <a:prstGeom prst="rect">
            <a:avLst/>
          </a:prstGeom>
          <a:noFill/>
          <a:ln w="9525">
            <a:noFill/>
          </a:ln>
        </p:spPr>
        <p:txBody>
          <a:bodyPr wrap="none" anchor="t" anchorCtr="0">
            <a:spAutoFit/>
          </a:bodyPr>
          <a:p>
            <a:r>
              <a:rPr lang="en-US" dirty="0">
                <a:latin typeface="Arial" panose="020B0604020202020204" pitchFamily="34" charset="0"/>
              </a:rPr>
              <a:t>State Space</a:t>
            </a:r>
            <a:endParaRPr lang="en-US" dirty="0">
              <a:latin typeface="Arial" panose="020B0604020202020204" pitchFamily="34" charset="0"/>
            </a:endParaRPr>
          </a:p>
        </p:txBody>
      </p:sp>
      <p:sp>
        <p:nvSpPr>
          <p:cNvPr id="44036" name="Text Box 7"/>
          <p:cNvSpPr txBox="1"/>
          <p:nvPr/>
        </p:nvSpPr>
        <p:spPr>
          <a:xfrm>
            <a:off x="5410200" y="4864100"/>
            <a:ext cx="1395413" cy="366713"/>
          </a:xfrm>
          <a:prstGeom prst="rect">
            <a:avLst/>
          </a:prstGeom>
          <a:noFill/>
          <a:ln w="9525">
            <a:noFill/>
          </a:ln>
        </p:spPr>
        <p:txBody>
          <a:bodyPr wrap="none" anchor="t" anchorCtr="0">
            <a:spAutoFit/>
          </a:bodyPr>
          <a:p>
            <a:r>
              <a:rPr lang="en-US" dirty="0">
                <a:latin typeface="Arial" panose="020B0604020202020204" pitchFamily="34" charset="0"/>
              </a:rPr>
              <a:t>Search Tree</a:t>
            </a:r>
            <a:endParaRPr lang="en-US" dirty="0">
              <a:latin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Title 1"/>
          <p:cNvSpPr>
            <a:spLocks noGrp="1"/>
          </p:cNvSpPr>
          <p:nvPr>
            <p:ph type="title"/>
          </p:nvPr>
        </p:nvSpPr>
        <p:spPr>
          <a:ln/>
        </p:spPr>
        <p:txBody>
          <a:bodyPr vert="horz" wrap="square" lIns="91440" tIns="45720" rIns="91440" bIns="45720" anchor="ctr" anchorCtr="0"/>
          <a:p>
            <a:pPr>
              <a:buNone/>
            </a:pPr>
            <a:r>
              <a:rPr lang="en-US" dirty="0"/>
              <a:t>Bidirectional</a:t>
            </a:r>
            <a:endParaRPr lang="en-US" dirty="0"/>
          </a:p>
        </p:txBody>
      </p:sp>
      <p:sp>
        <p:nvSpPr>
          <p:cNvPr id="45058" name="Content Placeholder 2"/>
          <p:cNvSpPr>
            <a:spLocks noGrp="1"/>
          </p:cNvSpPr>
          <p:nvPr>
            <p:ph idx="1"/>
          </p:nvPr>
        </p:nvSpPr>
        <p:spPr>
          <a:ln/>
        </p:spPr>
        <p:txBody>
          <a:bodyPr vert="horz" wrap="square" lIns="91440" tIns="45720" rIns="91440" bIns="45720" anchor="t" anchorCtr="0"/>
          <a:p>
            <a:r>
              <a:rPr lang="en-US" sz="2800" dirty="0"/>
              <a:t>Idea</a:t>
            </a:r>
            <a:endParaRPr lang="en-US" sz="2800" dirty="0"/>
          </a:p>
          <a:p>
            <a:pPr lvl="1"/>
            <a:r>
              <a:rPr lang="en-US" sz="2400" dirty="0"/>
              <a:t>simultaneously search forward from S and backwards from G</a:t>
            </a:r>
            <a:endParaRPr lang="en-US" sz="2400" dirty="0"/>
          </a:p>
          <a:p>
            <a:pPr lvl="1"/>
            <a:r>
              <a:rPr lang="en-US" sz="2400" dirty="0"/>
              <a:t>stop when both “meet in the middle”</a:t>
            </a:r>
            <a:endParaRPr lang="en-US" sz="2400" dirty="0"/>
          </a:p>
          <a:p>
            <a:pPr lvl="1"/>
            <a:r>
              <a:rPr lang="en-US" sz="2400" dirty="0"/>
              <a:t>need to keep track of the intersection of 2 open sets of nodes</a:t>
            </a:r>
            <a:endParaRPr lang="en-US" sz="2400" dirty="0"/>
          </a:p>
          <a:p>
            <a:r>
              <a:rPr lang="en-US" sz="2800" dirty="0"/>
              <a:t>What does searching backwards from G mean</a:t>
            </a:r>
            <a:endParaRPr lang="en-US" sz="2800" dirty="0"/>
          </a:p>
          <a:p>
            <a:pPr lvl="1"/>
            <a:r>
              <a:rPr lang="en-US" sz="2400" dirty="0"/>
              <a:t>need a way to specify the predecessors of G</a:t>
            </a:r>
            <a:endParaRPr lang="en-US" sz="2400" dirty="0"/>
          </a:p>
          <a:p>
            <a:pPr lvl="2"/>
            <a:r>
              <a:rPr lang="en-US" sz="2000" dirty="0"/>
              <a:t>this can be difficult, </a:t>
            </a:r>
            <a:endParaRPr lang="en-US" sz="2000" dirty="0"/>
          </a:p>
          <a:p>
            <a:pPr lvl="2"/>
            <a:r>
              <a:rPr lang="en-US" sz="2000" dirty="0"/>
              <a:t>e.g., predecessors of checkmate in chess?</a:t>
            </a:r>
            <a:endParaRPr lang="en-US" sz="2000" dirty="0"/>
          </a:p>
          <a:p>
            <a:pPr lvl="1"/>
            <a:r>
              <a:rPr lang="en-US" sz="2400" dirty="0"/>
              <a:t>what if there are multiple goal states?</a:t>
            </a:r>
            <a:endParaRPr lang="en-US" sz="2400" dirty="0"/>
          </a:p>
          <a:p>
            <a:pPr lvl="1"/>
            <a:r>
              <a:rPr lang="en-US" sz="2400" dirty="0"/>
              <a:t>what if there is only a goal test, no explicit list?</a:t>
            </a:r>
            <a:endParaRPr lang="en-US" sz="2400" dirty="0"/>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r>
              <a:rPr lang="en-US"/>
              <a:t>Evaluation </a:t>
            </a:r>
            <a:endParaRPr lang="en-US"/>
          </a:p>
        </p:txBody>
      </p:sp>
      <p:pic>
        <p:nvPicPr>
          <p:cNvPr id="4" name="Content Placeholder 3" descr="Screenshot (261)"/>
          <p:cNvPicPr>
            <a:picLocks noChangeAspect="1"/>
          </p:cNvPicPr>
          <p:nvPr>
            <p:ph idx="1"/>
          </p:nvPr>
        </p:nvPicPr>
        <p:blipFill>
          <a:blip r:embed="rId1"/>
          <a:stretch>
            <a:fillRect/>
          </a:stretch>
        </p:blipFill>
        <p:spPr>
          <a:xfrm>
            <a:off x="152400" y="1764030"/>
            <a:ext cx="8868410" cy="4128135"/>
          </a:xfrm>
          <a:prstGeom prst="rect">
            <a:avLst/>
          </a:prstGeom>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7234</Words>
  <Application>WPS Presentation</Application>
  <PresentationFormat>On-screen Show (4:3)</PresentationFormat>
  <Paragraphs>359</Paragraphs>
  <Slides>44</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44</vt:i4>
      </vt:variant>
    </vt:vector>
  </HeadingPairs>
  <TitlesOfParts>
    <vt:vector size="56" baseType="lpstr">
      <vt:lpstr>Arial</vt:lpstr>
      <vt:lpstr>SimSun</vt:lpstr>
      <vt:lpstr>Wingdings</vt:lpstr>
      <vt:lpstr>Calibri</vt:lpstr>
      <vt:lpstr>Tahoma</vt:lpstr>
      <vt:lpstr>Arial Unicode MS</vt:lpstr>
      <vt:lpstr>Times New Roman</vt:lpstr>
      <vt:lpstr>Script MT Bold</vt:lpstr>
      <vt:lpstr>Segoe Print</vt:lpstr>
      <vt:lpstr>Microsoft YaHei</vt:lpstr>
      <vt:lpstr>Arial Unicode MS</vt:lpstr>
      <vt:lpstr>Default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NUS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Agents</dc:title>
  <dc:creator>Min-Yen Kan</dc:creator>
  <cp:lastModifiedBy>khaul</cp:lastModifiedBy>
  <cp:revision>81</cp:revision>
  <dcterms:created xsi:type="dcterms:W3CDTF">2003-12-17T02:32:09Z</dcterms:created>
  <dcterms:modified xsi:type="dcterms:W3CDTF">2025-03-13T06:01:05Z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CA1958D3B5214E888D826347E6246E60_12</vt:lpwstr>
  </property>
  <property fmtid="{D5CDD505-2E9C-101B-9397-08002B2CF9AE}" pid="3" name="KSOProductBuildVer">
    <vt:lpwstr>1033-12.2.0.20323</vt:lpwstr>
  </property>
</Properties>
</file>