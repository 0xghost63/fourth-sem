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3"/>
    <p:sldId id="259" r:id="rId4"/>
    <p:sldId id="278" r:id="rId5"/>
    <p:sldId id="279" r:id="rId6"/>
    <p:sldId id="260" r:id="rId7"/>
    <p:sldId id="293" r:id="rId8"/>
    <p:sldId id="280" r:id="rId9"/>
    <p:sldId id="292" r:id="rId10"/>
    <p:sldId id="261" r:id="rId11"/>
    <p:sldId id="287" r:id="rId12"/>
    <p:sldId id="281" r:id="rId13"/>
    <p:sldId id="282" r:id="rId14"/>
    <p:sldId id="283" r:id="rId15"/>
    <p:sldId id="284" r:id="rId16"/>
    <p:sldId id="285" r:id="rId17"/>
    <p:sldId id="286" r:id="rId18"/>
    <p:sldId id="288" r:id="rId19"/>
    <p:sldId id="265" r:id="rId20"/>
    <p:sldId id="289" r:id="rId21"/>
    <p:sldId id="290" r:id="rId22"/>
    <p:sldId id="291" r:id="rId2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-109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CC0099"/>
    <a:srgbClr val="FF00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54" d="100"/>
          <a:sy n="154" d="100"/>
        </p:scale>
        <p:origin x="-11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 algn="r" eaLnBrk="1" hangingPunct="1"/>
            <a:fld id="{BB962C8B-B14F-4D97-AF65-F5344CB8AC3E}" type="datetime1">
              <a:rPr lang="en-US" sz="1200" dirty="0"/>
            </a:fld>
            <a:endParaRPr lang="en-US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 algn="r" eaLnBrk="1" hangingPunct="1"/>
            <a:fld id="{BB962C8B-B14F-4D97-AF65-F5344CB8AC3E}" type="datetime1">
              <a:rPr lang="en-US" sz="1200" dirty="0"/>
            </a:fld>
            <a:endParaRPr lang="en-US" sz="120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/>
            <a:fld id="{9A0DB2DC-4C9A-4742-B13C-FB6460FD3503}" type="slidenum">
              <a:rPr lang="en-US" sz="1200" dirty="0"/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dirty="0">
                <a:latin typeface="Arial" panose="020B0604020202020204" pitchFamily="34" charset="0"/>
              </a:rPr>
            </a:fld>
            <a:endParaRPr 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MS PGothic" panose="020B0600070205080204" pitchFamily="-109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-109" charset="-128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-109" charset="-128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-109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4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dirty="0"/>
              <a:t>Adversarial Search</a:t>
            </a:r>
            <a:endParaRPr dirty="0"/>
          </a:p>
        </p:txBody>
      </p:sp>
      <p:sp>
        <p:nvSpPr>
          <p:cNvPr id="15363" name="Rectangle 3"/>
          <p:cNvSpPr>
            <a:spLocks noGrp="1"/>
          </p:cNvSpPr>
          <p:nvPr>
            <p:ph type="subTitle"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>
                <a:latin typeface="+mn-lt"/>
                <a:ea typeface="MS PGothic" panose="020B0600070205080204" pitchFamily="-109" charset="-128"/>
                <a:cs typeface="+mn-cs"/>
              </a:rPr>
              <a:t>Chapter 5.1-5.3</a:t>
            </a:r>
            <a:endParaRPr>
              <a:latin typeface="+mn-lt"/>
              <a:ea typeface="MS PGothic" panose="020B0600070205080204" pitchFamily="-109" charset="-128"/>
              <a:cs typeface="+mn-cs"/>
            </a:endParaRPr>
          </a:p>
        </p:txBody>
      </p:sp>
      <p:sp>
        <p:nvSpPr>
          <p:cNvPr id="15364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Games vs. search problems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/>
              <a:t>"Unpredictable" opponent </a:t>
            </a:r>
            <a:r>
              <a:rPr dirty="0">
                <a:sym typeface="Wingdings" panose="05000000000000000000" pitchFamily="2" charset="2"/>
              </a:rPr>
              <a:t></a:t>
            </a:r>
            <a:r>
              <a:rPr dirty="0"/>
              <a:t> specifying a move for every possible opponent reply
</a:t>
            </a:r>
            <a:endParaRPr dirty="0"/>
          </a:p>
          <a:p>
            <a:pPr eaLnBrk="1" hangingPunct="1"/>
            <a:r>
              <a:rPr dirty="0"/>
              <a:t>Time limits </a:t>
            </a:r>
            <a:r>
              <a:rPr dirty="0"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dirty="0"/>
              <a:t> unlikely to find goal, must approximate
</a:t>
            </a:r>
            <a:endParaRPr dirty="0"/>
          </a:p>
        </p:txBody>
      </p:sp>
      <p:sp>
        <p:nvSpPr>
          <p:cNvPr id="16388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>
                <a:latin typeface="Times New Roman" panose="02020603050405020304" pitchFamily="-109" charset="0"/>
              </a:rPr>
            </a:fld>
            <a:endParaRPr lang="en-US" sz="1400" dirty="0">
              <a:latin typeface="Times New Roman" panose="02020603050405020304" pitchFamily="-109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>
                <a:ea typeface="MS PGothic" panose="020B0600070205080204" pitchFamily="-109" charset="-128"/>
              </a:rPr>
              <a:t>Game search</a:t>
            </a:r>
            <a:br>
              <a:rPr>
                <a:ea typeface="MS PGothic" panose="020B0600070205080204" pitchFamily="-109" charset="-128"/>
              </a:rPr>
            </a:br>
            <a:endParaRPr>
              <a:ea typeface="MS PGothic" panose="020B0600070205080204" pitchFamily="-109" charset="-128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>
                <a:ea typeface="MS PGothic" panose="020B0600070205080204" pitchFamily="-109" charset="-128"/>
              </a:rPr>
              <a:t>Game-playing programs developed by AI researchers since the beginning of the modern AI era</a:t>
            </a:r>
            <a:endParaRPr>
              <a:ea typeface="MS PGothic" panose="020B0600070205080204" pitchFamily="-109" charset="-128"/>
            </a:endParaRPr>
          </a:p>
          <a:p>
            <a:pPr lvl="1" eaLnBrk="1" hangingPunct="1"/>
            <a:r>
              <a:rPr>
                <a:ea typeface="MS PGothic" panose="020B0600070205080204" pitchFamily="-109" charset="-128"/>
              </a:rPr>
              <a:t>Programs playing chess, checkers, etc (1950s)</a:t>
            </a:r>
            <a:endParaRPr>
              <a:ea typeface="MS PGothic" panose="020B0600070205080204" pitchFamily="-109" charset="-128"/>
            </a:endParaRPr>
          </a:p>
          <a:p>
            <a:pPr eaLnBrk="1" hangingPunct="1"/>
            <a:r>
              <a:rPr>
                <a:ea typeface="MS PGothic" panose="020B0600070205080204" pitchFamily="-109" charset="-128"/>
              </a:rPr>
              <a:t>Specifics:</a:t>
            </a:r>
            <a:endParaRPr>
              <a:ea typeface="MS PGothic" panose="020B0600070205080204" pitchFamily="-109" charset="-128"/>
            </a:endParaRPr>
          </a:p>
          <a:p>
            <a:pPr lvl="1" eaLnBrk="1" hangingPunct="1"/>
            <a:r>
              <a:rPr>
                <a:ea typeface="MS PGothic" panose="020B0600070205080204" pitchFamily="-109" charset="-128"/>
              </a:rPr>
              <a:t>Sequences of player’s decisions we control</a:t>
            </a:r>
            <a:endParaRPr>
              <a:ea typeface="MS PGothic" panose="020B0600070205080204" pitchFamily="-109" charset="-128"/>
            </a:endParaRPr>
          </a:p>
          <a:p>
            <a:pPr lvl="1" eaLnBrk="1" hangingPunct="1"/>
            <a:r>
              <a:rPr>
                <a:ea typeface="MS PGothic" panose="020B0600070205080204" pitchFamily="-109" charset="-128"/>
              </a:rPr>
              <a:t>Decisions of other </a:t>
            </a:r>
            <a:r>
              <a:rPr err="1">
                <a:ea typeface="MS PGothic" panose="020B0600070205080204" pitchFamily="-109" charset="-128"/>
              </a:rPr>
              <a:t>player(s</a:t>
            </a:r>
            <a:r>
              <a:rPr>
                <a:ea typeface="MS PGothic" panose="020B0600070205080204" pitchFamily="-109" charset="-128"/>
              </a:rPr>
              <a:t>) we do not control</a:t>
            </a:r>
            <a:endParaRPr>
              <a:ea typeface="MS PGothic" panose="020B0600070205080204" pitchFamily="-109" charset="-128"/>
            </a:endParaRPr>
          </a:p>
          <a:p>
            <a:pPr eaLnBrk="1" hangingPunct="1"/>
            <a:r>
              <a:rPr>
                <a:ea typeface="MS PGothic" panose="020B0600070205080204" pitchFamily="-109" charset="-128"/>
              </a:rPr>
              <a:t>Contingency problem:  many possible opponent’s moves must be “covered” by the solution</a:t>
            </a:r>
            <a:endParaRPr>
              <a:ea typeface="MS PGothic" panose="020B0600070205080204" pitchFamily="-109" charset="-128"/>
            </a:endParaRPr>
          </a:p>
          <a:p>
            <a:pPr eaLnBrk="1" hangingPunct="1"/>
            <a:r>
              <a:rPr>
                <a:ea typeface="MS PGothic" panose="020B0600070205080204" pitchFamily="-109" charset="-128"/>
              </a:rPr>
              <a:t>Opponent’s behavior introduces uncertainty</a:t>
            </a:r>
            <a:endParaRPr>
              <a:ea typeface="MS PGothic" panose="020B0600070205080204" pitchFamily="-109" charset="-128"/>
            </a:endParaRPr>
          </a:p>
          <a:p>
            <a:pPr eaLnBrk="1" hangingPunct="1"/>
            <a:r>
              <a:rPr>
                <a:ea typeface="MS PGothic" panose="020B0600070205080204" pitchFamily="-109" charset="-128"/>
              </a:rPr>
              <a:t>Rational opponent – maximizes its own utility (payoff) function</a:t>
            </a:r>
            <a:endParaRPr>
              <a:ea typeface="MS PGothic" panose="020B0600070205080204" pitchFamily="-109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Game Search Problem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t>Problem formulation</a:t>
            </a:r>
          </a:p>
          <a:p>
            <a:pPr lvl="1" eaLnBrk="1" hangingPunct="1"/>
            <a:r>
              <a:t>Initial state: initial board position + whose move it is</a:t>
            </a:r>
          </a:p>
          <a:p>
            <a:pPr lvl="1" eaLnBrk="1" hangingPunct="1"/>
            <a:r>
              <a:t>Operators: legal moves a player can make</a:t>
            </a:r>
          </a:p>
          <a:p>
            <a:pPr lvl="1" eaLnBrk="1" hangingPunct="1"/>
            <a:r>
              <a:t>Goal (terminal test):  game over?</a:t>
            </a:r>
          </a:p>
          <a:p>
            <a:pPr lvl="1" eaLnBrk="1" hangingPunct="1"/>
            <a:r>
              <a:t>Utility (payoff) function: measures the outcome of the game and its desirability </a:t>
            </a:r>
          </a:p>
          <a:p>
            <a:pPr eaLnBrk="1" hangingPunct="1"/>
            <a:r>
              <a:t>Search objective:</a:t>
            </a:r>
          </a:p>
          <a:p>
            <a:pPr lvl="1" eaLnBrk="1" hangingPunct="1"/>
            <a:r>
              <a:t>Find the sequence of player’s decisions (moves) maximizing its utility (payoff)</a:t>
            </a:r>
          </a:p>
          <a:p>
            <a:pPr lvl="1" eaLnBrk="1" hangingPunct="1"/>
            <a:r>
              <a:t>Consider the opponent’s moves and their utility</a:t>
            </a:r>
          </a:p>
        </p:txBody>
      </p:sp>
      <p:sp>
        <p:nvSpPr>
          <p:cNvPr id="18436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Game tree (2-player, deterministic, turns)</a:t>
            </a:r>
            <a:endParaRPr dirty="0"/>
          </a:p>
        </p:txBody>
      </p:sp>
      <p:pic>
        <p:nvPicPr>
          <p:cNvPr id="19459" name="Picture 4" descr="tictacto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752600"/>
            <a:ext cx="6048375" cy="430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483"/>
            <a:ext cx="8229600" cy="1143000"/>
          </a:xfrm>
        </p:spPr>
        <p:txBody>
          <a:bodyPr/>
          <a:p>
            <a:r>
              <a:rPr lang="en-US"/>
              <a:t>How to Calculate MINIMAX Value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76200" y="2819400"/>
            <a:ext cx="8954770" cy="17862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err="1"/>
              <a:t>Minimax</a:t>
            </a:r>
            <a:r>
              <a:t> Algorithm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t>How to deal with the contingency problem?</a:t>
            </a:r>
          </a:p>
          <a:p>
            <a:pPr lvl="1" eaLnBrk="1" hangingPunct="1"/>
            <a:r>
              <a:t>Assuming the opponent is always rational and always optimizes its behavior (opposite to us), we consider the best opponent’s response</a:t>
            </a:r>
            <a:r>
              <a:rPr lang="en-US"/>
              <a:t>.</a:t>
            </a:r>
          </a:p>
          <a:p>
            <a:pPr lvl="1" eaLnBrk="1" hangingPunct="1"/>
            <a:r>
              <a:t>Then the </a:t>
            </a:r>
            <a:r>
              <a:rPr err="1"/>
              <a:t>minimax</a:t>
            </a:r>
            <a:r>
              <a:t> algorithm determines the best move</a:t>
            </a:r>
            <a:r>
              <a:rPr lang="en-US"/>
              <a:t>.</a:t>
            </a:r>
          </a:p>
          <a:p>
            <a:pPr lvl="1" eaLnBrk="1" hangingPunct="1"/>
            <a:r>
              <a:rPr lang="en-US"/>
              <a:t>Steps:</a:t>
            </a:r>
            <a:endParaRPr lang="en-US"/>
          </a:p>
          <a:p>
            <a:pPr marL="914400" lvl="1" indent="-457200" eaLnBrk="1" hangingPunct="1">
              <a:buAutoNum type="arabicPeriod"/>
            </a:pPr>
            <a:r>
              <a:rPr lang="en-US" altLang="en-US"/>
              <a:t> Generate the Game Tree</a:t>
            </a:r>
            <a:endParaRPr lang="en-US" altLang="en-US"/>
          </a:p>
          <a:p>
            <a:pPr marL="914400" lvl="1" indent="-457200" eaLnBrk="1" hangingPunct="1">
              <a:buAutoNum type="arabicPeriod"/>
            </a:pPr>
            <a:r>
              <a:rPr lang="en-US" altLang="en-US"/>
              <a:t>Evaluate Terminal States</a:t>
            </a:r>
            <a:endParaRPr lang="en-US" altLang="en-US"/>
          </a:p>
          <a:p>
            <a:pPr marL="914400" lvl="1" indent="-457200" eaLnBrk="1" hangingPunct="1">
              <a:buAutoNum type="arabicPeriod"/>
            </a:pPr>
            <a:r>
              <a:rPr lang="en-US" altLang="en-US"/>
              <a:t>Propagate Utility Values Upwards</a:t>
            </a:r>
            <a:endParaRPr lang="en-US" altLang="en-US"/>
          </a:p>
        </p:txBody>
      </p:sp>
      <p:sp>
        <p:nvSpPr>
          <p:cNvPr id="20484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473710" y="304800"/>
            <a:ext cx="8310880" cy="61410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err="1"/>
              <a:t>Minimax</a:t>
            </a: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sz="1800"/>
              <a:t>Perfect play for deterministic games
</a:t>
            </a:r>
            <a:endParaRPr sz="1800"/>
          </a:p>
          <a:p>
            <a:pPr eaLnBrk="1" hangingPunct="1"/>
            <a:r>
              <a:rPr sz="1800"/>
              <a:t>Idea: choose move to position with highest </a:t>
            </a:r>
            <a:r>
              <a:rPr sz="1800" err="1">
                <a:solidFill>
                  <a:srgbClr val="FF0000"/>
                </a:solidFill>
              </a:rPr>
              <a:t>minimax</a:t>
            </a:r>
            <a:r>
              <a:rPr sz="1800">
                <a:solidFill>
                  <a:srgbClr val="FF0000"/>
                </a:solidFill>
              </a:rPr>
              <a:t> value</a:t>
            </a:r>
            <a:r>
              <a:rPr sz="1800"/>
              <a:t> </a:t>
            </a:r>
            <a:br>
              <a:rPr sz="1800"/>
            </a:br>
            <a:r>
              <a:rPr sz="1800"/>
              <a:t>	= best achievable payoff against best play
</a:t>
            </a:r>
            <a:endParaRPr sz="1800"/>
          </a:p>
          <a:p>
            <a:pPr eaLnBrk="1" hangingPunct="1"/>
            <a:r>
              <a:rPr sz="1800"/>
              <a:t>E.g., 2-ply game: </a:t>
            </a:r>
            <a:r>
              <a:rPr sz="1800">
                <a:solidFill>
                  <a:srgbClr val="FF0000"/>
                </a:solidFill>
              </a:rPr>
              <a:t>[will go through another </a:t>
            </a:r>
            <a:r>
              <a:rPr sz="1800" err="1">
                <a:solidFill>
                  <a:srgbClr val="FF0000"/>
                </a:solidFill>
              </a:rPr>
              <a:t>eg</a:t>
            </a:r>
            <a:r>
              <a:rPr sz="1800">
                <a:solidFill>
                  <a:srgbClr val="FF0000"/>
                </a:solidFill>
              </a:rPr>
              <a:t> in lecture]
</a:t>
            </a:r>
            <a:endParaRPr sz="1800">
              <a:solidFill>
                <a:srgbClr val="FF0000"/>
              </a:solidFill>
            </a:endParaRPr>
          </a:p>
          <a:p>
            <a:pPr eaLnBrk="1" hangingPunct="1"/>
          </a:p>
        </p:txBody>
      </p:sp>
      <p:pic>
        <p:nvPicPr>
          <p:cNvPr id="21508" name="Picture 4" descr="minima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657600"/>
            <a:ext cx="6705600" cy="28305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Slide Number Placeholder 6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err="1"/>
              <a:t>Minimax</a:t>
            </a:r>
            <a:r>
              <a:t>.  Example </a:t>
            </a:r>
          </a:p>
        </p:txBody>
      </p:sp>
      <p:pic>
        <p:nvPicPr>
          <p:cNvPr id="22531" name="Content Placeholder 4" descr="Picture 4.png"/>
          <p:cNvPicPr>
            <a:picLocks noGrp="1" noChangeAspect="1"/>
          </p:cNvPicPr>
          <p:nvPr>
            <p:ph idx="1"/>
          </p:nvPr>
        </p:nvPicPr>
        <p:blipFill>
          <a:blip r:embed="rId1"/>
          <a:srcRect t="-2698" b="-2698"/>
          <a:stretch>
            <a:fillRect/>
          </a:stretch>
        </p:blipFill>
        <p:spPr>
          <a:ln/>
        </p:spPr>
      </p:pic>
      <p:sp>
        <p:nvSpPr>
          <p:cNvPr id="22532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dirty="0"/>
          </a:p>
        </p:txBody>
      </p:sp>
      <p:pic>
        <p:nvPicPr>
          <p:cNvPr id="23555" name="Content Placeholder 3" descr="Picture 1.png"/>
          <p:cNvPicPr>
            <a:picLocks noGrp="1" noChangeAspect="1"/>
          </p:cNvPicPr>
          <p:nvPr>
            <p:ph idx="1"/>
          </p:nvPr>
        </p:nvPicPr>
        <p:blipFill>
          <a:blip r:embed="rId1"/>
          <a:srcRect t="-2844" b="-2844"/>
          <a:stretch>
            <a:fillRect/>
          </a:stretch>
        </p:blipFill>
        <p:spPr>
          <a:ln/>
        </p:spPr>
      </p:pic>
      <p:sp>
        <p:nvSpPr>
          <p:cNvPr id="23556" name="Slide Number Placeholder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Complexity of the </a:t>
            </a:r>
            <a:r>
              <a:rPr err="1"/>
              <a:t>minimax</a:t>
            </a:r>
            <a:r>
              <a:t> algorithm</a:t>
            </a:r>
          </a:p>
        </p:txBody>
      </p:sp>
      <p:pic>
        <p:nvPicPr>
          <p:cNvPr id="24579" name="Content Placeholder 3" descr="Picture 2.png"/>
          <p:cNvPicPr>
            <a:picLocks noGrp="1" noChangeAspect="1"/>
          </p:cNvPicPr>
          <p:nvPr>
            <p:ph idx="1"/>
          </p:nvPr>
        </p:nvPicPr>
        <p:blipFill>
          <a:blip r:embed="rId1"/>
          <a:srcRect l="-7463" r="-7463"/>
          <a:stretch>
            <a:fillRect/>
          </a:stretch>
        </p:blipFill>
        <p:spPr>
          <a:ln/>
        </p:spPr>
      </p:pic>
      <p:sp>
        <p:nvSpPr>
          <p:cNvPr id="24580" name="Slide Number Placeholder 4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Solution to the complexity problem</a:t>
            </a:r>
          </a:p>
        </p:txBody>
      </p:sp>
      <p:pic>
        <p:nvPicPr>
          <p:cNvPr id="25603" name="Content Placeholder 4" descr="Picture 3.png"/>
          <p:cNvPicPr>
            <a:picLocks noGrp="1" noChangeAspect="1"/>
          </p:cNvPicPr>
          <p:nvPr>
            <p:ph idx="1"/>
          </p:nvPr>
        </p:nvPicPr>
        <p:blipFill>
          <a:blip r:embed="rId1"/>
          <a:srcRect t="-327" b="-327"/>
          <a:stretch>
            <a:fillRect/>
          </a:stretch>
        </p:blipFill>
        <p:spPr>
          <a:ln/>
        </p:spPr>
      </p:pic>
      <p:sp>
        <p:nvSpPr>
          <p:cNvPr id="25604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Alpha Beta Pruning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t>Some branches will never be played by rational players since they include sub-optimal decisions for either player</a:t>
            </a:r>
          </a:p>
          <a:p>
            <a:pPr eaLnBrk="1" hangingPunct="1"/>
            <a:r>
              <a:t>First, we will see the idea of Alpha Beta Pruning</a:t>
            </a:r>
          </a:p>
          <a:p>
            <a:pPr eaLnBrk="1" hangingPunct="1"/>
            <a:r>
              <a:t>Then, we’ll introduce the algorithm for </a:t>
            </a:r>
            <a:r>
              <a:rPr err="1"/>
              <a:t>minimax</a:t>
            </a:r>
            <a:r>
              <a:t> with alpha beta pruning, and go through the example again, showing the book-keeping it does as it goes along</a:t>
            </a:r>
          </a:p>
        </p:txBody>
      </p:sp>
      <p:sp>
        <p:nvSpPr>
          <p:cNvPr id="26628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Alpha beta pruning.  Example </a:t>
            </a:r>
          </a:p>
        </p:txBody>
      </p:sp>
      <p:pic>
        <p:nvPicPr>
          <p:cNvPr id="27651" name="Content Placeholder 4" descr="Picture 4.png"/>
          <p:cNvPicPr>
            <a:picLocks noGrp="1" noChangeAspect="1"/>
          </p:cNvPicPr>
          <p:nvPr>
            <p:ph idx="1"/>
          </p:nvPr>
        </p:nvPicPr>
        <p:blipFill>
          <a:blip r:embed="rId1"/>
          <a:srcRect t="-2698" b="-2698"/>
          <a:stretch>
            <a:fillRect/>
          </a:stretch>
        </p:blipFill>
        <p:spPr>
          <a:ln/>
        </p:spPr>
      </p:pic>
      <p:sp>
        <p:nvSpPr>
          <p:cNvPr id="27652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err="1"/>
              <a:t>Minimax</a:t>
            </a:r>
            <a:r>
              <a:t> with alpha-beta pruning: The algorithm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err="1"/>
              <a:t>Maxv</a:t>
            </a:r>
            <a:r>
              <a:t>: function called for max nodes</a:t>
            </a:r>
          </a:p>
          <a:p>
            <a:pPr lvl="1" eaLnBrk="1" hangingPunct="1"/>
            <a:r>
              <a:t>Might update alpha, the best max can do far</a:t>
            </a:r>
          </a:p>
          <a:p>
            <a:pPr eaLnBrk="1" hangingPunct="1"/>
            <a:r>
              <a:rPr err="1"/>
              <a:t>Minv</a:t>
            </a:r>
            <a:r>
              <a:t>: function called for min nodes</a:t>
            </a:r>
          </a:p>
          <a:p>
            <a:pPr lvl="1" eaLnBrk="1" hangingPunct="1"/>
            <a:r>
              <a:t>Might update beta, the best min can do so far</a:t>
            </a:r>
          </a:p>
          <a:p>
            <a:pPr lvl="1" eaLnBrk="1" hangingPunct="1"/>
          </a:p>
          <a:p>
            <a:pPr eaLnBrk="1" hangingPunct="1"/>
            <a:r>
              <a:t>Each tests for the appropriate pruning case</a:t>
            </a:r>
          </a:p>
          <a:p>
            <a:pPr eaLnBrk="1" hangingPunct="1"/>
            <a:r>
              <a:t>We’ll go through the algorithm on the course website</a:t>
            </a:r>
          </a:p>
          <a:p>
            <a:pPr eaLnBrk="1" hangingPunct="1"/>
          </a:p>
        </p:txBody>
      </p:sp>
      <p:sp>
        <p:nvSpPr>
          <p:cNvPr id="28676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Algorithm example: alphas/betas shown</a:t>
            </a:r>
          </a:p>
        </p:txBody>
      </p:sp>
      <p:pic>
        <p:nvPicPr>
          <p:cNvPr id="29699" name="Content Placeholder 4" descr="Picture 4.png"/>
          <p:cNvPicPr>
            <a:picLocks noGrp="1" noChangeAspect="1"/>
          </p:cNvPicPr>
          <p:nvPr>
            <p:ph idx="1"/>
          </p:nvPr>
        </p:nvPicPr>
        <p:blipFill>
          <a:blip r:embed="rId1"/>
          <a:srcRect t="-2698" b="-2698"/>
          <a:stretch>
            <a:fillRect/>
          </a:stretch>
        </p:blipFill>
        <p:spPr>
          <a:ln/>
        </p:spPr>
      </p:pic>
      <p:sp>
        <p:nvSpPr>
          <p:cNvPr id="29700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dirty="0"/>
              <a:t>Properties of α-β</a:t>
            </a:r>
            <a:endParaRPr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dirty="0"/>
              <a:t>Pruning </a:t>
            </a:r>
            <a:r>
              <a:rPr dirty="0">
                <a:solidFill>
                  <a:srgbClr val="FF0000"/>
                </a:solidFill>
              </a:rPr>
              <a:t>does not</a:t>
            </a:r>
            <a:r>
              <a:rPr dirty="0"/>
              <a:t> affect final result
</a:t>
            </a:r>
            <a:endParaRPr dirty="0"/>
          </a:p>
          <a:p>
            <a:pPr lvl="4" eaLnBrk="1" hangingPunct="1">
              <a:lnSpc>
                <a:spcPct val="90000"/>
              </a:lnSpc>
            </a:pPr>
            <a:endParaRPr sz="1600" dirty="0"/>
          </a:p>
          <a:p>
            <a:pPr eaLnBrk="1" hangingPunct="1">
              <a:lnSpc>
                <a:spcPct val="90000"/>
              </a:lnSpc>
            </a:pPr>
            <a:r>
              <a:rPr dirty="0"/>
              <a:t>Good move ordering improves effectiveness of pruning
</a:t>
            </a:r>
            <a:endParaRPr dirty="0"/>
          </a:p>
          <a:p>
            <a:pPr lvl="4" eaLnBrk="1" hangingPunct="1">
              <a:lnSpc>
                <a:spcPct val="90000"/>
              </a:lnSpc>
            </a:pPr>
            <a:endParaRPr sz="1600" dirty="0"/>
          </a:p>
          <a:p>
            <a:pPr eaLnBrk="1" hangingPunct="1">
              <a:lnSpc>
                <a:spcPct val="90000"/>
              </a:lnSpc>
            </a:pPr>
            <a:r>
              <a:rPr dirty="0"/>
              <a:t>With "perfect ordering," time complexity = O(b</a:t>
            </a:r>
            <a:r>
              <a:rPr baseline="30000" dirty="0"/>
              <a:t>m/2</a:t>
            </a:r>
            <a:r>
              <a:rPr dirty="0"/>
              <a:t>)</a:t>
            </a:r>
            <a:endParaRPr dirty="0"/>
          </a:p>
          <a:p>
            <a:pPr lvl="1" eaLnBrk="1" hangingPunct="1">
              <a:lnSpc>
                <a:spcPct val="90000"/>
              </a:lnSpc>
              <a:buNone/>
            </a:pPr>
            <a:r>
              <a:rPr dirty="0"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doubles</a:t>
            </a:r>
            <a:r>
              <a:rPr dirty="0"/>
              <a:t> depth of search</a:t>
            </a:r>
            <a:endParaRPr dirty="0"/>
          </a:p>
          <a:p>
            <a:pPr lvl="4" eaLnBrk="1" hangingPunct="1">
              <a:lnSpc>
                <a:spcPct val="90000"/>
              </a:lnSpc>
            </a:pPr>
            <a:endParaRPr sz="1600" dirty="0"/>
          </a:p>
          <a:p>
            <a:pPr eaLnBrk="1" hangingPunct="1">
              <a:lnSpc>
                <a:spcPct val="90000"/>
              </a:lnSpc>
            </a:pPr>
            <a:r>
              <a:rPr dirty="0"/>
              <a:t>A simple example of the value of reasoning about which computations are relevant (a form of </a:t>
            </a:r>
            <a:r>
              <a:rPr dirty="0">
                <a:solidFill>
                  <a:srgbClr val="FF0000"/>
                </a:solidFill>
              </a:rPr>
              <a:t>metareasoning</a:t>
            </a:r>
            <a:r>
              <a:rPr dirty="0"/>
              <a:t>)
</a:t>
            </a:r>
            <a:endParaRPr dirty="0"/>
          </a:p>
        </p:txBody>
      </p:sp>
      <p:sp>
        <p:nvSpPr>
          <p:cNvPr id="30724" name="Slide Number Placeholder 5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dirty="0"/>
          </a:p>
        </p:txBody>
      </p:sp>
      <p:pic>
        <p:nvPicPr>
          <p:cNvPr id="31747" name="Content Placeholder 4" descr="Picture 1.png"/>
          <p:cNvPicPr>
            <a:picLocks noGrp="1" noChangeAspect="1"/>
          </p:cNvPicPr>
          <p:nvPr>
            <p:ph idx="1"/>
          </p:nvPr>
        </p:nvPicPr>
        <p:blipFill>
          <a:blip r:embed="rId1"/>
          <a:srcRect l="-14520" r="-14520"/>
          <a:stretch>
            <a:fillRect/>
          </a:stretch>
        </p:blipFill>
        <p:spPr>
          <a:ln/>
        </p:spPr>
      </p:pic>
      <p:sp>
        <p:nvSpPr>
          <p:cNvPr id="31748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Design of evaluation functions</a:t>
            </a:r>
          </a:p>
        </p:txBody>
      </p:sp>
      <p:pic>
        <p:nvPicPr>
          <p:cNvPr id="32771" name="Content Placeholder 4" descr="Picture 2.png"/>
          <p:cNvPicPr>
            <a:picLocks noGrp="1" noChangeAspect="1"/>
          </p:cNvPicPr>
          <p:nvPr>
            <p:ph idx="1"/>
          </p:nvPr>
        </p:nvPicPr>
        <p:blipFill>
          <a:blip r:embed="rId1"/>
          <a:srcRect l="-10030" r="-10030"/>
          <a:stretch>
            <a:fillRect/>
          </a:stretch>
        </p:blipFill>
        <p:spPr>
          <a:ln/>
        </p:spPr>
      </p:pic>
      <p:sp>
        <p:nvSpPr>
          <p:cNvPr id="32772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t>Further extensions to </a:t>
            </a:r>
            <a:r>
              <a:rPr dirty="0"/>
              <a:t>real games</a:t>
            </a:r>
            <a:endParaRPr dirty="0"/>
          </a:p>
        </p:txBody>
      </p:sp>
      <p:pic>
        <p:nvPicPr>
          <p:cNvPr id="33795" name="Content Placeholder 4" descr="Picture 5.png"/>
          <p:cNvPicPr>
            <a:picLocks noGrp="1" noChangeAspect="1"/>
          </p:cNvPicPr>
          <p:nvPr>
            <p:ph idx="1"/>
          </p:nvPr>
        </p:nvPicPr>
        <p:blipFill>
          <a:blip r:embed="rId1"/>
          <a:srcRect l="-2443" r="-2443"/>
          <a:stretch>
            <a:fillRect/>
          </a:stretch>
        </p:blipFill>
        <p:spPr>
          <a:ln/>
        </p:spPr>
      </p:pic>
      <p:sp>
        <p:nvSpPr>
          <p:cNvPr id="33796" name="Slide Number Placeholder 3"/>
          <p:cNvSpPr txBox="1"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-109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sz="1400" dirty="0"/>
            </a:fld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2781</Words>
  <Application>WPS Slides</Application>
  <PresentationFormat/>
  <Paragraphs>132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MS PGothic</vt:lpstr>
      <vt:lpstr>Calibri</vt:lpstr>
      <vt:lpstr>Times New Roman</vt:lpstr>
      <vt:lpstr>Microsoft YaHei</vt:lpstr>
      <vt:lpstr>Arial Unicode MS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</dc:title>
  <dc:creator>Min-Yen Kan</dc:creator>
  <cp:lastModifiedBy>khaul</cp:lastModifiedBy>
  <cp:revision>10</cp:revision>
  <cp:lastPrinted>2013-09-17T21:59:41Z</cp:lastPrinted>
  <dcterms:created xsi:type="dcterms:W3CDTF">2013-09-17T20:31:21Z</dcterms:created>
  <dcterms:modified xsi:type="dcterms:W3CDTF">2025-05-08T11:02:32Z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27FA80F433954788B6E751DF23DE6764_12</vt:lpwstr>
  </property>
  <property fmtid="{D5CDD505-2E9C-101B-9397-08002B2CF9AE}" pid="3" name="KSOProductBuildVer">
    <vt:lpwstr>1033-12.2.0.20795</vt:lpwstr>
  </property>
</Properties>
</file>