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1252" r:id="rId2"/>
    <p:sldId id="1044" r:id="rId3"/>
    <p:sldId id="1096" r:id="rId4"/>
    <p:sldId id="1203" r:id="rId5"/>
    <p:sldId id="1098" r:id="rId6"/>
    <p:sldId id="1099" r:id="rId7"/>
    <p:sldId id="1100" r:id="rId8"/>
    <p:sldId id="1101" r:id="rId9"/>
    <p:sldId id="1102" r:id="rId10"/>
    <p:sldId id="1204" r:id="rId11"/>
    <p:sldId id="1205" r:id="rId12"/>
    <p:sldId id="1104" r:id="rId13"/>
    <p:sldId id="1231" r:id="rId14"/>
    <p:sldId id="1106" r:id="rId15"/>
    <p:sldId id="1107" r:id="rId16"/>
    <p:sldId id="1110" r:id="rId17"/>
    <p:sldId id="1111" r:id="rId18"/>
    <p:sldId id="1112" r:id="rId19"/>
    <p:sldId id="1198" r:id="rId20"/>
    <p:sldId id="1124" r:id="rId21"/>
    <p:sldId id="1125" r:id="rId22"/>
    <p:sldId id="1113" r:id="rId23"/>
    <p:sldId id="1199" r:id="rId24"/>
    <p:sldId id="500" r:id="rId25"/>
    <p:sldId id="501" r:id="rId26"/>
    <p:sldId id="1259" r:id="rId27"/>
    <p:sldId id="502" r:id="rId28"/>
    <p:sldId id="1114" r:id="rId29"/>
    <p:sldId id="1115" r:id="rId30"/>
    <p:sldId id="1116" r:id="rId31"/>
    <p:sldId id="1200" r:id="rId32"/>
    <p:sldId id="1201" r:id="rId33"/>
    <p:sldId id="1117" r:id="rId34"/>
    <p:sldId id="1119" r:id="rId35"/>
    <p:sldId id="1045" r:id="rId36"/>
    <p:sldId id="1123" r:id="rId37"/>
    <p:sldId id="1121" r:id="rId38"/>
    <p:sldId id="1195" r:id="rId39"/>
    <p:sldId id="1196" r:id="rId40"/>
    <p:sldId id="1126" r:id="rId41"/>
    <p:sldId id="1127" r:id="rId42"/>
    <p:sldId id="1128" r:id="rId43"/>
    <p:sldId id="1131" r:id="rId44"/>
    <p:sldId id="1129" r:id="rId45"/>
    <p:sldId id="1130" r:id="rId46"/>
    <p:sldId id="1197" r:id="rId47"/>
    <p:sldId id="340" r:id="rId48"/>
    <p:sldId id="1184" r:id="rId49"/>
    <p:sldId id="1046" r:id="rId50"/>
    <p:sldId id="1193" r:id="rId51"/>
    <p:sldId id="1194" r:id="rId52"/>
    <p:sldId id="1132" r:id="rId53"/>
    <p:sldId id="1133" r:id="rId54"/>
    <p:sldId id="1134" r:id="rId55"/>
    <p:sldId id="1135" r:id="rId56"/>
    <p:sldId id="1143" r:id="rId57"/>
    <p:sldId id="1144" r:id="rId58"/>
    <p:sldId id="1146" r:id="rId59"/>
    <p:sldId id="1147" r:id="rId60"/>
    <p:sldId id="1258" r:id="rId61"/>
    <p:sldId id="1145" r:id="rId62"/>
    <p:sldId id="1254" r:id="rId63"/>
    <p:sldId id="1255" r:id="rId64"/>
    <p:sldId id="1256" r:id="rId65"/>
    <p:sldId id="1148" r:id="rId66"/>
    <p:sldId id="1141" r:id="rId67"/>
    <p:sldId id="1138" r:id="rId68"/>
    <p:sldId id="1192" r:id="rId69"/>
    <p:sldId id="1140" r:id="rId70"/>
    <p:sldId id="1183" r:id="rId71"/>
    <p:sldId id="1260" r:id="rId72"/>
    <p:sldId id="1261" r:id="rId73"/>
    <p:sldId id="614" r:id="rId74"/>
    <p:sldId id="1202" r:id="rId75"/>
    <p:sldId id="606" r:id="rId76"/>
    <p:sldId id="1262" r:id="rId77"/>
    <p:sldId id="1263" r:id="rId78"/>
    <p:sldId id="296" r:id="rId79"/>
    <p:sldId id="300" r:id="rId80"/>
    <p:sldId id="301" r:id="rId81"/>
    <p:sldId id="302" r:id="rId82"/>
    <p:sldId id="306" r:id="rId83"/>
    <p:sldId id="1185" r:id="rId84"/>
    <p:sldId id="1186" r:id="rId85"/>
    <p:sldId id="1187" r:id="rId86"/>
    <p:sldId id="1189" r:id="rId87"/>
    <p:sldId id="1142"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A3"/>
    <a:srgbClr val="3C6CDF"/>
    <a:srgbClr val="ED356A"/>
    <a:srgbClr val="E40000"/>
    <a:srgbClr val="FFB3D3"/>
    <a:srgbClr val="FA376E"/>
    <a:srgbClr val="9CDFF9"/>
    <a:srgbClr val="0000A8"/>
    <a:srgbClr val="B8C2C9"/>
    <a:srgbClr val="D6D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6"/>
    <p:restoredTop sz="95934"/>
  </p:normalViewPr>
  <p:slideViewPr>
    <p:cSldViewPr snapToGrid="0" snapToObjects="1">
      <p:cViewPr varScale="1">
        <p:scale>
          <a:sx n="63" d="100"/>
          <a:sy n="63" d="100"/>
        </p:scale>
        <p:origin x="780" y="32"/>
      </p:cViewPr>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10/22/2026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dirty="0"/>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9.0:  updated to 9</a:t>
            </a:r>
            <a:r>
              <a:rPr lang="en-US" baseline="30000" dirty="0"/>
              <a:t>th</a:t>
            </a:r>
            <a:r>
              <a:rPr lang="en-US" dirty="0"/>
              <a:t> Edition, June 2025</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dirty="0"/>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dirty="0"/>
          </a:p>
        </p:txBody>
      </p:sp>
    </p:spTree>
    <p:extLst>
      <p:ext uri="{BB962C8B-B14F-4D97-AF65-F5344CB8AC3E}">
        <p14:creationId xmlns:p14="http://schemas.microsoft.com/office/powerpoint/2010/main" val="388260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MSS is 1460 bytes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584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3394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887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thing to note here is that the ACK number (43) on the B-to-A segment is one more than the sequence number (42) on the A-to-B segment that triggered that ACK</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Similarly, the ACK number (80) on the last A-to-B segment is one more than the sequence number (79) on the B-to-A segment that triggered that ACK</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182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3626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is how TCP re-computes the estimated RTT each time a new SampleRTT is taken.</a:t>
            </a:r>
          </a:p>
          <a:p>
            <a:r>
              <a:rPr lang="en-US" dirty="0"/>
              <a:t>The process is knows as an exponentially weighted moving average, shown by the equation here.</a:t>
            </a:r>
          </a:p>
          <a:p>
            <a:r>
              <a:rPr lang="en-US" dirty="0"/>
              <a:t>&lt;say it&gt;</a:t>
            </a:r>
          </a:p>
          <a:p>
            <a:r>
              <a:rPr lang="en-US" dirty="0"/>
              <a:t>Where alpha reflects the influence of the most recent measurements on the estimated RTT; a typical value of alpha used in implementations is .125</a:t>
            </a:r>
          </a:p>
          <a:p>
            <a:endParaRPr lang="en-US" dirty="0"/>
          </a:p>
          <a:p>
            <a:r>
              <a:rPr lang="en-US" dirty="0"/>
              <a:t>The graph at the bottom show measured RTTs between a host in the Massachusetts and a host in France, as well as the estimated, “smoothed”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4356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this value of the estimated RTT, TCP computes the timeout interval to be the estimated RTT plus a “safety margin”</a:t>
            </a:r>
          </a:p>
          <a:p>
            <a:r>
              <a:rPr lang="en-US" dirty="0"/>
              <a:t> </a:t>
            </a:r>
          </a:p>
          <a:p>
            <a:r>
              <a:rPr lang="en-US" dirty="0"/>
              <a:t>And the intuition is that if we are seeing a large variation in SAMPLERTT – the RTT estimates are fluctuating a lot - then we’ll want a larger safety margin</a:t>
            </a:r>
          </a:p>
          <a:p>
            <a:endParaRPr lang="en-US" dirty="0"/>
          </a:p>
          <a:p>
            <a:r>
              <a:rPr lang="en-US" dirty="0"/>
              <a:t>So TCP computes the Timeout interval to be the Estimated RTT plus 4 times a measure of deviation in the RTT.</a:t>
            </a:r>
          </a:p>
          <a:p>
            <a:endParaRPr lang="en-US" dirty="0"/>
          </a:p>
          <a:p>
            <a:r>
              <a:rPr lang="en-US" dirty="0"/>
              <a:t>The deviation in the RTT is computed as the eWMA of the difference between the most recently measured SampleRTT from the Estimated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007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Given these details of TCP sequence numbers, acks, and timers, we can now describe the big picture view of how the TCP sender and receiver operate</a:t>
            </a:r>
          </a:p>
          <a:p>
            <a:endParaRPr lang="en-US" dirty="0"/>
          </a:p>
          <a:p>
            <a:r>
              <a:rPr lang="en-US" dirty="0"/>
              <a:t>You can check out FSMs in book; let’s just give an English text description here and let’s start with the sender.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8937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Rather than immediately Acknowledging this segment, many TCP implementations will wait for half a second for another in-order segment to arrive, and then generate a single cumulative ACK for both segments – thus decreasing the amount of ACK traffic.  The arrival of this second in-order segment and the cumulative ACK generation that covers both segments is the second row in this table.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5711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transmitted and the ACK is lost, and the TCP timeout mechanism results in another copy of being transmitted and then re-ACKed a the sender</a:t>
            </a:r>
          </a:p>
          <a:p>
            <a:endParaRPr lang="en-US" dirty="0"/>
          </a:p>
          <a:p>
            <a:r>
              <a:rPr lang="en-US" dirty="0"/>
              <a:t>In the second example two segments are sent and acknowledged, but there is a premature timeout e for the first segment, which is retransmitted.  Note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7058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343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unACKed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17</a:t>
            </a:fld>
            <a:endParaRPr lang="en-US" dirty="0"/>
          </a:p>
        </p:txBody>
      </p:sp>
    </p:spTree>
    <p:extLst>
      <p:ext uri="{BB962C8B-B14F-4D97-AF65-F5344CB8AC3E}">
        <p14:creationId xmlns:p14="http://schemas.microsoft.com/office/powerpoint/2010/main" val="3117778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explicitly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377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explicitly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8057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explicitly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8328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(Presuming an intro)</a:t>
            </a:r>
          </a:p>
          <a:p>
            <a:endParaRPr lang="en-US" dirty="0"/>
          </a:p>
          <a:p>
            <a:r>
              <a:rPr lang="en-US" dirty="0"/>
              <a:t>Before diving into the details of TCP flow control, let’s first get the general context and motivate the need for flow control.</a:t>
            </a:r>
          </a:p>
          <a:p>
            <a:endParaRPr lang="en-US" dirty="0"/>
          </a:p>
          <a:p>
            <a:r>
              <a:rPr lang="en-US" dirty="0"/>
              <a:t>This diagram show a typical transport-layer implementation</a:t>
            </a:r>
          </a:p>
          <a:p>
            <a:endParaRPr lang="en-US" dirty="0"/>
          </a:p>
          <a:p>
            <a:pPr marL="171450" indent="-171450">
              <a:buFont typeface="Arial" panose="020B0604020202020204" pitchFamily="34" charset="0"/>
              <a:buChar char="•"/>
            </a:pPr>
            <a:r>
              <a:rPr lang="en-US" dirty="0"/>
              <a:t>A segment is brought up the protocol stack to the transport layer, and the segment’s payload is removed from the segment and written INTO  socket buffers.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does data get taken OUT of socket buffers?  By applications performing socket reads, as we learned in Chapter 2.</a:t>
            </a:r>
          </a:p>
          <a:p>
            <a:endParaRPr lang="en-US" dirty="0"/>
          </a:p>
          <a:p>
            <a:r>
              <a:rPr lang="en-US" dirty="0"/>
              <a:t>And so the question is “</a:t>
            </a:r>
            <a:r>
              <a:rPr kumimoji="0" lang="en-US" sz="1200" b="0" i="0" u="none" strike="noStrike" kern="1200" cap="none" spc="0" normalizeH="0" baseline="0" noProof="0" dirty="0">
                <a:ln>
                  <a:noFill/>
                </a:ln>
                <a:solidFill>
                  <a:prstClr val="black"/>
                </a:solidFill>
                <a:effectLst/>
                <a:uLnTx/>
                <a:uFillTx/>
                <a:latin typeface="+mn-lt"/>
                <a:ea typeface="+mn-ea"/>
                <a:cs typeface="+mn-cs"/>
              </a:rPr>
              <a:t>What happens if network layer delivers data faster than an application-layer process removes data from socket buffers?”</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Let’s watch a video of what happens when things arrive  way too fast to fast to be processed.</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&lt;video&gt;.   (I love that video).   Another human analogy showing the need for flow control is the saying – to use some English slang -  “no one can drink from a firehose”</a:t>
            </a:r>
          </a:p>
          <a:p>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r>
              <a:rPr kumimoji="0" lang="en-US" sz="1200" b="0" i="0" u="none" strike="noStrike" kern="1200" cap="none" spc="0" normalizeH="0" baseline="0" noProof="0" dirty="0">
                <a:ln>
                  <a:noFill/>
                </a:ln>
                <a:solidFill>
                  <a:prstClr val="black"/>
                </a:solidFill>
                <a:effectLst/>
                <a:uLnTx/>
                <a:uFillTx/>
                <a:latin typeface="+mn-lt"/>
                <a:ea typeface="+mn-ea"/>
                <a:cs typeface="+mn-cs"/>
              </a:rPr>
              <a:t>Flow control is a mechanism to the calamity of a receiver being over-run by a sender that is sending too fast – it allows the RECEIVER to explicitly control the SENDER </a:t>
            </a:r>
            <a:r>
              <a:rPr kumimoji="0" lang="en-US" altLang="en-US"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so sender won’</a:t>
            </a:r>
            <a:r>
              <a:rPr kumimoji="0" lang="en-US" altLang="ja-JP" sz="1200" b="0" i="0" u="none" strike="noStrike" kern="1200" cap="none" spc="0" normalizeH="0" baseline="0" noProof="0" dirty="0">
                <a:ln>
                  <a:noFill/>
                </a:ln>
                <a:solidFill>
                  <a:prstClr val="black"/>
                </a:solidFill>
                <a:effectLst/>
                <a:uLnTx/>
                <a:uFillTx/>
                <a:latin typeface="+mn-lt"/>
                <a:ea typeface="ＭＳ Ｐゴシック" panose="020B0600070205080204" pitchFamily="34" charset="-128"/>
                <a:cs typeface="+mn-cs"/>
              </a:rPr>
              <a:t>t overflow receiver’s buffer by transmitting too much, too fast</a:t>
            </a:r>
            <a:r>
              <a:rPr kumimoji="0" lang="en-US" sz="1200" b="0" i="0" u="none" strike="noStrike" kern="1200" cap="none" spc="0" normalizeH="0" baseline="0" noProof="0" dirty="0">
                <a:ln>
                  <a:noFill/>
                </a:ln>
                <a:solidFill>
                  <a:prstClr val="black"/>
                </a:solidFill>
                <a:effectLst/>
                <a:uLnTx/>
                <a:uFillTx/>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105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3564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TCP implement flow control.  The basic idea is simple – the receiver informs the sender how much free buffer space there is, and the sender is limited to send no more than this amount of data.  That the value o RWND in the diagram to the right.</a:t>
            </a:r>
          </a:p>
          <a:p>
            <a:endParaRPr lang="en-US" dirty="0"/>
          </a:p>
          <a:p>
            <a:r>
              <a:rPr lang="en-US" dirty="0"/>
              <a:t>This information is carried from the receiver to the sender in the “receiver advertised window” (do a PIP of header) in the TCP header, and the value will change as the amount of free buffer space fluctuates over time.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7341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other TCP topic we’ll want to consider here is that of “connection  management”</a:t>
            </a:r>
          </a:p>
          <a:p>
            <a:endParaRPr lang="en-US" dirty="0"/>
          </a:p>
          <a:p>
            <a:pPr marL="0" indent="0">
              <a:buFont typeface="Arial" panose="020B0604020202020204" pitchFamily="34" charset="0"/>
              <a:buNone/>
            </a:pPr>
            <a:r>
              <a:rPr lang="en-US" dirty="0"/>
              <a:t>The TCP sender and receiver have a number of pieces of shared state that they must establish before actually communicating</a:t>
            </a:r>
          </a:p>
          <a:p>
            <a:pPr marL="171450" indent="-171450">
              <a:buFont typeface="Arial" panose="020B0604020202020204" pitchFamily="34" charset="0"/>
              <a:buChar char="•"/>
            </a:pPr>
            <a:r>
              <a:rPr lang="en-US" dirty="0"/>
              <a:t>FIRST they must both agree that they WANT to communicate with each other</a:t>
            </a:r>
          </a:p>
          <a:p>
            <a:pPr marL="171450" indent="-171450">
              <a:buFont typeface="Arial" panose="020B0604020202020204" pitchFamily="34" charset="0"/>
              <a:buChar char="•"/>
            </a:pPr>
            <a:r>
              <a:rPr lang="en-US" dirty="0"/>
              <a:t>Secondly there are connection parameters – the initial sequence number and the initial receiver-advertised bufferspace that they’ll want to agree 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This is done via a so-called handshake protocol – the client reaching our to the server, and the server answering back.</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And before diving into the TCP handshake protocol, let’s first consider the problem of handshaking, of establishing shared state.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6570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Here’s an example of a two way handshake.  Alice reaches out to Bob and say’s “let’s talk” and Bob says OK, and they start their conversation</a:t>
            </a:r>
          </a:p>
          <a:p>
            <a:endParaRPr lang="en-US" dirty="0"/>
          </a:p>
          <a:p>
            <a:r>
              <a:rPr lang="en-US" dirty="0"/>
              <a:t>For a network protocol, the equivalent protocol would be a client sending a “request connection” message saying ”let’s talk, the initial sequence number is x”</a:t>
            </a:r>
          </a:p>
          <a:p>
            <a:r>
              <a:rPr lang="en-US" dirty="0"/>
              <a:t>And the server would respond with a message ”I accept your connect x”</a:t>
            </a:r>
          </a:p>
          <a:p>
            <a:endParaRPr lang="en-US" dirty="0"/>
          </a:p>
          <a:p>
            <a:r>
              <a:rPr lang="en-US" dirty="0"/>
              <a:t>And the question we want to ask ourselves is &lt;talk through&gt;</a:t>
            </a:r>
          </a:p>
          <a:p>
            <a:endParaRPr lang="en-US" dirty="0"/>
          </a:p>
          <a:p>
            <a:r>
              <a:rPr lang="en-US" dirty="0"/>
              <a:t>Will this work?  Let’s look at a few scenarios…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4249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7601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89066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706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TCP’s three way handshake, that operates as follows</a:t>
            </a:r>
          </a:p>
          <a:p>
            <a:r>
              <a:rPr lang="en-US" dirty="0"/>
              <a:t> </a:t>
            </a:r>
          </a:p>
          <a:p>
            <a:r>
              <a:rPr lang="en-US" dirty="0"/>
              <a:t>Let’s say the client and server both create a TCP socket as we learned about in Chapter 2 and enter the LISTEN state</a:t>
            </a:r>
          </a:p>
          <a:p>
            <a:endParaRPr lang="en-US" dirty="0"/>
          </a:p>
          <a:p>
            <a:r>
              <a:rPr lang="en-US" dirty="0"/>
              <a:t>The client then connects to the server sending a SYN message with a sequence number x (SYN Message is an TCP Segment with SYN but set in the header – you might want to go back and review the TCP segment format!)</a:t>
            </a:r>
          </a:p>
          <a:p>
            <a:endParaRPr lang="en-US" dirty="0"/>
          </a:p>
          <a:p>
            <a:r>
              <a:rPr lang="en-US" dirty="0"/>
              <a:t>The server is waiting for a connection, and receives the SYN message enters the SYN received state (NOT the established state and sends a SYN ACK message back.</a:t>
            </a:r>
          </a:p>
          <a:p>
            <a:endParaRPr lang="en-US" dirty="0"/>
          </a:p>
          <a:p>
            <a:r>
              <a:rPr lang="en-US" dirty="0"/>
              <a:t>Finally the client sends an ACK message to the server, and when the server receiver this enters the Established state.  This is when the application process would see the return from the wait on the  socket accept() call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1564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good things must come to an end, and that’s true for a TCP connection as well.</a:t>
            </a:r>
          </a:p>
          <a:p>
            <a:endParaRPr lang="en-US" dirty="0"/>
          </a:p>
          <a:p>
            <a:r>
              <a:rPr lang="en-US" dirty="0"/>
              <a:t>And of course there’s a protocol for one side to gracefully close of a TCP connection using a FIN message, to which the other side sends a FINACK message and waits around a bit to respond to any retransmitted FIN messages before timing out.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18581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35</a:t>
            </a:fld>
            <a:endParaRPr lang="en-US" dirty="0"/>
          </a:p>
        </p:txBody>
      </p:sp>
    </p:spTree>
    <p:extLst>
      <p:ext uri="{BB962C8B-B14F-4D97-AF65-F5344CB8AC3E}">
        <p14:creationId xmlns:p14="http://schemas.microsoft.com/office/powerpoint/2010/main" val="1146393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359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0711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3345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8702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5774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87928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46518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44600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9711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6353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48438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C85D20-FC40-294D-80D2-53640716ABA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90355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C85D20-FC40-294D-80D2-53640716ABA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88600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49</a:t>
            </a:fld>
            <a:endParaRPr lang="en-US" dirty="0"/>
          </a:p>
        </p:txBody>
      </p:sp>
    </p:spTree>
    <p:extLst>
      <p:ext uri="{BB962C8B-B14F-4D97-AF65-F5344CB8AC3E}">
        <p14:creationId xmlns:p14="http://schemas.microsoft.com/office/powerpoint/2010/main" val="21385487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7696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42905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77316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18482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69560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2162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76402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10986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1201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69623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D160B-A8FC-02C4-7FB1-D177BB3B1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D00D9-94D3-5372-A43B-558BF72CD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6A191-39CD-B265-409D-38DE5019A6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E36087-2085-52BD-0274-15F4951FDA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23788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34695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1A3F9-B09D-033B-4714-1387E239E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39620-7E3A-9227-CCE9-27A1FCEAD7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3EEDF-518E-00DB-A95F-262B3546F8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C6D1E6-81F0-2D7F-21EC-ECF4F5DD57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73093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B02FB-6A21-696E-9D23-8B3484D20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CE18D-1AE4-55B9-A630-094420A2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D11CC-3C28-3A92-6940-8921A175DF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354BE-6F5B-168D-CEB6-5FCEBE1583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71738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BBR ("</a:t>
            </a:r>
            <a:r>
              <a:rPr lang="en-US" b="1"/>
              <a:t>B</a:t>
            </a:r>
            <a:r>
              <a:rPr lang="en-US"/>
              <a:t>ottleneck </a:t>
            </a:r>
            <a:r>
              <a:rPr lang="en-US" b="1"/>
              <a:t>B</a:t>
            </a:r>
            <a:r>
              <a:rPr lang="en-US"/>
              <a:t>andwidth and</a:t>
            </a:r>
            <a:r>
              <a:rPr lang="en-US" b="1"/>
              <a:t> R</a:t>
            </a:r>
            <a:r>
              <a:rPr lang="en-US"/>
              <a:t>ound-trip propagation time") is a new congestion control algorithm developed at Google.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10552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03316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12030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64086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48981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70</a:t>
            </a:fld>
            <a:endParaRPr lang="en-US" dirty="0"/>
          </a:p>
        </p:txBody>
      </p:sp>
    </p:spTree>
    <p:extLst>
      <p:ext uri="{BB962C8B-B14F-4D97-AF65-F5344CB8AC3E}">
        <p14:creationId xmlns:p14="http://schemas.microsoft.com/office/powerpoint/2010/main" val="21969999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a:r>
            <a:r>
              <a:rPr lang="en-US" dirty="0" err="1"/>
              <a:t>cwnd</a:t>
            </a:r>
            <a:r>
              <a:rPr lang="en-US" dirty="0"/>
              <a:t>=1024 and 10 packets are dropped in this window, Reno will reduce </a:t>
            </a:r>
            <a:r>
              <a:rPr lang="en-US" dirty="0" err="1"/>
              <a:t>cwnd</a:t>
            </a:r>
            <a:r>
              <a:rPr lang="en-US" dirty="0"/>
              <a:t> by 50% 10 times, finally </a:t>
            </a:r>
            <a:r>
              <a:rPr lang="en-US" dirty="0" err="1"/>
              <a:t>cwnd</a:t>
            </a:r>
            <a:r>
              <a:rPr lang="en-US" dirty="0"/>
              <a:t>=1024/210 = 1, it is astonishing. It would take 10 RTTs by the sender to again grow its </a:t>
            </a:r>
            <a:r>
              <a:rPr lang="en-US" dirty="0" err="1"/>
              <a:t>cwnd</a:t>
            </a:r>
            <a:r>
              <a:rPr lang="en-US" dirty="0"/>
              <a:t> up to 1024 using slow start leave alone the AIMD algorithm.</a:t>
            </a:r>
          </a:p>
        </p:txBody>
      </p:sp>
      <p:sp>
        <p:nvSpPr>
          <p:cNvPr id="4" name="Slide Number Placeholder 3"/>
          <p:cNvSpPr>
            <a:spLocks noGrp="1"/>
          </p:cNvSpPr>
          <p:nvPr>
            <p:ph type="sldNum" sz="quarter" idx="5"/>
          </p:nvPr>
        </p:nvSpPr>
        <p:spPr/>
        <p:txBody>
          <a:bodyPr/>
          <a:lstStyle/>
          <a:p>
            <a:fld id="{3D91EEAC-CFEF-9647-876F-EABC6B8338D7}" type="slidenum">
              <a:rPr lang="en-US" smtClean="0"/>
              <a:t>71</a:t>
            </a:fld>
            <a:endParaRPr lang="en-US"/>
          </a:p>
        </p:txBody>
      </p:sp>
    </p:spTree>
    <p:extLst>
      <p:ext uri="{BB962C8B-B14F-4D97-AF65-F5344CB8AC3E}">
        <p14:creationId xmlns:p14="http://schemas.microsoft.com/office/powerpoint/2010/main" val="41331105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4C8E72B2-6A22-8286-7DFD-ACD4748E6E70}"/>
              </a:ext>
            </a:extLst>
          </p:cNvPr>
          <p:cNvSpPr>
            <a:spLocks noGrp="1" noRot="1" noChangeAspect="1" noChangeArrowheads="1" noTextEdit="1"/>
          </p:cNvSpPr>
          <p:nvPr>
            <p:ph type="sldImg"/>
          </p:nvPr>
        </p:nvSpPr>
        <p:spPr>
          <a:ln/>
        </p:spPr>
      </p:sp>
      <p:sp>
        <p:nvSpPr>
          <p:cNvPr id="234499" name="Rectangle 3">
            <a:extLst>
              <a:ext uri="{FF2B5EF4-FFF2-40B4-BE49-F238E27FC236}">
                <a16:creationId xmlns:a16="http://schemas.microsoft.com/office/drawing/2014/main" id="{83ACCF6F-561B-042B-05CD-2065A45E1B8A}"/>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6801458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0502E6C-599A-A802-3A98-B927D55DEA65}"/>
              </a:ext>
            </a:extLst>
          </p:cNvPr>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06C24B8-49F6-41D8-A549-502D993E85D8}" type="slidenum">
              <a:rPr lang="en-US" altLang="en-US">
                <a:latin typeface="Calibri" panose="020F0502020204030204" pitchFamily="34" charset="0"/>
              </a:rPr>
              <a:pPr eaLnBrk="1" hangingPunct="1"/>
              <a:t>78</a:t>
            </a:fld>
            <a:endParaRPr lang="en-US" altLang="en-US">
              <a:latin typeface="Calibri" panose="020F0502020204030204" pitchFamily="34" charset="0"/>
            </a:endParaRPr>
          </a:p>
        </p:txBody>
      </p:sp>
      <p:sp>
        <p:nvSpPr>
          <p:cNvPr id="87043" name="Rectangle 2">
            <a:extLst>
              <a:ext uri="{FF2B5EF4-FFF2-40B4-BE49-F238E27FC236}">
                <a16:creationId xmlns:a16="http://schemas.microsoft.com/office/drawing/2014/main" id="{9F7DFCBD-7A82-C169-BFB0-2F32C29587F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a:extLst>
              <a:ext uri="{FF2B5EF4-FFF2-40B4-BE49-F238E27FC236}">
                <a16:creationId xmlns:a16="http://schemas.microsoft.com/office/drawing/2014/main" id="{7D43F9DF-C75A-3CCB-BFA2-8DC3C3FF12E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D66D106-ED4B-BE51-FFD8-6D9B1C81BDFB}"/>
              </a:ext>
            </a:extLst>
          </p:cNvPr>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FA9205-0962-4B3A-AAB5-B0BCAC8A37F5}" type="slidenum">
              <a:rPr lang="en-US" altLang="en-US">
                <a:latin typeface="Calibri" panose="020F0502020204030204" pitchFamily="34" charset="0"/>
              </a:rPr>
              <a:pPr eaLnBrk="1" hangingPunct="1"/>
              <a:t>79</a:t>
            </a:fld>
            <a:endParaRPr lang="en-US" altLang="en-US">
              <a:latin typeface="Calibri" panose="020F0502020204030204" pitchFamily="34" charset="0"/>
            </a:endParaRPr>
          </a:p>
        </p:txBody>
      </p:sp>
      <p:sp>
        <p:nvSpPr>
          <p:cNvPr id="91139" name="Rectangle 2">
            <a:extLst>
              <a:ext uri="{FF2B5EF4-FFF2-40B4-BE49-F238E27FC236}">
                <a16:creationId xmlns:a16="http://schemas.microsoft.com/office/drawing/2014/main" id="{272C1141-4C08-F59C-F5D2-39F25170C6D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0" name="Rectangle 3">
            <a:extLst>
              <a:ext uri="{FF2B5EF4-FFF2-40B4-BE49-F238E27FC236}">
                <a16:creationId xmlns:a16="http://schemas.microsoft.com/office/drawing/2014/main" id="{D5C900D1-3BAD-4FC3-308A-50CAB830C53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C4DDA40-A619-1A38-D497-9E8C44F99937}"/>
              </a:ext>
            </a:extLst>
          </p:cNvPr>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F52059-48D8-4279-B14D-0208BBF5E7F1}" type="slidenum">
              <a:rPr lang="en-US" altLang="en-US">
                <a:latin typeface="Calibri" panose="020F0502020204030204" pitchFamily="34" charset="0"/>
              </a:rPr>
              <a:pPr eaLnBrk="1" hangingPunct="1"/>
              <a:t>80</a:t>
            </a:fld>
            <a:endParaRPr lang="en-US" altLang="en-US">
              <a:latin typeface="Calibri" panose="020F0502020204030204" pitchFamily="34" charset="0"/>
            </a:endParaRPr>
          </a:p>
        </p:txBody>
      </p:sp>
      <p:sp>
        <p:nvSpPr>
          <p:cNvPr id="92163" name="Rectangle 2">
            <a:extLst>
              <a:ext uri="{FF2B5EF4-FFF2-40B4-BE49-F238E27FC236}">
                <a16:creationId xmlns:a16="http://schemas.microsoft.com/office/drawing/2014/main" id="{D84E3D12-7197-CC26-97A3-E7055C236BE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a:extLst>
              <a:ext uri="{FF2B5EF4-FFF2-40B4-BE49-F238E27FC236}">
                <a16:creationId xmlns:a16="http://schemas.microsoft.com/office/drawing/2014/main" id="{9B226E20-236D-C3B1-9521-C58CECC3DF2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0F8C68E-6B31-64F0-617A-774BBD79D4DC}"/>
              </a:ext>
            </a:extLst>
          </p:cNvPr>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515A56-CDF5-4D77-899C-225EA01CFB08}" type="slidenum">
              <a:rPr lang="en-US" altLang="en-US">
                <a:latin typeface="Calibri" panose="020F0502020204030204" pitchFamily="34" charset="0"/>
              </a:rPr>
              <a:pPr eaLnBrk="1" hangingPunct="1"/>
              <a:t>81</a:t>
            </a:fld>
            <a:endParaRPr lang="en-US" altLang="en-US">
              <a:latin typeface="Calibri" panose="020F0502020204030204" pitchFamily="34" charset="0"/>
            </a:endParaRPr>
          </a:p>
        </p:txBody>
      </p:sp>
      <p:sp>
        <p:nvSpPr>
          <p:cNvPr id="93187" name="Rectangle 2">
            <a:extLst>
              <a:ext uri="{FF2B5EF4-FFF2-40B4-BE49-F238E27FC236}">
                <a16:creationId xmlns:a16="http://schemas.microsoft.com/office/drawing/2014/main" id="{247BDD3A-C2B5-FC30-4545-6B77A5924B6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8" name="Rectangle 3">
            <a:extLst>
              <a:ext uri="{FF2B5EF4-FFF2-40B4-BE49-F238E27FC236}">
                <a16:creationId xmlns:a16="http://schemas.microsoft.com/office/drawing/2014/main" id="{45223023-EF64-CC02-9F94-9149AABF31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FB320F3-1FAA-DEF3-2B55-7893D5A166F7}"/>
              </a:ext>
            </a:extLst>
          </p:cNvPr>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713129-2875-4502-80E1-36151BA9C9EC}" type="slidenum">
              <a:rPr lang="en-US" altLang="en-US">
                <a:latin typeface="Calibri" panose="020F0502020204030204" pitchFamily="34" charset="0"/>
              </a:rPr>
              <a:pPr eaLnBrk="1" hangingPunct="1"/>
              <a:t>82</a:t>
            </a:fld>
            <a:endParaRPr lang="en-US" altLang="en-US">
              <a:latin typeface="Calibri" panose="020F0502020204030204" pitchFamily="34" charset="0"/>
            </a:endParaRPr>
          </a:p>
        </p:txBody>
      </p:sp>
      <p:sp>
        <p:nvSpPr>
          <p:cNvPr id="94211" name="Rectangle 2">
            <a:extLst>
              <a:ext uri="{FF2B5EF4-FFF2-40B4-BE49-F238E27FC236}">
                <a16:creationId xmlns:a16="http://schemas.microsoft.com/office/drawing/2014/main" id="{4A0C768E-C8C8-3A84-9560-E7C9A0088C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2" name="Rectangle 3">
            <a:extLst>
              <a:ext uri="{FF2B5EF4-FFF2-40B4-BE49-F238E27FC236}">
                <a16:creationId xmlns:a16="http://schemas.microsoft.com/office/drawing/2014/main" id="{E8068863-04FE-96E4-9348-E72EB276161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87518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1638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851897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860039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87</a:t>
            </a:fld>
            <a:endParaRPr lang="en-US" dirty="0"/>
          </a:p>
        </p:txBody>
      </p:sp>
    </p:spTree>
    <p:extLst>
      <p:ext uri="{BB962C8B-B14F-4D97-AF65-F5344CB8AC3E}">
        <p14:creationId xmlns:p14="http://schemas.microsoft.com/office/powerpoint/2010/main" val="3370746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36DC438-A022-9AD6-56D0-2F7CB38528DD}"/>
              </a:ext>
            </a:extLst>
          </p:cNvPr>
          <p:cNvSpPr>
            <a:spLocks noGrp="1"/>
          </p:cNvSpPr>
          <p:nvPr>
            <p:ph type="dt" sz="half" idx="10"/>
          </p:nvPr>
        </p:nvSpPr>
        <p:spPr/>
        <p:txBody>
          <a:bodyPr/>
          <a:lstStyle>
            <a:lvl1pPr>
              <a:defRPr/>
            </a:lvl1pPr>
          </a:lstStyle>
          <a:p>
            <a:pPr>
              <a:defRPr/>
            </a:pPr>
            <a:fld id="{6314D5F8-5438-4BFB-9AAF-E3ACA9AA2198}" type="datetimeFigureOut">
              <a:rPr lang="en-US"/>
              <a:pPr>
                <a:defRPr/>
              </a:pPr>
              <a:t>10/22/2026</a:t>
            </a:fld>
            <a:endParaRPr lang="en-US"/>
          </a:p>
        </p:txBody>
      </p:sp>
      <p:sp>
        <p:nvSpPr>
          <p:cNvPr id="3" name="Footer Placeholder 4">
            <a:extLst>
              <a:ext uri="{FF2B5EF4-FFF2-40B4-BE49-F238E27FC236}">
                <a16:creationId xmlns:a16="http://schemas.microsoft.com/office/drawing/2014/main" id="{468963EC-03C1-E61B-C78D-E1FE9758BA4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E624CC2-FFFC-874F-5C5C-CB3A75A8AA62}"/>
              </a:ext>
            </a:extLst>
          </p:cNvPr>
          <p:cNvSpPr>
            <a:spLocks noGrp="1"/>
          </p:cNvSpPr>
          <p:nvPr>
            <p:ph type="sldNum" sz="quarter" idx="12"/>
          </p:nvPr>
        </p:nvSpPr>
        <p:spPr/>
        <p:txBody>
          <a:bodyPr/>
          <a:lstStyle>
            <a:lvl1pPr>
              <a:defRPr/>
            </a:lvl1pPr>
          </a:lstStyle>
          <a:p>
            <a:fld id="{4F4E38A3-A42B-4E7A-8BD7-E48AB685A356}" type="slidenum">
              <a:rPr lang="en-US" altLang="en-US"/>
              <a:pPr/>
              <a:t>‹#›</a:t>
            </a:fld>
            <a:endParaRPr lang="en-US" altLang="en-US"/>
          </a:p>
        </p:txBody>
      </p:sp>
    </p:spTree>
    <p:extLst>
      <p:ext uri="{BB962C8B-B14F-4D97-AF65-F5344CB8AC3E}">
        <p14:creationId xmlns:p14="http://schemas.microsoft.com/office/powerpoint/2010/main" val="20372079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l" defTabSz="914400" rtl="0" eaLnBrk="1" latinLnBrk="0" hangingPunct="1">
        <a:lnSpc>
          <a:spcPct val="90000"/>
        </a:lnSpc>
        <a:spcBef>
          <a:spcPct val="0"/>
        </a:spcBef>
        <a:buNone/>
        <a:defRPr sz="4000" b="1" kern="1200">
          <a:solidFill>
            <a:srgbClr val="0000A3"/>
          </a:solidFill>
          <a:latin typeface="+mn-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20.emf"/><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5" y="561975"/>
            <a:ext cx="53784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a:solidFill>
                  <a:srgbClr val="000099"/>
                </a:solidFill>
                <a:latin typeface="+mj-lt"/>
              </a:rPr>
              <a:t>Chapter 3 </a:t>
            </a:r>
            <a:br>
              <a:rPr lang="en-US" altLang="en-US" sz="6000" b="1" dirty="0">
                <a:solidFill>
                  <a:srgbClr val="000099"/>
                </a:solidFill>
                <a:latin typeface="+mj-lt"/>
              </a:rPr>
            </a:br>
            <a:r>
              <a:rPr lang="en-US" altLang="en-US" sz="5400" b="1" dirty="0">
                <a:solidFill>
                  <a:srgbClr val="000099"/>
                </a:solidFill>
                <a:latin typeface="+mj-lt"/>
              </a:rPr>
              <a:t>Transport Layer</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1996-2025</a:t>
            </a:r>
          </a:p>
          <a:p>
            <a:pPr>
              <a:lnSpc>
                <a:spcPct val="85000"/>
              </a:lnSpc>
            </a:pPr>
            <a:r>
              <a:rPr lang="en-US" altLang="en-US" sz="1400" dirty="0">
                <a:latin typeface="+mn-lt"/>
              </a:rPr>
              <a:t>     J.F Kurose and K.W. Ross, All Rights Reserved</a:t>
            </a:r>
            <a:endParaRPr lang="en-US" altLang="en-US" sz="1200" dirty="0">
              <a:latin typeface="+mn-lt"/>
            </a:endParaRPr>
          </a:p>
        </p:txBody>
      </p:sp>
      <p:sp>
        <p:nvSpPr>
          <p:cNvPr id="9" name="Rectangle 8">
            <a:extLst>
              <a:ext uri="{FF2B5EF4-FFF2-40B4-BE49-F238E27FC236}">
                <a16:creationId xmlns:a16="http://schemas.microsoft.com/office/drawing/2014/main" id="{DF486BED-0E6D-424B-9246-93E87D8EC12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9</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2025</a:t>
            </a:r>
            <a:endParaRPr lang="en-US" altLang="en-US" sz="2000" dirty="0">
              <a:latin typeface="+mn-lt"/>
            </a:endParaRPr>
          </a:p>
        </p:txBody>
      </p:sp>
      <p:pic>
        <p:nvPicPr>
          <p:cNvPr id="4" name="Picture 3" descr="A book cover with a bridge&#10;&#10;Description automatically generated">
            <a:extLst>
              <a:ext uri="{FF2B5EF4-FFF2-40B4-BE49-F238E27FC236}">
                <a16:creationId xmlns:a16="http://schemas.microsoft.com/office/drawing/2014/main" id="{B610F142-3ED9-6CD1-4942-4402DA2C7E65}"/>
              </a:ext>
            </a:extLst>
          </p:cNvPr>
          <p:cNvPicPr>
            <a:picLocks noChangeAspect="1"/>
          </p:cNvPicPr>
          <p:nvPr/>
        </p:nvPicPr>
        <p:blipFill>
          <a:blip r:embed="rId3"/>
          <a:stretch>
            <a:fillRect/>
          </a:stretch>
        </p:blipFill>
        <p:spPr>
          <a:xfrm>
            <a:off x="7981312" y="561975"/>
            <a:ext cx="3180957" cy="3943062"/>
          </a:xfrm>
          <a:prstGeom prst="rect">
            <a:avLst/>
          </a:prstGeom>
          <a:effectLst>
            <a:outerShdw blurRad="50800" dist="38100" dir="2700000" algn="tl" rotWithShape="0">
              <a:prstClr val="black">
                <a:alpha val="40000"/>
              </a:prstClr>
            </a:outerShdw>
          </a:effectLst>
        </p:spPr>
      </p:pic>
      <p:sp>
        <p:nvSpPr>
          <p:cNvPr id="2" name="Slide Number Placeholder 1">
            <a:extLst>
              <a:ext uri="{FF2B5EF4-FFF2-40B4-BE49-F238E27FC236}">
                <a16:creationId xmlns:a16="http://schemas.microsoft.com/office/drawing/2014/main" id="{CA74715D-A8D9-3A2E-8518-1C2C2B06BD5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a:t>
            </a:fld>
            <a:endParaRPr lang="en-US" dirty="0"/>
          </a:p>
        </p:txBody>
      </p:sp>
    </p:spTree>
    <p:extLst>
      <p:ext uri="{BB962C8B-B14F-4D97-AF65-F5344CB8AC3E}">
        <p14:creationId xmlns:p14="http://schemas.microsoft.com/office/powerpoint/2010/main" val="2731381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pPr>
            <a:r>
              <a:rPr lang="en-US" sz="3200" dirty="0"/>
              <a:t>Connection-oriented transport: TCP</a:t>
            </a:r>
          </a:p>
          <a:p>
            <a:pPr marL="746125" lvl="1" indent="-288925">
              <a:buFont typeface="Arial"/>
              <a:buChar char="•"/>
              <a:defRPr/>
            </a:pPr>
            <a:r>
              <a:rPr lang="en-US" dirty="0"/>
              <a:t>segment structure</a:t>
            </a:r>
          </a:p>
          <a:p>
            <a:pPr marL="746125" lvl="1" indent="-288925">
              <a:buFont typeface="Arial"/>
              <a:buChar char="•"/>
              <a:defRPr/>
            </a:pPr>
            <a:r>
              <a:rPr lang="en-US" dirty="0"/>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06FDDC9-958A-FA4C-8403-56ABF73A6F8E}"/>
              </a:ext>
            </a:extLst>
          </p:cNvPr>
          <p:cNvSpPr>
            <a:spLocks noGrp="1"/>
          </p:cNvSpPr>
          <p:nvPr>
            <p:ph type="sldNum" sz="quarter" idx="4"/>
          </p:nvPr>
        </p:nvSpPr>
        <p:spPr/>
        <p:txBody>
          <a:bodyPr/>
          <a:lstStyle/>
          <a:p>
            <a:r>
              <a:rPr lang="en-US" dirty="0"/>
              <a:t>Transport Layer: 3-</a:t>
            </a:r>
            <a:fld id="{C4204591-24BD-A542-B9D5-F8D8A88D2FEE}" type="slidenum">
              <a:rPr lang="en-US" smtClean="0"/>
              <a:pPr/>
              <a:t>2</a:t>
            </a:fld>
            <a:endParaRPr lang="en-US" dirty="0"/>
          </a:p>
        </p:txBody>
      </p:sp>
      <p:pic>
        <p:nvPicPr>
          <p:cNvPr id="4" name="Picture 3">
            <a:extLst>
              <a:ext uri="{FF2B5EF4-FFF2-40B4-BE49-F238E27FC236}">
                <a16:creationId xmlns:a16="http://schemas.microsoft.com/office/drawing/2014/main" id="{4548EDD0-6F77-DEC5-CBD0-2F2712004FE4}"/>
              </a:ext>
            </a:extLst>
          </p:cNvPr>
          <p:cNvPicPr>
            <a:picLocks noChangeAspect="1"/>
          </p:cNvPicPr>
          <p:nvPr/>
        </p:nvPicPr>
        <p:blipFill>
          <a:blip r:embed="rId3"/>
          <a:stretch>
            <a:fillRect/>
          </a:stretch>
        </p:blipFill>
        <p:spPr>
          <a:xfrm>
            <a:off x="7823199" y="1791867"/>
            <a:ext cx="3752851" cy="2818233"/>
          </a:xfrm>
          <a:prstGeom prst="rect">
            <a:avLst/>
          </a:prstGeom>
        </p:spPr>
      </p:pic>
    </p:spTree>
    <p:extLst>
      <p:ext uri="{BB962C8B-B14F-4D97-AF65-F5344CB8AC3E}">
        <p14:creationId xmlns:p14="http://schemas.microsoft.com/office/powerpoint/2010/main" val="1327162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overview  </a:t>
            </a:r>
            <a:r>
              <a:rPr lang="en-US" sz="3200" b="0" dirty="0"/>
              <a:t>RFCs: 793,1122, 2018, 5681, 7323</a:t>
            </a:r>
            <a:endParaRPr lang="en-US" sz="4400" b="0" dirty="0"/>
          </a:p>
        </p:txBody>
      </p:sp>
      <p:sp>
        <p:nvSpPr>
          <p:cNvPr id="70" name="Rectangle 3">
            <a:extLst>
              <a:ext uri="{FF2B5EF4-FFF2-40B4-BE49-F238E27FC236}">
                <a16:creationId xmlns:a16="http://schemas.microsoft.com/office/drawing/2014/main" id="{BE7365D6-3297-0A41-9B2B-91B801F95815}"/>
              </a:ext>
            </a:extLst>
          </p:cNvPr>
          <p:cNvSpPr txBox="1">
            <a:spLocks noChangeArrowheads="1"/>
          </p:cNvSpPr>
          <p:nvPr/>
        </p:nvSpPr>
        <p:spPr>
          <a:xfrm>
            <a:off x="5949863" y="1322613"/>
            <a:ext cx="6012953" cy="55353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cumulative ACKs</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a:ea typeface="ＭＳ Ｐゴシック" panose="020B0600070205080204" pitchFamily="34" charset="-128"/>
                <a:cs typeface="+mn-cs"/>
              </a:rPr>
              <a:t>pipelining:</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TCP congestion and flow control set window size</a:t>
            </a:r>
            <a:endParaRPr kumimoji="0" lang="en-US" altLang="en-US" sz="2800" b="0" i="1"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endParaRP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connection-oriented: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handshaking (exchange of control messages) initializes sender, receiver state before data exchange</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controlled:</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will not overwhelm receiver</a:t>
            </a:r>
          </a:p>
        </p:txBody>
      </p:sp>
      <p:sp>
        <p:nvSpPr>
          <p:cNvPr id="71" name="Rectangle 4">
            <a:extLst>
              <a:ext uri="{FF2B5EF4-FFF2-40B4-BE49-F238E27FC236}">
                <a16:creationId xmlns:a16="http://schemas.microsoft.com/office/drawing/2014/main" id="{B36C086D-3E3E-F04F-BB50-EE7FE6F1A87A}"/>
              </a:ext>
            </a:extLst>
          </p:cNvPr>
          <p:cNvSpPr txBox="1">
            <a:spLocks noChangeArrowheads="1"/>
          </p:cNvSpPr>
          <p:nvPr/>
        </p:nvSpPr>
        <p:spPr>
          <a:xfrm>
            <a:off x="687960" y="1322613"/>
            <a:ext cx="5382987"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point-to-point</a:t>
            </a: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one sender, one receiver</a:t>
            </a:r>
            <a:r>
              <a:rPr kumimoji="0" lang="en-US" altLang="en-US" sz="28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p>
          <a:p>
            <a:pPr marL="471488" marR="0" lvl="0" indent="-2936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reliable, in-order </a:t>
            </a:r>
            <a:r>
              <a:rPr kumimoji="0" lang="en-US" altLang="en-US" sz="32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byte stream:</a:t>
            </a:r>
          </a:p>
          <a:p>
            <a:pPr marL="919163" marR="0" lvl="2" indent="-293688"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no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message boundaries"</a:t>
            </a:r>
          </a:p>
          <a:p>
            <a:pPr marL="471488" marR="0" lvl="0" indent="-341313"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C00000"/>
                </a:solidFill>
                <a:effectLst/>
                <a:uLnTx/>
                <a:uFillTx/>
                <a:latin typeface="Calibri"/>
                <a:ea typeface="+mn-ea"/>
                <a:cs typeface="+mn-cs"/>
              </a:rPr>
              <a:t>full duplex data:</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bi-directional data flow in same connection</a:t>
            </a:r>
          </a:p>
          <a:p>
            <a:pPr marL="695325" marR="0" lvl="1" indent="-231775" algn="l" defTabSz="914400" rtl="0" eaLnBrk="1" fontAlgn="auto" latinLnBrk="0" hangingPunct="1">
              <a:lnSpc>
                <a:spcPct val="90000"/>
              </a:lnSpc>
              <a:spcBef>
                <a:spcPts val="4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MSS: maximum segment size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 name="Slide Number Placeholder 2">
            <a:extLst>
              <a:ext uri="{FF2B5EF4-FFF2-40B4-BE49-F238E27FC236}">
                <a16:creationId xmlns:a16="http://schemas.microsoft.com/office/drawing/2014/main" id="{D9F10C56-26D5-5C45-B097-EE8A4653997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a:t>
            </a:fld>
            <a:endParaRPr lang="en-US" dirty="0"/>
          </a:p>
        </p:txBody>
      </p:sp>
    </p:spTree>
    <p:extLst>
      <p:ext uri="{BB962C8B-B14F-4D97-AF65-F5344CB8AC3E}">
        <p14:creationId xmlns:p14="http://schemas.microsoft.com/office/powerpoint/2010/main" val="155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segment structure</a:t>
            </a:r>
            <a:endParaRPr lang="en-US" sz="4400" b="0" dirty="0"/>
          </a:p>
        </p:txBody>
      </p:sp>
      <p:sp>
        <p:nvSpPr>
          <p:cNvPr id="60" name="Rectangle 4">
            <a:extLst>
              <a:ext uri="{FF2B5EF4-FFF2-40B4-BE49-F238E27FC236}">
                <a16:creationId xmlns:a16="http://schemas.microsoft.com/office/drawing/2014/main" id="{1438C6A7-F9CB-854D-92BB-74AFAE175928}"/>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Rectangle 5">
            <a:extLst>
              <a:ext uri="{FF2B5EF4-FFF2-40B4-BE49-F238E27FC236}">
                <a16:creationId xmlns:a16="http://schemas.microsoft.com/office/drawing/2014/main" id="{21D47CEF-020C-9C44-AB75-DA719011CBEF}"/>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4" name="Group 3">
            <a:extLst>
              <a:ext uri="{FF2B5EF4-FFF2-40B4-BE49-F238E27FC236}">
                <a16:creationId xmlns:a16="http://schemas.microsoft.com/office/drawing/2014/main" id="{A0F66122-9E4A-7644-B40C-189BABEA3388}"/>
              </a:ext>
            </a:extLst>
          </p:cNvPr>
          <p:cNvGrpSpPr/>
          <p:nvPr/>
        </p:nvGrpSpPr>
        <p:grpSpPr>
          <a:xfrm>
            <a:off x="4495573" y="1661303"/>
            <a:ext cx="3450544" cy="401997"/>
            <a:chOff x="4495573" y="1661303"/>
            <a:chExt cx="3450544" cy="401997"/>
          </a:xfrm>
        </p:grpSpPr>
        <p:sp>
          <p:nvSpPr>
            <p:cNvPr id="62" name="Text Box 6">
              <a:extLst>
                <a:ext uri="{FF2B5EF4-FFF2-40B4-BE49-F238E27FC236}">
                  <a16:creationId xmlns:a16="http://schemas.microsoft.com/office/drawing/2014/main" id="{A183A89B-2122-E141-9DF3-203A60EFF295}"/>
                </a:ext>
              </a:extLst>
            </p:cNvPr>
            <p:cNvSpPr txBox="1">
              <a:spLocks noChangeArrowheads="1"/>
            </p:cNvSpPr>
            <p:nvPr/>
          </p:nvSpPr>
          <p:spPr bwMode="auto">
            <a:xfrm>
              <a:off x="4495573" y="1661303"/>
              <a:ext cx="166370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source port #</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Text Box 7">
              <a:extLst>
                <a:ext uri="{FF2B5EF4-FFF2-40B4-BE49-F238E27FC236}">
                  <a16:creationId xmlns:a16="http://schemas.microsoft.com/office/drawing/2014/main" id="{E52BAEBA-8AEA-B545-A35F-AEB6190843E5}"/>
                </a:ext>
              </a:extLst>
            </p:cNvPr>
            <p:cNvSpPr txBox="1">
              <a:spLocks noChangeArrowheads="1"/>
            </p:cNvSpPr>
            <p:nvPr/>
          </p:nvSpPr>
          <p:spPr bwMode="auto">
            <a:xfrm>
              <a:off x="6564992" y="1666425"/>
              <a:ext cx="13811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dest port #</a:t>
              </a: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64" name="Line 8">
            <a:extLst>
              <a:ext uri="{FF2B5EF4-FFF2-40B4-BE49-F238E27FC236}">
                <a16:creationId xmlns:a16="http://schemas.microsoft.com/office/drawing/2014/main" id="{BDC40F37-DD1A-6848-AB76-2EA7683B9566}"/>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9">
            <a:extLst>
              <a:ext uri="{FF2B5EF4-FFF2-40B4-BE49-F238E27FC236}">
                <a16:creationId xmlns:a16="http://schemas.microsoft.com/office/drawing/2014/main" id="{92C91585-33BC-084B-A3CF-F5A7CD082B67}"/>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8552304C-19AC-C84B-842E-CBCC3EA9E153}"/>
              </a:ext>
            </a:extLst>
          </p:cNvPr>
          <p:cNvGrpSpPr/>
          <p:nvPr/>
        </p:nvGrpSpPr>
        <p:grpSpPr>
          <a:xfrm>
            <a:off x="4324123" y="1145724"/>
            <a:ext cx="3935412" cy="366713"/>
            <a:chOff x="4324123" y="1145724"/>
            <a:chExt cx="3935412" cy="366713"/>
          </a:xfrm>
        </p:grpSpPr>
        <p:sp>
          <p:nvSpPr>
            <p:cNvPr id="67" name="Text Box 11">
              <a:extLst>
                <a:ext uri="{FF2B5EF4-FFF2-40B4-BE49-F238E27FC236}">
                  <a16:creationId xmlns:a16="http://schemas.microsoft.com/office/drawing/2014/main" id="{D7A6E153-CAA2-2E43-9742-982E16926734}"/>
                </a:ext>
              </a:extLst>
            </p:cNvPr>
            <p:cNvSpPr txBox="1">
              <a:spLocks noChangeArrowheads="1"/>
            </p:cNvSpPr>
            <p:nvPr/>
          </p:nvSpPr>
          <p:spPr bwMode="auto">
            <a:xfrm>
              <a:off x="5832248" y="1145724"/>
              <a:ext cx="8572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32 bits</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12">
              <a:extLst>
                <a:ext uri="{FF2B5EF4-FFF2-40B4-BE49-F238E27FC236}">
                  <a16:creationId xmlns:a16="http://schemas.microsoft.com/office/drawing/2014/main" id="{C28AE80D-AED7-BB43-AEEF-9A3E95D70A42}"/>
                </a:ext>
              </a:extLst>
            </p:cNvPr>
            <p:cNvSpPr>
              <a:spLocks noChangeShapeType="1"/>
            </p:cNvSpPr>
            <p:nvPr/>
          </p:nvSpPr>
          <p:spPr bwMode="auto">
            <a:xfrm>
              <a:off x="6832373" y="1391787"/>
              <a:ext cx="1427162" cy="4762"/>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3">
              <a:extLst>
                <a:ext uri="{FF2B5EF4-FFF2-40B4-BE49-F238E27FC236}">
                  <a16:creationId xmlns:a16="http://schemas.microsoft.com/office/drawing/2014/main" id="{0FE91D57-DF52-A948-8B79-BE2C69D24056}"/>
                </a:ext>
              </a:extLst>
            </p:cNvPr>
            <p:cNvSpPr>
              <a:spLocks noChangeShapeType="1"/>
            </p:cNvSpPr>
            <p:nvPr/>
          </p:nvSpPr>
          <p:spPr bwMode="auto">
            <a:xfrm rot="10800000">
              <a:off x="4324123" y="1402899"/>
              <a:ext cx="1341437" cy="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4" name="Line 16">
            <a:extLst>
              <a:ext uri="{FF2B5EF4-FFF2-40B4-BE49-F238E27FC236}">
                <a16:creationId xmlns:a16="http://schemas.microsoft.com/office/drawing/2014/main" id="{ADBC9EF8-B51B-F249-8F7B-C16F5F07A21E}"/>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6" name="Line 18">
            <a:extLst>
              <a:ext uri="{FF2B5EF4-FFF2-40B4-BE49-F238E27FC236}">
                <a16:creationId xmlns:a16="http://schemas.microsoft.com/office/drawing/2014/main" id="{32231029-9349-864B-ABF1-0D56E55824BB}"/>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7" name="Line 19">
            <a:extLst>
              <a:ext uri="{FF2B5EF4-FFF2-40B4-BE49-F238E27FC236}">
                <a16:creationId xmlns:a16="http://schemas.microsoft.com/office/drawing/2014/main" id="{F2503E28-C28E-B541-932B-7E2993655C9A}"/>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8" name="Line 20">
            <a:extLst>
              <a:ext uri="{FF2B5EF4-FFF2-40B4-BE49-F238E27FC236}">
                <a16:creationId xmlns:a16="http://schemas.microsoft.com/office/drawing/2014/main" id="{10D5BEAE-CBC6-5040-B37E-6D12FC20E9CB}"/>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Line 21">
            <a:extLst>
              <a:ext uri="{FF2B5EF4-FFF2-40B4-BE49-F238E27FC236}">
                <a16:creationId xmlns:a16="http://schemas.microsoft.com/office/drawing/2014/main" id="{A186AEBD-F0F5-494B-9D24-09B9888787CD}"/>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29">
            <a:extLst>
              <a:ext uri="{FF2B5EF4-FFF2-40B4-BE49-F238E27FC236}">
                <a16:creationId xmlns:a16="http://schemas.microsoft.com/office/drawing/2014/main" id="{B0BB3064-7239-A344-B7D3-3350540CF7AA}"/>
              </a:ext>
            </a:extLst>
          </p:cNvPr>
          <p:cNvSpPr>
            <a:spLocks noChangeShapeType="1"/>
          </p:cNvSpPr>
          <p:nvPr/>
        </p:nvSpPr>
        <p:spPr bwMode="auto">
          <a:xfrm flipV="1">
            <a:off x="5668735" y="2814187"/>
            <a:ext cx="0" cy="392112"/>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8" name="Line 30">
            <a:extLst>
              <a:ext uri="{FF2B5EF4-FFF2-40B4-BE49-F238E27FC236}">
                <a16:creationId xmlns:a16="http://schemas.microsoft.com/office/drawing/2014/main" id="{22FDEDB0-0202-4C4C-9B34-FF72CC278D77}"/>
              </a:ext>
            </a:extLst>
          </p:cNvPr>
          <p:cNvSpPr>
            <a:spLocks noChangeShapeType="1"/>
          </p:cNvSpPr>
          <p:nvPr/>
        </p:nvSpPr>
        <p:spPr bwMode="auto">
          <a:xfrm flipV="1">
            <a:off x="5514748"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9" name="Line 31">
            <a:extLst>
              <a:ext uri="{FF2B5EF4-FFF2-40B4-BE49-F238E27FC236}">
                <a16:creationId xmlns:a16="http://schemas.microsoft.com/office/drawing/2014/main" id="{9AF172E8-0A6A-6644-BD77-F1EE190D4ADE}"/>
              </a:ext>
            </a:extLst>
          </p:cNvPr>
          <p:cNvSpPr>
            <a:spLocks noChangeShapeType="1"/>
          </p:cNvSpPr>
          <p:nvPr/>
        </p:nvSpPr>
        <p:spPr bwMode="auto">
          <a:xfrm flipV="1">
            <a:off x="5355998" y="2818949"/>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96" name="Text Box 38">
            <a:extLst>
              <a:ext uri="{FF2B5EF4-FFF2-40B4-BE49-F238E27FC236}">
                <a16:creationId xmlns:a16="http://schemas.microsoft.com/office/drawing/2014/main" id="{A4AA77C6-3CD5-F642-BD90-B898C462C724}"/>
              </a:ext>
            </a:extLst>
          </p:cNvPr>
          <p:cNvSpPr txBox="1">
            <a:spLocks noChangeArrowheads="1"/>
          </p:cNvSpPr>
          <p:nvPr/>
        </p:nvSpPr>
        <p:spPr bwMode="auto">
          <a:xfrm>
            <a:off x="4636966" y="2822952"/>
            <a:ext cx="482824" cy="4076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not</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used</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7" name="Line 39">
            <a:extLst>
              <a:ext uri="{FF2B5EF4-FFF2-40B4-BE49-F238E27FC236}">
                <a16:creationId xmlns:a16="http://schemas.microsoft.com/office/drawing/2014/main" id="{356A6247-1FB1-3845-A2C5-956708DFFBCF}"/>
              </a:ext>
            </a:extLst>
          </p:cNvPr>
          <p:cNvSpPr>
            <a:spLocks noChangeShapeType="1"/>
          </p:cNvSpPr>
          <p:nvPr/>
        </p:nvSpPr>
        <p:spPr bwMode="auto">
          <a:xfrm flipV="1">
            <a:off x="4713766"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grpSp>
        <p:nvGrpSpPr>
          <p:cNvPr id="115" name="Group 114">
            <a:extLst>
              <a:ext uri="{FF2B5EF4-FFF2-40B4-BE49-F238E27FC236}">
                <a16:creationId xmlns:a16="http://schemas.microsoft.com/office/drawing/2014/main" id="{25F3ABB6-FC22-8E45-923B-C272F3E47C12}"/>
              </a:ext>
            </a:extLst>
          </p:cNvPr>
          <p:cNvGrpSpPr/>
          <p:nvPr/>
        </p:nvGrpSpPr>
        <p:grpSpPr>
          <a:xfrm>
            <a:off x="6405335" y="2817362"/>
            <a:ext cx="5252586" cy="731484"/>
            <a:chOff x="6405335" y="2817362"/>
            <a:chExt cx="5252586" cy="731484"/>
          </a:xfrm>
        </p:grpSpPr>
        <p:sp>
          <p:nvSpPr>
            <p:cNvPr id="80" name="Text Box 22">
              <a:extLst>
                <a:ext uri="{FF2B5EF4-FFF2-40B4-BE49-F238E27FC236}">
                  <a16:creationId xmlns:a16="http://schemas.microsoft.com/office/drawing/2014/main" id="{C121B465-E333-C34D-A9B1-4EC95AB29663}"/>
                </a:ext>
              </a:extLst>
            </p:cNvPr>
            <p:cNvSpPr txBox="1">
              <a:spLocks noChangeArrowheads="1"/>
            </p:cNvSpPr>
            <p:nvPr/>
          </p:nvSpPr>
          <p:spPr bwMode="auto">
            <a:xfrm>
              <a:off x="6405335" y="2817362"/>
              <a:ext cx="17462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107" name="Text Box 49">
              <a:extLst>
                <a:ext uri="{FF2B5EF4-FFF2-40B4-BE49-F238E27FC236}">
                  <a16:creationId xmlns:a16="http://schemas.microsoft.com/office/drawing/2014/main" id="{C1196D10-63E5-F146-A338-FB6B53C00F42}"/>
                </a:ext>
              </a:extLst>
            </p:cNvPr>
            <p:cNvSpPr txBox="1">
              <a:spLocks noChangeArrowheads="1"/>
            </p:cNvSpPr>
            <p:nvPr/>
          </p:nvSpPr>
          <p:spPr bwMode="auto">
            <a:xfrm>
              <a:off x="8724900" y="2847115"/>
              <a:ext cx="2933021"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1" name="Line 53">
              <a:extLst>
                <a:ext uri="{FF2B5EF4-FFF2-40B4-BE49-F238E27FC236}">
                  <a16:creationId xmlns:a16="http://schemas.microsoft.com/office/drawing/2014/main" id="{AF202832-D8A0-CC44-AEC9-474E90CA4102}"/>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9EBAA956-8E89-0A4A-A4BC-91B08D93CC59}"/>
              </a:ext>
            </a:extLst>
          </p:cNvPr>
          <p:cNvGrpSpPr/>
          <p:nvPr/>
        </p:nvGrpSpPr>
        <p:grpSpPr>
          <a:xfrm>
            <a:off x="4979760" y="1674436"/>
            <a:ext cx="7040433" cy="1034129"/>
            <a:chOff x="4979760" y="1674436"/>
            <a:chExt cx="7040433" cy="1034129"/>
          </a:xfrm>
        </p:grpSpPr>
        <p:sp>
          <p:nvSpPr>
            <p:cNvPr id="73" name="Text Box 15">
              <a:extLst>
                <a:ext uri="{FF2B5EF4-FFF2-40B4-BE49-F238E27FC236}">
                  <a16:creationId xmlns:a16="http://schemas.microsoft.com/office/drawing/2014/main" id="{2925631F-CA45-E24E-A2A3-36475CE0E0E7}"/>
                </a:ext>
              </a:extLst>
            </p:cNvPr>
            <p:cNvSpPr txBox="1">
              <a:spLocks noChangeArrowheads="1"/>
            </p:cNvSpPr>
            <p:nvPr/>
          </p:nvSpPr>
          <p:spPr bwMode="auto">
            <a:xfrm>
              <a:off x="4979760" y="2029962"/>
              <a:ext cx="24860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sequence number</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08" name="Text Box 50">
              <a:extLst>
                <a:ext uri="{FF2B5EF4-FFF2-40B4-BE49-F238E27FC236}">
                  <a16:creationId xmlns:a16="http://schemas.microsoft.com/office/drawing/2014/main" id="{62087231-CA89-9F46-9993-D5CE4726B8FD}"/>
                </a:ext>
              </a:extLst>
            </p:cNvPr>
            <p:cNvSpPr txBox="1">
              <a:spLocks noChangeArrowheads="1"/>
            </p:cNvSpPr>
            <p:nvPr/>
          </p:nvSpPr>
          <p:spPr bwMode="auto">
            <a:xfrm>
              <a:off x="8724900" y="1674436"/>
              <a:ext cx="3295293" cy="103412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segment seq  #: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counting bytes of data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into bytestream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(not segments!)</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3" name="Line 55">
              <a:extLst>
                <a:ext uri="{FF2B5EF4-FFF2-40B4-BE49-F238E27FC236}">
                  <a16:creationId xmlns:a16="http://schemas.microsoft.com/office/drawing/2014/main" id="{69F8FE7B-57A5-CA45-A15F-AB7CA1D8D54F}"/>
                </a:ext>
              </a:extLst>
            </p:cNvPr>
            <p:cNvSpPr>
              <a:spLocks noChangeShapeType="1"/>
            </p:cNvSpPr>
            <p:nvPr/>
          </p:nvSpPr>
          <p:spPr bwMode="auto">
            <a:xfrm flipH="1" flipV="1">
              <a:off x="7924797" y="2244436"/>
              <a:ext cx="800102"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9" name="Group 128">
            <a:extLst>
              <a:ext uri="{FF2B5EF4-FFF2-40B4-BE49-F238E27FC236}">
                <a16:creationId xmlns:a16="http://schemas.microsoft.com/office/drawing/2014/main" id="{33475873-1909-F649-A643-DFFF77ECF966}"/>
              </a:ext>
            </a:extLst>
          </p:cNvPr>
          <p:cNvGrpSpPr/>
          <p:nvPr/>
        </p:nvGrpSpPr>
        <p:grpSpPr>
          <a:xfrm>
            <a:off x="5398860" y="4614412"/>
            <a:ext cx="5770816" cy="1113459"/>
            <a:chOff x="5398860" y="4614412"/>
            <a:chExt cx="5770816" cy="1113459"/>
          </a:xfrm>
        </p:grpSpPr>
        <p:sp>
          <p:nvSpPr>
            <p:cNvPr id="72" name="Text Box 14">
              <a:extLst>
                <a:ext uri="{FF2B5EF4-FFF2-40B4-BE49-F238E27FC236}">
                  <a16:creationId xmlns:a16="http://schemas.microsoft.com/office/drawing/2014/main" id="{394540FC-9B80-C049-964F-3AEAF7A4BA2D}"/>
                </a:ext>
              </a:extLst>
            </p:cNvPr>
            <p:cNvSpPr txBox="1">
              <a:spLocks noChangeArrowheads="1"/>
            </p:cNvSpPr>
            <p:nvPr/>
          </p:nvSpPr>
          <p:spPr bwMode="auto">
            <a:xfrm>
              <a:off x="5398860" y="4614412"/>
              <a:ext cx="2005013" cy="10064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5" name="TextBox 124">
              <a:extLst>
                <a:ext uri="{FF2B5EF4-FFF2-40B4-BE49-F238E27FC236}">
                  <a16:creationId xmlns:a16="http://schemas.microsoft.com/office/drawing/2014/main" id="{5CEFBFE2-D6C5-6C4B-85CD-C2B1704479E4}"/>
                </a:ext>
              </a:extLst>
            </p:cNvPr>
            <p:cNvSpPr txBox="1"/>
            <p:nvPr/>
          </p:nvSpPr>
          <p:spPr>
            <a:xfrm>
              <a:off x="8980285" y="4638342"/>
              <a:ext cx="2189391" cy="1089529"/>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sent by application into TCP socket</a:t>
              </a:r>
            </a:p>
          </p:txBody>
        </p:sp>
        <p:cxnSp>
          <p:nvCxnSpPr>
            <p:cNvPr id="127" name="Straight Connector 126">
              <a:extLst>
                <a:ext uri="{FF2B5EF4-FFF2-40B4-BE49-F238E27FC236}">
                  <a16:creationId xmlns:a16="http://schemas.microsoft.com/office/drawing/2014/main" id="{C6493B77-D766-824F-B26A-A73B9CE92231}"/>
                </a:ext>
              </a:extLst>
            </p:cNvPr>
            <p:cNvCxnSpPr>
              <a:cxnSpLocks/>
            </p:cNvCxnSpPr>
            <p:nvPr/>
          </p:nvCxnSpPr>
          <p:spPr>
            <a:xfrm>
              <a:off x="6727821" y="5150307"/>
              <a:ext cx="214947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BF59DCBE-5CE4-3C4C-AE43-7FF674B5D23E}"/>
              </a:ext>
            </a:extLst>
          </p:cNvPr>
          <p:cNvGrpSpPr/>
          <p:nvPr/>
        </p:nvGrpSpPr>
        <p:grpSpPr>
          <a:xfrm>
            <a:off x="230393" y="1952743"/>
            <a:ext cx="7771793" cy="1241280"/>
            <a:chOff x="230393" y="1952743"/>
            <a:chExt cx="7771793" cy="1241280"/>
          </a:xfrm>
        </p:grpSpPr>
        <p:sp>
          <p:nvSpPr>
            <p:cNvPr id="137" name="Text Box 35">
              <a:extLst>
                <a:ext uri="{FF2B5EF4-FFF2-40B4-BE49-F238E27FC236}">
                  <a16:creationId xmlns:a16="http://schemas.microsoft.com/office/drawing/2014/main" id="{56F627F0-D04E-AD42-8864-F7B517B4A587}"/>
                </a:ext>
              </a:extLst>
            </p:cNvPr>
            <p:cNvSpPr txBox="1">
              <a:spLocks noChangeArrowheads="1"/>
            </p:cNvSpPr>
            <p:nvPr/>
          </p:nvSpPr>
          <p:spPr bwMode="auto">
            <a:xfrm>
              <a:off x="5447297" y="2855469"/>
              <a:ext cx="303288"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A</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nvGrpSpPr>
            <p:cNvPr id="15" name="Group 14">
              <a:extLst>
                <a:ext uri="{FF2B5EF4-FFF2-40B4-BE49-F238E27FC236}">
                  <a16:creationId xmlns:a16="http://schemas.microsoft.com/office/drawing/2014/main" id="{3379D87E-87A4-BA4A-B25D-D60B162F998C}"/>
                </a:ext>
              </a:extLst>
            </p:cNvPr>
            <p:cNvGrpSpPr/>
            <p:nvPr/>
          </p:nvGrpSpPr>
          <p:grpSpPr>
            <a:xfrm>
              <a:off x="230393" y="1952743"/>
              <a:ext cx="7771793" cy="971860"/>
              <a:chOff x="217867" y="1965269"/>
              <a:chExt cx="7771793" cy="971860"/>
            </a:xfrm>
          </p:grpSpPr>
          <p:sp>
            <p:nvSpPr>
              <p:cNvPr id="75" name="Text Box 17">
                <a:extLst>
                  <a:ext uri="{FF2B5EF4-FFF2-40B4-BE49-F238E27FC236}">
                    <a16:creationId xmlns:a16="http://schemas.microsoft.com/office/drawing/2014/main" id="{0864898F-71F3-8C4E-ACBC-273A8F765CF5}"/>
                  </a:ext>
                </a:extLst>
              </p:cNvPr>
              <p:cNvSpPr txBox="1">
                <a:spLocks noChangeArrowheads="1"/>
              </p:cNvSpPr>
              <p:nvPr/>
            </p:nvSpPr>
            <p:spPr bwMode="auto">
              <a:xfrm>
                <a:off x="4579710" y="2430012"/>
                <a:ext cx="340995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119" name="Text Box 42">
                <a:extLst>
                  <a:ext uri="{FF2B5EF4-FFF2-40B4-BE49-F238E27FC236}">
                    <a16:creationId xmlns:a16="http://schemas.microsoft.com/office/drawing/2014/main" id="{C0762B76-1537-D346-8718-8BAF6E1F14E0}"/>
                  </a:ext>
                </a:extLst>
              </p:cNvPr>
              <p:cNvSpPr txBox="1">
                <a:spLocks noChangeArrowheads="1"/>
              </p:cNvSpPr>
              <p:nvPr/>
            </p:nvSpPr>
            <p:spPr bwMode="auto">
              <a:xfrm>
                <a:off x="217867" y="1965269"/>
                <a:ext cx="3287333"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ACK: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 # of next expected byte; A bit: this is an ACK</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0" name="Line 46">
                <a:extLst>
                  <a:ext uri="{FF2B5EF4-FFF2-40B4-BE49-F238E27FC236}">
                    <a16:creationId xmlns:a16="http://schemas.microsoft.com/office/drawing/2014/main" id="{412FF679-1D4F-2847-94BC-15BFC61FB4F3}"/>
                  </a:ext>
                </a:extLst>
              </p:cNvPr>
              <p:cNvSpPr>
                <a:spLocks noChangeShapeType="1"/>
              </p:cNvSpPr>
              <p:nvPr/>
            </p:nvSpPr>
            <p:spPr bwMode="auto">
              <a:xfrm>
                <a:off x="3505200" y="2417523"/>
                <a:ext cx="2076276" cy="519606"/>
              </a:xfrm>
              <a:custGeom>
                <a:avLst/>
                <a:gdLst>
                  <a:gd name="connsiteX0" fmla="*/ 0 w 2082626"/>
                  <a:gd name="connsiteY0" fmla="*/ 0 h 560881"/>
                  <a:gd name="connsiteX1" fmla="*/ 2082626 w 2082626"/>
                  <a:gd name="connsiteY1" fmla="*/ 560881 h 560881"/>
                  <a:gd name="connsiteX0" fmla="*/ 0 w 2076276"/>
                  <a:gd name="connsiteY0" fmla="*/ 0 h 519606"/>
                  <a:gd name="connsiteX1" fmla="*/ 2076276 w 2076276"/>
                  <a:gd name="connsiteY1" fmla="*/ 519606 h 519606"/>
                </a:gdLst>
                <a:ahLst/>
                <a:cxnLst>
                  <a:cxn ang="0">
                    <a:pos x="connsiteX0" y="connsiteY0"/>
                  </a:cxn>
                  <a:cxn ang="0">
                    <a:pos x="connsiteX1" y="connsiteY1"/>
                  </a:cxn>
                </a:cxnLst>
                <a:rect l="l" t="t" r="r" b="b"/>
                <a:pathLst>
                  <a:path w="2076276" h="519606">
                    <a:moveTo>
                      <a:pt x="0" y="0"/>
                    </a:moveTo>
                    <a:cubicBezTo>
                      <a:pt x="694209" y="186960"/>
                      <a:pt x="1382067" y="332646"/>
                      <a:pt x="2076276" y="519606"/>
                    </a:cubicBezTo>
                  </a:path>
                </a:pathLst>
              </a:cu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9" name="Line 46">
                <a:extLst>
                  <a:ext uri="{FF2B5EF4-FFF2-40B4-BE49-F238E27FC236}">
                    <a16:creationId xmlns:a16="http://schemas.microsoft.com/office/drawing/2014/main" id="{EB8BFD18-324C-2547-AC63-1A0429ECFF56}"/>
                  </a:ext>
                </a:extLst>
              </p:cNvPr>
              <p:cNvSpPr>
                <a:spLocks noChangeShapeType="1"/>
              </p:cNvSpPr>
              <p:nvPr/>
            </p:nvSpPr>
            <p:spPr bwMode="auto">
              <a:xfrm>
                <a:off x="3505200" y="2404996"/>
                <a:ext cx="1263476" cy="215853"/>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9" name="Group 18">
            <a:extLst>
              <a:ext uri="{FF2B5EF4-FFF2-40B4-BE49-F238E27FC236}">
                <a16:creationId xmlns:a16="http://schemas.microsoft.com/office/drawing/2014/main" id="{953AA9D9-F43E-B546-80D0-95A95FF3FD84}"/>
              </a:ext>
            </a:extLst>
          </p:cNvPr>
          <p:cNvGrpSpPr/>
          <p:nvPr/>
        </p:nvGrpSpPr>
        <p:grpSpPr>
          <a:xfrm>
            <a:off x="1895418" y="3659802"/>
            <a:ext cx="5828956" cy="1090980"/>
            <a:chOff x="1895418" y="3659802"/>
            <a:chExt cx="5828956" cy="1090980"/>
          </a:xfrm>
        </p:grpSpPr>
        <p:sp>
          <p:nvSpPr>
            <p:cNvPr id="98" name="Text Box 40">
              <a:extLst>
                <a:ext uri="{FF2B5EF4-FFF2-40B4-BE49-F238E27FC236}">
                  <a16:creationId xmlns:a16="http://schemas.microsoft.com/office/drawing/2014/main" id="{CF922213-3DD4-4C4D-B198-ADF3A29EDBE7}"/>
                </a:ext>
              </a:extLst>
            </p:cNvPr>
            <p:cNvSpPr txBox="1">
              <a:spLocks noChangeArrowheads="1"/>
            </p:cNvSpPr>
            <p:nvPr/>
          </p:nvSpPr>
          <p:spPr bwMode="auto">
            <a:xfrm>
              <a:off x="4830361" y="3659802"/>
              <a:ext cx="2894013" cy="4001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options (variable length)</a:t>
              </a:r>
              <a:endParaRPr kumimoji="0" lang="en-US" sz="24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99" name="Text Box 42">
              <a:extLst>
                <a:ext uri="{FF2B5EF4-FFF2-40B4-BE49-F238E27FC236}">
                  <a16:creationId xmlns:a16="http://schemas.microsoft.com/office/drawing/2014/main" id="{0BC58028-06B7-1A4E-8510-AE6EC1534B60}"/>
                </a:ext>
              </a:extLst>
            </p:cNvPr>
            <p:cNvSpPr txBox="1">
              <a:spLocks noChangeArrowheads="1"/>
            </p:cNvSpPr>
            <p:nvPr/>
          </p:nvSpPr>
          <p:spPr bwMode="auto">
            <a:xfrm>
              <a:off x="1895418" y="4326050"/>
              <a:ext cx="1688926"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options</a:t>
              </a: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cxnSp>
          <p:nvCxnSpPr>
            <p:cNvPr id="7" name="Straight Connector 6">
              <a:extLst>
                <a:ext uri="{FF2B5EF4-FFF2-40B4-BE49-F238E27FC236}">
                  <a16:creationId xmlns:a16="http://schemas.microsoft.com/office/drawing/2014/main" id="{163A6281-16AF-5F4C-91CB-DC46FB513501}"/>
                </a:ext>
              </a:extLst>
            </p:cNvPr>
            <p:cNvCxnSpPr>
              <a:cxnSpLocks/>
              <a:stCxn id="99" idx="3"/>
              <a:endCxn id="98" idx="1"/>
            </p:cNvCxnSpPr>
            <p:nvPr/>
          </p:nvCxnSpPr>
          <p:spPr>
            <a:xfrm flipV="1">
              <a:off x="3584344" y="3859857"/>
              <a:ext cx="1246017" cy="67855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F2A3E3DD-D73E-3547-B33E-7D97BEE9201E}"/>
              </a:ext>
            </a:extLst>
          </p:cNvPr>
          <p:cNvGrpSpPr/>
          <p:nvPr/>
        </p:nvGrpSpPr>
        <p:grpSpPr>
          <a:xfrm>
            <a:off x="318075" y="2819126"/>
            <a:ext cx="4456458" cy="424732"/>
            <a:chOff x="318075" y="2819126"/>
            <a:chExt cx="4456458" cy="424732"/>
          </a:xfrm>
        </p:grpSpPr>
        <p:sp>
          <p:nvSpPr>
            <p:cNvPr id="95" name="Text Box 37">
              <a:extLst>
                <a:ext uri="{FF2B5EF4-FFF2-40B4-BE49-F238E27FC236}">
                  <a16:creationId xmlns:a16="http://schemas.microsoft.com/office/drawing/2014/main" id="{71EB8016-A1DB-1C48-954C-FFBE5CF06DD6}"/>
                </a:ext>
              </a:extLst>
            </p:cNvPr>
            <p:cNvSpPr txBox="1">
              <a:spLocks noChangeArrowheads="1"/>
            </p:cNvSpPr>
            <p:nvPr/>
          </p:nvSpPr>
          <p:spPr bwMode="auto">
            <a:xfrm>
              <a:off x="4278884" y="2826980"/>
              <a:ext cx="495649" cy="4076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head</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a:ea typeface="ＭＳ Ｐゴシック" charset="0"/>
                  <a:cs typeface="+mn-cs"/>
                </a:rPr>
                <a:t>len</a:t>
              </a:r>
              <a:endPar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3" name="Text Box 42">
              <a:extLst>
                <a:ext uri="{FF2B5EF4-FFF2-40B4-BE49-F238E27FC236}">
                  <a16:creationId xmlns:a16="http://schemas.microsoft.com/office/drawing/2014/main" id="{23616F6F-F6F8-274A-8F63-2AC8E94CAB0A}"/>
                </a:ext>
              </a:extLst>
            </p:cNvPr>
            <p:cNvSpPr txBox="1">
              <a:spLocks noChangeArrowheads="1"/>
            </p:cNvSpPr>
            <p:nvPr/>
          </p:nvSpPr>
          <p:spPr bwMode="auto">
            <a:xfrm>
              <a:off x="318075" y="2819126"/>
              <a:ext cx="3287333"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length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(of TCP header)</a:t>
              </a:r>
            </a:p>
          </p:txBody>
        </p:sp>
        <p:cxnSp>
          <p:nvCxnSpPr>
            <p:cNvPr id="100" name="Straight Connector 99">
              <a:extLst>
                <a:ext uri="{FF2B5EF4-FFF2-40B4-BE49-F238E27FC236}">
                  <a16:creationId xmlns:a16="http://schemas.microsoft.com/office/drawing/2014/main" id="{D004F6AA-C795-934B-B4F0-CA6FD9652FA1}"/>
                </a:ext>
              </a:extLst>
            </p:cNvPr>
            <p:cNvCxnSpPr>
              <a:cxnSpLocks/>
            </p:cNvCxnSpPr>
            <p:nvPr/>
          </p:nvCxnSpPr>
          <p:spPr>
            <a:xfrm>
              <a:off x="3544867" y="3031480"/>
              <a:ext cx="783888"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B36175C2-99D1-404D-ADB0-0C09C4338566}"/>
              </a:ext>
            </a:extLst>
          </p:cNvPr>
          <p:cNvGrpSpPr/>
          <p:nvPr/>
        </p:nvGrpSpPr>
        <p:grpSpPr>
          <a:xfrm>
            <a:off x="-24878" y="3174115"/>
            <a:ext cx="6031751" cy="424732"/>
            <a:chOff x="-24878" y="3174115"/>
            <a:chExt cx="6031751" cy="424732"/>
          </a:xfrm>
        </p:grpSpPr>
        <p:sp>
          <p:nvSpPr>
            <p:cNvPr id="82" name="Text Box 24">
              <a:extLst>
                <a:ext uri="{FF2B5EF4-FFF2-40B4-BE49-F238E27FC236}">
                  <a16:creationId xmlns:a16="http://schemas.microsoft.com/office/drawing/2014/main" id="{DA04993C-122C-384A-9568-6515DE95D883}"/>
                </a:ext>
              </a:extLst>
            </p:cNvPr>
            <p:cNvSpPr txBox="1">
              <a:spLocks noChangeArrowheads="1"/>
            </p:cNvSpPr>
            <p:nvPr/>
          </p:nvSpPr>
          <p:spPr bwMode="auto">
            <a:xfrm>
              <a:off x="4794023" y="3203124"/>
              <a:ext cx="12128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109" name="Text Box 51">
              <a:extLst>
                <a:ext uri="{FF2B5EF4-FFF2-40B4-BE49-F238E27FC236}">
                  <a16:creationId xmlns:a16="http://schemas.microsoft.com/office/drawing/2014/main" id="{CE090396-5F4D-6E4E-AA9C-2778A62E73B2}"/>
                </a:ext>
              </a:extLst>
            </p:cNvPr>
            <p:cNvSpPr txBox="1">
              <a:spLocks noChangeArrowheads="1"/>
            </p:cNvSpPr>
            <p:nvPr/>
          </p:nvSpPr>
          <p:spPr bwMode="auto">
            <a:xfrm>
              <a:off x="-24878" y="3174115"/>
              <a:ext cx="3595495"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Internet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checksum</a:t>
              </a:r>
            </a:p>
          </p:txBody>
        </p:sp>
        <p:cxnSp>
          <p:nvCxnSpPr>
            <p:cNvPr id="101" name="Straight Connector 100">
              <a:extLst>
                <a:ext uri="{FF2B5EF4-FFF2-40B4-BE49-F238E27FC236}">
                  <a16:creationId xmlns:a16="http://schemas.microsoft.com/office/drawing/2014/main" id="{4F87AC36-0055-DB45-A995-89129C5BB34A}"/>
                </a:ext>
              </a:extLst>
            </p:cNvPr>
            <p:cNvCxnSpPr>
              <a:cxnSpLocks/>
              <a:stCxn id="109" idx="3"/>
              <a:endCxn id="82" idx="1"/>
            </p:cNvCxnSpPr>
            <p:nvPr/>
          </p:nvCxnSpPr>
          <p:spPr>
            <a:xfrm>
              <a:off x="3570617" y="3386481"/>
              <a:ext cx="1223406"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66" name="Line 10">
            <a:extLst>
              <a:ext uri="{FF2B5EF4-FFF2-40B4-BE49-F238E27FC236}">
                <a16:creationId xmlns:a16="http://schemas.microsoft.com/office/drawing/2014/main" id="{A7BD37B6-D73B-A04D-BDC5-AC47A5470DF4}"/>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4" name="Line 26">
            <a:extLst>
              <a:ext uri="{FF2B5EF4-FFF2-40B4-BE49-F238E27FC236}">
                <a16:creationId xmlns:a16="http://schemas.microsoft.com/office/drawing/2014/main" id="{E9E32468-C9DF-C94D-9DAD-F82B75D02C08}"/>
              </a:ext>
            </a:extLst>
          </p:cNvPr>
          <p:cNvSpPr>
            <a:spLocks noChangeShapeType="1"/>
          </p:cNvSpPr>
          <p:nvPr/>
        </p:nvSpPr>
        <p:spPr bwMode="auto">
          <a:xfrm flipV="1">
            <a:off x="6150711" y="2804662"/>
            <a:ext cx="0" cy="392112"/>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5" name="Line 27">
            <a:extLst>
              <a:ext uri="{FF2B5EF4-FFF2-40B4-BE49-F238E27FC236}">
                <a16:creationId xmlns:a16="http://schemas.microsoft.com/office/drawing/2014/main" id="{595D2D86-0F8D-4945-A03B-3D969A9DA275}"/>
              </a:ext>
            </a:extLst>
          </p:cNvPr>
          <p:cNvSpPr>
            <a:spLocks noChangeShapeType="1"/>
          </p:cNvSpPr>
          <p:nvPr/>
        </p:nvSpPr>
        <p:spPr bwMode="auto">
          <a:xfrm flipV="1">
            <a:off x="599292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86" name="Line 28">
            <a:extLst>
              <a:ext uri="{FF2B5EF4-FFF2-40B4-BE49-F238E27FC236}">
                <a16:creationId xmlns:a16="http://schemas.microsoft.com/office/drawing/2014/main" id="{480E04C4-4E6B-614E-B6E0-47722F1E738E}"/>
              </a:ext>
            </a:extLst>
          </p:cNvPr>
          <p:cNvSpPr>
            <a:spLocks noChangeShapeType="1"/>
          </p:cNvSpPr>
          <p:nvPr/>
        </p:nvSpPr>
        <p:spPr bwMode="auto">
          <a:xfrm flipV="1">
            <a:off x="5830374" y="2809424"/>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grpSp>
        <p:nvGrpSpPr>
          <p:cNvPr id="28" name="Group 27">
            <a:extLst>
              <a:ext uri="{FF2B5EF4-FFF2-40B4-BE49-F238E27FC236}">
                <a16:creationId xmlns:a16="http://schemas.microsoft.com/office/drawing/2014/main" id="{D7BB42C1-3F72-AF44-97A0-27D00776292C}"/>
              </a:ext>
            </a:extLst>
          </p:cNvPr>
          <p:cNvGrpSpPr/>
          <p:nvPr/>
        </p:nvGrpSpPr>
        <p:grpSpPr>
          <a:xfrm>
            <a:off x="172543" y="2863949"/>
            <a:ext cx="6190466" cy="2660551"/>
            <a:chOff x="172543" y="2863949"/>
            <a:chExt cx="6190466" cy="2660551"/>
          </a:xfrm>
        </p:grpSpPr>
        <p:sp>
          <p:nvSpPr>
            <p:cNvPr id="102" name="Text Box 44">
              <a:extLst>
                <a:ext uri="{FF2B5EF4-FFF2-40B4-BE49-F238E27FC236}">
                  <a16:creationId xmlns:a16="http://schemas.microsoft.com/office/drawing/2014/main" id="{26B4BE77-FB6F-AB48-BDB1-C2E23D5564F9}"/>
                </a:ext>
              </a:extLst>
            </p:cNvPr>
            <p:cNvSpPr txBox="1">
              <a:spLocks noChangeArrowheads="1"/>
            </p:cNvSpPr>
            <p:nvPr/>
          </p:nvSpPr>
          <p:spPr bwMode="auto">
            <a:xfrm>
              <a:off x="172543" y="4822769"/>
              <a:ext cx="3419248" cy="701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RST, SYN, FIN: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connection management</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06" name="Freeform 48">
              <a:extLst>
                <a:ext uri="{FF2B5EF4-FFF2-40B4-BE49-F238E27FC236}">
                  <a16:creationId xmlns:a16="http://schemas.microsoft.com/office/drawing/2014/main" id="{60B1CDA3-93F4-6C43-A635-618B9929B512}"/>
                </a:ext>
              </a:extLst>
            </p:cNvPr>
            <p:cNvSpPr>
              <a:spLocks/>
            </p:cNvSpPr>
            <p:nvPr/>
          </p:nvSpPr>
          <p:spPr bwMode="auto">
            <a:xfrm>
              <a:off x="3558336" y="3152325"/>
              <a:ext cx="2678659" cy="2026938"/>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877"/>
                <a:gd name="connsiteY0" fmla="*/ 32885 h 32885"/>
                <a:gd name="connsiteX1" fmla="*/ 10451 w 11877"/>
                <a:gd name="connsiteY1" fmla="*/ 0 h 32885"/>
                <a:gd name="connsiteX2" fmla="*/ 11877 w 11877"/>
                <a:gd name="connsiteY2" fmla="*/ 0 h 32885"/>
                <a:gd name="connsiteX0" fmla="*/ 0 w 11573"/>
                <a:gd name="connsiteY0" fmla="*/ 32885 h 32885"/>
                <a:gd name="connsiteX1" fmla="*/ 10147 w 11573"/>
                <a:gd name="connsiteY1" fmla="*/ 0 h 32885"/>
                <a:gd name="connsiteX2" fmla="*/ 11573 w 11573"/>
                <a:gd name="connsiteY2" fmla="*/ 0 h 32885"/>
                <a:gd name="connsiteX0" fmla="*/ 0 w 11573"/>
                <a:gd name="connsiteY0" fmla="*/ 28757 h 28757"/>
                <a:gd name="connsiteX1" fmla="*/ 10147 w 11573"/>
                <a:gd name="connsiteY1" fmla="*/ 0 h 28757"/>
                <a:gd name="connsiteX2" fmla="*/ 11573 w 11573"/>
                <a:gd name="connsiteY2" fmla="*/ 0 h 28757"/>
              </a:gdLst>
              <a:ahLst/>
              <a:cxnLst>
                <a:cxn ang="0">
                  <a:pos x="connsiteX0" y="connsiteY0"/>
                </a:cxn>
                <a:cxn ang="0">
                  <a:pos x="connsiteX1" y="connsiteY1"/>
                </a:cxn>
                <a:cxn ang="0">
                  <a:pos x="connsiteX2" y="connsiteY2"/>
                </a:cxn>
              </a:cxnLst>
              <a:rect l="l" t="t" r="r" b="b"/>
              <a:pathLst>
                <a:path w="11573" h="28757">
                  <a:moveTo>
                    <a:pt x="0" y="28757"/>
                  </a:moveTo>
                  <a:lnTo>
                    <a:pt x="10147" y="0"/>
                  </a:lnTo>
                  <a:lnTo>
                    <a:pt x="11573"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7" name="Group 26">
              <a:extLst>
                <a:ext uri="{FF2B5EF4-FFF2-40B4-BE49-F238E27FC236}">
                  <a16:creationId xmlns:a16="http://schemas.microsoft.com/office/drawing/2014/main" id="{879AF9A6-0FEF-B247-BE32-9C9E788D06B7}"/>
                </a:ext>
              </a:extLst>
            </p:cNvPr>
            <p:cNvGrpSpPr/>
            <p:nvPr/>
          </p:nvGrpSpPr>
          <p:grpSpPr>
            <a:xfrm>
              <a:off x="5775299" y="2863949"/>
              <a:ext cx="587710" cy="339181"/>
              <a:chOff x="5775299" y="2863949"/>
              <a:chExt cx="587710" cy="339181"/>
            </a:xfrm>
          </p:grpSpPr>
          <p:sp>
            <p:nvSpPr>
              <p:cNvPr id="104" name="Text Box 25">
                <a:extLst>
                  <a:ext uri="{FF2B5EF4-FFF2-40B4-BE49-F238E27FC236}">
                    <a16:creationId xmlns:a16="http://schemas.microsoft.com/office/drawing/2014/main" id="{1E9027CA-7A6A-B448-891E-3892BD3436EF}"/>
                  </a:ext>
                </a:extLst>
              </p:cNvPr>
              <p:cNvSpPr txBox="1">
                <a:spLocks noChangeArrowheads="1"/>
              </p:cNvSpPr>
              <p:nvPr/>
            </p:nvSpPr>
            <p:spPr bwMode="auto">
              <a:xfrm>
                <a:off x="6083766" y="2864576"/>
                <a:ext cx="27924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F</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05" name="Text Box 32">
                <a:extLst>
                  <a:ext uri="{FF2B5EF4-FFF2-40B4-BE49-F238E27FC236}">
                    <a16:creationId xmlns:a16="http://schemas.microsoft.com/office/drawing/2014/main" id="{BF401CFD-599A-5C4B-A029-67CB6B08DBD3}"/>
                  </a:ext>
                </a:extLst>
              </p:cNvPr>
              <p:cNvSpPr txBox="1">
                <a:spLocks noChangeArrowheads="1"/>
              </p:cNvSpPr>
              <p:nvPr/>
            </p:nvSpPr>
            <p:spPr bwMode="auto">
              <a:xfrm>
                <a:off x="5939184" y="2863949"/>
                <a:ext cx="279243"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S</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112" name="Text Box 33">
                <a:extLst>
                  <a:ext uri="{FF2B5EF4-FFF2-40B4-BE49-F238E27FC236}">
                    <a16:creationId xmlns:a16="http://schemas.microsoft.com/office/drawing/2014/main" id="{4835EFCA-3EC6-3040-AA54-B10AD772E111}"/>
                  </a:ext>
                </a:extLst>
              </p:cNvPr>
              <p:cNvSpPr txBox="1">
                <a:spLocks noChangeArrowheads="1"/>
              </p:cNvSpPr>
              <p:nvPr/>
            </p:nvSpPr>
            <p:spPr bwMode="auto">
              <a:xfrm>
                <a:off x="577529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R</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grpSp>
      <p:grpSp>
        <p:nvGrpSpPr>
          <p:cNvPr id="25" name="Group 24">
            <a:extLst>
              <a:ext uri="{FF2B5EF4-FFF2-40B4-BE49-F238E27FC236}">
                <a16:creationId xmlns:a16="http://schemas.microsoft.com/office/drawing/2014/main" id="{3AF86AF7-F0A9-0D49-BD66-0BCBA2EFC273}"/>
              </a:ext>
            </a:extLst>
          </p:cNvPr>
          <p:cNvGrpSpPr/>
          <p:nvPr/>
        </p:nvGrpSpPr>
        <p:grpSpPr>
          <a:xfrm>
            <a:off x="5277007" y="2859957"/>
            <a:ext cx="2976178" cy="719405"/>
            <a:chOff x="5277007" y="2859957"/>
            <a:chExt cx="2976178" cy="719405"/>
          </a:xfrm>
        </p:grpSpPr>
        <p:sp>
          <p:nvSpPr>
            <p:cNvPr id="81" name="Text Box 23">
              <a:extLst>
                <a:ext uri="{FF2B5EF4-FFF2-40B4-BE49-F238E27FC236}">
                  <a16:creationId xmlns:a16="http://schemas.microsoft.com/office/drawing/2014/main" id="{81D77D1D-D542-E748-880E-847E52816584}"/>
                </a:ext>
              </a:extLst>
            </p:cNvPr>
            <p:cNvSpPr txBox="1">
              <a:spLocks noChangeArrowheads="1"/>
            </p:cNvSpPr>
            <p:nvPr/>
          </p:nvSpPr>
          <p:spPr bwMode="auto">
            <a:xfrm>
              <a:off x="6430735" y="3212649"/>
              <a:ext cx="18224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Arial" charset="0"/>
                  <a:ea typeface="ＭＳ Ｐゴシック" charset="0"/>
                  <a:cs typeface="+mn-cs"/>
                </a:rPr>
                <a:t>Urg data pointer</a:t>
              </a:r>
            </a:p>
          </p:txBody>
        </p:sp>
        <p:grpSp>
          <p:nvGrpSpPr>
            <p:cNvPr id="20" name="Group 19">
              <a:extLst>
                <a:ext uri="{FF2B5EF4-FFF2-40B4-BE49-F238E27FC236}">
                  <a16:creationId xmlns:a16="http://schemas.microsoft.com/office/drawing/2014/main" id="{B4F94C5D-E8AA-B440-8C55-70C383D81C15}"/>
                </a:ext>
              </a:extLst>
            </p:cNvPr>
            <p:cNvGrpSpPr/>
            <p:nvPr/>
          </p:nvGrpSpPr>
          <p:grpSpPr>
            <a:xfrm>
              <a:off x="5277007" y="2859957"/>
              <a:ext cx="627836" cy="345695"/>
              <a:chOff x="5527528" y="3067992"/>
              <a:chExt cx="627836" cy="345695"/>
            </a:xfrm>
          </p:grpSpPr>
          <p:sp>
            <p:nvSpPr>
              <p:cNvPr id="114" name="Text Box 34">
                <a:extLst>
                  <a:ext uri="{FF2B5EF4-FFF2-40B4-BE49-F238E27FC236}">
                    <a16:creationId xmlns:a16="http://schemas.microsoft.com/office/drawing/2014/main" id="{7FD0470F-0A1F-AA4D-A333-01EBF41CDBEA}"/>
                  </a:ext>
                </a:extLst>
              </p:cNvPr>
              <p:cNvSpPr txBox="1">
                <a:spLocks noChangeArrowheads="1"/>
              </p:cNvSpPr>
              <p:nvPr/>
            </p:nvSpPr>
            <p:spPr bwMode="auto">
              <a:xfrm>
                <a:off x="5864900" y="3067992"/>
                <a:ext cx="290464"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P</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sp>
            <p:nvSpPr>
              <p:cNvPr id="120" name="Text Box 36">
                <a:extLst>
                  <a:ext uri="{FF2B5EF4-FFF2-40B4-BE49-F238E27FC236}">
                    <a16:creationId xmlns:a16="http://schemas.microsoft.com/office/drawing/2014/main" id="{B48CC928-18A3-8E4E-944E-47C0F754B01D}"/>
                  </a:ext>
                </a:extLst>
              </p:cNvPr>
              <p:cNvSpPr txBox="1">
                <a:spLocks noChangeArrowheads="1"/>
              </p:cNvSpPr>
              <p:nvPr/>
            </p:nvSpPr>
            <p:spPr bwMode="auto">
              <a:xfrm>
                <a:off x="5527528" y="3075133"/>
                <a:ext cx="316112"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rPr>
                  <a:t>U</a:t>
                </a:r>
                <a:endParaRPr kumimoji="0" lang="en-US" sz="2400" b="0" i="0" u="none" strike="noStrike" kern="1200" cap="none" spc="0" normalizeH="0" baseline="0" noProof="0" dirty="0">
                  <a:ln>
                    <a:noFill/>
                  </a:ln>
                  <a:solidFill>
                    <a:prstClr val="white">
                      <a:lumMod val="65000"/>
                    </a:prstClr>
                  </a:solidFill>
                  <a:effectLst/>
                  <a:uLnTx/>
                  <a:uFillTx/>
                  <a:latin typeface="Calibri"/>
                  <a:ea typeface="ＭＳ Ｐゴシック" charset="0"/>
                  <a:cs typeface="+mn-cs"/>
                </a:endParaRPr>
              </a:p>
            </p:txBody>
          </p:sp>
        </p:grpSp>
      </p:grpSp>
      <p:sp>
        <p:nvSpPr>
          <p:cNvPr id="83" name="Line 39">
            <a:extLst>
              <a:ext uri="{FF2B5EF4-FFF2-40B4-BE49-F238E27FC236}">
                <a16:creationId xmlns:a16="http://schemas.microsoft.com/office/drawing/2014/main" id="{392B7123-3C26-1749-8AFA-C33B254E566D}"/>
              </a:ext>
            </a:extLst>
          </p:cNvPr>
          <p:cNvSpPr>
            <a:spLocks noChangeShapeType="1"/>
          </p:cNvSpPr>
          <p:nvPr/>
        </p:nvSpPr>
        <p:spPr bwMode="auto">
          <a:xfrm flipV="1">
            <a:off x="5038305" y="2821148"/>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sp>
        <p:nvSpPr>
          <p:cNvPr id="90" name="Line 39">
            <a:extLst>
              <a:ext uri="{FF2B5EF4-FFF2-40B4-BE49-F238E27FC236}">
                <a16:creationId xmlns:a16="http://schemas.microsoft.com/office/drawing/2014/main" id="{7076B497-C69A-EF44-9C73-7365E43E17C4}"/>
              </a:ext>
            </a:extLst>
          </p:cNvPr>
          <p:cNvSpPr>
            <a:spLocks noChangeShapeType="1"/>
          </p:cNvSpPr>
          <p:nvPr/>
        </p:nvSpPr>
        <p:spPr bwMode="auto">
          <a:xfrm flipV="1">
            <a:off x="5198693" y="2812182"/>
            <a:ext cx="0" cy="392113"/>
          </a:xfrm>
          <a:prstGeom prst="line">
            <a:avLst/>
          </a:prstGeom>
          <a:noFill/>
          <a:ln w="127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grpSp>
        <p:nvGrpSpPr>
          <p:cNvPr id="21" name="Group 20">
            <a:extLst>
              <a:ext uri="{FF2B5EF4-FFF2-40B4-BE49-F238E27FC236}">
                <a16:creationId xmlns:a16="http://schemas.microsoft.com/office/drawing/2014/main" id="{EDC6B1EF-A64F-C94C-81C5-7457A0FFD99A}"/>
              </a:ext>
            </a:extLst>
          </p:cNvPr>
          <p:cNvGrpSpPr/>
          <p:nvPr/>
        </p:nvGrpSpPr>
        <p:grpSpPr>
          <a:xfrm>
            <a:off x="182880" y="2863950"/>
            <a:ext cx="5235245" cy="1390074"/>
            <a:chOff x="182880" y="2863950"/>
            <a:chExt cx="5235245" cy="1390074"/>
          </a:xfrm>
        </p:grpSpPr>
        <p:grpSp>
          <p:nvGrpSpPr>
            <p:cNvPr id="18" name="Group 17">
              <a:extLst>
                <a:ext uri="{FF2B5EF4-FFF2-40B4-BE49-F238E27FC236}">
                  <a16:creationId xmlns:a16="http://schemas.microsoft.com/office/drawing/2014/main" id="{A2C55822-331C-DB41-AB07-59E5BF177405}"/>
                </a:ext>
              </a:extLst>
            </p:cNvPr>
            <p:cNvGrpSpPr/>
            <p:nvPr/>
          </p:nvGrpSpPr>
          <p:grpSpPr>
            <a:xfrm>
              <a:off x="4962499" y="2863950"/>
              <a:ext cx="455626" cy="338554"/>
              <a:chOff x="4962499" y="2863950"/>
              <a:chExt cx="455626" cy="338554"/>
            </a:xfrm>
          </p:grpSpPr>
          <p:sp>
            <p:nvSpPr>
              <p:cNvPr id="91" name="Text Box 33">
                <a:extLst>
                  <a:ext uri="{FF2B5EF4-FFF2-40B4-BE49-F238E27FC236}">
                    <a16:creationId xmlns:a16="http://schemas.microsoft.com/office/drawing/2014/main" id="{C85C82AE-5A3B-EC47-8EA4-C0FA0727D048}"/>
                  </a:ext>
                </a:extLst>
              </p:cNvPr>
              <p:cNvSpPr txBox="1">
                <a:spLocks noChangeArrowheads="1"/>
              </p:cNvSpPr>
              <p:nvPr/>
            </p:nvSpPr>
            <p:spPr bwMode="auto">
              <a:xfrm>
                <a:off x="496249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C</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sp>
            <p:nvSpPr>
              <p:cNvPr id="92" name="Text Box 33">
                <a:extLst>
                  <a:ext uri="{FF2B5EF4-FFF2-40B4-BE49-F238E27FC236}">
                    <a16:creationId xmlns:a16="http://schemas.microsoft.com/office/drawing/2014/main" id="{D8D1B074-0355-2942-9977-4413DF7E41C7}"/>
                  </a:ext>
                </a:extLst>
              </p:cNvPr>
              <p:cNvSpPr txBox="1">
                <a:spLocks noChangeArrowheads="1"/>
              </p:cNvSpPr>
              <p:nvPr/>
            </p:nvSpPr>
            <p:spPr bwMode="auto">
              <a:xfrm>
                <a:off x="5121249" y="2863950"/>
                <a:ext cx="296876" cy="3385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a:ea typeface="ＭＳ Ｐゴシック" charset="0"/>
                    <a:cs typeface="+mn-cs"/>
                  </a:rPr>
                  <a:t>E</a:t>
                </a:r>
                <a:endParaRPr kumimoji="0" lang="en-US" sz="2400" b="0" i="0" u="none" strike="noStrike" kern="1200" cap="none" spc="0" normalizeH="0" baseline="0" noProof="0" dirty="0">
                  <a:ln>
                    <a:noFill/>
                  </a:ln>
                  <a:solidFill>
                    <a:srgbClr val="000000"/>
                  </a:solidFill>
                  <a:effectLst/>
                  <a:uLnTx/>
                  <a:uFillTx/>
                  <a:latin typeface="Calibri"/>
                  <a:ea typeface="ＭＳ Ｐゴシック" charset="0"/>
                  <a:cs typeface="+mn-cs"/>
                </a:endParaRPr>
              </a:p>
            </p:txBody>
          </p:sp>
        </p:grpSp>
        <p:sp>
          <p:nvSpPr>
            <p:cNvPr id="103" name="Text Box 44">
              <a:extLst>
                <a:ext uri="{FF2B5EF4-FFF2-40B4-BE49-F238E27FC236}">
                  <a16:creationId xmlns:a16="http://schemas.microsoft.com/office/drawing/2014/main" id="{8DAB804F-166B-0D4B-8089-4B58E3A0811F}"/>
                </a:ext>
              </a:extLst>
            </p:cNvPr>
            <p:cNvSpPr txBox="1">
              <a:spLocks noChangeArrowheads="1"/>
            </p:cNvSpPr>
            <p:nvPr/>
          </p:nvSpPr>
          <p:spPr bwMode="auto">
            <a:xfrm>
              <a:off x="182880" y="3829292"/>
              <a:ext cx="3384479"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 E: </a:t>
              </a:r>
              <a:r>
                <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congestion notification</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10" name="Freeform 48">
              <a:extLst>
                <a:ext uri="{FF2B5EF4-FFF2-40B4-BE49-F238E27FC236}">
                  <a16:creationId xmlns:a16="http://schemas.microsoft.com/office/drawing/2014/main" id="{7103D547-1AEC-9743-8B26-22B579AF1CE1}"/>
                </a:ext>
              </a:extLst>
            </p:cNvPr>
            <p:cNvSpPr>
              <a:spLocks/>
            </p:cNvSpPr>
            <p:nvPr/>
          </p:nvSpPr>
          <p:spPr bwMode="auto">
            <a:xfrm>
              <a:off x="3573195" y="3136684"/>
              <a:ext cx="1749482" cy="914811"/>
            </a:xfrm>
            <a:custGeom>
              <a:avLst/>
              <a:gdLst>
                <a:gd name="T0" fmla="*/ 0 w 1458"/>
                <a:gd name="T1" fmla="*/ 2147483647 h 444"/>
                <a:gd name="T2" fmla="*/ 2147483647 w 1458"/>
                <a:gd name="T3" fmla="*/ 0 h 444"/>
                <a:gd name="T4" fmla="*/ 2147483647 w 1458"/>
                <a:gd name="T5" fmla="*/ 2147483647 h 444"/>
                <a:gd name="T6" fmla="*/ 0 60000 65536"/>
                <a:gd name="T7" fmla="*/ 0 60000 65536"/>
                <a:gd name="T8" fmla="*/ 0 60000 65536"/>
                <a:gd name="connsiteX0" fmla="*/ 0 w 10533"/>
                <a:gd name="connsiteY0" fmla="*/ 10875 h 10875"/>
                <a:gd name="connsiteX1" fmla="*/ 9093 w 10533"/>
                <a:gd name="connsiteY1" fmla="*/ 0 h 10875"/>
                <a:gd name="connsiteX2" fmla="*/ 10533 w 10533"/>
                <a:gd name="connsiteY2" fmla="*/ 135 h 10875"/>
                <a:gd name="connsiteX0" fmla="*/ 0 w 11345"/>
                <a:gd name="connsiteY0" fmla="*/ 13363 h 13363"/>
                <a:gd name="connsiteX1" fmla="*/ 9905 w 11345"/>
                <a:gd name="connsiteY1" fmla="*/ 0 h 13363"/>
                <a:gd name="connsiteX2" fmla="*/ 11345 w 11345"/>
                <a:gd name="connsiteY2" fmla="*/ 135 h 13363"/>
                <a:gd name="connsiteX0" fmla="*/ 0 w 11465"/>
                <a:gd name="connsiteY0" fmla="*/ 23977 h 23977"/>
                <a:gd name="connsiteX1" fmla="*/ 10025 w 11465"/>
                <a:gd name="connsiteY1" fmla="*/ 0 h 23977"/>
                <a:gd name="connsiteX2" fmla="*/ 11465 w 11465"/>
                <a:gd name="connsiteY2" fmla="*/ 135 h 23977"/>
                <a:gd name="connsiteX0" fmla="*/ 0 w 11405"/>
                <a:gd name="connsiteY0" fmla="*/ 28694 h 28694"/>
                <a:gd name="connsiteX1" fmla="*/ 9965 w 11405"/>
                <a:gd name="connsiteY1" fmla="*/ 0 h 28694"/>
                <a:gd name="connsiteX2" fmla="*/ 11405 w 11405"/>
                <a:gd name="connsiteY2" fmla="*/ 135 h 28694"/>
                <a:gd name="connsiteX0" fmla="*/ 0 w 11391"/>
                <a:gd name="connsiteY0" fmla="*/ 28694 h 28694"/>
                <a:gd name="connsiteX1" fmla="*/ 9965 w 11391"/>
                <a:gd name="connsiteY1" fmla="*/ 0 h 28694"/>
                <a:gd name="connsiteX2" fmla="*/ 11391 w 11391"/>
                <a:gd name="connsiteY2" fmla="*/ 0 h 28694"/>
                <a:gd name="connsiteX0" fmla="*/ 0 w 11391"/>
                <a:gd name="connsiteY0" fmla="*/ 28743 h 28743"/>
                <a:gd name="connsiteX1" fmla="*/ 6388 w 11391"/>
                <a:gd name="connsiteY1" fmla="*/ 0 h 28743"/>
                <a:gd name="connsiteX2" fmla="*/ 11391 w 11391"/>
                <a:gd name="connsiteY2" fmla="*/ 49 h 28743"/>
                <a:gd name="connsiteX0" fmla="*/ 0 w 7455"/>
                <a:gd name="connsiteY0" fmla="*/ 28792 h 28792"/>
                <a:gd name="connsiteX1" fmla="*/ 6388 w 7455"/>
                <a:gd name="connsiteY1" fmla="*/ 49 h 28792"/>
                <a:gd name="connsiteX2" fmla="*/ 7455 w 7455"/>
                <a:gd name="connsiteY2" fmla="*/ 0 h 28792"/>
                <a:gd name="connsiteX0" fmla="*/ 0 w 9679"/>
                <a:gd name="connsiteY0" fmla="*/ 9983 h 9983"/>
                <a:gd name="connsiteX1" fmla="*/ 8569 w 9679"/>
                <a:gd name="connsiteY1" fmla="*/ 0 h 9983"/>
                <a:gd name="connsiteX2" fmla="*/ 9679 w 9679"/>
                <a:gd name="connsiteY2" fmla="*/ 34 h 9983"/>
                <a:gd name="connsiteX0" fmla="*/ 0 w 10062"/>
                <a:gd name="connsiteY0" fmla="*/ 10017 h 10017"/>
                <a:gd name="connsiteX1" fmla="*/ 8853 w 10062"/>
                <a:gd name="connsiteY1" fmla="*/ 17 h 10017"/>
                <a:gd name="connsiteX2" fmla="*/ 10062 w 10062"/>
                <a:gd name="connsiteY2" fmla="*/ 0 h 10017"/>
              </a:gdLst>
              <a:ahLst/>
              <a:cxnLst>
                <a:cxn ang="0">
                  <a:pos x="connsiteX0" y="connsiteY0"/>
                </a:cxn>
                <a:cxn ang="0">
                  <a:pos x="connsiteX1" y="connsiteY1"/>
                </a:cxn>
                <a:cxn ang="0">
                  <a:pos x="connsiteX2" y="connsiteY2"/>
                </a:cxn>
              </a:cxnLst>
              <a:rect l="l" t="t" r="r" b="b"/>
              <a:pathLst>
                <a:path w="10062" h="10017">
                  <a:moveTo>
                    <a:pt x="0" y="10017"/>
                  </a:moveTo>
                  <a:lnTo>
                    <a:pt x="8853" y="17"/>
                  </a:lnTo>
                  <a:lnTo>
                    <a:pt x="10062" y="0"/>
                  </a:lnTo>
                </a:path>
              </a:pathLst>
            </a:custGeom>
            <a:noFill/>
            <a:ln w="19050" cap="flat" cmpd="sng">
              <a:solidFill>
                <a:srgbClr val="C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4" name="Slide Number Placeholder 2">
            <a:extLst>
              <a:ext uri="{FF2B5EF4-FFF2-40B4-BE49-F238E27FC236}">
                <a16:creationId xmlns:a16="http://schemas.microsoft.com/office/drawing/2014/main" id="{A3EE5CD7-E8F0-2F4B-B766-7EC8F235C30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176151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dissolve">
                                      <p:cBhvr>
                                        <p:cTn id="22" dur="500"/>
                                        <p:tgtEl>
                                          <p:spTgt spid="12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dissolv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5"/>
                                        </p:tgtEl>
                                        <p:attrNameLst>
                                          <p:attrName>style.visibility</p:attrName>
                                        </p:attrNameLst>
                                      </p:cBhvr>
                                      <p:to>
                                        <p:strVal val="visible"/>
                                      </p:to>
                                    </p:set>
                                    <p:animEffect transition="in" filter="dissolve">
                                      <p:cBhvr>
                                        <p:cTn id="47" dur="500"/>
                                        <p:tgtEl>
                                          <p:spTgt spid="11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dissolv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223" name="Rectangle 5">
            <a:extLst>
              <a:ext uri="{FF2B5EF4-FFF2-40B4-BE49-F238E27FC236}">
                <a16:creationId xmlns:a16="http://schemas.microsoft.com/office/drawing/2014/main" id="{D2976065-03BB-9A44-9CEB-93BE9CAA88A6}"/>
              </a:ext>
            </a:extLst>
          </p:cNvPr>
          <p:cNvSpPr txBox="1">
            <a:spLocks noChangeArrowheads="1"/>
          </p:cNvSpPr>
          <p:nvPr/>
        </p:nvSpPr>
        <p:spPr bwMode="auto">
          <a:xfrm>
            <a:off x="715171" y="1355712"/>
            <a:ext cx="5096669" cy="1311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Sequence numbers:</a:t>
            </a:r>
          </a:p>
          <a:p>
            <a:pPr marL="635000" marR="0" lvl="1" indent="-277813"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byte stream “</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number” of first byte in segment’s data</a:t>
            </a:r>
            <a:endPar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24" name="Group 192">
            <a:extLst>
              <a:ext uri="{FF2B5EF4-FFF2-40B4-BE49-F238E27FC236}">
                <a16:creationId xmlns:a16="http://schemas.microsoft.com/office/drawing/2014/main" id="{9FCDCC73-BB43-8046-8E2C-1100B11E1F9D}"/>
              </a:ext>
            </a:extLst>
          </p:cNvPr>
          <p:cNvGrpSpPr>
            <a:grpSpLocks/>
          </p:cNvGrpSpPr>
          <p:nvPr/>
        </p:nvGrpSpPr>
        <p:grpSpPr bwMode="auto">
          <a:xfrm>
            <a:off x="7783528" y="3989281"/>
            <a:ext cx="3086106" cy="2541588"/>
            <a:chOff x="3520" y="2404"/>
            <a:chExt cx="1944" cy="1601"/>
          </a:xfrm>
        </p:grpSpPr>
        <p:sp>
          <p:nvSpPr>
            <p:cNvPr id="225" name="Rectangle 167">
              <a:extLst>
                <a:ext uri="{FF2B5EF4-FFF2-40B4-BE49-F238E27FC236}">
                  <a16:creationId xmlns:a16="http://schemas.microsoft.com/office/drawing/2014/main" id="{9463A16E-CF3F-744B-B6DB-33800BAB4519}"/>
                </a:ext>
              </a:extLst>
            </p:cNvPr>
            <p:cNvSpPr>
              <a:spLocks noChangeArrowheads="1"/>
            </p:cNvSpPr>
            <p:nvPr/>
          </p:nvSpPr>
          <p:spPr bwMode="auto">
            <a:xfrm>
              <a:off x="3755" y="3589"/>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6" name="Group 148">
              <a:extLst>
                <a:ext uri="{FF2B5EF4-FFF2-40B4-BE49-F238E27FC236}">
                  <a16:creationId xmlns:a16="http://schemas.microsoft.com/office/drawing/2014/main" id="{841F4166-2762-C948-9842-0D47AF0FC7F8}"/>
                </a:ext>
              </a:extLst>
            </p:cNvPr>
            <p:cNvGrpSpPr>
              <a:grpSpLocks/>
            </p:cNvGrpSpPr>
            <p:nvPr/>
          </p:nvGrpSpPr>
          <p:grpSpPr bwMode="auto">
            <a:xfrm>
              <a:off x="3731" y="3291"/>
              <a:ext cx="1252" cy="714"/>
              <a:chOff x="1974" y="2984"/>
              <a:chExt cx="1252" cy="714"/>
            </a:xfrm>
          </p:grpSpPr>
          <p:sp>
            <p:nvSpPr>
              <p:cNvPr id="229" name="Rectangle 149">
                <a:extLst>
                  <a:ext uri="{FF2B5EF4-FFF2-40B4-BE49-F238E27FC236}">
                    <a16:creationId xmlns:a16="http://schemas.microsoft.com/office/drawing/2014/main" id="{6E7D0693-0288-9A4A-9FBC-6B90B9B96584}"/>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Text Box 150">
                <a:extLst>
                  <a:ext uri="{FF2B5EF4-FFF2-40B4-BE49-F238E27FC236}">
                    <a16:creationId xmlns:a16="http://schemas.microsoft.com/office/drawing/2014/main" id="{62697352-4BED-A64F-8830-504FE043B5D0}"/>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source port #</a:t>
                </a:r>
              </a:p>
            </p:txBody>
          </p:sp>
          <p:sp>
            <p:nvSpPr>
              <p:cNvPr id="231" name="Text Box 151">
                <a:extLst>
                  <a:ext uri="{FF2B5EF4-FFF2-40B4-BE49-F238E27FC236}">
                    <a16:creationId xmlns:a16="http://schemas.microsoft.com/office/drawing/2014/main" id="{2C0BFF63-7DCB-6D4D-AF9A-56894AAAD824}"/>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dest port #</a:t>
                </a:r>
              </a:p>
            </p:txBody>
          </p:sp>
          <p:sp>
            <p:nvSpPr>
              <p:cNvPr id="232" name="Text Box 152">
                <a:extLst>
                  <a:ext uri="{FF2B5EF4-FFF2-40B4-BE49-F238E27FC236}">
                    <a16:creationId xmlns:a16="http://schemas.microsoft.com/office/drawing/2014/main" id="{69698EB5-AC5E-124A-AB12-0B1B72742F02}"/>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sequence number</a:t>
                </a:r>
              </a:p>
            </p:txBody>
          </p:sp>
          <p:sp>
            <p:nvSpPr>
              <p:cNvPr id="233" name="Text Box 153">
                <a:extLst>
                  <a:ext uri="{FF2B5EF4-FFF2-40B4-BE49-F238E27FC236}">
                    <a16:creationId xmlns:a16="http://schemas.microsoft.com/office/drawing/2014/main" id="{697ADB2B-E096-7A41-ACDA-9E058B2EFF5D}"/>
                  </a:ext>
                </a:extLst>
              </p:cNvPr>
              <p:cNvSpPr txBox="1">
                <a:spLocks noChangeArrowheads="1"/>
              </p:cNvSpPr>
              <p:nvPr/>
            </p:nvSpPr>
            <p:spPr bwMode="auto">
              <a:xfrm>
                <a:off x="1974" y="3257"/>
                <a:ext cx="125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acknowledgement number</a:t>
                </a:r>
              </a:p>
            </p:txBody>
          </p:sp>
          <p:sp>
            <p:nvSpPr>
              <p:cNvPr id="234" name="Text Box 154">
                <a:extLst>
                  <a:ext uri="{FF2B5EF4-FFF2-40B4-BE49-F238E27FC236}">
                    <a16:creationId xmlns:a16="http://schemas.microsoft.com/office/drawing/2014/main" id="{FD66858C-8D5E-8443-9F2A-57EB759D3EFB}"/>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235" name="Line 155">
                <a:extLst>
                  <a:ext uri="{FF2B5EF4-FFF2-40B4-BE49-F238E27FC236}">
                    <a16:creationId xmlns:a16="http://schemas.microsoft.com/office/drawing/2014/main" id="{3FFD0288-879C-5D4E-AB0C-3445A5A97975}"/>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6" name="Line 156">
                <a:extLst>
                  <a:ext uri="{FF2B5EF4-FFF2-40B4-BE49-F238E27FC236}">
                    <a16:creationId xmlns:a16="http://schemas.microsoft.com/office/drawing/2014/main" id="{258401F9-F43D-C344-A200-772A5E1E1CB6}"/>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Line 157">
                <a:extLst>
                  <a:ext uri="{FF2B5EF4-FFF2-40B4-BE49-F238E27FC236}">
                    <a16:creationId xmlns:a16="http://schemas.microsoft.com/office/drawing/2014/main" id="{1E8AD451-7070-4243-A92C-2F6573F9406B}"/>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8" name="Line 158">
                <a:extLst>
                  <a:ext uri="{FF2B5EF4-FFF2-40B4-BE49-F238E27FC236}">
                    <a16:creationId xmlns:a16="http://schemas.microsoft.com/office/drawing/2014/main" id="{A4BD4C96-4E2A-074E-8E46-E4BF76EDD858}"/>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9" name="Line 159">
                <a:extLst>
                  <a:ext uri="{FF2B5EF4-FFF2-40B4-BE49-F238E27FC236}">
                    <a16:creationId xmlns:a16="http://schemas.microsoft.com/office/drawing/2014/main" id="{2153A22B-2E95-B947-A87C-50991B8DBA5D}"/>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Line 160">
                <a:extLst>
                  <a:ext uri="{FF2B5EF4-FFF2-40B4-BE49-F238E27FC236}">
                    <a16:creationId xmlns:a16="http://schemas.microsoft.com/office/drawing/2014/main" id="{BE256B00-4CFB-254F-8432-198CA45B2CAE}"/>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1" name="Text Box 161">
                <a:extLst>
                  <a:ext uri="{FF2B5EF4-FFF2-40B4-BE49-F238E27FC236}">
                    <a16:creationId xmlns:a16="http://schemas.microsoft.com/office/drawing/2014/main" id="{B0718275-925B-4143-80DA-87B335709565}"/>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rwnd</a:t>
                </a:r>
              </a:p>
            </p:txBody>
          </p:sp>
          <p:sp>
            <p:nvSpPr>
              <p:cNvPr id="242" name="Text Box 162">
                <a:extLst>
                  <a:ext uri="{FF2B5EF4-FFF2-40B4-BE49-F238E27FC236}">
                    <a16:creationId xmlns:a16="http://schemas.microsoft.com/office/drawing/2014/main" id="{539F6CE1-CE5E-234B-9AFA-A6F230193072}"/>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urg pointer</a:t>
                </a:r>
              </a:p>
            </p:txBody>
          </p:sp>
          <p:sp>
            <p:nvSpPr>
              <p:cNvPr id="243" name="Line 163">
                <a:extLst>
                  <a:ext uri="{FF2B5EF4-FFF2-40B4-BE49-F238E27FC236}">
                    <a16:creationId xmlns:a16="http://schemas.microsoft.com/office/drawing/2014/main" id="{6A1FC325-C1C9-E145-AB86-EB4CA77AB42D}"/>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4" name="Line 164">
                <a:extLst>
                  <a:ext uri="{FF2B5EF4-FFF2-40B4-BE49-F238E27FC236}">
                    <a16:creationId xmlns:a16="http://schemas.microsoft.com/office/drawing/2014/main" id="{A57D4AEC-EA9B-6441-B943-116E0B65541F}"/>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7" name="Text Box 166">
              <a:extLst>
                <a:ext uri="{FF2B5EF4-FFF2-40B4-BE49-F238E27FC236}">
                  <a16:creationId xmlns:a16="http://schemas.microsoft.com/office/drawing/2014/main" id="{A11A42A2-3DE7-8749-BEFC-4B12DFD4E911}"/>
                </a:ext>
              </a:extLst>
            </p:cNvPr>
            <p:cNvSpPr txBox="1">
              <a:spLocks noChangeArrowheads="1"/>
            </p:cNvSpPr>
            <p:nvPr/>
          </p:nvSpPr>
          <p:spPr bwMode="auto">
            <a:xfrm>
              <a:off x="3520" y="3092"/>
              <a:ext cx="1944"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receiver</a:t>
              </a:r>
            </a:p>
          </p:txBody>
        </p:sp>
        <p:sp>
          <p:nvSpPr>
            <p:cNvPr id="228" name="Freeform 168">
              <a:extLst>
                <a:ext uri="{FF2B5EF4-FFF2-40B4-BE49-F238E27FC236}">
                  <a16:creationId xmlns:a16="http://schemas.microsoft.com/office/drawing/2014/main" id="{06FB8DE4-FF8B-2A4C-9587-9B7067BCC3D8}"/>
                </a:ext>
              </a:extLst>
            </p:cNvPr>
            <p:cNvSpPr>
              <a:spLocks/>
            </p:cNvSpPr>
            <p:nvPr/>
          </p:nvSpPr>
          <p:spPr bwMode="auto">
            <a:xfrm flipH="1" flipV="1">
              <a:off x="3599" y="2404"/>
              <a:ext cx="107" cy="1194"/>
            </a:xfrm>
            <a:custGeom>
              <a:avLst/>
              <a:gdLst>
                <a:gd name="T0" fmla="*/ 0 w 107"/>
                <a:gd name="T1" fmla="*/ 0 h 910"/>
                <a:gd name="T2" fmla="*/ 107 w 107"/>
                <a:gd name="T3" fmla="*/ 0 h 910"/>
                <a:gd name="T4" fmla="*/ 107 w 107"/>
                <a:gd name="T5" fmla="*/ 13768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5" name="Group 195">
            <a:extLst>
              <a:ext uri="{FF2B5EF4-FFF2-40B4-BE49-F238E27FC236}">
                <a16:creationId xmlns:a16="http://schemas.microsoft.com/office/drawing/2014/main" id="{B37D7216-C212-C843-A667-53A7C0B847CF}"/>
              </a:ext>
            </a:extLst>
          </p:cNvPr>
          <p:cNvGrpSpPr>
            <a:grpSpLocks/>
          </p:cNvGrpSpPr>
          <p:nvPr/>
        </p:nvGrpSpPr>
        <p:grpSpPr bwMode="auto">
          <a:xfrm>
            <a:off x="8685214" y="6022869"/>
            <a:ext cx="358775" cy="304800"/>
            <a:chOff x="5144" y="3677"/>
            <a:chExt cx="226" cy="192"/>
          </a:xfrm>
        </p:grpSpPr>
        <p:sp>
          <p:nvSpPr>
            <p:cNvPr id="246" name="Rectangle 194">
              <a:extLst>
                <a:ext uri="{FF2B5EF4-FFF2-40B4-BE49-F238E27FC236}">
                  <a16:creationId xmlns:a16="http://schemas.microsoft.com/office/drawing/2014/main" id="{43AFBFF1-B1C6-C147-BB51-D67A053105CA}"/>
                </a:ext>
              </a:extLst>
            </p:cNvPr>
            <p:cNvSpPr>
              <a:spLocks noChangeArrowheads="1"/>
            </p:cNvSpPr>
            <p:nvPr/>
          </p:nvSpPr>
          <p:spPr bwMode="auto">
            <a:xfrm>
              <a:off x="5212" y="3716"/>
              <a:ext cx="88"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Text Box 193">
              <a:extLst>
                <a:ext uri="{FF2B5EF4-FFF2-40B4-BE49-F238E27FC236}">
                  <a16:creationId xmlns:a16="http://schemas.microsoft.com/office/drawing/2014/main" id="{BF6FCEAE-49B5-A041-A298-4CB690E54688}"/>
                </a:ext>
              </a:extLst>
            </p:cNvPr>
            <p:cNvSpPr txBox="1">
              <a:spLocks noChangeArrowheads="1"/>
            </p:cNvSpPr>
            <p:nvPr/>
          </p:nvSpPr>
          <p:spPr bwMode="auto">
            <a:xfrm>
              <a:off x="5144" y="3677"/>
              <a:ext cx="22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Narrow" charset="0"/>
                  <a:ea typeface="ＭＳ Ｐゴシック" charset="0"/>
                  <a:cs typeface="+mn-cs"/>
                </a:rPr>
                <a:t>A</a:t>
              </a:r>
            </a:p>
          </p:txBody>
        </p:sp>
      </p:grpSp>
      <p:sp>
        <p:nvSpPr>
          <p:cNvPr id="248" name="Rectangle 37">
            <a:extLst>
              <a:ext uri="{FF2B5EF4-FFF2-40B4-BE49-F238E27FC236}">
                <a16:creationId xmlns:a16="http://schemas.microsoft.com/office/drawing/2014/main" id="{A8678432-C6E0-9045-9DFE-9E95FBC24301}"/>
              </a:ext>
            </a:extLst>
          </p:cNvPr>
          <p:cNvSpPr>
            <a:spLocks noChangeArrowheads="1"/>
          </p:cNvSpPr>
          <p:nvPr/>
        </p:nvSpPr>
        <p:spPr bwMode="auto">
          <a:xfrm>
            <a:off x="6835777" y="3123626"/>
            <a:ext cx="65087" cy="622300"/>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9" name="Rectangle 39">
            <a:extLst>
              <a:ext uri="{FF2B5EF4-FFF2-40B4-BE49-F238E27FC236}">
                <a16:creationId xmlns:a16="http://schemas.microsoft.com/office/drawing/2014/main" id="{92ADD221-F1C3-B645-92EB-9D1C9315A58A}"/>
              </a:ext>
            </a:extLst>
          </p:cNvPr>
          <p:cNvSpPr>
            <a:spLocks noChangeArrowheads="1"/>
          </p:cNvSpPr>
          <p:nvPr/>
        </p:nvSpPr>
        <p:spPr bwMode="auto">
          <a:xfrm>
            <a:off x="6932614" y="3125214"/>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Rectangle 40">
            <a:extLst>
              <a:ext uri="{FF2B5EF4-FFF2-40B4-BE49-F238E27FC236}">
                <a16:creationId xmlns:a16="http://schemas.microsoft.com/office/drawing/2014/main" id="{BB8D0EB3-2337-2A41-9EFC-CC44292E23D6}"/>
              </a:ext>
            </a:extLst>
          </p:cNvPr>
          <p:cNvSpPr>
            <a:spLocks noChangeArrowheads="1"/>
          </p:cNvSpPr>
          <p:nvPr/>
        </p:nvSpPr>
        <p:spPr bwMode="auto">
          <a:xfrm>
            <a:off x="70310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1" name="Rectangle 41">
            <a:extLst>
              <a:ext uri="{FF2B5EF4-FFF2-40B4-BE49-F238E27FC236}">
                <a16:creationId xmlns:a16="http://schemas.microsoft.com/office/drawing/2014/main" id="{08B40AAE-C4F3-B24B-A758-0CBE422C11F5}"/>
              </a:ext>
            </a:extLst>
          </p:cNvPr>
          <p:cNvSpPr>
            <a:spLocks noChangeArrowheads="1"/>
          </p:cNvSpPr>
          <p:nvPr/>
        </p:nvSpPr>
        <p:spPr bwMode="auto">
          <a:xfrm>
            <a:off x="7127877"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Rectangle 42">
            <a:extLst>
              <a:ext uri="{FF2B5EF4-FFF2-40B4-BE49-F238E27FC236}">
                <a16:creationId xmlns:a16="http://schemas.microsoft.com/office/drawing/2014/main" id="{1B696D21-4399-C041-91DC-701FB61A0E4C}"/>
              </a:ext>
            </a:extLst>
          </p:cNvPr>
          <p:cNvSpPr>
            <a:spLocks noChangeArrowheads="1"/>
          </p:cNvSpPr>
          <p:nvPr/>
        </p:nvSpPr>
        <p:spPr bwMode="auto">
          <a:xfrm>
            <a:off x="7223127"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Rectangle 43">
            <a:extLst>
              <a:ext uri="{FF2B5EF4-FFF2-40B4-BE49-F238E27FC236}">
                <a16:creationId xmlns:a16="http://schemas.microsoft.com/office/drawing/2014/main" id="{2CEBC228-9E7F-7E48-9C85-63629AFC09AA}"/>
              </a:ext>
            </a:extLst>
          </p:cNvPr>
          <p:cNvSpPr>
            <a:spLocks noChangeArrowheads="1"/>
          </p:cNvSpPr>
          <p:nvPr/>
        </p:nvSpPr>
        <p:spPr bwMode="auto">
          <a:xfrm>
            <a:off x="7319964"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Rectangle 45">
            <a:extLst>
              <a:ext uri="{FF2B5EF4-FFF2-40B4-BE49-F238E27FC236}">
                <a16:creationId xmlns:a16="http://schemas.microsoft.com/office/drawing/2014/main" id="{499D6101-0E72-764D-90A9-65FA5E9288DF}"/>
              </a:ext>
            </a:extLst>
          </p:cNvPr>
          <p:cNvSpPr>
            <a:spLocks noChangeArrowheads="1"/>
          </p:cNvSpPr>
          <p:nvPr/>
        </p:nvSpPr>
        <p:spPr bwMode="auto">
          <a:xfrm>
            <a:off x="74120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5" name="Rectangle 46">
            <a:extLst>
              <a:ext uri="{FF2B5EF4-FFF2-40B4-BE49-F238E27FC236}">
                <a16:creationId xmlns:a16="http://schemas.microsoft.com/office/drawing/2014/main" id="{69025D46-11EA-C34F-8D0D-7B789A5DBC95}"/>
              </a:ext>
            </a:extLst>
          </p:cNvPr>
          <p:cNvSpPr>
            <a:spLocks noChangeArrowheads="1"/>
          </p:cNvSpPr>
          <p:nvPr/>
        </p:nvSpPr>
        <p:spPr bwMode="auto">
          <a:xfrm>
            <a:off x="750728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6" name="Rectangle 47">
            <a:extLst>
              <a:ext uri="{FF2B5EF4-FFF2-40B4-BE49-F238E27FC236}">
                <a16:creationId xmlns:a16="http://schemas.microsoft.com/office/drawing/2014/main" id="{097282D2-CB09-6743-BD88-978413D66230}"/>
              </a:ext>
            </a:extLst>
          </p:cNvPr>
          <p:cNvSpPr>
            <a:spLocks noChangeArrowheads="1"/>
          </p:cNvSpPr>
          <p:nvPr/>
        </p:nvSpPr>
        <p:spPr bwMode="auto">
          <a:xfrm>
            <a:off x="7602539" y="3123626"/>
            <a:ext cx="65088"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7" name="Rectangle 50">
            <a:extLst>
              <a:ext uri="{FF2B5EF4-FFF2-40B4-BE49-F238E27FC236}">
                <a16:creationId xmlns:a16="http://schemas.microsoft.com/office/drawing/2014/main" id="{C44BBA4A-C75F-6344-A7C0-80FA59F967B5}"/>
              </a:ext>
            </a:extLst>
          </p:cNvPr>
          <p:cNvSpPr>
            <a:spLocks noChangeArrowheads="1"/>
          </p:cNvSpPr>
          <p:nvPr/>
        </p:nvSpPr>
        <p:spPr bwMode="auto">
          <a:xfrm>
            <a:off x="7708902" y="3123626"/>
            <a:ext cx="65087" cy="622300"/>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8" name="Rectangle 51">
            <a:extLst>
              <a:ext uri="{FF2B5EF4-FFF2-40B4-BE49-F238E27FC236}">
                <a16:creationId xmlns:a16="http://schemas.microsoft.com/office/drawing/2014/main" id="{660EEC78-FF50-7445-8190-34F20263528D}"/>
              </a:ext>
            </a:extLst>
          </p:cNvPr>
          <p:cNvSpPr>
            <a:spLocks noChangeArrowheads="1"/>
          </p:cNvSpPr>
          <p:nvPr/>
        </p:nvSpPr>
        <p:spPr bwMode="auto">
          <a:xfrm>
            <a:off x="7807327" y="3125214"/>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Rectangle 52">
            <a:extLst>
              <a:ext uri="{FF2B5EF4-FFF2-40B4-BE49-F238E27FC236}">
                <a16:creationId xmlns:a16="http://schemas.microsoft.com/office/drawing/2014/main" id="{BF1D4EAF-3E48-E64D-A9F0-800C14DE416B}"/>
              </a:ext>
            </a:extLst>
          </p:cNvPr>
          <p:cNvSpPr>
            <a:spLocks noChangeArrowheads="1"/>
          </p:cNvSpPr>
          <p:nvPr/>
        </p:nvSpPr>
        <p:spPr bwMode="auto">
          <a:xfrm>
            <a:off x="790416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0" name="Rectangle 53">
            <a:extLst>
              <a:ext uri="{FF2B5EF4-FFF2-40B4-BE49-F238E27FC236}">
                <a16:creationId xmlns:a16="http://schemas.microsoft.com/office/drawing/2014/main" id="{7F7F3BD0-061B-0346-BC6C-7C752F28EF13}"/>
              </a:ext>
            </a:extLst>
          </p:cNvPr>
          <p:cNvSpPr>
            <a:spLocks noChangeArrowheads="1"/>
          </p:cNvSpPr>
          <p:nvPr/>
        </p:nvSpPr>
        <p:spPr bwMode="auto">
          <a:xfrm>
            <a:off x="800100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1" name="Rectangle 54">
            <a:extLst>
              <a:ext uri="{FF2B5EF4-FFF2-40B4-BE49-F238E27FC236}">
                <a16:creationId xmlns:a16="http://schemas.microsoft.com/office/drawing/2014/main" id="{1419AB61-44E3-7B43-ADE9-9DF5C9E18D93}"/>
              </a:ext>
            </a:extLst>
          </p:cNvPr>
          <p:cNvSpPr>
            <a:spLocks noChangeArrowheads="1"/>
          </p:cNvSpPr>
          <p:nvPr/>
        </p:nvSpPr>
        <p:spPr bwMode="auto">
          <a:xfrm>
            <a:off x="8097839"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2" name="Rectangle 55">
            <a:extLst>
              <a:ext uri="{FF2B5EF4-FFF2-40B4-BE49-F238E27FC236}">
                <a16:creationId xmlns:a16="http://schemas.microsoft.com/office/drawing/2014/main" id="{FA07924E-D97C-9E4F-9629-377D86F65D54}"/>
              </a:ext>
            </a:extLst>
          </p:cNvPr>
          <p:cNvSpPr>
            <a:spLocks noChangeArrowheads="1"/>
          </p:cNvSpPr>
          <p:nvPr/>
        </p:nvSpPr>
        <p:spPr bwMode="auto">
          <a:xfrm>
            <a:off x="8193089"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3" name="Rectangle 56">
            <a:extLst>
              <a:ext uri="{FF2B5EF4-FFF2-40B4-BE49-F238E27FC236}">
                <a16:creationId xmlns:a16="http://schemas.microsoft.com/office/drawing/2014/main" id="{78BBA4C2-77BF-7140-8522-72AA5C9FF7DA}"/>
              </a:ext>
            </a:extLst>
          </p:cNvPr>
          <p:cNvSpPr>
            <a:spLocks noChangeArrowheads="1"/>
          </p:cNvSpPr>
          <p:nvPr/>
        </p:nvSpPr>
        <p:spPr bwMode="auto">
          <a:xfrm>
            <a:off x="828516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4" name="Rectangle 57">
            <a:extLst>
              <a:ext uri="{FF2B5EF4-FFF2-40B4-BE49-F238E27FC236}">
                <a16:creationId xmlns:a16="http://schemas.microsoft.com/office/drawing/2014/main" id="{8C781153-D0D1-4F49-A7D5-E9E0E02C7481}"/>
              </a:ext>
            </a:extLst>
          </p:cNvPr>
          <p:cNvSpPr>
            <a:spLocks noChangeArrowheads="1"/>
          </p:cNvSpPr>
          <p:nvPr/>
        </p:nvSpPr>
        <p:spPr bwMode="auto">
          <a:xfrm>
            <a:off x="8380414" y="3123626"/>
            <a:ext cx="65088"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5" name="Rectangle 58">
            <a:extLst>
              <a:ext uri="{FF2B5EF4-FFF2-40B4-BE49-F238E27FC236}">
                <a16:creationId xmlns:a16="http://schemas.microsoft.com/office/drawing/2014/main" id="{1252424B-0051-8B4E-8014-7CDFA89980FC}"/>
              </a:ext>
            </a:extLst>
          </p:cNvPr>
          <p:cNvSpPr>
            <a:spLocks noChangeArrowheads="1"/>
          </p:cNvSpPr>
          <p:nvPr/>
        </p:nvSpPr>
        <p:spPr bwMode="auto">
          <a:xfrm>
            <a:off x="847725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6" name="Rectangle 59">
            <a:extLst>
              <a:ext uri="{FF2B5EF4-FFF2-40B4-BE49-F238E27FC236}">
                <a16:creationId xmlns:a16="http://schemas.microsoft.com/office/drawing/2014/main" id="{FA783663-FBFD-1D4F-94E0-8E07864896AD}"/>
              </a:ext>
            </a:extLst>
          </p:cNvPr>
          <p:cNvSpPr>
            <a:spLocks noChangeArrowheads="1"/>
          </p:cNvSpPr>
          <p:nvPr/>
        </p:nvSpPr>
        <p:spPr bwMode="auto">
          <a:xfrm>
            <a:off x="856615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7" name="Rectangle 60">
            <a:extLst>
              <a:ext uri="{FF2B5EF4-FFF2-40B4-BE49-F238E27FC236}">
                <a16:creationId xmlns:a16="http://schemas.microsoft.com/office/drawing/2014/main" id="{9A20FCBA-A9E2-494E-8A95-747703BA2FAA}"/>
              </a:ext>
            </a:extLst>
          </p:cNvPr>
          <p:cNvSpPr>
            <a:spLocks noChangeArrowheads="1"/>
          </p:cNvSpPr>
          <p:nvPr/>
        </p:nvSpPr>
        <p:spPr bwMode="auto">
          <a:xfrm>
            <a:off x="8661402" y="3123626"/>
            <a:ext cx="65087" cy="622300"/>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8" name="Rectangle 61">
            <a:extLst>
              <a:ext uri="{FF2B5EF4-FFF2-40B4-BE49-F238E27FC236}">
                <a16:creationId xmlns:a16="http://schemas.microsoft.com/office/drawing/2014/main" id="{BD15B2FA-70B2-F44B-A21B-EE69A9B05DC8}"/>
              </a:ext>
            </a:extLst>
          </p:cNvPr>
          <p:cNvSpPr>
            <a:spLocks noChangeArrowheads="1"/>
          </p:cNvSpPr>
          <p:nvPr/>
        </p:nvSpPr>
        <p:spPr bwMode="auto">
          <a:xfrm>
            <a:off x="8755064" y="3122039"/>
            <a:ext cx="65088"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69" name="Rectangle 62">
            <a:extLst>
              <a:ext uri="{FF2B5EF4-FFF2-40B4-BE49-F238E27FC236}">
                <a16:creationId xmlns:a16="http://schemas.microsoft.com/office/drawing/2014/main" id="{FCC59CFB-2A58-CB44-B886-3040D9E44C77}"/>
              </a:ext>
            </a:extLst>
          </p:cNvPr>
          <p:cNvSpPr>
            <a:spLocks noChangeArrowheads="1"/>
          </p:cNvSpPr>
          <p:nvPr/>
        </p:nvSpPr>
        <p:spPr bwMode="auto">
          <a:xfrm>
            <a:off x="8847139" y="3122039"/>
            <a:ext cx="65088"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0" name="Rectangle 63">
            <a:extLst>
              <a:ext uri="{FF2B5EF4-FFF2-40B4-BE49-F238E27FC236}">
                <a16:creationId xmlns:a16="http://schemas.microsoft.com/office/drawing/2014/main" id="{C2CEED62-895E-984B-A8A4-247D41CE7E93}"/>
              </a:ext>
            </a:extLst>
          </p:cNvPr>
          <p:cNvSpPr>
            <a:spLocks noChangeArrowheads="1"/>
          </p:cNvSpPr>
          <p:nvPr/>
        </p:nvSpPr>
        <p:spPr bwMode="auto">
          <a:xfrm>
            <a:off x="894397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1" name="Rectangle 64">
            <a:extLst>
              <a:ext uri="{FF2B5EF4-FFF2-40B4-BE49-F238E27FC236}">
                <a16:creationId xmlns:a16="http://schemas.microsoft.com/office/drawing/2014/main" id="{A927D859-82EA-9A4A-9764-093C53E03753}"/>
              </a:ext>
            </a:extLst>
          </p:cNvPr>
          <p:cNvSpPr>
            <a:spLocks noChangeArrowheads="1"/>
          </p:cNvSpPr>
          <p:nvPr/>
        </p:nvSpPr>
        <p:spPr bwMode="auto">
          <a:xfrm>
            <a:off x="903922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2" name="Rectangle 65">
            <a:extLst>
              <a:ext uri="{FF2B5EF4-FFF2-40B4-BE49-F238E27FC236}">
                <a16:creationId xmlns:a16="http://schemas.microsoft.com/office/drawing/2014/main" id="{F473CF44-260A-E04B-8696-E13EFF7EE281}"/>
              </a:ext>
            </a:extLst>
          </p:cNvPr>
          <p:cNvSpPr>
            <a:spLocks noChangeArrowheads="1"/>
          </p:cNvSpPr>
          <p:nvPr/>
        </p:nvSpPr>
        <p:spPr bwMode="auto">
          <a:xfrm>
            <a:off x="912812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3" name="Rectangle 66">
            <a:extLst>
              <a:ext uri="{FF2B5EF4-FFF2-40B4-BE49-F238E27FC236}">
                <a16:creationId xmlns:a16="http://schemas.microsoft.com/office/drawing/2014/main" id="{489A018C-E3FF-AC42-A61C-40BC11AD79CE}"/>
              </a:ext>
            </a:extLst>
          </p:cNvPr>
          <p:cNvSpPr>
            <a:spLocks noChangeArrowheads="1"/>
          </p:cNvSpPr>
          <p:nvPr/>
        </p:nvSpPr>
        <p:spPr bwMode="auto">
          <a:xfrm>
            <a:off x="9223377" y="3122039"/>
            <a:ext cx="65087" cy="6223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74" name="Rectangle 68">
            <a:extLst>
              <a:ext uri="{FF2B5EF4-FFF2-40B4-BE49-F238E27FC236}">
                <a16:creationId xmlns:a16="http://schemas.microsoft.com/office/drawing/2014/main" id="{15DBA7E3-2A55-A347-8398-5FF2E190C152}"/>
              </a:ext>
            </a:extLst>
          </p:cNvPr>
          <p:cNvSpPr>
            <a:spLocks noChangeArrowheads="1"/>
          </p:cNvSpPr>
          <p:nvPr/>
        </p:nvSpPr>
        <p:spPr bwMode="auto">
          <a:xfrm>
            <a:off x="93202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5" name="Rectangle 69">
            <a:extLst>
              <a:ext uri="{FF2B5EF4-FFF2-40B4-BE49-F238E27FC236}">
                <a16:creationId xmlns:a16="http://schemas.microsoft.com/office/drawing/2014/main" id="{C41C2999-2C3A-6B42-BFD4-461D81F336F2}"/>
              </a:ext>
            </a:extLst>
          </p:cNvPr>
          <p:cNvSpPr>
            <a:spLocks noChangeArrowheads="1"/>
          </p:cNvSpPr>
          <p:nvPr/>
        </p:nvSpPr>
        <p:spPr bwMode="auto">
          <a:xfrm>
            <a:off x="9417052" y="3125214"/>
            <a:ext cx="65087"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Rectangle 70">
            <a:extLst>
              <a:ext uri="{FF2B5EF4-FFF2-40B4-BE49-F238E27FC236}">
                <a16:creationId xmlns:a16="http://schemas.microsoft.com/office/drawing/2014/main" id="{C31E0892-5A99-CC4B-9267-B95157619AAA}"/>
              </a:ext>
            </a:extLst>
          </p:cNvPr>
          <p:cNvSpPr>
            <a:spLocks noChangeArrowheads="1"/>
          </p:cNvSpPr>
          <p:nvPr/>
        </p:nvSpPr>
        <p:spPr bwMode="auto">
          <a:xfrm>
            <a:off x="9513889"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7" name="Rectangle 71">
            <a:extLst>
              <a:ext uri="{FF2B5EF4-FFF2-40B4-BE49-F238E27FC236}">
                <a16:creationId xmlns:a16="http://schemas.microsoft.com/office/drawing/2014/main" id="{F4A34BCF-97FE-9043-BC3E-A64DDF0FE4E2}"/>
              </a:ext>
            </a:extLst>
          </p:cNvPr>
          <p:cNvSpPr>
            <a:spLocks noChangeArrowheads="1"/>
          </p:cNvSpPr>
          <p:nvPr/>
        </p:nvSpPr>
        <p:spPr bwMode="auto">
          <a:xfrm>
            <a:off x="96123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8" name="Rectangle 72">
            <a:extLst>
              <a:ext uri="{FF2B5EF4-FFF2-40B4-BE49-F238E27FC236}">
                <a16:creationId xmlns:a16="http://schemas.microsoft.com/office/drawing/2014/main" id="{AF39E66A-9553-3344-9AD6-6EDA216F2880}"/>
              </a:ext>
            </a:extLst>
          </p:cNvPr>
          <p:cNvSpPr>
            <a:spLocks noChangeArrowheads="1"/>
          </p:cNvSpPr>
          <p:nvPr/>
        </p:nvSpPr>
        <p:spPr bwMode="auto">
          <a:xfrm>
            <a:off x="970756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9" name="Rectangle 73">
            <a:extLst>
              <a:ext uri="{FF2B5EF4-FFF2-40B4-BE49-F238E27FC236}">
                <a16:creationId xmlns:a16="http://schemas.microsoft.com/office/drawing/2014/main" id="{ECFAFFA1-A372-CF41-884A-8A8C27CFE0C1}"/>
              </a:ext>
            </a:extLst>
          </p:cNvPr>
          <p:cNvSpPr>
            <a:spLocks noChangeArrowheads="1"/>
          </p:cNvSpPr>
          <p:nvPr/>
        </p:nvSpPr>
        <p:spPr bwMode="auto">
          <a:xfrm>
            <a:off x="9802814"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0" name="Rectangle 74">
            <a:extLst>
              <a:ext uri="{FF2B5EF4-FFF2-40B4-BE49-F238E27FC236}">
                <a16:creationId xmlns:a16="http://schemas.microsoft.com/office/drawing/2014/main" id="{3C3828F5-F0A3-9B49-AB1D-346F1948CC97}"/>
              </a:ext>
            </a:extLst>
          </p:cNvPr>
          <p:cNvSpPr>
            <a:spLocks noChangeArrowheads="1"/>
          </p:cNvSpPr>
          <p:nvPr/>
        </p:nvSpPr>
        <p:spPr bwMode="auto">
          <a:xfrm>
            <a:off x="9894889" y="3123626"/>
            <a:ext cx="65088"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1" name="Rectangle 75">
            <a:extLst>
              <a:ext uri="{FF2B5EF4-FFF2-40B4-BE49-F238E27FC236}">
                <a16:creationId xmlns:a16="http://schemas.microsoft.com/office/drawing/2014/main" id="{E047C25C-F28E-9A40-9394-4DFA7C5CF236}"/>
              </a:ext>
            </a:extLst>
          </p:cNvPr>
          <p:cNvSpPr>
            <a:spLocks noChangeArrowheads="1"/>
          </p:cNvSpPr>
          <p:nvPr/>
        </p:nvSpPr>
        <p:spPr bwMode="auto">
          <a:xfrm>
            <a:off x="9991727" y="3123626"/>
            <a:ext cx="65087" cy="622300"/>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2" name="Rectangle 76">
            <a:extLst>
              <a:ext uri="{FF2B5EF4-FFF2-40B4-BE49-F238E27FC236}">
                <a16:creationId xmlns:a16="http://schemas.microsoft.com/office/drawing/2014/main" id="{95AB1F8C-60E0-6E4E-BBC9-6AFCA871BF9F}"/>
              </a:ext>
            </a:extLst>
          </p:cNvPr>
          <p:cNvSpPr>
            <a:spLocks noChangeArrowheads="1"/>
          </p:cNvSpPr>
          <p:nvPr/>
        </p:nvSpPr>
        <p:spPr bwMode="auto">
          <a:xfrm>
            <a:off x="10086977" y="3123626"/>
            <a:ext cx="65087" cy="622300"/>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3" name="Rectangle 78">
            <a:extLst>
              <a:ext uri="{FF2B5EF4-FFF2-40B4-BE49-F238E27FC236}">
                <a16:creationId xmlns:a16="http://schemas.microsoft.com/office/drawing/2014/main" id="{4C4E8CF6-C760-5B4C-9C8B-724BC7EC9D27}"/>
              </a:ext>
            </a:extLst>
          </p:cNvPr>
          <p:cNvSpPr>
            <a:spLocks noChangeArrowheads="1"/>
          </p:cNvSpPr>
          <p:nvPr/>
        </p:nvSpPr>
        <p:spPr bwMode="auto">
          <a:xfrm>
            <a:off x="6792914" y="3861814"/>
            <a:ext cx="3408363" cy="889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4" name="Rectangle 79">
            <a:extLst>
              <a:ext uri="{FF2B5EF4-FFF2-40B4-BE49-F238E27FC236}">
                <a16:creationId xmlns:a16="http://schemas.microsoft.com/office/drawing/2014/main" id="{19F096B9-3111-7D40-B5B1-AE181A6D6D1D}"/>
              </a:ext>
            </a:extLst>
          </p:cNvPr>
          <p:cNvSpPr>
            <a:spLocks noChangeArrowheads="1"/>
          </p:cNvSpPr>
          <p:nvPr/>
        </p:nvSpPr>
        <p:spPr bwMode="auto">
          <a:xfrm>
            <a:off x="6878639" y="3014089"/>
            <a:ext cx="3408363" cy="889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5" name="Line 80">
            <a:extLst>
              <a:ext uri="{FF2B5EF4-FFF2-40B4-BE49-F238E27FC236}">
                <a16:creationId xmlns:a16="http://schemas.microsoft.com/office/drawing/2014/main" id="{E753CF95-7893-FD4E-BE3D-215F410E8408}"/>
              </a:ext>
            </a:extLst>
          </p:cNvPr>
          <p:cNvSpPr>
            <a:spLocks noChangeShapeType="1"/>
          </p:cNvSpPr>
          <p:nvPr/>
        </p:nvSpPr>
        <p:spPr bwMode="auto">
          <a:xfrm>
            <a:off x="6900864" y="3976114"/>
            <a:ext cx="868363"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6" name="Line 82">
            <a:extLst>
              <a:ext uri="{FF2B5EF4-FFF2-40B4-BE49-F238E27FC236}">
                <a16:creationId xmlns:a16="http://schemas.microsoft.com/office/drawing/2014/main" id="{A84B4DF1-EC9A-7F46-AA18-AD952AC6BF0E}"/>
              </a:ext>
            </a:extLst>
          </p:cNvPr>
          <p:cNvSpPr>
            <a:spLocks noChangeShapeType="1"/>
          </p:cNvSpPr>
          <p:nvPr/>
        </p:nvSpPr>
        <p:spPr bwMode="auto">
          <a:xfrm>
            <a:off x="7835902" y="3977701"/>
            <a:ext cx="868362"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7" name="Line 83">
            <a:extLst>
              <a:ext uri="{FF2B5EF4-FFF2-40B4-BE49-F238E27FC236}">
                <a16:creationId xmlns:a16="http://schemas.microsoft.com/office/drawing/2014/main" id="{F05D6B54-06E8-3340-AF49-E2A2D7CDBC38}"/>
              </a:ext>
            </a:extLst>
          </p:cNvPr>
          <p:cNvSpPr>
            <a:spLocks noChangeShapeType="1"/>
          </p:cNvSpPr>
          <p:nvPr/>
        </p:nvSpPr>
        <p:spPr bwMode="auto">
          <a:xfrm>
            <a:off x="9329739" y="3976114"/>
            <a:ext cx="801688"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8" name="Line 84">
            <a:extLst>
              <a:ext uri="{FF2B5EF4-FFF2-40B4-BE49-F238E27FC236}">
                <a16:creationId xmlns:a16="http://schemas.microsoft.com/office/drawing/2014/main" id="{B41A428C-2E0E-ED49-9C7F-ADDB6951A77B}"/>
              </a:ext>
            </a:extLst>
          </p:cNvPr>
          <p:cNvSpPr>
            <a:spLocks noChangeShapeType="1"/>
          </p:cNvSpPr>
          <p:nvPr/>
        </p:nvSpPr>
        <p:spPr bwMode="auto">
          <a:xfrm>
            <a:off x="8759827" y="3977701"/>
            <a:ext cx="528637"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9" name="Line 87">
            <a:extLst>
              <a:ext uri="{FF2B5EF4-FFF2-40B4-BE49-F238E27FC236}">
                <a16:creationId xmlns:a16="http://schemas.microsoft.com/office/drawing/2014/main" id="{F10E82D1-86EA-0A43-A26B-826B8C65625C}"/>
              </a:ext>
            </a:extLst>
          </p:cNvPr>
          <p:cNvSpPr>
            <a:spLocks noChangeShapeType="1"/>
          </p:cNvSpPr>
          <p:nvPr/>
        </p:nvSpPr>
        <p:spPr bwMode="auto">
          <a:xfrm>
            <a:off x="6992939" y="3999926"/>
            <a:ext cx="0" cy="233363"/>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0" name="Line 88">
            <a:extLst>
              <a:ext uri="{FF2B5EF4-FFF2-40B4-BE49-F238E27FC236}">
                <a16:creationId xmlns:a16="http://schemas.microsoft.com/office/drawing/2014/main" id="{849D7775-1F0E-F446-AFC3-AB4363FCD990}"/>
              </a:ext>
            </a:extLst>
          </p:cNvPr>
          <p:cNvSpPr>
            <a:spLocks noChangeShapeType="1"/>
          </p:cNvSpPr>
          <p:nvPr/>
        </p:nvSpPr>
        <p:spPr bwMode="auto">
          <a:xfrm>
            <a:off x="822166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1" name="Line 89">
            <a:extLst>
              <a:ext uri="{FF2B5EF4-FFF2-40B4-BE49-F238E27FC236}">
                <a16:creationId xmlns:a16="http://schemas.microsoft.com/office/drawing/2014/main" id="{0E0B871C-6367-774B-BA58-EF11B16FA4E2}"/>
              </a:ext>
            </a:extLst>
          </p:cNvPr>
          <p:cNvSpPr>
            <a:spLocks noChangeShapeType="1"/>
          </p:cNvSpPr>
          <p:nvPr/>
        </p:nvSpPr>
        <p:spPr bwMode="auto">
          <a:xfrm>
            <a:off x="9040814"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2" name="Line 90">
            <a:extLst>
              <a:ext uri="{FF2B5EF4-FFF2-40B4-BE49-F238E27FC236}">
                <a16:creationId xmlns:a16="http://schemas.microsoft.com/office/drawing/2014/main" id="{C09F078D-04FC-E640-8A03-2400CC0F0B8A}"/>
              </a:ext>
            </a:extLst>
          </p:cNvPr>
          <p:cNvSpPr>
            <a:spLocks noChangeShapeType="1"/>
          </p:cNvSpPr>
          <p:nvPr/>
        </p:nvSpPr>
        <p:spPr bwMode="auto">
          <a:xfrm>
            <a:off x="9698039" y="3995164"/>
            <a:ext cx="0" cy="233362"/>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93" name="Text Box 91">
            <a:extLst>
              <a:ext uri="{FF2B5EF4-FFF2-40B4-BE49-F238E27FC236}">
                <a16:creationId xmlns:a16="http://schemas.microsoft.com/office/drawing/2014/main" id="{39A723B2-B4B0-634D-AE9D-8AC58218E734}"/>
              </a:ext>
            </a:extLst>
          </p:cNvPr>
          <p:cNvSpPr txBox="1">
            <a:spLocks noChangeArrowheads="1"/>
          </p:cNvSpPr>
          <p:nvPr/>
        </p:nvSpPr>
        <p:spPr bwMode="auto">
          <a:xfrm>
            <a:off x="6869114" y="4223764"/>
            <a:ext cx="693738"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ACKed</a:t>
            </a:r>
          </a:p>
        </p:txBody>
      </p:sp>
      <p:sp>
        <p:nvSpPr>
          <p:cNvPr id="294" name="Text Box 92">
            <a:extLst>
              <a:ext uri="{FF2B5EF4-FFF2-40B4-BE49-F238E27FC236}">
                <a16:creationId xmlns:a16="http://schemas.microsoft.com/office/drawing/2014/main" id="{3B367685-832F-A24C-8E10-9208FC23187F}"/>
              </a:ext>
            </a:extLst>
          </p:cNvPr>
          <p:cNvSpPr txBox="1">
            <a:spLocks noChangeArrowheads="1"/>
          </p:cNvSpPr>
          <p:nvPr/>
        </p:nvSpPr>
        <p:spPr bwMode="auto">
          <a:xfrm>
            <a:off x="7850188" y="4230114"/>
            <a:ext cx="1139821" cy="6848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sent, not-yet ACKed</a:t>
            </a:r>
          </a:p>
          <a:p>
            <a:pPr marL="0" marR="0" lvl="0" indent="0" algn="l" defTabSz="914400" rtl="0" eaLnBrk="0" fontAlgn="base" latinLnBrk="0" hangingPunct="0">
              <a:lnSpc>
                <a:spcPct val="90000"/>
              </a:lnSpc>
              <a:spcBef>
                <a:spcPts val="30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ja-JP"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in-flight”)</a:t>
            </a:r>
            <a:endParaRPr kumimoji="0" lang="en-US" altLang="en-US" sz="12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5" name="Text Box 93">
            <a:extLst>
              <a:ext uri="{FF2B5EF4-FFF2-40B4-BE49-F238E27FC236}">
                <a16:creationId xmlns:a16="http://schemas.microsoft.com/office/drawing/2014/main" id="{81CC0B14-ECA5-7042-90A8-A3D1691D8277}"/>
              </a:ext>
            </a:extLst>
          </p:cNvPr>
          <p:cNvSpPr txBox="1">
            <a:spLocks noChangeArrowheads="1"/>
          </p:cNvSpPr>
          <p:nvPr/>
        </p:nvSpPr>
        <p:spPr bwMode="auto">
          <a:xfrm>
            <a:off x="8829677" y="4225351"/>
            <a:ext cx="1066800" cy="6683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usable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but 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yet sent</a:t>
            </a:r>
          </a:p>
        </p:txBody>
      </p:sp>
      <p:sp>
        <p:nvSpPr>
          <p:cNvPr id="296" name="Text Box 94">
            <a:extLst>
              <a:ext uri="{FF2B5EF4-FFF2-40B4-BE49-F238E27FC236}">
                <a16:creationId xmlns:a16="http://schemas.microsoft.com/office/drawing/2014/main" id="{AA04402D-D3B0-AD47-B91F-3AC1C3E2066A}"/>
              </a:ext>
            </a:extLst>
          </p:cNvPr>
          <p:cNvSpPr txBox="1">
            <a:spLocks noChangeArrowheads="1"/>
          </p:cNvSpPr>
          <p:nvPr/>
        </p:nvSpPr>
        <p:spPr bwMode="auto">
          <a:xfrm>
            <a:off x="9586914" y="4230114"/>
            <a:ext cx="81915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not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usable</a:t>
            </a:r>
          </a:p>
        </p:txBody>
      </p:sp>
      <p:sp>
        <p:nvSpPr>
          <p:cNvPr id="297" name="Text Box 96">
            <a:extLst>
              <a:ext uri="{FF2B5EF4-FFF2-40B4-BE49-F238E27FC236}">
                <a16:creationId xmlns:a16="http://schemas.microsoft.com/office/drawing/2014/main" id="{7BC9AF2B-9067-6D40-8AD6-38C8B0980442}"/>
              </a:ext>
            </a:extLst>
          </p:cNvPr>
          <p:cNvSpPr txBox="1">
            <a:spLocks noChangeArrowheads="1"/>
          </p:cNvSpPr>
          <p:nvPr/>
        </p:nvSpPr>
        <p:spPr bwMode="auto">
          <a:xfrm>
            <a:off x="7929564" y="2658489"/>
            <a:ext cx="1131888"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window size</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1" u="none" strike="noStrike" kern="0" cap="none" spc="0" normalizeH="0" baseline="0" noProof="0" dirty="0">
                <a:ln>
                  <a:noFill/>
                </a:ln>
                <a:solidFill>
                  <a:srgbClr val="000000"/>
                </a:solidFill>
                <a:effectLst/>
                <a:uLnTx/>
                <a:uFillTx/>
                <a:latin typeface="Tahoma" charset="0"/>
                <a:ea typeface="ＭＳ Ｐゴシック" charset="0"/>
                <a:cs typeface="+mn-cs"/>
              </a:rPr>
              <a:t> N</a:t>
            </a:r>
          </a:p>
        </p:txBody>
      </p:sp>
      <p:grpSp>
        <p:nvGrpSpPr>
          <p:cNvPr id="298" name="Group 99">
            <a:extLst>
              <a:ext uri="{FF2B5EF4-FFF2-40B4-BE49-F238E27FC236}">
                <a16:creationId xmlns:a16="http://schemas.microsoft.com/office/drawing/2014/main" id="{24BD0429-57C9-5949-A0FA-36C1FBC99776}"/>
              </a:ext>
            </a:extLst>
          </p:cNvPr>
          <p:cNvGrpSpPr>
            <a:grpSpLocks/>
          </p:cNvGrpSpPr>
          <p:nvPr/>
        </p:nvGrpSpPr>
        <p:grpSpPr bwMode="auto">
          <a:xfrm>
            <a:off x="8696327" y="2882326"/>
            <a:ext cx="593725" cy="136525"/>
            <a:chOff x="4250" y="1692"/>
            <a:chExt cx="374" cy="86"/>
          </a:xfrm>
        </p:grpSpPr>
        <p:sp>
          <p:nvSpPr>
            <p:cNvPr id="299" name="Line 97">
              <a:extLst>
                <a:ext uri="{FF2B5EF4-FFF2-40B4-BE49-F238E27FC236}">
                  <a16:creationId xmlns:a16="http://schemas.microsoft.com/office/drawing/2014/main" id="{A02E02EA-0929-104A-BF00-5ADA492F2B7C}"/>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00" name="Line 98">
              <a:extLst>
                <a:ext uri="{FF2B5EF4-FFF2-40B4-BE49-F238E27FC236}">
                  <a16:creationId xmlns:a16="http://schemas.microsoft.com/office/drawing/2014/main" id="{BBA1422E-A86D-8048-8C6A-CBCE03DB28AC}"/>
                </a:ext>
              </a:extLst>
            </p:cNvPr>
            <p:cNvSpPr>
              <a:spLocks noChangeShapeType="1"/>
            </p:cNvSpPr>
            <p:nvPr/>
          </p:nvSpPr>
          <p:spPr bwMode="auto">
            <a:xfrm>
              <a:off x="4622" y="1692"/>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01" name="Group 100">
            <a:extLst>
              <a:ext uri="{FF2B5EF4-FFF2-40B4-BE49-F238E27FC236}">
                <a16:creationId xmlns:a16="http://schemas.microsoft.com/office/drawing/2014/main" id="{953BBB09-1247-E749-B041-4AB4BC053F15}"/>
              </a:ext>
            </a:extLst>
          </p:cNvPr>
          <p:cNvGrpSpPr>
            <a:grpSpLocks/>
          </p:cNvGrpSpPr>
          <p:nvPr/>
        </p:nvGrpSpPr>
        <p:grpSpPr bwMode="auto">
          <a:xfrm rot="10800000">
            <a:off x="7804152" y="2907726"/>
            <a:ext cx="593725" cy="136525"/>
            <a:chOff x="4250" y="1692"/>
            <a:chExt cx="374" cy="86"/>
          </a:xfrm>
        </p:grpSpPr>
        <p:sp>
          <p:nvSpPr>
            <p:cNvPr id="302" name="Line 101">
              <a:extLst>
                <a:ext uri="{FF2B5EF4-FFF2-40B4-BE49-F238E27FC236}">
                  <a16:creationId xmlns:a16="http://schemas.microsoft.com/office/drawing/2014/main" id="{3C66FDCF-F2B7-8447-A6D6-18D719B215CF}"/>
                </a:ext>
              </a:extLst>
            </p:cNvPr>
            <p:cNvSpPr>
              <a:spLocks noChangeShapeType="1"/>
            </p:cNvSpPr>
            <p:nvPr/>
          </p:nvSpPr>
          <p:spPr bwMode="auto">
            <a:xfrm>
              <a:off x="4257" y="1745"/>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03" name="Line 102">
              <a:extLst>
                <a:ext uri="{FF2B5EF4-FFF2-40B4-BE49-F238E27FC236}">
                  <a16:creationId xmlns:a16="http://schemas.microsoft.com/office/drawing/2014/main" id="{3E685C18-38D0-2242-B6E7-6B45955EA4D6}"/>
                </a:ext>
              </a:extLst>
            </p:cNvPr>
            <p:cNvSpPr>
              <a:spLocks noChangeShapeType="1"/>
            </p:cNvSpPr>
            <p:nvPr/>
          </p:nvSpPr>
          <p:spPr bwMode="auto">
            <a:xfrm>
              <a:off x="4629" y="1699"/>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04" name="Text Box 196">
            <a:extLst>
              <a:ext uri="{FF2B5EF4-FFF2-40B4-BE49-F238E27FC236}">
                <a16:creationId xmlns:a16="http://schemas.microsoft.com/office/drawing/2014/main" id="{8A4318F8-8B4B-BA46-9E7C-C771B9AFC315}"/>
              </a:ext>
            </a:extLst>
          </p:cNvPr>
          <p:cNvSpPr txBox="1">
            <a:spLocks noChangeArrowheads="1"/>
          </p:cNvSpPr>
          <p:nvPr/>
        </p:nvSpPr>
        <p:spPr bwMode="auto">
          <a:xfrm>
            <a:off x="7085014" y="3677664"/>
            <a:ext cx="31781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marL="342900" indent="-342900">
              <a:defRPr sz="1600">
                <a:solidFill>
                  <a:schemeClr val="tx1"/>
                </a:solidFill>
                <a:latin typeface="Tahoma" charset="0"/>
                <a:ea typeface="ＭＳ Ｐゴシック" charset="0"/>
              </a:defRPr>
            </a:lvl1pPr>
            <a:lvl2pPr>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1" indent="0" algn="ctr" defTabSz="914400" rtl="0" eaLnBrk="0" fontAlgn="base" latinLnBrk="0" hangingPunct="0">
              <a:lnSpc>
                <a:spcPct val="100000"/>
              </a:lnSpc>
              <a:spcBef>
                <a:spcPct val="0"/>
              </a:spcBef>
              <a:spcAft>
                <a:spcPct val="0"/>
              </a:spcAft>
              <a:buClrTx/>
              <a:buSzTx/>
              <a:buFontTx/>
              <a:buNone/>
              <a:tabLst/>
              <a:defRPr/>
            </a:pPr>
            <a:r>
              <a:rPr kumimoji="0" lang="en-US" sz="1400" b="0" i="1" u="none" strike="noStrike" kern="0" cap="none" spc="0" normalizeH="0" baseline="0" noProof="0" dirty="0">
                <a:ln>
                  <a:noFill/>
                </a:ln>
                <a:solidFill>
                  <a:srgbClr val="000000"/>
                </a:solidFill>
                <a:effectLst/>
                <a:uLnTx/>
                <a:uFillTx/>
                <a:latin typeface="Tahoma" charset="0"/>
                <a:ea typeface="ＭＳ Ｐゴシック" charset="0"/>
                <a:cs typeface="+mn-cs"/>
              </a:rPr>
              <a:t>sender sequence number space </a:t>
            </a:r>
          </a:p>
        </p:txBody>
      </p:sp>
      <p:grpSp>
        <p:nvGrpSpPr>
          <p:cNvPr id="305" name="Group 199">
            <a:extLst>
              <a:ext uri="{FF2B5EF4-FFF2-40B4-BE49-F238E27FC236}">
                <a16:creationId xmlns:a16="http://schemas.microsoft.com/office/drawing/2014/main" id="{17C79495-9E5E-D743-8F6F-313B7597C3E0}"/>
              </a:ext>
            </a:extLst>
          </p:cNvPr>
          <p:cNvGrpSpPr>
            <a:grpSpLocks/>
          </p:cNvGrpSpPr>
          <p:nvPr/>
        </p:nvGrpSpPr>
        <p:grpSpPr bwMode="auto">
          <a:xfrm>
            <a:off x="6321427" y="1140839"/>
            <a:ext cx="2952750" cy="1966912"/>
            <a:chOff x="2600" y="665"/>
            <a:chExt cx="1860" cy="1239"/>
          </a:xfrm>
        </p:grpSpPr>
        <p:sp>
          <p:nvSpPr>
            <p:cNvPr id="306" name="Rectangle 171">
              <a:extLst>
                <a:ext uri="{FF2B5EF4-FFF2-40B4-BE49-F238E27FC236}">
                  <a16:creationId xmlns:a16="http://schemas.microsoft.com/office/drawing/2014/main" id="{1EAF4F70-21E7-C34E-8873-423E3B1E6A8A}"/>
                </a:ext>
              </a:extLst>
            </p:cNvPr>
            <p:cNvSpPr>
              <a:spLocks noChangeArrowheads="1"/>
            </p:cNvSpPr>
            <p:nvPr/>
          </p:nvSpPr>
          <p:spPr bwMode="auto">
            <a:xfrm>
              <a:off x="2840" y="1028"/>
              <a:ext cx="1202" cy="130"/>
            </a:xfrm>
            <a:prstGeom prst="rect">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07" name="Group 172">
              <a:extLst>
                <a:ext uri="{FF2B5EF4-FFF2-40B4-BE49-F238E27FC236}">
                  <a16:creationId xmlns:a16="http://schemas.microsoft.com/office/drawing/2014/main" id="{DEE85BA8-BC48-F24A-B3C5-A13DD502AF23}"/>
                </a:ext>
              </a:extLst>
            </p:cNvPr>
            <p:cNvGrpSpPr>
              <a:grpSpLocks/>
            </p:cNvGrpSpPr>
            <p:nvPr/>
          </p:nvGrpSpPr>
          <p:grpSpPr bwMode="auto">
            <a:xfrm>
              <a:off x="2820" y="872"/>
              <a:ext cx="1252" cy="714"/>
              <a:chOff x="1976" y="2984"/>
              <a:chExt cx="1252" cy="714"/>
            </a:xfrm>
          </p:grpSpPr>
          <p:sp>
            <p:nvSpPr>
              <p:cNvPr id="310" name="Rectangle 173">
                <a:extLst>
                  <a:ext uri="{FF2B5EF4-FFF2-40B4-BE49-F238E27FC236}">
                    <a16:creationId xmlns:a16="http://schemas.microsoft.com/office/drawing/2014/main" id="{512EC936-B599-4C42-A3CB-F206B3359FAC}"/>
                  </a:ext>
                </a:extLst>
              </p:cNvPr>
              <p:cNvSpPr>
                <a:spLocks noChangeArrowheads="1"/>
              </p:cNvSpPr>
              <p:nvPr/>
            </p:nvSpPr>
            <p:spPr bwMode="auto">
              <a:xfrm>
                <a:off x="1994" y="2995"/>
                <a:ext cx="1210" cy="703"/>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1" name="Text Box 174">
                <a:extLst>
                  <a:ext uri="{FF2B5EF4-FFF2-40B4-BE49-F238E27FC236}">
                    <a16:creationId xmlns:a16="http://schemas.microsoft.com/office/drawing/2014/main" id="{D1A37C4D-C221-B944-960D-5E1AC157A7DE}"/>
                  </a:ext>
                </a:extLst>
              </p:cNvPr>
              <p:cNvSpPr txBox="1">
                <a:spLocks noChangeArrowheads="1"/>
              </p:cNvSpPr>
              <p:nvPr/>
            </p:nvSpPr>
            <p:spPr bwMode="auto">
              <a:xfrm>
                <a:off x="2001" y="2984"/>
                <a:ext cx="58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source port #</a:t>
                </a:r>
              </a:p>
            </p:txBody>
          </p:sp>
          <p:sp>
            <p:nvSpPr>
              <p:cNvPr id="312" name="Text Box 175">
                <a:extLst>
                  <a:ext uri="{FF2B5EF4-FFF2-40B4-BE49-F238E27FC236}">
                    <a16:creationId xmlns:a16="http://schemas.microsoft.com/office/drawing/2014/main" id="{DC506D04-4DCA-2A42-8A11-92D274739497}"/>
                  </a:ext>
                </a:extLst>
              </p:cNvPr>
              <p:cNvSpPr txBox="1">
                <a:spLocks noChangeArrowheads="1"/>
              </p:cNvSpPr>
              <p:nvPr/>
            </p:nvSpPr>
            <p:spPr bwMode="auto">
              <a:xfrm>
                <a:off x="2648" y="2987"/>
                <a:ext cx="49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dest port #</a:t>
                </a:r>
              </a:p>
            </p:txBody>
          </p:sp>
          <p:sp>
            <p:nvSpPr>
              <p:cNvPr id="313" name="Text Box 176">
                <a:extLst>
                  <a:ext uri="{FF2B5EF4-FFF2-40B4-BE49-F238E27FC236}">
                    <a16:creationId xmlns:a16="http://schemas.microsoft.com/office/drawing/2014/main" id="{E9E72ACF-7C4B-3247-896D-D6CDE3C1CEE4}"/>
                  </a:ext>
                </a:extLst>
              </p:cNvPr>
              <p:cNvSpPr txBox="1">
                <a:spLocks noChangeArrowheads="1"/>
              </p:cNvSpPr>
              <p:nvPr/>
            </p:nvSpPr>
            <p:spPr bwMode="auto">
              <a:xfrm>
                <a:off x="2154" y="3117"/>
                <a:ext cx="91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charset="0"/>
                    <a:ea typeface="ＭＳ Ｐゴシック" charset="0"/>
                    <a:cs typeface="+mn-cs"/>
                  </a:rPr>
                  <a:t>sequence number</a:t>
                </a:r>
              </a:p>
            </p:txBody>
          </p:sp>
          <p:sp>
            <p:nvSpPr>
              <p:cNvPr id="314" name="Text Box 177">
                <a:extLst>
                  <a:ext uri="{FF2B5EF4-FFF2-40B4-BE49-F238E27FC236}">
                    <a16:creationId xmlns:a16="http://schemas.microsoft.com/office/drawing/2014/main" id="{4A1EA7EA-E261-2540-A61F-14F1D3C62770}"/>
                  </a:ext>
                </a:extLst>
              </p:cNvPr>
              <p:cNvSpPr txBox="1">
                <a:spLocks noChangeArrowheads="1"/>
              </p:cNvSpPr>
              <p:nvPr/>
            </p:nvSpPr>
            <p:spPr bwMode="auto">
              <a:xfrm>
                <a:off x="1976" y="3257"/>
                <a:ext cx="1252"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acknowledgement number</a:t>
                </a:r>
              </a:p>
            </p:txBody>
          </p:sp>
          <p:sp>
            <p:nvSpPr>
              <p:cNvPr id="315" name="Text Box 178">
                <a:extLst>
                  <a:ext uri="{FF2B5EF4-FFF2-40B4-BE49-F238E27FC236}">
                    <a16:creationId xmlns:a16="http://schemas.microsoft.com/office/drawing/2014/main" id="{14D444FC-B976-4B43-AF8C-651999F1EAD7}"/>
                  </a:ext>
                </a:extLst>
              </p:cNvPr>
              <p:cNvSpPr txBox="1">
                <a:spLocks noChangeArrowheads="1"/>
              </p:cNvSpPr>
              <p:nvPr/>
            </p:nvSpPr>
            <p:spPr bwMode="auto">
              <a:xfrm>
                <a:off x="2053" y="3544"/>
                <a:ext cx="475"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checksum</a:t>
                </a:r>
              </a:p>
            </p:txBody>
          </p:sp>
          <p:sp>
            <p:nvSpPr>
              <p:cNvPr id="316" name="Line 179">
                <a:extLst>
                  <a:ext uri="{FF2B5EF4-FFF2-40B4-BE49-F238E27FC236}">
                    <a16:creationId xmlns:a16="http://schemas.microsoft.com/office/drawing/2014/main" id="{03CA3683-10CF-2D45-855C-D741CB3E84FC}"/>
                  </a:ext>
                </a:extLst>
              </p:cNvPr>
              <p:cNvSpPr>
                <a:spLocks noChangeShapeType="1"/>
              </p:cNvSpPr>
              <p:nvPr/>
            </p:nvSpPr>
            <p:spPr bwMode="auto">
              <a:xfrm>
                <a:off x="1994" y="313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7" name="Line 180">
                <a:extLst>
                  <a:ext uri="{FF2B5EF4-FFF2-40B4-BE49-F238E27FC236}">
                    <a16:creationId xmlns:a16="http://schemas.microsoft.com/office/drawing/2014/main" id="{4427CEC2-BFD3-0543-AAB5-E40DA49DCF81}"/>
                  </a:ext>
                </a:extLst>
              </p:cNvPr>
              <p:cNvSpPr>
                <a:spLocks noChangeShapeType="1"/>
              </p:cNvSpPr>
              <p:nvPr/>
            </p:nvSpPr>
            <p:spPr bwMode="auto">
              <a:xfrm>
                <a:off x="1994" y="327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8" name="Line 181">
                <a:extLst>
                  <a:ext uri="{FF2B5EF4-FFF2-40B4-BE49-F238E27FC236}">
                    <a16:creationId xmlns:a16="http://schemas.microsoft.com/office/drawing/2014/main" id="{83A31360-0241-B24B-9A5B-5DF36A70BB1A}"/>
                  </a:ext>
                </a:extLst>
              </p:cNvPr>
              <p:cNvSpPr>
                <a:spLocks noChangeShapeType="1"/>
              </p:cNvSpPr>
              <p:nvPr/>
            </p:nvSpPr>
            <p:spPr bwMode="auto">
              <a:xfrm>
                <a:off x="1992" y="3414"/>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9" name="Line 182">
                <a:extLst>
                  <a:ext uri="{FF2B5EF4-FFF2-40B4-BE49-F238E27FC236}">
                    <a16:creationId xmlns:a16="http://schemas.microsoft.com/office/drawing/2014/main" id="{E2E74D6E-689D-3E49-A5CA-1EB053F0D115}"/>
                  </a:ext>
                </a:extLst>
              </p:cNvPr>
              <p:cNvSpPr>
                <a:spLocks noChangeShapeType="1"/>
              </p:cNvSpPr>
              <p:nvPr/>
            </p:nvSpPr>
            <p:spPr bwMode="auto">
              <a:xfrm>
                <a:off x="2588" y="2994"/>
                <a:ext cx="0" cy="14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0" name="Line 183">
                <a:extLst>
                  <a:ext uri="{FF2B5EF4-FFF2-40B4-BE49-F238E27FC236}">
                    <a16:creationId xmlns:a16="http://schemas.microsoft.com/office/drawing/2014/main" id="{34408127-C1C4-5142-81BC-0772E406AF42}"/>
                  </a:ext>
                </a:extLst>
              </p:cNvPr>
              <p:cNvSpPr>
                <a:spLocks noChangeShapeType="1"/>
              </p:cNvSpPr>
              <p:nvPr/>
            </p:nvSpPr>
            <p:spPr bwMode="auto">
              <a:xfrm>
                <a:off x="2588" y="3416"/>
                <a:ext cx="0" cy="28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1" name="Line 184">
                <a:extLst>
                  <a:ext uri="{FF2B5EF4-FFF2-40B4-BE49-F238E27FC236}">
                    <a16:creationId xmlns:a16="http://schemas.microsoft.com/office/drawing/2014/main" id="{AF6C4EF8-1ED8-1A4B-B94D-F145C940A384}"/>
                  </a:ext>
                </a:extLst>
              </p:cNvPr>
              <p:cNvSpPr>
                <a:spLocks noChangeShapeType="1"/>
              </p:cNvSpPr>
              <p:nvPr/>
            </p:nvSpPr>
            <p:spPr bwMode="auto">
              <a:xfrm>
                <a:off x="1994" y="3548"/>
                <a:ext cx="1212"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2" name="Text Box 185">
                <a:extLst>
                  <a:ext uri="{FF2B5EF4-FFF2-40B4-BE49-F238E27FC236}">
                    <a16:creationId xmlns:a16="http://schemas.microsoft.com/office/drawing/2014/main" id="{8F8508CA-EE38-AF4E-A97C-1BE94735E56E}"/>
                  </a:ext>
                </a:extLst>
              </p:cNvPr>
              <p:cNvSpPr txBox="1">
                <a:spLocks noChangeArrowheads="1"/>
              </p:cNvSpPr>
              <p:nvPr/>
            </p:nvSpPr>
            <p:spPr bwMode="auto">
              <a:xfrm>
                <a:off x="2708" y="3390"/>
                <a:ext cx="323" cy="17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rwnd</a:t>
                </a:r>
              </a:p>
            </p:txBody>
          </p:sp>
          <p:sp>
            <p:nvSpPr>
              <p:cNvPr id="323" name="Text Box 186">
                <a:extLst>
                  <a:ext uri="{FF2B5EF4-FFF2-40B4-BE49-F238E27FC236}">
                    <a16:creationId xmlns:a16="http://schemas.microsoft.com/office/drawing/2014/main" id="{88BEC28D-C62B-B54E-A090-DF6809C9E835}"/>
                  </a:ext>
                </a:extLst>
              </p:cNvPr>
              <p:cNvSpPr txBox="1">
                <a:spLocks noChangeArrowheads="1"/>
              </p:cNvSpPr>
              <p:nvPr/>
            </p:nvSpPr>
            <p:spPr bwMode="auto">
              <a:xfrm>
                <a:off x="2651" y="3544"/>
                <a:ext cx="496"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urg pointer</a:t>
                </a:r>
              </a:p>
            </p:txBody>
          </p:sp>
          <p:sp>
            <p:nvSpPr>
              <p:cNvPr id="324" name="Line 187">
                <a:extLst>
                  <a:ext uri="{FF2B5EF4-FFF2-40B4-BE49-F238E27FC236}">
                    <a16:creationId xmlns:a16="http://schemas.microsoft.com/office/drawing/2014/main" id="{8CC1CABE-C086-144F-8F1F-A7D004A1EA6E}"/>
                  </a:ext>
                </a:extLst>
              </p:cNvPr>
              <p:cNvSpPr>
                <a:spLocks noChangeShapeType="1"/>
              </p:cNvSpPr>
              <p:nvPr/>
            </p:nvSpPr>
            <p:spPr bwMode="auto">
              <a:xfrm>
                <a:off x="2398" y="3413"/>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5" name="Line 188">
                <a:extLst>
                  <a:ext uri="{FF2B5EF4-FFF2-40B4-BE49-F238E27FC236}">
                    <a16:creationId xmlns:a16="http://schemas.microsoft.com/office/drawing/2014/main" id="{061C4173-FBA5-7749-BCE1-9EBD070DBA3D}"/>
                  </a:ext>
                </a:extLst>
              </p:cNvPr>
              <p:cNvSpPr>
                <a:spLocks noChangeShapeType="1"/>
              </p:cNvSpPr>
              <p:nvPr/>
            </p:nvSpPr>
            <p:spPr bwMode="auto">
              <a:xfrm>
                <a:off x="2143" y="3412"/>
                <a:ext cx="0" cy="1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08" name="Text Box 189">
              <a:extLst>
                <a:ext uri="{FF2B5EF4-FFF2-40B4-BE49-F238E27FC236}">
                  <a16:creationId xmlns:a16="http://schemas.microsoft.com/office/drawing/2014/main" id="{961ADE6B-9EA8-FA44-92C6-6941117B3BDE}"/>
                </a:ext>
              </a:extLst>
            </p:cNvPr>
            <p:cNvSpPr txBox="1">
              <a:spLocks noChangeArrowheads="1"/>
            </p:cNvSpPr>
            <p:nvPr/>
          </p:nvSpPr>
          <p:spPr bwMode="auto">
            <a:xfrm>
              <a:off x="2600" y="665"/>
              <a:ext cx="1860"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outgoing segment from sender</a:t>
              </a:r>
            </a:p>
          </p:txBody>
        </p:sp>
        <p:sp>
          <p:nvSpPr>
            <p:cNvPr id="309" name="Freeform 190">
              <a:extLst>
                <a:ext uri="{FF2B5EF4-FFF2-40B4-BE49-F238E27FC236}">
                  <a16:creationId xmlns:a16="http://schemas.microsoft.com/office/drawing/2014/main" id="{ECB9422A-F7AA-6143-8673-CA97EE9D620B}"/>
                </a:ext>
              </a:extLst>
            </p:cNvPr>
            <p:cNvSpPr>
              <a:spLocks/>
            </p:cNvSpPr>
            <p:nvPr/>
          </p:nvSpPr>
          <p:spPr bwMode="auto">
            <a:xfrm>
              <a:off x="4050" y="1080"/>
              <a:ext cx="107" cy="824"/>
            </a:xfrm>
            <a:custGeom>
              <a:avLst/>
              <a:gdLst>
                <a:gd name="T0" fmla="*/ 0 w 107"/>
                <a:gd name="T1" fmla="*/ 0 h 910"/>
                <a:gd name="T2" fmla="*/ 107 w 107"/>
                <a:gd name="T3" fmla="*/ 0 h 910"/>
                <a:gd name="T4" fmla="*/ 107 w 107"/>
                <a:gd name="T5" fmla="*/ 337 h 910"/>
                <a:gd name="T6" fmla="*/ 0 60000 65536"/>
                <a:gd name="T7" fmla="*/ 0 60000 65536"/>
                <a:gd name="T8" fmla="*/ 0 60000 65536"/>
              </a:gdLst>
              <a:ahLst/>
              <a:cxnLst>
                <a:cxn ang="T6">
                  <a:pos x="T0" y="T1"/>
                </a:cxn>
                <a:cxn ang="T7">
                  <a:pos x="T2" y="T3"/>
                </a:cxn>
                <a:cxn ang="T8">
                  <a:pos x="T4" y="T5"/>
                </a:cxn>
              </a:cxnLst>
              <a:rect l="0" t="0" r="r" b="b"/>
              <a:pathLst>
                <a:path w="107" h="910">
                  <a:moveTo>
                    <a:pt x="0" y="0"/>
                  </a:moveTo>
                  <a:lnTo>
                    <a:pt x="107" y="0"/>
                  </a:lnTo>
                  <a:lnTo>
                    <a:pt x="107" y="910"/>
                  </a:lnTo>
                </a:path>
              </a:pathLst>
            </a:custGeom>
            <a:noFill/>
            <a:ln w="952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07" name="Rectangle 5">
            <a:extLst>
              <a:ext uri="{FF2B5EF4-FFF2-40B4-BE49-F238E27FC236}">
                <a16:creationId xmlns:a16="http://schemas.microsoft.com/office/drawing/2014/main" id="{6C3FDCE7-5731-3B49-B3F0-A28BEE20C1DD}"/>
              </a:ext>
            </a:extLst>
          </p:cNvPr>
          <p:cNvSpPr txBox="1">
            <a:spLocks noChangeArrowheads="1"/>
          </p:cNvSpPr>
          <p:nvPr/>
        </p:nvSpPr>
        <p:spPr bwMode="auto">
          <a:xfrm>
            <a:off x="740571" y="2803512"/>
            <a:ext cx="5096669" cy="1768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28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Acknowledgements</a:t>
            </a:r>
            <a:r>
              <a:rPr kumimoji="0" lang="en-US" altLang="en-US" sz="2800" b="0" i="0"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endPar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endParaRP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seq # of next byte expected from other side</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cumulative ACK</a:t>
            </a:r>
          </a:p>
        </p:txBody>
      </p:sp>
      <p:sp>
        <p:nvSpPr>
          <p:cNvPr id="108" name="Rectangle 5">
            <a:extLst>
              <a:ext uri="{FF2B5EF4-FFF2-40B4-BE49-F238E27FC236}">
                <a16:creationId xmlns:a16="http://schemas.microsoft.com/office/drawing/2014/main" id="{845D3A7B-C2B2-5F46-AC88-0FE1A562E0B2}"/>
              </a:ext>
            </a:extLst>
          </p:cNvPr>
          <p:cNvSpPr txBox="1">
            <a:spLocks noChangeArrowheads="1"/>
          </p:cNvSpPr>
          <p:nvPr/>
        </p:nvSpPr>
        <p:spPr bwMode="auto">
          <a:xfrm>
            <a:off x="651671" y="4633906"/>
            <a:ext cx="5096669" cy="1730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34950" marR="0" lvl="0" indent="-123825" algn="l" defTabSz="914400" rtl="0" eaLnBrk="0" fontAlgn="base" latinLnBrk="0" hangingPunct="0">
              <a:lnSpc>
                <a:spcPct val="85000"/>
              </a:lnSpc>
              <a:spcBef>
                <a:spcPts val="1900"/>
              </a:spcBef>
              <a:spcAft>
                <a:spcPct val="0"/>
              </a:spcAft>
              <a:buClr>
                <a:srgbClr val="000099"/>
              </a:buClr>
              <a:buSzPct val="100000"/>
              <a:buFont typeface="Wingdings" pitchFamily="2" charset="2"/>
              <a:buNone/>
              <a:tabLst/>
              <a:defRPr/>
            </a:pPr>
            <a:r>
              <a:rPr kumimoji="0" lang="en-US" altLang="en-US" sz="28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how receiver handles out-of-order segments</a:t>
            </a:r>
          </a:p>
          <a:p>
            <a:pPr marL="635000" marR="0" lvl="1" indent="-285750" algn="l" defTabSz="914400" rtl="0" eaLnBrk="0" fontAlgn="base" latinLnBrk="0" hangingPunct="0">
              <a:lnSpc>
                <a:spcPct val="85000"/>
              </a:lnSpc>
              <a:spcBef>
                <a:spcPct val="20000"/>
              </a:spcBef>
              <a:spcAft>
                <a:spcPct val="0"/>
              </a:spcAft>
              <a:buClr>
                <a:srgbClr val="000099"/>
              </a:buClr>
              <a:buSzTx/>
              <a:buFont typeface="Arial" panose="020B0604020202020204" pitchFamily="34" charset="0"/>
              <a:buChar char="•"/>
              <a:tabLst/>
              <a:defRPr/>
            </a:pPr>
            <a:r>
              <a:rPr kumimoji="0" lang="en-US" altLang="en-US" sz="2800" b="0" i="1" u="sng" strike="noStrike" kern="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 </a:t>
            </a: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spec doesn</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say, - up to implementor</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09" name="Slide Number Placeholder 2">
            <a:extLst>
              <a:ext uri="{FF2B5EF4-FFF2-40B4-BE49-F238E27FC236}">
                <a16:creationId xmlns:a16="http://schemas.microsoft.com/office/drawing/2014/main" id="{471D7C94-F1DF-F240-884F-FBFDCBF8355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65580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dissolve">
                                      <p:cBhvr>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4"/>
                                        </p:tgtEl>
                                        <p:attrNameLst>
                                          <p:attrName>style.visibility</p:attrName>
                                        </p:attrNameLst>
                                      </p:cBhvr>
                                      <p:to>
                                        <p:strVal val="visible"/>
                                      </p:to>
                                    </p:set>
                                    <p:animEffect transition="in" filter="dissolve">
                                      <p:cBhvr>
                                        <p:cTn id="12" dur="500"/>
                                        <p:tgtEl>
                                          <p:spTgt spid="224"/>
                                        </p:tgtEl>
                                      </p:cBhvr>
                                    </p:animEffect>
                                  </p:childTnLst>
                                </p:cTn>
                              </p:par>
                              <p:par>
                                <p:cTn id="13" presetID="9"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animEffect transition="in" filter="dissolve">
                                      <p:cBhvr>
                                        <p:cTn id="15" dur="500"/>
                                        <p:tgtEl>
                                          <p:spTgt spid="24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7"/>
                                        </p:tgtEl>
                                        <p:attrNameLst>
                                          <p:attrName>style.visibility</p:attrName>
                                        </p:attrNameLst>
                                      </p:cBhvr>
                                      <p:to>
                                        <p:strVal val="visible"/>
                                      </p:to>
                                    </p:set>
                                    <p:animEffect transition="in" filter="dissolve">
                                      <p:cBhvr>
                                        <p:cTn id="18" dur="500"/>
                                        <p:tgtEl>
                                          <p:spTgt spid="10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visible"/>
                                      </p:to>
                                    </p:set>
                                    <p:animEffect transition="in" filter="dissolve">
                                      <p:cBhvr>
                                        <p:cTn id="2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P spid="10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sequence numbers, ACKs</a:t>
            </a:r>
            <a:endParaRPr lang="en-US" sz="4400" b="0" dirty="0"/>
          </a:p>
        </p:txBody>
      </p:sp>
      <p:sp>
        <p:nvSpPr>
          <p:cNvPr id="133" name="Text Box 8">
            <a:extLst>
              <a:ext uri="{FF2B5EF4-FFF2-40B4-BE49-F238E27FC236}">
                <a16:creationId xmlns:a16="http://schemas.microsoft.com/office/drawing/2014/main" id="{4BFA7F94-ECDC-4F4E-BAAE-2F377F89AF1C}"/>
              </a:ext>
            </a:extLst>
          </p:cNvPr>
          <p:cNvSpPr txBox="1">
            <a:spLocks noChangeArrowheads="1"/>
          </p:cNvSpPr>
          <p:nvPr/>
        </p:nvSpPr>
        <p:spPr bwMode="auto">
          <a:xfrm>
            <a:off x="1661117" y="4011734"/>
            <a:ext cx="2519185" cy="7571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 echoed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4" name="Text Box 9">
            <a:extLst>
              <a:ext uri="{FF2B5EF4-FFF2-40B4-BE49-F238E27FC236}">
                <a16:creationId xmlns:a16="http://schemas.microsoft.com/office/drawing/2014/main" id="{6F6C270A-95D4-3B45-95CD-2E7A27820BF0}"/>
              </a:ext>
            </a:extLst>
          </p:cNvPr>
          <p:cNvSpPr txBox="1">
            <a:spLocks noChangeArrowheads="1"/>
          </p:cNvSpPr>
          <p:nvPr/>
        </p:nvSpPr>
        <p:spPr bwMode="auto">
          <a:xfrm>
            <a:off x="7229477" y="3001865"/>
            <a:ext cx="3187212" cy="83099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host ACKs receipt of</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echoes </a:t>
            </a: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back </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6" name="Text Box 11">
            <a:extLst>
              <a:ext uri="{FF2B5EF4-FFF2-40B4-BE49-F238E27FC236}">
                <a16:creationId xmlns:a16="http://schemas.microsoft.com/office/drawing/2014/main" id="{7AB83FEF-E6C5-3C4E-8F11-410822AB937A}"/>
              </a:ext>
            </a:extLst>
          </p:cNvPr>
          <p:cNvSpPr txBox="1">
            <a:spLocks noChangeArrowheads="1"/>
          </p:cNvSpPr>
          <p:nvPr/>
        </p:nvSpPr>
        <p:spPr bwMode="auto">
          <a:xfrm>
            <a:off x="3961011" y="5644479"/>
            <a:ext cx="3401893" cy="52322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rPr>
              <a:t>simple telnet scenario</a:t>
            </a:r>
            <a:endParaRPr kumimoji="0" lang="en-US" sz="1200" b="0" i="0" u="none" strike="noStrike" kern="0" cap="none" spc="0" normalizeH="0" baseline="0" noProof="0" dirty="0">
              <a:ln>
                <a:noFill/>
              </a:ln>
              <a:solidFill>
                <a:srgbClr val="000099"/>
              </a:solidFill>
              <a:effectLst/>
              <a:uLnTx/>
              <a:uFillTx/>
              <a:latin typeface="Calibri" panose="020F0502020204030204"/>
              <a:ea typeface="ＭＳ Ｐゴシック" charset="0"/>
              <a:cs typeface="+mn-cs"/>
            </a:endParaRPr>
          </a:p>
        </p:txBody>
      </p:sp>
      <p:sp>
        <p:nvSpPr>
          <p:cNvPr id="137" name="Text Box 13">
            <a:extLst>
              <a:ext uri="{FF2B5EF4-FFF2-40B4-BE49-F238E27FC236}">
                <a16:creationId xmlns:a16="http://schemas.microsoft.com/office/drawing/2014/main" id="{0851DEB2-88A4-C849-8DEA-02D53E9ABCBD}"/>
              </a:ext>
            </a:extLst>
          </p:cNvPr>
          <p:cNvSpPr txBox="1">
            <a:spLocks noChangeArrowheads="1"/>
          </p:cNvSpPr>
          <p:nvPr/>
        </p:nvSpPr>
        <p:spPr bwMode="auto">
          <a:xfrm>
            <a:off x="7129672" y="1492971"/>
            <a:ext cx="997389"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B</a:t>
            </a:r>
          </a:p>
        </p:txBody>
      </p:sp>
      <p:sp>
        <p:nvSpPr>
          <p:cNvPr id="138" name="Text Box 17">
            <a:extLst>
              <a:ext uri="{FF2B5EF4-FFF2-40B4-BE49-F238E27FC236}">
                <a16:creationId xmlns:a16="http://schemas.microsoft.com/office/drawing/2014/main" id="{847A8C2E-C7AE-5B45-9FFE-DE39BC581384}"/>
              </a:ext>
            </a:extLst>
          </p:cNvPr>
          <p:cNvSpPr txBox="1">
            <a:spLocks noChangeArrowheads="1"/>
          </p:cNvSpPr>
          <p:nvPr/>
        </p:nvSpPr>
        <p:spPr bwMode="auto">
          <a:xfrm>
            <a:off x="3204390" y="1459336"/>
            <a:ext cx="1008610"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A</a:t>
            </a:r>
          </a:p>
        </p:txBody>
      </p:sp>
      <p:grpSp>
        <p:nvGrpSpPr>
          <p:cNvPr id="4" name="Group 3">
            <a:extLst>
              <a:ext uri="{FF2B5EF4-FFF2-40B4-BE49-F238E27FC236}">
                <a16:creationId xmlns:a16="http://schemas.microsoft.com/office/drawing/2014/main" id="{89152BC9-BFE2-2C4F-B7CF-DD705BF09468}"/>
              </a:ext>
            </a:extLst>
          </p:cNvPr>
          <p:cNvGrpSpPr/>
          <p:nvPr/>
        </p:nvGrpSpPr>
        <p:grpSpPr>
          <a:xfrm>
            <a:off x="1499000" y="2541021"/>
            <a:ext cx="5581275" cy="780392"/>
            <a:chOff x="1499000" y="2541021"/>
            <a:chExt cx="5581275" cy="780392"/>
          </a:xfrm>
        </p:grpSpPr>
        <p:sp>
          <p:nvSpPr>
            <p:cNvPr id="131" name="Line 4">
              <a:extLst>
                <a:ext uri="{FF2B5EF4-FFF2-40B4-BE49-F238E27FC236}">
                  <a16:creationId xmlns:a16="http://schemas.microsoft.com/office/drawing/2014/main" id="{4E48AD8B-7F93-B847-8494-F0B86AABA007}"/>
                </a:ext>
              </a:extLst>
            </p:cNvPr>
            <p:cNvSpPr>
              <a:spLocks noChangeShapeType="1"/>
            </p:cNvSpPr>
            <p:nvPr/>
          </p:nvSpPr>
          <p:spPr bwMode="auto">
            <a:xfrm>
              <a:off x="4354237" y="2749913"/>
              <a:ext cx="2586037"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32" name="Text Box 7">
              <a:extLst>
                <a:ext uri="{FF2B5EF4-FFF2-40B4-BE49-F238E27FC236}">
                  <a16:creationId xmlns:a16="http://schemas.microsoft.com/office/drawing/2014/main" id="{B9E9C219-DA90-8A41-A18D-4DF67A2B1B94}"/>
                </a:ext>
              </a:extLst>
            </p:cNvPr>
            <p:cNvSpPr txBox="1">
              <a:spLocks noChangeArrowheads="1"/>
            </p:cNvSpPr>
            <p:nvPr/>
          </p:nvSpPr>
          <p:spPr bwMode="auto">
            <a:xfrm>
              <a:off x="1499000" y="2541021"/>
              <a:ext cx="2725007" cy="4247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User types</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24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39" name="Rectangle 18">
              <a:extLst>
                <a:ext uri="{FF2B5EF4-FFF2-40B4-BE49-F238E27FC236}">
                  <a16:creationId xmlns:a16="http://schemas.microsoft.com/office/drawing/2014/main" id="{35BA661F-5A22-C84E-B47D-9147B3088598}"/>
                </a:ext>
              </a:extLst>
            </p:cNvPr>
            <p:cNvSpPr>
              <a:spLocks noChangeArrowheads="1"/>
            </p:cNvSpPr>
            <p:nvPr/>
          </p:nvSpPr>
          <p:spPr bwMode="auto">
            <a:xfrm>
              <a:off x="5167037" y="2841988"/>
              <a:ext cx="814387" cy="3794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0" name="Text Box 19">
              <a:extLst>
                <a:ext uri="{FF2B5EF4-FFF2-40B4-BE49-F238E27FC236}">
                  <a16:creationId xmlns:a16="http://schemas.microsoft.com/office/drawing/2014/main" id="{880D64B6-5AB7-0245-B925-5A511DDE93D7}"/>
                </a:ext>
              </a:extLst>
            </p:cNvPr>
            <p:cNvSpPr txBox="1">
              <a:spLocks noChangeArrowheads="1"/>
            </p:cNvSpPr>
            <p:nvPr/>
          </p:nvSpPr>
          <p:spPr bwMode="auto">
            <a:xfrm>
              <a:off x="4260272" y="2854620"/>
              <a:ext cx="2820003"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Seq=42, ACK=79, data = </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id="{30581A9F-48A7-D546-AB16-5A259024E309}"/>
              </a:ext>
            </a:extLst>
          </p:cNvPr>
          <p:cNvGrpSpPr/>
          <p:nvPr/>
        </p:nvGrpSpPr>
        <p:grpSpPr>
          <a:xfrm>
            <a:off x="4264368" y="3523026"/>
            <a:ext cx="2813399" cy="800100"/>
            <a:chOff x="4264368" y="3523026"/>
            <a:chExt cx="2813399" cy="800100"/>
          </a:xfrm>
        </p:grpSpPr>
        <p:sp>
          <p:nvSpPr>
            <p:cNvPr id="135" name="Line 10">
              <a:extLst>
                <a:ext uri="{FF2B5EF4-FFF2-40B4-BE49-F238E27FC236}">
                  <a16:creationId xmlns:a16="http://schemas.microsoft.com/office/drawing/2014/main" id="{7C681F4C-24E8-5D43-BE10-D3949F61CDFA}"/>
                </a:ext>
              </a:extLst>
            </p:cNvPr>
            <p:cNvSpPr>
              <a:spLocks noChangeShapeType="1"/>
            </p:cNvSpPr>
            <p:nvPr/>
          </p:nvSpPr>
          <p:spPr bwMode="auto">
            <a:xfrm flipH="1">
              <a:off x="4344712" y="3523026"/>
              <a:ext cx="2554287" cy="8001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1" name="Rectangle 20">
              <a:extLst>
                <a:ext uri="{FF2B5EF4-FFF2-40B4-BE49-F238E27FC236}">
                  <a16:creationId xmlns:a16="http://schemas.microsoft.com/office/drawing/2014/main" id="{E3E3363E-9511-1A43-912C-05D171708B3A}"/>
                </a:ext>
              </a:extLst>
            </p:cNvPr>
            <p:cNvSpPr>
              <a:spLocks noChangeArrowheads="1"/>
            </p:cNvSpPr>
            <p:nvPr/>
          </p:nvSpPr>
          <p:spPr bwMode="auto">
            <a:xfrm>
              <a:off x="5201962" y="3800838"/>
              <a:ext cx="823912" cy="24606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2" name="Text Box 21">
              <a:extLst>
                <a:ext uri="{FF2B5EF4-FFF2-40B4-BE49-F238E27FC236}">
                  <a16:creationId xmlns:a16="http://schemas.microsoft.com/office/drawing/2014/main" id="{18709FF4-595B-2F4F-9697-F2C14F760728}"/>
                </a:ext>
              </a:extLst>
            </p:cNvPr>
            <p:cNvSpPr txBox="1">
              <a:spLocks noChangeArrowheads="1"/>
            </p:cNvSpPr>
            <p:nvPr/>
          </p:nvSpPr>
          <p:spPr bwMode="auto">
            <a:xfrm>
              <a:off x="4264368" y="3736718"/>
              <a:ext cx="2813399"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Seq=79, ACK=43, data = </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a:t>
              </a:r>
              <a:r>
                <a:rPr kumimoji="0" lang="ja-JP" altLang="en-US" sz="1800" b="0" i="0" u="none" strike="noStrike" kern="1200" cap="none" spc="0" normalizeH="0" baseline="0" noProof="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11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9A6C1350-9453-1E48-8790-F100F9587769}"/>
              </a:ext>
            </a:extLst>
          </p:cNvPr>
          <p:cNvGrpSpPr/>
          <p:nvPr/>
        </p:nvGrpSpPr>
        <p:grpSpPr>
          <a:xfrm>
            <a:off x="4339949" y="4518388"/>
            <a:ext cx="2590800" cy="506413"/>
            <a:chOff x="4339949" y="4518388"/>
            <a:chExt cx="2590800" cy="506413"/>
          </a:xfrm>
        </p:grpSpPr>
        <p:sp>
          <p:nvSpPr>
            <p:cNvPr id="130" name="Line 3">
              <a:extLst>
                <a:ext uri="{FF2B5EF4-FFF2-40B4-BE49-F238E27FC236}">
                  <a16:creationId xmlns:a16="http://schemas.microsoft.com/office/drawing/2014/main" id="{21939EAE-12FE-4B4B-8477-DA966E53E581}"/>
                </a:ext>
              </a:extLst>
            </p:cNvPr>
            <p:cNvSpPr>
              <a:spLocks noChangeShapeType="1"/>
            </p:cNvSpPr>
            <p:nvPr/>
          </p:nvSpPr>
          <p:spPr bwMode="auto">
            <a:xfrm>
              <a:off x="4339949" y="4518388"/>
              <a:ext cx="2590800"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3" name="Rectangle 22">
              <a:extLst>
                <a:ext uri="{FF2B5EF4-FFF2-40B4-BE49-F238E27FC236}">
                  <a16:creationId xmlns:a16="http://schemas.microsoft.com/office/drawing/2014/main" id="{36373196-F0F3-9041-A157-0DFF0B56BE41}"/>
                </a:ext>
              </a:extLst>
            </p:cNvPr>
            <p:cNvSpPr>
              <a:spLocks noChangeArrowheads="1"/>
            </p:cNvSpPr>
            <p:nvPr/>
          </p:nvSpPr>
          <p:spPr bwMode="auto">
            <a:xfrm>
              <a:off x="5268637" y="4648563"/>
              <a:ext cx="958850" cy="35718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4" name="Text Box 23">
              <a:extLst>
                <a:ext uri="{FF2B5EF4-FFF2-40B4-BE49-F238E27FC236}">
                  <a16:creationId xmlns:a16="http://schemas.microsoft.com/office/drawing/2014/main" id="{2C94660D-0BE1-434B-85A6-BB22849908C7}"/>
                </a:ext>
              </a:extLst>
            </p:cNvPr>
            <p:cNvSpPr txBox="1">
              <a:spLocks noChangeArrowheads="1"/>
            </p:cNvSpPr>
            <p:nvPr/>
          </p:nvSpPr>
          <p:spPr bwMode="auto">
            <a:xfrm>
              <a:off x="4934710" y="4609843"/>
              <a:ext cx="1712264" cy="3693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Seq=43, ACK=80</a:t>
              </a:r>
              <a:endParaRPr kumimoji="0" lang="en-US" sz="11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145" name="Line 24">
            <a:extLst>
              <a:ext uri="{FF2B5EF4-FFF2-40B4-BE49-F238E27FC236}">
                <a16:creationId xmlns:a16="http://schemas.microsoft.com/office/drawing/2014/main" id="{4198420A-33F5-1542-B39F-616C0F629FE7}"/>
              </a:ext>
            </a:extLst>
          </p:cNvPr>
          <p:cNvSpPr>
            <a:spLocks noChangeShapeType="1"/>
          </p:cNvSpPr>
          <p:nvPr/>
        </p:nvSpPr>
        <p:spPr bwMode="auto">
          <a:xfrm>
            <a:off x="4332012" y="2508613"/>
            <a:ext cx="0" cy="2587625"/>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146" name="Line 25">
            <a:extLst>
              <a:ext uri="{FF2B5EF4-FFF2-40B4-BE49-F238E27FC236}">
                <a16:creationId xmlns:a16="http://schemas.microsoft.com/office/drawing/2014/main" id="{C59AD6B4-1F7E-D046-AE58-B0A2143452E4}"/>
              </a:ext>
            </a:extLst>
          </p:cNvPr>
          <p:cNvSpPr>
            <a:spLocks noChangeShapeType="1"/>
          </p:cNvSpPr>
          <p:nvPr/>
        </p:nvSpPr>
        <p:spPr bwMode="auto">
          <a:xfrm>
            <a:off x="6994249" y="2561001"/>
            <a:ext cx="0" cy="2587625"/>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147" name="Group 27">
            <a:extLst>
              <a:ext uri="{FF2B5EF4-FFF2-40B4-BE49-F238E27FC236}">
                <a16:creationId xmlns:a16="http://schemas.microsoft.com/office/drawing/2014/main" id="{78A4C821-5D3D-F049-95FB-64A6C2EFC29B}"/>
              </a:ext>
            </a:extLst>
          </p:cNvPr>
          <p:cNvGrpSpPr>
            <a:grpSpLocks/>
          </p:cNvGrpSpPr>
          <p:nvPr/>
        </p:nvGrpSpPr>
        <p:grpSpPr bwMode="auto">
          <a:xfrm>
            <a:off x="3824012" y="1687876"/>
            <a:ext cx="755650" cy="782637"/>
            <a:chOff x="-44" y="1473"/>
            <a:chExt cx="981" cy="1105"/>
          </a:xfrm>
        </p:grpSpPr>
        <p:pic>
          <p:nvPicPr>
            <p:cNvPr id="148" name="Picture 28" descr="desktop_computer_stylized_medium">
              <a:extLst>
                <a:ext uri="{FF2B5EF4-FFF2-40B4-BE49-F238E27FC236}">
                  <a16:creationId xmlns:a16="http://schemas.microsoft.com/office/drawing/2014/main" id="{37E197D2-A990-E643-BBEF-3FDB8B30E8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 name="Freeform 29">
              <a:extLst>
                <a:ext uri="{FF2B5EF4-FFF2-40B4-BE49-F238E27FC236}">
                  <a16:creationId xmlns:a16="http://schemas.microsoft.com/office/drawing/2014/main" id="{B63C2E39-A8CB-1F4B-B3CA-E65FF2976D4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50" name="Group 30">
            <a:extLst>
              <a:ext uri="{FF2B5EF4-FFF2-40B4-BE49-F238E27FC236}">
                <a16:creationId xmlns:a16="http://schemas.microsoft.com/office/drawing/2014/main" id="{AEA67504-808C-2C43-80AA-6BED564C9A22}"/>
              </a:ext>
            </a:extLst>
          </p:cNvPr>
          <p:cNvGrpSpPr>
            <a:grpSpLocks/>
          </p:cNvGrpSpPr>
          <p:nvPr/>
        </p:nvGrpSpPr>
        <p:grpSpPr bwMode="auto">
          <a:xfrm flipH="1">
            <a:off x="6686274" y="1727563"/>
            <a:ext cx="788988" cy="862013"/>
            <a:chOff x="-44" y="1473"/>
            <a:chExt cx="981" cy="1105"/>
          </a:xfrm>
        </p:grpSpPr>
        <p:pic>
          <p:nvPicPr>
            <p:cNvPr id="151" name="Picture 31" descr="desktop_computer_stylized_medium">
              <a:extLst>
                <a:ext uri="{FF2B5EF4-FFF2-40B4-BE49-F238E27FC236}">
                  <a16:creationId xmlns:a16="http://schemas.microsoft.com/office/drawing/2014/main" id="{0B37A6B2-9E4A-114B-85F9-5E3DF6205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 name="Freeform 32">
              <a:extLst>
                <a:ext uri="{FF2B5EF4-FFF2-40B4-BE49-F238E27FC236}">
                  <a16:creationId xmlns:a16="http://schemas.microsoft.com/office/drawing/2014/main" id="{100E17DE-5CEE-AB45-8E97-F0E8B661790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178778AE-4599-7841-B71E-D835F9A5393E}"/>
              </a:ext>
            </a:extLst>
          </p:cNvPr>
          <p:cNvGrpSpPr/>
          <p:nvPr/>
        </p:nvGrpSpPr>
        <p:grpSpPr>
          <a:xfrm>
            <a:off x="4692316" y="2815389"/>
            <a:ext cx="1388485" cy="1371600"/>
            <a:chOff x="4692316" y="2815389"/>
            <a:chExt cx="1388485" cy="1371600"/>
          </a:xfrm>
        </p:grpSpPr>
        <p:sp>
          <p:nvSpPr>
            <p:cNvPr id="3" name="Oval 2">
              <a:extLst>
                <a:ext uri="{FF2B5EF4-FFF2-40B4-BE49-F238E27FC236}">
                  <a16:creationId xmlns:a16="http://schemas.microsoft.com/office/drawing/2014/main" id="{AB715EF6-F294-3449-96CB-B6947A099ADE}"/>
                </a:ext>
              </a:extLst>
            </p:cNvPr>
            <p:cNvSpPr/>
            <p:nvPr/>
          </p:nvSpPr>
          <p:spPr>
            <a:xfrm>
              <a:off x="5566610" y="3721768"/>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id="{7D783624-80C6-2148-8502-F1C29047872A}"/>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8" name="Straight Arrow Connector 7">
              <a:extLst>
                <a:ext uri="{FF2B5EF4-FFF2-40B4-BE49-F238E27FC236}">
                  <a16:creationId xmlns:a16="http://schemas.microsoft.com/office/drawing/2014/main" id="{907B7D31-A373-0B4B-A1B5-F4FD39A2F3C3}"/>
                </a:ext>
              </a:extLst>
            </p:cNvPr>
            <p:cNvCxnSpPr/>
            <p:nvPr/>
          </p:nvCxnSpPr>
          <p:spPr>
            <a:xfrm flipH="1" flipV="1">
              <a:off x="5117431" y="3224463"/>
              <a:ext cx="513348" cy="513348"/>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A45AF06C-D673-CA4F-A51B-93240818CB9A}"/>
              </a:ext>
            </a:extLst>
          </p:cNvPr>
          <p:cNvGrpSpPr/>
          <p:nvPr/>
        </p:nvGrpSpPr>
        <p:grpSpPr>
          <a:xfrm>
            <a:off x="4684295" y="3737810"/>
            <a:ext cx="1982043" cy="1307432"/>
            <a:chOff x="4692316" y="2815389"/>
            <a:chExt cx="1982043" cy="1307432"/>
          </a:xfrm>
        </p:grpSpPr>
        <p:sp>
          <p:nvSpPr>
            <p:cNvPr id="36" name="Oval 35">
              <a:extLst>
                <a:ext uri="{FF2B5EF4-FFF2-40B4-BE49-F238E27FC236}">
                  <a16:creationId xmlns:a16="http://schemas.microsoft.com/office/drawing/2014/main" id="{6B1B5065-4044-F742-9CE7-C6C1E51A71E8}"/>
                </a:ext>
              </a:extLst>
            </p:cNvPr>
            <p:cNvSpPr/>
            <p:nvPr/>
          </p:nvSpPr>
          <p:spPr>
            <a:xfrm>
              <a:off x="6160168" y="3657600"/>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Oval 36">
              <a:extLst>
                <a:ext uri="{FF2B5EF4-FFF2-40B4-BE49-F238E27FC236}">
                  <a16:creationId xmlns:a16="http://schemas.microsoft.com/office/drawing/2014/main" id="{C5F4BEC1-9A8B-BA47-BC77-A5A357B8A4B6}"/>
                </a:ext>
              </a:extLst>
            </p:cNvPr>
            <p:cNvSpPr/>
            <p:nvPr/>
          </p:nvSpPr>
          <p:spPr>
            <a:xfrm>
              <a:off x="4692316" y="2815389"/>
              <a:ext cx="514191" cy="465221"/>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8" name="Straight Arrow Connector 37">
              <a:extLst>
                <a:ext uri="{FF2B5EF4-FFF2-40B4-BE49-F238E27FC236}">
                  <a16:creationId xmlns:a16="http://schemas.microsoft.com/office/drawing/2014/main" id="{1894C7DC-0B9B-5648-ACEB-7945930EE55B}"/>
                </a:ext>
              </a:extLst>
            </p:cNvPr>
            <p:cNvCxnSpPr>
              <a:cxnSpLocks/>
            </p:cNvCxnSpPr>
            <p:nvPr/>
          </p:nvCxnSpPr>
          <p:spPr>
            <a:xfrm flipH="1" flipV="1">
              <a:off x="5165557" y="3224463"/>
              <a:ext cx="970548" cy="521369"/>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Slide Number Placeholder 2">
            <a:extLst>
              <a:ext uri="{FF2B5EF4-FFF2-40B4-BE49-F238E27FC236}">
                <a16:creationId xmlns:a16="http://schemas.microsoft.com/office/drawing/2014/main" id="{951C5C48-402B-A744-B23C-9DA42D7A6E17}"/>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a:t>
            </a:fld>
            <a:endParaRPr lang="en-US" dirty="0"/>
          </a:p>
        </p:txBody>
      </p:sp>
    </p:spTree>
    <p:extLst>
      <p:ext uri="{BB962C8B-B14F-4D97-AF65-F5344CB8AC3E}">
        <p14:creationId xmlns:p14="http://schemas.microsoft.com/office/powerpoint/2010/main" val="267750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4"/>
                                        </p:tgtEl>
                                        <p:attrNameLst>
                                          <p:attrName>style.visibility</p:attrName>
                                        </p:attrNameLst>
                                      </p:cBhvr>
                                      <p:to>
                                        <p:strVal val="visible"/>
                                      </p:to>
                                    </p:set>
                                    <p:animEffect transition="in" filter="dissolve">
                                      <p:cBhvr>
                                        <p:cTn id="11" dur="500"/>
                                        <p:tgtEl>
                                          <p:spTgt spid="134"/>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33"/>
                                        </p:tgtEl>
                                        <p:attrNameLst>
                                          <p:attrName>style.visibility</p:attrName>
                                        </p:attrNameLst>
                                      </p:cBhvr>
                                      <p:to>
                                        <p:strVal val="visible"/>
                                      </p:to>
                                    </p:set>
                                    <p:animEffect transition="in" filter="dissolve">
                                      <p:cBhvr>
                                        <p:cTn id="19" dur="500"/>
                                        <p:tgtEl>
                                          <p:spTgt spid="133"/>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dissolv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xit" presetSubtype="0" fill="hold" nodeType="click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ntr" presetSubtype="0" fill="hold"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dissolve">
                                      <p:cBhvr>
                                        <p:cTn id="3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9" name="Rectangle 1027">
            <a:extLst>
              <a:ext uri="{FF2B5EF4-FFF2-40B4-BE49-F238E27FC236}">
                <a16:creationId xmlns:a16="http://schemas.microsoft.com/office/drawing/2014/main" id="{E2121436-377D-9943-817E-B014539AAB14}"/>
              </a:ext>
            </a:extLst>
          </p:cNvPr>
          <p:cNvSpPr txBox="1">
            <a:spLocks noChangeArrowheads="1"/>
          </p:cNvSpPr>
          <p:nvPr/>
        </p:nvSpPr>
        <p:spPr>
          <a:xfrm>
            <a:off x="673789" y="1393136"/>
            <a:ext cx="521344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1" u="sng" strike="noStrike" kern="1200" cap="none" spc="0" normalizeH="0" baseline="0" noProof="0" dirty="0">
                <a:ln>
                  <a:noFill/>
                </a:ln>
                <a:solidFill>
                  <a:srgbClr val="C00000"/>
                </a:solidFill>
                <a:effectLst/>
                <a:uLnTx/>
                <a:uFillTx/>
                <a:latin typeface="Calibri" panose="020F0502020204030204"/>
                <a:ea typeface="+mn-ea"/>
                <a:cs typeface="+mn-cs"/>
              </a:rPr>
              <a:t>Q:</a:t>
            </a: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to set TCP timeout value?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longer than RTT, but RTT varies!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short:</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premature timeout, unnecessary retransmissions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too long:</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slow reaction to segment loss</a:t>
            </a:r>
          </a:p>
        </p:txBody>
      </p:sp>
      <p:sp>
        <p:nvSpPr>
          <p:cNvPr id="30" name="Rectangle 1028">
            <a:extLst>
              <a:ext uri="{FF2B5EF4-FFF2-40B4-BE49-F238E27FC236}">
                <a16:creationId xmlns:a16="http://schemas.microsoft.com/office/drawing/2014/main" id="{EBDCCB72-DE33-3D44-BBEA-E4C6F08C3D8E}"/>
              </a:ext>
            </a:extLst>
          </p:cNvPr>
          <p:cNvSpPr txBox="1">
            <a:spLocks noChangeArrowheads="1"/>
          </p:cNvSpPr>
          <p:nvPr/>
        </p:nvSpPr>
        <p:spPr>
          <a:xfrm>
            <a:off x="6258838" y="1393136"/>
            <a:ext cx="5565913"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1"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Q</a:t>
            </a:r>
            <a:r>
              <a:rPr kumimoji="0" lang="en-US" altLang="en-US" sz="3200" b="0" i="0" u="sng"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t>
            </a: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how to estimate RTT?</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000099"/>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measured time from segment transmission until ACK receipt</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ignore retransmissions</a:t>
            </a:r>
          </a:p>
          <a:p>
            <a:pPr marL="352425" marR="0" lvl="0" indent="-2222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r>
              <a:rPr kumimoji="0" lang="en-US" altLang="en-US" sz="2800" b="0" i="0" u="none" strike="noStrike" kern="1200" cap="none" spc="0" normalizeH="0" baseline="0" noProof="0" dirty="0">
                <a:ln>
                  <a:noFill/>
                </a:ln>
                <a:solidFill>
                  <a:srgbClr val="0000A8"/>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will vary, want estimated RTT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smoother</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endPar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average several </a:t>
            </a:r>
            <a:r>
              <a:rPr kumimoji="0" lang="en-US" altLang="en-US" sz="24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recent</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measurements, not just current </a:t>
            </a:r>
            <a:r>
              <a:rPr kumimoji="0" lang="en-US" altLang="en-US" sz="2400" b="0" i="0" u="none" strike="noStrike" kern="1200" cap="none" spc="0" normalizeH="0" baseline="0" noProof="0" dirty="0">
                <a:ln>
                  <a:noFill/>
                </a:ln>
                <a:solidFill>
                  <a:srgbClr val="0000A3"/>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SampleRTT</a:t>
            </a:r>
          </a:p>
        </p:txBody>
      </p:sp>
      <p:sp>
        <p:nvSpPr>
          <p:cNvPr id="5" name="Slide Number Placeholder 2">
            <a:extLst>
              <a:ext uri="{FF2B5EF4-FFF2-40B4-BE49-F238E27FC236}">
                <a16:creationId xmlns:a16="http://schemas.microsoft.com/office/drawing/2014/main" id="{969C69A2-4389-474B-8FF4-E0D66DDE428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414990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3F844AE2-7CBB-B241-ABD8-7F7D48828D4B}"/>
              </a:ext>
            </a:extLst>
          </p:cNvPr>
          <p:cNvSpPr/>
          <p:nvPr/>
        </p:nvSpPr>
        <p:spPr>
          <a:xfrm>
            <a:off x="876300" y="1261543"/>
            <a:ext cx="8974869"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28" name="Text Box 3">
            <a:extLst>
              <a:ext uri="{FF2B5EF4-FFF2-40B4-BE49-F238E27FC236}">
                <a16:creationId xmlns:a16="http://schemas.microsoft.com/office/drawing/2014/main" id="{6466E19A-B1DF-1A42-B002-F49CA04A4C03}"/>
              </a:ext>
            </a:extLst>
          </p:cNvPr>
          <p:cNvSpPr txBox="1">
            <a:spLocks noChangeArrowheads="1"/>
          </p:cNvSpPr>
          <p:nvPr/>
        </p:nvSpPr>
        <p:spPr bwMode="auto">
          <a:xfrm>
            <a:off x="876300" y="1246817"/>
            <a:ext cx="9052479"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(1-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*SampleRTT</a:t>
            </a:r>
          </a:p>
        </p:txBody>
      </p:sp>
      <p:sp>
        <p:nvSpPr>
          <p:cNvPr id="31" name="Rectangle 4">
            <a:extLst>
              <a:ext uri="{FF2B5EF4-FFF2-40B4-BE49-F238E27FC236}">
                <a16:creationId xmlns:a16="http://schemas.microsoft.com/office/drawing/2014/main" id="{4A4474B4-4EC5-0C4B-8B43-3433BA1CD706}"/>
              </a:ext>
            </a:extLst>
          </p:cNvPr>
          <p:cNvSpPr>
            <a:spLocks noChangeArrowheads="1"/>
          </p:cNvSpPr>
          <p:nvPr/>
        </p:nvSpPr>
        <p:spPr bwMode="auto">
          <a:xfrm>
            <a:off x="951602" y="1857328"/>
            <a:ext cx="7067550" cy="14244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e</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xponential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w</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eighted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oving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verage (EWMA)</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influence of past sample decreases exponentially fast</a:t>
            </a:r>
          </a:p>
          <a:p>
            <a:pPr marL="292100" marR="0" lvl="0" indent="-292100"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typical value: </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 </a:t>
            </a:r>
            <a:r>
              <a:rPr kumimoji="0" lang="en-US" sz="2400" b="1"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0.125</a:t>
            </a:r>
          </a:p>
        </p:txBody>
      </p:sp>
      <p:grpSp>
        <p:nvGrpSpPr>
          <p:cNvPr id="5" name="Group 4">
            <a:extLst>
              <a:ext uri="{FF2B5EF4-FFF2-40B4-BE49-F238E27FC236}">
                <a16:creationId xmlns:a16="http://schemas.microsoft.com/office/drawing/2014/main" id="{F081A723-2F83-4149-BCD6-BF02F3F3BE24}"/>
              </a:ext>
            </a:extLst>
          </p:cNvPr>
          <p:cNvGrpSpPr/>
          <p:nvPr/>
        </p:nvGrpSpPr>
        <p:grpSpPr>
          <a:xfrm>
            <a:off x="4673229" y="2443135"/>
            <a:ext cx="6448425" cy="4292600"/>
            <a:chOff x="1531938" y="2565400"/>
            <a:chExt cx="6448425" cy="4292600"/>
          </a:xfrm>
        </p:grpSpPr>
        <p:grpSp>
          <p:nvGrpSpPr>
            <p:cNvPr id="25" name="Group 14">
              <a:extLst>
                <a:ext uri="{FF2B5EF4-FFF2-40B4-BE49-F238E27FC236}">
                  <a16:creationId xmlns:a16="http://schemas.microsoft.com/office/drawing/2014/main" id="{B47CB747-71BF-F246-8D51-35EDB4E56B20}"/>
                </a:ext>
              </a:extLst>
            </p:cNvPr>
            <p:cNvGrpSpPr>
              <a:grpSpLocks/>
            </p:cNvGrpSpPr>
            <p:nvPr/>
          </p:nvGrpSpPr>
          <p:grpSpPr bwMode="auto">
            <a:xfrm>
              <a:off x="1708150" y="2565400"/>
              <a:ext cx="6272213" cy="4292600"/>
              <a:chOff x="782" y="1865"/>
              <a:chExt cx="3951" cy="2704"/>
            </a:xfrm>
          </p:grpSpPr>
          <p:pic>
            <p:nvPicPr>
              <p:cNvPr id="26" name="Picture 12">
                <a:extLst>
                  <a:ext uri="{FF2B5EF4-FFF2-40B4-BE49-F238E27FC236}">
                    <a16:creationId xmlns:a16="http://schemas.microsoft.com/office/drawing/2014/main" id="{1B79C964-96AD-AA4A-B4CF-C6377C29E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13">
                <a:extLst>
                  <a:ext uri="{FF2B5EF4-FFF2-40B4-BE49-F238E27FC236}">
                    <a16:creationId xmlns:a16="http://schemas.microsoft.com/office/drawing/2014/main" id="{92FABEFD-E51C-0A49-A008-5D94B930D232}"/>
                  </a:ext>
                </a:extLst>
              </p:cNvPr>
              <p:cNvSpPr>
                <a:spLocks noChangeArrowheads="1"/>
              </p:cNvSpPr>
              <p:nvPr/>
            </p:nvSpPr>
            <p:spPr bwMode="auto">
              <a:xfrm>
                <a:off x="2070" y="1926"/>
                <a:ext cx="1404" cy="16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 name="Text Box 18">
              <a:extLst>
                <a:ext uri="{FF2B5EF4-FFF2-40B4-BE49-F238E27FC236}">
                  <a16:creationId xmlns:a16="http://schemas.microsoft.com/office/drawing/2014/main" id="{F9CA757D-88CC-BF41-8C8F-6A16BC6C043B}"/>
                </a:ext>
              </a:extLst>
            </p:cNvPr>
            <p:cNvSpPr txBox="1">
              <a:spLocks noChangeArrowheads="1"/>
            </p:cNvSpPr>
            <p:nvPr/>
          </p:nvSpPr>
          <p:spPr bwMode="auto">
            <a:xfrm rot="10800000">
              <a:off x="1531938" y="3535363"/>
              <a:ext cx="428625" cy="17478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RTT (milliseconds)</a:t>
              </a:r>
            </a:p>
          </p:txBody>
        </p:sp>
        <p:sp>
          <p:nvSpPr>
            <p:cNvPr id="33" name="Text Box 19">
              <a:extLst>
                <a:ext uri="{FF2B5EF4-FFF2-40B4-BE49-F238E27FC236}">
                  <a16:creationId xmlns:a16="http://schemas.microsoft.com/office/drawing/2014/main" id="{5783915F-0896-D04A-9D0B-BE930F53923F}"/>
                </a:ext>
              </a:extLst>
            </p:cNvPr>
            <p:cNvSpPr txBox="1">
              <a:spLocks noChangeArrowheads="1"/>
            </p:cNvSpPr>
            <p:nvPr/>
          </p:nvSpPr>
          <p:spPr bwMode="auto">
            <a:xfrm>
              <a:off x="2265363" y="3168650"/>
              <a:ext cx="3867150" cy="3048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RTT:</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gaia.cs.umass.edu</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to</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fantasia.eurecom.fr</a:t>
              </a:r>
            </a:p>
          </p:txBody>
        </p:sp>
        <p:sp>
          <p:nvSpPr>
            <p:cNvPr id="34" name="Text Box 20">
              <a:extLst>
                <a:ext uri="{FF2B5EF4-FFF2-40B4-BE49-F238E27FC236}">
                  <a16:creationId xmlns:a16="http://schemas.microsoft.com/office/drawing/2014/main" id="{FDF3CC5E-05FF-9348-AFEA-B37BF0709D00}"/>
                </a:ext>
              </a:extLst>
            </p:cNvPr>
            <p:cNvSpPr txBox="1">
              <a:spLocks noChangeArrowheads="1"/>
            </p:cNvSpPr>
            <p:nvPr/>
          </p:nvSpPr>
          <p:spPr bwMode="auto">
            <a:xfrm>
              <a:off x="6221413" y="5230813"/>
              <a:ext cx="11811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sampleRTT</a:t>
              </a:r>
            </a:p>
          </p:txBody>
        </p:sp>
        <p:sp>
          <p:nvSpPr>
            <p:cNvPr id="35" name="Text Box 21">
              <a:extLst>
                <a:ext uri="{FF2B5EF4-FFF2-40B4-BE49-F238E27FC236}">
                  <a16:creationId xmlns:a16="http://schemas.microsoft.com/office/drawing/2014/main" id="{F17B9932-059C-5C46-AFDC-5141617F4B50}"/>
                </a:ext>
              </a:extLst>
            </p:cNvPr>
            <p:cNvSpPr txBox="1">
              <a:spLocks noChangeArrowheads="1"/>
            </p:cNvSpPr>
            <p:nvPr/>
          </p:nvSpPr>
          <p:spPr bwMode="auto">
            <a:xfrm>
              <a:off x="6215063" y="5548313"/>
              <a:ext cx="14319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EstimatedRTT</a:t>
              </a:r>
            </a:p>
          </p:txBody>
        </p:sp>
        <p:sp>
          <p:nvSpPr>
            <p:cNvPr id="36" name="AutoShape 22">
              <a:extLst>
                <a:ext uri="{FF2B5EF4-FFF2-40B4-BE49-F238E27FC236}">
                  <a16:creationId xmlns:a16="http://schemas.microsoft.com/office/drawing/2014/main" id="{5C984DD6-69E3-6841-B32A-69B38C890B14}"/>
                </a:ext>
              </a:extLst>
            </p:cNvPr>
            <p:cNvSpPr>
              <a:spLocks noChangeArrowheads="1"/>
            </p:cNvSpPr>
            <p:nvPr/>
          </p:nvSpPr>
          <p:spPr bwMode="auto">
            <a:xfrm>
              <a:off x="6005513" y="5343525"/>
              <a:ext cx="147637" cy="142875"/>
            </a:xfrm>
            <a:prstGeom prst="diamond">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AutoShape 23">
              <a:extLst>
                <a:ext uri="{FF2B5EF4-FFF2-40B4-BE49-F238E27FC236}">
                  <a16:creationId xmlns:a16="http://schemas.microsoft.com/office/drawing/2014/main" id="{949FCF6B-A257-E540-8887-09B596633DCF}"/>
                </a:ext>
              </a:extLst>
            </p:cNvPr>
            <p:cNvSpPr>
              <a:spLocks noChangeArrowheads="1"/>
            </p:cNvSpPr>
            <p:nvPr/>
          </p:nvSpPr>
          <p:spPr bwMode="auto">
            <a:xfrm rot="2776382">
              <a:off x="6011069" y="5633244"/>
              <a:ext cx="147637" cy="142875"/>
            </a:xfrm>
            <a:prstGeom prst="diamond">
              <a:avLst/>
            </a:prstGeom>
            <a:solidFill>
              <a:srgbClr val="FF66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Rectangle 24">
              <a:extLst>
                <a:ext uri="{FF2B5EF4-FFF2-40B4-BE49-F238E27FC236}">
                  <a16:creationId xmlns:a16="http://schemas.microsoft.com/office/drawing/2014/main" id="{1C4D877B-9F3D-6342-9DFB-B8DAC5F2E1C6}"/>
                </a:ext>
              </a:extLst>
            </p:cNvPr>
            <p:cNvSpPr>
              <a:spLocks noChangeArrowheads="1"/>
            </p:cNvSpPr>
            <p:nvPr/>
          </p:nvSpPr>
          <p:spPr bwMode="auto">
            <a:xfrm>
              <a:off x="4108450" y="6389688"/>
              <a:ext cx="1863725" cy="46831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 name="Group 15">
              <a:extLst>
                <a:ext uri="{FF2B5EF4-FFF2-40B4-BE49-F238E27FC236}">
                  <a16:creationId xmlns:a16="http://schemas.microsoft.com/office/drawing/2014/main" id="{46A7C35C-F55E-D448-9F19-A868DE731AA0}"/>
                </a:ext>
              </a:extLst>
            </p:cNvPr>
            <p:cNvGrpSpPr>
              <a:grpSpLocks/>
            </p:cNvGrpSpPr>
            <p:nvPr/>
          </p:nvGrpSpPr>
          <p:grpSpPr bwMode="auto">
            <a:xfrm>
              <a:off x="4041775" y="6386513"/>
              <a:ext cx="1512888" cy="336550"/>
              <a:chOff x="2343" y="3645"/>
              <a:chExt cx="953" cy="212"/>
            </a:xfrm>
          </p:grpSpPr>
          <p:sp>
            <p:nvSpPr>
              <p:cNvPr id="40" name="Rectangle 16">
                <a:extLst>
                  <a:ext uri="{FF2B5EF4-FFF2-40B4-BE49-F238E27FC236}">
                    <a16:creationId xmlns:a16="http://schemas.microsoft.com/office/drawing/2014/main" id="{76A5B688-5F66-A646-903E-26608C06EFAA}"/>
                  </a:ext>
                </a:extLst>
              </p:cNvPr>
              <p:cNvSpPr>
                <a:spLocks noChangeArrowheads="1"/>
              </p:cNvSpPr>
              <p:nvPr/>
            </p:nvSpPr>
            <p:spPr bwMode="auto">
              <a:xfrm>
                <a:off x="2592" y="3695"/>
                <a:ext cx="527" cy="9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 name="Text Box 17">
                <a:extLst>
                  <a:ext uri="{FF2B5EF4-FFF2-40B4-BE49-F238E27FC236}">
                    <a16:creationId xmlns:a16="http://schemas.microsoft.com/office/drawing/2014/main" id="{9530FDC0-AF61-1C41-8AC4-6B29BC1A8D3C}"/>
                  </a:ext>
                </a:extLst>
              </p:cNvPr>
              <p:cNvSpPr txBox="1">
                <a:spLocks noChangeArrowheads="1"/>
              </p:cNvSpPr>
              <p:nvPr/>
            </p:nvSpPr>
            <p:spPr bwMode="auto">
              <a:xfrm>
                <a:off x="2343" y="3645"/>
                <a:ext cx="95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time (seconds)</a:t>
                </a:r>
              </a:p>
            </p:txBody>
          </p:sp>
        </p:grpSp>
      </p:grpSp>
      <p:sp>
        <p:nvSpPr>
          <p:cNvPr id="20" name="Slide Number Placeholder 2">
            <a:extLst>
              <a:ext uri="{FF2B5EF4-FFF2-40B4-BE49-F238E27FC236}">
                <a16:creationId xmlns:a16="http://schemas.microsoft.com/office/drawing/2014/main" id="{80D2031C-D174-0C4C-B2D2-3D6ED624031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388983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round trip time, timeout</a:t>
            </a:r>
            <a:endParaRPr lang="en-US" sz="4400" b="0" dirty="0"/>
          </a:p>
        </p:txBody>
      </p:sp>
      <p:sp>
        <p:nvSpPr>
          <p:cNvPr id="59" name="Rectangle 5">
            <a:extLst>
              <a:ext uri="{FF2B5EF4-FFF2-40B4-BE49-F238E27FC236}">
                <a16:creationId xmlns:a16="http://schemas.microsoft.com/office/drawing/2014/main" id="{818E497C-5ADD-8648-BF4A-762A1B89120F}"/>
              </a:ext>
            </a:extLst>
          </p:cNvPr>
          <p:cNvSpPr txBox="1">
            <a:spLocks noChangeArrowheads="1"/>
          </p:cNvSpPr>
          <p:nvPr/>
        </p:nvSpPr>
        <p:spPr>
          <a:xfrm>
            <a:off x="635138" y="1537841"/>
            <a:ext cx="11327678" cy="11291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timeout interval:</a:t>
            </a:r>
            <a:r>
              <a:rPr kumimoji="0" lang="en-US" altLang="en-US" sz="2800" b="1"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plus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safety margin”</a:t>
            </a:r>
          </a:p>
          <a:p>
            <a:pPr marL="695325" marR="0" lvl="1" indent="-231775" algn="l" defTabSz="914400" rtl="0" eaLnBrk="1" fontAlgn="auto" latinLnBrk="0" hangingPunct="1">
              <a:lnSpc>
                <a:spcPct val="90000"/>
              </a:lnSpc>
              <a:spcBef>
                <a:spcPts val="10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large variation in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 a larger safety margin</a:t>
            </a:r>
          </a:p>
        </p:txBody>
      </p:sp>
      <p:grpSp>
        <p:nvGrpSpPr>
          <p:cNvPr id="5" name="Group 4">
            <a:extLst>
              <a:ext uri="{FF2B5EF4-FFF2-40B4-BE49-F238E27FC236}">
                <a16:creationId xmlns:a16="http://schemas.microsoft.com/office/drawing/2014/main" id="{98DFD149-D3B6-7049-8FD3-A4E0D481C064}"/>
              </a:ext>
            </a:extLst>
          </p:cNvPr>
          <p:cNvGrpSpPr/>
          <p:nvPr/>
        </p:nvGrpSpPr>
        <p:grpSpPr>
          <a:xfrm>
            <a:off x="1061454" y="2679700"/>
            <a:ext cx="9532485" cy="1193800"/>
            <a:chOff x="858254" y="2667000"/>
            <a:chExt cx="9532485" cy="1193800"/>
          </a:xfrm>
        </p:grpSpPr>
        <p:sp>
          <p:nvSpPr>
            <p:cNvPr id="70" name="Rectangle 69">
              <a:extLst>
                <a:ext uri="{FF2B5EF4-FFF2-40B4-BE49-F238E27FC236}">
                  <a16:creationId xmlns:a16="http://schemas.microsoft.com/office/drawing/2014/main" id="{6D78BD41-D638-4D4B-B561-317912C0037E}"/>
                </a:ext>
              </a:extLst>
            </p:cNvPr>
            <p:cNvSpPr/>
            <p:nvPr/>
          </p:nvSpPr>
          <p:spPr>
            <a:xfrm>
              <a:off x="858254" y="2667000"/>
              <a:ext cx="9532485"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Rectangle 13">
              <a:extLst>
                <a:ext uri="{FF2B5EF4-FFF2-40B4-BE49-F238E27FC236}">
                  <a16:creationId xmlns:a16="http://schemas.microsoft.com/office/drawing/2014/main" id="{13338CC9-61FA-4847-87D5-4B4830DB87F4}"/>
                </a:ext>
              </a:extLst>
            </p:cNvPr>
            <p:cNvSpPr>
              <a:spLocks noChangeArrowheads="1"/>
            </p:cNvSpPr>
            <p:nvPr/>
          </p:nvSpPr>
          <p:spPr bwMode="auto">
            <a:xfrm>
              <a:off x="859979" y="2701243"/>
              <a:ext cx="7918450" cy="692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TimeoutInterval = EstimatedRTT + 4*DevRTT</a:t>
              </a:r>
            </a:p>
          </p:txBody>
        </p:sp>
        <p:sp>
          <p:nvSpPr>
            <p:cNvPr id="63" name="Text Box 14">
              <a:extLst>
                <a:ext uri="{FF2B5EF4-FFF2-40B4-BE49-F238E27FC236}">
                  <a16:creationId xmlns:a16="http://schemas.microsoft.com/office/drawing/2014/main" id="{29ECD817-A810-F04B-85CA-8D6E49B8D6DC}"/>
                </a:ext>
              </a:extLst>
            </p:cNvPr>
            <p:cNvSpPr txBox="1">
              <a:spLocks noChangeArrowheads="1"/>
            </p:cNvSpPr>
            <p:nvPr/>
          </p:nvSpPr>
          <p:spPr bwMode="auto">
            <a:xfrm>
              <a:off x="4304854" y="3442606"/>
              <a:ext cx="18113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99"/>
                  </a:solidFill>
                  <a:effectLst/>
                  <a:uLnTx/>
                  <a:uFillTx/>
                  <a:latin typeface="Tahoma" charset="0"/>
                  <a:ea typeface="ＭＳ Ｐゴシック" charset="0"/>
                  <a:cs typeface="+mn-cs"/>
                </a:rPr>
                <a:t>estimated RTT</a:t>
              </a:r>
            </a:p>
          </p:txBody>
        </p:sp>
        <p:sp>
          <p:nvSpPr>
            <p:cNvPr id="64" name="Text Box 16">
              <a:extLst>
                <a:ext uri="{FF2B5EF4-FFF2-40B4-BE49-F238E27FC236}">
                  <a16:creationId xmlns:a16="http://schemas.microsoft.com/office/drawing/2014/main" id="{B6E79AC7-559E-CA4D-B400-169E15D6448A}"/>
                </a:ext>
              </a:extLst>
            </p:cNvPr>
            <p:cNvSpPr txBox="1">
              <a:spLocks noChangeArrowheads="1"/>
            </p:cNvSpPr>
            <p:nvPr/>
          </p:nvSpPr>
          <p:spPr bwMode="auto">
            <a:xfrm>
              <a:off x="6736904" y="3461656"/>
              <a:ext cx="191770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65" name="Line 17">
              <a:extLst>
                <a:ext uri="{FF2B5EF4-FFF2-40B4-BE49-F238E27FC236}">
                  <a16:creationId xmlns:a16="http://schemas.microsoft.com/office/drawing/2014/main" id="{FF049043-4FEA-C546-ADC2-E314E7D23CA5}"/>
                </a:ext>
              </a:extLst>
            </p:cNvPr>
            <p:cNvSpPr>
              <a:spLocks noChangeShapeType="1"/>
            </p:cNvSpPr>
            <p:nvPr/>
          </p:nvSpPr>
          <p:spPr bwMode="auto">
            <a:xfrm flipV="1">
              <a:off x="5101779" y="3082243"/>
              <a:ext cx="0" cy="44608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66" name="Line 19">
              <a:extLst>
                <a:ext uri="{FF2B5EF4-FFF2-40B4-BE49-F238E27FC236}">
                  <a16:creationId xmlns:a16="http://schemas.microsoft.com/office/drawing/2014/main" id="{F55903EC-FD0A-654A-913F-52F13FFBE690}"/>
                </a:ext>
              </a:extLst>
            </p:cNvPr>
            <p:cNvSpPr>
              <a:spLocks noChangeShapeType="1"/>
            </p:cNvSpPr>
            <p:nvPr/>
          </p:nvSpPr>
          <p:spPr bwMode="auto">
            <a:xfrm flipV="1">
              <a:off x="7673529" y="3088593"/>
              <a:ext cx="0" cy="446088"/>
            </a:xfrm>
            <a:prstGeom prst="line">
              <a:avLst/>
            </a:prstGeom>
            <a:noFill/>
            <a:ln w="190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pic>
          <p:nvPicPr>
            <p:cNvPr id="67" name="Picture 20" descr="alarm_clock_ringing">
              <a:extLst>
                <a:ext uri="{FF2B5EF4-FFF2-40B4-BE49-F238E27FC236}">
                  <a16:creationId xmlns:a16="http://schemas.microsoft.com/office/drawing/2014/main" id="{DF906935-706B-2B43-B876-CAD3FE51C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043" y="3238052"/>
              <a:ext cx="646558" cy="62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8" name="TextBox 1">
            <a:extLst>
              <a:ext uri="{FF2B5EF4-FFF2-40B4-BE49-F238E27FC236}">
                <a16:creationId xmlns:a16="http://schemas.microsoft.com/office/drawing/2014/main" id="{04CEDEED-587A-DF46-A338-0F70AC9A28A9}"/>
              </a:ext>
            </a:extLst>
          </p:cNvPr>
          <p:cNvSpPr txBox="1">
            <a:spLocks noChangeArrowheads="1"/>
          </p:cNvSpPr>
          <p:nvPr/>
        </p:nvSpPr>
        <p:spPr bwMode="auto">
          <a:xfrm>
            <a:off x="876300" y="6343507"/>
            <a:ext cx="100186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ttp://gaia.cs.umass.edu/kurose_ross/interactive/</a:t>
            </a:r>
          </a:p>
        </p:txBody>
      </p:sp>
      <p:grpSp>
        <p:nvGrpSpPr>
          <p:cNvPr id="4" name="Group 3">
            <a:extLst>
              <a:ext uri="{FF2B5EF4-FFF2-40B4-BE49-F238E27FC236}">
                <a16:creationId xmlns:a16="http://schemas.microsoft.com/office/drawing/2014/main" id="{32E77073-7604-A04F-8597-12BF5941CCE7}"/>
              </a:ext>
            </a:extLst>
          </p:cNvPr>
          <p:cNvGrpSpPr/>
          <p:nvPr/>
        </p:nvGrpSpPr>
        <p:grpSpPr>
          <a:xfrm>
            <a:off x="1304479" y="4827690"/>
            <a:ext cx="10446405" cy="940044"/>
            <a:chOff x="1837879" y="3151290"/>
            <a:chExt cx="10446405" cy="940044"/>
          </a:xfrm>
        </p:grpSpPr>
        <p:sp>
          <p:nvSpPr>
            <p:cNvPr id="69" name="Rectangle 68">
              <a:extLst>
                <a:ext uri="{FF2B5EF4-FFF2-40B4-BE49-F238E27FC236}">
                  <a16:creationId xmlns:a16="http://schemas.microsoft.com/office/drawing/2014/main" id="{6D88E7C6-ABA1-FA45-A2D5-10F964EB5DB8}"/>
                </a:ext>
              </a:extLst>
            </p:cNvPr>
            <p:cNvSpPr/>
            <p:nvPr/>
          </p:nvSpPr>
          <p:spPr>
            <a:xfrm>
              <a:off x="1837879" y="3151290"/>
              <a:ext cx="9532486" cy="5222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Text Box 7">
              <a:extLst>
                <a:ext uri="{FF2B5EF4-FFF2-40B4-BE49-F238E27FC236}">
                  <a16:creationId xmlns:a16="http://schemas.microsoft.com/office/drawing/2014/main" id="{2F6AE672-95B4-DF44-B435-567781B49E2D}"/>
                </a:ext>
              </a:extLst>
            </p:cNvPr>
            <p:cNvSpPr txBox="1">
              <a:spLocks noChangeArrowheads="1"/>
            </p:cNvSpPr>
            <p:nvPr/>
          </p:nvSpPr>
          <p:spPr bwMode="auto">
            <a:xfrm>
              <a:off x="1837879" y="3151831"/>
              <a:ext cx="10018644" cy="46166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(1-</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*|SampleRTT-EstimatedRTT|</a:t>
              </a:r>
            </a:p>
          </p:txBody>
        </p:sp>
        <p:sp>
          <p:nvSpPr>
            <p:cNvPr id="61" name="Text Box 12">
              <a:extLst>
                <a:ext uri="{FF2B5EF4-FFF2-40B4-BE49-F238E27FC236}">
                  <a16:creationId xmlns:a16="http://schemas.microsoft.com/office/drawing/2014/main" id="{D33A459F-5B30-B942-A281-437341BBF16B}"/>
                </a:ext>
              </a:extLst>
            </p:cNvPr>
            <p:cNvSpPr txBox="1">
              <a:spLocks noChangeArrowheads="1"/>
            </p:cNvSpPr>
            <p:nvPr/>
          </p:nvSpPr>
          <p:spPr bwMode="auto">
            <a:xfrm>
              <a:off x="8898147" y="3694459"/>
              <a:ext cx="3386137"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(typically, </a:t>
              </a:r>
              <a:r>
                <a:rPr kumimoji="0" lang="en-US" sz="2000" b="0"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0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sym typeface="Symbol" charset="0"/>
                </a:rPr>
                <a:t>= 0.25)</a:t>
              </a:r>
            </a:p>
          </p:txBody>
        </p:sp>
      </p:grpSp>
      <p:sp>
        <p:nvSpPr>
          <p:cNvPr id="16" name="Rectangle 5">
            <a:extLst>
              <a:ext uri="{FF2B5EF4-FFF2-40B4-BE49-F238E27FC236}">
                <a16:creationId xmlns:a16="http://schemas.microsoft.com/office/drawing/2014/main" id="{4DBD9BE8-0206-984D-9734-DB015980BF63}"/>
              </a:ext>
            </a:extLst>
          </p:cNvPr>
          <p:cNvSpPr txBox="1">
            <a:spLocks noChangeArrowheads="1"/>
          </p:cNvSpPr>
          <p:nvPr/>
        </p:nvSpPr>
        <p:spPr>
          <a:xfrm>
            <a:off x="660538" y="4192141"/>
            <a:ext cx="11327678" cy="5449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DevRTT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EWMA of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SampleRTT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deviation from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p:txBody>
      </p:sp>
      <p:sp>
        <p:nvSpPr>
          <p:cNvPr id="18" name="Slide Number Placeholder 2">
            <a:extLst>
              <a:ext uri="{FF2B5EF4-FFF2-40B4-BE49-F238E27FC236}">
                <a16:creationId xmlns:a16="http://schemas.microsoft.com/office/drawing/2014/main" id="{0FC6F86E-C16B-C949-B055-1DD32A86010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Tree>
    <p:extLst>
      <p:ext uri="{BB962C8B-B14F-4D97-AF65-F5344CB8AC3E}">
        <p14:creationId xmlns:p14="http://schemas.microsoft.com/office/powerpoint/2010/main" val="139230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7865B-C205-00A2-A20C-CFCD9AFEA93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77219B9-AA56-EA4D-D1EA-FC76E5AF9FC7}"/>
              </a:ext>
            </a:extLst>
          </p:cNvPr>
          <p:cNvSpPr>
            <a:spLocks noGrp="1"/>
          </p:cNvSpPr>
          <p:nvPr>
            <p:ph sz="half" idx="1"/>
          </p:nvPr>
        </p:nvSpPr>
        <p:spPr>
          <a:xfrm>
            <a:off x="838200" y="1825625"/>
            <a:ext cx="10515600" cy="4351338"/>
          </a:xfrm>
        </p:spPr>
        <p:txBody>
          <a:bodyPr>
            <a:normAutofit lnSpcReduction="10000"/>
          </a:bodyPr>
          <a:lstStyle/>
          <a:p>
            <a:r>
              <a:rPr lang="en-US" sz="1900" dirty="0"/>
              <a:t>Suppose that TCP's current estimated values for the round trip time (</a:t>
            </a:r>
            <a:r>
              <a:rPr lang="en-US" sz="1900" dirty="0" err="1"/>
              <a:t>estimatedRTT</a:t>
            </a:r>
            <a:r>
              <a:rPr lang="en-US" sz="1900" dirty="0"/>
              <a:t>) and deviation in the RTT (</a:t>
            </a:r>
            <a:r>
              <a:rPr lang="en-US" sz="1900" dirty="0" err="1"/>
              <a:t>DevRTT</a:t>
            </a:r>
            <a:r>
              <a:rPr lang="en-US" sz="1900" dirty="0"/>
              <a:t>) are 370 msec and 45 msec, respectively. Suppose that the next three measured values of the RTT are 380 msec, 390 msec, and 340 msec respectively.</a:t>
            </a:r>
          </a:p>
          <a:p>
            <a:r>
              <a:rPr lang="en-US" sz="1900" dirty="0"/>
              <a:t>Use the values of α = 0.125, and β = 0.25. Round your answers to two decimal places after leading zeros.</a:t>
            </a:r>
          </a:p>
          <a:p>
            <a:pPr marL="130175" indent="0">
              <a:buNone/>
            </a:pPr>
            <a:r>
              <a:rPr lang="en-US" sz="1500" dirty="0"/>
              <a:t>1. What is the </a:t>
            </a:r>
            <a:r>
              <a:rPr lang="en-US" sz="1500" dirty="0" err="1"/>
              <a:t>estimatedRTT</a:t>
            </a:r>
            <a:r>
              <a:rPr lang="en-US" sz="1500" dirty="0"/>
              <a:t> after the first RTT?</a:t>
            </a:r>
          </a:p>
          <a:p>
            <a:pPr marL="130175" indent="0">
              <a:buNone/>
            </a:pPr>
            <a:r>
              <a:rPr lang="en-US" sz="1500" dirty="0"/>
              <a:t>2. What is the RTT Deviation for the </a:t>
            </a:r>
            <a:r>
              <a:rPr lang="en-US" sz="1500" dirty="0" err="1"/>
              <a:t>the</a:t>
            </a:r>
            <a:r>
              <a:rPr lang="en-US" sz="1500" dirty="0"/>
              <a:t> first RTT?</a:t>
            </a:r>
          </a:p>
          <a:p>
            <a:pPr marL="130175" indent="0">
              <a:buNone/>
            </a:pPr>
            <a:r>
              <a:rPr lang="en-US" sz="1500" dirty="0"/>
              <a:t>3. What is the TCP timeout for the first RTT?</a:t>
            </a:r>
          </a:p>
          <a:p>
            <a:pPr marL="130175" indent="0">
              <a:buNone/>
            </a:pPr>
            <a:r>
              <a:rPr lang="en-US" sz="1500" dirty="0"/>
              <a:t>4. What is the </a:t>
            </a:r>
            <a:r>
              <a:rPr lang="en-US" sz="1500" dirty="0" err="1"/>
              <a:t>estimatedRTT</a:t>
            </a:r>
            <a:r>
              <a:rPr lang="en-US" sz="1500" dirty="0"/>
              <a:t> after the second RTT?</a:t>
            </a:r>
          </a:p>
          <a:p>
            <a:pPr marL="130175" indent="0">
              <a:buNone/>
            </a:pPr>
            <a:r>
              <a:rPr lang="en-US" sz="1500" dirty="0"/>
              <a:t>5. What is the RTT Deviation for the </a:t>
            </a:r>
            <a:r>
              <a:rPr lang="en-US" sz="1500" dirty="0" err="1"/>
              <a:t>the</a:t>
            </a:r>
            <a:r>
              <a:rPr lang="en-US" sz="1500" dirty="0"/>
              <a:t> second RTT?</a:t>
            </a:r>
          </a:p>
          <a:p>
            <a:pPr marL="130175" indent="0">
              <a:buNone/>
            </a:pPr>
            <a:r>
              <a:rPr lang="en-US" sz="1500" dirty="0"/>
              <a:t>6. What is the TCP timeout for the second RTT?</a:t>
            </a:r>
          </a:p>
          <a:p>
            <a:pPr marL="130175" indent="0">
              <a:buNone/>
            </a:pPr>
            <a:r>
              <a:rPr lang="en-US" sz="1500" dirty="0"/>
              <a:t>7. What is the </a:t>
            </a:r>
            <a:r>
              <a:rPr lang="en-US" sz="1500" dirty="0" err="1"/>
              <a:t>estimatedRTT</a:t>
            </a:r>
            <a:r>
              <a:rPr lang="en-US" sz="1500" dirty="0"/>
              <a:t> after the third RTT?</a:t>
            </a:r>
          </a:p>
          <a:p>
            <a:pPr marL="130175" indent="0">
              <a:buNone/>
            </a:pPr>
            <a:r>
              <a:rPr lang="en-US" sz="1500" dirty="0"/>
              <a:t>8. What is the RTT Deviation for the </a:t>
            </a:r>
            <a:r>
              <a:rPr lang="en-US" sz="1500" dirty="0" err="1"/>
              <a:t>the</a:t>
            </a:r>
            <a:r>
              <a:rPr lang="en-US" sz="1500" dirty="0"/>
              <a:t> third RTT?</a:t>
            </a:r>
          </a:p>
          <a:p>
            <a:pPr marL="130175" indent="0">
              <a:buNone/>
            </a:pPr>
            <a:r>
              <a:rPr lang="en-US" sz="1500" dirty="0"/>
              <a:t>9. What is the TCP timeout for the third RTT?</a:t>
            </a:r>
          </a:p>
          <a:p>
            <a:endParaRPr lang="en-US" sz="1800" dirty="0"/>
          </a:p>
        </p:txBody>
      </p:sp>
      <p:sp>
        <p:nvSpPr>
          <p:cNvPr id="5" name="Slide Number Placeholder 4">
            <a:extLst>
              <a:ext uri="{FF2B5EF4-FFF2-40B4-BE49-F238E27FC236}">
                <a16:creationId xmlns:a16="http://schemas.microsoft.com/office/drawing/2014/main" id="{3EF710CF-1E85-1CD0-1226-5CD6864A6149}"/>
              </a:ext>
            </a:extLst>
          </p:cNvPr>
          <p:cNvSpPr>
            <a:spLocks noGrp="1"/>
          </p:cNvSpPr>
          <p:nvPr>
            <p:ph type="sldNum" sz="quarter" idx="4"/>
          </p:nvPr>
        </p:nvSpPr>
        <p:spPr/>
        <p:txBody>
          <a:bodyPr/>
          <a:lstStyle/>
          <a:p>
            <a:r>
              <a:rPr lang="en-US"/>
              <a:t>Transport Layer: 3-</a:t>
            </a:r>
            <a:fld id="{C4204591-24BD-A542-B9D5-F8D8A88D2FEE}" type="slidenum">
              <a:rPr lang="en-US" smtClean="0"/>
              <a:pPr/>
              <a:t>10</a:t>
            </a:fld>
            <a:endParaRPr lang="en-US" dirty="0"/>
          </a:p>
        </p:txBody>
      </p:sp>
      <p:sp>
        <p:nvSpPr>
          <p:cNvPr id="8" name="Content Placeholder 3">
            <a:extLst>
              <a:ext uri="{FF2B5EF4-FFF2-40B4-BE49-F238E27FC236}">
                <a16:creationId xmlns:a16="http://schemas.microsoft.com/office/drawing/2014/main" id="{69C512DF-4324-367F-BFB4-448D5FCA0B14}"/>
              </a:ext>
            </a:extLst>
          </p:cNvPr>
          <p:cNvSpPr txBox="1">
            <a:spLocks/>
          </p:cNvSpPr>
          <p:nvPr/>
        </p:nvSpPr>
        <p:spPr>
          <a:xfrm>
            <a:off x="6324600" y="1978025"/>
            <a:ext cx="5181600" cy="43513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637846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1E71-6200-68EC-3E87-AADE0C343D55}"/>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4D9E83CA-BE6A-074E-F551-5B1742681CAD}"/>
              </a:ext>
            </a:extLst>
          </p:cNvPr>
          <p:cNvSpPr>
            <a:spLocks noGrp="1"/>
          </p:cNvSpPr>
          <p:nvPr>
            <p:ph sz="half" idx="1"/>
          </p:nvPr>
        </p:nvSpPr>
        <p:spPr>
          <a:xfrm>
            <a:off x="838200" y="1825625"/>
            <a:ext cx="11124616" cy="4351338"/>
          </a:xfrm>
        </p:spPr>
        <p:txBody>
          <a:bodyPr>
            <a:normAutofit fontScale="62500" lnSpcReduction="20000"/>
          </a:bodyPr>
          <a:lstStyle/>
          <a:p>
            <a:r>
              <a:rPr lang="en-US" sz="2900" dirty="0" err="1"/>
              <a:t>DevRTT</a:t>
            </a:r>
            <a:r>
              <a:rPr lang="en-US" sz="2900" dirty="0"/>
              <a:t> is calculated with the following equation: (1-beta)*</a:t>
            </a:r>
            <a:r>
              <a:rPr lang="en-US" sz="2900" dirty="0" err="1"/>
              <a:t>DevRTT</a:t>
            </a:r>
            <a:r>
              <a:rPr lang="en-US" sz="2900" dirty="0"/>
              <a:t> + beta * |</a:t>
            </a:r>
            <a:r>
              <a:rPr lang="en-US" sz="2900" dirty="0" err="1"/>
              <a:t>estimatedRTT</a:t>
            </a:r>
            <a:r>
              <a:rPr lang="en-US" sz="2900" dirty="0"/>
              <a:t> - </a:t>
            </a:r>
            <a:r>
              <a:rPr lang="en-US" sz="2900" dirty="0" err="1"/>
              <a:t>sampleRTT</a:t>
            </a:r>
            <a:r>
              <a:rPr lang="en-US" sz="2900" dirty="0"/>
              <a:t>|</a:t>
            </a:r>
          </a:p>
          <a:p>
            <a:r>
              <a:rPr lang="en-US" sz="2900" dirty="0" err="1"/>
              <a:t>estimatedRTT</a:t>
            </a:r>
            <a:r>
              <a:rPr lang="en-US" sz="2900" dirty="0"/>
              <a:t> is calculated with the following equation: (1-alpha)*</a:t>
            </a:r>
            <a:r>
              <a:rPr lang="en-US" sz="2900" dirty="0" err="1"/>
              <a:t>estimatedRTT</a:t>
            </a:r>
            <a:r>
              <a:rPr lang="en-US" sz="2900" dirty="0"/>
              <a:t> + alpha*</a:t>
            </a:r>
            <a:r>
              <a:rPr lang="en-US" sz="2900" dirty="0" err="1"/>
              <a:t>sampleRTT</a:t>
            </a:r>
            <a:endParaRPr lang="en-US" sz="2900" dirty="0"/>
          </a:p>
          <a:p>
            <a:r>
              <a:rPr lang="en-US" sz="2900" dirty="0"/>
              <a:t>TCP timeout is calculated with the following equation: </a:t>
            </a:r>
            <a:r>
              <a:rPr lang="en-US" sz="2900" dirty="0" err="1"/>
              <a:t>estimatedRTT</a:t>
            </a:r>
            <a:r>
              <a:rPr lang="en-US" sz="2900" dirty="0"/>
              <a:t> + (4*</a:t>
            </a:r>
            <a:r>
              <a:rPr lang="en-US" sz="2900" dirty="0" err="1"/>
              <a:t>DevRTT</a:t>
            </a:r>
            <a:r>
              <a:rPr lang="en-US" sz="2900" dirty="0"/>
              <a:t>)</a:t>
            </a:r>
          </a:p>
          <a:p>
            <a:endParaRPr lang="en-US" dirty="0"/>
          </a:p>
          <a:p>
            <a:pPr marL="130175" indent="0">
              <a:buNone/>
            </a:pPr>
            <a:r>
              <a:rPr lang="en-US" dirty="0"/>
              <a:t>1. The </a:t>
            </a:r>
            <a:r>
              <a:rPr lang="en-US" dirty="0" err="1"/>
              <a:t>estimatedRTT</a:t>
            </a:r>
            <a:r>
              <a:rPr lang="en-US" dirty="0"/>
              <a:t> for RTT1 is 371.25</a:t>
            </a:r>
          </a:p>
          <a:p>
            <a:pPr marL="130175" indent="0">
              <a:buNone/>
            </a:pPr>
            <a:r>
              <a:rPr lang="en-US" dirty="0"/>
              <a:t>2. The </a:t>
            </a:r>
            <a:r>
              <a:rPr lang="en-US" dirty="0" err="1"/>
              <a:t>DevRTT</a:t>
            </a:r>
            <a:r>
              <a:rPr lang="en-US" dirty="0"/>
              <a:t> for RTT1 is 36.25</a:t>
            </a:r>
          </a:p>
          <a:p>
            <a:pPr marL="130175" indent="0">
              <a:buNone/>
            </a:pPr>
            <a:r>
              <a:rPr lang="en-US" dirty="0"/>
              <a:t>3. The timeout for RTT1 is 516.25</a:t>
            </a:r>
          </a:p>
          <a:p>
            <a:pPr marL="130175" indent="0">
              <a:buNone/>
            </a:pPr>
            <a:r>
              <a:rPr lang="en-US" dirty="0"/>
              <a:t>4. The </a:t>
            </a:r>
            <a:r>
              <a:rPr lang="en-US" dirty="0" err="1"/>
              <a:t>estimatedRTT</a:t>
            </a:r>
            <a:r>
              <a:rPr lang="en-US" dirty="0"/>
              <a:t> for RTT2 is 373.59</a:t>
            </a:r>
          </a:p>
          <a:p>
            <a:pPr marL="130175" indent="0">
              <a:buNone/>
            </a:pPr>
            <a:r>
              <a:rPr lang="en-US" dirty="0"/>
              <a:t>5. The </a:t>
            </a:r>
            <a:r>
              <a:rPr lang="en-US" dirty="0" err="1"/>
              <a:t>DevRTT</a:t>
            </a:r>
            <a:r>
              <a:rPr lang="en-US" dirty="0"/>
              <a:t> for RTT2 is 31.88</a:t>
            </a:r>
          </a:p>
          <a:p>
            <a:pPr marL="130175" indent="0">
              <a:buNone/>
            </a:pPr>
            <a:r>
              <a:rPr lang="en-US" dirty="0"/>
              <a:t>6. The timeout for RTT2 is 501.09</a:t>
            </a:r>
          </a:p>
          <a:p>
            <a:pPr marL="130175" indent="0">
              <a:buNone/>
            </a:pPr>
            <a:r>
              <a:rPr lang="en-US" dirty="0"/>
              <a:t>7. The </a:t>
            </a:r>
            <a:r>
              <a:rPr lang="en-US" dirty="0" err="1"/>
              <a:t>estimatedRTT</a:t>
            </a:r>
            <a:r>
              <a:rPr lang="en-US" dirty="0"/>
              <a:t> for RTT3 is 369.39</a:t>
            </a:r>
          </a:p>
          <a:p>
            <a:pPr marL="130175" indent="0">
              <a:buNone/>
            </a:pPr>
            <a:r>
              <a:rPr lang="en-US" dirty="0"/>
              <a:t>8. The </a:t>
            </a:r>
            <a:r>
              <a:rPr lang="en-US" dirty="0" err="1"/>
              <a:t>DevRTT</a:t>
            </a:r>
            <a:r>
              <a:rPr lang="en-US" dirty="0"/>
              <a:t> for RTT3 is 32.3</a:t>
            </a:r>
          </a:p>
          <a:p>
            <a:pPr marL="130175" indent="0">
              <a:buNone/>
            </a:pPr>
            <a:r>
              <a:rPr lang="en-US" dirty="0"/>
              <a:t>9. The timeout for RTT3 is 498.61</a:t>
            </a:r>
          </a:p>
        </p:txBody>
      </p:sp>
      <p:sp>
        <p:nvSpPr>
          <p:cNvPr id="5" name="Slide Number Placeholder 4">
            <a:extLst>
              <a:ext uri="{FF2B5EF4-FFF2-40B4-BE49-F238E27FC236}">
                <a16:creationId xmlns:a16="http://schemas.microsoft.com/office/drawing/2014/main" id="{68397943-BFE6-3A8E-6A83-8718C4E7309F}"/>
              </a:ext>
            </a:extLst>
          </p:cNvPr>
          <p:cNvSpPr>
            <a:spLocks noGrp="1"/>
          </p:cNvSpPr>
          <p:nvPr>
            <p:ph type="sldNum" sz="quarter" idx="4"/>
          </p:nvPr>
        </p:nvSpPr>
        <p:spPr/>
        <p:txBody>
          <a:bodyPr/>
          <a:lstStyle/>
          <a:p>
            <a:r>
              <a:rPr lang="en-US"/>
              <a:t>Transport Layer: 3-</a:t>
            </a:r>
            <a:fld id="{C4204591-24BD-A542-B9D5-F8D8A88D2FEE}" type="slidenum">
              <a:rPr lang="en-US" smtClean="0"/>
              <a:pPr/>
              <a:t>11</a:t>
            </a:fld>
            <a:endParaRPr lang="en-US" dirty="0"/>
          </a:p>
        </p:txBody>
      </p:sp>
    </p:spTree>
    <p:extLst>
      <p:ext uri="{BB962C8B-B14F-4D97-AF65-F5344CB8AC3E}">
        <p14:creationId xmlns:p14="http://schemas.microsoft.com/office/powerpoint/2010/main" val="2718745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Sender </a:t>
            </a:r>
            <a:r>
              <a:rPr lang="en-US" sz="3600" dirty="0"/>
              <a:t>(simplified)</a:t>
            </a:r>
            <a:endParaRPr lang="en-US" sz="4400" b="0" dirty="0"/>
          </a:p>
        </p:txBody>
      </p:sp>
      <p:sp>
        <p:nvSpPr>
          <p:cNvPr id="6" name="Rectangle 3">
            <a:extLst>
              <a:ext uri="{FF2B5EF4-FFF2-40B4-BE49-F238E27FC236}">
                <a16:creationId xmlns:a16="http://schemas.microsoft.com/office/drawing/2014/main" id="{93E50F9F-34A2-434D-9CCF-7D058EEE958D}"/>
              </a:ext>
            </a:extLst>
          </p:cNvPr>
          <p:cNvSpPr txBox="1">
            <a:spLocks noChangeArrowheads="1"/>
          </p:cNvSpPr>
          <p:nvPr/>
        </p:nvSpPr>
        <p:spPr>
          <a:xfrm>
            <a:off x="798690" y="1384386"/>
            <a:ext cx="4953000"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event: data received from application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create segment with seq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seq # is byte-stream number of first data byte in  segment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start timer if not already running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think of timer as for oldest unACKed segment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expiration interval: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TimeOutInterval</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a:extLst>
              <a:ext uri="{FF2B5EF4-FFF2-40B4-BE49-F238E27FC236}">
                <a16:creationId xmlns:a16="http://schemas.microsoft.com/office/drawing/2014/main" id="{DA35D0F5-641B-DD43-98AE-2CF2FD980706}"/>
              </a:ext>
            </a:extLst>
          </p:cNvPr>
          <p:cNvSpPr txBox="1">
            <a:spLocks noChangeArrowheads="1"/>
          </p:cNvSpPr>
          <p:nvPr/>
        </p:nvSpPr>
        <p:spPr>
          <a:xfrm>
            <a:off x="6728208" y="1446144"/>
            <a:ext cx="3810000" cy="1943100"/>
          </a:xfrm>
          <a:prstGeom prst="rect">
            <a:avLst/>
          </a:prstGeom>
        </p:spPr>
        <p:txBody>
          <a:bodyPr vert="horz" lIns="91440" tIns="45720" rIns="91440" bIns="45720" rtlCol="0">
            <a:normAutofit fontScale="9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1" u="none" strike="noStrike" kern="1200" cap="none" spc="0" normalizeH="0" baseline="0" noProof="0" dirty="0">
                <a:ln>
                  <a:noFill/>
                </a:ln>
                <a:solidFill>
                  <a:srgbClr val="CC0000"/>
                </a:solidFill>
                <a:effectLst/>
                <a:uLnTx/>
                <a:uFillTx/>
                <a:latin typeface="Calibri" panose="020F0502020204030204"/>
                <a:ea typeface="+mn-ea"/>
                <a:cs typeface="+mn-cs"/>
              </a:rPr>
              <a:t>event: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retransmit segment that caused timeout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restart timer</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4">
            <a:extLst>
              <a:ext uri="{FF2B5EF4-FFF2-40B4-BE49-F238E27FC236}">
                <a16:creationId xmlns:a16="http://schemas.microsoft.com/office/drawing/2014/main" id="{7626FEA2-2ED1-6640-83D4-E13C73302CE0}"/>
              </a:ext>
            </a:extLst>
          </p:cNvPr>
          <p:cNvSpPr txBox="1">
            <a:spLocks noChangeArrowheads="1"/>
          </p:cNvSpPr>
          <p:nvPr/>
        </p:nvSpPr>
        <p:spPr>
          <a:xfrm>
            <a:off x="6728208" y="3392552"/>
            <a:ext cx="4920453" cy="319377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event: ACK received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if ACK acknowledges previously unACKed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update what is known to be ACKed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start timer if there are  still unACKed segments</a:t>
            </a:r>
          </a:p>
          <a:p>
            <a:pPr marL="695325" marR="0" lvl="1" indent="-231775" algn="l" defTabSz="914400" rtl="0" eaLnBrk="1" fontAlgn="auto" latinLnBrk="0" hangingPunct="1">
              <a:lnSpc>
                <a:spcPct val="90000"/>
              </a:lnSpc>
              <a:spcBef>
                <a:spcPts val="500"/>
              </a:spcBef>
              <a:spcAft>
                <a:spcPts val="0"/>
              </a:spcAft>
              <a:buClr>
                <a:srgbClr val="0000A8"/>
              </a:buClr>
              <a:buSzTx/>
              <a:buFont typeface="Wingdings"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lide Number Placeholder 2">
            <a:extLst>
              <a:ext uri="{FF2B5EF4-FFF2-40B4-BE49-F238E27FC236}">
                <a16:creationId xmlns:a16="http://schemas.microsoft.com/office/drawing/2014/main" id="{F7A5BD9A-E49F-7E4D-A1AC-729448A7B15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12</a:t>
            </a:fld>
            <a:endParaRPr lang="en-US" dirty="0"/>
          </a:p>
        </p:txBody>
      </p:sp>
    </p:spTree>
    <p:extLst>
      <p:ext uri="{BB962C8B-B14F-4D97-AF65-F5344CB8AC3E}">
        <p14:creationId xmlns:p14="http://schemas.microsoft.com/office/powerpoint/2010/main" val="422074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Receiver: ACK generation </a:t>
            </a:r>
            <a:r>
              <a:rPr lang="en-US" sz="2400" b="0" dirty="0"/>
              <a:t>[RFC 5681]</a:t>
            </a:r>
            <a:endParaRPr lang="en-US" sz="4400" b="0" dirty="0"/>
          </a:p>
        </p:txBody>
      </p:sp>
      <p:sp>
        <p:nvSpPr>
          <p:cNvPr id="43" name="Text Box 3">
            <a:extLst>
              <a:ext uri="{FF2B5EF4-FFF2-40B4-BE49-F238E27FC236}">
                <a16:creationId xmlns:a16="http://schemas.microsoft.com/office/drawing/2014/main" id="{0C54E9E4-D2A0-C64E-B652-DCC0E63DDD71}"/>
              </a:ext>
            </a:extLst>
          </p:cNvPr>
          <p:cNvSpPr txBox="1">
            <a:spLocks noChangeArrowheads="1"/>
          </p:cNvSpPr>
          <p:nvPr/>
        </p:nvSpPr>
        <p:spPr bwMode="auto">
          <a:xfrm>
            <a:off x="2143953" y="1439289"/>
            <a:ext cx="3496406" cy="50644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Event at receiver</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All data up to</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already ACKed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in-order segment with</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expected seq #. One other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has ACK pending</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out-of-order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higher-than-expect seq. #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Gap detected</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arrival of segment that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partially or completely fills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4" name="Text Box 4">
            <a:extLst>
              <a:ext uri="{FF2B5EF4-FFF2-40B4-BE49-F238E27FC236}">
                <a16:creationId xmlns:a16="http://schemas.microsoft.com/office/drawing/2014/main" id="{7D1A8937-7497-E947-B481-036DB6905786}"/>
              </a:ext>
            </a:extLst>
          </p:cNvPr>
          <p:cNvSpPr txBox="1">
            <a:spLocks noChangeArrowheads="1"/>
          </p:cNvSpPr>
          <p:nvPr/>
        </p:nvSpPr>
        <p:spPr bwMode="auto">
          <a:xfrm>
            <a:off x="5906328" y="1429764"/>
            <a:ext cx="4336956" cy="50575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TCP receiver action</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delayed ACK. Wait up to 500ms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next segment. If no next segment,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 ACK</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single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ACK, ACKing both in-order segments </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immediately send </a:t>
            </a: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 ACK (</a:t>
            </a:r>
            <a:r>
              <a:rPr kumimoji="0" lang="en-US" sz="2000" b="0" i="1" u="none" strike="noStrike" kern="1200" cap="none" spc="0" normalizeH="0" baseline="0" noProof="0" dirty="0" err="1">
                <a:ln>
                  <a:noFill/>
                </a:ln>
                <a:solidFill>
                  <a:srgbClr val="CC0000"/>
                </a:solidFill>
                <a:effectLst/>
                <a:uLnTx/>
                <a:uFillTx/>
                <a:latin typeface="Calibri" panose="020F0502020204030204"/>
                <a:ea typeface="ＭＳ Ｐゴシック" charset="0"/>
                <a:cs typeface="+mn-cs"/>
              </a:rPr>
              <a:t>acking</a:t>
            </a:r>
            <a:endPar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 last correctly received in order byte)</a:t>
            </a:r>
            <a:r>
              <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indicating seq. # of next expected byte</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lang="en-US" sz="2000" dirty="0">
                <a:solidFill>
                  <a:prstClr val="black"/>
                </a:solidFill>
                <a:latin typeface="Calibri" panose="020F0502020204030204"/>
              </a:rPr>
              <a:t>i</a:t>
            </a:r>
            <a:r>
              <a:rPr kumimoji="0" lang="en-US" sz="2000" b="0" i="0" u="none" strike="noStrike" kern="1200" cap="none" spc="0" normalizeH="0" baseline="0" noProof="0" dirty="0" err="1">
                <a:ln>
                  <a:noFill/>
                </a:ln>
                <a:solidFill>
                  <a:prstClr val="black"/>
                </a:solidFill>
                <a:effectLst/>
                <a:uLnTx/>
                <a:uFillTx/>
                <a:latin typeface="Calibri" panose="020F0502020204030204"/>
                <a:ea typeface="ＭＳ Ｐゴシック" charset="0"/>
                <a:cs typeface="+mn-cs"/>
              </a:rPr>
              <a:t>mmediate</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send ACK, provided that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segment starts at lower end of gap</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5" name="Line 9">
            <a:extLst>
              <a:ext uri="{FF2B5EF4-FFF2-40B4-BE49-F238E27FC236}">
                <a16:creationId xmlns:a16="http://schemas.microsoft.com/office/drawing/2014/main" id="{B5C333E2-4347-8B41-A67B-31280E7B23CD}"/>
              </a:ext>
            </a:extLst>
          </p:cNvPr>
          <p:cNvSpPr>
            <a:spLocks noChangeShapeType="1"/>
          </p:cNvSpPr>
          <p:nvPr/>
        </p:nvSpPr>
        <p:spPr bwMode="auto">
          <a:xfrm>
            <a:off x="5715828" y="1590101"/>
            <a:ext cx="0" cy="4352925"/>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6" name="Line 11">
            <a:extLst>
              <a:ext uri="{FF2B5EF4-FFF2-40B4-BE49-F238E27FC236}">
                <a16:creationId xmlns:a16="http://schemas.microsoft.com/office/drawing/2014/main" id="{A3C87D27-55A1-0740-A388-14FABFDCAECD}"/>
              </a:ext>
            </a:extLst>
          </p:cNvPr>
          <p:cNvSpPr>
            <a:spLocks noChangeShapeType="1"/>
          </p:cNvSpPr>
          <p:nvPr/>
        </p:nvSpPr>
        <p:spPr bwMode="auto">
          <a:xfrm>
            <a:off x="2159828" y="2029839"/>
            <a:ext cx="7494588"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7" name="Line 12">
            <a:extLst>
              <a:ext uri="{FF2B5EF4-FFF2-40B4-BE49-F238E27FC236}">
                <a16:creationId xmlns:a16="http://schemas.microsoft.com/office/drawing/2014/main" id="{BAEE28BF-45B4-7B4F-8643-BEFCF1817DB3}"/>
              </a:ext>
            </a:extLst>
          </p:cNvPr>
          <p:cNvSpPr>
            <a:spLocks noChangeShapeType="1"/>
          </p:cNvSpPr>
          <p:nvPr/>
        </p:nvSpPr>
        <p:spPr bwMode="auto">
          <a:xfrm>
            <a:off x="2143953" y="3083939"/>
            <a:ext cx="7494588"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8" name="Line 13">
            <a:extLst>
              <a:ext uri="{FF2B5EF4-FFF2-40B4-BE49-F238E27FC236}">
                <a16:creationId xmlns:a16="http://schemas.microsoft.com/office/drawing/2014/main" id="{497F621D-E3C3-D549-BCDE-B1C658BA2FF8}"/>
              </a:ext>
            </a:extLst>
          </p:cNvPr>
          <p:cNvSpPr>
            <a:spLocks noChangeShapeType="1"/>
          </p:cNvSpPr>
          <p:nvPr/>
        </p:nvSpPr>
        <p:spPr bwMode="auto">
          <a:xfrm>
            <a:off x="2161416" y="4182489"/>
            <a:ext cx="7494587"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9" name="Line 14">
            <a:extLst>
              <a:ext uri="{FF2B5EF4-FFF2-40B4-BE49-F238E27FC236}">
                <a16:creationId xmlns:a16="http://schemas.microsoft.com/office/drawing/2014/main" id="{B5CA7B9A-CEFE-9440-989C-72777EDC3F97}"/>
              </a:ext>
            </a:extLst>
          </p:cNvPr>
          <p:cNvSpPr>
            <a:spLocks noChangeShapeType="1"/>
          </p:cNvSpPr>
          <p:nvPr/>
        </p:nvSpPr>
        <p:spPr bwMode="auto">
          <a:xfrm>
            <a:off x="2155066" y="5271514"/>
            <a:ext cx="7494587" cy="0"/>
          </a:xfrm>
          <a:prstGeom prst="line">
            <a:avLst/>
          </a:prstGeom>
          <a:noFill/>
          <a:ln w="28575">
            <a:solidFill>
              <a:srgbClr val="000099"/>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4" name="Rectangle 3">
            <a:extLst>
              <a:ext uri="{FF2B5EF4-FFF2-40B4-BE49-F238E27FC236}">
                <a16:creationId xmlns:a16="http://schemas.microsoft.com/office/drawing/2014/main" id="{446007AE-16BF-5641-9533-FDFCED5467B7}"/>
              </a:ext>
            </a:extLst>
          </p:cNvPr>
          <p:cNvSpPr/>
          <p:nvPr/>
        </p:nvSpPr>
        <p:spPr>
          <a:xfrm>
            <a:off x="2141951" y="2079321"/>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4788DE70-9425-C941-B687-5CDA29AFB818}"/>
              </a:ext>
            </a:extLst>
          </p:cNvPr>
          <p:cNvSpPr/>
          <p:nvPr/>
        </p:nvSpPr>
        <p:spPr>
          <a:xfrm>
            <a:off x="2006253" y="3158647"/>
            <a:ext cx="7753611"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A265DF2-3FEE-3D4C-9E18-1D8A86817D23}"/>
              </a:ext>
            </a:extLst>
          </p:cNvPr>
          <p:cNvSpPr/>
          <p:nvPr/>
        </p:nvSpPr>
        <p:spPr>
          <a:xfrm>
            <a:off x="2141950" y="4268405"/>
            <a:ext cx="8306415"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03861685-9E67-3541-901D-AC152EC9F9C7}"/>
              </a:ext>
            </a:extLst>
          </p:cNvPr>
          <p:cNvSpPr/>
          <p:nvPr/>
        </p:nvSpPr>
        <p:spPr>
          <a:xfrm>
            <a:off x="2006253" y="5368718"/>
            <a:ext cx="8400544" cy="9394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Slide Number Placeholder 2">
            <a:extLst>
              <a:ext uri="{FF2B5EF4-FFF2-40B4-BE49-F238E27FC236}">
                <a16:creationId xmlns:a16="http://schemas.microsoft.com/office/drawing/2014/main" id="{340791B0-4154-D14E-9DBD-0157764BBAE9}"/>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Transport Layer: 3-</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421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69" name="Text Box 105">
            <a:extLst>
              <a:ext uri="{FF2B5EF4-FFF2-40B4-BE49-F238E27FC236}">
                <a16:creationId xmlns:a16="http://schemas.microsoft.com/office/drawing/2014/main" id="{BFF25F7B-7978-5140-B991-E71AA865A711}"/>
              </a:ext>
            </a:extLst>
          </p:cNvPr>
          <p:cNvSpPr txBox="1">
            <a:spLocks noChangeArrowheads="1"/>
          </p:cNvSpPr>
          <p:nvPr/>
        </p:nvSpPr>
        <p:spPr bwMode="auto">
          <a:xfrm>
            <a:off x="2236856" y="5873422"/>
            <a:ext cx="1922463"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lost ACK scenario</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3970406" y="1183947"/>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74"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1636781" y="1201410"/>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4" name="Group 3">
            <a:extLst>
              <a:ext uri="{FF2B5EF4-FFF2-40B4-BE49-F238E27FC236}">
                <a16:creationId xmlns:a16="http://schemas.microsoft.com/office/drawing/2014/main" id="{47AB30F9-BD3F-264E-8DF5-3B4B9CA352A7}"/>
              </a:ext>
            </a:extLst>
          </p:cNvPr>
          <p:cNvGrpSpPr/>
          <p:nvPr/>
        </p:nvGrpSpPr>
        <p:grpSpPr>
          <a:xfrm>
            <a:off x="2032069" y="2342822"/>
            <a:ext cx="2346325" cy="571500"/>
            <a:chOff x="2032069" y="2342822"/>
            <a:chExt cx="2346325" cy="571500"/>
          </a:xfrm>
        </p:grpSpPr>
        <p:sp>
          <p:nvSpPr>
            <p:cNvPr id="171" name="Line 100">
              <a:extLst>
                <a:ext uri="{FF2B5EF4-FFF2-40B4-BE49-F238E27FC236}">
                  <a16:creationId xmlns:a16="http://schemas.microsoft.com/office/drawing/2014/main"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Rectangle 112">
              <a:extLst>
                <a:ext uri="{FF2B5EF4-FFF2-40B4-BE49-F238E27FC236}">
                  <a16:creationId xmlns:a16="http://schemas.microsoft.com/office/drawing/2014/main"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Text Box 113">
              <a:extLst>
                <a:ext uri="{FF2B5EF4-FFF2-40B4-BE49-F238E27FC236}">
                  <a16:creationId xmlns:a16="http://schemas.microsoft.com/office/drawing/2014/main" id="{08010453-6652-E348-AC57-7E9E8D356969}"/>
                </a:ext>
              </a:extLst>
            </p:cNvPr>
            <p:cNvSpPr txBox="1">
              <a:spLocks noChangeArrowheads="1"/>
            </p:cNvSpPr>
            <p:nvPr/>
          </p:nvSpPr>
          <p:spPr bwMode="auto">
            <a:xfrm>
              <a:off x="2176531" y="2476172"/>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sp>
        <p:nvSpPr>
          <p:cNvPr id="179" name="Line 118">
            <a:extLst>
              <a:ext uri="{FF2B5EF4-FFF2-40B4-BE49-F238E27FC236}">
                <a16:creationId xmlns:a16="http://schemas.microsoft.com/office/drawing/2014/main" id="{5429E427-16E3-344A-A034-DAE0253AB97D}"/>
              </a:ext>
            </a:extLst>
          </p:cNvPr>
          <p:cNvSpPr>
            <a:spLocks noChangeShapeType="1"/>
          </p:cNvSpPr>
          <p:nvPr/>
        </p:nvSpPr>
        <p:spPr bwMode="auto">
          <a:xfrm>
            <a:off x="2011431" y="2101522"/>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0" name="Line 119">
            <a:extLst>
              <a:ext uri="{FF2B5EF4-FFF2-40B4-BE49-F238E27FC236}">
                <a16:creationId xmlns:a16="http://schemas.microsoft.com/office/drawing/2014/main" id="{B685EEAE-4766-CE43-A2A6-32288A3FE5E9}"/>
              </a:ext>
            </a:extLst>
          </p:cNvPr>
          <p:cNvSpPr>
            <a:spLocks noChangeShapeType="1"/>
          </p:cNvSpPr>
          <p:nvPr/>
        </p:nvSpPr>
        <p:spPr bwMode="auto">
          <a:xfrm>
            <a:off x="4438719" y="2096760"/>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 name="Group 7">
            <a:extLst>
              <a:ext uri="{FF2B5EF4-FFF2-40B4-BE49-F238E27FC236}">
                <a16:creationId xmlns:a16="http://schemas.microsoft.com/office/drawing/2014/main" id="{F2169BDB-26D4-794C-AF29-1EBFE13D6C8F}"/>
              </a:ext>
            </a:extLst>
          </p:cNvPr>
          <p:cNvGrpSpPr/>
          <p:nvPr/>
        </p:nvGrpSpPr>
        <p:grpSpPr>
          <a:xfrm>
            <a:off x="2019369" y="4104947"/>
            <a:ext cx="2351087" cy="512763"/>
            <a:chOff x="2019369" y="4104947"/>
            <a:chExt cx="2351087" cy="512763"/>
          </a:xfrm>
        </p:grpSpPr>
        <p:sp>
          <p:nvSpPr>
            <p:cNvPr id="170" name="Line 99">
              <a:extLst>
                <a:ext uri="{FF2B5EF4-FFF2-40B4-BE49-F238E27FC236}">
                  <a16:creationId xmlns:a16="http://schemas.microsoft.com/office/drawing/2014/main"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Rectangle 122">
              <a:extLst>
                <a:ext uri="{FF2B5EF4-FFF2-40B4-BE49-F238E27FC236}">
                  <a16:creationId xmlns:a16="http://schemas.microsoft.com/office/drawing/2014/main"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2" name="Text Box 123">
              <a:extLst>
                <a:ext uri="{FF2B5EF4-FFF2-40B4-BE49-F238E27FC236}">
                  <a16:creationId xmlns:a16="http://schemas.microsoft.com/office/drawing/2014/main" id="{FB31845A-BC05-2942-A23F-7101518E3BF6}"/>
                </a:ext>
              </a:extLst>
            </p:cNvPr>
            <p:cNvSpPr txBox="1">
              <a:spLocks noChangeArrowheads="1"/>
            </p:cNvSpPr>
            <p:nvPr/>
          </p:nvSpPr>
          <p:spPr bwMode="auto">
            <a:xfrm>
              <a:off x="2165419" y="4185910"/>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grpSp>
        <p:nvGrpSpPr>
          <p:cNvPr id="6" name="Group 5">
            <a:extLst>
              <a:ext uri="{FF2B5EF4-FFF2-40B4-BE49-F238E27FC236}">
                <a16:creationId xmlns:a16="http://schemas.microsoft.com/office/drawing/2014/main" id="{BDFBEB0F-AD33-9841-96A8-08332FBAA960}"/>
              </a:ext>
            </a:extLst>
          </p:cNvPr>
          <p:cNvGrpSpPr/>
          <p:nvPr/>
        </p:nvGrpSpPr>
        <p:grpSpPr>
          <a:xfrm>
            <a:off x="2857569" y="3004810"/>
            <a:ext cx="1484312" cy="628650"/>
            <a:chOff x="2857569" y="3004810"/>
            <a:chExt cx="1484312" cy="628650"/>
          </a:xfrm>
        </p:grpSpPr>
        <p:sp>
          <p:nvSpPr>
            <p:cNvPr id="172" name="Line 104">
              <a:extLst>
                <a:ext uri="{FF2B5EF4-FFF2-40B4-BE49-F238E27FC236}">
                  <a16:creationId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7" name="Rectangle 114">
              <a:extLst>
                <a:ext uri="{FF2B5EF4-FFF2-40B4-BE49-F238E27FC236}">
                  <a16:creationId xmlns:a16="http://schemas.microsoft.com/office/drawing/2014/main"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8" name="Text Box 115">
              <a:extLst>
                <a:ext uri="{FF2B5EF4-FFF2-40B4-BE49-F238E27FC236}">
                  <a16:creationId xmlns:a16="http://schemas.microsoft.com/office/drawing/2014/main" id="{F3EC555B-6627-3C46-9C43-7AB97835B780}"/>
                </a:ext>
              </a:extLst>
            </p:cNvPr>
            <p:cNvSpPr txBox="1">
              <a:spLocks noChangeArrowheads="1"/>
            </p:cNvSpPr>
            <p:nvPr/>
          </p:nvSpPr>
          <p:spPr bwMode="auto">
            <a:xfrm>
              <a:off x="3224281" y="3046085"/>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183"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9" name="Group 8">
            <a:extLst>
              <a:ext uri="{FF2B5EF4-FFF2-40B4-BE49-F238E27FC236}">
                <a16:creationId xmlns:a16="http://schemas.microsoft.com/office/drawing/2014/main" id="{CA465D82-8FEB-3440-B371-2468D04E80CF}"/>
              </a:ext>
            </a:extLst>
          </p:cNvPr>
          <p:cNvGrpSpPr/>
          <p:nvPr/>
        </p:nvGrpSpPr>
        <p:grpSpPr>
          <a:xfrm>
            <a:off x="2008256" y="4703435"/>
            <a:ext cx="2338388" cy="782637"/>
            <a:chOff x="2008256" y="4703435"/>
            <a:chExt cx="2338388" cy="782637"/>
          </a:xfrm>
        </p:grpSpPr>
        <p:sp>
          <p:nvSpPr>
            <p:cNvPr id="185" name="Line 127">
              <a:extLst>
                <a:ext uri="{FF2B5EF4-FFF2-40B4-BE49-F238E27FC236}">
                  <a16:creationId xmlns:a16="http://schemas.microsoft.com/office/drawing/2014/main"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6" name="Rectangle 128">
              <a:extLst>
                <a:ext uri="{FF2B5EF4-FFF2-40B4-BE49-F238E27FC236}">
                  <a16:creationId xmlns:a16="http://schemas.microsoft.com/office/drawing/2014/main"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7" name="Text Box 129">
              <a:extLst>
                <a:ext uri="{FF2B5EF4-FFF2-40B4-BE49-F238E27FC236}">
                  <a16:creationId xmlns:a16="http://schemas.microsoft.com/office/drawing/2014/main" id="{06DE42B2-117E-D241-8A87-B070A56CDFEA}"/>
                </a:ext>
              </a:extLst>
            </p:cNvPr>
            <p:cNvSpPr txBox="1">
              <a:spLocks noChangeArrowheads="1"/>
            </p:cNvSpPr>
            <p:nvPr/>
          </p:nvSpPr>
          <p:spPr bwMode="auto">
            <a:xfrm>
              <a:off x="2762319" y="4916160"/>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7" name="Group 6">
            <a:extLst>
              <a:ext uri="{FF2B5EF4-FFF2-40B4-BE49-F238E27FC236}">
                <a16:creationId xmlns:a16="http://schemas.microsoft.com/office/drawing/2014/main" id="{9218D318-345A-1343-9E16-E2157D9EC9CA}"/>
              </a:ext>
            </a:extLst>
          </p:cNvPr>
          <p:cNvGrpSpPr/>
          <p:nvPr/>
        </p:nvGrpSpPr>
        <p:grpSpPr>
          <a:xfrm>
            <a:off x="1638369" y="2347585"/>
            <a:ext cx="396875" cy="1751012"/>
            <a:chOff x="1638369" y="2347585"/>
            <a:chExt cx="396875" cy="1751012"/>
          </a:xfrm>
        </p:grpSpPr>
        <p:sp>
          <p:nvSpPr>
            <p:cNvPr id="184"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8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91"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3"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sp>
        <p:nvSpPr>
          <p:cNvPr id="194" name="Text Box 172">
            <a:extLst>
              <a:ext uri="{FF2B5EF4-FFF2-40B4-BE49-F238E27FC236}">
                <a16:creationId xmlns:a16="http://schemas.microsoft.com/office/drawing/2014/main" id="{5B3CEA4D-B0D0-D04E-ADE8-909B1EDA7441}"/>
              </a:ext>
            </a:extLst>
          </p:cNvPr>
          <p:cNvSpPr txBox="1">
            <a:spLocks noChangeArrowheads="1"/>
          </p:cNvSpPr>
          <p:nvPr/>
        </p:nvSpPr>
        <p:spPr bwMode="auto">
          <a:xfrm>
            <a:off x="7759116" y="5873422"/>
            <a:ext cx="2073275"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premature timeout</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Text Box 177">
            <a:extLst>
              <a:ext uri="{FF2B5EF4-FFF2-40B4-BE49-F238E27FC236}">
                <a16:creationId xmlns:a16="http://schemas.microsoft.com/office/drawing/2014/main" id="{970D57D0-6509-F14E-A7FF-FFA09672DA95}"/>
              </a:ext>
            </a:extLst>
          </p:cNvPr>
          <p:cNvSpPr txBox="1">
            <a:spLocks noChangeArrowheads="1"/>
          </p:cNvSpPr>
          <p:nvPr/>
        </p:nvSpPr>
        <p:spPr bwMode="auto">
          <a:xfrm>
            <a:off x="9567278" y="1183947"/>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99" name="Text Box 181">
            <a:extLst>
              <a:ext uri="{FF2B5EF4-FFF2-40B4-BE49-F238E27FC236}">
                <a16:creationId xmlns:a16="http://schemas.microsoft.com/office/drawing/2014/main" id="{5C9181D9-76B4-1547-B4C6-C03AC2F11CD9}"/>
              </a:ext>
            </a:extLst>
          </p:cNvPr>
          <p:cNvSpPr txBox="1">
            <a:spLocks noChangeArrowheads="1"/>
          </p:cNvSpPr>
          <p:nvPr/>
        </p:nvSpPr>
        <p:spPr bwMode="auto">
          <a:xfrm>
            <a:off x="7233653" y="1201410"/>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205" name="Line 186">
            <a:extLst>
              <a:ext uri="{FF2B5EF4-FFF2-40B4-BE49-F238E27FC236}">
                <a16:creationId xmlns:a16="http://schemas.microsoft.com/office/drawing/2014/main" id="{DCFF6781-2E36-E241-A5F5-C0B04BC7CABB}"/>
              </a:ext>
            </a:extLst>
          </p:cNvPr>
          <p:cNvSpPr>
            <a:spLocks noChangeShapeType="1"/>
          </p:cNvSpPr>
          <p:nvPr/>
        </p:nvSpPr>
        <p:spPr bwMode="auto">
          <a:xfrm>
            <a:off x="7608303" y="2101522"/>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Line 187">
            <a:extLst>
              <a:ext uri="{FF2B5EF4-FFF2-40B4-BE49-F238E27FC236}">
                <a16:creationId xmlns:a16="http://schemas.microsoft.com/office/drawing/2014/main" id="{9C6DC5B3-2960-3047-BC8D-684B3D849A13}"/>
              </a:ext>
            </a:extLst>
          </p:cNvPr>
          <p:cNvSpPr>
            <a:spLocks noChangeShapeType="1"/>
          </p:cNvSpPr>
          <p:nvPr/>
        </p:nvSpPr>
        <p:spPr bwMode="auto">
          <a:xfrm>
            <a:off x="10013366" y="2096760"/>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7" name="Rectangle 188">
            <a:extLst>
              <a:ext uri="{FF2B5EF4-FFF2-40B4-BE49-F238E27FC236}">
                <a16:creationId xmlns:a16="http://schemas.microsoft.com/office/drawing/2014/main" id="{C15D63E4-15E1-BA4A-9606-42B07BDE7490}"/>
              </a:ext>
            </a:extLst>
          </p:cNvPr>
          <p:cNvSpPr>
            <a:spLocks noChangeArrowheads="1"/>
          </p:cNvSpPr>
          <p:nvPr/>
        </p:nvSpPr>
        <p:spPr bwMode="auto">
          <a:xfrm>
            <a:off x="8621128" y="4228772"/>
            <a:ext cx="1057275" cy="5080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3" name="Group 12">
            <a:extLst>
              <a:ext uri="{FF2B5EF4-FFF2-40B4-BE49-F238E27FC236}">
                <a16:creationId xmlns:a16="http://schemas.microsoft.com/office/drawing/2014/main" id="{B716CABB-9429-2844-BE7D-347FDDC00473}"/>
              </a:ext>
            </a:extLst>
          </p:cNvPr>
          <p:cNvGrpSpPr/>
          <p:nvPr/>
        </p:nvGrpSpPr>
        <p:grpSpPr>
          <a:xfrm>
            <a:off x="7595603" y="4111297"/>
            <a:ext cx="2441575" cy="668338"/>
            <a:chOff x="7595603" y="4111297"/>
            <a:chExt cx="2441575" cy="668338"/>
          </a:xfrm>
        </p:grpSpPr>
        <p:sp>
          <p:nvSpPr>
            <p:cNvPr id="195" name="Line 173">
              <a:extLst>
                <a:ext uri="{FF2B5EF4-FFF2-40B4-BE49-F238E27FC236}">
                  <a16:creationId xmlns:a16="http://schemas.microsoft.com/office/drawing/2014/main"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Text Box 189">
              <a:extLst>
                <a:ext uri="{FF2B5EF4-FFF2-40B4-BE49-F238E27FC236}">
                  <a16:creationId xmlns:a16="http://schemas.microsoft.com/office/drawing/2014/main" id="{3EE494A8-6A2C-9F45-AA30-D5C659A717EE}"/>
                </a:ext>
              </a:extLst>
            </p:cNvPr>
            <p:cNvSpPr txBox="1">
              <a:spLocks noChangeArrowheads="1"/>
            </p:cNvSpPr>
            <p:nvPr/>
          </p:nvSpPr>
          <p:spPr bwMode="auto">
            <a:xfrm>
              <a:off x="8541753" y="4262110"/>
              <a:ext cx="1212850" cy="5175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bytes of data</a:t>
              </a:r>
            </a:p>
          </p:txBody>
        </p:sp>
      </p:grpSp>
      <p:sp>
        <p:nvSpPr>
          <p:cNvPr id="211" name="Rectangle 193">
            <a:extLst>
              <a:ext uri="{FF2B5EF4-FFF2-40B4-BE49-F238E27FC236}">
                <a16:creationId xmlns:a16="http://schemas.microsoft.com/office/drawing/2014/main" id="{1BAF70E7-D466-2441-88C5-22FFEB1CAF5E}"/>
              </a:ext>
            </a:extLst>
          </p:cNvPr>
          <p:cNvSpPr>
            <a:spLocks noChangeArrowheads="1"/>
          </p:cNvSpPr>
          <p:nvPr/>
        </p:nvSpPr>
        <p:spPr bwMode="auto">
          <a:xfrm>
            <a:off x="8460791" y="5071735"/>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 name="Group 14">
            <a:extLst>
              <a:ext uri="{FF2B5EF4-FFF2-40B4-BE49-F238E27FC236}">
                <a16:creationId xmlns:a16="http://schemas.microsoft.com/office/drawing/2014/main" id="{9E6A0178-9B0F-8A48-942B-60D872AAAD83}"/>
              </a:ext>
            </a:extLst>
          </p:cNvPr>
          <p:cNvGrpSpPr/>
          <p:nvPr/>
        </p:nvGrpSpPr>
        <p:grpSpPr>
          <a:xfrm>
            <a:off x="7627353" y="4814560"/>
            <a:ext cx="2338388" cy="782637"/>
            <a:chOff x="7627353" y="4814560"/>
            <a:chExt cx="2338388" cy="782637"/>
          </a:xfrm>
        </p:grpSpPr>
        <p:sp>
          <p:nvSpPr>
            <p:cNvPr id="210" name="Line 192">
              <a:extLst>
                <a:ext uri="{FF2B5EF4-FFF2-40B4-BE49-F238E27FC236}">
                  <a16:creationId xmlns:a16="http://schemas.microsoft.com/office/drawing/2014/main"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2" name="Text Box 194">
              <a:extLst>
                <a:ext uri="{FF2B5EF4-FFF2-40B4-BE49-F238E27FC236}">
                  <a16:creationId xmlns:a16="http://schemas.microsoft.com/office/drawing/2014/main" id="{7D3D6198-BDB0-DC4C-B2A5-2DBD9359B868}"/>
                </a:ext>
              </a:extLst>
            </p:cNvPr>
            <p:cNvSpPr txBox="1">
              <a:spLocks noChangeArrowheads="1"/>
            </p:cNvSpPr>
            <p:nvPr/>
          </p:nvSpPr>
          <p:spPr bwMode="auto">
            <a:xfrm>
              <a:off x="8381416" y="5027285"/>
              <a:ext cx="94932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0" name="Group 9">
            <a:extLst>
              <a:ext uri="{FF2B5EF4-FFF2-40B4-BE49-F238E27FC236}">
                <a16:creationId xmlns:a16="http://schemas.microsoft.com/office/drawing/2014/main" id="{31CBCB81-D9E2-8D44-8B58-3A8203D0290F}"/>
              </a:ext>
            </a:extLst>
          </p:cNvPr>
          <p:cNvGrpSpPr/>
          <p:nvPr/>
        </p:nvGrpSpPr>
        <p:grpSpPr>
          <a:xfrm>
            <a:off x="7235241" y="2347585"/>
            <a:ext cx="396875" cy="1751012"/>
            <a:chOff x="7235241" y="2347585"/>
            <a:chExt cx="396875" cy="1751012"/>
          </a:xfrm>
        </p:grpSpPr>
        <p:sp>
          <p:nvSpPr>
            <p:cNvPr id="209" name="Text Box 191">
              <a:extLst>
                <a:ext uri="{FF2B5EF4-FFF2-40B4-BE49-F238E27FC236}">
                  <a16:creationId xmlns:a16="http://schemas.microsoft.com/office/drawing/2014/main" id="{D65DE059-0ADE-BA43-86FA-261D968382D9}"/>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213" name="Group 195">
              <a:extLst>
                <a:ext uri="{FF2B5EF4-FFF2-40B4-BE49-F238E27FC236}">
                  <a16:creationId xmlns:a16="http://schemas.microsoft.com/office/drawing/2014/main"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a16="http://schemas.microsoft.com/office/drawing/2014/main"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5" name="Line 197">
                <a:extLst>
                  <a:ext uri="{FF2B5EF4-FFF2-40B4-BE49-F238E27FC236}">
                    <a16:creationId xmlns:a16="http://schemas.microsoft.com/office/drawing/2014/main"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16" name="Group 198">
              <a:extLst>
                <a:ext uri="{FF2B5EF4-FFF2-40B4-BE49-F238E27FC236}">
                  <a16:creationId xmlns:a16="http://schemas.microsoft.com/office/drawing/2014/main"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a16="http://schemas.microsoft.com/office/drawing/2014/main"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Line 200">
                <a:extLst>
                  <a:ext uri="{FF2B5EF4-FFF2-40B4-BE49-F238E27FC236}">
                    <a16:creationId xmlns:a16="http://schemas.microsoft.com/office/drawing/2014/main"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2" name="Group 11">
            <a:extLst>
              <a:ext uri="{FF2B5EF4-FFF2-40B4-BE49-F238E27FC236}">
                <a16:creationId xmlns:a16="http://schemas.microsoft.com/office/drawing/2014/main" id="{A4259714-F109-3243-BC51-888D64DBCE91}"/>
              </a:ext>
            </a:extLst>
          </p:cNvPr>
          <p:cNvGrpSpPr/>
          <p:nvPr/>
        </p:nvGrpSpPr>
        <p:grpSpPr>
          <a:xfrm>
            <a:off x="7603541" y="3004810"/>
            <a:ext cx="2339975" cy="1944687"/>
            <a:chOff x="7603541" y="3004810"/>
            <a:chExt cx="2339975" cy="1944687"/>
          </a:xfrm>
        </p:grpSpPr>
        <p:sp>
          <p:nvSpPr>
            <p:cNvPr id="197" name="Line 175">
              <a:extLst>
                <a:ext uri="{FF2B5EF4-FFF2-40B4-BE49-F238E27FC236}">
                  <a16:creationId xmlns:a16="http://schemas.microsoft.com/office/drawing/2014/main"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2" name="Group 202">
              <a:extLst>
                <a:ext uri="{FF2B5EF4-FFF2-40B4-BE49-F238E27FC236}">
                  <a16:creationId xmlns:a16="http://schemas.microsoft.com/office/drawing/2014/main" id="{D30CD59C-C944-CF4F-B17A-64886A573C0F}"/>
                </a:ext>
              </a:extLst>
            </p:cNvPr>
            <p:cNvGrpSpPr>
              <a:grpSpLocks/>
            </p:cNvGrpSpPr>
            <p:nvPr/>
          </p:nvGrpSpPr>
          <p:grpSpPr bwMode="auto">
            <a:xfrm>
              <a:off x="8505241" y="3496935"/>
              <a:ext cx="949325" cy="304800"/>
              <a:chOff x="4215" y="2253"/>
              <a:chExt cx="598" cy="192"/>
            </a:xfrm>
          </p:grpSpPr>
          <p:sp>
            <p:nvSpPr>
              <p:cNvPr id="203" name="Rectangle 184">
                <a:extLst>
                  <a:ext uri="{FF2B5EF4-FFF2-40B4-BE49-F238E27FC236}">
                    <a16:creationId xmlns:a16="http://schemas.microsoft.com/office/drawing/2014/main"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Text Box 185">
                <a:extLst>
                  <a:ext uri="{FF2B5EF4-FFF2-40B4-BE49-F238E27FC236}">
                    <a16:creationId xmlns:a16="http://schemas.microsoft.com/office/drawing/2014/main" id="{7BF7DF1E-2F02-9D41-B7BC-991A51E982F6}"/>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23" name="Line 207">
              <a:extLst>
                <a:ext uri="{FF2B5EF4-FFF2-40B4-BE49-F238E27FC236}">
                  <a16:creationId xmlns:a16="http://schemas.microsoft.com/office/drawing/2014/main"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4" name="Group 208">
              <a:extLst>
                <a:ext uri="{FF2B5EF4-FFF2-40B4-BE49-F238E27FC236}">
                  <a16:creationId xmlns:a16="http://schemas.microsoft.com/office/drawing/2014/main" id="{6EE49A40-BE68-654E-AAC3-24E6E2BB625A}"/>
                </a:ext>
              </a:extLst>
            </p:cNvPr>
            <p:cNvGrpSpPr>
              <a:grpSpLocks/>
            </p:cNvGrpSpPr>
            <p:nvPr/>
          </p:nvGrpSpPr>
          <p:grpSpPr bwMode="auto">
            <a:xfrm>
              <a:off x="8744953" y="3773160"/>
              <a:ext cx="949325" cy="304800"/>
              <a:chOff x="4215" y="2253"/>
              <a:chExt cx="598" cy="192"/>
            </a:xfrm>
          </p:grpSpPr>
          <p:sp>
            <p:nvSpPr>
              <p:cNvPr id="225" name="Rectangle 209">
                <a:extLst>
                  <a:ext uri="{FF2B5EF4-FFF2-40B4-BE49-F238E27FC236}">
                    <a16:creationId xmlns:a16="http://schemas.microsoft.com/office/drawing/2014/main"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Text Box 210">
                <a:extLst>
                  <a:ext uri="{FF2B5EF4-FFF2-40B4-BE49-F238E27FC236}">
                    <a16:creationId xmlns:a16="http://schemas.microsoft.com/office/drawing/2014/main" id="{8918B79C-3FE7-FC4C-B606-5C7CA33715A9}"/>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14" name="Group 13">
            <a:extLst>
              <a:ext uri="{FF2B5EF4-FFF2-40B4-BE49-F238E27FC236}">
                <a16:creationId xmlns:a16="http://schemas.microsoft.com/office/drawing/2014/main" id="{CD914285-EBDF-1947-9C97-6E8CD760020F}"/>
              </a:ext>
            </a:extLst>
          </p:cNvPr>
          <p:cNvGrpSpPr/>
          <p:nvPr/>
        </p:nvGrpSpPr>
        <p:grpSpPr>
          <a:xfrm>
            <a:off x="6241466" y="4416097"/>
            <a:ext cx="1382712" cy="646113"/>
            <a:chOff x="6241466" y="4416097"/>
            <a:chExt cx="1382712" cy="646113"/>
          </a:xfrm>
        </p:grpSpPr>
        <p:sp>
          <p:nvSpPr>
            <p:cNvPr id="227" name="Text Box 211">
              <a:extLst>
                <a:ext uri="{FF2B5EF4-FFF2-40B4-BE49-F238E27FC236}">
                  <a16:creationId xmlns:a16="http://schemas.microsoft.com/office/drawing/2014/main" id="{1E82E105-7918-0E47-A934-825752F52D6B}"/>
                </a:ext>
              </a:extLst>
            </p:cNvPr>
            <p:cNvSpPr txBox="1">
              <a:spLocks noChangeArrowheads="1"/>
            </p:cNvSpPr>
            <p:nvPr/>
          </p:nvSpPr>
          <p:spPr bwMode="auto">
            <a:xfrm>
              <a:off x="6241466" y="4416097"/>
              <a:ext cx="136366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SendBase=100</a:t>
              </a:r>
            </a:p>
          </p:txBody>
        </p:sp>
        <p:sp>
          <p:nvSpPr>
            <p:cNvPr id="228" name="Text Box 212">
              <a:extLst>
                <a:ext uri="{FF2B5EF4-FFF2-40B4-BE49-F238E27FC236}">
                  <a16:creationId xmlns:a16="http://schemas.microsoft.com/office/drawing/2014/main" id="{387E9E87-069A-FA4A-9F20-9DB5B471A427}"/>
                </a:ext>
              </a:extLst>
            </p:cNvPr>
            <p:cNvSpPr txBox="1">
              <a:spLocks noChangeArrowheads="1"/>
            </p:cNvSpPr>
            <p:nvPr/>
          </p:nvSpPr>
          <p:spPr bwMode="auto">
            <a:xfrm>
              <a:off x="6260516" y="4757410"/>
              <a:ext cx="136366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sp>
        <p:nvSpPr>
          <p:cNvPr id="229" name="Text Box 213">
            <a:extLst>
              <a:ext uri="{FF2B5EF4-FFF2-40B4-BE49-F238E27FC236}">
                <a16:creationId xmlns:a16="http://schemas.microsoft.com/office/drawing/2014/main" id="{31AD8D03-5F21-0F49-8D71-B6031900CD41}"/>
              </a:ext>
            </a:extLst>
          </p:cNvPr>
          <p:cNvSpPr txBox="1">
            <a:spLocks noChangeArrowheads="1"/>
          </p:cNvSpPr>
          <p:nvPr/>
        </p:nvSpPr>
        <p:spPr bwMode="auto">
          <a:xfrm>
            <a:off x="6279566" y="5432097"/>
            <a:ext cx="1363662"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nvGrpSpPr>
          <p:cNvPr id="11" name="Group 10">
            <a:extLst>
              <a:ext uri="{FF2B5EF4-FFF2-40B4-BE49-F238E27FC236}">
                <a16:creationId xmlns:a16="http://schemas.microsoft.com/office/drawing/2014/main" id="{5474E6BB-CCA6-CC47-8617-346673F363BD}"/>
              </a:ext>
            </a:extLst>
          </p:cNvPr>
          <p:cNvGrpSpPr/>
          <p:nvPr/>
        </p:nvGrpSpPr>
        <p:grpSpPr>
          <a:xfrm>
            <a:off x="6306553" y="2187247"/>
            <a:ext cx="3668713" cy="1112838"/>
            <a:chOff x="6306553" y="2187247"/>
            <a:chExt cx="3668713" cy="1112838"/>
          </a:xfrm>
        </p:grpSpPr>
        <p:sp>
          <p:nvSpPr>
            <p:cNvPr id="196" name="Line 174">
              <a:extLst>
                <a:ext uri="{FF2B5EF4-FFF2-40B4-BE49-F238E27FC236}">
                  <a16:creationId xmlns:a16="http://schemas.microsoft.com/office/drawing/2014/main"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Rectangle 182">
              <a:extLst>
                <a:ext uri="{FF2B5EF4-FFF2-40B4-BE49-F238E27FC236}">
                  <a16:creationId xmlns:a16="http://schemas.microsoft.com/office/drawing/2014/main"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Text Box 183">
              <a:extLst>
                <a:ext uri="{FF2B5EF4-FFF2-40B4-BE49-F238E27FC236}">
                  <a16:creationId xmlns:a16="http://schemas.microsoft.com/office/drawing/2014/main" id="{B8140015-E345-EE4A-90B6-3552DAC43E5C}"/>
                </a:ext>
              </a:extLst>
            </p:cNvPr>
            <p:cNvSpPr txBox="1">
              <a:spLocks noChangeArrowheads="1"/>
            </p:cNvSpPr>
            <p:nvPr/>
          </p:nvSpPr>
          <p:spPr bwMode="auto">
            <a:xfrm>
              <a:off x="7773403" y="2476172"/>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nvGrpSpPr>
            <p:cNvPr id="219" name="Group 206">
              <a:extLst>
                <a:ext uri="{FF2B5EF4-FFF2-40B4-BE49-F238E27FC236}">
                  <a16:creationId xmlns:a16="http://schemas.microsoft.com/office/drawing/2014/main" id="{C3DB656C-371F-854E-81A2-904083BC4AF6}"/>
                </a:ext>
              </a:extLst>
            </p:cNvPr>
            <p:cNvGrpSpPr>
              <a:grpSpLocks/>
            </p:cNvGrpSpPr>
            <p:nvPr/>
          </p:nvGrpSpPr>
          <p:grpSpPr bwMode="auto">
            <a:xfrm>
              <a:off x="7614653" y="2728585"/>
              <a:ext cx="2346325" cy="571500"/>
              <a:chOff x="3759" y="1622"/>
              <a:chExt cx="1478" cy="360"/>
            </a:xfrm>
          </p:grpSpPr>
          <p:sp>
            <p:nvSpPr>
              <p:cNvPr id="220" name="Line 203">
                <a:extLst>
                  <a:ext uri="{FF2B5EF4-FFF2-40B4-BE49-F238E27FC236}">
                    <a16:creationId xmlns:a16="http://schemas.microsoft.com/office/drawing/2014/main"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Rectangle 204">
                <a:extLst>
                  <a:ext uri="{FF2B5EF4-FFF2-40B4-BE49-F238E27FC236}">
                    <a16:creationId xmlns:a16="http://schemas.microsoft.com/office/drawing/2014/main"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Text Box 205">
                <a:extLst>
                  <a:ext uri="{FF2B5EF4-FFF2-40B4-BE49-F238E27FC236}">
                    <a16:creationId xmlns:a16="http://schemas.microsoft.com/office/drawing/2014/main" id="{1863CB88-8ADD-294C-BE46-8D80EEB9E9FE}"/>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sp>
          <p:nvSpPr>
            <p:cNvPr id="230" name="Text Box 214">
              <a:extLst>
                <a:ext uri="{FF2B5EF4-FFF2-40B4-BE49-F238E27FC236}">
                  <a16:creationId xmlns:a16="http://schemas.microsoft.com/office/drawing/2014/main" id="{8333BF3A-4F52-4F44-921F-4BAD57A4119A}"/>
                </a:ext>
              </a:extLst>
            </p:cNvPr>
            <p:cNvSpPr txBox="1">
              <a:spLocks noChangeArrowheads="1"/>
            </p:cNvSpPr>
            <p:nvPr/>
          </p:nvSpPr>
          <p:spPr bwMode="auto">
            <a:xfrm>
              <a:off x="6306553" y="2187247"/>
              <a:ext cx="1266825" cy="3048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SendBase=92</a:t>
              </a:r>
            </a:p>
          </p:txBody>
        </p:sp>
      </p:grpSp>
      <p:grpSp>
        <p:nvGrpSpPr>
          <p:cNvPr id="231" name="Group 219">
            <a:extLst>
              <a:ext uri="{FF2B5EF4-FFF2-40B4-BE49-F238E27FC236}">
                <a16:creationId xmlns:a16="http://schemas.microsoft.com/office/drawing/2014/main" id="{2259D372-4B08-6D4E-A450-9719B81C5E51}"/>
              </a:ext>
            </a:extLst>
          </p:cNvPr>
          <p:cNvGrpSpPr>
            <a:grpSpLocks/>
          </p:cNvGrpSpPr>
          <p:nvPr/>
        </p:nvGrpSpPr>
        <p:grpSpPr bwMode="auto">
          <a:xfrm>
            <a:off x="7186028" y="1463347"/>
            <a:ext cx="630238" cy="533400"/>
            <a:chOff x="-44" y="1473"/>
            <a:chExt cx="981" cy="1105"/>
          </a:xfrm>
        </p:grpSpPr>
        <p:pic>
          <p:nvPicPr>
            <p:cNvPr id="232" name="Picture 220" descr="desktop_computer_stylized_medium">
              <a:extLst>
                <a:ext uri="{FF2B5EF4-FFF2-40B4-BE49-F238E27FC236}">
                  <a16:creationId xmlns:a16="http://schemas.microsoft.com/office/drawing/2014/main" id="{2D27C27D-9556-884F-AE7C-167179E6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a16="http://schemas.microsoft.com/office/drawing/2014/main"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4" name="Group 225">
            <a:extLst>
              <a:ext uri="{FF2B5EF4-FFF2-40B4-BE49-F238E27FC236}">
                <a16:creationId xmlns:a16="http://schemas.microsoft.com/office/drawing/2014/main" id="{E20B8076-92C2-A04F-B618-A3527994FF6A}"/>
              </a:ext>
            </a:extLst>
          </p:cNvPr>
          <p:cNvGrpSpPr>
            <a:grpSpLocks/>
          </p:cNvGrpSpPr>
          <p:nvPr/>
        </p:nvGrpSpPr>
        <p:grpSpPr bwMode="auto">
          <a:xfrm flipH="1">
            <a:off x="9753016" y="1469697"/>
            <a:ext cx="631825" cy="622300"/>
            <a:chOff x="-44" y="1473"/>
            <a:chExt cx="981" cy="1105"/>
          </a:xfrm>
        </p:grpSpPr>
        <p:pic>
          <p:nvPicPr>
            <p:cNvPr id="235" name="Picture 226" descr="desktop_computer_stylized_medium">
              <a:extLst>
                <a:ext uri="{FF2B5EF4-FFF2-40B4-BE49-F238E27FC236}">
                  <a16:creationId xmlns:a16="http://schemas.microsoft.com/office/drawing/2014/main" id="{892509C8-70E3-9344-BECE-67F22233D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a16="http://schemas.microsoft.com/office/drawing/2014/main"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7" name="Group 228">
            <a:extLst>
              <a:ext uri="{FF2B5EF4-FFF2-40B4-BE49-F238E27FC236}">
                <a16:creationId xmlns:a16="http://schemas.microsoft.com/office/drawing/2014/main" id="{F8939732-2442-144E-A5BB-23D63EE09D71}"/>
              </a:ext>
            </a:extLst>
          </p:cNvPr>
          <p:cNvGrpSpPr>
            <a:grpSpLocks/>
          </p:cNvGrpSpPr>
          <p:nvPr/>
        </p:nvGrpSpPr>
        <p:grpSpPr bwMode="auto">
          <a:xfrm>
            <a:off x="1601856" y="1474460"/>
            <a:ext cx="630238" cy="533400"/>
            <a:chOff x="-44" y="1473"/>
            <a:chExt cx="981" cy="1105"/>
          </a:xfrm>
        </p:grpSpPr>
        <p:pic>
          <p:nvPicPr>
            <p:cNvPr id="238"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0" name="Group 231">
            <a:extLst>
              <a:ext uri="{FF2B5EF4-FFF2-40B4-BE49-F238E27FC236}">
                <a16:creationId xmlns:a16="http://schemas.microsoft.com/office/drawing/2014/main" id="{E145A84A-1570-9C46-A817-B68A25E966D9}"/>
              </a:ext>
            </a:extLst>
          </p:cNvPr>
          <p:cNvGrpSpPr>
            <a:grpSpLocks/>
          </p:cNvGrpSpPr>
          <p:nvPr/>
        </p:nvGrpSpPr>
        <p:grpSpPr bwMode="auto">
          <a:xfrm flipH="1">
            <a:off x="4179956" y="1458585"/>
            <a:ext cx="709613" cy="600075"/>
            <a:chOff x="-44" y="1473"/>
            <a:chExt cx="981" cy="1105"/>
          </a:xfrm>
        </p:grpSpPr>
        <p:pic>
          <p:nvPicPr>
            <p:cNvPr id="241"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9" name="TextBox 18">
            <a:extLst>
              <a:ext uri="{FF2B5EF4-FFF2-40B4-BE49-F238E27FC236}">
                <a16:creationId xmlns:a16="http://schemas.microsoft.com/office/drawing/2014/main" id="{8C70D25B-261A-724E-991C-E91D345300FB}"/>
              </a:ext>
            </a:extLst>
          </p:cNvPr>
          <p:cNvSpPr txBox="1"/>
          <p:nvPr/>
        </p:nvSpPr>
        <p:spPr>
          <a:xfrm>
            <a:off x="9973410" y="4508500"/>
            <a:ext cx="1591398" cy="5355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send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ACK for 120</a:t>
            </a:r>
          </a:p>
        </p:txBody>
      </p:sp>
      <p:sp>
        <p:nvSpPr>
          <p:cNvPr id="89" name="Slide Number Placeholder 2">
            <a:extLst>
              <a:ext uri="{FF2B5EF4-FFF2-40B4-BE49-F238E27FC236}">
                <a16:creationId xmlns:a16="http://schemas.microsoft.com/office/drawing/2014/main" id="{9219ABA9-4F40-D04C-A34A-87A2AE31AF2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14</a:t>
            </a:fld>
            <a:endParaRPr lang="en-US" dirty="0"/>
          </a:p>
        </p:txBody>
      </p:sp>
    </p:spTree>
    <p:extLst>
      <p:ext uri="{BB962C8B-B14F-4D97-AF65-F5344CB8AC3E}">
        <p14:creationId xmlns:p14="http://schemas.microsoft.com/office/powerpoint/2010/main" val="42388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19" name="Text Box 34">
            <a:extLst>
              <a:ext uri="{FF2B5EF4-FFF2-40B4-BE49-F238E27FC236}">
                <a16:creationId xmlns:a16="http://schemas.microsoft.com/office/drawing/2014/main" id="{ADFB94EB-2205-5C4D-A60C-0BE52074D9EF}"/>
              </a:ext>
            </a:extLst>
          </p:cNvPr>
          <p:cNvSpPr txBox="1">
            <a:spLocks noChangeArrowheads="1"/>
          </p:cNvSpPr>
          <p:nvPr/>
        </p:nvSpPr>
        <p:spPr bwMode="auto">
          <a:xfrm>
            <a:off x="1902139" y="5486400"/>
            <a:ext cx="2542862" cy="6463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cumulative ACK covers for earlier lost ACK</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Line 36">
            <a:extLst>
              <a:ext uri="{FF2B5EF4-FFF2-40B4-BE49-F238E27FC236}">
                <a16:creationId xmlns:a16="http://schemas.microsoft.com/office/drawing/2014/main" id="{CCBE06AD-8A86-F04F-8691-D7894B915278}"/>
              </a:ext>
            </a:extLst>
          </p:cNvPr>
          <p:cNvSpPr>
            <a:spLocks noChangeShapeType="1"/>
          </p:cNvSpPr>
          <p:nvPr/>
        </p:nvSpPr>
        <p:spPr bwMode="auto">
          <a:xfrm>
            <a:off x="2039800" y="2349049"/>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Text Box 39">
            <a:extLst>
              <a:ext uri="{FF2B5EF4-FFF2-40B4-BE49-F238E27FC236}">
                <a16:creationId xmlns:a16="http://schemas.microsoft.com/office/drawing/2014/main" id="{97669ECF-79A1-4D41-8748-0027E9432529}"/>
              </a:ext>
            </a:extLst>
          </p:cNvPr>
          <p:cNvSpPr txBox="1">
            <a:spLocks noChangeArrowheads="1"/>
          </p:cNvSpPr>
          <p:nvPr/>
        </p:nvSpPr>
        <p:spPr bwMode="auto">
          <a:xfrm>
            <a:off x="3965437" y="1177474"/>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24" name="Text Box 43">
            <a:extLst>
              <a:ext uri="{FF2B5EF4-FFF2-40B4-BE49-F238E27FC236}">
                <a16:creationId xmlns:a16="http://schemas.microsoft.com/office/drawing/2014/main" id="{0992C83B-4206-984D-AB17-6BDBF1D64593}"/>
              </a:ext>
            </a:extLst>
          </p:cNvPr>
          <p:cNvSpPr txBox="1">
            <a:spLocks noChangeArrowheads="1"/>
          </p:cNvSpPr>
          <p:nvPr/>
        </p:nvSpPr>
        <p:spPr bwMode="auto">
          <a:xfrm>
            <a:off x="1644512" y="1207637"/>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125" name="Rectangle 44">
            <a:extLst>
              <a:ext uri="{FF2B5EF4-FFF2-40B4-BE49-F238E27FC236}">
                <a16:creationId xmlns:a16="http://schemas.microsoft.com/office/drawing/2014/main" id="{831F8853-027A-294B-AA6D-ACCABA945CDE}"/>
              </a:ext>
            </a:extLst>
          </p:cNvPr>
          <p:cNvSpPr>
            <a:spLocks noChangeArrowheads="1"/>
          </p:cNvSpPr>
          <p:nvPr/>
        </p:nvSpPr>
        <p:spPr bwMode="auto">
          <a:xfrm>
            <a:off x="2743062" y="2430012"/>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Text Box 45">
            <a:extLst>
              <a:ext uri="{FF2B5EF4-FFF2-40B4-BE49-F238E27FC236}">
                <a16:creationId xmlns:a16="http://schemas.microsoft.com/office/drawing/2014/main" id="{8D027E41-059B-A348-B661-6F2DD0666670}"/>
              </a:ext>
            </a:extLst>
          </p:cNvPr>
          <p:cNvSpPr txBox="1">
            <a:spLocks noChangeArrowheads="1"/>
          </p:cNvSpPr>
          <p:nvPr/>
        </p:nvSpPr>
        <p:spPr bwMode="auto">
          <a:xfrm>
            <a:off x="2184262" y="2482399"/>
            <a:ext cx="2085975"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130" name="Line 49">
            <a:extLst>
              <a:ext uri="{FF2B5EF4-FFF2-40B4-BE49-F238E27FC236}">
                <a16:creationId xmlns:a16="http://schemas.microsoft.com/office/drawing/2014/main" id="{7554A1BA-7B17-9947-9957-0D23896F869A}"/>
              </a:ext>
            </a:extLst>
          </p:cNvPr>
          <p:cNvSpPr>
            <a:spLocks noChangeShapeType="1"/>
          </p:cNvSpPr>
          <p:nvPr/>
        </p:nvSpPr>
        <p:spPr bwMode="auto">
          <a:xfrm>
            <a:off x="2019162" y="2107749"/>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Line 50">
            <a:extLst>
              <a:ext uri="{FF2B5EF4-FFF2-40B4-BE49-F238E27FC236}">
                <a16:creationId xmlns:a16="http://schemas.microsoft.com/office/drawing/2014/main" id="{CBDA8AA8-732F-A344-BAE1-68752D7E6D4A}"/>
              </a:ext>
            </a:extLst>
          </p:cNvPr>
          <p:cNvSpPr>
            <a:spLocks noChangeShapeType="1"/>
          </p:cNvSpPr>
          <p:nvPr/>
        </p:nvSpPr>
        <p:spPr bwMode="auto">
          <a:xfrm>
            <a:off x="4424225" y="2102987"/>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15CBAF7E-F641-074E-A960-6453A9AD2BBF}"/>
              </a:ext>
            </a:extLst>
          </p:cNvPr>
          <p:cNvGrpSpPr/>
          <p:nvPr/>
        </p:nvGrpSpPr>
        <p:grpSpPr>
          <a:xfrm>
            <a:off x="2009637" y="4431849"/>
            <a:ext cx="2652713" cy="879475"/>
            <a:chOff x="2035037" y="4444549"/>
            <a:chExt cx="2652713" cy="879475"/>
          </a:xfrm>
        </p:grpSpPr>
        <p:sp>
          <p:nvSpPr>
            <p:cNvPr id="120"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Rectangle 51">
              <a:extLst>
                <a:ext uri="{FF2B5EF4-FFF2-40B4-BE49-F238E27FC236}">
                  <a16:creationId xmlns:a16="http://schemas.microsoft.com/office/drawing/2014/main" id="{5452ECDA-B3E0-374F-AC96-350658E75BBD}"/>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Text Box 52">
              <a:extLst>
                <a:ext uri="{FF2B5EF4-FFF2-40B4-BE49-F238E27FC236}">
                  <a16:creationId xmlns:a16="http://schemas.microsoft.com/office/drawing/2014/main" id="{CE55EEB5-1B37-394C-A536-E0960B386C84}"/>
                </a:ext>
              </a:extLst>
            </p:cNvPr>
            <p:cNvSpPr txBox="1">
              <a:spLocks noChangeArrowheads="1"/>
            </p:cNvSpPr>
            <p:nvPr/>
          </p:nvSpPr>
          <p:spPr bwMode="auto">
            <a:xfrm>
              <a:off x="2035037" y="4604887"/>
              <a:ext cx="2652713"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Seq=120,  15 bytes of data</a:t>
              </a:r>
            </a:p>
          </p:txBody>
        </p:sp>
        <p:sp>
          <p:nvSpPr>
            <p:cNvPr id="134"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43" name="Group 63">
            <a:extLst>
              <a:ext uri="{FF2B5EF4-FFF2-40B4-BE49-F238E27FC236}">
                <a16:creationId xmlns:a16="http://schemas.microsoft.com/office/drawing/2014/main" id="{C3C010AE-BE43-6F47-963B-D6CB3155D42B}"/>
              </a:ext>
            </a:extLst>
          </p:cNvPr>
          <p:cNvGrpSpPr>
            <a:grpSpLocks/>
          </p:cNvGrpSpPr>
          <p:nvPr/>
        </p:nvGrpSpPr>
        <p:grpSpPr bwMode="auto">
          <a:xfrm>
            <a:off x="2025512" y="2734812"/>
            <a:ext cx="2346325" cy="571500"/>
            <a:chOff x="3759" y="1622"/>
            <a:chExt cx="1478" cy="360"/>
          </a:xfrm>
        </p:grpSpPr>
        <p:sp>
          <p:nvSpPr>
            <p:cNvPr id="144" name="Line 64">
              <a:extLst>
                <a:ext uri="{FF2B5EF4-FFF2-40B4-BE49-F238E27FC236}">
                  <a16:creationId xmlns:a16="http://schemas.microsoft.com/office/drawing/2014/main" id="{1530CC4E-B289-DB44-8685-B440E2B60DE1}"/>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5" name="Rectangle 65">
              <a:extLst>
                <a:ext uri="{FF2B5EF4-FFF2-40B4-BE49-F238E27FC236}">
                  <a16:creationId xmlns:a16="http://schemas.microsoft.com/office/drawing/2014/main" id="{FE817F64-FB48-EB47-B984-31AC87976FF4}"/>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Text Box 66">
              <a:extLst>
                <a:ext uri="{FF2B5EF4-FFF2-40B4-BE49-F238E27FC236}">
                  <a16:creationId xmlns:a16="http://schemas.microsoft.com/office/drawing/2014/main" id="{F1525CD3-6EAD-8B46-AE7B-D63A2D957330}"/>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4" name="Group 3">
            <a:extLst>
              <a:ext uri="{FF2B5EF4-FFF2-40B4-BE49-F238E27FC236}">
                <a16:creationId xmlns:a16="http://schemas.microsoft.com/office/drawing/2014/main" id="{AEA8CEC7-4316-034E-9A10-D1758AB5C1E8}"/>
              </a:ext>
            </a:extLst>
          </p:cNvPr>
          <p:cNvGrpSpPr/>
          <p:nvPr/>
        </p:nvGrpSpPr>
        <p:grpSpPr>
          <a:xfrm>
            <a:off x="2030275" y="3011037"/>
            <a:ext cx="2324100" cy="1381125"/>
            <a:chOff x="2030275" y="3011037"/>
            <a:chExt cx="2324100" cy="1381125"/>
          </a:xfrm>
        </p:grpSpPr>
        <p:sp>
          <p:nvSpPr>
            <p:cNvPr id="118" name="Text Box 22">
              <a:extLst>
                <a:ext uri="{FF2B5EF4-FFF2-40B4-BE49-F238E27FC236}">
                  <a16:creationId xmlns:a16="http://schemas.microsoft.com/office/drawing/2014/main" id="{26DC4EAE-1D60-F74E-A59A-4591BEF7DB8A}"/>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122" name="Line 37">
              <a:extLst>
                <a:ext uri="{FF2B5EF4-FFF2-40B4-BE49-F238E27FC236}">
                  <a16:creationId xmlns:a16="http://schemas.microsoft.com/office/drawing/2014/main"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7" name="Group 46">
              <a:extLst>
                <a:ext uri="{FF2B5EF4-FFF2-40B4-BE49-F238E27FC236}">
                  <a16:creationId xmlns:a16="http://schemas.microsoft.com/office/drawing/2014/main" id="{324855DF-61E7-B748-8BCC-0D83D44C7E23}"/>
                </a:ext>
              </a:extLst>
            </p:cNvPr>
            <p:cNvGrpSpPr>
              <a:grpSpLocks/>
            </p:cNvGrpSpPr>
            <p:nvPr/>
          </p:nvGrpSpPr>
          <p:grpSpPr bwMode="auto">
            <a:xfrm>
              <a:off x="2939912" y="3211062"/>
              <a:ext cx="949325" cy="304800"/>
              <a:chOff x="4215" y="2253"/>
              <a:chExt cx="598" cy="192"/>
            </a:xfrm>
          </p:grpSpPr>
          <p:sp>
            <p:nvSpPr>
              <p:cNvPr id="128" name="Rectangle 47">
                <a:extLst>
                  <a:ext uri="{FF2B5EF4-FFF2-40B4-BE49-F238E27FC236}">
                    <a16:creationId xmlns:a16="http://schemas.microsoft.com/office/drawing/2014/main" id="{9FB09B08-6C10-9344-B5F2-19059A82D4D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9" name="Text Box 48">
                <a:extLst>
                  <a:ext uri="{FF2B5EF4-FFF2-40B4-BE49-F238E27FC236}">
                    <a16:creationId xmlns:a16="http://schemas.microsoft.com/office/drawing/2014/main" id="{53E02B34-B365-F741-81B4-3CC6B76EE9BD}"/>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147" name="Line 67">
              <a:extLst>
                <a:ext uri="{FF2B5EF4-FFF2-40B4-BE49-F238E27FC236}">
                  <a16:creationId xmlns:a16="http://schemas.microsoft.com/office/drawing/2014/main" id="{3A9C7800-3C25-D246-B475-A10782D1A42F}"/>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48" name="Group 68">
              <a:extLst>
                <a:ext uri="{FF2B5EF4-FFF2-40B4-BE49-F238E27FC236}">
                  <a16:creationId xmlns:a16="http://schemas.microsoft.com/office/drawing/2014/main" id="{17041CF4-B3BE-AC4C-8F4D-F6EFAD312E20}"/>
                </a:ext>
              </a:extLst>
            </p:cNvPr>
            <p:cNvGrpSpPr>
              <a:grpSpLocks/>
            </p:cNvGrpSpPr>
            <p:nvPr/>
          </p:nvGrpSpPr>
          <p:grpSpPr bwMode="auto">
            <a:xfrm>
              <a:off x="2673212" y="3768274"/>
              <a:ext cx="949325" cy="304800"/>
              <a:chOff x="4215" y="2253"/>
              <a:chExt cx="598" cy="192"/>
            </a:xfrm>
          </p:grpSpPr>
          <p:sp>
            <p:nvSpPr>
              <p:cNvPr id="149" name="Rectangle 69">
                <a:extLst>
                  <a:ext uri="{FF2B5EF4-FFF2-40B4-BE49-F238E27FC236}">
                    <a16:creationId xmlns:a16="http://schemas.microsoft.com/office/drawing/2014/main" id="{3AAC76A6-2B0F-6244-8FEC-36E70DA156C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0" name="Text Box 70">
                <a:extLst>
                  <a:ext uri="{FF2B5EF4-FFF2-40B4-BE49-F238E27FC236}">
                    <a16:creationId xmlns:a16="http://schemas.microsoft.com/office/drawing/2014/main" id="{821F7D19-F8C8-AE45-80AF-5153ED6D8304}"/>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151" name="Group 84">
            <a:extLst>
              <a:ext uri="{FF2B5EF4-FFF2-40B4-BE49-F238E27FC236}">
                <a16:creationId xmlns:a16="http://schemas.microsoft.com/office/drawing/2014/main" id="{A513F213-614E-9644-8CDB-349CE9C0E465}"/>
              </a:ext>
            </a:extLst>
          </p:cNvPr>
          <p:cNvGrpSpPr>
            <a:grpSpLocks/>
          </p:cNvGrpSpPr>
          <p:nvPr/>
        </p:nvGrpSpPr>
        <p:grpSpPr bwMode="auto">
          <a:xfrm>
            <a:off x="1598475" y="1469574"/>
            <a:ext cx="630237" cy="533400"/>
            <a:chOff x="-44" y="1473"/>
            <a:chExt cx="981" cy="1105"/>
          </a:xfrm>
        </p:grpSpPr>
        <p:pic>
          <p:nvPicPr>
            <p:cNvPr id="152" name="Picture 85" descr="desktop_computer_stylized_medium">
              <a:extLst>
                <a:ext uri="{FF2B5EF4-FFF2-40B4-BE49-F238E27FC236}">
                  <a16:creationId xmlns:a16="http://schemas.microsoft.com/office/drawing/2014/main" id="{9BBAD69B-B04A-1542-BCB4-1BBB280A5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86">
              <a:extLst>
                <a:ext uri="{FF2B5EF4-FFF2-40B4-BE49-F238E27FC236}">
                  <a16:creationId xmlns:a16="http://schemas.microsoft.com/office/drawing/2014/main"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54" name="Group 87">
            <a:extLst>
              <a:ext uri="{FF2B5EF4-FFF2-40B4-BE49-F238E27FC236}">
                <a16:creationId xmlns:a16="http://schemas.microsoft.com/office/drawing/2014/main" id="{C16FC996-18F5-D44A-B06A-968A8827AE39}"/>
              </a:ext>
            </a:extLst>
          </p:cNvPr>
          <p:cNvGrpSpPr>
            <a:grpSpLocks/>
          </p:cNvGrpSpPr>
          <p:nvPr/>
        </p:nvGrpSpPr>
        <p:grpSpPr bwMode="auto">
          <a:xfrm flipH="1">
            <a:off x="4176575" y="1464812"/>
            <a:ext cx="674687" cy="590550"/>
            <a:chOff x="-44" y="1473"/>
            <a:chExt cx="981" cy="1105"/>
          </a:xfrm>
        </p:grpSpPr>
        <p:pic>
          <p:nvPicPr>
            <p:cNvPr id="155" name="Picture 88" descr="desktop_computer_stylized_medium">
              <a:extLst>
                <a:ext uri="{FF2B5EF4-FFF2-40B4-BE49-F238E27FC236}">
                  <a16:creationId xmlns:a16="http://schemas.microsoft.com/office/drawing/2014/main" id="{DD8C1025-5742-124A-A45D-17C092AE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Freeform 89">
              <a:extLst>
                <a:ext uri="{FF2B5EF4-FFF2-40B4-BE49-F238E27FC236}">
                  <a16:creationId xmlns:a16="http://schemas.microsoft.com/office/drawing/2014/main"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6" name="Slide Number Placeholder 2">
            <a:extLst>
              <a:ext uri="{FF2B5EF4-FFF2-40B4-BE49-F238E27FC236}">
                <a16:creationId xmlns:a16="http://schemas.microsoft.com/office/drawing/2014/main" id="{F42F4D6B-59A3-9047-BAC8-F69D80AB687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15</a:t>
            </a:fld>
            <a:endParaRPr lang="en-US" dirty="0"/>
          </a:p>
        </p:txBody>
      </p:sp>
    </p:spTree>
    <p:extLst>
      <p:ext uri="{BB962C8B-B14F-4D97-AF65-F5344CB8AC3E}">
        <p14:creationId xmlns:p14="http://schemas.microsoft.com/office/powerpoint/2010/main" val="314396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wipe(left)">
                                      <p:cBhvr>
                                        <p:cTn id="10" dur="500"/>
                                        <p:tgtEl>
                                          <p:spTgt spid="1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left)">
                                      <p:cBhvr>
                                        <p:cTn id="13" dur="500"/>
                                        <p:tgtEl>
                                          <p:spTgt spid="126"/>
                                        </p:tgtEl>
                                      </p:cBhvr>
                                    </p:animEffect>
                                  </p:childTnLst>
                                </p:cTn>
                              </p:par>
                              <p:par>
                                <p:cTn id="14" presetID="22" presetClass="entr" presetSubtype="8" fill="hold" nodeType="with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animBg="1"/>
      <p:bldP spid="1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unACKed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unACKed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16</a:t>
            </a:fld>
            <a:endParaRPr lang="en-US" dirty="0"/>
          </a:p>
        </p:txBody>
      </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183946"/>
            <a:ext cx="6618109" cy="5624267"/>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pPr>
            <a:r>
              <a:rPr lang="en-US" sz="3200" dirty="0"/>
              <a:t>Connection-oriented transport: TCP</a:t>
            </a:r>
          </a:p>
          <a:p>
            <a:pPr marL="746125" lvl="1" indent="-288925">
              <a:buClr>
                <a:schemeClr val="bg1">
                  <a:lumMod val="75000"/>
                </a:schemeClr>
              </a:buClr>
              <a:buFont typeface="Arial"/>
              <a:buChar char="•"/>
              <a:defRPr/>
            </a:pPr>
            <a:r>
              <a:rPr lang="en-US" dirty="0">
                <a:solidFill>
                  <a:schemeClr val="bg1">
                    <a:lumMod val="75000"/>
                  </a:schemeClr>
                </a:solidFill>
              </a:rPr>
              <a:t>segment structure</a:t>
            </a:r>
          </a:p>
          <a:p>
            <a:pPr marL="746125" lvl="1" indent="-288925">
              <a:buClr>
                <a:schemeClr val="bg1">
                  <a:lumMod val="75000"/>
                </a:schemeClr>
              </a:buClr>
              <a:buFont typeface="Arial"/>
              <a:buChar char="•"/>
              <a:defRPr/>
            </a:pPr>
            <a:r>
              <a:rPr lang="en-US" dirty="0">
                <a:solidFill>
                  <a:schemeClr val="bg1">
                    <a:lumMod val="75000"/>
                  </a:schemeClr>
                </a:solidFill>
              </a:rPr>
              <a:t>reliable data transfer</a:t>
            </a:r>
          </a:p>
          <a:p>
            <a:pPr marL="746125" lvl="1" indent="-288925">
              <a:buFont typeface="Arial"/>
              <a:buChar char="•"/>
              <a:defRPr/>
            </a:pPr>
            <a:r>
              <a:rPr lang="en-US" dirty="0"/>
              <a:t>flow control</a:t>
            </a:r>
          </a:p>
          <a:p>
            <a:pPr marL="746125" lvl="1" indent="-288925">
              <a:buFont typeface="Arial"/>
              <a:buChar char="•"/>
              <a:defRPr/>
            </a:pPr>
            <a:r>
              <a:rPr lang="en-US" dirty="0"/>
              <a:t>connection management</a:t>
            </a:r>
            <a:endParaRPr lang="en-US" sz="3200" dirty="0"/>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006FDDC9-958A-FA4C-8403-56ABF73A6F8E}"/>
              </a:ext>
            </a:extLst>
          </p:cNvPr>
          <p:cNvSpPr>
            <a:spLocks noGrp="1"/>
          </p:cNvSpPr>
          <p:nvPr>
            <p:ph type="sldNum" sz="quarter" idx="4"/>
          </p:nvPr>
        </p:nvSpPr>
        <p:spPr/>
        <p:txBody>
          <a:bodyPr/>
          <a:lstStyle/>
          <a:p>
            <a:r>
              <a:rPr lang="en-US" dirty="0"/>
              <a:t>Transport Layer: 3-</a:t>
            </a:r>
            <a:fld id="{C4204591-24BD-A542-B9D5-F8D8A88D2FEE}" type="slidenum">
              <a:rPr lang="en-US" smtClean="0"/>
              <a:pPr/>
              <a:t>17</a:t>
            </a:fld>
            <a:endParaRPr lang="en-US" dirty="0"/>
          </a:p>
        </p:txBody>
      </p:sp>
      <p:pic>
        <p:nvPicPr>
          <p:cNvPr id="4" name="Picture 3">
            <a:extLst>
              <a:ext uri="{FF2B5EF4-FFF2-40B4-BE49-F238E27FC236}">
                <a16:creationId xmlns:a16="http://schemas.microsoft.com/office/drawing/2014/main" id="{E38C2079-94CD-4084-5DA7-4A43DA538B7E}"/>
              </a:ext>
            </a:extLst>
          </p:cNvPr>
          <p:cNvPicPr>
            <a:picLocks noChangeAspect="1"/>
          </p:cNvPicPr>
          <p:nvPr/>
        </p:nvPicPr>
        <p:blipFill>
          <a:blip r:embed="rId3"/>
          <a:stretch>
            <a:fillRect/>
          </a:stretch>
        </p:blipFill>
        <p:spPr>
          <a:xfrm>
            <a:off x="7823199" y="1791867"/>
            <a:ext cx="3752851" cy="2818233"/>
          </a:xfrm>
          <a:prstGeom prst="rect">
            <a:avLst/>
          </a:prstGeom>
        </p:spPr>
      </p:pic>
    </p:spTree>
    <p:extLst>
      <p:ext uri="{BB962C8B-B14F-4D97-AF65-F5344CB8AC3E}">
        <p14:creationId xmlns:p14="http://schemas.microsoft.com/office/powerpoint/2010/main" val="3193579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5189688" y="2806352"/>
            <a:ext cx="4533734" cy="2971623"/>
            <a:chOff x="5189688" y="2806352"/>
            <a:chExt cx="4533734" cy="2971623"/>
          </a:xfrm>
        </p:grpSpPr>
        <p:grpSp>
          <p:nvGrpSpPr>
            <p:cNvPr id="7" name="Group 6">
              <a:extLst>
                <a:ext uri="{FF2B5EF4-FFF2-40B4-BE49-F238E27FC236}">
                  <a16:creationId xmlns:a16="http://schemas.microsoft.com/office/drawing/2014/main" id="{90136498-1DCA-8245-9AEB-79D923D0965C}"/>
                </a:ext>
              </a:extLst>
            </p:cNvPr>
            <p:cNvGrpSpPr/>
            <p:nvPr/>
          </p:nvGrpSpPr>
          <p:grpSpPr>
            <a:xfrm>
              <a:off x="5189688" y="3080408"/>
              <a:ext cx="3750934" cy="2697567"/>
              <a:chOff x="4633274" y="3577949"/>
              <a:chExt cx="3750934" cy="2697567"/>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7" name="Text Box 106">
                <a:extLst>
                  <a:ext uri="{FF2B5EF4-FFF2-40B4-BE49-F238E27FC236}">
                    <a16:creationId xmlns:a16="http://schemas.microsoft.com/office/drawing/2014/main" id="{60423099-6913-6449-94EA-C3C8BD4E23A1}"/>
                  </a:ext>
                </a:extLst>
              </p:cNvPr>
              <p:cNvSpPr txBox="1">
                <a:spLocks noChangeArrowheads="1"/>
              </p:cNvSpPr>
              <p:nvPr/>
            </p:nvSpPr>
            <p:spPr bwMode="auto">
              <a:xfrm>
                <a:off x="4633274" y="4192806"/>
                <a:ext cx="2332549"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Network layer delivering IP datagram payload into TCP socket buffers</a:t>
                </a:r>
              </a:p>
            </p:txBody>
          </p:sp>
          <p:sp>
            <p:nvSpPr>
              <p:cNvPr id="168" name="Line 108">
                <a:extLst>
                  <a:ext uri="{FF2B5EF4-FFF2-40B4-BE49-F238E27FC236}">
                    <a16:creationId xmlns:a16="http://schemas.microsoft.com/office/drawing/2014/main" id="{526C2D0A-E0A9-564E-8CDF-3A8B49E5D882}"/>
                  </a:ext>
                </a:extLst>
              </p:cNvPr>
              <p:cNvSpPr>
                <a:spLocks noChangeShapeType="1"/>
              </p:cNvSpPr>
              <p:nvPr/>
            </p:nvSpPr>
            <p:spPr bwMode="auto">
              <a:xfrm>
                <a:off x="6906339" y="4724124"/>
                <a:ext cx="522908"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74521" y="5970716"/>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48" name="Slide Number Placeholder 2">
            <a:extLst>
              <a:ext uri="{FF2B5EF4-FFF2-40B4-BE49-F238E27FC236}">
                <a16:creationId xmlns:a16="http://schemas.microsoft.com/office/drawing/2014/main" id="{70507C61-599D-8346-AECE-C0A356026ED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18</a:t>
            </a:fld>
            <a:endParaRPr lang="en-US" dirty="0"/>
          </a:p>
        </p:txBody>
      </p:sp>
    </p:spTree>
    <p:extLst>
      <p:ext uri="{BB962C8B-B14F-4D97-AF65-F5344CB8AC3E}">
        <p14:creationId xmlns:p14="http://schemas.microsoft.com/office/powerpoint/2010/main" val="1447634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5189688" y="2806352"/>
            <a:ext cx="4533734" cy="2971623"/>
            <a:chOff x="5189688" y="2806352"/>
            <a:chExt cx="4533734" cy="2971623"/>
          </a:xfrm>
        </p:grpSpPr>
        <p:grpSp>
          <p:nvGrpSpPr>
            <p:cNvPr id="7" name="Group 6">
              <a:extLst>
                <a:ext uri="{FF2B5EF4-FFF2-40B4-BE49-F238E27FC236}">
                  <a16:creationId xmlns:a16="http://schemas.microsoft.com/office/drawing/2014/main" id="{90136498-1DCA-8245-9AEB-79D923D0965C}"/>
                </a:ext>
              </a:extLst>
            </p:cNvPr>
            <p:cNvGrpSpPr/>
            <p:nvPr/>
          </p:nvGrpSpPr>
          <p:grpSpPr>
            <a:xfrm>
              <a:off x="5189688" y="3080408"/>
              <a:ext cx="3750934" cy="2697567"/>
              <a:chOff x="4633274" y="3577949"/>
              <a:chExt cx="3750934" cy="2697567"/>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67" name="Text Box 106">
                <a:extLst>
                  <a:ext uri="{FF2B5EF4-FFF2-40B4-BE49-F238E27FC236}">
                    <a16:creationId xmlns:a16="http://schemas.microsoft.com/office/drawing/2014/main" id="{60423099-6913-6449-94EA-C3C8BD4E23A1}"/>
                  </a:ext>
                </a:extLst>
              </p:cNvPr>
              <p:cNvSpPr txBox="1">
                <a:spLocks noChangeArrowheads="1"/>
              </p:cNvSpPr>
              <p:nvPr/>
            </p:nvSpPr>
            <p:spPr bwMode="auto">
              <a:xfrm>
                <a:off x="4633274" y="4192806"/>
                <a:ext cx="2332549"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Network layer delivering IP datagram payload into TCP socket buffers</a:t>
                </a:r>
              </a:p>
            </p:txBody>
          </p:sp>
          <p:sp>
            <p:nvSpPr>
              <p:cNvPr id="168" name="Line 108">
                <a:extLst>
                  <a:ext uri="{FF2B5EF4-FFF2-40B4-BE49-F238E27FC236}">
                    <a16:creationId xmlns:a16="http://schemas.microsoft.com/office/drawing/2014/main" id="{526C2D0A-E0A9-564E-8CDF-3A8B49E5D882}"/>
                  </a:ext>
                </a:extLst>
              </p:cNvPr>
              <p:cNvSpPr>
                <a:spLocks noChangeShapeType="1"/>
              </p:cNvSpPr>
              <p:nvPr/>
            </p:nvSpPr>
            <p:spPr bwMode="auto">
              <a:xfrm>
                <a:off x="6906339" y="4724124"/>
                <a:ext cx="522908"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74521" y="5970716"/>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50" name="Slide Number Placeholder 2">
            <a:extLst>
              <a:ext uri="{FF2B5EF4-FFF2-40B4-BE49-F238E27FC236}">
                <a16:creationId xmlns:a16="http://schemas.microsoft.com/office/drawing/2014/main" id="{48F7A259-99DD-7041-B802-66CCB4B0EB0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19</a:t>
            </a:fld>
            <a:endParaRPr lang="en-US" dirty="0"/>
          </a:p>
        </p:txBody>
      </p:sp>
    </p:spTree>
    <p:extLst>
      <p:ext uri="{BB962C8B-B14F-4D97-AF65-F5344CB8AC3E}">
        <p14:creationId xmlns:p14="http://schemas.microsoft.com/office/powerpoint/2010/main" val="473837047"/>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8211960" y="4121808"/>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901253" y="5053671"/>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8204022" y="3080408"/>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630935" y="5473175"/>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54" name="Group 53">
            <a:extLst>
              <a:ext uri="{FF2B5EF4-FFF2-40B4-BE49-F238E27FC236}">
                <a16:creationId xmlns:a16="http://schemas.microsoft.com/office/drawing/2014/main" id="{FB367096-84FB-0C47-BA14-5CD76A63BC39}"/>
              </a:ext>
            </a:extLst>
          </p:cNvPr>
          <p:cNvGrpSpPr/>
          <p:nvPr/>
        </p:nvGrpSpPr>
        <p:grpSpPr>
          <a:xfrm>
            <a:off x="1111171" y="3426107"/>
            <a:ext cx="5034986" cy="2800562"/>
            <a:chOff x="4343173" y="1560062"/>
            <a:chExt cx="9034622" cy="4921250"/>
          </a:xfrm>
        </p:grpSpPr>
        <p:sp>
          <p:nvSpPr>
            <p:cNvPr id="55" name="Rectangle 4">
              <a:extLst>
                <a:ext uri="{FF2B5EF4-FFF2-40B4-BE49-F238E27FC236}">
                  <a16:creationId xmlns:a16="http://schemas.microsoft.com/office/drawing/2014/main" id="{887BE98B-9B7E-9D41-AEF0-CA93BB1C9316}"/>
                </a:ext>
              </a:extLst>
            </p:cNvPr>
            <p:cNvSpPr>
              <a:spLocks noChangeArrowheads="1"/>
            </p:cNvSpPr>
            <p:nvPr/>
          </p:nvSpPr>
          <p:spPr bwMode="auto">
            <a:xfrm>
              <a:off x="4432073" y="1560062"/>
              <a:ext cx="3951287" cy="4824412"/>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57" name="Rectangle 5">
              <a:extLst>
                <a:ext uri="{FF2B5EF4-FFF2-40B4-BE49-F238E27FC236}">
                  <a16:creationId xmlns:a16="http://schemas.microsoft.com/office/drawing/2014/main" id="{6DD2E62C-E2CB-C147-9685-E568D5425264}"/>
                </a:ext>
              </a:extLst>
            </p:cNvPr>
            <p:cNvSpPr>
              <a:spLocks noChangeArrowheads="1"/>
            </p:cNvSpPr>
            <p:nvPr/>
          </p:nvSpPr>
          <p:spPr bwMode="auto">
            <a:xfrm>
              <a:off x="4346348" y="1675949"/>
              <a:ext cx="3951287" cy="4805363"/>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8" name="Line 8">
              <a:extLst>
                <a:ext uri="{FF2B5EF4-FFF2-40B4-BE49-F238E27FC236}">
                  <a16:creationId xmlns:a16="http://schemas.microsoft.com/office/drawing/2014/main" id="{6E5293FD-6A44-CD45-9C2D-E6EC13F48E0D}"/>
                </a:ext>
              </a:extLst>
            </p:cNvPr>
            <p:cNvSpPr>
              <a:spLocks noChangeShapeType="1"/>
            </p:cNvSpPr>
            <p:nvPr/>
          </p:nvSpPr>
          <p:spPr bwMode="auto">
            <a:xfrm>
              <a:off x="4349523" y="2050599"/>
              <a:ext cx="3946525" cy="4763"/>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9" name="Line 9">
              <a:extLst>
                <a:ext uri="{FF2B5EF4-FFF2-40B4-BE49-F238E27FC236}">
                  <a16:creationId xmlns:a16="http://schemas.microsoft.com/office/drawing/2014/main" id="{D5FD85FC-35E3-CC42-86B2-4CBE4FF7A22C}"/>
                </a:ext>
              </a:extLst>
            </p:cNvPr>
            <p:cNvSpPr>
              <a:spLocks noChangeShapeType="1"/>
            </p:cNvSpPr>
            <p:nvPr/>
          </p:nvSpPr>
          <p:spPr bwMode="auto">
            <a:xfrm flipV="1">
              <a:off x="4343173" y="2430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0" name="Line 16">
              <a:extLst>
                <a:ext uri="{FF2B5EF4-FFF2-40B4-BE49-F238E27FC236}">
                  <a16:creationId xmlns:a16="http://schemas.microsoft.com/office/drawing/2014/main" id="{1F09DA56-95A7-9740-9266-702F4D667899}"/>
                </a:ext>
              </a:extLst>
            </p:cNvPr>
            <p:cNvSpPr>
              <a:spLocks noChangeShapeType="1"/>
            </p:cNvSpPr>
            <p:nvPr/>
          </p:nvSpPr>
          <p:spPr bwMode="auto">
            <a:xfrm flipV="1">
              <a:off x="4352698" y="2811012"/>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Line 18">
              <a:extLst>
                <a:ext uri="{FF2B5EF4-FFF2-40B4-BE49-F238E27FC236}">
                  <a16:creationId xmlns:a16="http://schemas.microsoft.com/office/drawing/2014/main" id="{3173FF56-BD9B-654B-92B6-4B36C86F420A}"/>
                </a:ext>
              </a:extLst>
            </p:cNvPr>
            <p:cNvSpPr>
              <a:spLocks noChangeShapeType="1"/>
            </p:cNvSpPr>
            <p:nvPr/>
          </p:nvSpPr>
          <p:spPr bwMode="auto">
            <a:xfrm flipV="1">
              <a:off x="4347935" y="3206299"/>
              <a:ext cx="395128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2" name="Line 19">
              <a:extLst>
                <a:ext uri="{FF2B5EF4-FFF2-40B4-BE49-F238E27FC236}">
                  <a16:creationId xmlns:a16="http://schemas.microsoft.com/office/drawing/2014/main" id="{84202EA3-2833-F04E-AA3C-8BB8999BFBC1}"/>
                </a:ext>
              </a:extLst>
            </p:cNvPr>
            <p:cNvSpPr>
              <a:spLocks noChangeShapeType="1"/>
            </p:cNvSpPr>
            <p:nvPr/>
          </p:nvSpPr>
          <p:spPr bwMode="auto">
            <a:xfrm flipV="1">
              <a:off x="4343173" y="3596824"/>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Line 20">
              <a:extLst>
                <a:ext uri="{FF2B5EF4-FFF2-40B4-BE49-F238E27FC236}">
                  <a16:creationId xmlns:a16="http://schemas.microsoft.com/office/drawing/2014/main" id="{B5EE22BF-1DD2-B74E-9710-050E4C365A6C}"/>
                </a:ext>
              </a:extLst>
            </p:cNvPr>
            <p:cNvSpPr>
              <a:spLocks noChangeShapeType="1"/>
            </p:cNvSpPr>
            <p:nvPr/>
          </p:nvSpPr>
          <p:spPr bwMode="auto">
            <a:xfrm flipV="1">
              <a:off x="4343173" y="4158799"/>
              <a:ext cx="3951287"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4" name="Line 21">
              <a:extLst>
                <a:ext uri="{FF2B5EF4-FFF2-40B4-BE49-F238E27FC236}">
                  <a16:creationId xmlns:a16="http://schemas.microsoft.com/office/drawing/2014/main" id="{E3D5975A-D204-D047-91DC-FE8A65BBCCE9}"/>
                </a:ext>
              </a:extLst>
            </p:cNvPr>
            <p:cNvSpPr>
              <a:spLocks noChangeShapeType="1"/>
            </p:cNvSpPr>
            <p:nvPr/>
          </p:nvSpPr>
          <p:spPr bwMode="auto">
            <a:xfrm flipH="1" flipV="1">
              <a:off x="6303735" y="2814187"/>
              <a:ext cx="4763" cy="777875"/>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65" name="Group 64">
              <a:extLst>
                <a:ext uri="{FF2B5EF4-FFF2-40B4-BE49-F238E27FC236}">
                  <a16:creationId xmlns:a16="http://schemas.microsoft.com/office/drawing/2014/main" id="{067C1EE2-2B96-F74C-A327-2DFC2DFC62BA}"/>
                </a:ext>
              </a:extLst>
            </p:cNvPr>
            <p:cNvGrpSpPr/>
            <p:nvPr/>
          </p:nvGrpSpPr>
          <p:grpSpPr>
            <a:xfrm>
              <a:off x="6113100" y="2788385"/>
              <a:ext cx="7264695" cy="1048460"/>
              <a:chOff x="6113100" y="2788385"/>
              <a:chExt cx="7264695" cy="1048460"/>
            </a:xfrm>
          </p:grpSpPr>
          <p:sp>
            <p:nvSpPr>
              <p:cNvPr id="67" name="Text Box 22">
                <a:extLst>
                  <a:ext uri="{FF2B5EF4-FFF2-40B4-BE49-F238E27FC236}">
                    <a16:creationId xmlns:a16="http://schemas.microsoft.com/office/drawing/2014/main" id="{2E8A978C-B58F-724E-97B2-2FB3E91F6385}"/>
                  </a:ext>
                </a:extLst>
              </p:cNvPr>
              <p:cNvSpPr txBox="1">
                <a:spLocks noChangeArrowheads="1"/>
              </p:cNvSpPr>
              <p:nvPr/>
            </p:nvSpPr>
            <p:spPr bwMode="auto">
              <a:xfrm>
                <a:off x="6113100" y="2788385"/>
                <a:ext cx="2293763" cy="52477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68" name="Text Box 49">
                <a:extLst>
                  <a:ext uri="{FF2B5EF4-FFF2-40B4-BE49-F238E27FC236}">
                    <a16:creationId xmlns:a16="http://schemas.microsoft.com/office/drawing/2014/main" id="{4311B6E6-847F-7C42-98B1-9875A91D17B3}"/>
                  </a:ext>
                </a:extLst>
              </p:cNvPr>
              <p:cNvSpPr txBox="1">
                <a:spLocks noChangeArrowheads="1"/>
              </p:cNvSpPr>
              <p:nvPr/>
            </p:nvSpPr>
            <p:spPr bwMode="auto">
              <a:xfrm>
                <a:off x="8724899" y="2847114"/>
                <a:ext cx="4652896" cy="9897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69" name="Line 53">
                <a:extLst>
                  <a:ext uri="{FF2B5EF4-FFF2-40B4-BE49-F238E27FC236}">
                    <a16:creationId xmlns:a16="http://schemas.microsoft.com/office/drawing/2014/main" id="{1B19FC7E-F3A0-3F49-A0E5-0BD2B4FBCBD0}"/>
                  </a:ext>
                </a:extLst>
              </p:cNvPr>
              <p:cNvSpPr>
                <a:spLocks noChangeShapeType="1"/>
              </p:cNvSpPr>
              <p:nvPr/>
            </p:nvSpPr>
            <p:spPr bwMode="auto">
              <a:xfrm flipH="1">
                <a:off x="8142852" y="3044701"/>
                <a:ext cx="582048" cy="0"/>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66" name="Line 10">
              <a:extLst>
                <a:ext uri="{FF2B5EF4-FFF2-40B4-BE49-F238E27FC236}">
                  <a16:creationId xmlns:a16="http://schemas.microsoft.com/office/drawing/2014/main" id="{C66942C1-B5F2-CD48-AEFD-79309840AF0C}"/>
                </a:ext>
              </a:extLst>
            </p:cNvPr>
            <p:cNvSpPr>
              <a:spLocks noChangeShapeType="1"/>
            </p:cNvSpPr>
            <p:nvPr/>
          </p:nvSpPr>
          <p:spPr bwMode="auto">
            <a:xfrm flipH="1" flipV="1">
              <a:off x="6289447" y="1679374"/>
              <a:ext cx="1761" cy="365184"/>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0" name="Slide Number Placeholder 2">
            <a:extLst>
              <a:ext uri="{FF2B5EF4-FFF2-40B4-BE49-F238E27FC236}">
                <a16:creationId xmlns:a16="http://schemas.microsoft.com/office/drawing/2014/main" id="{3A4399FC-22AC-CD4F-9984-791C62C984F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20</a:t>
            </a:fld>
            <a:endParaRPr lang="en-US" dirty="0"/>
          </a:p>
        </p:txBody>
      </p:sp>
    </p:spTree>
    <p:extLst>
      <p:ext uri="{BB962C8B-B14F-4D97-AF65-F5344CB8AC3E}">
        <p14:creationId xmlns:p14="http://schemas.microsoft.com/office/powerpoint/2010/main" val="859008616"/>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137" name="Rectangle 72">
            <a:extLst>
              <a:ext uri="{FF2B5EF4-FFF2-40B4-BE49-F238E27FC236}">
                <a16:creationId xmlns:a16="http://schemas.microsoft.com/office/drawing/2014/main" id="{C267ED98-FBDB-D24C-A351-3097B056B078}"/>
              </a:ext>
            </a:extLst>
          </p:cNvPr>
          <p:cNvSpPr>
            <a:spLocks noChangeArrowheads="1"/>
          </p:cNvSpPr>
          <p:nvPr/>
        </p:nvSpPr>
        <p:spPr bwMode="auto">
          <a:xfrm>
            <a:off x="7848422" y="1084921"/>
            <a:ext cx="2524125" cy="3854450"/>
          </a:xfrm>
          <a:prstGeom prst="rect">
            <a:avLst/>
          </a:prstGeom>
          <a:solidFill>
            <a:srgbClr val="00009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Freeform 32">
            <a:extLst>
              <a:ext uri="{FF2B5EF4-FFF2-40B4-BE49-F238E27FC236}">
                <a16:creationId xmlns:a16="http://schemas.microsoft.com/office/drawing/2014/main" id="{58EA8CF4-DBF4-E34D-8254-A77227811341}"/>
              </a:ext>
            </a:extLst>
          </p:cNvPr>
          <p:cNvSpPr>
            <a:spLocks/>
          </p:cNvSpPr>
          <p:nvPr/>
        </p:nvSpPr>
        <p:spPr bwMode="auto">
          <a:xfrm>
            <a:off x="10289997" y="1078571"/>
            <a:ext cx="581025" cy="42068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9" name="Rectangle 40">
            <a:extLst>
              <a:ext uri="{FF2B5EF4-FFF2-40B4-BE49-F238E27FC236}">
                <a16:creationId xmlns:a16="http://schemas.microsoft.com/office/drawing/2014/main" id="{8F576ED5-5855-F048-B4BB-75BF51C27D5C}"/>
              </a:ext>
            </a:extLst>
          </p:cNvPr>
          <p:cNvSpPr>
            <a:spLocks noChangeArrowheads="1"/>
          </p:cNvSpPr>
          <p:nvPr/>
        </p:nvSpPr>
        <p:spPr bwMode="auto">
          <a:xfrm>
            <a:off x="7762697" y="1186521"/>
            <a:ext cx="2533650" cy="3814762"/>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Oval 31">
            <a:extLst>
              <a:ext uri="{FF2B5EF4-FFF2-40B4-BE49-F238E27FC236}">
                <a16:creationId xmlns:a16="http://schemas.microsoft.com/office/drawing/2014/main" id="{E56CABC0-9BC4-164D-8001-714872CF7127}"/>
              </a:ext>
            </a:extLst>
          </p:cNvPr>
          <p:cNvSpPr>
            <a:spLocks noChangeArrowheads="1"/>
          </p:cNvSpPr>
          <p:nvPr/>
        </p:nvSpPr>
        <p:spPr bwMode="auto">
          <a:xfrm>
            <a:off x="8302447" y="1243671"/>
            <a:ext cx="137795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application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process</a:t>
            </a:r>
          </a:p>
        </p:txBody>
      </p:sp>
      <p:grpSp>
        <p:nvGrpSpPr>
          <p:cNvPr id="141" name="Group 47">
            <a:extLst>
              <a:ext uri="{FF2B5EF4-FFF2-40B4-BE49-F238E27FC236}">
                <a16:creationId xmlns:a16="http://schemas.microsoft.com/office/drawing/2014/main" id="{02602D35-C64D-9445-8BEF-315190C777FA}"/>
              </a:ext>
            </a:extLst>
          </p:cNvPr>
          <p:cNvGrpSpPr>
            <a:grpSpLocks/>
          </p:cNvGrpSpPr>
          <p:nvPr/>
        </p:nvGrpSpPr>
        <p:grpSpPr bwMode="auto">
          <a:xfrm>
            <a:off x="8070672" y="2312058"/>
            <a:ext cx="1795463" cy="688975"/>
            <a:chOff x="1173" y="2345"/>
            <a:chExt cx="1131" cy="434"/>
          </a:xfrm>
        </p:grpSpPr>
        <p:sp>
          <p:nvSpPr>
            <p:cNvPr id="142" name="Rectangle 44">
              <a:extLst>
                <a:ext uri="{FF2B5EF4-FFF2-40B4-BE49-F238E27FC236}">
                  <a16:creationId xmlns:a16="http://schemas.microsoft.com/office/drawing/2014/main" id="{92C6A498-BA40-944E-B932-C93263DCC5C7}"/>
                </a:ext>
              </a:extLst>
            </p:cNvPr>
            <p:cNvSpPr>
              <a:spLocks noChangeArrowheads="1"/>
            </p:cNvSpPr>
            <p:nvPr/>
          </p:nvSpPr>
          <p:spPr bwMode="auto">
            <a:xfrm>
              <a:off x="1173" y="2345"/>
              <a:ext cx="1131" cy="434"/>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Text Box 46">
              <a:extLst>
                <a:ext uri="{FF2B5EF4-FFF2-40B4-BE49-F238E27FC236}">
                  <a16:creationId xmlns:a16="http://schemas.microsoft.com/office/drawing/2014/main" id="{ED90C8EB-7D14-B54F-AC97-04DAEC25D0A4}"/>
                </a:ext>
              </a:extLst>
            </p:cNvPr>
            <p:cNvSpPr txBox="1">
              <a:spLocks noChangeArrowheads="1"/>
            </p:cNvSpPr>
            <p:nvPr/>
          </p:nvSpPr>
          <p:spPr bwMode="auto">
            <a:xfrm>
              <a:off x="1235" y="2368"/>
              <a:ext cx="995"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TCP socket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prstClr val="white">
                      <a:lumMod val="95000"/>
                    </a:prstClr>
                  </a:solidFill>
                  <a:effectLst/>
                  <a:uLnTx/>
                  <a:uFillTx/>
                  <a:latin typeface="Tahoma" charset="0"/>
                  <a:ea typeface="ＭＳ Ｐゴシック" charset="0"/>
                  <a:cs typeface="+mn-cs"/>
                </a:rPr>
                <a:t>receiver buffers</a:t>
              </a:r>
            </a:p>
          </p:txBody>
        </p:sp>
      </p:grpSp>
      <p:sp>
        <p:nvSpPr>
          <p:cNvPr id="144" name="Oval 48">
            <a:extLst>
              <a:ext uri="{FF2B5EF4-FFF2-40B4-BE49-F238E27FC236}">
                <a16:creationId xmlns:a16="http://schemas.microsoft.com/office/drawing/2014/main" id="{0742E955-8C93-5F47-BE4B-8E6ACFB2E75E}"/>
              </a:ext>
            </a:extLst>
          </p:cNvPr>
          <p:cNvSpPr>
            <a:spLocks noChangeArrowheads="1"/>
          </p:cNvSpPr>
          <p:nvPr/>
        </p:nvSpPr>
        <p:spPr bwMode="auto">
          <a:xfrm>
            <a:off x="8238947" y="3335996"/>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5" name="Text Box 64">
            <a:extLst>
              <a:ext uri="{FF2B5EF4-FFF2-40B4-BE49-F238E27FC236}">
                <a16:creationId xmlns:a16="http://schemas.microsoft.com/office/drawing/2014/main" id="{FCF30813-93D4-B644-BB9A-DEC80D916306}"/>
              </a:ext>
            </a:extLst>
          </p:cNvPr>
          <p:cNvSpPr txBox="1">
            <a:spLocks noChangeArrowheads="1"/>
          </p:cNvSpPr>
          <p:nvPr/>
        </p:nvSpPr>
        <p:spPr bwMode="auto">
          <a:xfrm>
            <a:off x="8745360" y="336483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TCP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6" name="Oval 65">
            <a:extLst>
              <a:ext uri="{FF2B5EF4-FFF2-40B4-BE49-F238E27FC236}">
                <a16:creationId xmlns:a16="http://schemas.microsoft.com/office/drawing/2014/main" id="{6BD69667-2B04-344B-AF15-D9A7175F3571}"/>
              </a:ext>
            </a:extLst>
          </p:cNvPr>
          <p:cNvSpPr>
            <a:spLocks noChangeArrowheads="1"/>
          </p:cNvSpPr>
          <p:nvPr/>
        </p:nvSpPr>
        <p:spPr bwMode="auto">
          <a:xfrm>
            <a:off x="8246885" y="4321833"/>
            <a:ext cx="1562100" cy="5969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7" name="Text Box 66">
            <a:extLst>
              <a:ext uri="{FF2B5EF4-FFF2-40B4-BE49-F238E27FC236}">
                <a16:creationId xmlns:a16="http://schemas.microsoft.com/office/drawing/2014/main" id="{19C3DDC5-2A06-B840-8A80-61FECF597774}"/>
              </a:ext>
            </a:extLst>
          </p:cNvPr>
          <p:cNvSpPr txBox="1">
            <a:spLocks noChangeArrowheads="1"/>
          </p:cNvSpPr>
          <p:nvPr/>
        </p:nvSpPr>
        <p:spPr bwMode="auto">
          <a:xfrm>
            <a:off x="8731699" y="4354979"/>
            <a:ext cx="55976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code</a:t>
            </a:r>
          </a:p>
        </p:txBody>
      </p:sp>
      <p:sp>
        <p:nvSpPr>
          <p:cNvPr id="149" name="Line 68">
            <a:extLst>
              <a:ext uri="{FF2B5EF4-FFF2-40B4-BE49-F238E27FC236}">
                <a16:creationId xmlns:a16="http://schemas.microsoft.com/office/drawing/2014/main" id="{68A5AD3F-8561-BA43-8CCB-23369CB3F10B}"/>
              </a:ext>
            </a:extLst>
          </p:cNvPr>
          <p:cNvSpPr>
            <a:spLocks noChangeShapeType="1"/>
          </p:cNvSpPr>
          <p:nvPr/>
        </p:nvSpPr>
        <p:spPr bwMode="auto">
          <a:xfrm>
            <a:off x="7756347" y="4071008"/>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0" name="Line 69">
            <a:extLst>
              <a:ext uri="{FF2B5EF4-FFF2-40B4-BE49-F238E27FC236}">
                <a16:creationId xmlns:a16="http://schemas.microsoft.com/office/drawing/2014/main" id="{069D68E8-3A07-7842-BBE3-A83C41548FBA}"/>
              </a:ext>
            </a:extLst>
          </p:cNvPr>
          <p:cNvSpPr>
            <a:spLocks noChangeShapeType="1"/>
          </p:cNvSpPr>
          <p:nvPr/>
        </p:nvSpPr>
        <p:spPr bwMode="auto">
          <a:xfrm>
            <a:off x="7769047" y="2219983"/>
            <a:ext cx="25463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1" name="Group 56">
            <a:extLst>
              <a:ext uri="{FF2B5EF4-FFF2-40B4-BE49-F238E27FC236}">
                <a16:creationId xmlns:a16="http://schemas.microsoft.com/office/drawing/2014/main" id="{9D087FDD-1E50-B54A-BAF1-08F2E9EB032C}"/>
              </a:ext>
            </a:extLst>
          </p:cNvPr>
          <p:cNvGrpSpPr>
            <a:grpSpLocks/>
          </p:cNvGrpSpPr>
          <p:nvPr/>
        </p:nvGrpSpPr>
        <p:grpSpPr bwMode="auto">
          <a:xfrm>
            <a:off x="8745360" y="2104096"/>
            <a:ext cx="533400" cy="206375"/>
            <a:chOff x="2003" y="1816"/>
            <a:chExt cx="336" cy="130"/>
          </a:xfrm>
        </p:grpSpPr>
        <p:sp>
          <p:nvSpPr>
            <p:cNvPr id="152" name="Rectangle 16">
              <a:extLst>
                <a:ext uri="{FF2B5EF4-FFF2-40B4-BE49-F238E27FC236}">
                  <a16:creationId xmlns:a16="http://schemas.microsoft.com/office/drawing/2014/main" id="{4802C0EA-E5A8-E447-A8F6-A96701A0BAC0}"/>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3" name="Rectangle 17">
              <a:extLst>
                <a:ext uri="{FF2B5EF4-FFF2-40B4-BE49-F238E27FC236}">
                  <a16:creationId xmlns:a16="http://schemas.microsoft.com/office/drawing/2014/main" id="{620EA98C-EF38-184B-A03B-82616FCB9AE2}"/>
                </a:ext>
              </a:extLst>
            </p:cNvPr>
            <p:cNvSpPr>
              <a:spLocks noChangeArrowheads="1"/>
            </p:cNvSpPr>
            <p:nvPr/>
          </p:nvSpPr>
          <p:spPr bwMode="auto">
            <a:xfrm>
              <a:off x="2105" y="183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4" name="Rectangle 18">
              <a:extLst>
                <a:ext uri="{FF2B5EF4-FFF2-40B4-BE49-F238E27FC236}">
                  <a16:creationId xmlns:a16="http://schemas.microsoft.com/office/drawing/2014/main" id="{1C3BBD2A-6ACC-C349-BDA8-0843C2DEA508}"/>
                </a:ext>
              </a:extLst>
            </p:cNvPr>
            <p:cNvSpPr>
              <a:spLocks noChangeArrowheads="1"/>
            </p:cNvSpPr>
            <p:nvPr/>
          </p:nvSpPr>
          <p:spPr bwMode="auto">
            <a:xfrm>
              <a:off x="2229" y="189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5" name="Rectangle 19">
              <a:extLst>
                <a:ext uri="{FF2B5EF4-FFF2-40B4-BE49-F238E27FC236}">
                  <a16:creationId xmlns:a16="http://schemas.microsoft.com/office/drawing/2014/main" id="{96FBD4A2-E799-8F4F-9D14-53FD99E5BFAA}"/>
                </a:ext>
              </a:extLst>
            </p:cNvPr>
            <p:cNvSpPr>
              <a:spLocks noChangeArrowheads="1"/>
            </p:cNvSpPr>
            <p:nvPr/>
          </p:nvSpPr>
          <p:spPr bwMode="auto">
            <a:xfrm>
              <a:off x="2058"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5" name="Text Box 103">
            <a:extLst>
              <a:ext uri="{FF2B5EF4-FFF2-40B4-BE49-F238E27FC236}">
                <a16:creationId xmlns:a16="http://schemas.microsoft.com/office/drawing/2014/main" id="{4ECF9189-0AD6-144B-8167-6762F7B3E868}"/>
              </a:ext>
            </a:extLst>
          </p:cNvPr>
          <p:cNvSpPr txBox="1">
            <a:spLocks noChangeArrowheads="1"/>
          </p:cNvSpPr>
          <p:nvPr/>
        </p:nvSpPr>
        <p:spPr bwMode="auto">
          <a:xfrm>
            <a:off x="7549972" y="5823520"/>
            <a:ext cx="27146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receiver protocol stack</a:t>
            </a:r>
          </a:p>
        </p:txBody>
      </p:sp>
      <p:sp>
        <p:nvSpPr>
          <p:cNvPr id="169" name="Line 115">
            <a:extLst>
              <a:ext uri="{FF2B5EF4-FFF2-40B4-BE49-F238E27FC236}">
                <a16:creationId xmlns:a16="http://schemas.microsoft.com/office/drawing/2014/main" id="{ABF785A9-86A1-6E46-9624-CABBC5E29FA3}"/>
              </a:ext>
            </a:extLst>
          </p:cNvPr>
          <p:cNvSpPr>
            <a:spLocks noChangeShapeType="1"/>
          </p:cNvSpPr>
          <p:nvPr/>
        </p:nvSpPr>
        <p:spPr bwMode="auto">
          <a:xfrm>
            <a:off x="8790777" y="5419835"/>
            <a:ext cx="0" cy="34925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1" name="Line 118">
            <a:extLst>
              <a:ext uri="{FF2B5EF4-FFF2-40B4-BE49-F238E27FC236}">
                <a16:creationId xmlns:a16="http://schemas.microsoft.com/office/drawing/2014/main" id="{5E5B6E3E-966C-D44A-B01C-0473357F14EE}"/>
              </a:ext>
            </a:extLst>
          </p:cNvPr>
          <p:cNvSpPr>
            <a:spLocks noChangeShapeType="1"/>
          </p:cNvSpPr>
          <p:nvPr/>
        </p:nvSpPr>
        <p:spPr bwMode="auto">
          <a:xfrm>
            <a:off x="10285235" y="4996521"/>
            <a:ext cx="0" cy="463550"/>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2" name="Group 124">
            <a:extLst>
              <a:ext uri="{FF2B5EF4-FFF2-40B4-BE49-F238E27FC236}">
                <a16:creationId xmlns:a16="http://schemas.microsoft.com/office/drawing/2014/main" id="{4194DDD2-AC6E-4846-988C-D47AF88815BF}"/>
              </a:ext>
            </a:extLst>
          </p:cNvPr>
          <p:cNvGrpSpPr>
            <a:grpSpLocks/>
          </p:cNvGrpSpPr>
          <p:nvPr/>
        </p:nvGrpSpPr>
        <p:grpSpPr bwMode="auto">
          <a:xfrm flipH="1">
            <a:off x="10523360" y="4590121"/>
            <a:ext cx="869950" cy="906462"/>
            <a:chOff x="-44" y="1473"/>
            <a:chExt cx="981" cy="1105"/>
          </a:xfrm>
        </p:grpSpPr>
        <p:pic>
          <p:nvPicPr>
            <p:cNvPr id="173" name="Picture 125" descr="desktop_computer_stylized_medium">
              <a:extLst>
                <a:ext uri="{FF2B5EF4-FFF2-40B4-BE49-F238E27FC236}">
                  <a16:creationId xmlns:a16="http://schemas.microsoft.com/office/drawing/2014/main" id="{C6DE1974-7837-334B-B35F-1B82108E3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 name="Freeform 126">
              <a:extLst>
                <a:ext uri="{FF2B5EF4-FFF2-40B4-BE49-F238E27FC236}">
                  <a16:creationId xmlns:a16="http://schemas.microsoft.com/office/drawing/2014/main" id="{C8663771-41F7-FF4F-89C7-CFC093B9A13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9" name="TextBox 8">
            <a:extLst>
              <a:ext uri="{FF2B5EF4-FFF2-40B4-BE49-F238E27FC236}">
                <a16:creationId xmlns:a16="http://schemas.microsoft.com/office/drawing/2014/main" id="{3FF08E5E-7834-074F-B7D9-7DBE006EE269}"/>
              </a:ext>
            </a:extLst>
          </p:cNvPr>
          <p:cNvSpPr txBox="1"/>
          <p:nvPr/>
        </p:nvSpPr>
        <p:spPr>
          <a:xfrm>
            <a:off x="712555" y="1437021"/>
            <a:ext cx="385082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sng"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happens if network layer delivers data faster than application layer removes data from socket buffers?</a:t>
            </a:r>
          </a:p>
        </p:txBody>
      </p:sp>
      <p:grpSp>
        <p:nvGrpSpPr>
          <p:cNvPr id="10" name="Group 9">
            <a:extLst>
              <a:ext uri="{FF2B5EF4-FFF2-40B4-BE49-F238E27FC236}">
                <a16:creationId xmlns:a16="http://schemas.microsoft.com/office/drawing/2014/main" id="{9B4B0832-7295-6748-A6EB-5D9B0607F222}"/>
              </a:ext>
            </a:extLst>
          </p:cNvPr>
          <p:cNvGrpSpPr/>
          <p:nvPr/>
        </p:nvGrpSpPr>
        <p:grpSpPr>
          <a:xfrm>
            <a:off x="756989" y="3535828"/>
            <a:ext cx="4164772" cy="1950572"/>
            <a:chOff x="363537" y="4127499"/>
            <a:chExt cx="4164772" cy="1950572"/>
          </a:xfrm>
        </p:grpSpPr>
        <p:sp>
          <p:nvSpPr>
            <p:cNvPr id="179" name="Rectangle 110">
              <a:extLst>
                <a:ext uri="{FF2B5EF4-FFF2-40B4-BE49-F238E27FC236}">
                  <a16:creationId xmlns:a16="http://schemas.microsoft.com/office/drawing/2014/main" id="{71EEDA6C-9700-F540-8450-88D0CF387D8C}"/>
                </a:ext>
              </a:extLst>
            </p:cNvPr>
            <p:cNvSpPr>
              <a:spLocks noChangeArrowheads="1"/>
            </p:cNvSpPr>
            <p:nvPr/>
          </p:nvSpPr>
          <p:spPr bwMode="auto">
            <a:xfrm>
              <a:off x="363537" y="4397375"/>
              <a:ext cx="4134671" cy="1680696"/>
            </a:xfrm>
            <a:prstGeom prst="rect">
              <a:avLst/>
            </a:prstGeom>
            <a:solidFill>
              <a:srgbClr val="FFFFFF"/>
            </a:solidFill>
            <a:ln w="28575">
              <a:solidFill>
                <a:srgbClr val="CC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80" name="Text Box 111">
              <a:extLst>
                <a:ext uri="{FF2B5EF4-FFF2-40B4-BE49-F238E27FC236}">
                  <a16:creationId xmlns:a16="http://schemas.microsoft.com/office/drawing/2014/main" id="{8C96D4BC-6609-824B-A9B9-24E2A66F66C2}"/>
                </a:ext>
              </a:extLst>
            </p:cNvPr>
            <p:cNvSpPr txBox="1">
              <a:spLocks noChangeArrowheads="1"/>
            </p:cNvSpPr>
            <p:nvPr/>
          </p:nvSpPr>
          <p:spPr bwMode="auto">
            <a:xfrm>
              <a:off x="455613" y="4549775"/>
              <a:ext cx="4072696" cy="142192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receiver controls sender, so sender won’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overflow receiver’s buffer by transmitting too much, too fast</a:t>
              </a:r>
              <a:endParaRPr kumimoji="0" lang="en-US" altLang="en-US" sz="105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81" name="Group 112">
              <a:extLst>
                <a:ext uri="{FF2B5EF4-FFF2-40B4-BE49-F238E27FC236}">
                  <a16:creationId xmlns:a16="http://schemas.microsoft.com/office/drawing/2014/main" id="{6B4EAE2E-56DA-864E-99A1-E535BFD3AF51}"/>
                </a:ext>
              </a:extLst>
            </p:cNvPr>
            <p:cNvGrpSpPr>
              <a:grpSpLocks/>
            </p:cNvGrpSpPr>
            <p:nvPr/>
          </p:nvGrpSpPr>
          <p:grpSpPr bwMode="auto">
            <a:xfrm>
              <a:off x="551438" y="4127499"/>
              <a:ext cx="2003542" cy="523875"/>
              <a:chOff x="3327" y="230"/>
              <a:chExt cx="1176" cy="330"/>
            </a:xfrm>
          </p:grpSpPr>
          <p:sp>
            <p:nvSpPr>
              <p:cNvPr id="183" name="Rectangle 113">
                <a:extLst>
                  <a:ext uri="{FF2B5EF4-FFF2-40B4-BE49-F238E27FC236}">
                    <a16:creationId xmlns:a16="http://schemas.microsoft.com/office/drawing/2014/main" id="{364B36BC-850A-C443-AFE1-8C4A92F8CA4E}"/>
                  </a:ext>
                </a:extLst>
              </p:cNvPr>
              <p:cNvSpPr>
                <a:spLocks noChangeArrowheads="1"/>
              </p:cNvSpPr>
              <p:nvPr/>
            </p:nvSpPr>
            <p:spPr bwMode="auto">
              <a:xfrm>
                <a:off x="3369" y="323"/>
                <a:ext cx="1134" cy="222"/>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84" name="Text Box 114">
                <a:extLst>
                  <a:ext uri="{FF2B5EF4-FFF2-40B4-BE49-F238E27FC236}">
                    <a16:creationId xmlns:a16="http://schemas.microsoft.com/office/drawing/2014/main" id="{4A67984A-D193-3248-9AD8-3DC1586083A2}"/>
                  </a:ext>
                </a:extLst>
              </p:cNvPr>
              <p:cNvSpPr txBox="1">
                <a:spLocks noChangeArrowheads="1"/>
              </p:cNvSpPr>
              <p:nvPr/>
            </p:nvSpPr>
            <p:spPr bwMode="auto">
              <a:xfrm>
                <a:off x="3327" y="230"/>
                <a:ext cx="1136" cy="3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flow control</a:t>
                </a:r>
              </a:p>
            </p:txBody>
          </p:sp>
        </p:grpSp>
      </p:grpSp>
      <p:sp>
        <p:nvSpPr>
          <p:cNvPr id="182" name="Line 117">
            <a:extLst>
              <a:ext uri="{FF2B5EF4-FFF2-40B4-BE49-F238E27FC236}">
                <a16:creationId xmlns:a16="http://schemas.microsoft.com/office/drawing/2014/main" id="{1B7AFE0B-8185-3E43-BF7C-730BEFE1D783}"/>
              </a:ext>
            </a:extLst>
          </p:cNvPr>
          <p:cNvSpPr>
            <a:spLocks noChangeShapeType="1"/>
          </p:cNvSpPr>
          <p:nvPr/>
        </p:nvSpPr>
        <p:spPr bwMode="auto">
          <a:xfrm>
            <a:off x="7764475" y="5006696"/>
            <a:ext cx="0" cy="463550"/>
          </a:xfrm>
          <a:prstGeom prst="line">
            <a:avLst/>
          </a:prstGeom>
          <a:noFill/>
          <a:ln w="1905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2" name="Group 11">
            <a:extLst>
              <a:ext uri="{FF2B5EF4-FFF2-40B4-BE49-F238E27FC236}">
                <a16:creationId xmlns:a16="http://schemas.microsoft.com/office/drawing/2014/main" id="{C820FA96-992D-4547-BB82-D80AD6340B76}"/>
              </a:ext>
            </a:extLst>
          </p:cNvPr>
          <p:cNvGrpSpPr/>
          <p:nvPr/>
        </p:nvGrpSpPr>
        <p:grpSpPr>
          <a:xfrm>
            <a:off x="7630935" y="2806352"/>
            <a:ext cx="2092487" cy="2971623"/>
            <a:chOff x="7630935" y="2806352"/>
            <a:chExt cx="2092487" cy="2971623"/>
          </a:xfrm>
        </p:grpSpPr>
        <p:grpSp>
          <p:nvGrpSpPr>
            <p:cNvPr id="7" name="Group 6">
              <a:extLst>
                <a:ext uri="{FF2B5EF4-FFF2-40B4-BE49-F238E27FC236}">
                  <a16:creationId xmlns:a16="http://schemas.microsoft.com/office/drawing/2014/main" id="{90136498-1DCA-8245-9AEB-79D923D0965C}"/>
                </a:ext>
              </a:extLst>
            </p:cNvPr>
            <p:cNvGrpSpPr/>
            <p:nvPr/>
          </p:nvGrpSpPr>
          <p:grpSpPr>
            <a:xfrm>
              <a:off x="7630935" y="3080408"/>
              <a:ext cx="1309687" cy="2697567"/>
              <a:chOff x="7074521" y="3577949"/>
              <a:chExt cx="1309687" cy="2697567"/>
            </a:xfrm>
          </p:grpSpPr>
          <p:sp>
            <p:nvSpPr>
              <p:cNvPr id="163" name="Rectangle 91">
                <a:extLst>
                  <a:ext uri="{FF2B5EF4-FFF2-40B4-BE49-F238E27FC236}">
                    <a16:creationId xmlns:a16="http://schemas.microsoft.com/office/drawing/2014/main" id="{262B8492-92D0-1D4D-A388-8EDCD289152E}"/>
                  </a:ext>
                </a:extLst>
              </p:cNvPr>
              <p:cNvSpPr>
                <a:spLocks noChangeArrowheads="1"/>
              </p:cNvSpPr>
              <p:nvPr/>
            </p:nvSpPr>
            <p:spPr bwMode="auto">
              <a:xfrm>
                <a:off x="7655546" y="46193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8F31E27D-6EC1-5943-92A1-E4210B15E8BC}"/>
                  </a:ext>
                </a:extLst>
              </p:cNvPr>
              <p:cNvGrpSpPr/>
              <p:nvPr/>
            </p:nvGrpSpPr>
            <p:grpSpPr>
              <a:xfrm>
                <a:off x="7344839" y="5551212"/>
                <a:ext cx="1039369" cy="214398"/>
                <a:chOff x="7344839" y="5551212"/>
                <a:chExt cx="1039369" cy="214398"/>
              </a:xfrm>
            </p:grpSpPr>
            <p:sp>
              <p:nvSpPr>
                <p:cNvPr id="158" name="Rectangle 74">
                  <a:extLst>
                    <a:ext uri="{FF2B5EF4-FFF2-40B4-BE49-F238E27FC236}">
                      <a16:creationId xmlns:a16="http://schemas.microsoft.com/office/drawing/2014/main" id="{8A48CC54-2E19-7E49-AB6A-C589B7121B06}"/>
                    </a:ext>
                  </a:extLst>
                </p:cNvPr>
                <p:cNvSpPr>
                  <a:spLocks noChangeArrowheads="1"/>
                </p:cNvSpPr>
                <p:nvPr/>
              </p:nvSpPr>
              <p:spPr bwMode="auto">
                <a:xfrm>
                  <a:off x="7344839" y="5556060"/>
                  <a:ext cx="1006475" cy="209550"/>
                </a:xfrm>
                <a:prstGeom prst="rect">
                  <a:avLst/>
                </a:prstGeom>
                <a:solidFill>
                  <a:srgbClr val="00CC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Rectangle 92">
                  <a:extLst>
                    <a:ext uri="{FF2B5EF4-FFF2-40B4-BE49-F238E27FC236}">
                      <a16:creationId xmlns:a16="http://schemas.microsoft.com/office/drawing/2014/main" id="{F086B485-A7FA-024F-AE08-D3278D535305}"/>
                    </a:ext>
                  </a:extLst>
                </p:cNvPr>
                <p:cNvSpPr>
                  <a:spLocks noChangeArrowheads="1"/>
                </p:cNvSpPr>
                <p:nvPr/>
              </p:nvSpPr>
              <p:spPr bwMode="auto">
                <a:xfrm>
                  <a:off x="7650783" y="5551212"/>
                  <a:ext cx="733425" cy="212725"/>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59" name="Line 75">
                  <a:extLst>
                    <a:ext uri="{FF2B5EF4-FFF2-40B4-BE49-F238E27FC236}">
                      <a16:creationId xmlns:a16="http://schemas.microsoft.com/office/drawing/2014/main" id="{3072215E-AACF-9541-93AB-D98D0EECBB60}"/>
                    </a:ext>
                  </a:extLst>
                </p:cNvPr>
                <p:cNvSpPr>
                  <a:spLocks noChangeShapeType="1"/>
                </p:cNvSpPr>
                <p:nvPr/>
              </p:nvSpPr>
              <p:spPr bwMode="auto">
                <a:xfrm>
                  <a:off x="74888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Line 76">
                  <a:extLst>
                    <a:ext uri="{FF2B5EF4-FFF2-40B4-BE49-F238E27FC236}">
                      <a16:creationId xmlns:a16="http://schemas.microsoft.com/office/drawing/2014/main" id="{A70802F4-DC4B-B74E-9BF2-97E565E57FB0}"/>
                    </a:ext>
                  </a:extLst>
                </p:cNvPr>
                <p:cNvSpPr>
                  <a:spLocks noChangeShapeType="1"/>
                </p:cNvSpPr>
                <p:nvPr/>
              </p:nvSpPr>
              <p:spPr bwMode="auto">
                <a:xfrm>
                  <a:off x="7641259" y="5555058"/>
                  <a:ext cx="0" cy="206375"/>
                </a:xfrm>
                <a:prstGeom prst="line">
                  <a:avLst/>
                </a:prstGeom>
                <a:noFill/>
                <a:ln w="28575">
                  <a:solidFill>
                    <a:srgbClr val="FFFF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2" name="Rectangle 86">
                <a:extLst>
                  <a:ext uri="{FF2B5EF4-FFF2-40B4-BE49-F238E27FC236}">
                    <a16:creationId xmlns:a16="http://schemas.microsoft.com/office/drawing/2014/main" id="{4115F8B6-91A1-7C41-83BF-8BE89BBEBEC6}"/>
                  </a:ext>
                </a:extLst>
              </p:cNvPr>
              <p:cNvSpPr>
                <a:spLocks noChangeArrowheads="1"/>
              </p:cNvSpPr>
              <p:nvPr/>
            </p:nvSpPr>
            <p:spPr bwMode="auto">
              <a:xfrm>
                <a:off x="7647608" y="3577949"/>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0" name="Text Box 116">
                <a:extLst>
                  <a:ext uri="{FF2B5EF4-FFF2-40B4-BE49-F238E27FC236}">
                    <a16:creationId xmlns:a16="http://schemas.microsoft.com/office/drawing/2014/main" id="{698424D2-456E-974F-973C-408C9336D9D7}"/>
                  </a:ext>
                </a:extLst>
              </p:cNvPr>
              <p:cNvSpPr txBox="1">
                <a:spLocks noChangeArrowheads="1"/>
              </p:cNvSpPr>
              <p:nvPr/>
            </p:nvSpPr>
            <p:spPr bwMode="auto">
              <a:xfrm>
                <a:off x="7074521" y="5970716"/>
                <a:ext cx="1133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from sender</a:t>
                </a:r>
              </a:p>
            </p:txBody>
          </p:sp>
        </p:grpSp>
        <p:sp>
          <p:nvSpPr>
            <p:cNvPr id="6" name="Curved Down Arrow 5">
              <a:extLst>
                <a:ext uri="{FF2B5EF4-FFF2-40B4-BE49-F238E27FC236}">
                  <a16:creationId xmlns:a16="http://schemas.microsoft.com/office/drawing/2014/main" id="{1FE7EE57-FED3-864B-8F06-9CC2C77BF0DE}"/>
                </a:ext>
              </a:extLst>
            </p:cNvPr>
            <p:cNvSpPr/>
            <p:nvPr/>
          </p:nvSpPr>
          <p:spPr>
            <a:xfrm>
              <a:off x="8312727" y="2806352"/>
              <a:ext cx="1410695" cy="271814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 name="Group 12">
            <a:extLst>
              <a:ext uri="{FF2B5EF4-FFF2-40B4-BE49-F238E27FC236}">
                <a16:creationId xmlns:a16="http://schemas.microsoft.com/office/drawing/2014/main" id="{061072C8-D06D-0540-97C3-C1DE8C5A0444}"/>
              </a:ext>
            </a:extLst>
          </p:cNvPr>
          <p:cNvGrpSpPr/>
          <p:nvPr/>
        </p:nvGrpSpPr>
        <p:grpSpPr>
          <a:xfrm>
            <a:off x="4989152" y="1607125"/>
            <a:ext cx="4984933" cy="885919"/>
            <a:chOff x="4989152" y="1607125"/>
            <a:chExt cx="4984933" cy="885919"/>
          </a:xfrm>
        </p:grpSpPr>
        <p:grpSp>
          <p:nvGrpSpPr>
            <p:cNvPr id="8" name="Group 7">
              <a:extLst>
                <a:ext uri="{FF2B5EF4-FFF2-40B4-BE49-F238E27FC236}">
                  <a16:creationId xmlns:a16="http://schemas.microsoft.com/office/drawing/2014/main" id="{F4A53074-9492-2643-8C14-D55F3A8DF9EC}"/>
                </a:ext>
              </a:extLst>
            </p:cNvPr>
            <p:cNvGrpSpPr/>
            <p:nvPr/>
          </p:nvGrpSpPr>
          <p:grpSpPr>
            <a:xfrm>
              <a:off x="4989152" y="1652814"/>
              <a:ext cx="4984933" cy="840230"/>
              <a:chOff x="4432738" y="2150355"/>
              <a:chExt cx="4984933" cy="840230"/>
            </a:xfrm>
          </p:grpSpPr>
          <p:sp>
            <p:nvSpPr>
              <p:cNvPr id="166" name="Line 105">
                <a:extLst>
                  <a:ext uri="{FF2B5EF4-FFF2-40B4-BE49-F238E27FC236}">
                    <a16:creationId xmlns:a16="http://schemas.microsoft.com/office/drawing/2014/main" id="{E962447C-3133-664A-8728-73048FD03E13}"/>
                  </a:ext>
                </a:extLst>
              </p:cNvPr>
              <p:cNvSpPr>
                <a:spLocks noChangeShapeType="1"/>
              </p:cNvSpPr>
              <p:nvPr/>
            </p:nvSpPr>
            <p:spPr bwMode="auto">
              <a:xfrm>
                <a:off x="6976294" y="2457174"/>
                <a:ext cx="1102102" cy="0"/>
              </a:xfrm>
              <a:prstGeom prst="line">
                <a:avLst/>
              </a:prstGeom>
              <a:noFill/>
              <a:ln w="19050">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Text Box 104">
                <a:extLst>
                  <a:ext uri="{FF2B5EF4-FFF2-40B4-BE49-F238E27FC236}">
                    <a16:creationId xmlns:a16="http://schemas.microsoft.com/office/drawing/2014/main" id="{F110BC32-2D3E-6B43-8E30-DD363F7CFF88}"/>
                  </a:ext>
                </a:extLst>
              </p:cNvPr>
              <p:cNvSpPr txBox="1">
                <a:spLocks noChangeArrowheads="1"/>
              </p:cNvSpPr>
              <p:nvPr/>
            </p:nvSpPr>
            <p:spPr bwMode="auto">
              <a:xfrm>
                <a:off x="4432738" y="2150355"/>
                <a:ext cx="2533651"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 removing data from TCP socket buffers</a:t>
                </a:r>
              </a:p>
            </p:txBody>
          </p:sp>
          <p:sp>
            <p:nvSpPr>
              <p:cNvPr id="176" name="Rectangle 86">
                <a:extLst>
                  <a:ext uri="{FF2B5EF4-FFF2-40B4-BE49-F238E27FC236}">
                    <a16:creationId xmlns:a16="http://schemas.microsoft.com/office/drawing/2014/main" id="{4FC9FA64-3313-7441-820B-DA439AD3A891}"/>
                  </a:ext>
                </a:extLst>
              </p:cNvPr>
              <p:cNvSpPr>
                <a:spLocks noChangeArrowheads="1"/>
              </p:cNvSpPr>
              <p:nvPr/>
            </p:nvSpPr>
            <p:spPr bwMode="auto">
              <a:xfrm>
                <a:off x="8696946" y="2344462"/>
                <a:ext cx="720725" cy="209550"/>
              </a:xfrm>
              <a:prstGeom prst="rect">
                <a:avLst/>
              </a:prstGeom>
              <a:solidFill>
                <a:srgbClr val="0000A8"/>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56" name="Curved Down Arrow 55">
              <a:extLst>
                <a:ext uri="{FF2B5EF4-FFF2-40B4-BE49-F238E27FC236}">
                  <a16:creationId xmlns:a16="http://schemas.microsoft.com/office/drawing/2014/main" id="{1957E969-1EF1-4941-A40B-CB97CA05EBA4}"/>
                </a:ext>
              </a:extLst>
            </p:cNvPr>
            <p:cNvSpPr/>
            <p:nvPr/>
          </p:nvSpPr>
          <p:spPr>
            <a:xfrm rot="10800000" flipH="1">
              <a:off x="8517082" y="1607125"/>
              <a:ext cx="1000991" cy="872838"/>
            </a:xfrm>
            <a:prstGeom prst="curvedDownArrow">
              <a:avLst>
                <a:gd name="adj1" fmla="val 13767"/>
                <a:gd name="adj2" fmla="val 28170"/>
                <a:gd name="adj3" fmla="val 25000"/>
              </a:avLst>
            </a:prstGeom>
            <a:solidFill>
              <a:srgbClr val="C00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52" name="Slide Number Placeholder 2">
            <a:extLst>
              <a:ext uri="{FF2B5EF4-FFF2-40B4-BE49-F238E27FC236}">
                <a16:creationId xmlns:a16="http://schemas.microsoft.com/office/drawing/2014/main" id="{6AC88DD4-8D5E-1A4B-AF04-AF0A9B96E26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21</a:t>
            </a:fld>
            <a:endParaRPr lang="en-US" dirty="0"/>
          </a:p>
        </p:txBody>
      </p:sp>
    </p:spTree>
    <p:extLst>
      <p:ext uri="{BB962C8B-B14F-4D97-AF65-F5344CB8AC3E}">
        <p14:creationId xmlns:p14="http://schemas.microsoft.com/office/powerpoint/2010/main" val="3329041873"/>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668940" y="1485900"/>
            <a:ext cx="5826405" cy="490696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receiver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advertises” free buffer space in </a:t>
            </a:r>
            <a:r>
              <a:rPr kumimoji="0" lang="en-US" altLang="ja-JP"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field in TCP header</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size set via socket options (typical default is 4096 bytes)</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many operating systems auto-adjust </a:t>
            </a:r>
            <a:r>
              <a:rPr kumimoji="0" lang="en-US" altLang="en-US" sz="24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limits amount of unACKed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data to received </a:t>
            </a:r>
            <a:r>
              <a:rPr kumimoji="0" lang="en-US" altLang="ja-JP"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guarantees receive buffer will not overflow</a:t>
            </a:r>
          </a:p>
        </p:txBody>
      </p:sp>
      <p:grpSp>
        <p:nvGrpSpPr>
          <p:cNvPr id="81" name="Group 72">
            <a:extLst>
              <a:ext uri="{FF2B5EF4-FFF2-40B4-BE49-F238E27FC236}">
                <a16:creationId xmlns:a16="http://schemas.microsoft.com/office/drawing/2014/main" id="{BCF10484-C4F0-2146-A1F6-01CD23E18EAF}"/>
              </a:ext>
            </a:extLst>
          </p:cNvPr>
          <p:cNvGrpSpPr>
            <a:grpSpLocks/>
          </p:cNvGrpSpPr>
          <p:nvPr/>
        </p:nvGrpSpPr>
        <p:grpSpPr bwMode="auto">
          <a:xfrm>
            <a:off x="8147517" y="2351087"/>
            <a:ext cx="2578100" cy="2155825"/>
            <a:chOff x="512" y="1294"/>
            <a:chExt cx="1888" cy="1358"/>
          </a:xfrm>
        </p:grpSpPr>
        <p:grpSp>
          <p:nvGrpSpPr>
            <p:cNvPr id="82" name="Group 17">
              <a:extLst>
                <a:ext uri="{FF2B5EF4-FFF2-40B4-BE49-F238E27FC236}">
                  <a16:creationId xmlns:a16="http://schemas.microsoft.com/office/drawing/2014/main" id="{1B215862-92BC-FD44-8231-FAC4460EC932}"/>
                </a:ext>
              </a:extLst>
            </p:cNvPr>
            <p:cNvGrpSpPr>
              <a:grpSpLocks/>
            </p:cNvGrpSpPr>
            <p:nvPr/>
          </p:nvGrpSpPr>
          <p:grpSpPr bwMode="auto">
            <a:xfrm>
              <a:off x="1232" y="1410"/>
              <a:ext cx="336" cy="130"/>
              <a:chOff x="2003" y="1816"/>
              <a:chExt cx="336" cy="130"/>
            </a:xfrm>
          </p:grpSpPr>
          <p:sp>
            <p:nvSpPr>
              <p:cNvPr id="91" name="Rectangle 18">
                <a:extLst>
                  <a:ext uri="{FF2B5EF4-FFF2-40B4-BE49-F238E27FC236}">
                    <a16:creationId xmlns:a16="http://schemas.microsoft.com/office/drawing/2014/main" id="{9F916805-82BB-7244-99A5-5F0A5D165046}"/>
                  </a:ext>
                </a:extLst>
              </p:cNvPr>
              <p:cNvSpPr>
                <a:spLocks noChangeArrowheads="1"/>
              </p:cNvSpPr>
              <p:nvPr/>
            </p:nvSpPr>
            <p:spPr bwMode="auto">
              <a:xfrm>
                <a:off x="2003" y="181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2" name="Rectangle 19">
                <a:extLst>
                  <a:ext uri="{FF2B5EF4-FFF2-40B4-BE49-F238E27FC236}">
                    <a16:creationId xmlns:a16="http://schemas.microsoft.com/office/drawing/2014/main" id="{4DA550D0-215D-334C-AB2B-CF8748123D33}"/>
                  </a:ext>
                </a:extLst>
              </p:cNvPr>
              <p:cNvSpPr>
                <a:spLocks noChangeArrowheads="1"/>
              </p:cNvSpPr>
              <p:nvPr/>
            </p:nvSpPr>
            <p:spPr bwMode="auto">
              <a:xfrm>
                <a:off x="2105" y="1833"/>
                <a:ext cx="108"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3" name="Rectangle 20">
                <a:extLst>
                  <a:ext uri="{FF2B5EF4-FFF2-40B4-BE49-F238E27FC236}">
                    <a16:creationId xmlns:a16="http://schemas.microsoft.com/office/drawing/2014/main" id="{B48A6578-4F82-8A4E-B684-CD32D31F82B1}"/>
                  </a:ext>
                </a:extLst>
              </p:cNvPr>
              <p:cNvSpPr>
                <a:spLocks noChangeArrowheads="1"/>
              </p:cNvSpPr>
              <p:nvPr/>
            </p:nvSpPr>
            <p:spPr bwMode="auto">
              <a:xfrm>
                <a:off x="2228" y="1891"/>
                <a:ext cx="28"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4" name="Rectangle 21">
                <a:extLst>
                  <a:ext uri="{FF2B5EF4-FFF2-40B4-BE49-F238E27FC236}">
                    <a16:creationId xmlns:a16="http://schemas.microsoft.com/office/drawing/2014/main" id="{FE3C8549-958F-8C49-9BB2-21BE77A5A384}"/>
                  </a:ext>
                </a:extLst>
              </p:cNvPr>
              <p:cNvSpPr>
                <a:spLocks noChangeArrowheads="1"/>
              </p:cNvSpPr>
              <p:nvPr/>
            </p:nvSpPr>
            <p:spPr bwMode="auto">
              <a:xfrm>
                <a:off x="2056" y="189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83" name="Rectangle 52">
              <a:extLst>
                <a:ext uri="{FF2B5EF4-FFF2-40B4-BE49-F238E27FC236}">
                  <a16:creationId xmlns:a16="http://schemas.microsoft.com/office/drawing/2014/main" id="{4EAEE0E4-1542-A044-B98C-0D8E8528492B}"/>
                </a:ext>
              </a:extLst>
            </p:cNvPr>
            <p:cNvSpPr>
              <a:spLocks noChangeArrowheads="1"/>
            </p:cNvSpPr>
            <p:nvPr/>
          </p:nvSpPr>
          <p:spPr bwMode="auto">
            <a:xfrm>
              <a:off x="526" y="1522"/>
              <a:ext cx="1871" cy="896"/>
            </a:xfrm>
            <a:prstGeom prst="rect">
              <a:avLst/>
            </a:prstGeom>
            <a:solidFill>
              <a:srgbClr val="0000A8"/>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4" name="Line 53">
              <a:extLst>
                <a:ext uri="{FF2B5EF4-FFF2-40B4-BE49-F238E27FC236}">
                  <a16:creationId xmlns:a16="http://schemas.microsoft.com/office/drawing/2014/main" id="{1BF4AFA5-7079-8E48-98E5-F01131B6DC42}"/>
                </a:ext>
              </a:extLst>
            </p:cNvPr>
            <p:cNvSpPr>
              <a:spLocks noChangeShapeType="1"/>
            </p:cNvSpPr>
            <p:nvPr/>
          </p:nvSpPr>
          <p:spPr bwMode="auto">
            <a:xfrm>
              <a:off x="512" y="1863"/>
              <a:ext cx="188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5" name="AutoShape 54">
              <a:extLst>
                <a:ext uri="{FF2B5EF4-FFF2-40B4-BE49-F238E27FC236}">
                  <a16:creationId xmlns:a16="http://schemas.microsoft.com/office/drawing/2014/main" id="{01CE49A7-7FEA-2F41-B96C-9C13B374840D}"/>
                </a:ext>
              </a:extLst>
            </p:cNvPr>
            <p:cNvSpPr>
              <a:spLocks noChangeArrowheads="1"/>
            </p:cNvSpPr>
            <p:nvPr/>
          </p:nvSpPr>
          <p:spPr bwMode="auto">
            <a:xfrm>
              <a:off x="1310" y="1294"/>
              <a:ext cx="157" cy="288"/>
            </a:xfrm>
            <a:prstGeom prst="upArrow">
              <a:avLst>
                <a:gd name="adj1" fmla="val 50000"/>
                <a:gd name="adj2" fmla="val 45860"/>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6" name="Rectangle 55" descr="Dark upward diagonal">
              <a:extLst>
                <a:ext uri="{FF2B5EF4-FFF2-40B4-BE49-F238E27FC236}">
                  <a16:creationId xmlns:a16="http://schemas.microsoft.com/office/drawing/2014/main" id="{E7DBF90D-63AF-CA4B-B765-CCAF65A7F80D}"/>
                </a:ext>
              </a:extLst>
            </p:cNvPr>
            <p:cNvSpPr>
              <a:spLocks noChangeArrowheads="1"/>
            </p:cNvSpPr>
            <p:nvPr/>
          </p:nvSpPr>
          <p:spPr bwMode="auto">
            <a:xfrm>
              <a:off x="534" y="1856"/>
              <a:ext cx="1848" cy="555"/>
            </a:xfrm>
            <a:prstGeom prst="rect">
              <a:avLst/>
            </a:prstGeom>
            <a:solidFill>
              <a:schemeClr val="bg1">
                <a:lumMod val="9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AutoShape 56">
              <a:extLst>
                <a:ext uri="{FF2B5EF4-FFF2-40B4-BE49-F238E27FC236}">
                  <a16:creationId xmlns:a16="http://schemas.microsoft.com/office/drawing/2014/main" id="{E85EDD4B-2EB2-CF4B-A7E7-5DB87DD8E261}"/>
                </a:ext>
              </a:extLst>
            </p:cNvPr>
            <p:cNvSpPr>
              <a:spLocks noChangeArrowheads="1"/>
            </p:cNvSpPr>
            <p:nvPr/>
          </p:nvSpPr>
          <p:spPr bwMode="auto">
            <a:xfrm>
              <a:off x="1312" y="2364"/>
              <a:ext cx="157" cy="288"/>
            </a:xfrm>
            <a:prstGeom prst="upArrow">
              <a:avLst>
                <a:gd name="adj1" fmla="val 50000"/>
                <a:gd name="adj2" fmla="val 45860"/>
              </a:avLst>
            </a:prstGeom>
            <a:solidFill>
              <a:srgbClr val="CC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8" name="Text Box 57">
              <a:extLst>
                <a:ext uri="{FF2B5EF4-FFF2-40B4-BE49-F238E27FC236}">
                  <a16:creationId xmlns:a16="http://schemas.microsoft.com/office/drawing/2014/main" id="{18AF2730-2703-2A49-8B1B-CCB541608D5B}"/>
                </a:ext>
              </a:extLst>
            </p:cNvPr>
            <p:cNvSpPr txBox="1">
              <a:spLocks noChangeArrowheads="1"/>
            </p:cNvSpPr>
            <p:nvPr/>
          </p:nvSpPr>
          <p:spPr bwMode="auto">
            <a:xfrm>
              <a:off x="814" y="1568"/>
              <a:ext cx="1243"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Tahoma" charset="0"/>
                  <a:ea typeface="ＭＳ Ｐゴシック" charset="0"/>
                  <a:cs typeface="+mn-cs"/>
                </a:rPr>
                <a:t>buffered data</a:t>
              </a:r>
            </a:p>
          </p:txBody>
        </p:sp>
        <p:sp>
          <p:nvSpPr>
            <p:cNvPr id="89" name="Line 58">
              <a:extLst>
                <a:ext uri="{FF2B5EF4-FFF2-40B4-BE49-F238E27FC236}">
                  <a16:creationId xmlns:a16="http://schemas.microsoft.com/office/drawing/2014/main" id="{3E425F76-602D-884F-B462-CE3703890F46}"/>
                </a:ext>
              </a:extLst>
            </p:cNvPr>
            <p:cNvSpPr>
              <a:spLocks noChangeShapeType="1"/>
            </p:cNvSpPr>
            <p:nvPr/>
          </p:nvSpPr>
          <p:spPr bwMode="auto">
            <a:xfrm>
              <a:off x="522" y="1857"/>
              <a:ext cx="1878" cy="7"/>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0" name="Text Box 59">
              <a:extLst>
                <a:ext uri="{FF2B5EF4-FFF2-40B4-BE49-F238E27FC236}">
                  <a16:creationId xmlns:a16="http://schemas.microsoft.com/office/drawing/2014/main" id="{FAA57939-600A-5644-BD7E-58580D1D7997}"/>
                </a:ext>
              </a:extLst>
            </p:cNvPr>
            <p:cNvSpPr txBox="1">
              <a:spLocks noChangeArrowheads="1"/>
            </p:cNvSpPr>
            <p:nvPr/>
          </p:nvSpPr>
          <p:spPr bwMode="auto">
            <a:xfrm>
              <a:off x="653" y="2020"/>
              <a:ext cx="152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rPr>
                <a:t>free buffer space</a:t>
              </a:r>
            </a:p>
          </p:txBody>
        </p:sp>
      </p:grpSp>
      <p:sp>
        <p:nvSpPr>
          <p:cNvPr id="95" name="Text Box 62">
            <a:extLst>
              <a:ext uri="{FF2B5EF4-FFF2-40B4-BE49-F238E27FC236}">
                <a16:creationId xmlns:a16="http://schemas.microsoft.com/office/drawing/2014/main" id="{AEFCE47F-E93D-AF44-B3F4-73BB671A7DAA}"/>
              </a:ext>
            </a:extLst>
          </p:cNvPr>
          <p:cNvSpPr txBox="1">
            <a:spLocks noChangeArrowheads="1"/>
          </p:cNvSpPr>
          <p:nvPr/>
        </p:nvSpPr>
        <p:spPr bwMode="auto">
          <a:xfrm>
            <a:off x="7260104" y="3495674"/>
            <a:ext cx="6731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charset="0"/>
                <a:ea typeface="ＭＳ Ｐゴシック" charset="0"/>
                <a:cs typeface="+mn-cs"/>
              </a:rPr>
              <a:t>rwnd</a:t>
            </a:r>
          </a:p>
        </p:txBody>
      </p:sp>
      <p:sp>
        <p:nvSpPr>
          <p:cNvPr id="96" name="Line 64">
            <a:extLst>
              <a:ext uri="{FF2B5EF4-FFF2-40B4-BE49-F238E27FC236}">
                <a16:creationId xmlns:a16="http://schemas.microsoft.com/office/drawing/2014/main" id="{16902A7E-A0A9-CA44-AA34-DA532E0008E8}"/>
              </a:ext>
            </a:extLst>
          </p:cNvPr>
          <p:cNvSpPr>
            <a:spLocks noChangeShapeType="1"/>
          </p:cNvSpPr>
          <p:nvPr/>
        </p:nvSpPr>
        <p:spPr bwMode="auto">
          <a:xfrm>
            <a:off x="7771279" y="3228974"/>
            <a:ext cx="0" cy="322263"/>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7" name="Line 65">
            <a:extLst>
              <a:ext uri="{FF2B5EF4-FFF2-40B4-BE49-F238E27FC236}">
                <a16:creationId xmlns:a16="http://schemas.microsoft.com/office/drawing/2014/main" id="{D648F6B1-0A50-8C4D-A7D2-3CF747C8BABF}"/>
              </a:ext>
            </a:extLst>
          </p:cNvPr>
          <p:cNvSpPr>
            <a:spLocks noChangeShapeType="1"/>
          </p:cNvSpPr>
          <p:nvPr/>
        </p:nvSpPr>
        <p:spPr bwMode="auto">
          <a:xfrm flipV="1">
            <a:off x="7771279" y="3754437"/>
            <a:ext cx="0" cy="322262"/>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8" name="Line 66">
            <a:extLst>
              <a:ext uri="{FF2B5EF4-FFF2-40B4-BE49-F238E27FC236}">
                <a16:creationId xmlns:a16="http://schemas.microsoft.com/office/drawing/2014/main" id="{6D1EA1AA-F1A0-E74F-8EB6-323F135BBE4A}"/>
              </a:ext>
            </a:extLst>
          </p:cNvPr>
          <p:cNvSpPr>
            <a:spLocks noChangeShapeType="1"/>
          </p:cNvSpPr>
          <p:nvPr/>
        </p:nvSpPr>
        <p:spPr bwMode="auto">
          <a:xfrm>
            <a:off x="7617292" y="4086224"/>
            <a:ext cx="4762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 name="Line 67">
            <a:extLst>
              <a:ext uri="{FF2B5EF4-FFF2-40B4-BE49-F238E27FC236}">
                <a16:creationId xmlns:a16="http://schemas.microsoft.com/office/drawing/2014/main" id="{1C85352E-17C9-D549-A2BD-57A09913F048}"/>
              </a:ext>
            </a:extLst>
          </p:cNvPr>
          <p:cNvSpPr>
            <a:spLocks noChangeShapeType="1"/>
          </p:cNvSpPr>
          <p:nvPr/>
        </p:nvSpPr>
        <p:spPr bwMode="auto">
          <a:xfrm>
            <a:off x="7666504" y="3217862"/>
            <a:ext cx="1968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 name="Line 68">
            <a:extLst>
              <a:ext uri="{FF2B5EF4-FFF2-40B4-BE49-F238E27FC236}">
                <a16:creationId xmlns:a16="http://schemas.microsoft.com/office/drawing/2014/main" id="{EBC9AE0D-2B04-2645-9476-0B3051DF9276}"/>
              </a:ext>
            </a:extLst>
          </p:cNvPr>
          <p:cNvSpPr>
            <a:spLocks noChangeShapeType="1"/>
          </p:cNvSpPr>
          <p:nvPr/>
        </p:nvSpPr>
        <p:spPr bwMode="auto">
          <a:xfrm>
            <a:off x="7639517" y="2692399"/>
            <a:ext cx="47625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1" name="Line 69">
            <a:extLst>
              <a:ext uri="{FF2B5EF4-FFF2-40B4-BE49-F238E27FC236}">
                <a16:creationId xmlns:a16="http://schemas.microsoft.com/office/drawing/2014/main" id="{C0332117-A4C3-844D-8A08-8B0B485AD2EA}"/>
              </a:ext>
            </a:extLst>
          </p:cNvPr>
          <p:cNvSpPr>
            <a:spLocks noChangeShapeType="1"/>
          </p:cNvSpPr>
          <p:nvPr/>
        </p:nvSpPr>
        <p:spPr bwMode="auto">
          <a:xfrm>
            <a:off x="8028454" y="2697162"/>
            <a:ext cx="0" cy="17780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2" name="Line 70">
            <a:extLst>
              <a:ext uri="{FF2B5EF4-FFF2-40B4-BE49-F238E27FC236}">
                <a16:creationId xmlns:a16="http://schemas.microsoft.com/office/drawing/2014/main" id="{838B5881-D7D0-554D-93A9-E8D16418B8D3}"/>
              </a:ext>
            </a:extLst>
          </p:cNvPr>
          <p:cNvSpPr>
            <a:spLocks noChangeShapeType="1"/>
          </p:cNvSpPr>
          <p:nvPr/>
        </p:nvSpPr>
        <p:spPr bwMode="auto">
          <a:xfrm flipH="1">
            <a:off x="8026867" y="3121024"/>
            <a:ext cx="0" cy="95408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3" name="Text Box 71">
            <a:extLst>
              <a:ext uri="{FF2B5EF4-FFF2-40B4-BE49-F238E27FC236}">
                <a16:creationId xmlns:a16="http://schemas.microsoft.com/office/drawing/2014/main" id="{76399630-36A1-DE42-B526-233291123DB6}"/>
              </a:ext>
            </a:extLst>
          </p:cNvPr>
          <p:cNvSpPr txBox="1">
            <a:spLocks noChangeArrowheads="1"/>
          </p:cNvSpPr>
          <p:nvPr/>
        </p:nvSpPr>
        <p:spPr bwMode="auto">
          <a:xfrm>
            <a:off x="6874342" y="2857499"/>
            <a:ext cx="1284287"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ourier New" charset="0"/>
                <a:ea typeface="ＭＳ Ｐゴシック" charset="0"/>
                <a:cs typeface="+mn-cs"/>
              </a:rPr>
              <a:t>RcvBuffer</a:t>
            </a:r>
          </a:p>
        </p:txBody>
      </p:sp>
      <p:sp>
        <p:nvSpPr>
          <p:cNvPr id="104" name="Text Box 73">
            <a:extLst>
              <a:ext uri="{FF2B5EF4-FFF2-40B4-BE49-F238E27FC236}">
                <a16:creationId xmlns:a16="http://schemas.microsoft.com/office/drawing/2014/main" id="{B6E3B689-E8B2-BF4B-86DF-927AF5D4F690}"/>
              </a:ext>
            </a:extLst>
          </p:cNvPr>
          <p:cNvSpPr txBox="1">
            <a:spLocks noChangeArrowheads="1"/>
          </p:cNvSpPr>
          <p:nvPr/>
        </p:nvSpPr>
        <p:spPr bwMode="auto">
          <a:xfrm>
            <a:off x="8152610" y="4486274"/>
            <a:ext cx="252505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segment payloads</a:t>
            </a:r>
          </a:p>
        </p:txBody>
      </p:sp>
      <p:sp>
        <p:nvSpPr>
          <p:cNvPr id="105" name="Text Box 74">
            <a:extLst>
              <a:ext uri="{FF2B5EF4-FFF2-40B4-BE49-F238E27FC236}">
                <a16:creationId xmlns:a16="http://schemas.microsoft.com/office/drawing/2014/main" id="{91F2C3EF-EE52-4542-BF6E-028621EA7670}"/>
              </a:ext>
            </a:extLst>
          </p:cNvPr>
          <p:cNvSpPr txBox="1">
            <a:spLocks noChangeArrowheads="1"/>
          </p:cNvSpPr>
          <p:nvPr/>
        </p:nvSpPr>
        <p:spPr bwMode="auto">
          <a:xfrm>
            <a:off x="8203635" y="1985962"/>
            <a:ext cx="247856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to application process</a:t>
            </a:r>
          </a:p>
        </p:txBody>
      </p:sp>
      <p:sp>
        <p:nvSpPr>
          <p:cNvPr id="106" name="Text Box 76">
            <a:extLst>
              <a:ext uri="{FF2B5EF4-FFF2-40B4-BE49-F238E27FC236}">
                <a16:creationId xmlns:a16="http://schemas.microsoft.com/office/drawing/2014/main" id="{0CF681A2-AC47-5344-AE94-24FC5FD82425}"/>
              </a:ext>
            </a:extLst>
          </p:cNvPr>
          <p:cNvSpPr txBox="1">
            <a:spLocks noChangeArrowheads="1"/>
          </p:cNvSpPr>
          <p:nvPr/>
        </p:nvSpPr>
        <p:spPr bwMode="auto">
          <a:xfrm>
            <a:off x="7554658" y="5138737"/>
            <a:ext cx="356379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receiver-side buffering</a:t>
            </a:r>
          </a:p>
        </p:txBody>
      </p:sp>
      <p:sp>
        <p:nvSpPr>
          <p:cNvPr id="30" name="Slide Number Placeholder 2">
            <a:extLst>
              <a:ext uri="{FF2B5EF4-FFF2-40B4-BE49-F238E27FC236}">
                <a16:creationId xmlns:a16="http://schemas.microsoft.com/office/drawing/2014/main" id="{FD800B74-F67D-AF4D-AABB-EE14B6FEBDC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22</a:t>
            </a:fld>
            <a:endParaRPr lang="en-US" dirty="0"/>
          </a:p>
        </p:txBody>
      </p:sp>
    </p:spTree>
    <p:extLst>
      <p:ext uri="{BB962C8B-B14F-4D97-AF65-F5344CB8AC3E}">
        <p14:creationId xmlns:p14="http://schemas.microsoft.com/office/powerpoint/2010/main" val="4217487287"/>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flow control</a:t>
            </a:r>
            <a:endParaRPr lang="en-US" sz="4400" b="0" dirty="0"/>
          </a:p>
        </p:txBody>
      </p:sp>
      <p:sp>
        <p:nvSpPr>
          <p:cNvPr id="54" name="Rectangle 75">
            <a:extLst>
              <a:ext uri="{FF2B5EF4-FFF2-40B4-BE49-F238E27FC236}">
                <a16:creationId xmlns:a16="http://schemas.microsoft.com/office/drawing/2014/main" id="{78F7B284-6B74-F548-982C-C01C5F7D3D99}"/>
              </a:ext>
            </a:extLst>
          </p:cNvPr>
          <p:cNvSpPr txBox="1">
            <a:spLocks noChangeArrowheads="1"/>
          </p:cNvSpPr>
          <p:nvPr/>
        </p:nvSpPr>
        <p:spPr>
          <a:xfrm>
            <a:off x="668940" y="1485900"/>
            <a:ext cx="5826405" cy="490696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receiver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advertises” free buffer space in </a:t>
            </a:r>
            <a:r>
              <a:rPr kumimoji="0" lang="en-US" altLang="ja-JP"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field in TCP header</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size set via socket options (typical default is 4096 bytes)</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many operating systems auto-adjust </a:t>
            </a:r>
            <a:r>
              <a:rPr kumimoji="0" lang="en-US" altLang="en-US" sz="24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RcvBuffer</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sender limits amount of unACKed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in-flight”) data to received </a:t>
            </a:r>
            <a:r>
              <a:rPr kumimoji="0" lang="en-US" altLang="ja-JP"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rwnd</a:t>
            </a:r>
          </a:p>
          <a:p>
            <a:pPr marL="352425" marR="0" lvl="0" indent="-222250" algn="l" defTabSz="914400" rtl="0" eaLnBrk="1" fontAlgn="auto" latinLnBrk="0" hangingPunct="1">
              <a:lnSpc>
                <a:spcPct val="10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guarantees receive buffer will not overflow</a:t>
            </a:r>
          </a:p>
        </p:txBody>
      </p:sp>
      <p:grpSp>
        <p:nvGrpSpPr>
          <p:cNvPr id="4" name="Group 3">
            <a:extLst>
              <a:ext uri="{FF2B5EF4-FFF2-40B4-BE49-F238E27FC236}">
                <a16:creationId xmlns:a16="http://schemas.microsoft.com/office/drawing/2014/main" id="{65ED315A-00AA-7C4A-8164-7D6F6F0CAA0E}"/>
              </a:ext>
            </a:extLst>
          </p:cNvPr>
          <p:cNvGrpSpPr/>
          <p:nvPr/>
        </p:nvGrpSpPr>
        <p:grpSpPr>
          <a:xfrm>
            <a:off x="7363745" y="1068614"/>
            <a:ext cx="4349284" cy="5165818"/>
            <a:chOff x="7334716" y="821871"/>
            <a:chExt cx="4349284" cy="5165818"/>
          </a:xfrm>
        </p:grpSpPr>
        <p:sp>
          <p:nvSpPr>
            <p:cNvPr id="43" name="Text Box 49">
              <a:extLst>
                <a:ext uri="{FF2B5EF4-FFF2-40B4-BE49-F238E27FC236}">
                  <a16:creationId xmlns:a16="http://schemas.microsoft.com/office/drawing/2014/main" id="{4942189D-75C7-5146-A769-620DCCD5AD2C}"/>
                </a:ext>
              </a:extLst>
            </p:cNvPr>
            <p:cNvSpPr txBox="1">
              <a:spLocks noChangeArrowheads="1"/>
            </p:cNvSpPr>
            <p:nvPr/>
          </p:nvSpPr>
          <p:spPr bwMode="auto">
            <a:xfrm>
              <a:off x="7334716" y="821871"/>
              <a:ext cx="4349284" cy="3416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flow control: </a:t>
              </a:r>
              <a:r>
                <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bytes receiver willing to accept</a:t>
              </a:r>
              <a:endPar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3" name="Group 2">
              <a:extLst>
                <a:ext uri="{FF2B5EF4-FFF2-40B4-BE49-F238E27FC236}">
                  <a16:creationId xmlns:a16="http://schemas.microsoft.com/office/drawing/2014/main" id="{013C6F91-8B0A-654D-A104-22DAAE940A5C}"/>
                </a:ext>
              </a:extLst>
            </p:cNvPr>
            <p:cNvGrpSpPr/>
            <p:nvPr/>
          </p:nvGrpSpPr>
          <p:grpSpPr>
            <a:xfrm>
              <a:off x="7490842" y="1445945"/>
              <a:ext cx="3173211" cy="4078555"/>
              <a:chOff x="7157014" y="1873079"/>
              <a:chExt cx="2251592" cy="2800562"/>
            </a:xfrm>
          </p:grpSpPr>
          <p:sp>
            <p:nvSpPr>
              <p:cNvPr id="31" name="Rectangle 4">
                <a:extLst>
                  <a:ext uri="{FF2B5EF4-FFF2-40B4-BE49-F238E27FC236}">
                    <a16:creationId xmlns:a16="http://schemas.microsoft.com/office/drawing/2014/main" id="{F26D3C4D-BBC1-F742-A1E0-D6E34A9B3149}"/>
                  </a:ext>
                </a:extLst>
              </p:cNvPr>
              <p:cNvSpPr>
                <a:spLocks noChangeArrowheads="1"/>
              </p:cNvSpPr>
              <p:nvPr/>
            </p:nvSpPr>
            <p:spPr bwMode="auto">
              <a:xfrm>
                <a:off x="7206558" y="1873079"/>
                <a:ext cx="2202048" cy="2745454"/>
              </a:xfrm>
              <a:prstGeom prst="rect">
                <a:avLst/>
              </a:prstGeom>
              <a:solidFill>
                <a:srgbClr val="000099"/>
              </a:solidFill>
              <a:ln>
                <a:noFill/>
              </a:ln>
              <a:effectLst/>
              <a:extLst>
                <a:ext uri="{91240B29-F687-4f45-9708-019B960494DF}">
                  <a14:hiddenLine xmlns:a14="http://schemas.microsoft.com/office/drawing/2010/main" xmlns="" w="1905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2" name="Rectangle 5">
                <a:extLst>
                  <a:ext uri="{FF2B5EF4-FFF2-40B4-BE49-F238E27FC236}">
                    <a16:creationId xmlns:a16="http://schemas.microsoft.com/office/drawing/2014/main" id="{EDEADB29-BFA2-B047-B027-A9139A42EC40}"/>
                  </a:ext>
                </a:extLst>
              </p:cNvPr>
              <p:cNvSpPr>
                <a:spLocks noChangeArrowheads="1"/>
              </p:cNvSpPr>
              <p:nvPr/>
            </p:nvSpPr>
            <p:spPr bwMode="auto">
              <a:xfrm>
                <a:off x="7158783" y="1939027"/>
                <a:ext cx="2202048" cy="2734614"/>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3" name="Line 8">
                <a:extLst>
                  <a:ext uri="{FF2B5EF4-FFF2-40B4-BE49-F238E27FC236}">
                    <a16:creationId xmlns:a16="http://schemas.microsoft.com/office/drawing/2014/main" id="{D6DDC5BF-A1E6-C24B-9CE3-F65B498DEB30}"/>
                  </a:ext>
                </a:extLst>
              </p:cNvPr>
              <p:cNvSpPr>
                <a:spLocks noChangeShapeType="1"/>
              </p:cNvSpPr>
              <p:nvPr/>
            </p:nvSpPr>
            <p:spPr bwMode="auto">
              <a:xfrm>
                <a:off x="7160553" y="2152232"/>
                <a:ext cx="2199395" cy="2711"/>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 name="Line 9">
                <a:extLst>
                  <a:ext uri="{FF2B5EF4-FFF2-40B4-BE49-F238E27FC236}">
                    <a16:creationId xmlns:a16="http://schemas.microsoft.com/office/drawing/2014/main" id="{D073AA58-CCB9-1143-BD54-AECB66E97A27}"/>
                  </a:ext>
                </a:extLst>
              </p:cNvPr>
              <p:cNvSpPr>
                <a:spLocks noChangeShapeType="1"/>
              </p:cNvSpPr>
              <p:nvPr/>
            </p:nvSpPr>
            <p:spPr bwMode="auto">
              <a:xfrm flipV="1">
                <a:off x="7157014" y="2368146"/>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 name="Line 16">
                <a:extLst>
                  <a:ext uri="{FF2B5EF4-FFF2-40B4-BE49-F238E27FC236}">
                    <a16:creationId xmlns:a16="http://schemas.microsoft.com/office/drawing/2014/main" id="{3BCF6F65-DFAE-C544-BAEE-68B6416C49EB}"/>
                  </a:ext>
                </a:extLst>
              </p:cNvPr>
              <p:cNvSpPr>
                <a:spLocks noChangeShapeType="1"/>
              </p:cNvSpPr>
              <p:nvPr/>
            </p:nvSpPr>
            <p:spPr bwMode="auto">
              <a:xfrm flipV="1">
                <a:off x="7162322" y="2584964"/>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 name="Line 18">
                <a:extLst>
                  <a:ext uri="{FF2B5EF4-FFF2-40B4-BE49-F238E27FC236}">
                    <a16:creationId xmlns:a16="http://schemas.microsoft.com/office/drawing/2014/main" id="{73D40423-B9BC-B445-A204-77B62C8A65F0}"/>
                  </a:ext>
                </a:extLst>
              </p:cNvPr>
              <p:cNvSpPr>
                <a:spLocks noChangeShapeType="1"/>
              </p:cNvSpPr>
              <p:nvPr/>
            </p:nvSpPr>
            <p:spPr bwMode="auto">
              <a:xfrm flipV="1">
                <a:off x="7159668" y="2809912"/>
                <a:ext cx="2202049"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Line 19">
                <a:extLst>
                  <a:ext uri="{FF2B5EF4-FFF2-40B4-BE49-F238E27FC236}">
                    <a16:creationId xmlns:a16="http://schemas.microsoft.com/office/drawing/2014/main" id="{9E50A3C5-1DEF-C346-9F9A-A93A3289A502}"/>
                  </a:ext>
                </a:extLst>
              </p:cNvPr>
              <p:cNvSpPr>
                <a:spLocks noChangeShapeType="1"/>
              </p:cNvSpPr>
              <p:nvPr/>
            </p:nvSpPr>
            <p:spPr bwMode="auto">
              <a:xfrm flipV="1">
                <a:off x="7157014" y="3032150"/>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 name="Line 20">
                <a:extLst>
                  <a:ext uri="{FF2B5EF4-FFF2-40B4-BE49-F238E27FC236}">
                    <a16:creationId xmlns:a16="http://schemas.microsoft.com/office/drawing/2014/main" id="{548B775C-D85F-5847-B406-FA9F2CBD5940}"/>
                  </a:ext>
                </a:extLst>
              </p:cNvPr>
              <p:cNvSpPr>
                <a:spLocks noChangeShapeType="1"/>
              </p:cNvSpPr>
              <p:nvPr/>
            </p:nvSpPr>
            <p:spPr bwMode="auto">
              <a:xfrm flipV="1">
                <a:off x="7157014" y="3351956"/>
                <a:ext cx="2202048"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 name="Line 21">
                <a:extLst>
                  <a:ext uri="{FF2B5EF4-FFF2-40B4-BE49-F238E27FC236}">
                    <a16:creationId xmlns:a16="http://schemas.microsoft.com/office/drawing/2014/main" id="{5295938A-7AD9-3A43-B065-16AE7DE46620}"/>
                  </a:ext>
                </a:extLst>
              </p:cNvPr>
              <p:cNvSpPr>
                <a:spLocks noChangeShapeType="1"/>
              </p:cNvSpPr>
              <p:nvPr/>
            </p:nvSpPr>
            <p:spPr bwMode="auto">
              <a:xfrm flipH="1" flipV="1">
                <a:off x="8249633" y="2586771"/>
                <a:ext cx="2654" cy="442669"/>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 name="Text Box 22">
                <a:extLst>
                  <a:ext uri="{FF2B5EF4-FFF2-40B4-BE49-F238E27FC236}">
                    <a16:creationId xmlns:a16="http://schemas.microsoft.com/office/drawing/2014/main" id="{DBAB1210-0C8C-574D-9755-E0E40D1D8E2B}"/>
                  </a:ext>
                </a:extLst>
              </p:cNvPr>
              <p:cNvSpPr txBox="1">
                <a:spLocks noChangeArrowheads="1"/>
              </p:cNvSpPr>
              <p:nvPr/>
            </p:nvSpPr>
            <p:spPr bwMode="auto">
              <a:xfrm>
                <a:off x="8220544" y="2572087"/>
                <a:ext cx="1124010" cy="23247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receive window</a:t>
                </a:r>
              </a:p>
            </p:txBody>
          </p:sp>
          <p:sp>
            <p:nvSpPr>
              <p:cNvPr id="41" name="Line 10">
                <a:extLst>
                  <a:ext uri="{FF2B5EF4-FFF2-40B4-BE49-F238E27FC236}">
                    <a16:creationId xmlns:a16="http://schemas.microsoft.com/office/drawing/2014/main" id="{A5EAF221-945B-9044-8647-B161BDC6D143}"/>
                  </a:ext>
                </a:extLst>
              </p:cNvPr>
              <p:cNvSpPr>
                <a:spLocks noChangeShapeType="1"/>
              </p:cNvSpPr>
              <p:nvPr/>
            </p:nvSpPr>
            <p:spPr bwMode="auto">
              <a:xfrm flipH="1" flipV="1">
                <a:off x="8241671" y="1940977"/>
                <a:ext cx="981" cy="207817"/>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4" name="Line 53">
              <a:extLst>
                <a:ext uri="{FF2B5EF4-FFF2-40B4-BE49-F238E27FC236}">
                  <a16:creationId xmlns:a16="http://schemas.microsoft.com/office/drawing/2014/main" id="{1BBBD060-CF26-F24A-BA7E-49EE7DADEE01}"/>
                </a:ext>
              </a:extLst>
            </p:cNvPr>
            <p:cNvSpPr>
              <a:spLocks noChangeShapeType="1"/>
            </p:cNvSpPr>
            <p:nvPr/>
          </p:nvSpPr>
          <p:spPr bwMode="auto">
            <a:xfrm flipH="1" flipV="1">
              <a:off x="7968285" y="1150408"/>
              <a:ext cx="1233771" cy="1404106"/>
            </a:xfrm>
            <a:prstGeom prst="line">
              <a:avLst/>
            </a:prstGeom>
            <a:noFill/>
            <a:ln w="19050">
              <a:solidFill>
                <a:srgbClr val="C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46" name="Text Box 49">
              <a:extLst>
                <a:ext uri="{FF2B5EF4-FFF2-40B4-BE49-F238E27FC236}">
                  <a16:creationId xmlns:a16="http://schemas.microsoft.com/office/drawing/2014/main" id="{FBFCD652-9EB9-FE4F-BB9F-A9277C4DE74F}"/>
                </a:ext>
              </a:extLst>
            </p:cNvPr>
            <p:cNvSpPr txBox="1">
              <a:spLocks noChangeArrowheads="1"/>
            </p:cNvSpPr>
            <p:nvPr/>
          </p:nvSpPr>
          <p:spPr bwMode="auto">
            <a:xfrm>
              <a:off x="8125744" y="5646057"/>
              <a:ext cx="2310027" cy="34163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segment format</a:t>
              </a:r>
            </a:p>
          </p:txBody>
        </p:sp>
      </p:grpSp>
      <p:sp>
        <p:nvSpPr>
          <p:cNvPr id="20" name="Slide Number Placeholder 2">
            <a:extLst>
              <a:ext uri="{FF2B5EF4-FFF2-40B4-BE49-F238E27FC236}">
                <a16:creationId xmlns:a16="http://schemas.microsoft.com/office/drawing/2014/main" id="{73A53F5E-537D-1E40-85EE-92D8692A70E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23</a:t>
            </a:fld>
            <a:endParaRPr lang="en-US" dirty="0"/>
          </a:p>
        </p:txBody>
      </p:sp>
    </p:spTree>
    <p:extLst>
      <p:ext uri="{BB962C8B-B14F-4D97-AF65-F5344CB8AC3E}">
        <p14:creationId xmlns:p14="http://schemas.microsoft.com/office/powerpoint/2010/main" val="3774413299"/>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r>
              <a:rPr lang="en-US" dirty="0"/>
              <a:t>TCP Flow Control - Silly Window Syndrome</a:t>
            </a:r>
          </a:p>
        </p:txBody>
      </p:sp>
      <p:sp>
        <p:nvSpPr>
          <p:cNvPr id="418819" name="Rectangle 3"/>
          <p:cNvSpPr>
            <a:spLocks noGrp="1" noChangeArrowheads="1"/>
          </p:cNvSpPr>
          <p:nvPr>
            <p:ph idx="1"/>
          </p:nvPr>
        </p:nvSpPr>
        <p:spPr/>
        <p:txBody>
          <a:bodyPr/>
          <a:lstStyle/>
          <a:p>
            <a:r>
              <a:rPr lang="en-US" dirty="0"/>
              <a:t>Recall: TCP uses sliding window</a:t>
            </a:r>
          </a:p>
          <a:p>
            <a:r>
              <a:rPr lang="en-US" dirty="0"/>
              <a:t>“Silly Window” occurs when small-sized segments are transmitted, resulting in inefficient use of the network pipe</a:t>
            </a:r>
          </a:p>
          <a:p>
            <a:r>
              <a:rPr lang="en-US" dirty="0"/>
              <a:t>For e.g., suppose that TCP sender generates data slowly, 1-byte at a time</a:t>
            </a:r>
          </a:p>
          <a:p>
            <a:r>
              <a:rPr lang="en-US" dirty="0"/>
              <a:t>Sending 1 byte of data + 20 byte TCP header!!!</a:t>
            </a:r>
          </a:p>
          <a:p>
            <a:r>
              <a:rPr lang="en-US" b="1" dirty="0"/>
              <a:t>Solution: </a:t>
            </a:r>
            <a:r>
              <a:rPr lang="en-US" dirty="0"/>
              <a:t>wait until sender has enough data to transmit – “</a:t>
            </a:r>
            <a:r>
              <a:rPr lang="en-US" b="1" i="1" dirty="0"/>
              <a:t>Nagle’s Algorithm</a:t>
            </a:r>
            <a:r>
              <a:rPr lang="en-US" dirty="0"/>
              <a:t>” </a:t>
            </a:r>
          </a:p>
        </p:txBody>
      </p:sp>
      <p:sp>
        <p:nvSpPr>
          <p:cNvPr id="2" name="Footer Placeholder 1"/>
          <p:cNvSpPr>
            <a:spLocks noGrp="1"/>
          </p:cNvSpPr>
          <p:nvPr>
            <p:ph type="ftr" sz="quarter" idx="1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CSC339- Data Communications and Computer Networks </a:t>
            </a:r>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7222E48-3F1A-4B4D-B1AB-8208CDFEA94D}" type="slidenum">
              <a:rPr lang="en-PK" smtClean="0"/>
              <a:pPr/>
              <a:t>24</a:t>
            </a:fld>
            <a:endParaRPr lang="en-US"/>
          </a:p>
        </p:txBody>
      </p:sp>
      <p:sp>
        <p:nvSpPr>
          <p:cNvPr id="4" name="Date Placeholder 3">
            <a:extLst>
              <a:ext uri="{FF2B5EF4-FFF2-40B4-BE49-F238E27FC236}">
                <a16:creationId xmlns:a16="http://schemas.microsoft.com/office/drawing/2014/main" id="{60219587-582B-4FA2-8B6A-B6776CBCC4F8}"/>
              </a:ext>
            </a:extLst>
          </p:cNvPr>
          <p:cNvSpPr>
            <a:spLocks noGrp="1"/>
          </p:cNvSpPr>
          <p:nvPr>
            <p:ph type="dt" sz="half" idx="10"/>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D49CDC6-802E-1C42-82C7-A8A2DAAF9F49}" type="datetime8">
              <a:rPr lang="en-US" smtClean="0"/>
              <a:pPr/>
              <a:t>10/22/2026 10:48 PM</a:t>
            </a:fld>
            <a:endParaRPr lang="en-PK"/>
          </a:p>
        </p:txBody>
      </p:sp>
    </p:spTree>
    <p:extLst>
      <p:ext uri="{BB962C8B-B14F-4D97-AF65-F5344CB8AC3E}">
        <p14:creationId xmlns:p14="http://schemas.microsoft.com/office/powerpoint/2010/main" val="970645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a:t>Nagle’s Algorithm</a:t>
            </a:r>
          </a:p>
        </p:txBody>
      </p:sp>
      <p:sp>
        <p:nvSpPr>
          <p:cNvPr id="419843" name="Rectangle 3"/>
          <p:cNvSpPr>
            <a:spLocks noGrp="1" noChangeArrowheads="1"/>
          </p:cNvSpPr>
          <p:nvPr>
            <p:ph idx="1"/>
          </p:nvPr>
        </p:nvSpPr>
        <p:spPr/>
        <p:txBody>
          <a:bodyPr>
            <a:normAutofit/>
          </a:bodyPr>
          <a:lstStyle/>
          <a:p>
            <a:pPr>
              <a:lnSpc>
                <a:spcPct val="90000"/>
              </a:lnSpc>
              <a:buFont typeface="ZapfDingbats" pitchFamily="82" charset="2"/>
              <a:buNone/>
            </a:pPr>
            <a:r>
              <a:rPr lang="en-US" dirty="0"/>
              <a:t>1. TCP sender sends the first piece of data obtained from the application (even if data is only a few bytes).</a:t>
            </a:r>
          </a:p>
          <a:p>
            <a:pPr>
              <a:lnSpc>
                <a:spcPct val="90000"/>
              </a:lnSpc>
              <a:buFont typeface="ZapfDingbats" pitchFamily="82" charset="2"/>
              <a:buNone/>
            </a:pPr>
            <a:endParaRPr lang="en-US" dirty="0"/>
          </a:p>
          <a:p>
            <a:pPr>
              <a:lnSpc>
                <a:spcPct val="90000"/>
              </a:lnSpc>
              <a:buFont typeface="ZapfDingbats" pitchFamily="82" charset="2"/>
              <a:buNone/>
            </a:pPr>
            <a:r>
              <a:rPr lang="en-US" dirty="0"/>
              <a:t>2. Wait until </a:t>
            </a:r>
            <a:r>
              <a:rPr lang="en-US" u="sng" dirty="0">
                <a:solidFill>
                  <a:srgbClr val="FF0000"/>
                </a:solidFill>
              </a:rPr>
              <a:t>enough</a:t>
            </a:r>
            <a:r>
              <a:rPr lang="en-US" dirty="0"/>
              <a:t> bytes have accumulated in the TCP send buffer </a:t>
            </a:r>
          </a:p>
          <a:p>
            <a:pPr>
              <a:lnSpc>
                <a:spcPct val="90000"/>
              </a:lnSpc>
              <a:buFont typeface="ZapfDingbats" pitchFamily="82" charset="2"/>
              <a:buNone/>
            </a:pPr>
            <a:r>
              <a:rPr lang="en-US" dirty="0"/>
              <a:t>					</a:t>
            </a:r>
            <a:r>
              <a:rPr lang="en-US" b="1" dirty="0"/>
              <a:t>OR</a:t>
            </a:r>
            <a:r>
              <a:rPr lang="en-US" dirty="0"/>
              <a:t> </a:t>
            </a:r>
          </a:p>
          <a:p>
            <a:pPr>
              <a:lnSpc>
                <a:spcPct val="90000"/>
              </a:lnSpc>
              <a:buFont typeface="ZapfDingbats" pitchFamily="82" charset="2"/>
              <a:buNone/>
            </a:pPr>
            <a:r>
              <a:rPr lang="en-US" dirty="0"/>
              <a:t>			until an ACK is received.</a:t>
            </a:r>
          </a:p>
          <a:p>
            <a:pPr>
              <a:lnSpc>
                <a:spcPct val="90000"/>
              </a:lnSpc>
              <a:buFont typeface="ZapfDingbats" pitchFamily="82" charset="2"/>
              <a:buNone/>
            </a:pPr>
            <a:endParaRPr lang="en-US" dirty="0"/>
          </a:p>
          <a:p>
            <a:pPr>
              <a:lnSpc>
                <a:spcPct val="90000"/>
              </a:lnSpc>
              <a:buFont typeface="ZapfDingbats" pitchFamily="82" charset="2"/>
              <a:buNone/>
            </a:pPr>
            <a:r>
              <a:rPr lang="en-US" dirty="0"/>
              <a:t>3. Repeat step 2 for the remainder of the transmission.</a:t>
            </a:r>
          </a:p>
          <a:p>
            <a:pPr>
              <a:lnSpc>
                <a:spcPct val="90000"/>
              </a:lnSpc>
            </a:pPr>
            <a:endParaRPr lang="en-US" dirty="0"/>
          </a:p>
        </p:txBody>
      </p:sp>
      <p:sp>
        <p:nvSpPr>
          <p:cNvPr id="2" name="Footer Placeholder 1"/>
          <p:cNvSpPr>
            <a:spLocks noGrp="1"/>
          </p:cNvSpPr>
          <p:nvPr>
            <p:ph type="ftr" sz="quarter" idx="1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CSC339- Data Communications and Computer Networks </a:t>
            </a:r>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7222E48-3F1A-4B4D-B1AB-8208CDFEA94D}" type="slidenum">
              <a:rPr lang="en-PK" smtClean="0"/>
              <a:pPr/>
              <a:t>25</a:t>
            </a:fld>
            <a:endParaRPr lang="en-US"/>
          </a:p>
        </p:txBody>
      </p:sp>
      <p:sp>
        <p:nvSpPr>
          <p:cNvPr id="4" name="Date Placeholder 3">
            <a:extLst>
              <a:ext uri="{FF2B5EF4-FFF2-40B4-BE49-F238E27FC236}">
                <a16:creationId xmlns:a16="http://schemas.microsoft.com/office/drawing/2014/main" id="{74FC05FC-764F-4F9F-A3B8-A5E44DA8125B}"/>
              </a:ext>
            </a:extLst>
          </p:cNvPr>
          <p:cNvSpPr>
            <a:spLocks noGrp="1"/>
          </p:cNvSpPr>
          <p:nvPr>
            <p:ph type="dt" sz="half" idx="10"/>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D49CDC6-802E-1C42-82C7-A8A2DAAF9F49}" type="datetime8">
              <a:rPr lang="en-US" smtClean="0"/>
              <a:pPr/>
              <a:t>10/22/2026 10:48 PM</a:t>
            </a:fld>
            <a:endParaRPr lang="en-PK"/>
          </a:p>
        </p:txBody>
      </p:sp>
    </p:spTree>
    <p:extLst>
      <p:ext uri="{BB962C8B-B14F-4D97-AF65-F5344CB8AC3E}">
        <p14:creationId xmlns:p14="http://schemas.microsoft.com/office/powerpoint/2010/main" val="2688671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3DB14A-3082-1027-2D16-6AD197219308}"/>
              </a:ext>
            </a:extLst>
          </p:cNvPr>
          <p:cNvSpPr>
            <a:spLocks noGrp="1"/>
          </p:cNvSpPr>
          <p:nvPr>
            <p:ph type="title"/>
          </p:nvPr>
        </p:nvSpPr>
        <p:spPr/>
        <p:txBody>
          <a:bodyPr/>
          <a:lstStyle/>
          <a:p>
            <a:r>
              <a:rPr lang="en-US" dirty="0"/>
              <a:t>Working of Nagle’s Algorithm</a:t>
            </a:r>
          </a:p>
        </p:txBody>
      </p:sp>
      <p:sp>
        <p:nvSpPr>
          <p:cNvPr id="4" name="Slide Number Placeholder 3">
            <a:extLst>
              <a:ext uri="{FF2B5EF4-FFF2-40B4-BE49-F238E27FC236}">
                <a16:creationId xmlns:a16="http://schemas.microsoft.com/office/drawing/2014/main" id="{CA8827CD-6C8C-0326-76A8-42AB82F3CB44}"/>
              </a:ext>
            </a:extLst>
          </p:cNvPr>
          <p:cNvSpPr>
            <a:spLocks noGrp="1"/>
          </p:cNvSpPr>
          <p:nvPr>
            <p:ph type="sldNum" sz="quarter" idx="4"/>
          </p:nvPr>
        </p:nvSpPr>
        <p:spPr/>
        <p:txBody>
          <a:bodyPr/>
          <a:lstStyle/>
          <a:p>
            <a:r>
              <a:rPr lang="en-US"/>
              <a:t>Transport Layer: 3-</a:t>
            </a:r>
            <a:fld id="{C4204591-24BD-A542-B9D5-F8D8A88D2FEE}" type="slidenum">
              <a:rPr lang="en-US" smtClean="0"/>
              <a:pPr/>
              <a:t>26</a:t>
            </a:fld>
            <a:endParaRPr lang="en-US" dirty="0"/>
          </a:p>
        </p:txBody>
      </p:sp>
      <p:pic>
        <p:nvPicPr>
          <p:cNvPr id="9" name="Picture 8">
            <a:extLst>
              <a:ext uri="{FF2B5EF4-FFF2-40B4-BE49-F238E27FC236}">
                <a16:creationId xmlns:a16="http://schemas.microsoft.com/office/drawing/2014/main" id="{EF387AEE-9304-1128-3A65-246221D8A21A}"/>
              </a:ext>
            </a:extLst>
          </p:cNvPr>
          <p:cNvPicPr>
            <a:picLocks noChangeAspect="1"/>
          </p:cNvPicPr>
          <p:nvPr/>
        </p:nvPicPr>
        <p:blipFill>
          <a:blip r:embed="rId2"/>
          <a:stretch>
            <a:fillRect/>
          </a:stretch>
        </p:blipFill>
        <p:spPr>
          <a:xfrm>
            <a:off x="1194259" y="1624012"/>
            <a:ext cx="8494864" cy="5159541"/>
          </a:xfrm>
          <a:prstGeom prst="rect">
            <a:avLst/>
          </a:prstGeom>
        </p:spPr>
      </p:pic>
    </p:spTree>
    <p:extLst>
      <p:ext uri="{BB962C8B-B14F-4D97-AF65-F5344CB8AC3E}">
        <p14:creationId xmlns:p14="http://schemas.microsoft.com/office/powerpoint/2010/main" val="3137869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a:t>Silly Window Continued …</a:t>
            </a:r>
          </a:p>
        </p:txBody>
      </p:sp>
      <p:sp>
        <p:nvSpPr>
          <p:cNvPr id="420867" name="Rectangle 3"/>
          <p:cNvSpPr>
            <a:spLocks noGrp="1" noChangeArrowheads="1"/>
          </p:cNvSpPr>
          <p:nvPr>
            <p:ph idx="1"/>
          </p:nvPr>
        </p:nvSpPr>
        <p:spPr/>
        <p:txBody>
          <a:bodyPr>
            <a:normAutofit/>
          </a:bodyPr>
          <a:lstStyle/>
          <a:p>
            <a:r>
              <a:rPr lang="en-US" sz="3200" dirty="0"/>
              <a:t>Suppose that the receiver App consumes data slowly</a:t>
            </a:r>
          </a:p>
          <a:p>
            <a:pPr lvl="1"/>
            <a:r>
              <a:rPr lang="en-US" sz="2800" dirty="0"/>
              <a:t>Receive Window opens slowly (e.g. 1 byte), and thus sender is forced to send small-sized segments</a:t>
            </a:r>
          </a:p>
          <a:p>
            <a:r>
              <a:rPr lang="en-US" sz="3200" dirty="0"/>
              <a:t>Clark’s Solution</a:t>
            </a:r>
          </a:p>
          <a:p>
            <a:pPr lvl="1"/>
            <a:r>
              <a:rPr lang="en-US" sz="2800" dirty="0"/>
              <a:t>Delayed ACK until sufficient amount of buffer is available in receive window buffer…. </a:t>
            </a:r>
            <a:r>
              <a:rPr lang="en-US" sz="2800" dirty="0">
                <a:solidFill>
                  <a:srgbClr val="FF0000"/>
                </a:solidFill>
              </a:rPr>
              <a:t>Issues??</a:t>
            </a:r>
          </a:p>
          <a:p>
            <a:pPr marL="463550" lvl="1" indent="0">
              <a:buNone/>
            </a:pPr>
            <a:r>
              <a:rPr lang="en-US" sz="2800" dirty="0"/>
              <a:t>	OR</a:t>
            </a:r>
          </a:p>
          <a:p>
            <a:pPr lvl="1"/>
            <a:r>
              <a:rPr lang="en-US" sz="2800" dirty="0"/>
              <a:t>Send ACK immediately BUT Advertise Receive Window = 0, until reasonable amount of space available in receiver’s buffer</a:t>
            </a:r>
          </a:p>
        </p:txBody>
      </p:sp>
      <p:sp>
        <p:nvSpPr>
          <p:cNvPr id="2" name="Footer Placeholder 1"/>
          <p:cNvSpPr>
            <a:spLocks noGrp="1"/>
          </p:cNvSpPr>
          <p:nvPr>
            <p:ph type="ftr" sz="quarter" idx="1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CSC339- Data Communications and Computer Networks </a:t>
            </a:r>
          </a:p>
        </p:txBody>
      </p:sp>
      <p:sp>
        <p:nvSpPr>
          <p:cNvPr id="3" name="Slide Number Placeholder 2"/>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7222E48-3F1A-4B4D-B1AB-8208CDFEA94D}" type="slidenum">
              <a:rPr lang="en-PK" smtClean="0"/>
              <a:pPr/>
              <a:t>27</a:t>
            </a:fld>
            <a:endParaRPr lang="en-US" dirty="0"/>
          </a:p>
        </p:txBody>
      </p:sp>
      <p:sp>
        <p:nvSpPr>
          <p:cNvPr id="4" name="Date Placeholder 3">
            <a:extLst>
              <a:ext uri="{FF2B5EF4-FFF2-40B4-BE49-F238E27FC236}">
                <a16:creationId xmlns:a16="http://schemas.microsoft.com/office/drawing/2014/main" id="{243CB707-C30A-46B2-A8D3-59141048D5FA}"/>
              </a:ext>
            </a:extLst>
          </p:cNvPr>
          <p:cNvSpPr>
            <a:spLocks noGrp="1"/>
          </p:cNvSpPr>
          <p:nvPr>
            <p:ph type="dt" sz="half" idx="10"/>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D49CDC6-802E-1C42-82C7-A8A2DAAF9F49}" type="datetime8">
              <a:rPr lang="en-US" smtClean="0"/>
              <a:pPr/>
              <a:t>10/22/2026 10:48 PM</a:t>
            </a:fld>
            <a:endParaRPr lang="en-PK"/>
          </a:p>
        </p:txBody>
      </p:sp>
    </p:spTree>
    <p:extLst>
      <p:ext uri="{BB962C8B-B14F-4D97-AF65-F5344CB8AC3E}">
        <p14:creationId xmlns:p14="http://schemas.microsoft.com/office/powerpoint/2010/main" val="8340054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connection management</a:t>
            </a:r>
            <a:endParaRPr lang="en-US" sz="4400" b="0" dirty="0"/>
          </a:p>
        </p:txBody>
      </p:sp>
      <p:sp>
        <p:nvSpPr>
          <p:cNvPr id="31" name="Rectangle 5">
            <a:extLst>
              <a:ext uri="{FF2B5EF4-FFF2-40B4-BE49-F238E27FC236}">
                <a16:creationId xmlns:a16="http://schemas.microsoft.com/office/drawing/2014/main" id="{9C578410-CCAC-A940-BEC5-74269A538606}"/>
              </a:ext>
            </a:extLst>
          </p:cNvPr>
          <p:cNvSpPr txBox="1">
            <a:spLocks noChangeArrowheads="1"/>
          </p:cNvSpPr>
          <p:nvPr/>
        </p:nvSpPr>
        <p:spPr>
          <a:xfrm>
            <a:off x="785243" y="1329399"/>
            <a:ext cx="11329310" cy="21875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before exchanging data, sender/receiver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handshake”:</a:t>
            </a:r>
          </a:p>
          <a:p>
            <a:pPr marL="352425" marR="0" lvl="0" indent="-22225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agree to establish connection (each knowing the other willing to establish connection)</a:t>
            </a:r>
          </a:p>
          <a:p>
            <a:pPr marL="352425" marR="0" lvl="0" indent="-222250"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agree on connection parameters (e.g., starting seq #s)</a:t>
            </a:r>
          </a:p>
        </p:txBody>
      </p:sp>
      <p:sp>
        <p:nvSpPr>
          <p:cNvPr id="129" name="Rectangle 62">
            <a:extLst>
              <a:ext uri="{FF2B5EF4-FFF2-40B4-BE49-F238E27FC236}">
                <a16:creationId xmlns:a16="http://schemas.microsoft.com/office/drawing/2014/main" id="{C5E2ED2D-96E6-7640-B8B9-2E97B87686AF}"/>
              </a:ext>
            </a:extLst>
          </p:cNvPr>
          <p:cNvSpPr>
            <a:spLocks noChangeArrowheads="1"/>
          </p:cNvSpPr>
          <p:nvPr/>
        </p:nvSpPr>
        <p:spPr bwMode="auto">
          <a:xfrm>
            <a:off x="3138677" y="2935290"/>
            <a:ext cx="2279650" cy="2414588"/>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0" name="Rectangle 45">
            <a:extLst>
              <a:ext uri="{FF2B5EF4-FFF2-40B4-BE49-F238E27FC236}">
                <a16:creationId xmlns:a16="http://schemas.microsoft.com/office/drawing/2014/main" id="{E1C433CA-144F-FE40-9939-574216DE0F50}"/>
              </a:ext>
            </a:extLst>
          </p:cNvPr>
          <p:cNvSpPr>
            <a:spLocks noChangeArrowheads="1"/>
          </p:cNvSpPr>
          <p:nvPr/>
        </p:nvSpPr>
        <p:spPr bwMode="auto">
          <a:xfrm>
            <a:off x="3098989" y="2989265"/>
            <a:ext cx="2270125" cy="24717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Line 55">
            <a:extLst>
              <a:ext uri="{FF2B5EF4-FFF2-40B4-BE49-F238E27FC236}">
                <a16:creationId xmlns:a16="http://schemas.microsoft.com/office/drawing/2014/main" id="{B5AF7973-E361-6A42-9B3B-A8AD0E9C7140}"/>
              </a:ext>
            </a:extLst>
          </p:cNvPr>
          <p:cNvSpPr>
            <a:spLocks noChangeShapeType="1"/>
          </p:cNvSpPr>
          <p:nvPr/>
        </p:nvSpPr>
        <p:spPr bwMode="auto">
          <a:xfrm>
            <a:off x="3098989" y="3430590"/>
            <a:ext cx="22701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Text Box 6">
            <a:extLst>
              <a:ext uri="{FF2B5EF4-FFF2-40B4-BE49-F238E27FC236}">
                <a16:creationId xmlns:a16="http://schemas.microsoft.com/office/drawing/2014/main" id="{F4060720-F3C5-A543-A168-90183A3F78EB}"/>
              </a:ext>
            </a:extLst>
          </p:cNvPr>
          <p:cNvSpPr txBox="1">
            <a:spLocks noChangeArrowheads="1"/>
          </p:cNvSpPr>
          <p:nvPr/>
        </p:nvSpPr>
        <p:spPr bwMode="auto">
          <a:xfrm>
            <a:off x="3113277" y="3543303"/>
            <a:ext cx="2335212" cy="1581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state: ESTAB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variables:</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 # client-to-server</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server-to-client</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Courier New" charset="0"/>
                <a:ea typeface="ＭＳ Ｐゴシック" charset="0"/>
                <a:cs typeface="+mn-cs"/>
              </a:rPr>
              <a:t>rcvBuffer</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size</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server,client </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p:txBody>
      </p:sp>
      <p:grpSp>
        <p:nvGrpSpPr>
          <p:cNvPr id="133" name="Group 46">
            <a:extLst>
              <a:ext uri="{FF2B5EF4-FFF2-40B4-BE49-F238E27FC236}">
                <a16:creationId xmlns:a16="http://schemas.microsoft.com/office/drawing/2014/main" id="{B33AB7A5-CCC5-254C-8A3A-759B759D5041}"/>
              </a:ext>
            </a:extLst>
          </p:cNvPr>
          <p:cNvGrpSpPr>
            <a:grpSpLocks/>
          </p:cNvGrpSpPr>
          <p:nvPr/>
        </p:nvGrpSpPr>
        <p:grpSpPr bwMode="auto">
          <a:xfrm>
            <a:off x="3979492" y="3344865"/>
            <a:ext cx="438150" cy="206375"/>
            <a:chOff x="344" y="1846"/>
            <a:chExt cx="336" cy="130"/>
          </a:xfrm>
        </p:grpSpPr>
        <p:sp>
          <p:nvSpPr>
            <p:cNvPr id="134" name="Rectangle 47">
              <a:extLst>
                <a:ext uri="{FF2B5EF4-FFF2-40B4-BE49-F238E27FC236}">
                  <a16:creationId xmlns:a16="http://schemas.microsoft.com/office/drawing/2014/main" id="{6C823A22-D6EB-C649-B7E4-0B164EE814C3}"/>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5" name="Rectangle 48">
              <a:extLst>
                <a:ext uri="{FF2B5EF4-FFF2-40B4-BE49-F238E27FC236}">
                  <a16:creationId xmlns:a16="http://schemas.microsoft.com/office/drawing/2014/main" id="{A8BB07C4-6AD0-A344-8975-A5BF33372416}"/>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6" name="Rectangle 49">
              <a:extLst>
                <a:ext uri="{FF2B5EF4-FFF2-40B4-BE49-F238E27FC236}">
                  <a16:creationId xmlns:a16="http://schemas.microsoft.com/office/drawing/2014/main" id="{2CA09AF3-81EA-B643-82AA-454FD210EE48}"/>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Rectangle 50">
              <a:extLst>
                <a:ext uri="{FF2B5EF4-FFF2-40B4-BE49-F238E27FC236}">
                  <a16:creationId xmlns:a16="http://schemas.microsoft.com/office/drawing/2014/main" id="{467634F2-41DA-0748-9C1A-D08864A76A2F}"/>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38" name="Text Box 54">
            <a:extLst>
              <a:ext uri="{FF2B5EF4-FFF2-40B4-BE49-F238E27FC236}">
                <a16:creationId xmlns:a16="http://schemas.microsoft.com/office/drawing/2014/main" id="{A9AEB3C4-6978-5E48-B717-A659B5C3B9DD}"/>
              </a:ext>
            </a:extLst>
          </p:cNvPr>
          <p:cNvSpPr txBox="1">
            <a:spLocks noChangeArrowheads="1"/>
          </p:cNvSpPr>
          <p:nvPr/>
        </p:nvSpPr>
        <p:spPr bwMode="auto">
          <a:xfrm>
            <a:off x="3617081" y="3006443"/>
            <a:ext cx="11461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p:txBody>
      </p:sp>
      <p:sp>
        <p:nvSpPr>
          <p:cNvPr id="139" name="Line 56">
            <a:extLst>
              <a:ext uri="{FF2B5EF4-FFF2-40B4-BE49-F238E27FC236}">
                <a16:creationId xmlns:a16="http://schemas.microsoft.com/office/drawing/2014/main" id="{D326D2D6-0DA1-914C-9073-3ECFE526F8CC}"/>
              </a:ext>
            </a:extLst>
          </p:cNvPr>
          <p:cNvSpPr>
            <a:spLocks noChangeShapeType="1"/>
          </p:cNvSpPr>
          <p:nvPr/>
        </p:nvSpPr>
        <p:spPr bwMode="auto">
          <a:xfrm>
            <a:off x="3105339" y="4926015"/>
            <a:ext cx="2268538"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Text Box 57">
            <a:extLst>
              <a:ext uri="{FF2B5EF4-FFF2-40B4-BE49-F238E27FC236}">
                <a16:creationId xmlns:a16="http://schemas.microsoft.com/office/drawing/2014/main" id="{E4C0EAD6-0908-3C42-9A10-A6AAF94515B4}"/>
              </a:ext>
            </a:extLst>
          </p:cNvPr>
          <p:cNvSpPr txBox="1">
            <a:spLocks noChangeArrowheads="1"/>
          </p:cNvSpPr>
          <p:nvPr/>
        </p:nvSpPr>
        <p:spPr bwMode="auto">
          <a:xfrm>
            <a:off x="3623658" y="5021176"/>
            <a:ext cx="9080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network</a:t>
            </a:r>
          </a:p>
        </p:txBody>
      </p:sp>
      <p:sp>
        <p:nvSpPr>
          <p:cNvPr id="141" name="Rectangle 58">
            <a:extLst>
              <a:ext uri="{FF2B5EF4-FFF2-40B4-BE49-F238E27FC236}">
                <a16:creationId xmlns:a16="http://schemas.microsoft.com/office/drawing/2014/main" id="{1CB6C439-3E38-7043-B2E4-E0EA4F390BE5}"/>
              </a:ext>
            </a:extLst>
          </p:cNvPr>
          <p:cNvSpPr>
            <a:spLocks noChangeArrowheads="1"/>
          </p:cNvSpPr>
          <p:nvPr/>
        </p:nvSpPr>
        <p:spPr bwMode="auto">
          <a:xfrm>
            <a:off x="3070414" y="5348290"/>
            <a:ext cx="2335213" cy="1809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Line 59">
            <a:extLst>
              <a:ext uri="{FF2B5EF4-FFF2-40B4-BE49-F238E27FC236}">
                <a16:creationId xmlns:a16="http://schemas.microsoft.com/office/drawing/2014/main" id="{D8BBE84F-BCD3-BB4A-9FD3-757AFB3C13AA}"/>
              </a:ext>
            </a:extLst>
          </p:cNvPr>
          <p:cNvSpPr>
            <a:spLocks noChangeShapeType="1"/>
          </p:cNvSpPr>
          <p:nvPr/>
        </p:nvSpPr>
        <p:spPr bwMode="auto">
          <a:xfrm>
            <a:off x="3098989" y="5337178"/>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Line 60">
            <a:extLst>
              <a:ext uri="{FF2B5EF4-FFF2-40B4-BE49-F238E27FC236}">
                <a16:creationId xmlns:a16="http://schemas.microsoft.com/office/drawing/2014/main" id="{F862C10B-983A-F94D-A269-24CE747FC5AA}"/>
              </a:ext>
            </a:extLst>
          </p:cNvPr>
          <p:cNvSpPr>
            <a:spLocks noChangeShapeType="1"/>
          </p:cNvSpPr>
          <p:nvPr/>
        </p:nvSpPr>
        <p:spPr bwMode="auto">
          <a:xfrm>
            <a:off x="5362764" y="5308603"/>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Freeform 8">
            <a:extLst>
              <a:ext uri="{FF2B5EF4-FFF2-40B4-BE49-F238E27FC236}">
                <a16:creationId xmlns:a16="http://schemas.microsoft.com/office/drawing/2014/main" id="{DF364C08-2C0C-EE4E-8664-EDA4833FE296}"/>
              </a:ext>
            </a:extLst>
          </p:cNvPr>
          <p:cNvSpPr>
            <a:spLocks/>
          </p:cNvSpPr>
          <p:nvPr/>
        </p:nvSpPr>
        <p:spPr bwMode="auto">
          <a:xfrm flipH="1">
            <a:off x="2625914" y="2992440"/>
            <a:ext cx="468313" cy="249078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63">
            <a:extLst>
              <a:ext uri="{FF2B5EF4-FFF2-40B4-BE49-F238E27FC236}">
                <a16:creationId xmlns:a16="http://schemas.microsoft.com/office/drawing/2014/main" id="{0F4E1AF7-DE3A-2541-818F-C54CEC430AE0}"/>
              </a:ext>
            </a:extLst>
          </p:cNvPr>
          <p:cNvSpPr>
            <a:spLocks noChangeArrowheads="1"/>
          </p:cNvSpPr>
          <p:nvPr/>
        </p:nvSpPr>
        <p:spPr bwMode="auto">
          <a:xfrm>
            <a:off x="7440802" y="2941640"/>
            <a:ext cx="2279650" cy="2414588"/>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Rectangle 64">
            <a:extLst>
              <a:ext uri="{FF2B5EF4-FFF2-40B4-BE49-F238E27FC236}">
                <a16:creationId xmlns:a16="http://schemas.microsoft.com/office/drawing/2014/main" id="{5B961E58-331E-B748-A80F-3B7778F1C486}"/>
              </a:ext>
            </a:extLst>
          </p:cNvPr>
          <p:cNvSpPr>
            <a:spLocks noChangeArrowheads="1"/>
          </p:cNvSpPr>
          <p:nvPr/>
        </p:nvSpPr>
        <p:spPr bwMode="auto">
          <a:xfrm>
            <a:off x="7401114" y="2995615"/>
            <a:ext cx="2270125" cy="24717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7" name="Line 65">
            <a:extLst>
              <a:ext uri="{FF2B5EF4-FFF2-40B4-BE49-F238E27FC236}">
                <a16:creationId xmlns:a16="http://schemas.microsoft.com/office/drawing/2014/main" id="{83696C28-A57C-AC46-B97E-048E3D615664}"/>
              </a:ext>
            </a:extLst>
          </p:cNvPr>
          <p:cNvSpPr>
            <a:spLocks noChangeShapeType="1"/>
          </p:cNvSpPr>
          <p:nvPr/>
        </p:nvSpPr>
        <p:spPr bwMode="auto">
          <a:xfrm>
            <a:off x="7401114" y="3436940"/>
            <a:ext cx="22701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8" name="Text Box 66">
            <a:extLst>
              <a:ext uri="{FF2B5EF4-FFF2-40B4-BE49-F238E27FC236}">
                <a16:creationId xmlns:a16="http://schemas.microsoft.com/office/drawing/2014/main" id="{3C17C23B-2BF5-5B4E-BB33-288C1922406B}"/>
              </a:ext>
            </a:extLst>
          </p:cNvPr>
          <p:cNvSpPr txBox="1">
            <a:spLocks noChangeArrowheads="1"/>
          </p:cNvSpPr>
          <p:nvPr/>
        </p:nvSpPr>
        <p:spPr bwMode="auto">
          <a:xfrm>
            <a:off x="7415402" y="3549653"/>
            <a:ext cx="2335212" cy="1581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state: ESTAB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Variables:</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 # client-to-server</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server-to-client</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Courier New" charset="0"/>
                <a:ea typeface="ＭＳ Ｐゴシック" charset="0"/>
                <a:cs typeface="+mn-cs"/>
              </a:rPr>
              <a:t>rcvBuffer</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size</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server,client </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p:txBody>
      </p:sp>
      <p:grpSp>
        <p:nvGrpSpPr>
          <p:cNvPr id="149" name="Group 67">
            <a:extLst>
              <a:ext uri="{FF2B5EF4-FFF2-40B4-BE49-F238E27FC236}">
                <a16:creationId xmlns:a16="http://schemas.microsoft.com/office/drawing/2014/main" id="{A3675259-9C7A-1740-AEED-A90AD2D0AE87}"/>
              </a:ext>
            </a:extLst>
          </p:cNvPr>
          <p:cNvGrpSpPr>
            <a:grpSpLocks/>
          </p:cNvGrpSpPr>
          <p:nvPr/>
        </p:nvGrpSpPr>
        <p:grpSpPr bwMode="auto">
          <a:xfrm>
            <a:off x="8308511" y="3351215"/>
            <a:ext cx="438150" cy="206375"/>
            <a:chOff x="344" y="1846"/>
            <a:chExt cx="336" cy="130"/>
          </a:xfrm>
        </p:grpSpPr>
        <p:sp>
          <p:nvSpPr>
            <p:cNvPr id="150" name="Rectangle 68">
              <a:extLst>
                <a:ext uri="{FF2B5EF4-FFF2-40B4-BE49-F238E27FC236}">
                  <a16:creationId xmlns:a16="http://schemas.microsoft.com/office/drawing/2014/main" id="{4B4BD261-01C7-494F-8D01-68B19AA4B9AC}"/>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1" name="Rectangle 69">
              <a:extLst>
                <a:ext uri="{FF2B5EF4-FFF2-40B4-BE49-F238E27FC236}">
                  <a16:creationId xmlns:a16="http://schemas.microsoft.com/office/drawing/2014/main" id="{4E7628F3-86B5-E44C-8195-D9FF1BBA53D4}"/>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2" name="Rectangle 70">
              <a:extLst>
                <a:ext uri="{FF2B5EF4-FFF2-40B4-BE49-F238E27FC236}">
                  <a16:creationId xmlns:a16="http://schemas.microsoft.com/office/drawing/2014/main" id="{BE5565DB-C659-5048-B6BD-16420D5CE92C}"/>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3" name="Rectangle 71">
              <a:extLst>
                <a:ext uri="{FF2B5EF4-FFF2-40B4-BE49-F238E27FC236}">
                  <a16:creationId xmlns:a16="http://schemas.microsoft.com/office/drawing/2014/main" id="{720A74F5-E1C3-FF45-B800-884CFBB24D0A}"/>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54" name="Text Box 72">
            <a:extLst>
              <a:ext uri="{FF2B5EF4-FFF2-40B4-BE49-F238E27FC236}">
                <a16:creationId xmlns:a16="http://schemas.microsoft.com/office/drawing/2014/main" id="{48C5FBCA-1883-5B46-BC6B-BD218B24C18D}"/>
              </a:ext>
            </a:extLst>
          </p:cNvPr>
          <p:cNvSpPr txBox="1">
            <a:spLocks noChangeArrowheads="1"/>
          </p:cNvSpPr>
          <p:nvPr/>
        </p:nvSpPr>
        <p:spPr bwMode="auto">
          <a:xfrm>
            <a:off x="7943246" y="3024051"/>
            <a:ext cx="11461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p:txBody>
      </p:sp>
      <p:sp>
        <p:nvSpPr>
          <p:cNvPr id="155" name="Line 73">
            <a:extLst>
              <a:ext uri="{FF2B5EF4-FFF2-40B4-BE49-F238E27FC236}">
                <a16:creationId xmlns:a16="http://schemas.microsoft.com/office/drawing/2014/main" id="{C7D010E1-FDC8-B843-B502-33120A86EB14}"/>
              </a:ext>
            </a:extLst>
          </p:cNvPr>
          <p:cNvSpPr>
            <a:spLocks noChangeShapeType="1"/>
          </p:cNvSpPr>
          <p:nvPr/>
        </p:nvSpPr>
        <p:spPr bwMode="auto">
          <a:xfrm>
            <a:off x="7407464" y="4932365"/>
            <a:ext cx="2268538"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6" name="Text Box 74">
            <a:extLst>
              <a:ext uri="{FF2B5EF4-FFF2-40B4-BE49-F238E27FC236}">
                <a16:creationId xmlns:a16="http://schemas.microsoft.com/office/drawing/2014/main" id="{46053DCC-44E5-2C43-B37B-8DA921C733B2}"/>
              </a:ext>
            </a:extLst>
          </p:cNvPr>
          <p:cNvSpPr txBox="1">
            <a:spLocks noChangeArrowheads="1"/>
          </p:cNvSpPr>
          <p:nvPr/>
        </p:nvSpPr>
        <p:spPr bwMode="auto">
          <a:xfrm>
            <a:off x="8070953" y="5013813"/>
            <a:ext cx="9080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network</a:t>
            </a:r>
          </a:p>
        </p:txBody>
      </p:sp>
      <p:sp>
        <p:nvSpPr>
          <p:cNvPr id="157" name="Rectangle 75">
            <a:extLst>
              <a:ext uri="{FF2B5EF4-FFF2-40B4-BE49-F238E27FC236}">
                <a16:creationId xmlns:a16="http://schemas.microsoft.com/office/drawing/2014/main" id="{2794759F-1BDF-124F-8990-F97B9E3FFDCA}"/>
              </a:ext>
            </a:extLst>
          </p:cNvPr>
          <p:cNvSpPr>
            <a:spLocks noChangeArrowheads="1"/>
          </p:cNvSpPr>
          <p:nvPr/>
        </p:nvSpPr>
        <p:spPr bwMode="auto">
          <a:xfrm>
            <a:off x="7372539" y="5354640"/>
            <a:ext cx="2335213" cy="1809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8" name="Line 76">
            <a:extLst>
              <a:ext uri="{FF2B5EF4-FFF2-40B4-BE49-F238E27FC236}">
                <a16:creationId xmlns:a16="http://schemas.microsoft.com/office/drawing/2014/main" id="{AA62258B-6959-8646-9E2E-9B0097512BD1}"/>
              </a:ext>
            </a:extLst>
          </p:cNvPr>
          <p:cNvSpPr>
            <a:spLocks noChangeShapeType="1"/>
          </p:cNvSpPr>
          <p:nvPr/>
        </p:nvSpPr>
        <p:spPr bwMode="auto">
          <a:xfrm>
            <a:off x="7401114" y="5343528"/>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9" name="Line 77">
            <a:extLst>
              <a:ext uri="{FF2B5EF4-FFF2-40B4-BE49-F238E27FC236}">
                <a16:creationId xmlns:a16="http://schemas.microsoft.com/office/drawing/2014/main" id="{B39909BE-5B6C-6F46-8749-CE29AEAB2CB2}"/>
              </a:ext>
            </a:extLst>
          </p:cNvPr>
          <p:cNvSpPr>
            <a:spLocks noChangeShapeType="1"/>
          </p:cNvSpPr>
          <p:nvPr/>
        </p:nvSpPr>
        <p:spPr bwMode="auto">
          <a:xfrm>
            <a:off x="9664889" y="5314953"/>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Freeform 78">
            <a:extLst>
              <a:ext uri="{FF2B5EF4-FFF2-40B4-BE49-F238E27FC236}">
                <a16:creationId xmlns:a16="http://schemas.microsoft.com/office/drawing/2014/main" id="{830D21F8-79F0-0E4D-A9EF-3C8300C80D17}"/>
              </a:ext>
            </a:extLst>
          </p:cNvPr>
          <p:cNvSpPr>
            <a:spLocks/>
          </p:cNvSpPr>
          <p:nvPr/>
        </p:nvSpPr>
        <p:spPr bwMode="auto">
          <a:xfrm>
            <a:off x="9682352" y="2932115"/>
            <a:ext cx="468312" cy="249078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Text Box 83">
            <a:extLst>
              <a:ext uri="{FF2B5EF4-FFF2-40B4-BE49-F238E27FC236}">
                <a16:creationId xmlns:a16="http://schemas.microsoft.com/office/drawing/2014/main" id="{E97571FE-EF31-0544-985B-906D8CF8F351}"/>
              </a:ext>
            </a:extLst>
          </p:cNvPr>
          <p:cNvSpPr txBox="1">
            <a:spLocks noChangeArrowheads="1"/>
          </p:cNvSpPr>
          <p:nvPr/>
        </p:nvSpPr>
        <p:spPr bwMode="auto">
          <a:xfrm>
            <a:off x="996046" y="5759648"/>
            <a:ext cx="5633357"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Socket clientSocket =   </a:t>
            </a:r>
          </a:p>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newSocket("hostname","port number");</a:t>
            </a:r>
          </a:p>
        </p:txBody>
      </p:sp>
      <p:sp>
        <p:nvSpPr>
          <p:cNvPr id="162" name="Text Box 85">
            <a:extLst>
              <a:ext uri="{FF2B5EF4-FFF2-40B4-BE49-F238E27FC236}">
                <a16:creationId xmlns:a16="http://schemas.microsoft.com/office/drawing/2014/main" id="{C80EBC7F-DBC0-BD40-9507-82100813B9B7}"/>
              </a:ext>
            </a:extLst>
          </p:cNvPr>
          <p:cNvSpPr txBox="1">
            <a:spLocks noChangeArrowheads="1"/>
          </p:cNvSpPr>
          <p:nvPr/>
        </p:nvSpPr>
        <p:spPr bwMode="auto">
          <a:xfrm>
            <a:off x="7021795" y="5773144"/>
            <a:ext cx="4159599"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Socket connectionSocket = welcomeSocket.accept();</a:t>
            </a:r>
          </a:p>
        </p:txBody>
      </p:sp>
      <p:grpSp>
        <p:nvGrpSpPr>
          <p:cNvPr id="163" name="Group 89">
            <a:extLst>
              <a:ext uri="{FF2B5EF4-FFF2-40B4-BE49-F238E27FC236}">
                <a16:creationId xmlns:a16="http://schemas.microsoft.com/office/drawing/2014/main" id="{DB71F8E2-0EB4-2A4E-B4C5-3DC2955DEDE8}"/>
              </a:ext>
            </a:extLst>
          </p:cNvPr>
          <p:cNvGrpSpPr>
            <a:grpSpLocks/>
          </p:cNvGrpSpPr>
          <p:nvPr/>
        </p:nvGrpSpPr>
        <p:grpSpPr bwMode="auto">
          <a:xfrm>
            <a:off x="2149664" y="5024440"/>
            <a:ext cx="698500" cy="612775"/>
            <a:chOff x="-44" y="1473"/>
            <a:chExt cx="981" cy="1105"/>
          </a:xfrm>
        </p:grpSpPr>
        <p:pic>
          <p:nvPicPr>
            <p:cNvPr id="164" name="Picture 90" descr="desktop_computer_stylized_medium">
              <a:extLst>
                <a:ext uri="{FF2B5EF4-FFF2-40B4-BE49-F238E27FC236}">
                  <a16:creationId xmlns:a16="http://schemas.microsoft.com/office/drawing/2014/main" id="{C631DB34-DA41-694E-BA26-57FDF68E6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Freeform 91">
              <a:extLst>
                <a:ext uri="{FF2B5EF4-FFF2-40B4-BE49-F238E27FC236}">
                  <a16:creationId xmlns:a16="http://schemas.microsoft.com/office/drawing/2014/main" id="{BEF55614-0BD4-8249-9822-CEE59DA9A93D}"/>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6" name="Group 92">
            <a:extLst>
              <a:ext uri="{FF2B5EF4-FFF2-40B4-BE49-F238E27FC236}">
                <a16:creationId xmlns:a16="http://schemas.microsoft.com/office/drawing/2014/main" id="{F06A1B16-A85F-394E-802F-0E5CD7D943D6}"/>
              </a:ext>
            </a:extLst>
          </p:cNvPr>
          <p:cNvGrpSpPr>
            <a:grpSpLocks/>
          </p:cNvGrpSpPr>
          <p:nvPr/>
        </p:nvGrpSpPr>
        <p:grpSpPr bwMode="auto">
          <a:xfrm>
            <a:off x="9964927" y="4922840"/>
            <a:ext cx="415925" cy="627063"/>
            <a:chOff x="4140" y="429"/>
            <a:chExt cx="1425" cy="2396"/>
          </a:xfrm>
        </p:grpSpPr>
        <p:sp>
          <p:nvSpPr>
            <p:cNvPr id="167" name="Freeform 93">
              <a:extLst>
                <a:ext uri="{FF2B5EF4-FFF2-40B4-BE49-F238E27FC236}">
                  <a16:creationId xmlns:a16="http://schemas.microsoft.com/office/drawing/2014/main" id="{0B18D7B8-4C19-6A48-9356-0BDC63F4B19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Rectangle 94">
              <a:extLst>
                <a:ext uri="{FF2B5EF4-FFF2-40B4-BE49-F238E27FC236}">
                  <a16:creationId xmlns:a16="http://schemas.microsoft.com/office/drawing/2014/main" id="{83F51854-758D-F348-B0AE-4C8BBF01B327}"/>
                </a:ext>
              </a:extLst>
            </p:cNvPr>
            <p:cNvSpPr>
              <a:spLocks noChangeArrowheads="1"/>
            </p:cNvSpPr>
            <p:nvPr/>
          </p:nvSpPr>
          <p:spPr bwMode="auto">
            <a:xfrm>
              <a:off x="4205" y="429"/>
              <a:ext cx="1050" cy="2287"/>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9" name="Freeform 95">
              <a:extLst>
                <a:ext uri="{FF2B5EF4-FFF2-40B4-BE49-F238E27FC236}">
                  <a16:creationId xmlns:a16="http://schemas.microsoft.com/office/drawing/2014/main" id="{BCB6E605-7A9B-CA4D-855C-288812DAAB0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Freeform 96">
              <a:extLst>
                <a:ext uri="{FF2B5EF4-FFF2-40B4-BE49-F238E27FC236}">
                  <a16:creationId xmlns:a16="http://schemas.microsoft.com/office/drawing/2014/main" id="{010D7A25-5C86-B443-B0F4-6A6735092E3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Rectangle 97">
              <a:extLst>
                <a:ext uri="{FF2B5EF4-FFF2-40B4-BE49-F238E27FC236}">
                  <a16:creationId xmlns:a16="http://schemas.microsoft.com/office/drawing/2014/main" id="{6B6FDD4A-AD55-9345-AF53-BC625746DD19}"/>
                </a:ext>
              </a:extLst>
            </p:cNvPr>
            <p:cNvSpPr>
              <a:spLocks noChangeArrowheads="1"/>
            </p:cNvSpPr>
            <p:nvPr/>
          </p:nvSpPr>
          <p:spPr bwMode="auto">
            <a:xfrm>
              <a:off x="4211" y="696"/>
              <a:ext cx="598"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2" name="Group 98">
              <a:extLst>
                <a:ext uri="{FF2B5EF4-FFF2-40B4-BE49-F238E27FC236}">
                  <a16:creationId xmlns:a16="http://schemas.microsoft.com/office/drawing/2014/main" id="{A97FBBEC-0302-FA4C-A3B9-B0FD424712B4}"/>
                </a:ext>
              </a:extLst>
            </p:cNvPr>
            <p:cNvGrpSpPr>
              <a:grpSpLocks/>
            </p:cNvGrpSpPr>
            <p:nvPr/>
          </p:nvGrpSpPr>
          <p:grpSpPr bwMode="auto">
            <a:xfrm>
              <a:off x="4749" y="668"/>
              <a:ext cx="581" cy="145"/>
              <a:chOff x="614" y="2568"/>
              <a:chExt cx="725" cy="139"/>
            </a:xfrm>
          </p:grpSpPr>
          <p:sp>
            <p:nvSpPr>
              <p:cNvPr id="197" name="AutoShape 99">
                <a:extLst>
                  <a:ext uri="{FF2B5EF4-FFF2-40B4-BE49-F238E27FC236}">
                    <a16:creationId xmlns:a16="http://schemas.microsoft.com/office/drawing/2014/main" id="{C21CB491-D46B-EE41-AA0F-DE79A218D55A}"/>
                  </a:ext>
                </a:extLst>
              </p:cNvPr>
              <p:cNvSpPr>
                <a:spLocks noChangeArrowheads="1"/>
              </p:cNvSpPr>
              <p:nvPr/>
            </p:nvSpPr>
            <p:spPr bwMode="auto">
              <a:xfrm>
                <a:off x="614" y="2566"/>
                <a:ext cx="726"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AutoShape 100">
                <a:extLst>
                  <a:ext uri="{FF2B5EF4-FFF2-40B4-BE49-F238E27FC236}">
                    <a16:creationId xmlns:a16="http://schemas.microsoft.com/office/drawing/2014/main" id="{1FC5D9EE-EAE0-7E4E-B85F-6FC8DE4DEE26}"/>
                  </a:ext>
                </a:extLst>
              </p:cNvPr>
              <p:cNvSpPr>
                <a:spLocks noChangeArrowheads="1"/>
              </p:cNvSpPr>
              <p:nvPr/>
            </p:nvSpPr>
            <p:spPr bwMode="auto">
              <a:xfrm>
                <a:off x="628" y="2583"/>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3" name="Rectangle 101">
              <a:extLst>
                <a:ext uri="{FF2B5EF4-FFF2-40B4-BE49-F238E27FC236}">
                  <a16:creationId xmlns:a16="http://schemas.microsoft.com/office/drawing/2014/main" id="{8F3C4297-FFD3-D843-98B6-43C61A7317BF}"/>
                </a:ext>
              </a:extLst>
            </p:cNvPr>
            <p:cNvSpPr>
              <a:spLocks noChangeArrowheads="1"/>
            </p:cNvSpPr>
            <p:nvPr/>
          </p:nvSpPr>
          <p:spPr bwMode="auto">
            <a:xfrm>
              <a:off x="4222" y="101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4" name="Group 102">
              <a:extLst>
                <a:ext uri="{FF2B5EF4-FFF2-40B4-BE49-F238E27FC236}">
                  <a16:creationId xmlns:a16="http://schemas.microsoft.com/office/drawing/2014/main" id="{21DC2796-CCBB-6A4F-838F-49A2C67C0E64}"/>
                </a:ext>
              </a:extLst>
            </p:cNvPr>
            <p:cNvGrpSpPr>
              <a:grpSpLocks/>
            </p:cNvGrpSpPr>
            <p:nvPr/>
          </p:nvGrpSpPr>
          <p:grpSpPr bwMode="auto">
            <a:xfrm>
              <a:off x="4747" y="994"/>
              <a:ext cx="581" cy="134"/>
              <a:chOff x="614" y="2568"/>
              <a:chExt cx="725" cy="139"/>
            </a:xfrm>
          </p:grpSpPr>
          <p:sp>
            <p:nvSpPr>
              <p:cNvPr id="195" name="AutoShape 103">
                <a:extLst>
                  <a:ext uri="{FF2B5EF4-FFF2-40B4-BE49-F238E27FC236}">
                    <a16:creationId xmlns:a16="http://schemas.microsoft.com/office/drawing/2014/main" id="{969D7B41-0DC1-4440-AFDE-248D9CDB66EB}"/>
                  </a:ext>
                </a:extLst>
              </p:cNvPr>
              <p:cNvSpPr>
                <a:spLocks noChangeArrowheads="1"/>
              </p:cNvSpPr>
              <p:nvPr/>
            </p:nvSpPr>
            <p:spPr bwMode="auto">
              <a:xfrm>
                <a:off x="617" y="2567"/>
                <a:ext cx="719"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6" name="AutoShape 104">
                <a:extLst>
                  <a:ext uri="{FF2B5EF4-FFF2-40B4-BE49-F238E27FC236}">
                    <a16:creationId xmlns:a16="http://schemas.microsoft.com/office/drawing/2014/main" id="{B3EC6575-CF4C-6246-8181-ED39D289D214}"/>
                  </a:ext>
                </a:extLst>
              </p:cNvPr>
              <p:cNvSpPr>
                <a:spLocks noChangeArrowheads="1"/>
              </p:cNvSpPr>
              <p:nvPr/>
            </p:nvSpPr>
            <p:spPr bwMode="auto">
              <a:xfrm>
                <a:off x="630" y="2586"/>
                <a:ext cx="67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5" name="Rectangle 105">
              <a:extLst>
                <a:ext uri="{FF2B5EF4-FFF2-40B4-BE49-F238E27FC236}">
                  <a16:creationId xmlns:a16="http://schemas.microsoft.com/office/drawing/2014/main" id="{E4C8EF29-9693-8843-BE99-DFF7EF55F859}"/>
                </a:ext>
              </a:extLst>
            </p:cNvPr>
            <p:cNvSpPr>
              <a:spLocks noChangeArrowheads="1"/>
            </p:cNvSpPr>
            <p:nvPr/>
          </p:nvSpPr>
          <p:spPr bwMode="auto">
            <a:xfrm>
              <a:off x="4216" y="135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Rectangle 106">
              <a:extLst>
                <a:ext uri="{FF2B5EF4-FFF2-40B4-BE49-F238E27FC236}">
                  <a16:creationId xmlns:a16="http://schemas.microsoft.com/office/drawing/2014/main" id="{444A4DA4-95C5-7247-8CDB-5D7AF6D3A816}"/>
                </a:ext>
              </a:extLst>
            </p:cNvPr>
            <p:cNvSpPr>
              <a:spLocks noChangeArrowheads="1"/>
            </p:cNvSpPr>
            <p:nvPr/>
          </p:nvSpPr>
          <p:spPr bwMode="auto">
            <a:xfrm>
              <a:off x="4227" y="1654"/>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7" name="Group 107">
              <a:extLst>
                <a:ext uri="{FF2B5EF4-FFF2-40B4-BE49-F238E27FC236}">
                  <a16:creationId xmlns:a16="http://schemas.microsoft.com/office/drawing/2014/main" id="{E95F09FB-35B3-984D-8B07-8ED352E49862}"/>
                </a:ext>
              </a:extLst>
            </p:cNvPr>
            <p:cNvGrpSpPr>
              <a:grpSpLocks/>
            </p:cNvGrpSpPr>
            <p:nvPr/>
          </p:nvGrpSpPr>
          <p:grpSpPr bwMode="auto">
            <a:xfrm>
              <a:off x="4735" y="1627"/>
              <a:ext cx="582" cy="151"/>
              <a:chOff x="614" y="2568"/>
              <a:chExt cx="725" cy="139"/>
            </a:xfrm>
          </p:grpSpPr>
          <p:sp>
            <p:nvSpPr>
              <p:cNvPr id="193" name="AutoShape 108">
                <a:extLst>
                  <a:ext uri="{FF2B5EF4-FFF2-40B4-BE49-F238E27FC236}">
                    <a16:creationId xmlns:a16="http://schemas.microsoft.com/office/drawing/2014/main" id="{0D8F2BD6-B00B-A145-9FAD-DEBB9A14C761}"/>
                  </a:ext>
                </a:extLst>
              </p:cNvPr>
              <p:cNvSpPr>
                <a:spLocks noChangeArrowheads="1"/>
              </p:cNvSpPr>
              <p:nvPr/>
            </p:nvSpPr>
            <p:spPr bwMode="auto">
              <a:xfrm>
                <a:off x="611" y="2576"/>
                <a:ext cx="725" cy="123"/>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4" name="AutoShape 109">
                <a:extLst>
                  <a:ext uri="{FF2B5EF4-FFF2-40B4-BE49-F238E27FC236}">
                    <a16:creationId xmlns:a16="http://schemas.microsoft.com/office/drawing/2014/main" id="{FBEB72B8-9464-2649-9EA1-03257A809BD1}"/>
                  </a:ext>
                </a:extLst>
              </p:cNvPr>
              <p:cNvSpPr>
                <a:spLocks noChangeArrowheads="1"/>
              </p:cNvSpPr>
              <p:nvPr/>
            </p:nvSpPr>
            <p:spPr bwMode="auto">
              <a:xfrm>
                <a:off x="625" y="2588"/>
                <a:ext cx="691"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8" name="Freeform 110">
              <a:extLst>
                <a:ext uri="{FF2B5EF4-FFF2-40B4-BE49-F238E27FC236}">
                  <a16:creationId xmlns:a16="http://schemas.microsoft.com/office/drawing/2014/main" id="{69825DF1-2B01-DB4D-AD1A-63C84CD1638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9" name="Group 111">
              <a:extLst>
                <a:ext uri="{FF2B5EF4-FFF2-40B4-BE49-F238E27FC236}">
                  <a16:creationId xmlns:a16="http://schemas.microsoft.com/office/drawing/2014/main" id="{77E8896E-C175-9440-8F1C-C0DAB898AF9D}"/>
                </a:ext>
              </a:extLst>
            </p:cNvPr>
            <p:cNvGrpSpPr>
              <a:grpSpLocks/>
            </p:cNvGrpSpPr>
            <p:nvPr/>
          </p:nvGrpSpPr>
          <p:grpSpPr bwMode="auto">
            <a:xfrm>
              <a:off x="4739" y="1327"/>
              <a:ext cx="582" cy="139"/>
              <a:chOff x="614" y="2568"/>
              <a:chExt cx="725" cy="139"/>
            </a:xfrm>
          </p:grpSpPr>
          <p:sp>
            <p:nvSpPr>
              <p:cNvPr id="191" name="AutoShape 112">
                <a:extLst>
                  <a:ext uri="{FF2B5EF4-FFF2-40B4-BE49-F238E27FC236}">
                    <a16:creationId xmlns:a16="http://schemas.microsoft.com/office/drawing/2014/main" id="{207BBBCB-E17B-0743-A1A2-C4D7DD812519}"/>
                  </a:ext>
                </a:extLst>
              </p:cNvPr>
              <p:cNvSpPr>
                <a:spLocks noChangeArrowheads="1"/>
              </p:cNvSpPr>
              <p:nvPr/>
            </p:nvSpPr>
            <p:spPr bwMode="auto">
              <a:xfrm>
                <a:off x="613" y="2568"/>
                <a:ext cx="725"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2" name="AutoShape 113">
                <a:extLst>
                  <a:ext uri="{FF2B5EF4-FFF2-40B4-BE49-F238E27FC236}">
                    <a16:creationId xmlns:a16="http://schemas.microsoft.com/office/drawing/2014/main" id="{28DD6B35-219B-6B45-BF21-71B299ABB40C}"/>
                  </a:ext>
                </a:extLst>
              </p:cNvPr>
              <p:cNvSpPr>
                <a:spLocks noChangeArrowheads="1"/>
              </p:cNvSpPr>
              <p:nvPr/>
            </p:nvSpPr>
            <p:spPr bwMode="auto">
              <a:xfrm>
                <a:off x="627" y="2586"/>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0" name="Rectangle 114">
              <a:extLst>
                <a:ext uri="{FF2B5EF4-FFF2-40B4-BE49-F238E27FC236}">
                  <a16:creationId xmlns:a16="http://schemas.microsoft.com/office/drawing/2014/main" id="{CD269004-8DB5-4549-A4AF-499B61683FB8}"/>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Freeform 115">
              <a:extLst>
                <a:ext uri="{FF2B5EF4-FFF2-40B4-BE49-F238E27FC236}">
                  <a16:creationId xmlns:a16="http://schemas.microsoft.com/office/drawing/2014/main" id="{8AAFEB73-B442-224B-96A6-63129BA97E1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Freeform 116">
              <a:extLst>
                <a:ext uri="{FF2B5EF4-FFF2-40B4-BE49-F238E27FC236}">
                  <a16:creationId xmlns:a16="http://schemas.microsoft.com/office/drawing/2014/main" id="{E0880A41-79A8-9248-8678-A4C1ACE4B8B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Oval 117">
              <a:extLst>
                <a:ext uri="{FF2B5EF4-FFF2-40B4-BE49-F238E27FC236}">
                  <a16:creationId xmlns:a16="http://schemas.microsoft.com/office/drawing/2014/main" id="{11D25FBB-2A67-A949-8638-6A82B88E1AEE}"/>
                </a:ext>
              </a:extLst>
            </p:cNvPr>
            <p:cNvSpPr>
              <a:spLocks noChangeArrowheads="1"/>
            </p:cNvSpPr>
            <p:nvPr/>
          </p:nvSpPr>
          <p:spPr bwMode="auto">
            <a:xfrm>
              <a:off x="5516" y="2613"/>
              <a:ext cx="49"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4" name="Freeform 118">
              <a:extLst>
                <a:ext uri="{FF2B5EF4-FFF2-40B4-BE49-F238E27FC236}">
                  <a16:creationId xmlns:a16="http://schemas.microsoft.com/office/drawing/2014/main" id="{9FEB11C7-9DF6-A746-9A7F-CE68217C13B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AutoShape 119">
              <a:extLst>
                <a:ext uri="{FF2B5EF4-FFF2-40B4-BE49-F238E27FC236}">
                  <a16:creationId xmlns:a16="http://schemas.microsoft.com/office/drawing/2014/main" id="{D279A648-2B84-1346-BF0F-DB65CFB075C7}"/>
                </a:ext>
              </a:extLst>
            </p:cNvPr>
            <p:cNvSpPr>
              <a:spLocks noChangeArrowheads="1"/>
            </p:cNvSpPr>
            <p:nvPr/>
          </p:nvSpPr>
          <p:spPr bwMode="auto">
            <a:xfrm>
              <a:off x="4140" y="2679"/>
              <a:ext cx="1197"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6" name="AutoShape 120">
              <a:extLst>
                <a:ext uri="{FF2B5EF4-FFF2-40B4-BE49-F238E27FC236}">
                  <a16:creationId xmlns:a16="http://schemas.microsoft.com/office/drawing/2014/main" id="{0EDBF10F-D10C-CA46-A0A9-1ACE621AD066}"/>
                </a:ext>
              </a:extLst>
            </p:cNvPr>
            <p:cNvSpPr>
              <a:spLocks noChangeArrowheads="1"/>
            </p:cNvSpPr>
            <p:nvPr/>
          </p:nvSpPr>
          <p:spPr bwMode="auto">
            <a:xfrm>
              <a:off x="4205" y="2710"/>
              <a:ext cx="1071"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7" name="Oval 121">
              <a:extLst>
                <a:ext uri="{FF2B5EF4-FFF2-40B4-BE49-F238E27FC236}">
                  <a16:creationId xmlns:a16="http://schemas.microsoft.com/office/drawing/2014/main" id="{E4E41E31-C9C4-AF4E-A419-E8421CCEF424}"/>
                </a:ext>
              </a:extLst>
            </p:cNvPr>
            <p:cNvSpPr>
              <a:spLocks noChangeArrowheads="1"/>
            </p:cNvSpPr>
            <p:nvPr/>
          </p:nvSpPr>
          <p:spPr bwMode="auto">
            <a:xfrm>
              <a:off x="4309"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8" name="Oval 122">
              <a:extLst>
                <a:ext uri="{FF2B5EF4-FFF2-40B4-BE49-F238E27FC236}">
                  <a16:creationId xmlns:a16="http://schemas.microsoft.com/office/drawing/2014/main" id="{2C59CE5F-437A-C441-8354-6530041056CC}"/>
                </a:ext>
              </a:extLst>
            </p:cNvPr>
            <p:cNvSpPr>
              <a:spLocks noChangeArrowheads="1"/>
            </p:cNvSpPr>
            <p:nvPr/>
          </p:nvSpPr>
          <p:spPr bwMode="auto">
            <a:xfrm>
              <a:off x="4488"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89" name="Oval 123">
              <a:extLst>
                <a:ext uri="{FF2B5EF4-FFF2-40B4-BE49-F238E27FC236}">
                  <a16:creationId xmlns:a16="http://schemas.microsoft.com/office/drawing/2014/main" id="{E077C775-39FA-824B-8701-FA02EBEDC5FF}"/>
                </a:ext>
              </a:extLst>
            </p:cNvPr>
            <p:cNvSpPr>
              <a:spLocks noChangeArrowheads="1"/>
            </p:cNvSpPr>
            <p:nvPr/>
          </p:nvSpPr>
          <p:spPr bwMode="auto">
            <a:xfrm>
              <a:off x="4662"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Rectangle 124">
              <a:extLst>
                <a:ext uri="{FF2B5EF4-FFF2-40B4-BE49-F238E27FC236}">
                  <a16:creationId xmlns:a16="http://schemas.microsoft.com/office/drawing/2014/main" id="{858DFD8B-E1AF-0646-911F-639730691009}"/>
                </a:ext>
              </a:extLst>
            </p:cNvPr>
            <p:cNvSpPr>
              <a:spLocks noChangeArrowheads="1"/>
            </p:cNvSpPr>
            <p:nvPr/>
          </p:nvSpPr>
          <p:spPr bwMode="auto">
            <a:xfrm>
              <a:off x="5065" y="1836"/>
              <a:ext cx="82"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4" name="Slide Number Placeholder 2">
            <a:extLst>
              <a:ext uri="{FF2B5EF4-FFF2-40B4-BE49-F238E27FC236}">
                <a16:creationId xmlns:a16="http://schemas.microsoft.com/office/drawing/2014/main" id="{2804BB5E-F6B2-BA48-BFC5-59C8B165BD2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28</a:t>
            </a:fld>
            <a:endParaRPr lang="en-US" dirty="0"/>
          </a:p>
        </p:txBody>
      </p:sp>
    </p:spTree>
    <p:extLst>
      <p:ext uri="{BB962C8B-B14F-4D97-AF65-F5344CB8AC3E}">
        <p14:creationId xmlns:p14="http://schemas.microsoft.com/office/powerpoint/2010/main" val="2492069188"/>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Agreeing to establish a connection</a:t>
            </a:r>
            <a:endParaRPr lang="en-US" sz="4400" b="0" dirty="0"/>
          </a:p>
        </p:txBody>
      </p:sp>
      <p:sp>
        <p:nvSpPr>
          <p:cNvPr id="211" name="Rectangle 63">
            <a:extLst>
              <a:ext uri="{FF2B5EF4-FFF2-40B4-BE49-F238E27FC236}">
                <a16:creationId xmlns:a16="http://schemas.microsoft.com/office/drawing/2014/main" id="{1C578050-76D7-774F-8B1E-4F455216E94E}"/>
              </a:ext>
            </a:extLst>
          </p:cNvPr>
          <p:cNvSpPr txBox="1">
            <a:spLocks noChangeArrowheads="1"/>
          </p:cNvSpPr>
          <p:nvPr/>
        </p:nvSpPr>
        <p:spPr bwMode="auto">
          <a:xfrm>
            <a:off x="5960737" y="2295084"/>
            <a:ext cx="5523920" cy="3576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altLang="en-US" sz="3200" b="0" i="1" u="sng"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rPr>
              <a:t>Q:</a:t>
            </a:r>
            <a:r>
              <a:rPr kumimoji="0" lang="en-US" altLang="en-US" sz="32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 will 2-way handshake always work in network?</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variable delays</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retransmitted messages (e.g. req_conn(x)) due to message loss</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message reordering</a:t>
            </a:r>
          </a:p>
          <a:p>
            <a:pPr marL="346075" marR="0" lvl="0" indent="-2794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can’</a:t>
            </a:r>
            <a:r>
              <a:rPr kumimoji="0" lang="en-US" altLang="ja-JP"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rPr>
              <a:t>t “see” other side</a:t>
            </a:r>
            <a:endParaRPr kumimoji="0" lang="en-US" altLang="en-US" sz="2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endParaRPr>
          </a:p>
        </p:txBody>
      </p:sp>
      <p:sp>
        <p:nvSpPr>
          <p:cNvPr id="214" name="Text Box 49">
            <a:extLst>
              <a:ext uri="{FF2B5EF4-FFF2-40B4-BE49-F238E27FC236}">
                <a16:creationId xmlns:a16="http://schemas.microsoft.com/office/drawing/2014/main" id="{F0A75C95-49D9-D049-B8FA-C8954515AFD3}"/>
              </a:ext>
            </a:extLst>
          </p:cNvPr>
          <p:cNvSpPr txBox="1">
            <a:spLocks noChangeArrowheads="1"/>
          </p:cNvSpPr>
          <p:nvPr/>
        </p:nvSpPr>
        <p:spPr bwMode="auto">
          <a:xfrm>
            <a:off x="979913" y="1354621"/>
            <a:ext cx="3207929"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2-way handshake:</a:t>
            </a:r>
          </a:p>
        </p:txBody>
      </p:sp>
      <p:sp>
        <p:nvSpPr>
          <p:cNvPr id="215" name="Line 50">
            <a:extLst>
              <a:ext uri="{FF2B5EF4-FFF2-40B4-BE49-F238E27FC236}">
                <a16:creationId xmlns:a16="http://schemas.microsoft.com/office/drawing/2014/main" id="{2B6C64FC-1BFF-2745-8864-00793CCCA3F1}"/>
              </a:ext>
            </a:extLst>
          </p:cNvPr>
          <p:cNvSpPr>
            <a:spLocks noChangeShapeType="1"/>
          </p:cNvSpPr>
          <p:nvPr/>
        </p:nvSpPr>
        <p:spPr bwMode="auto">
          <a:xfrm>
            <a:off x="2210097" y="2827024"/>
            <a:ext cx="1996343" cy="34350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6" name="Line 51">
            <a:extLst>
              <a:ext uri="{FF2B5EF4-FFF2-40B4-BE49-F238E27FC236}">
                <a16:creationId xmlns:a16="http://schemas.microsoft.com/office/drawing/2014/main" id="{662E0AA8-2544-0243-A461-A97BB5D9F891}"/>
              </a:ext>
            </a:extLst>
          </p:cNvPr>
          <p:cNvSpPr>
            <a:spLocks noChangeShapeType="1"/>
          </p:cNvSpPr>
          <p:nvPr/>
        </p:nvSpPr>
        <p:spPr bwMode="auto">
          <a:xfrm>
            <a:off x="2150121" y="2737265"/>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7" name="Line 53">
            <a:extLst>
              <a:ext uri="{FF2B5EF4-FFF2-40B4-BE49-F238E27FC236}">
                <a16:creationId xmlns:a16="http://schemas.microsoft.com/office/drawing/2014/main" id="{61703F8D-DE60-7647-AB88-B625C4E037AF}"/>
              </a:ext>
            </a:extLst>
          </p:cNvPr>
          <p:cNvSpPr>
            <a:spLocks noChangeShapeType="1"/>
          </p:cNvSpPr>
          <p:nvPr/>
        </p:nvSpPr>
        <p:spPr bwMode="auto">
          <a:xfrm>
            <a:off x="4215008" y="2766610"/>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8" name="Line 54">
            <a:extLst>
              <a:ext uri="{FF2B5EF4-FFF2-40B4-BE49-F238E27FC236}">
                <a16:creationId xmlns:a16="http://schemas.microsoft.com/office/drawing/2014/main" id="{DE642691-1B6A-B64E-88A0-E9C02593B397}"/>
              </a:ext>
            </a:extLst>
          </p:cNvPr>
          <p:cNvSpPr>
            <a:spLocks noChangeShapeType="1"/>
          </p:cNvSpPr>
          <p:nvPr/>
        </p:nvSpPr>
        <p:spPr bwMode="auto">
          <a:xfrm flipH="1">
            <a:off x="2145837" y="3258561"/>
            <a:ext cx="1996343" cy="34350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19" name="Rectangle 56">
            <a:extLst>
              <a:ext uri="{FF2B5EF4-FFF2-40B4-BE49-F238E27FC236}">
                <a16:creationId xmlns:a16="http://schemas.microsoft.com/office/drawing/2014/main" id="{AB601B94-B2EC-5F44-8BA3-961BC7EAD4D6}"/>
              </a:ext>
            </a:extLst>
          </p:cNvPr>
          <p:cNvSpPr>
            <a:spLocks noChangeArrowheads="1"/>
          </p:cNvSpPr>
          <p:nvPr/>
        </p:nvSpPr>
        <p:spPr bwMode="auto">
          <a:xfrm>
            <a:off x="2531397" y="2811490"/>
            <a:ext cx="1201662"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0" name="Text Box 55">
            <a:extLst>
              <a:ext uri="{FF2B5EF4-FFF2-40B4-BE49-F238E27FC236}">
                <a16:creationId xmlns:a16="http://schemas.microsoft.com/office/drawing/2014/main" id="{51E91065-A73A-7D43-92CF-648D7E78E17F}"/>
              </a:ext>
            </a:extLst>
          </p:cNvPr>
          <p:cNvSpPr txBox="1">
            <a:spLocks noChangeArrowheads="1"/>
          </p:cNvSpPr>
          <p:nvPr/>
        </p:nvSpPr>
        <p:spPr bwMode="auto">
          <a:xfrm>
            <a:off x="2589217" y="2787324"/>
            <a:ext cx="1116010" cy="40011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Let’</a:t>
            </a:r>
            <a:r>
              <a:rPr kumimoji="0" lang="en-US" altLang="ja-JP"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 talk</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21" name="Rectangle 57">
            <a:extLst>
              <a:ext uri="{FF2B5EF4-FFF2-40B4-BE49-F238E27FC236}">
                <a16:creationId xmlns:a16="http://schemas.microsoft.com/office/drawing/2014/main" id="{2004BA2B-FE8D-D147-B254-220BD421C2B5}"/>
              </a:ext>
            </a:extLst>
          </p:cNvPr>
          <p:cNvSpPr>
            <a:spLocks noChangeArrowheads="1"/>
          </p:cNvSpPr>
          <p:nvPr/>
        </p:nvSpPr>
        <p:spPr bwMode="auto">
          <a:xfrm>
            <a:off x="2878401" y="3272370"/>
            <a:ext cx="593334"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2" name="Text Box 58">
            <a:extLst>
              <a:ext uri="{FF2B5EF4-FFF2-40B4-BE49-F238E27FC236}">
                <a16:creationId xmlns:a16="http://schemas.microsoft.com/office/drawing/2014/main" id="{45CBCA7D-6EF9-B544-8A1D-83FC7ADA336D}"/>
              </a:ext>
            </a:extLst>
          </p:cNvPr>
          <p:cNvSpPr txBox="1">
            <a:spLocks noChangeArrowheads="1"/>
          </p:cNvSpPr>
          <p:nvPr/>
        </p:nvSpPr>
        <p:spPr bwMode="auto">
          <a:xfrm>
            <a:off x="2915186" y="3248204"/>
            <a:ext cx="487634" cy="40011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OK</a:t>
            </a:r>
          </a:p>
        </p:txBody>
      </p:sp>
      <p:sp>
        <p:nvSpPr>
          <p:cNvPr id="223" name="Text Box 60">
            <a:extLst>
              <a:ext uri="{FF2B5EF4-FFF2-40B4-BE49-F238E27FC236}">
                <a16:creationId xmlns:a16="http://schemas.microsoft.com/office/drawing/2014/main" id="{9105DBEA-03C4-1045-B9A8-39AA7B1F3CAB}"/>
              </a:ext>
            </a:extLst>
          </p:cNvPr>
          <p:cNvSpPr txBox="1">
            <a:spLocks noChangeArrowheads="1"/>
          </p:cNvSpPr>
          <p:nvPr/>
        </p:nvSpPr>
        <p:spPr bwMode="auto">
          <a:xfrm>
            <a:off x="4320992" y="3066959"/>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ESTAB</a:t>
            </a:r>
          </a:p>
        </p:txBody>
      </p:sp>
      <p:sp>
        <p:nvSpPr>
          <p:cNvPr id="224" name="Text Box 61">
            <a:extLst>
              <a:ext uri="{FF2B5EF4-FFF2-40B4-BE49-F238E27FC236}">
                <a16:creationId xmlns:a16="http://schemas.microsoft.com/office/drawing/2014/main" id="{D3DDB3E1-DD0C-7242-BD98-892C99B0A0FC}"/>
              </a:ext>
            </a:extLst>
          </p:cNvPr>
          <p:cNvSpPr txBox="1">
            <a:spLocks noChangeArrowheads="1"/>
          </p:cNvSpPr>
          <p:nvPr/>
        </p:nvSpPr>
        <p:spPr bwMode="auto">
          <a:xfrm>
            <a:off x="1092998" y="3429450"/>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ESTAB</a:t>
            </a:r>
          </a:p>
        </p:txBody>
      </p:sp>
      <p:sp>
        <p:nvSpPr>
          <p:cNvPr id="225" name="Oval 66">
            <a:extLst>
              <a:ext uri="{FF2B5EF4-FFF2-40B4-BE49-F238E27FC236}">
                <a16:creationId xmlns:a16="http://schemas.microsoft.com/office/drawing/2014/main" id="{7A085CF1-13C2-7E45-BD13-7FBE5EC96389}"/>
              </a:ext>
            </a:extLst>
          </p:cNvPr>
          <p:cNvSpPr>
            <a:spLocks noChangeArrowheads="1"/>
          </p:cNvSpPr>
          <p:nvPr/>
        </p:nvSpPr>
        <p:spPr bwMode="auto">
          <a:xfrm>
            <a:off x="2088004" y="3557185"/>
            <a:ext cx="122093"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p:txBody>
      </p:sp>
      <p:sp>
        <p:nvSpPr>
          <p:cNvPr id="226" name="Oval 67">
            <a:extLst>
              <a:ext uri="{FF2B5EF4-FFF2-40B4-BE49-F238E27FC236}">
                <a16:creationId xmlns:a16="http://schemas.microsoft.com/office/drawing/2014/main" id="{5F8DFD39-4C67-544E-BDB6-995B73F0032B}"/>
              </a:ext>
            </a:extLst>
          </p:cNvPr>
          <p:cNvSpPr>
            <a:spLocks noChangeArrowheads="1"/>
          </p:cNvSpPr>
          <p:nvPr/>
        </p:nvSpPr>
        <p:spPr bwMode="auto">
          <a:xfrm>
            <a:off x="4150748" y="3184337"/>
            <a:ext cx="122095"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p:txBody>
      </p:sp>
      <p:sp>
        <p:nvSpPr>
          <p:cNvPr id="227" name="Text Box 72">
            <a:extLst>
              <a:ext uri="{FF2B5EF4-FFF2-40B4-BE49-F238E27FC236}">
                <a16:creationId xmlns:a16="http://schemas.microsoft.com/office/drawing/2014/main" id="{DB384BF1-67A8-D941-979F-3D776AAC77D8}"/>
              </a:ext>
            </a:extLst>
          </p:cNvPr>
          <p:cNvSpPr txBox="1">
            <a:spLocks noChangeArrowheads="1"/>
          </p:cNvSpPr>
          <p:nvPr/>
        </p:nvSpPr>
        <p:spPr bwMode="auto">
          <a:xfrm>
            <a:off x="973490" y="4953638"/>
            <a:ext cx="1095235"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8" name="Line 73">
            <a:extLst>
              <a:ext uri="{FF2B5EF4-FFF2-40B4-BE49-F238E27FC236}">
                <a16:creationId xmlns:a16="http://schemas.microsoft.com/office/drawing/2014/main" id="{F4A5217C-A64A-BC43-8BDA-A9CC2AE187E7}"/>
              </a:ext>
            </a:extLst>
          </p:cNvPr>
          <p:cNvSpPr>
            <a:spLocks noChangeShapeType="1"/>
          </p:cNvSpPr>
          <p:nvPr/>
        </p:nvSpPr>
        <p:spPr bwMode="auto">
          <a:xfrm>
            <a:off x="2248653" y="5141789"/>
            <a:ext cx="1996343" cy="34350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29" name="Line 74">
            <a:extLst>
              <a:ext uri="{FF2B5EF4-FFF2-40B4-BE49-F238E27FC236}">
                <a16:creationId xmlns:a16="http://schemas.microsoft.com/office/drawing/2014/main" id="{5DF0EBDC-C356-0F40-8E4B-0D4CDB884913}"/>
              </a:ext>
            </a:extLst>
          </p:cNvPr>
          <p:cNvSpPr>
            <a:spLocks noChangeShapeType="1"/>
          </p:cNvSpPr>
          <p:nvPr/>
        </p:nvSpPr>
        <p:spPr bwMode="auto">
          <a:xfrm>
            <a:off x="2188677" y="5052029"/>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30" name="Line 75">
            <a:extLst>
              <a:ext uri="{FF2B5EF4-FFF2-40B4-BE49-F238E27FC236}">
                <a16:creationId xmlns:a16="http://schemas.microsoft.com/office/drawing/2014/main" id="{06DA6EB7-8FDC-114C-A158-24F848F8929E}"/>
              </a:ext>
            </a:extLst>
          </p:cNvPr>
          <p:cNvSpPr>
            <a:spLocks noChangeShapeType="1"/>
          </p:cNvSpPr>
          <p:nvPr/>
        </p:nvSpPr>
        <p:spPr bwMode="auto">
          <a:xfrm>
            <a:off x="4253564" y="5081373"/>
            <a:ext cx="0" cy="1191042"/>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31" name="Line 76">
            <a:extLst>
              <a:ext uri="{FF2B5EF4-FFF2-40B4-BE49-F238E27FC236}">
                <a16:creationId xmlns:a16="http://schemas.microsoft.com/office/drawing/2014/main" id="{6E751C46-6DAD-2049-8052-C6ECA9B99101}"/>
              </a:ext>
            </a:extLst>
          </p:cNvPr>
          <p:cNvSpPr>
            <a:spLocks noChangeShapeType="1"/>
          </p:cNvSpPr>
          <p:nvPr/>
        </p:nvSpPr>
        <p:spPr bwMode="auto">
          <a:xfrm flipH="1">
            <a:off x="2184393" y="5573326"/>
            <a:ext cx="1996343" cy="34350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32" name="Rectangle 77">
            <a:extLst>
              <a:ext uri="{FF2B5EF4-FFF2-40B4-BE49-F238E27FC236}">
                <a16:creationId xmlns:a16="http://schemas.microsoft.com/office/drawing/2014/main" id="{05CA4AE2-2F93-D544-A582-D6138CBE65B1}"/>
              </a:ext>
            </a:extLst>
          </p:cNvPr>
          <p:cNvSpPr>
            <a:spLocks noChangeArrowheads="1"/>
          </p:cNvSpPr>
          <p:nvPr/>
        </p:nvSpPr>
        <p:spPr bwMode="auto">
          <a:xfrm>
            <a:off x="2677053" y="5126253"/>
            <a:ext cx="1049579"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33" name="Text Box 78">
            <a:extLst>
              <a:ext uri="{FF2B5EF4-FFF2-40B4-BE49-F238E27FC236}">
                <a16:creationId xmlns:a16="http://schemas.microsoft.com/office/drawing/2014/main" id="{DF22492C-21D4-FC46-996B-E22F99143FEC}"/>
              </a:ext>
            </a:extLst>
          </p:cNvPr>
          <p:cNvSpPr txBox="1">
            <a:spLocks noChangeArrowheads="1"/>
          </p:cNvSpPr>
          <p:nvPr/>
        </p:nvSpPr>
        <p:spPr bwMode="auto">
          <a:xfrm>
            <a:off x="2502290" y="5090004"/>
            <a:ext cx="1446230" cy="40011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req_conn(x)</a:t>
            </a:r>
          </a:p>
        </p:txBody>
      </p:sp>
      <p:sp>
        <p:nvSpPr>
          <p:cNvPr id="234" name="Rectangle 79">
            <a:extLst>
              <a:ext uri="{FF2B5EF4-FFF2-40B4-BE49-F238E27FC236}">
                <a16:creationId xmlns:a16="http://schemas.microsoft.com/office/drawing/2014/main" id="{EB35072C-E8DC-1D43-88F2-D6CC06A96B2B}"/>
              </a:ext>
            </a:extLst>
          </p:cNvPr>
          <p:cNvSpPr>
            <a:spLocks noChangeArrowheads="1"/>
          </p:cNvSpPr>
          <p:nvPr/>
        </p:nvSpPr>
        <p:spPr bwMode="auto">
          <a:xfrm>
            <a:off x="2916957" y="5587135"/>
            <a:ext cx="593334" cy="35558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35" name="Text Box 81">
            <a:extLst>
              <a:ext uri="{FF2B5EF4-FFF2-40B4-BE49-F238E27FC236}">
                <a16:creationId xmlns:a16="http://schemas.microsoft.com/office/drawing/2014/main" id="{41E79C30-5AC2-7B42-AF35-87394C87DCF6}"/>
              </a:ext>
            </a:extLst>
          </p:cNvPr>
          <p:cNvSpPr txBox="1">
            <a:spLocks noChangeArrowheads="1"/>
          </p:cNvSpPr>
          <p:nvPr/>
        </p:nvSpPr>
        <p:spPr bwMode="auto">
          <a:xfrm>
            <a:off x="4359546" y="5381723"/>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ESTAB</a:t>
            </a:r>
          </a:p>
        </p:txBody>
      </p:sp>
      <p:sp>
        <p:nvSpPr>
          <p:cNvPr id="236" name="Text Box 82">
            <a:extLst>
              <a:ext uri="{FF2B5EF4-FFF2-40B4-BE49-F238E27FC236}">
                <a16:creationId xmlns:a16="http://schemas.microsoft.com/office/drawing/2014/main" id="{15937B6C-DE9E-BB41-AF3C-AFA9046B2368}"/>
              </a:ext>
            </a:extLst>
          </p:cNvPr>
          <p:cNvSpPr txBox="1">
            <a:spLocks noChangeArrowheads="1"/>
          </p:cNvSpPr>
          <p:nvPr/>
        </p:nvSpPr>
        <p:spPr bwMode="auto">
          <a:xfrm>
            <a:off x="1131555" y="5744214"/>
            <a:ext cx="841897"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ESTAB</a:t>
            </a:r>
          </a:p>
        </p:txBody>
      </p:sp>
      <p:sp>
        <p:nvSpPr>
          <p:cNvPr id="237" name="Oval 83">
            <a:extLst>
              <a:ext uri="{FF2B5EF4-FFF2-40B4-BE49-F238E27FC236}">
                <a16:creationId xmlns:a16="http://schemas.microsoft.com/office/drawing/2014/main" id="{60CAB79E-F562-A147-B2B6-BCD35B4CE79B}"/>
              </a:ext>
            </a:extLst>
          </p:cNvPr>
          <p:cNvSpPr>
            <a:spLocks noChangeArrowheads="1"/>
          </p:cNvSpPr>
          <p:nvPr/>
        </p:nvSpPr>
        <p:spPr bwMode="auto">
          <a:xfrm>
            <a:off x="2126560" y="5871949"/>
            <a:ext cx="122093"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p:txBody>
      </p:sp>
      <p:sp>
        <p:nvSpPr>
          <p:cNvPr id="238" name="Oval 84">
            <a:extLst>
              <a:ext uri="{FF2B5EF4-FFF2-40B4-BE49-F238E27FC236}">
                <a16:creationId xmlns:a16="http://schemas.microsoft.com/office/drawing/2014/main" id="{AB867DAA-A20D-7E4E-8866-E4B15C4B0299}"/>
              </a:ext>
            </a:extLst>
          </p:cNvPr>
          <p:cNvSpPr>
            <a:spLocks noChangeArrowheads="1"/>
          </p:cNvSpPr>
          <p:nvPr/>
        </p:nvSpPr>
        <p:spPr bwMode="auto">
          <a:xfrm>
            <a:off x="4189304" y="5499101"/>
            <a:ext cx="122095" cy="96664"/>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C0000"/>
              </a:solidFill>
              <a:effectLst/>
              <a:uLnTx/>
              <a:uFillTx/>
              <a:latin typeface="Calibri" panose="020F0502020204030204"/>
              <a:ea typeface="ＭＳ Ｐゴシック" charset="0"/>
              <a:cs typeface="+mn-cs"/>
            </a:endParaRPr>
          </a:p>
        </p:txBody>
      </p:sp>
      <p:sp>
        <p:nvSpPr>
          <p:cNvPr id="239" name="Rectangle 86">
            <a:extLst>
              <a:ext uri="{FF2B5EF4-FFF2-40B4-BE49-F238E27FC236}">
                <a16:creationId xmlns:a16="http://schemas.microsoft.com/office/drawing/2014/main" id="{0E9D55EE-8F12-D242-B60A-BF7C0AE861A3}"/>
              </a:ext>
            </a:extLst>
          </p:cNvPr>
          <p:cNvSpPr>
            <a:spLocks noChangeArrowheads="1"/>
          </p:cNvSpPr>
          <p:nvPr/>
        </p:nvSpPr>
        <p:spPr bwMode="auto">
          <a:xfrm>
            <a:off x="2514261" y="5594040"/>
            <a:ext cx="1445850" cy="283088"/>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40" name="Text Box 85">
            <a:extLst>
              <a:ext uri="{FF2B5EF4-FFF2-40B4-BE49-F238E27FC236}">
                <a16:creationId xmlns:a16="http://schemas.microsoft.com/office/drawing/2014/main" id="{98A973F5-A6AE-4941-BAAF-D9632C720884}"/>
              </a:ext>
            </a:extLst>
          </p:cNvPr>
          <p:cNvSpPr txBox="1">
            <a:spLocks noChangeArrowheads="1"/>
          </p:cNvSpPr>
          <p:nvPr/>
        </p:nvSpPr>
        <p:spPr bwMode="auto">
          <a:xfrm>
            <a:off x="2500404" y="5552612"/>
            <a:ext cx="1435008" cy="40011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acc_conn(x)</a:t>
            </a:r>
          </a:p>
        </p:txBody>
      </p:sp>
      <p:grpSp>
        <p:nvGrpSpPr>
          <p:cNvPr id="241" name="Group 92">
            <a:extLst>
              <a:ext uri="{FF2B5EF4-FFF2-40B4-BE49-F238E27FC236}">
                <a16:creationId xmlns:a16="http://schemas.microsoft.com/office/drawing/2014/main" id="{A1DEBE31-8A7C-FA42-BF21-534E9F956FD1}"/>
              </a:ext>
            </a:extLst>
          </p:cNvPr>
          <p:cNvGrpSpPr>
            <a:grpSpLocks/>
          </p:cNvGrpSpPr>
          <p:nvPr/>
        </p:nvGrpSpPr>
        <p:grpSpPr bwMode="auto">
          <a:xfrm>
            <a:off x="1696017" y="4472044"/>
            <a:ext cx="775403" cy="566176"/>
            <a:chOff x="-44" y="1473"/>
            <a:chExt cx="981" cy="1105"/>
          </a:xfrm>
        </p:grpSpPr>
        <p:pic>
          <p:nvPicPr>
            <p:cNvPr id="242" name="Picture 93" descr="desktop_computer_stylized_medium">
              <a:extLst>
                <a:ext uri="{FF2B5EF4-FFF2-40B4-BE49-F238E27FC236}">
                  <a16:creationId xmlns:a16="http://schemas.microsoft.com/office/drawing/2014/main" id="{D4855CC7-B0C0-0C40-99B3-064E94398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Freeform 94">
              <a:extLst>
                <a:ext uri="{FF2B5EF4-FFF2-40B4-BE49-F238E27FC236}">
                  <a16:creationId xmlns:a16="http://schemas.microsoft.com/office/drawing/2014/main" id="{E45A3676-D1D0-F747-9A77-79DCC58FFC6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244" name="Group 95">
            <a:extLst>
              <a:ext uri="{FF2B5EF4-FFF2-40B4-BE49-F238E27FC236}">
                <a16:creationId xmlns:a16="http://schemas.microsoft.com/office/drawing/2014/main" id="{30DE6A89-1D8F-B54B-9DDE-549AD2FC2274}"/>
              </a:ext>
            </a:extLst>
          </p:cNvPr>
          <p:cNvGrpSpPr>
            <a:grpSpLocks/>
          </p:cNvGrpSpPr>
          <p:nvPr/>
        </p:nvGrpSpPr>
        <p:grpSpPr bwMode="auto">
          <a:xfrm>
            <a:off x="4073636" y="4451330"/>
            <a:ext cx="318750" cy="557545"/>
            <a:chOff x="4140" y="429"/>
            <a:chExt cx="1425" cy="2396"/>
          </a:xfrm>
        </p:grpSpPr>
        <p:sp>
          <p:nvSpPr>
            <p:cNvPr id="245" name="Freeform 96">
              <a:extLst>
                <a:ext uri="{FF2B5EF4-FFF2-40B4-BE49-F238E27FC236}">
                  <a16:creationId xmlns:a16="http://schemas.microsoft.com/office/drawing/2014/main" id="{B71F5390-5611-A549-8A76-3052ABA7D19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46" name="Rectangle 97">
              <a:extLst>
                <a:ext uri="{FF2B5EF4-FFF2-40B4-BE49-F238E27FC236}">
                  <a16:creationId xmlns:a16="http://schemas.microsoft.com/office/drawing/2014/main" id="{A1B57D5C-B8BE-CC48-A959-8D0CB8D18EA1}"/>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47" name="Freeform 98">
              <a:extLst>
                <a:ext uri="{FF2B5EF4-FFF2-40B4-BE49-F238E27FC236}">
                  <a16:creationId xmlns:a16="http://schemas.microsoft.com/office/drawing/2014/main" id="{F022A685-2E50-194F-BC85-D97F7CAFFCF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48" name="Freeform 99">
              <a:extLst>
                <a:ext uri="{FF2B5EF4-FFF2-40B4-BE49-F238E27FC236}">
                  <a16:creationId xmlns:a16="http://schemas.microsoft.com/office/drawing/2014/main" id="{67381A9D-9DB7-0A4E-B993-95AAAF4CCB9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49" name="Rectangle 100">
              <a:extLst>
                <a:ext uri="{FF2B5EF4-FFF2-40B4-BE49-F238E27FC236}">
                  <a16:creationId xmlns:a16="http://schemas.microsoft.com/office/drawing/2014/main" id="{B178CA92-6419-B94D-82C2-001A4C53E7AC}"/>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250" name="Group 101">
              <a:extLst>
                <a:ext uri="{FF2B5EF4-FFF2-40B4-BE49-F238E27FC236}">
                  <a16:creationId xmlns:a16="http://schemas.microsoft.com/office/drawing/2014/main" id="{2DDA5E0E-93B0-FC4E-AA1E-3A161BEB6179}"/>
                </a:ext>
              </a:extLst>
            </p:cNvPr>
            <p:cNvGrpSpPr>
              <a:grpSpLocks/>
            </p:cNvGrpSpPr>
            <p:nvPr/>
          </p:nvGrpSpPr>
          <p:grpSpPr bwMode="auto">
            <a:xfrm>
              <a:off x="4749" y="668"/>
              <a:ext cx="581" cy="145"/>
              <a:chOff x="614" y="2568"/>
              <a:chExt cx="725" cy="139"/>
            </a:xfrm>
          </p:grpSpPr>
          <p:sp>
            <p:nvSpPr>
              <p:cNvPr id="275" name="AutoShape 102">
                <a:extLst>
                  <a:ext uri="{FF2B5EF4-FFF2-40B4-BE49-F238E27FC236}">
                    <a16:creationId xmlns:a16="http://schemas.microsoft.com/office/drawing/2014/main" id="{1245BCF6-EEF2-F34C-92E3-2CA1C2C948EF}"/>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76" name="AutoShape 103">
                <a:extLst>
                  <a:ext uri="{FF2B5EF4-FFF2-40B4-BE49-F238E27FC236}">
                    <a16:creationId xmlns:a16="http://schemas.microsoft.com/office/drawing/2014/main" id="{1067DCBA-D400-0642-B68F-AE171164BAE3}"/>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251" name="Rectangle 104">
              <a:extLst>
                <a:ext uri="{FF2B5EF4-FFF2-40B4-BE49-F238E27FC236}">
                  <a16:creationId xmlns:a16="http://schemas.microsoft.com/office/drawing/2014/main" id="{CEE13654-E51E-634B-B3A8-1909C6DC88FB}"/>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252" name="Group 105">
              <a:extLst>
                <a:ext uri="{FF2B5EF4-FFF2-40B4-BE49-F238E27FC236}">
                  <a16:creationId xmlns:a16="http://schemas.microsoft.com/office/drawing/2014/main" id="{3DE4D6D2-40C1-6843-BB18-76EFFF97C7B0}"/>
                </a:ext>
              </a:extLst>
            </p:cNvPr>
            <p:cNvGrpSpPr>
              <a:grpSpLocks/>
            </p:cNvGrpSpPr>
            <p:nvPr/>
          </p:nvGrpSpPr>
          <p:grpSpPr bwMode="auto">
            <a:xfrm>
              <a:off x="4747" y="994"/>
              <a:ext cx="581" cy="134"/>
              <a:chOff x="614" y="2568"/>
              <a:chExt cx="725" cy="139"/>
            </a:xfrm>
          </p:grpSpPr>
          <p:sp>
            <p:nvSpPr>
              <p:cNvPr id="273" name="AutoShape 106">
                <a:extLst>
                  <a:ext uri="{FF2B5EF4-FFF2-40B4-BE49-F238E27FC236}">
                    <a16:creationId xmlns:a16="http://schemas.microsoft.com/office/drawing/2014/main" id="{2685B222-9BE5-0D43-A3B3-6021358AE35E}"/>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74" name="AutoShape 107">
                <a:extLst>
                  <a:ext uri="{FF2B5EF4-FFF2-40B4-BE49-F238E27FC236}">
                    <a16:creationId xmlns:a16="http://schemas.microsoft.com/office/drawing/2014/main" id="{00F72E45-552A-534D-A233-34AE532CCE1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253" name="Rectangle 108">
              <a:extLst>
                <a:ext uri="{FF2B5EF4-FFF2-40B4-BE49-F238E27FC236}">
                  <a16:creationId xmlns:a16="http://schemas.microsoft.com/office/drawing/2014/main" id="{3DF4CAF9-06A6-F849-9FCD-1AEC85C1CF94}"/>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54" name="Rectangle 109">
              <a:extLst>
                <a:ext uri="{FF2B5EF4-FFF2-40B4-BE49-F238E27FC236}">
                  <a16:creationId xmlns:a16="http://schemas.microsoft.com/office/drawing/2014/main" id="{148B444B-183C-764F-B7FB-60CA4703B6DB}"/>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255" name="Group 110">
              <a:extLst>
                <a:ext uri="{FF2B5EF4-FFF2-40B4-BE49-F238E27FC236}">
                  <a16:creationId xmlns:a16="http://schemas.microsoft.com/office/drawing/2014/main" id="{39959419-6C63-ED42-9E1F-394A82CD6225}"/>
                </a:ext>
              </a:extLst>
            </p:cNvPr>
            <p:cNvGrpSpPr>
              <a:grpSpLocks/>
            </p:cNvGrpSpPr>
            <p:nvPr/>
          </p:nvGrpSpPr>
          <p:grpSpPr bwMode="auto">
            <a:xfrm>
              <a:off x="4735" y="1627"/>
              <a:ext cx="582" cy="151"/>
              <a:chOff x="614" y="2568"/>
              <a:chExt cx="725" cy="139"/>
            </a:xfrm>
          </p:grpSpPr>
          <p:sp>
            <p:nvSpPr>
              <p:cNvPr id="271" name="AutoShape 111">
                <a:extLst>
                  <a:ext uri="{FF2B5EF4-FFF2-40B4-BE49-F238E27FC236}">
                    <a16:creationId xmlns:a16="http://schemas.microsoft.com/office/drawing/2014/main" id="{A34CF4FA-FD1C-5145-835F-119FE044DC3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72" name="AutoShape 112">
                <a:extLst>
                  <a:ext uri="{FF2B5EF4-FFF2-40B4-BE49-F238E27FC236}">
                    <a16:creationId xmlns:a16="http://schemas.microsoft.com/office/drawing/2014/main" id="{59A59735-AA02-0146-A5A5-87EEABC8E28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256" name="Freeform 113">
              <a:extLst>
                <a:ext uri="{FF2B5EF4-FFF2-40B4-BE49-F238E27FC236}">
                  <a16:creationId xmlns:a16="http://schemas.microsoft.com/office/drawing/2014/main" id="{FDFF2545-90A4-DA4C-82D7-3315F0B6C88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257" name="Group 114">
              <a:extLst>
                <a:ext uri="{FF2B5EF4-FFF2-40B4-BE49-F238E27FC236}">
                  <a16:creationId xmlns:a16="http://schemas.microsoft.com/office/drawing/2014/main" id="{05A30CF6-38EC-774A-B2D7-6BC1988EFCEE}"/>
                </a:ext>
              </a:extLst>
            </p:cNvPr>
            <p:cNvGrpSpPr>
              <a:grpSpLocks/>
            </p:cNvGrpSpPr>
            <p:nvPr/>
          </p:nvGrpSpPr>
          <p:grpSpPr bwMode="auto">
            <a:xfrm>
              <a:off x="4739" y="1327"/>
              <a:ext cx="582" cy="139"/>
              <a:chOff x="614" y="2568"/>
              <a:chExt cx="725" cy="139"/>
            </a:xfrm>
          </p:grpSpPr>
          <p:sp>
            <p:nvSpPr>
              <p:cNvPr id="269" name="AutoShape 115">
                <a:extLst>
                  <a:ext uri="{FF2B5EF4-FFF2-40B4-BE49-F238E27FC236}">
                    <a16:creationId xmlns:a16="http://schemas.microsoft.com/office/drawing/2014/main" id="{82E4336A-2972-5248-BA09-8141B5778E54}"/>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70" name="AutoShape 116">
                <a:extLst>
                  <a:ext uri="{FF2B5EF4-FFF2-40B4-BE49-F238E27FC236}">
                    <a16:creationId xmlns:a16="http://schemas.microsoft.com/office/drawing/2014/main" id="{AD1D49DB-E480-5641-AC7E-56E3D66E7135}"/>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258" name="Rectangle 117">
              <a:extLst>
                <a:ext uri="{FF2B5EF4-FFF2-40B4-BE49-F238E27FC236}">
                  <a16:creationId xmlns:a16="http://schemas.microsoft.com/office/drawing/2014/main" id="{0B98AE39-2021-6E44-A2F5-79952D91407E}"/>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59" name="Freeform 118">
              <a:extLst>
                <a:ext uri="{FF2B5EF4-FFF2-40B4-BE49-F238E27FC236}">
                  <a16:creationId xmlns:a16="http://schemas.microsoft.com/office/drawing/2014/main" id="{E786E227-0635-1B4C-B935-93B9B2090B2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0" name="Freeform 119">
              <a:extLst>
                <a:ext uri="{FF2B5EF4-FFF2-40B4-BE49-F238E27FC236}">
                  <a16:creationId xmlns:a16="http://schemas.microsoft.com/office/drawing/2014/main" id="{FB8A87AF-D14D-3042-95ED-47109B79894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1" name="Oval 120">
              <a:extLst>
                <a:ext uri="{FF2B5EF4-FFF2-40B4-BE49-F238E27FC236}">
                  <a16:creationId xmlns:a16="http://schemas.microsoft.com/office/drawing/2014/main" id="{2E438A96-E553-D34A-BF0C-432436BD21D5}"/>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62" name="Freeform 121">
              <a:extLst>
                <a:ext uri="{FF2B5EF4-FFF2-40B4-BE49-F238E27FC236}">
                  <a16:creationId xmlns:a16="http://schemas.microsoft.com/office/drawing/2014/main" id="{C7F13FD9-6F22-2742-B6C1-05E03B039F7D}"/>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63" name="AutoShape 122">
              <a:extLst>
                <a:ext uri="{FF2B5EF4-FFF2-40B4-BE49-F238E27FC236}">
                  <a16:creationId xmlns:a16="http://schemas.microsoft.com/office/drawing/2014/main" id="{348EE68C-CA73-834E-B867-CD1C84FAC89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64" name="AutoShape 123">
              <a:extLst>
                <a:ext uri="{FF2B5EF4-FFF2-40B4-BE49-F238E27FC236}">
                  <a16:creationId xmlns:a16="http://schemas.microsoft.com/office/drawing/2014/main" id="{1204051C-8ED9-7648-9B46-C01EFEE9DB1E}"/>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65" name="Oval 124">
              <a:extLst>
                <a:ext uri="{FF2B5EF4-FFF2-40B4-BE49-F238E27FC236}">
                  <a16:creationId xmlns:a16="http://schemas.microsoft.com/office/drawing/2014/main" id="{E60C883F-574D-2748-ABCD-0B7DB3EE98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66" name="Oval 125">
              <a:extLst>
                <a:ext uri="{FF2B5EF4-FFF2-40B4-BE49-F238E27FC236}">
                  <a16:creationId xmlns:a16="http://schemas.microsoft.com/office/drawing/2014/main" id="{FB94FD42-6202-F644-B3BA-267D89970B38}"/>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FF0000"/>
                </a:solidFill>
                <a:effectLst/>
                <a:uLnTx/>
                <a:uFillTx/>
                <a:latin typeface="Calibri" panose="020F0502020204030204"/>
                <a:ea typeface="ＭＳ Ｐゴシック" charset="0"/>
                <a:cs typeface="Arial" charset="0"/>
              </a:endParaRPr>
            </a:p>
          </p:txBody>
        </p:sp>
        <p:sp>
          <p:nvSpPr>
            <p:cNvPr id="267" name="Oval 126">
              <a:extLst>
                <a:ext uri="{FF2B5EF4-FFF2-40B4-BE49-F238E27FC236}">
                  <a16:creationId xmlns:a16="http://schemas.microsoft.com/office/drawing/2014/main" id="{FD6A9A5E-7B0B-0C4F-B512-765209079139}"/>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268" name="Rectangle 127">
              <a:extLst>
                <a:ext uri="{FF2B5EF4-FFF2-40B4-BE49-F238E27FC236}">
                  <a16:creationId xmlns:a16="http://schemas.microsoft.com/office/drawing/2014/main" id="{1A503147-D0ED-D94A-8360-5E7F4D3ED8FD}"/>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69" name="Slide Number Placeholder 2">
            <a:extLst>
              <a:ext uri="{FF2B5EF4-FFF2-40B4-BE49-F238E27FC236}">
                <a16:creationId xmlns:a16="http://schemas.microsoft.com/office/drawing/2014/main" id="{173A9DD9-82B1-6E42-88A8-6C0B706AA49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29</a:t>
            </a:fld>
            <a:endParaRPr lang="en-US" dirty="0"/>
          </a:p>
        </p:txBody>
      </p:sp>
      <p:pic>
        <p:nvPicPr>
          <p:cNvPr id="5" name="Picture 4" descr="Cartoon child with pigtails and purple bows&#10;&#10;Description automatically generated">
            <a:extLst>
              <a:ext uri="{FF2B5EF4-FFF2-40B4-BE49-F238E27FC236}">
                <a16:creationId xmlns:a16="http://schemas.microsoft.com/office/drawing/2014/main" id="{3D1C5255-88BB-F376-F94B-F3F2CDC761A0}"/>
              </a:ext>
            </a:extLst>
          </p:cNvPr>
          <p:cNvPicPr>
            <a:picLocks noChangeAspect="1"/>
          </p:cNvPicPr>
          <p:nvPr/>
        </p:nvPicPr>
        <p:blipFill>
          <a:blip r:embed="rId4"/>
          <a:stretch>
            <a:fillRect/>
          </a:stretch>
        </p:blipFill>
        <p:spPr>
          <a:xfrm>
            <a:off x="1781657" y="2085996"/>
            <a:ext cx="689763" cy="576779"/>
          </a:xfrm>
          <a:prstGeom prst="rect">
            <a:avLst/>
          </a:prstGeom>
        </p:spPr>
      </p:pic>
      <p:pic>
        <p:nvPicPr>
          <p:cNvPr id="6" name="Picture 5" descr="A cartoon of a person with a green bow tie&#10;&#10;Description automatically generated">
            <a:extLst>
              <a:ext uri="{FF2B5EF4-FFF2-40B4-BE49-F238E27FC236}">
                <a16:creationId xmlns:a16="http://schemas.microsoft.com/office/drawing/2014/main" id="{FED9291C-2172-8DC3-7F3B-408B00BC79DD}"/>
              </a:ext>
            </a:extLst>
          </p:cNvPr>
          <p:cNvPicPr>
            <a:picLocks noChangeAspect="1"/>
          </p:cNvPicPr>
          <p:nvPr/>
        </p:nvPicPr>
        <p:blipFill>
          <a:blip r:embed="rId5"/>
          <a:stretch>
            <a:fillRect/>
          </a:stretch>
        </p:blipFill>
        <p:spPr>
          <a:xfrm>
            <a:off x="3831050" y="2061978"/>
            <a:ext cx="749790" cy="624814"/>
          </a:xfrm>
          <a:prstGeom prst="rect">
            <a:avLst/>
          </a:prstGeom>
        </p:spPr>
      </p:pic>
    </p:spTree>
    <p:extLst>
      <p:ext uri="{BB962C8B-B14F-4D97-AF65-F5344CB8AC3E}">
        <p14:creationId xmlns:p14="http://schemas.microsoft.com/office/powerpoint/2010/main" val="4505620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dissolve">
                                      <p:cBhvr>
                                        <p:cTn id="7"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2-way handshake scenarios</a:t>
            </a:r>
          </a:p>
        </p:txBody>
      </p:sp>
      <p:grpSp>
        <p:nvGrpSpPr>
          <p:cNvPr id="423" name="Group 422">
            <a:extLst>
              <a:ext uri="{FF2B5EF4-FFF2-40B4-BE49-F238E27FC236}">
                <a16:creationId xmlns:a16="http://schemas.microsoft.com/office/drawing/2014/main" id="{D692DA0E-1EF2-F448-A9D8-1C3ACE390DD1}"/>
              </a:ext>
            </a:extLst>
          </p:cNvPr>
          <p:cNvGrpSpPr/>
          <p:nvPr/>
        </p:nvGrpSpPr>
        <p:grpSpPr>
          <a:xfrm>
            <a:off x="435655" y="1435139"/>
            <a:ext cx="3855401" cy="3186116"/>
            <a:chOff x="435655" y="1990325"/>
            <a:chExt cx="3855401" cy="3186116"/>
          </a:xfrm>
        </p:grpSpPr>
        <p:sp>
          <p:nvSpPr>
            <p:cNvPr id="424" name="Line 25">
              <a:extLst>
                <a:ext uri="{FF2B5EF4-FFF2-40B4-BE49-F238E27FC236}">
                  <a16:creationId xmlns:a16="http://schemas.microsoft.com/office/drawing/2014/main" id="{91E4D71D-79FA-CA4A-B78E-8C1871D4733B}"/>
                </a:ext>
              </a:extLst>
            </p:cNvPr>
            <p:cNvSpPr>
              <a:spLocks noChangeShapeType="1"/>
            </p:cNvSpPr>
            <p:nvPr/>
          </p:nvSpPr>
          <p:spPr bwMode="auto">
            <a:xfrm flipH="1">
              <a:off x="1461180" y="2545950"/>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425" name="Line 39">
              <a:extLst>
                <a:ext uri="{FF2B5EF4-FFF2-40B4-BE49-F238E27FC236}">
                  <a16:creationId xmlns:a16="http://schemas.microsoft.com/office/drawing/2014/main" id="{3CE8A2F3-443B-CB42-96FD-D8DF221502CB}"/>
                </a:ext>
              </a:extLst>
            </p:cNvPr>
            <p:cNvSpPr>
              <a:spLocks noChangeShapeType="1"/>
            </p:cNvSpPr>
            <p:nvPr/>
          </p:nvSpPr>
          <p:spPr bwMode="auto">
            <a:xfrm flipH="1">
              <a:off x="2991529" y="2618975"/>
              <a:ext cx="0" cy="2524525"/>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26" name="Group 93">
              <a:extLst>
                <a:ext uri="{FF2B5EF4-FFF2-40B4-BE49-F238E27FC236}">
                  <a16:creationId xmlns:a16="http://schemas.microsoft.com/office/drawing/2014/main" id="{773C4FC2-EAD6-0D4F-85E4-043FD6EDCD22}"/>
                </a:ext>
              </a:extLst>
            </p:cNvPr>
            <p:cNvGrpSpPr>
              <a:grpSpLocks/>
            </p:cNvGrpSpPr>
            <p:nvPr/>
          </p:nvGrpSpPr>
          <p:grpSpPr bwMode="auto">
            <a:xfrm>
              <a:off x="1386567" y="4700191"/>
              <a:ext cx="2405063" cy="476250"/>
              <a:chOff x="1097" y="2807"/>
              <a:chExt cx="1515" cy="300"/>
            </a:xfrm>
          </p:grpSpPr>
          <p:sp>
            <p:nvSpPr>
              <p:cNvPr id="488" name="Line 40">
                <a:extLst>
                  <a:ext uri="{FF2B5EF4-FFF2-40B4-BE49-F238E27FC236}">
                    <a16:creationId xmlns:a16="http://schemas.microsoft.com/office/drawing/2014/main" id="{111704BC-1B6B-2944-9D57-698BFD5CC308}"/>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89" name="Text Box 85">
                <a:extLst>
                  <a:ext uri="{FF2B5EF4-FFF2-40B4-BE49-F238E27FC236}">
                    <a16:creationId xmlns:a16="http://schemas.microsoft.com/office/drawing/2014/main" id="{190D3E08-8ADE-534C-9FC3-5199F6792D9B}"/>
                  </a:ext>
                </a:extLst>
              </p:cNvPr>
              <p:cNvSpPr txBox="1">
                <a:spLocks noChangeArrowheads="1"/>
              </p:cNvSpPr>
              <p:nvPr/>
            </p:nvSpPr>
            <p:spPr bwMode="auto">
              <a:xfrm>
                <a:off x="1269" y="2807"/>
                <a:ext cx="706" cy="3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x completes</a:t>
                </a:r>
              </a:p>
            </p:txBody>
          </p:sp>
        </p:grpSp>
        <p:grpSp>
          <p:nvGrpSpPr>
            <p:cNvPr id="427" name="Group 102">
              <a:extLst>
                <a:ext uri="{FF2B5EF4-FFF2-40B4-BE49-F238E27FC236}">
                  <a16:creationId xmlns:a16="http://schemas.microsoft.com/office/drawing/2014/main" id="{0D5744FA-4339-D545-9B57-B45E093F571A}"/>
                </a:ext>
              </a:extLst>
            </p:cNvPr>
            <p:cNvGrpSpPr>
              <a:grpSpLocks/>
            </p:cNvGrpSpPr>
            <p:nvPr/>
          </p:nvGrpSpPr>
          <p:grpSpPr bwMode="auto">
            <a:xfrm>
              <a:off x="435655" y="1990325"/>
              <a:ext cx="3389313" cy="2136775"/>
              <a:chOff x="484" y="1100"/>
              <a:chExt cx="2135" cy="1346"/>
            </a:xfrm>
          </p:grpSpPr>
          <p:sp>
            <p:nvSpPr>
              <p:cNvPr id="439" name="Text Box 103">
                <a:extLst>
                  <a:ext uri="{FF2B5EF4-FFF2-40B4-BE49-F238E27FC236}">
                    <a16:creationId xmlns:a16="http://schemas.microsoft.com/office/drawing/2014/main" id="{384A1174-EF45-3D47-B451-2B62A2717579}"/>
                  </a:ext>
                </a:extLst>
              </p:cNvPr>
              <p:cNvSpPr txBox="1">
                <a:spLocks noChangeArrowheads="1"/>
              </p:cNvSpPr>
              <p:nvPr/>
            </p:nvSpPr>
            <p:spPr bwMode="auto">
              <a:xfrm>
                <a:off x="484" y="1393"/>
                <a:ext cx="613"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0" name="Line 104">
                <a:extLst>
                  <a:ext uri="{FF2B5EF4-FFF2-40B4-BE49-F238E27FC236}">
                    <a16:creationId xmlns:a16="http://schemas.microsoft.com/office/drawing/2014/main" id="{01799853-A3A5-894C-8B0B-3CBEE6379CDD}"/>
                  </a:ext>
                </a:extLst>
              </p:cNvPr>
              <p:cNvSpPr>
                <a:spLocks noChangeShapeType="1"/>
              </p:cNvSpPr>
              <p:nvPr/>
            </p:nvSpPr>
            <p:spPr bwMode="auto">
              <a:xfrm>
                <a:off x="1159" y="1516"/>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1" name="Line 105">
                <a:extLst>
                  <a:ext uri="{FF2B5EF4-FFF2-40B4-BE49-F238E27FC236}">
                    <a16:creationId xmlns:a16="http://schemas.microsoft.com/office/drawing/2014/main" id="{E4D37334-2302-C946-AD71-897255F798F8}"/>
                  </a:ext>
                </a:extLst>
              </p:cNvPr>
              <p:cNvSpPr>
                <a:spLocks noChangeShapeType="1"/>
              </p:cNvSpPr>
              <p:nvPr/>
            </p:nvSpPr>
            <p:spPr bwMode="auto">
              <a:xfrm flipH="1">
                <a:off x="1121" y="1739"/>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2" name="Rectangle 106">
                <a:extLst>
                  <a:ext uri="{FF2B5EF4-FFF2-40B4-BE49-F238E27FC236}">
                    <a16:creationId xmlns:a16="http://schemas.microsoft.com/office/drawing/2014/main" id="{A9F291AF-7263-964C-9C39-E6D9DD79FF9B}"/>
                  </a:ext>
                </a:extLst>
              </p:cNvPr>
              <p:cNvSpPr>
                <a:spLocks noChangeArrowheads="1"/>
              </p:cNvSpPr>
              <p:nvPr/>
            </p:nvSpPr>
            <p:spPr bwMode="auto">
              <a:xfrm>
                <a:off x="1359" y="1507"/>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3" name="Text Box 107">
                <a:extLst>
                  <a:ext uri="{FF2B5EF4-FFF2-40B4-BE49-F238E27FC236}">
                    <a16:creationId xmlns:a16="http://schemas.microsoft.com/office/drawing/2014/main" id="{8256400A-AA91-2B45-8FD6-9FEEAEE48C35}"/>
                  </a:ext>
                </a:extLst>
              </p:cNvPr>
              <p:cNvSpPr txBox="1">
                <a:spLocks noChangeArrowheads="1"/>
              </p:cNvSpPr>
              <p:nvPr/>
            </p:nvSpPr>
            <p:spPr bwMode="auto">
              <a:xfrm>
                <a:off x="1214" y="1486"/>
                <a:ext cx="802"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req_conn(x)</a:t>
                </a:r>
              </a:p>
            </p:txBody>
          </p:sp>
          <p:sp>
            <p:nvSpPr>
              <p:cNvPr id="444" name="Rectangle 108">
                <a:extLst>
                  <a:ext uri="{FF2B5EF4-FFF2-40B4-BE49-F238E27FC236}">
                    <a16:creationId xmlns:a16="http://schemas.microsoft.com/office/drawing/2014/main" id="{8F206717-52E2-FB4D-B242-30E9BF426AE1}"/>
                  </a:ext>
                </a:extLst>
              </p:cNvPr>
              <p:cNvSpPr>
                <a:spLocks noChangeArrowheads="1"/>
              </p:cNvSpPr>
              <p:nvPr/>
            </p:nvSpPr>
            <p:spPr bwMode="auto">
              <a:xfrm>
                <a:off x="1471" y="1774"/>
                <a:ext cx="277"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5" name="Text Box 109">
                <a:extLst>
                  <a:ext uri="{FF2B5EF4-FFF2-40B4-BE49-F238E27FC236}">
                    <a16:creationId xmlns:a16="http://schemas.microsoft.com/office/drawing/2014/main" id="{9F6C9D6F-A1F8-8544-BE47-BCDA73F1EC12}"/>
                  </a:ext>
                </a:extLst>
              </p:cNvPr>
              <p:cNvSpPr txBox="1">
                <a:spLocks noChangeArrowheads="1"/>
              </p:cNvSpPr>
              <p:nvPr/>
            </p:nvSpPr>
            <p:spPr bwMode="auto">
              <a:xfrm>
                <a:off x="2133" y="1649"/>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446" name="Text Box 110">
                <a:extLst>
                  <a:ext uri="{FF2B5EF4-FFF2-40B4-BE49-F238E27FC236}">
                    <a16:creationId xmlns:a16="http://schemas.microsoft.com/office/drawing/2014/main" id="{5194F166-9430-4242-89A4-5D091B008960}"/>
                  </a:ext>
                </a:extLst>
              </p:cNvPr>
              <p:cNvSpPr txBox="1">
                <a:spLocks noChangeArrowheads="1"/>
              </p:cNvSpPr>
              <p:nvPr/>
            </p:nvSpPr>
            <p:spPr bwMode="auto">
              <a:xfrm>
                <a:off x="583" y="2234"/>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447" name="Oval 111">
                <a:extLst>
                  <a:ext uri="{FF2B5EF4-FFF2-40B4-BE49-F238E27FC236}">
                    <a16:creationId xmlns:a16="http://schemas.microsoft.com/office/drawing/2014/main" id="{64F10CAD-3D48-3B4D-AE41-2AEA0DB2E4A3}"/>
                  </a:ext>
                </a:extLst>
              </p:cNvPr>
              <p:cNvSpPr>
                <a:spLocks noChangeArrowheads="1"/>
              </p:cNvSpPr>
              <p:nvPr/>
            </p:nvSpPr>
            <p:spPr bwMode="auto">
              <a:xfrm>
                <a:off x="1095" y="2298"/>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448" name="Oval 112">
                <a:extLst>
                  <a:ext uri="{FF2B5EF4-FFF2-40B4-BE49-F238E27FC236}">
                    <a16:creationId xmlns:a16="http://schemas.microsoft.com/office/drawing/2014/main" id="{98F68D03-FCEB-0F41-A286-A0FEC1FAEA51}"/>
                  </a:ext>
                </a:extLst>
              </p:cNvPr>
              <p:cNvSpPr>
                <a:spLocks noChangeArrowheads="1"/>
              </p:cNvSpPr>
              <p:nvPr/>
            </p:nvSpPr>
            <p:spPr bwMode="auto">
              <a:xfrm>
                <a:off x="2065" y="1723"/>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grpSp>
            <p:nvGrpSpPr>
              <p:cNvPr id="449" name="Group 113">
                <a:extLst>
                  <a:ext uri="{FF2B5EF4-FFF2-40B4-BE49-F238E27FC236}">
                    <a16:creationId xmlns:a16="http://schemas.microsoft.com/office/drawing/2014/main" id="{E535B351-6B01-AE49-8479-F8762FC2AA2E}"/>
                  </a:ext>
                </a:extLst>
              </p:cNvPr>
              <p:cNvGrpSpPr>
                <a:grpSpLocks/>
              </p:cNvGrpSpPr>
              <p:nvPr/>
            </p:nvGrpSpPr>
            <p:grpSpPr bwMode="auto">
              <a:xfrm>
                <a:off x="1277" y="1861"/>
                <a:ext cx="803" cy="212"/>
                <a:chOff x="1065" y="2085"/>
                <a:chExt cx="803" cy="212"/>
              </a:xfrm>
            </p:grpSpPr>
            <p:sp>
              <p:nvSpPr>
                <p:cNvPr id="486" name="Rectangle 114">
                  <a:extLst>
                    <a:ext uri="{FF2B5EF4-FFF2-40B4-BE49-F238E27FC236}">
                      <a16:creationId xmlns:a16="http://schemas.microsoft.com/office/drawing/2014/main" id="{3ABD9392-9290-6043-AF0A-164F1B0F7B39}"/>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87" name="Text Box 115">
                  <a:extLst>
                    <a:ext uri="{FF2B5EF4-FFF2-40B4-BE49-F238E27FC236}">
                      <a16:creationId xmlns:a16="http://schemas.microsoft.com/office/drawing/2014/main" id="{E01A5D11-E159-0C40-9DBC-E064BEC5774C}"/>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acc_conn(x)</a:t>
                  </a:r>
                </a:p>
              </p:txBody>
            </p:sp>
          </p:grpSp>
          <p:grpSp>
            <p:nvGrpSpPr>
              <p:cNvPr id="450" name="Group 116">
                <a:extLst>
                  <a:ext uri="{FF2B5EF4-FFF2-40B4-BE49-F238E27FC236}">
                    <a16:creationId xmlns:a16="http://schemas.microsoft.com/office/drawing/2014/main" id="{3E3A49BF-0E39-8D4D-A2D0-63CBFDDD6FAF}"/>
                  </a:ext>
                </a:extLst>
              </p:cNvPr>
              <p:cNvGrpSpPr>
                <a:grpSpLocks/>
              </p:cNvGrpSpPr>
              <p:nvPr/>
            </p:nvGrpSpPr>
            <p:grpSpPr bwMode="auto">
              <a:xfrm>
                <a:off x="834" y="1112"/>
                <a:ext cx="391" cy="307"/>
                <a:chOff x="-44" y="1473"/>
                <a:chExt cx="981" cy="1105"/>
              </a:xfrm>
            </p:grpSpPr>
            <p:pic>
              <p:nvPicPr>
                <p:cNvPr id="484" name="Picture 117" descr="desktop_computer_stylized_medium">
                  <a:extLst>
                    <a:ext uri="{FF2B5EF4-FFF2-40B4-BE49-F238E27FC236}">
                      <a16:creationId xmlns:a16="http://schemas.microsoft.com/office/drawing/2014/main" id="{68652FF9-3BA5-AD41-98E0-A222D63A4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5" name="Freeform 118">
                  <a:extLst>
                    <a:ext uri="{FF2B5EF4-FFF2-40B4-BE49-F238E27FC236}">
                      <a16:creationId xmlns:a16="http://schemas.microsoft.com/office/drawing/2014/main" id="{73D50490-21D8-7746-B97E-C2FE25CBD7BE}"/>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51" name="Group 119">
                <a:extLst>
                  <a:ext uri="{FF2B5EF4-FFF2-40B4-BE49-F238E27FC236}">
                    <a16:creationId xmlns:a16="http://schemas.microsoft.com/office/drawing/2014/main" id="{6E788993-C5DA-164F-9258-0CB775450A30}"/>
                  </a:ext>
                </a:extLst>
              </p:cNvPr>
              <p:cNvGrpSpPr>
                <a:grpSpLocks/>
              </p:cNvGrpSpPr>
              <p:nvPr/>
            </p:nvGrpSpPr>
            <p:grpSpPr bwMode="auto">
              <a:xfrm>
                <a:off x="1973" y="1100"/>
                <a:ext cx="212" cy="323"/>
                <a:chOff x="4140" y="429"/>
                <a:chExt cx="1425" cy="2396"/>
              </a:xfrm>
            </p:grpSpPr>
            <p:sp>
              <p:nvSpPr>
                <p:cNvPr id="452" name="Freeform 120">
                  <a:extLst>
                    <a:ext uri="{FF2B5EF4-FFF2-40B4-BE49-F238E27FC236}">
                      <a16:creationId xmlns:a16="http://schemas.microsoft.com/office/drawing/2014/main" id="{12CC2128-75E5-114A-937D-4B672A89AA2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53" name="Rectangle 121">
                  <a:extLst>
                    <a:ext uri="{FF2B5EF4-FFF2-40B4-BE49-F238E27FC236}">
                      <a16:creationId xmlns:a16="http://schemas.microsoft.com/office/drawing/2014/main" id="{F5C3491A-CD29-114C-A378-A2E414822C3C}"/>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54" name="Freeform 122">
                  <a:extLst>
                    <a:ext uri="{FF2B5EF4-FFF2-40B4-BE49-F238E27FC236}">
                      <a16:creationId xmlns:a16="http://schemas.microsoft.com/office/drawing/2014/main" id="{1FAF7C96-26AF-BC4C-8EE5-52686FB51F57}"/>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55" name="Freeform 123">
                  <a:extLst>
                    <a:ext uri="{FF2B5EF4-FFF2-40B4-BE49-F238E27FC236}">
                      <a16:creationId xmlns:a16="http://schemas.microsoft.com/office/drawing/2014/main" id="{F24EFDC4-D2B3-7440-A83B-52220A26C979}"/>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56" name="Rectangle 124">
                  <a:extLst>
                    <a:ext uri="{FF2B5EF4-FFF2-40B4-BE49-F238E27FC236}">
                      <a16:creationId xmlns:a16="http://schemas.microsoft.com/office/drawing/2014/main" id="{C738D1B1-14C3-F143-9286-716F3B0BC8CB}"/>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57" name="Group 125">
                  <a:extLst>
                    <a:ext uri="{FF2B5EF4-FFF2-40B4-BE49-F238E27FC236}">
                      <a16:creationId xmlns:a16="http://schemas.microsoft.com/office/drawing/2014/main" id="{1C9F2DD0-76F5-9945-A4A2-BFF420651D30}"/>
                    </a:ext>
                  </a:extLst>
                </p:cNvPr>
                <p:cNvGrpSpPr>
                  <a:grpSpLocks/>
                </p:cNvGrpSpPr>
                <p:nvPr/>
              </p:nvGrpSpPr>
              <p:grpSpPr bwMode="auto">
                <a:xfrm>
                  <a:off x="4749" y="668"/>
                  <a:ext cx="581" cy="145"/>
                  <a:chOff x="614" y="2568"/>
                  <a:chExt cx="725" cy="139"/>
                </a:xfrm>
              </p:grpSpPr>
              <p:sp>
                <p:nvSpPr>
                  <p:cNvPr id="482" name="AutoShape 126">
                    <a:extLst>
                      <a:ext uri="{FF2B5EF4-FFF2-40B4-BE49-F238E27FC236}">
                        <a16:creationId xmlns:a16="http://schemas.microsoft.com/office/drawing/2014/main" id="{C09A9BC4-E4D4-9740-8415-C18557F484B7}"/>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83" name="AutoShape 127">
                    <a:extLst>
                      <a:ext uri="{FF2B5EF4-FFF2-40B4-BE49-F238E27FC236}">
                        <a16:creationId xmlns:a16="http://schemas.microsoft.com/office/drawing/2014/main" id="{F3D70C92-E5D6-2E4F-8DCA-B1904F759DA4}"/>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58" name="Rectangle 128">
                  <a:extLst>
                    <a:ext uri="{FF2B5EF4-FFF2-40B4-BE49-F238E27FC236}">
                      <a16:creationId xmlns:a16="http://schemas.microsoft.com/office/drawing/2014/main" id="{722160C6-98E8-2849-92F6-C0477CF41C15}"/>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59" name="Group 129">
                  <a:extLst>
                    <a:ext uri="{FF2B5EF4-FFF2-40B4-BE49-F238E27FC236}">
                      <a16:creationId xmlns:a16="http://schemas.microsoft.com/office/drawing/2014/main" id="{5CF614C1-2FA4-194F-99CB-B59EBAA69627}"/>
                    </a:ext>
                  </a:extLst>
                </p:cNvPr>
                <p:cNvGrpSpPr>
                  <a:grpSpLocks/>
                </p:cNvGrpSpPr>
                <p:nvPr/>
              </p:nvGrpSpPr>
              <p:grpSpPr bwMode="auto">
                <a:xfrm>
                  <a:off x="4747" y="994"/>
                  <a:ext cx="581" cy="134"/>
                  <a:chOff x="614" y="2568"/>
                  <a:chExt cx="725" cy="139"/>
                </a:xfrm>
              </p:grpSpPr>
              <p:sp>
                <p:nvSpPr>
                  <p:cNvPr id="480" name="AutoShape 130">
                    <a:extLst>
                      <a:ext uri="{FF2B5EF4-FFF2-40B4-BE49-F238E27FC236}">
                        <a16:creationId xmlns:a16="http://schemas.microsoft.com/office/drawing/2014/main" id="{2DFF64EB-D097-2043-B088-40E31FBCA144}"/>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81" name="AutoShape 131">
                    <a:extLst>
                      <a:ext uri="{FF2B5EF4-FFF2-40B4-BE49-F238E27FC236}">
                        <a16:creationId xmlns:a16="http://schemas.microsoft.com/office/drawing/2014/main" id="{DF72C84E-59FE-844F-8A5B-E79C5EEA947F}"/>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60" name="Rectangle 132">
                  <a:extLst>
                    <a:ext uri="{FF2B5EF4-FFF2-40B4-BE49-F238E27FC236}">
                      <a16:creationId xmlns:a16="http://schemas.microsoft.com/office/drawing/2014/main" id="{0D34B495-F619-5744-92CE-02150CAEF02F}"/>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61" name="Rectangle 133">
                  <a:extLst>
                    <a:ext uri="{FF2B5EF4-FFF2-40B4-BE49-F238E27FC236}">
                      <a16:creationId xmlns:a16="http://schemas.microsoft.com/office/drawing/2014/main" id="{B289AC45-5AE1-8144-A213-D8D732FD9762}"/>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62" name="Group 134">
                  <a:extLst>
                    <a:ext uri="{FF2B5EF4-FFF2-40B4-BE49-F238E27FC236}">
                      <a16:creationId xmlns:a16="http://schemas.microsoft.com/office/drawing/2014/main" id="{1749D736-5D93-C94F-BEFF-83BA3C60704D}"/>
                    </a:ext>
                  </a:extLst>
                </p:cNvPr>
                <p:cNvGrpSpPr>
                  <a:grpSpLocks/>
                </p:cNvGrpSpPr>
                <p:nvPr/>
              </p:nvGrpSpPr>
              <p:grpSpPr bwMode="auto">
                <a:xfrm>
                  <a:off x="4735" y="1627"/>
                  <a:ext cx="582" cy="151"/>
                  <a:chOff x="614" y="2568"/>
                  <a:chExt cx="725" cy="139"/>
                </a:xfrm>
              </p:grpSpPr>
              <p:sp>
                <p:nvSpPr>
                  <p:cNvPr id="478" name="AutoShape 135">
                    <a:extLst>
                      <a:ext uri="{FF2B5EF4-FFF2-40B4-BE49-F238E27FC236}">
                        <a16:creationId xmlns:a16="http://schemas.microsoft.com/office/drawing/2014/main" id="{A0C2743E-C87A-D14C-85B5-A8F79F7531D4}"/>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79" name="AutoShape 136">
                    <a:extLst>
                      <a:ext uri="{FF2B5EF4-FFF2-40B4-BE49-F238E27FC236}">
                        <a16:creationId xmlns:a16="http://schemas.microsoft.com/office/drawing/2014/main" id="{9BD6DBA0-FC1C-254E-9398-6CCD7340CADE}"/>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63" name="Freeform 137">
                  <a:extLst>
                    <a:ext uri="{FF2B5EF4-FFF2-40B4-BE49-F238E27FC236}">
                      <a16:creationId xmlns:a16="http://schemas.microsoft.com/office/drawing/2014/main" id="{5440E4EF-7DC8-C948-8355-65BC2A778B02}"/>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64" name="Group 138">
                  <a:extLst>
                    <a:ext uri="{FF2B5EF4-FFF2-40B4-BE49-F238E27FC236}">
                      <a16:creationId xmlns:a16="http://schemas.microsoft.com/office/drawing/2014/main" id="{5E633347-2A45-9548-B218-3565A9B3D215}"/>
                    </a:ext>
                  </a:extLst>
                </p:cNvPr>
                <p:cNvGrpSpPr>
                  <a:grpSpLocks/>
                </p:cNvGrpSpPr>
                <p:nvPr/>
              </p:nvGrpSpPr>
              <p:grpSpPr bwMode="auto">
                <a:xfrm>
                  <a:off x="4739" y="1327"/>
                  <a:ext cx="582" cy="139"/>
                  <a:chOff x="614" y="2568"/>
                  <a:chExt cx="725" cy="139"/>
                </a:xfrm>
              </p:grpSpPr>
              <p:sp>
                <p:nvSpPr>
                  <p:cNvPr id="476" name="AutoShape 139">
                    <a:extLst>
                      <a:ext uri="{FF2B5EF4-FFF2-40B4-BE49-F238E27FC236}">
                        <a16:creationId xmlns:a16="http://schemas.microsoft.com/office/drawing/2014/main" id="{0F545573-C3F3-7D4F-8E2E-057960582DC3}"/>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77" name="AutoShape 140">
                    <a:extLst>
                      <a:ext uri="{FF2B5EF4-FFF2-40B4-BE49-F238E27FC236}">
                        <a16:creationId xmlns:a16="http://schemas.microsoft.com/office/drawing/2014/main" id="{2B38E4F6-9B20-FE41-8688-9F827513A800}"/>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65" name="Rectangle 141">
                  <a:extLst>
                    <a:ext uri="{FF2B5EF4-FFF2-40B4-BE49-F238E27FC236}">
                      <a16:creationId xmlns:a16="http://schemas.microsoft.com/office/drawing/2014/main" id="{0ADB7777-054A-3B42-99E1-AA3880CEBF4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66" name="Freeform 142">
                  <a:extLst>
                    <a:ext uri="{FF2B5EF4-FFF2-40B4-BE49-F238E27FC236}">
                      <a16:creationId xmlns:a16="http://schemas.microsoft.com/office/drawing/2014/main" id="{851EFEA0-9F99-9D45-BDD9-05781330AA68}"/>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7" name="Freeform 143">
                  <a:extLst>
                    <a:ext uri="{FF2B5EF4-FFF2-40B4-BE49-F238E27FC236}">
                      <a16:creationId xmlns:a16="http://schemas.microsoft.com/office/drawing/2014/main" id="{D46DD2F0-137E-7246-8429-922D11398E36}"/>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68" name="Oval 144">
                  <a:extLst>
                    <a:ext uri="{FF2B5EF4-FFF2-40B4-BE49-F238E27FC236}">
                      <a16:creationId xmlns:a16="http://schemas.microsoft.com/office/drawing/2014/main" id="{6D2FDB16-DD50-754D-B173-29B81535A1D0}"/>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69" name="Freeform 145">
                  <a:extLst>
                    <a:ext uri="{FF2B5EF4-FFF2-40B4-BE49-F238E27FC236}">
                      <a16:creationId xmlns:a16="http://schemas.microsoft.com/office/drawing/2014/main" id="{7D62A206-5CA0-E947-82FC-8F081AA926B0}"/>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0" name="AutoShape 146">
                  <a:extLst>
                    <a:ext uri="{FF2B5EF4-FFF2-40B4-BE49-F238E27FC236}">
                      <a16:creationId xmlns:a16="http://schemas.microsoft.com/office/drawing/2014/main" id="{FD0F85B5-11E0-7445-9862-BC483A492BC8}"/>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71" name="AutoShape 147">
                  <a:extLst>
                    <a:ext uri="{FF2B5EF4-FFF2-40B4-BE49-F238E27FC236}">
                      <a16:creationId xmlns:a16="http://schemas.microsoft.com/office/drawing/2014/main" id="{67E0531B-2E65-AF43-9DB9-355885A8BFB3}"/>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72" name="Oval 148">
                  <a:extLst>
                    <a:ext uri="{FF2B5EF4-FFF2-40B4-BE49-F238E27FC236}">
                      <a16:creationId xmlns:a16="http://schemas.microsoft.com/office/drawing/2014/main" id="{64B5B35B-452E-FD4C-ACFF-7D475CD7D3D3}"/>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73" name="Oval 149">
                  <a:extLst>
                    <a:ext uri="{FF2B5EF4-FFF2-40B4-BE49-F238E27FC236}">
                      <a16:creationId xmlns:a16="http://schemas.microsoft.com/office/drawing/2014/main" id="{A4534FEA-4A8B-8A42-8930-71A153E19C7E}"/>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74" name="Oval 150">
                  <a:extLst>
                    <a:ext uri="{FF2B5EF4-FFF2-40B4-BE49-F238E27FC236}">
                      <a16:creationId xmlns:a16="http://schemas.microsoft.com/office/drawing/2014/main" id="{D6E50F70-5ED2-3344-A7D3-F9408B324055}"/>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75" name="Rectangle 151">
                  <a:extLst>
                    <a:ext uri="{FF2B5EF4-FFF2-40B4-BE49-F238E27FC236}">
                      <a16:creationId xmlns:a16="http://schemas.microsoft.com/office/drawing/2014/main" id="{7B699B0E-7FA7-A24C-814D-12D1D823F816}"/>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sp>
          <p:nvSpPr>
            <p:cNvPr id="428" name="Oval 159">
              <a:extLst>
                <a:ext uri="{FF2B5EF4-FFF2-40B4-BE49-F238E27FC236}">
                  <a16:creationId xmlns:a16="http://schemas.microsoft.com/office/drawing/2014/main" id="{8AE68307-4F03-0042-965E-5D84FCC3C3EB}"/>
                </a:ext>
              </a:extLst>
            </p:cNvPr>
            <p:cNvSpPr>
              <a:spLocks noChangeArrowheads="1"/>
            </p:cNvSpPr>
            <p:nvPr/>
          </p:nvSpPr>
          <p:spPr bwMode="auto">
            <a:xfrm>
              <a:off x="1416094" y="3893738"/>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429" name="Line 169">
              <a:extLst>
                <a:ext uri="{FF2B5EF4-FFF2-40B4-BE49-F238E27FC236}">
                  <a16:creationId xmlns:a16="http://schemas.microsoft.com/office/drawing/2014/main" id="{28EC4C67-0BE3-D54D-926D-9B81AED1C0D5}"/>
                </a:ext>
              </a:extLst>
            </p:cNvPr>
            <p:cNvSpPr>
              <a:spLocks noChangeShapeType="1"/>
            </p:cNvSpPr>
            <p:nvPr/>
          </p:nvSpPr>
          <p:spPr bwMode="auto">
            <a:xfrm>
              <a:off x="1511344" y="3966763"/>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0" name="Rectangle 170">
              <a:extLst>
                <a:ext uri="{FF2B5EF4-FFF2-40B4-BE49-F238E27FC236}">
                  <a16:creationId xmlns:a16="http://schemas.microsoft.com/office/drawing/2014/main" id="{B8AFD2C9-C151-F748-8B96-E389535E32BE}"/>
                </a:ext>
              </a:extLst>
            </p:cNvPr>
            <p:cNvSpPr>
              <a:spLocks noChangeArrowheads="1"/>
            </p:cNvSpPr>
            <p:nvPr/>
          </p:nvSpPr>
          <p:spPr bwMode="auto">
            <a:xfrm>
              <a:off x="1828844" y="3952476"/>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1" name="Text Box 171">
              <a:extLst>
                <a:ext uri="{FF2B5EF4-FFF2-40B4-BE49-F238E27FC236}">
                  <a16:creationId xmlns:a16="http://schemas.microsoft.com/office/drawing/2014/main" id="{E48C6C06-1970-9949-B718-68B9AD5B435E}"/>
                </a:ext>
              </a:extLst>
            </p:cNvPr>
            <p:cNvSpPr txBox="1">
              <a:spLocks noChangeArrowheads="1"/>
            </p:cNvSpPr>
            <p:nvPr/>
          </p:nvSpPr>
          <p:spPr bwMode="auto">
            <a:xfrm>
              <a:off x="1689144" y="3919138"/>
              <a:ext cx="1092200"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sp>
          <p:nvSpPr>
            <p:cNvPr id="432" name="Oval 172">
              <a:extLst>
                <a:ext uri="{FF2B5EF4-FFF2-40B4-BE49-F238E27FC236}">
                  <a16:creationId xmlns:a16="http://schemas.microsoft.com/office/drawing/2014/main" id="{C551802D-96E3-F942-A271-44B93EF7D61C}"/>
                </a:ext>
              </a:extLst>
            </p:cNvPr>
            <p:cNvSpPr>
              <a:spLocks noChangeArrowheads="1"/>
            </p:cNvSpPr>
            <p:nvPr/>
          </p:nvSpPr>
          <p:spPr bwMode="auto">
            <a:xfrm>
              <a:off x="2960731" y="4250926"/>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433" name="Text Box 173">
              <a:extLst>
                <a:ext uri="{FF2B5EF4-FFF2-40B4-BE49-F238E27FC236}">
                  <a16:creationId xmlns:a16="http://schemas.microsoft.com/office/drawing/2014/main" id="{D76C6664-0DFF-6847-8C91-9630B8CABF4C}"/>
                </a:ext>
              </a:extLst>
            </p:cNvPr>
            <p:cNvSpPr txBox="1">
              <a:spLocks noChangeArrowheads="1"/>
            </p:cNvSpPr>
            <p:nvPr/>
          </p:nvSpPr>
          <p:spPr bwMode="auto">
            <a:xfrm>
              <a:off x="3119481" y="4011213"/>
              <a:ext cx="1171575" cy="50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accept</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grpSp>
          <p:nvGrpSpPr>
            <p:cNvPr id="434" name="Group 433">
              <a:extLst>
                <a:ext uri="{FF2B5EF4-FFF2-40B4-BE49-F238E27FC236}">
                  <a16:creationId xmlns:a16="http://schemas.microsoft.com/office/drawing/2014/main" id="{7800DC3B-8637-C445-B46C-B1F234EAAAF7}"/>
                </a:ext>
              </a:extLst>
            </p:cNvPr>
            <p:cNvGrpSpPr/>
            <p:nvPr/>
          </p:nvGrpSpPr>
          <p:grpSpPr>
            <a:xfrm flipH="1">
              <a:off x="1449388" y="4279047"/>
              <a:ext cx="1539875" cy="390924"/>
              <a:chOff x="796245" y="5993547"/>
              <a:chExt cx="1539875" cy="390924"/>
            </a:xfrm>
          </p:grpSpPr>
          <p:sp>
            <p:nvSpPr>
              <p:cNvPr id="436" name="Line 169">
                <a:extLst>
                  <a:ext uri="{FF2B5EF4-FFF2-40B4-BE49-F238E27FC236}">
                    <a16:creationId xmlns:a16="http://schemas.microsoft.com/office/drawing/2014/main" id="{DF8AED72-CC03-D141-BF1D-CDBAD8CFF041}"/>
                  </a:ext>
                </a:extLst>
              </p:cNvPr>
              <p:cNvSpPr>
                <a:spLocks noChangeShapeType="1"/>
              </p:cNvSpPr>
              <p:nvPr/>
            </p:nvSpPr>
            <p:spPr bwMode="auto">
              <a:xfrm>
                <a:off x="796245" y="6007834"/>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7" name="Rectangle 170">
                <a:extLst>
                  <a:ext uri="{FF2B5EF4-FFF2-40B4-BE49-F238E27FC236}">
                    <a16:creationId xmlns:a16="http://schemas.microsoft.com/office/drawing/2014/main" id="{629240BC-A74F-6E49-91FA-059AA1C94494}"/>
                  </a:ext>
                </a:extLst>
              </p:cNvPr>
              <p:cNvSpPr>
                <a:spLocks noChangeArrowheads="1"/>
              </p:cNvSpPr>
              <p:nvPr/>
            </p:nvSpPr>
            <p:spPr bwMode="auto">
              <a:xfrm>
                <a:off x="1113745" y="5993547"/>
                <a:ext cx="859292" cy="39092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8" name="Oval 172">
                <a:extLst>
                  <a:ext uri="{FF2B5EF4-FFF2-40B4-BE49-F238E27FC236}">
                    <a16:creationId xmlns:a16="http://schemas.microsoft.com/office/drawing/2014/main" id="{A155E5ED-674B-0544-A028-085A5AD95F12}"/>
                  </a:ext>
                </a:extLst>
              </p:cNvPr>
              <p:cNvSpPr>
                <a:spLocks noChangeArrowheads="1"/>
              </p:cNvSpPr>
              <p:nvPr/>
            </p:nvSpPr>
            <p:spPr bwMode="auto">
              <a:xfrm>
                <a:off x="2245632" y="6291997"/>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grpSp>
        <p:sp>
          <p:nvSpPr>
            <p:cNvPr id="435" name="Text Box 171">
              <a:extLst>
                <a:ext uri="{FF2B5EF4-FFF2-40B4-BE49-F238E27FC236}">
                  <a16:creationId xmlns:a16="http://schemas.microsoft.com/office/drawing/2014/main" id="{F73380DB-6861-6B4E-B8D4-43FE3C783476}"/>
                </a:ext>
              </a:extLst>
            </p:cNvPr>
            <p:cNvSpPr txBox="1">
              <a:spLocks noChangeArrowheads="1"/>
            </p:cNvSpPr>
            <p:nvPr/>
          </p:nvSpPr>
          <p:spPr bwMode="auto">
            <a:xfrm>
              <a:off x="1735694" y="4283529"/>
              <a:ext cx="1071127" cy="338554"/>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ACK(x+1)</a:t>
              </a:r>
            </a:p>
          </p:txBody>
        </p:sp>
      </p:grpSp>
      <p:grpSp>
        <p:nvGrpSpPr>
          <p:cNvPr id="9" name="Group 8">
            <a:extLst>
              <a:ext uri="{FF2B5EF4-FFF2-40B4-BE49-F238E27FC236}">
                <a16:creationId xmlns:a16="http://schemas.microsoft.com/office/drawing/2014/main" id="{A4CB8012-D87E-F547-97B0-03323A38506E}"/>
              </a:ext>
            </a:extLst>
          </p:cNvPr>
          <p:cNvGrpSpPr/>
          <p:nvPr/>
        </p:nvGrpSpPr>
        <p:grpSpPr>
          <a:xfrm>
            <a:off x="1273629" y="5146706"/>
            <a:ext cx="1773114" cy="1003723"/>
            <a:chOff x="1273629" y="5146706"/>
            <a:chExt cx="1773114" cy="1003723"/>
          </a:xfrm>
        </p:grpSpPr>
        <p:sp>
          <p:nvSpPr>
            <p:cNvPr id="4" name="TextBox 3">
              <a:extLst>
                <a:ext uri="{FF2B5EF4-FFF2-40B4-BE49-F238E27FC236}">
                  <a16:creationId xmlns:a16="http://schemas.microsoft.com/office/drawing/2014/main" id="{BDFF0F55-D08F-1344-9B87-5BCA4686A75C}"/>
                </a:ext>
              </a:extLst>
            </p:cNvPr>
            <p:cNvSpPr txBox="1"/>
            <p:nvPr/>
          </p:nvSpPr>
          <p:spPr>
            <a:xfrm>
              <a:off x="1273629" y="5146706"/>
              <a:ext cx="17731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No problem!</a:t>
              </a:r>
            </a:p>
          </p:txBody>
        </p:sp>
        <p:pic>
          <p:nvPicPr>
            <p:cNvPr id="6" name="Picture 5" descr="A picture containing drawing&#10;&#10;Description automatically generated">
              <a:extLst>
                <a:ext uri="{FF2B5EF4-FFF2-40B4-BE49-F238E27FC236}">
                  <a16:creationId xmlns:a16="http://schemas.microsoft.com/office/drawing/2014/main" id="{4F95E370-82E9-0D41-AB1B-B42B590C4566}"/>
                </a:ext>
              </a:extLst>
            </p:cNvPr>
            <p:cNvPicPr>
              <a:picLocks noChangeAspect="1"/>
            </p:cNvPicPr>
            <p:nvPr/>
          </p:nvPicPr>
          <p:blipFill>
            <a:blip r:embed="rId4"/>
            <a:stretch>
              <a:fillRect/>
            </a:stretch>
          </p:blipFill>
          <p:spPr>
            <a:xfrm>
              <a:off x="1812470" y="5524500"/>
              <a:ext cx="625929" cy="625929"/>
            </a:xfrm>
            <a:prstGeom prst="rect">
              <a:avLst/>
            </a:prstGeom>
          </p:spPr>
        </p:pic>
      </p:grpSp>
      <p:sp>
        <p:nvSpPr>
          <p:cNvPr id="73" name="Slide Number Placeholder 2">
            <a:extLst>
              <a:ext uri="{FF2B5EF4-FFF2-40B4-BE49-F238E27FC236}">
                <a16:creationId xmlns:a16="http://schemas.microsoft.com/office/drawing/2014/main" id="{26201937-A24A-454E-B97D-9D841DC2449E}"/>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30</a:t>
            </a:fld>
            <a:endParaRPr lang="en-US" dirty="0"/>
          </a:p>
        </p:txBody>
      </p:sp>
    </p:spTree>
    <p:extLst>
      <p:ext uri="{BB962C8B-B14F-4D97-AF65-F5344CB8AC3E}">
        <p14:creationId xmlns:p14="http://schemas.microsoft.com/office/powerpoint/2010/main" val="7154784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9" presetClass="exit" presetSubtype="0" fill="hold" nodeType="withEffect">
                                  <p:stCondLst>
                                    <p:cond delay="0"/>
                                  </p:stCondLst>
                                  <p:childTnLst>
                                    <p:animEffect transition="out" filter="dissolve">
                                      <p:cBhvr>
                                        <p:cTn id="9" dur="500"/>
                                        <p:tgtEl>
                                          <p:spTgt spid="423"/>
                                        </p:tgtEl>
                                      </p:cBhvr>
                                    </p:animEffect>
                                    <p:set>
                                      <p:cBhvr>
                                        <p:cTn id="10" dur="1" fill="hold">
                                          <p:stCondLst>
                                            <p:cond delay="499"/>
                                          </p:stCondLst>
                                        </p:cTn>
                                        <p:tgtEl>
                                          <p:spTgt spid="423"/>
                                        </p:tgtEl>
                                        <p:attrNameLst>
                                          <p:attrName>style.visibility</p:attrName>
                                        </p:attrNameLst>
                                      </p:cBhvr>
                                      <p:to>
                                        <p:strVal val="hidden"/>
                                      </p:to>
                                    </p:set>
                                  </p:childTnLst>
                                </p:cTn>
                              </p:par>
                              <p:par>
                                <p:cTn id="11" presetID="9" presetClass="exit" presetSubtype="0" fill="hold" nodeType="withEffect">
                                  <p:stCondLst>
                                    <p:cond delay="0"/>
                                  </p:stCondLst>
                                  <p:childTnLst>
                                    <p:animEffect transition="out" filter="dissolv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2-way handshake scenarios</a:t>
            </a:r>
          </a:p>
        </p:txBody>
      </p:sp>
      <p:grpSp>
        <p:nvGrpSpPr>
          <p:cNvPr id="3" name="Group 2">
            <a:extLst>
              <a:ext uri="{FF2B5EF4-FFF2-40B4-BE49-F238E27FC236}">
                <a16:creationId xmlns:a16="http://schemas.microsoft.com/office/drawing/2014/main" id="{9CAAA66F-65EC-E34C-8D40-259E21717735}"/>
              </a:ext>
            </a:extLst>
          </p:cNvPr>
          <p:cNvGrpSpPr/>
          <p:nvPr/>
        </p:nvGrpSpPr>
        <p:grpSpPr>
          <a:xfrm>
            <a:off x="5262108" y="1983508"/>
            <a:ext cx="1530350" cy="4033838"/>
            <a:chOff x="5276623" y="2475192"/>
            <a:chExt cx="1530350" cy="4033838"/>
          </a:xfrm>
        </p:grpSpPr>
        <p:sp>
          <p:nvSpPr>
            <p:cNvPr id="279" name="Line 25">
              <a:extLst>
                <a:ext uri="{FF2B5EF4-FFF2-40B4-BE49-F238E27FC236}">
                  <a16:creationId xmlns:a16="http://schemas.microsoft.com/office/drawing/2014/main" id="{BC6653C1-9562-C643-B0CA-B2050012CB3F}"/>
                </a:ext>
              </a:extLst>
            </p:cNvPr>
            <p:cNvSpPr>
              <a:spLocks noChangeShapeType="1"/>
            </p:cNvSpPr>
            <p:nvPr/>
          </p:nvSpPr>
          <p:spPr bwMode="auto">
            <a:xfrm flipH="1">
              <a:off x="5276623" y="2475192"/>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80" name="Line 39">
              <a:extLst>
                <a:ext uri="{FF2B5EF4-FFF2-40B4-BE49-F238E27FC236}">
                  <a16:creationId xmlns:a16="http://schemas.microsoft.com/office/drawing/2014/main" id="{315091FE-FBA3-1544-BB24-018D1D00254A}"/>
                </a:ext>
              </a:extLst>
            </p:cNvPr>
            <p:cNvSpPr>
              <a:spLocks noChangeShapeType="1"/>
            </p:cNvSpPr>
            <p:nvPr/>
          </p:nvSpPr>
          <p:spPr bwMode="auto">
            <a:xfrm flipH="1">
              <a:off x="6805386" y="2548217"/>
              <a:ext cx="1587" cy="3960813"/>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7" name="Group 6">
            <a:extLst>
              <a:ext uri="{FF2B5EF4-FFF2-40B4-BE49-F238E27FC236}">
                <a16:creationId xmlns:a16="http://schemas.microsoft.com/office/drawing/2014/main" id="{D58C52DC-C8FA-4944-8CC4-85815AC982E1}"/>
              </a:ext>
            </a:extLst>
          </p:cNvPr>
          <p:cNvGrpSpPr/>
          <p:nvPr/>
        </p:nvGrpSpPr>
        <p:grpSpPr>
          <a:xfrm>
            <a:off x="6768421" y="5356225"/>
            <a:ext cx="847724" cy="336550"/>
            <a:chOff x="11151735" y="5148718"/>
            <a:chExt cx="847724" cy="336550"/>
          </a:xfrm>
        </p:grpSpPr>
        <p:sp>
          <p:nvSpPr>
            <p:cNvPr id="284" name="Text Box 44">
              <a:extLst>
                <a:ext uri="{FF2B5EF4-FFF2-40B4-BE49-F238E27FC236}">
                  <a16:creationId xmlns:a16="http://schemas.microsoft.com/office/drawing/2014/main" id="{44C9896B-08D9-DD4F-A1D1-E6EE31E997B0}"/>
                </a:ext>
              </a:extLst>
            </p:cNvPr>
            <p:cNvSpPr txBox="1">
              <a:spLocks noChangeArrowheads="1"/>
            </p:cNvSpPr>
            <p:nvPr/>
          </p:nvSpPr>
          <p:spPr bwMode="auto">
            <a:xfrm>
              <a:off x="11227935" y="5148718"/>
              <a:ext cx="771524"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285" name="Oval 45">
              <a:extLst>
                <a:ext uri="{FF2B5EF4-FFF2-40B4-BE49-F238E27FC236}">
                  <a16:creationId xmlns:a16="http://schemas.microsoft.com/office/drawing/2014/main" id="{523A6BAB-2B5B-8B48-B14C-CD5B3206CAA2}"/>
                </a:ext>
              </a:extLst>
            </p:cNvPr>
            <p:cNvSpPr>
              <a:spLocks noChangeArrowheads="1"/>
            </p:cNvSpPr>
            <p:nvPr/>
          </p:nvSpPr>
          <p:spPr bwMode="auto">
            <a:xfrm>
              <a:off x="11151735" y="5275718"/>
              <a:ext cx="90487"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grpSp>
      <p:grpSp>
        <p:nvGrpSpPr>
          <p:cNvPr id="5" name="Group 4">
            <a:extLst>
              <a:ext uri="{FF2B5EF4-FFF2-40B4-BE49-F238E27FC236}">
                <a16:creationId xmlns:a16="http://schemas.microsoft.com/office/drawing/2014/main" id="{BF5066A4-7FFD-3447-A085-E135DC48118A}"/>
              </a:ext>
            </a:extLst>
          </p:cNvPr>
          <p:cNvGrpSpPr/>
          <p:nvPr/>
        </p:nvGrpSpPr>
        <p:grpSpPr>
          <a:xfrm>
            <a:off x="3998688" y="2674935"/>
            <a:ext cx="2841623" cy="2849565"/>
            <a:chOff x="8352974" y="2492829"/>
            <a:chExt cx="2841623" cy="2849565"/>
          </a:xfrm>
        </p:grpSpPr>
        <p:sp>
          <p:nvSpPr>
            <p:cNvPr id="282" name="Text Box 42">
              <a:extLst>
                <a:ext uri="{FF2B5EF4-FFF2-40B4-BE49-F238E27FC236}">
                  <a16:creationId xmlns:a16="http://schemas.microsoft.com/office/drawing/2014/main" id="{8B0E3738-2A2C-C540-B07D-16F35D1B7460}"/>
                </a:ext>
              </a:extLst>
            </p:cNvPr>
            <p:cNvSpPr txBox="1">
              <a:spLocks noChangeArrowheads="1"/>
            </p:cNvSpPr>
            <p:nvPr/>
          </p:nvSpPr>
          <p:spPr bwMode="auto">
            <a:xfrm>
              <a:off x="8352974" y="2492829"/>
              <a:ext cx="1273174"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retransmit</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req_conn(x)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3" name="Freeform 43">
              <a:extLst>
                <a:ext uri="{FF2B5EF4-FFF2-40B4-BE49-F238E27FC236}">
                  <a16:creationId xmlns:a16="http://schemas.microsoft.com/office/drawing/2014/main" id="{528F5849-C9BA-364B-BBF1-086991584A75}"/>
                </a:ext>
              </a:extLst>
            </p:cNvPr>
            <p:cNvSpPr>
              <a:spLocks/>
            </p:cNvSpPr>
            <p:nvPr/>
          </p:nvSpPr>
          <p:spPr bwMode="auto">
            <a:xfrm>
              <a:off x="9667423" y="2783342"/>
              <a:ext cx="1527174" cy="255905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86" name="Group 46">
              <a:extLst>
                <a:ext uri="{FF2B5EF4-FFF2-40B4-BE49-F238E27FC236}">
                  <a16:creationId xmlns:a16="http://schemas.microsoft.com/office/drawing/2014/main" id="{3F65A0FD-93D7-FE4A-976F-9F9685E790A3}"/>
                </a:ext>
              </a:extLst>
            </p:cNvPr>
            <p:cNvGrpSpPr>
              <a:grpSpLocks/>
            </p:cNvGrpSpPr>
            <p:nvPr/>
          </p:nvGrpSpPr>
          <p:grpSpPr bwMode="auto">
            <a:xfrm>
              <a:off x="9764261" y="3386592"/>
              <a:ext cx="1273174" cy="336550"/>
              <a:chOff x="1065" y="2085"/>
              <a:chExt cx="802" cy="212"/>
            </a:xfrm>
          </p:grpSpPr>
          <p:sp>
            <p:nvSpPr>
              <p:cNvPr id="288" name="Rectangle 47">
                <a:extLst>
                  <a:ext uri="{FF2B5EF4-FFF2-40B4-BE49-F238E27FC236}">
                    <a16:creationId xmlns:a16="http://schemas.microsoft.com/office/drawing/2014/main" id="{528CC805-3663-4846-BF33-966C0CEBEFDC}"/>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9" name="Text Box 48">
                <a:extLst>
                  <a:ext uri="{FF2B5EF4-FFF2-40B4-BE49-F238E27FC236}">
                    <a16:creationId xmlns:a16="http://schemas.microsoft.com/office/drawing/2014/main" id="{37D76C29-568C-6D4B-A1D0-D37EBE61CD72}"/>
                  </a:ext>
                </a:extLst>
              </p:cNvPr>
              <p:cNvSpPr txBox="1">
                <a:spLocks noChangeArrowheads="1"/>
              </p:cNvSpPr>
              <p:nvPr/>
            </p:nvSpPr>
            <p:spPr bwMode="auto">
              <a:xfrm>
                <a:off x="1065" y="2085"/>
                <a:ext cx="802"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req_conn(x)</a:t>
                </a:r>
              </a:p>
            </p:txBody>
          </p:sp>
        </p:grpSp>
      </p:grpSp>
      <p:grpSp>
        <p:nvGrpSpPr>
          <p:cNvPr id="290" name="Group 93">
            <a:extLst>
              <a:ext uri="{FF2B5EF4-FFF2-40B4-BE49-F238E27FC236}">
                <a16:creationId xmlns:a16="http://schemas.microsoft.com/office/drawing/2014/main" id="{86B69F27-A994-CA47-985C-04430FA1972B}"/>
              </a:ext>
            </a:extLst>
          </p:cNvPr>
          <p:cNvGrpSpPr>
            <a:grpSpLocks/>
          </p:cNvGrpSpPr>
          <p:nvPr/>
        </p:nvGrpSpPr>
        <p:grpSpPr bwMode="auto">
          <a:xfrm>
            <a:off x="4105048" y="4123231"/>
            <a:ext cx="3830638" cy="715962"/>
            <a:chOff x="406" y="2807"/>
            <a:chExt cx="2413" cy="451"/>
          </a:xfrm>
        </p:grpSpPr>
        <p:sp>
          <p:nvSpPr>
            <p:cNvPr id="291" name="Line 40">
              <a:extLst>
                <a:ext uri="{FF2B5EF4-FFF2-40B4-BE49-F238E27FC236}">
                  <a16:creationId xmlns:a16="http://schemas.microsoft.com/office/drawing/2014/main" id="{C5AE8131-69E2-444B-8BC2-5C71A372218D}"/>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92" name="Text Box 83">
              <a:extLst>
                <a:ext uri="{FF2B5EF4-FFF2-40B4-BE49-F238E27FC236}">
                  <a16:creationId xmlns:a16="http://schemas.microsoft.com/office/drawing/2014/main" id="{8DBECFE4-76F0-AB4E-B789-A21C0EFCB611}"/>
                </a:ext>
              </a:extLst>
            </p:cNvPr>
            <p:cNvSpPr txBox="1">
              <a:spLocks noChangeArrowheads="1"/>
            </p:cNvSpPr>
            <p:nvPr/>
          </p:nvSpPr>
          <p:spPr bwMode="auto">
            <a:xfrm>
              <a:off x="406" y="2937"/>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client terminates</a:t>
              </a:r>
            </a:p>
          </p:txBody>
        </p:sp>
        <p:sp>
          <p:nvSpPr>
            <p:cNvPr id="293" name="Text Box 84">
              <a:extLst>
                <a:ext uri="{FF2B5EF4-FFF2-40B4-BE49-F238E27FC236}">
                  <a16:creationId xmlns:a16="http://schemas.microsoft.com/office/drawing/2014/main" id="{01770E8E-591E-3449-B45B-86CFA7116170}"/>
                </a:ext>
              </a:extLst>
            </p:cNvPr>
            <p:cNvSpPr txBox="1">
              <a:spLocks noChangeArrowheads="1"/>
            </p:cNvSpPr>
            <p:nvPr/>
          </p:nvSpPr>
          <p:spPr bwMode="auto">
            <a:xfrm>
              <a:off x="2081" y="2938"/>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server</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forgets x</a:t>
              </a:r>
            </a:p>
          </p:txBody>
        </p:sp>
        <p:sp>
          <p:nvSpPr>
            <p:cNvPr id="294" name="Text Box 85">
              <a:extLst>
                <a:ext uri="{FF2B5EF4-FFF2-40B4-BE49-F238E27FC236}">
                  <a16:creationId xmlns:a16="http://schemas.microsoft.com/office/drawing/2014/main" id="{6398E97B-6925-E144-A17A-19BDFF67AF27}"/>
                </a:ext>
              </a:extLst>
            </p:cNvPr>
            <p:cNvSpPr txBox="1">
              <a:spLocks noChangeArrowheads="1"/>
            </p:cNvSpPr>
            <p:nvPr/>
          </p:nvSpPr>
          <p:spPr bwMode="auto">
            <a:xfrm>
              <a:off x="1269" y="2807"/>
              <a:ext cx="706" cy="3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x completes</a:t>
              </a:r>
            </a:p>
          </p:txBody>
        </p:sp>
      </p:grpSp>
      <p:grpSp>
        <p:nvGrpSpPr>
          <p:cNvPr id="12" name="Group 11">
            <a:extLst>
              <a:ext uri="{FF2B5EF4-FFF2-40B4-BE49-F238E27FC236}">
                <a16:creationId xmlns:a16="http://schemas.microsoft.com/office/drawing/2014/main" id="{09A60973-A80A-204A-B7D6-FB475901ED33}"/>
              </a:ext>
            </a:extLst>
          </p:cNvPr>
          <p:cNvGrpSpPr/>
          <p:nvPr/>
        </p:nvGrpSpPr>
        <p:grpSpPr>
          <a:xfrm>
            <a:off x="4222070" y="1980106"/>
            <a:ext cx="3389313" cy="1671637"/>
            <a:chOff x="7865155" y="1602735"/>
            <a:chExt cx="3389313" cy="1671637"/>
          </a:xfrm>
        </p:grpSpPr>
        <p:sp>
          <p:nvSpPr>
            <p:cNvPr id="308" name="Text Box 103">
              <a:extLst>
                <a:ext uri="{FF2B5EF4-FFF2-40B4-BE49-F238E27FC236}">
                  <a16:creationId xmlns:a16="http://schemas.microsoft.com/office/drawing/2014/main" id="{27DD0EE7-74A0-A142-919B-D9D3C93523C2}"/>
                </a:ext>
              </a:extLst>
            </p:cNvPr>
            <p:cNvSpPr txBox="1">
              <a:spLocks noChangeArrowheads="1"/>
            </p:cNvSpPr>
            <p:nvPr/>
          </p:nvSpPr>
          <p:spPr bwMode="auto">
            <a:xfrm>
              <a:off x="7865155" y="1602735"/>
              <a:ext cx="973138" cy="581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9" name="Line 104">
              <a:extLst>
                <a:ext uri="{FF2B5EF4-FFF2-40B4-BE49-F238E27FC236}">
                  <a16:creationId xmlns:a16="http://schemas.microsoft.com/office/drawing/2014/main" id="{1CA9B668-6F05-1A48-9C2A-8D882F798CE6}"/>
                </a:ext>
              </a:extLst>
            </p:cNvPr>
            <p:cNvSpPr>
              <a:spLocks noChangeShapeType="1"/>
            </p:cNvSpPr>
            <p:nvPr/>
          </p:nvSpPr>
          <p:spPr bwMode="auto">
            <a:xfrm>
              <a:off x="8936718" y="1797997"/>
              <a:ext cx="1479550" cy="3159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0" name="Line 105">
              <a:extLst>
                <a:ext uri="{FF2B5EF4-FFF2-40B4-BE49-F238E27FC236}">
                  <a16:creationId xmlns:a16="http://schemas.microsoft.com/office/drawing/2014/main" id="{419290E8-9A2F-1349-8BDC-8DFEA6A57E20}"/>
                </a:ext>
              </a:extLst>
            </p:cNvPr>
            <p:cNvSpPr>
              <a:spLocks noChangeShapeType="1"/>
            </p:cNvSpPr>
            <p:nvPr/>
          </p:nvSpPr>
          <p:spPr bwMode="auto">
            <a:xfrm flipH="1">
              <a:off x="8876393" y="2152010"/>
              <a:ext cx="1571625" cy="95567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1" name="Rectangle 106">
              <a:extLst>
                <a:ext uri="{FF2B5EF4-FFF2-40B4-BE49-F238E27FC236}">
                  <a16:creationId xmlns:a16="http://schemas.microsoft.com/office/drawing/2014/main" id="{6E5822A0-BC34-8444-893D-1967BA1DAE48}"/>
                </a:ext>
              </a:extLst>
            </p:cNvPr>
            <p:cNvSpPr>
              <a:spLocks noChangeArrowheads="1"/>
            </p:cNvSpPr>
            <p:nvPr/>
          </p:nvSpPr>
          <p:spPr bwMode="auto">
            <a:xfrm>
              <a:off x="9254218" y="1783710"/>
              <a:ext cx="777875"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2" name="Text Box 107">
              <a:extLst>
                <a:ext uri="{FF2B5EF4-FFF2-40B4-BE49-F238E27FC236}">
                  <a16:creationId xmlns:a16="http://schemas.microsoft.com/office/drawing/2014/main" id="{743E92F5-482D-6641-AF59-6202AD0ABFAD}"/>
                </a:ext>
              </a:extLst>
            </p:cNvPr>
            <p:cNvSpPr txBox="1">
              <a:spLocks noChangeArrowheads="1"/>
            </p:cNvSpPr>
            <p:nvPr/>
          </p:nvSpPr>
          <p:spPr bwMode="auto">
            <a:xfrm>
              <a:off x="9024030" y="1750372"/>
              <a:ext cx="1273175"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req_conn(x)</a:t>
              </a:r>
            </a:p>
          </p:txBody>
        </p:sp>
        <p:sp>
          <p:nvSpPr>
            <p:cNvPr id="313" name="Rectangle 108">
              <a:extLst>
                <a:ext uri="{FF2B5EF4-FFF2-40B4-BE49-F238E27FC236}">
                  <a16:creationId xmlns:a16="http://schemas.microsoft.com/office/drawing/2014/main" id="{0F092120-BA14-CA43-B320-651262EF6262}"/>
                </a:ext>
              </a:extLst>
            </p:cNvPr>
            <p:cNvSpPr>
              <a:spLocks noChangeArrowheads="1"/>
            </p:cNvSpPr>
            <p:nvPr/>
          </p:nvSpPr>
          <p:spPr bwMode="auto">
            <a:xfrm>
              <a:off x="9432018" y="2207572"/>
              <a:ext cx="439738" cy="3270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4" name="Text Box 109">
              <a:extLst>
                <a:ext uri="{FF2B5EF4-FFF2-40B4-BE49-F238E27FC236}">
                  <a16:creationId xmlns:a16="http://schemas.microsoft.com/office/drawing/2014/main" id="{FE4B1615-8188-B146-9BEC-B285BF25D9D6}"/>
                </a:ext>
              </a:extLst>
            </p:cNvPr>
            <p:cNvSpPr txBox="1">
              <a:spLocks noChangeArrowheads="1"/>
            </p:cNvSpPr>
            <p:nvPr/>
          </p:nvSpPr>
          <p:spPr bwMode="auto">
            <a:xfrm>
              <a:off x="10482943" y="2009135"/>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315" name="Text Box 110">
              <a:extLst>
                <a:ext uri="{FF2B5EF4-FFF2-40B4-BE49-F238E27FC236}">
                  <a16:creationId xmlns:a16="http://schemas.microsoft.com/office/drawing/2014/main" id="{8653D286-5C97-A747-BA85-93954395E4EE}"/>
                </a:ext>
              </a:extLst>
            </p:cNvPr>
            <p:cNvSpPr txBox="1">
              <a:spLocks noChangeArrowheads="1"/>
            </p:cNvSpPr>
            <p:nvPr/>
          </p:nvSpPr>
          <p:spPr bwMode="auto">
            <a:xfrm>
              <a:off x="8022318" y="2937822"/>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316" name="Oval 111">
              <a:extLst>
                <a:ext uri="{FF2B5EF4-FFF2-40B4-BE49-F238E27FC236}">
                  <a16:creationId xmlns:a16="http://schemas.microsoft.com/office/drawing/2014/main" id="{300C99E0-DB04-CE43-BF80-AA9266EE3E52}"/>
                </a:ext>
              </a:extLst>
            </p:cNvPr>
            <p:cNvSpPr>
              <a:spLocks noChangeArrowheads="1"/>
            </p:cNvSpPr>
            <p:nvPr/>
          </p:nvSpPr>
          <p:spPr bwMode="auto">
            <a:xfrm>
              <a:off x="8835118" y="3039422"/>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317" name="Oval 112">
              <a:extLst>
                <a:ext uri="{FF2B5EF4-FFF2-40B4-BE49-F238E27FC236}">
                  <a16:creationId xmlns:a16="http://schemas.microsoft.com/office/drawing/2014/main" id="{55BCC378-2E90-C548-84E6-682C16C047D2}"/>
                </a:ext>
              </a:extLst>
            </p:cNvPr>
            <p:cNvSpPr>
              <a:spLocks noChangeArrowheads="1"/>
            </p:cNvSpPr>
            <p:nvPr/>
          </p:nvSpPr>
          <p:spPr bwMode="auto">
            <a:xfrm>
              <a:off x="10374993" y="2126610"/>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grpSp>
          <p:nvGrpSpPr>
            <p:cNvPr id="318" name="Group 113">
              <a:extLst>
                <a:ext uri="{FF2B5EF4-FFF2-40B4-BE49-F238E27FC236}">
                  <a16:creationId xmlns:a16="http://schemas.microsoft.com/office/drawing/2014/main" id="{204BAA52-89B1-794F-88E6-9C5622E551C2}"/>
                </a:ext>
              </a:extLst>
            </p:cNvPr>
            <p:cNvGrpSpPr>
              <a:grpSpLocks/>
            </p:cNvGrpSpPr>
            <p:nvPr/>
          </p:nvGrpSpPr>
          <p:grpSpPr bwMode="auto">
            <a:xfrm>
              <a:off x="9124043" y="2345685"/>
              <a:ext cx="1274763" cy="336550"/>
              <a:chOff x="1065" y="2085"/>
              <a:chExt cx="803" cy="212"/>
            </a:xfrm>
          </p:grpSpPr>
          <p:sp>
            <p:nvSpPr>
              <p:cNvPr id="355" name="Rectangle 114">
                <a:extLst>
                  <a:ext uri="{FF2B5EF4-FFF2-40B4-BE49-F238E27FC236}">
                    <a16:creationId xmlns:a16="http://schemas.microsoft.com/office/drawing/2014/main" id="{C6D2B144-2FD8-974E-9CC8-AFFFEB74685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6" name="Text Box 115">
                <a:extLst>
                  <a:ext uri="{FF2B5EF4-FFF2-40B4-BE49-F238E27FC236}">
                    <a16:creationId xmlns:a16="http://schemas.microsoft.com/office/drawing/2014/main" id="{96800BB5-6D1C-0B46-BD61-1B42671EE796}"/>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acc_conn(x)</a:t>
                </a:r>
              </a:p>
            </p:txBody>
          </p:sp>
        </p:grpSp>
      </p:grpSp>
      <p:grpSp>
        <p:nvGrpSpPr>
          <p:cNvPr id="319" name="Group 116">
            <a:extLst>
              <a:ext uri="{FF2B5EF4-FFF2-40B4-BE49-F238E27FC236}">
                <a16:creationId xmlns:a16="http://schemas.microsoft.com/office/drawing/2014/main" id="{80C83854-C77F-BA47-9721-52914A496B51}"/>
              </a:ext>
            </a:extLst>
          </p:cNvPr>
          <p:cNvGrpSpPr>
            <a:grpSpLocks/>
          </p:cNvGrpSpPr>
          <p:nvPr/>
        </p:nvGrpSpPr>
        <p:grpSpPr bwMode="auto">
          <a:xfrm>
            <a:off x="4879295" y="1432418"/>
            <a:ext cx="620713" cy="487363"/>
            <a:chOff x="-44" y="1473"/>
            <a:chExt cx="981" cy="1105"/>
          </a:xfrm>
        </p:grpSpPr>
        <p:pic>
          <p:nvPicPr>
            <p:cNvPr id="353" name="Picture 117" descr="desktop_computer_stylized_medium">
              <a:extLst>
                <a:ext uri="{FF2B5EF4-FFF2-40B4-BE49-F238E27FC236}">
                  <a16:creationId xmlns:a16="http://schemas.microsoft.com/office/drawing/2014/main" id="{FE9AA7D5-5E43-A948-A974-AB4C6A011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 name="Freeform 118">
              <a:extLst>
                <a:ext uri="{FF2B5EF4-FFF2-40B4-BE49-F238E27FC236}">
                  <a16:creationId xmlns:a16="http://schemas.microsoft.com/office/drawing/2014/main" id="{E2235674-3CC8-FA49-8410-24EA9726B2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20" name="Group 119">
            <a:extLst>
              <a:ext uri="{FF2B5EF4-FFF2-40B4-BE49-F238E27FC236}">
                <a16:creationId xmlns:a16="http://schemas.microsoft.com/office/drawing/2014/main" id="{20AAAB4F-DE43-4840-934B-1D6561325F75}"/>
              </a:ext>
            </a:extLst>
          </p:cNvPr>
          <p:cNvGrpSpPr>
            <a:grpSpLocks/>
          </p:cNvGrpSpPr>
          <p:nvPr/>
        </p:nvGrpSpPr>
        <p:grpSpPr bwMode="auto">
          <a:xfrm>
            <a:off x="6687458" y="1413368"/>
            <a:ext cx="336550" cy="512763"/>
            <a:chOff x="4140" y="429"/>
            <a:chExt cx="1425" cy="2396"/>
          </a:xfrm>
        </p:grpSpPr>
        <p:sp>
          <p:nvSpPr>
            <p:cNvPr id="321" name="Freeform 120">
              <a:extLst>
                <a:ext uri="{FF2B5EF4-FFF2-40B4-BE49-F238E27FC236}">
                  <a16:creationId xmlns:a16="http://schemas.microsoft.com/office/drawing/2014/main" id="{5DB74304-D404-914A-B276-40CA04FC131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Rectangle 121">
              <a:extLst>
                <a:ext uri="{FF2B5EF4-FFF2-40B4-BE49-F238E27FC236}">
                  <a16:creationId xmlns:a16="http://schemas.microsoft.com/office/drawing/2014/main" id="{4478CCC0-71C5-0742-833B-39071606459A}"/>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3" name="Freeform 122">
              <a:extLst>
                <a:ext uri="{FF2B5EF4-FFF2-40B4-BE49-F238E27FC236}">
                  <a16:creationId xmlns:a16="http://schemas.microsoft.com/office/drawing/2014/main" id="{773F3087-0AEC-3244-AE9B-B906345E8CA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4" name="Freeform 123">
              <a:extLst>
                <a:ext uri="{FF2B5EF4-FFF2-40B4-BE49-F238E27FC236}">
                  <a16:creationId xmlns:a16="http://schemas.microsoft.com/office/drawing/2014/main" id="{6D261F9A-FEF5-2C48-A572-F9AEEE61C84B}"/>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5" name="Rectangle 124">
              <a:extLst>
                <a:ext uri="{FF2B5EF4-FFF2-40B4-BE49-F238E27FC236}">
                  <a16:creationId xmlns:a16="http://schemas.microsoft.com/office/drawing/2014/main" id="{D7A88CB8-3019-0847-8D63-FB56841E8488}"/>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26" name="Group 125">
              <a:extLst>
                <a:ext uri="{FF2B5EF4-FFF2-40B4-BE49-F238E27FC236}">
                  <a16:creationId xmlns:a16="http://schemas.microsoft.com/office/drawing/2014/main" id="{92427F18-D9EB-5F4E-A265-DCBE0DDFDD70}"/>
                </a:ext>
              </a:extLst>
            </p:cNvPr>
            <p:cNvGrpSpPr>
              <a:grpSpLocks/>
            </p:cNvGrpSpPr>
            <p:nvPr/>
          </p:nvGrpSpPr>
          <p:grpSpPr bwMode="auto">
            <a:xfrm>
              <a:off x="4749" y="668"/>
              <a:ext cx="581" cy="145"/>
              <a:chOff x="614" y="2568"/>
              <a:chExt cx="725" cy="139"/>
            </a:xfrm>
          </p:grpSpPr>
          <p:sp>
            <p:nvSpPr>
              <p:cNvPr id="351" name="AutoShape 126">
                <a:extLst>
                  <a:ext uri="{FF2B5EF4-FFF2-40B4-BE49-F238E27FC236}">
                    <a16:creationId xmlns:a16="http://schemas.microsoft.com/office/drawing/2014/main" id="{49297CCC-774B-1443-8147-999AEBDA5FE6}"/>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2" name="AutoShape 127">
                <a:extLst>
                  <a:ext uri="{FF2B5EF4-FFF2-40B4-BE49-F238E27FC236}">
                    <a16:creationId xmlns:a16="http://schemas.microsoft.com/office/drawing/2014/main" id="{99AA7B97-011A-844B-9C5E-49EF3FECA59C}"/>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7" name="Rectangle 128">
              <a:extLst>
                <a:ext uri="{FF2B5EF4-FFF2-40B4-BE49-F238E27FC236}">
                  <a16:creationId xmlns:a16="http://schemas.microsoft.com/office/drawing/2014/main" id="{0DE915D7-115F-0148-8246-F07CA43F2DF0}"/>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28" name="Group 129">
              <a:extLst>
                <a:ext uri="{FF2B5EF4-FFF2-40B4-BE49-F238E27FC236}">
                  <a16:creationId xmlns:a16="http://schemas.microsoft.com/office/drawing/2014/main" id="{1168EC4F-26EA-454C-A186-35A18483C0EB}"/>
                </a:ext>
              </a:extLst>
            </p:cNvPr>
            <p:cNvGrpSpPr>
              <a:grpSpLocks/>
            </p:cNvGrpSpPr>
            <p:nvPr/>
          </p:nvGrpSpPr>
          <p:grpSpPr bwMode="auto">
            <a:xfrm>
              <a:off x="4747" y="994"/>
              <a:ext cx="581" cy="134"/>
              <a:chOff x="614" y="2568"/>
              <a:chExt cx="725" cy="139"/>
            </a:xfrm>
          </p:grpSpPr>
          <p:sp>
            <p:nvSpPr>
              <p:cNvPr id="349" name="AutoShape 130">
                <a:extLst>
                  <a:ext uri="{FF2B5EF4-FFF2-40B4-BE49-F238E27FC236}">
                    <a16:creationId xmlns:a16="http://schemas.microsoft.com/office/drawing/2014/main" id="{30DEF7E1-5206-E14C-8F6E-C221B89557E7}"/>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0" name="AutoShape 131">
                <a:extLst>
                  <a:ext uri="{FF2B5EF4-FFF2-40B4-BE49-F238E27FC236}">
                    <a16:creationId xmlns:a16="http://schemas.microsoft.com/office/drawing/2014/main" id="{6DBD6BDF-F229-9945-8578-CEC44256CF60}"/>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9" name="Rectangle 132">
              <a:extLst>
                <a:ext uri="{FF2B5EF4-FFF2-40B4-BE49-F238E27FC236}">
                  <a16:creationId xmlns:a16="http://schemas.microsoft.com/office/drawing/2014/main" id="{0A0EEFD7-8203-2740-ABF0-C767B83C1EBD}"/>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0" name="Rectangle 133">
              <a:extLst>
                <a:ext uri="{FF2B5EF4-FFF2-40B4-BE49-F238E27FC236}">
                  <a16:creationId xmlns:a16="http://schemas.microsoft.com/office/drawing/2014/main" id="{9B3363E9-032E-DE45-B7D5-07B9FA6590E9}"/>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31" name="Group 134">
              <a:extLst>
                <a:ext uri="{FF2B5EF4-FFF2-40B4-BE49-F238E27FC236}">
                  <a16:creationId xmlns:a16="http://schemas.microsoft.com/office/drawing/2014/main" id="{64432C7D-9E6A-6E4E-965D-954C702C6B6E}"/>
                </a:ext>
              </a:extLst>
            </p:cNvPr>
            <p:cNvGrpSpPr>
              <a:grpSpLocks/>
            </p:cNvGrpSpPr>
            <p:nvPr/>
          </p:nvGrpSpPr>
          <p:grpSpPr bwMode="auto">
            <a:xfrm>
              <a:off x="4735" y="1627"/>
              <a:ext cx="582" cy="151"/>
              <a:chOff x="614" y="2568"/>
              <a:chExt cx="725" cy="139"/>
            </a:xfrm>
          </p:grpSpPr>
          <p:sp>
            <p:nvSpPr>
              <p:cNvPr id="347" name="AutoShape 135">
                <a:extLst>
                  <a:ext uri="{FF2B5EF4-FFF2-40B4-BE49-F238E27FC236}">
                    <a16:creationId xmlns:a16="http://schemas.microsoft.com/office/drawing/2014/main" id="{B32D344B-D91B-954B-BD35-1984E9213AA1}"/>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8" name="AutoShape 136">
                <a:extLst>
                  <a:ext uri="{FF2B5EF4-FFF2-40B4-BE49-F238E27FC236}">
                    <a16:creationId xmlns:a16="http://schemas.microsoft.com/office/drawing/2014/main" id="{47067A3E-2B26-F04B-A35D-FE7A4A410313}"/>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32" name="Freeform 137">
              <a:extLst>
                <a:ext uri="{FF2B5EF4-FFF2-40B4-BE49-F238E27FC236}">
                  <a16:creationId xmlns:a16="http://schemas.microsoft.com/office/drawing/2014/main" id="{D7735CF1-1F30-4F47-AC44-432430394B3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33" name="Group 138">
              <a:extLst>
                <a:ext uri="{FF2B5EF4-FFF2-40B4-BE49-F238E27FC236}">
                  <a16:creationId xmlns:a16="http://schemas.microsoft.com/office/drawing/2014/main" id="{FB78B141-B15E-674E-8F3F-8329CF49818C}"/>
                </a:ext>
              </a:extLst>
            </p:cNvPr>
            <p:cNvGrpSpPr>
              <a:grpSpLocks/>
            </p:cNvGrpSpPr>
            <p:nvPr/>
          </p:nvGrpSpPr>
          <p:grpSpPr bwMode="auto">
            <a:xfrm>
              <a:off x="4739" y="1327"/>
              <a:ext cx="582" cy="139"/>
              <a:chOff x="614" y="2568"/>
              <a:chExt cx="725" cy="139"/>
            </a:xfrm>
          </p:grpSpPr>
          <p:sp>
            <p:nvSpPr>
              <p:cNvPr id="345" name="AutoShape 139">
                <a:extLst>
                  <a:ext uri="{FF2B5EF4-FFF2-40B4-BE49-F238E27FC236}">
                    <a16:creationId xmlns:a16="http://schemas.microsoft.com/office/drawing/2014/main" id="{2FE8954C-766A-0743-AFEA-BE850F02F6A5}"/>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6" name="AutoShape 140">
                <a:extLst>
                  <a:ext uri="{FF2B5EF4-FFF2-40B4-BE49-F238E27FC236}">
                    <a16:creationId xmlns:a16="http://schemas.microsoft.com/office/drawing/2014/main" id="{B0838D8D-F17D-6642-84C3-0A7A06DB11E7}"/>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34" name="Rectangle 141">
              <a:extLst>
                <a:ext uri="{FF2B5EF4-FFF2-40B4-BE49-F238E27FC236}">
                  <a16:creationId xmlns:a16="http://schemas.microsoft.com/office/drawing/2014/main" id="{201450E4-426D-034A-898C-EA0F1878F2BD}"/>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5" name="Freeform 142">
              <a:extLst>
                <a:ext uri="{FF2B5EF4-FFF2-40B4-BE49-F238E27FC236}">
                  <a16:creationId xmlns:a16="http://schemas.microsoft.com/office/drawing/2014/main" id="{BEF832CC-F889-B740-96DA-EC8898E429E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6" name="Freeform 143">
              <a:extLst>
                <a:ext uri="{FF2B5EF4-FFF2-40B4-BE49-F238E27FC236}">
                  <a16:creationId xmlns:a16="http://schemas.microsoft.com/office/drawing/2014/main" id="{62398C75-46A0-3745-982E-EFC495B4758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7" name="Oval 144">
              <a:extLst>
                <a:ext uri="{FF2B5EF4-FFF2-40B4-BE49-F238E27FC236}">
                  <a16:creationId xmlns:a16="http://schemas.microsoft.com/office/drawing/2014/main" id="{352FBF24-62B2-6F49-AC68-A67E46BEF583}"/>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8" name="Freeform 145">
              <a:extLst>
                <a:ext uri="{FF2B5EF4-FFF2-40B4-BE49-F238E27FC236}">
                  <a16:creationId xmlns:a16="http://schemas.microsoft.com/office/drawing/2014/main" id="{689E20C5-4EA8-8A4D-86CB-905743CC96A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9" name="AutoShape 146">
              <a:extLst>
                <a:ext uri="{FF2B5EF4-FFF2-40B4-BE49-F238E27FC236}">
                  <a16:creationId xmlns:a16="http://schemas.microsoft.com/office/drawing/2014/main" id="{EEA954D3-56B0-3541-93CF-131CC960367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0" name="AutoShape 147">
              <a:extLst>
                <a:ext uri="{FF2B5EF4-FFF2-40B4-BE49-F238E27FC236}">
                  <a16:creationId xmlns:a16="http://schemas.microsoft.com/office/drawing/2014/main" id="{D041028B-4F78-C84C-BFED-1142E17FC05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1" name="Oval 148">
              <a:extLst>
                <a:ext uri="{FF2B5EF4-FFF2-40B4-BE49-F238E27FC236}">
                  <a16:creationId xmlns:a16="http://schemas.microsoft.com/office/drawing/2014/main" id="{1DB124EA-65C6-2944-95EA-9CF5A05FD43E}"/>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2" name="Oval 149">
              <a:extLst>
                <a:ext uri="{FF2B5EF4-FFF2-40B4-BE49-F238E27FC236}">
                  <a16:creationId xmlns:a16="http://schemas.microsoft.com/office/drawing/2014/main" id="{F9B231BC-3EE3-C645-A89F-95E350FAA4A6}"/>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43" name="Oval 150">
              <a:extLst>
                <a:ext uri="{FF2B5EF4-FFF2-40B4-BE49-F238E27FC236}">
                  <a16:creationId xmlns:a16="http://schemas.microsoft.com/office/drawing/2014/main" id="{01CC1925-74AE-594F-AD3D-173726AFBB10}"/>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4" name="Rectangle 151">
              <a:extLst>
                <a:ext uri="{FF2B5EF4-FFF2-40B4-BE49-F238E27FC236}">
                  <a16:creationId xmlns:a16="http://schemas.microsoft.com/office/drawing/2014/main" id="{92B6BE0B-71DF-9742-BE8C-BEF3D8A9EF2F}"/>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3" name="Group 12">
            <a:extLst>
              <a:ext uri="{FF2B5EF4-FFF2-40B4-BE49-F238E27FC236}">
                <a16:creationId xmlns:a16="http://schemas.microsoft.com/office/drawing/2014/main" id="{DE38AD7C-A8B1-2B4B-BE71-513FFA7EFB6C}"/>
              </a:ext>
            </a:extLst>
          </p:cNvPr>
          <p:cNvGrpSpPr/>
          <p:nvPr/>
        </p:nvGrpSpPr>
        <p:grpSpPr>
          <a:xfrm>
            <a:off x="4917394" y="5539014"/>
            <a:ext cx="1889805" cy="662028"/>
            <a:chOff x="9620023" y="2667000"/>
            <a:chExt cx="1889805" cy="662028"/>
          </a:xfrm>
        </p:grpSpPr>
        <p:sp>
          <p:nvSpPr>
            <p:cNvPr id="225" name="Line 105">
              <a:extLst>
                <a:ext uri="{FF2B5EF4-FFF2-40B4-BE49-F238E27FC236}">
                  <a16:creationId xmlns:a16="http://schemas.microsoft.com/office/drawing/2014/main" id="{6EE235BA-E9E9-3149-AB4E-BB5E5B9184E9}"/>
                </a:ext>
              </a:extLst>
            </p:cNvPr>
            <p:cNvSpPr>
              <a:spLocks noChangeShapeType="1"/>
            </p:cNvSpPr>
            <p:nvPr/>
          </p:nvSpPr>
          <p:spPr bwMode="auto">
            <a:xfrm flipH="1">
              <a:off x="9620023" y="2667000"/>
              <a:ext cx="1889805" cy="66202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8" name="Rectangle 108">
              <a:extLst>
                <a:ext uri="{FF2B5EF4-FFF2-40B4-BE49-F238E27FC236}">
                  <a16:creationId xmlns:a16="http://schemas.microsoft.com/office/drawing/2014/main" id="{34867620-5404-3840-9CB7-CC051B16076F}"/>
                </a:ext>
              </a:extLst>
            </p:cNvPr>
            <p:cNvSpPr>
              <a:spLocks noChangeArrowheads="1"/>
            </p:cNvSpPr>
            <p:nvPr/>
          </p:nvSpPr>
          <p:spPr bwMode="auto">
            <a:xfrm>
              <a:off x="10132106" y="2824428"/>
              <a:ext cx="855208" cy="39774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113">
              <a:extLst>
                <a:ext uri="{FF2B5EF4-FFF2-40B4-BE49-F238E27FC236}">
                  <a16:creationId xmlns:a16="http://schemas.microsoft.com/office/drawing/2014/main" id="{FF53EAD9-E51E-C047-8717-0A017ED29429}"/>
                </a:ext>
              </a:extLst>
            </p:cNvPr>
            <p:cNvGrpSpPr>
              <a:grpSpLocks/>
            </p:cNvGrpSpPr>
            <p:nvPr/>
          </p:nvGrpSpPr>
          <p:grpSpPr bwMode="auto">
            <a:xfrm>
              <a:off x="9998301" y="2802885"/>
              <a:ext cx="1274763" cy="336550"/>
              <a:chOff x="1065" y="2085"/>
              <a:chExt cx="803" cy="212"/>
            </a:xfrm>
          </p:grpSpPr>
          <p:sp>
            <p:nvSpPr>
              <p:cNvPr id="234" name="Rectangle 114">
                <a:extLst>
                  <a:ext uri="{FF2B5EF4-FFF2-40B4-BE49-F238E27FC236}">
                    <a16:creationId xmlns:a16="http://schemas.microsoft.com/office/drawing/2014/main" id="{49C5CA13-D3E8-AD41-9B46-F0CAA1288DCE}"/>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5" name="Text Box 115">
                <a:extLst>
                  <a:ext uri="{FF2B5EF4-FFF2-40B4-BE49-F238E27FC236}">
                    <a16:creationId xmlns:a16="http://schemas.microsoft.com/office/drawing/2014/main" id="{D4E6AFA2-674D-4C4B-889C-819675572F06}"/>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acc_conn(x)</a:t>
                </a:r>
              </a:p>
            </p:txBody>
          </p:sp>
        </p:grpSp>
      </p:grpSp>
      <p:grpSp>
        <p:nvGrpSpPr>
          <p:cNvPr id="15" name="Group 14">
            <a:extLst>
              <a:ext uri="{FF2B5EF4-FFF2-40B4-BE49-F238E27FC236}">
                <a16:creationId xmlns:a16="http://schemas.microsoft.com/office/drawing/2014/main" id="{D5CE827D-884B-C243-811A-BA57B03C1272}"/>
              </a:ext>
            </a:extLst>
          </p:cNvPr>
          <p:cNvGrpSpPr/>
          <p:nvPr/>
        </p:nvGrpSpPr>
        <p:grpSpPr>
          <a:xfrm>
            <a:off x="4080329" y="5732236"/>
            <a:ext cx="4134756" cy="1082222"/>
            <a:chOff x="3673928" y="5775778"/>
            <a:chExt cx="4134756" cy="1082222"/>
          </a:xfrm>
        </p:grpSpPr>
        <p:sp>
          <p:nvSpPr>
            <p:cNvPr id="14" name="Rectangle 13">
              <a:extLst>
                <a:ext uri="{FF2B5EF4-FFF2-40B4-BE49-F238E27FC236}">
                  <a16:creationId xmlns:a16="http://schemas.microsoft.com/office/drawing/2014/main" id="{014466EA-38BF-AC46-AFFE-C98EDEE60F29}"/>
                </a:ext>
              </a:extLst>
            </p:cNvPr>
            <p:cNvSpPr/>
            <p:nvPr/>
          </p:nvSpPr>
          <p:spPr>
            <a:xfrm>
              <a:off x="4020455" y="5775778"/>
              <a:ext cx="3788229" cy="1082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1" name="Group 10">
              <a:extLst>
                <a:ext uri="{FF2B5EF4-FFF2-40B4-BE49-F238E27FC236}">
                  <a16:creationId xmlns:a16="http://schemas.microsoft.com/office/drawing/2014/main" id="{0FEA675F-95EB-944F-978C-22DF4F8A54DC}"/>
                </a:ext>
              </a:extLst>
            </p:cNvPr>
            <p:cNvGrpSpPr/>
            <p:nvPr/>
          </p:nvGrpSpPr>
          <p:grpSpPr>
            <a:xfrm>
              <a:off x="3673928" y="5804239"/>
              <a:ext cx="3829958" cy="830263"/>
              <a:chOff x="4588327" y="5819777"/>
              <a:chExt cx="3829958" cy="830263"/>
            </a:xfrm>
            <a:noFill/>
          </p:grpSpPr>
          <p:sp>
            <p:nvSpPr>
              <p:cNvPr id="287" name="Text Box 49">
                <a:extLst>
                  <a:ext uri="{FF2B5EF4-FFF2-40B4-BE49-F238E27FC236}">
                    <a16:creationId xmlns:a16="http://schemas.microsoft.com/office/drawing/2014/main" id="{132D608A-D3A5-E54F-AEEE-E1F1B0718AC0}"/>
                  </a:ext>
                </a:extLst>
              </p:cNvPr>
              <p:cNvSpPr txBox="1">
                <a:spLocks noChangeArrowheads="1"/>
              </p:cNvSpPr>
              <p:nvPr/>
            </p:nvSpPr>
            <p:spPr bwMode="auto">
              <a:xfrm>
                <a:off x="5202012" y="5819777"/>
                <a:ext cx="3216273" cy="830263"/>
              </a:xfrm>
              <a:prstGeom prst="rect">
                <a:avLst/>
              </a:prstGeom>
              <a:gr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Problem: half open connection! (no client)</a:t>
                </a:r>
              </a:p>
            </p:txBody>
          </p:sp>
          <p:pic>
            <p:nvPicPr>
              <p:cNvPr id="8" name="Picture 7" descr="A picture containing drawing&#10;&#10;Description automatically generated">
                <a:extLst>
                  <a:ext uri="{FF2B5EF4-FFF2-40B4-BE49-F238E27FC236}">
                    <a16:creationId xmlns:a16="http://schemas.microsoft.com/office/drawing/2014/main" id="{5EAF06CF-36BA-E34A-83CF-1DFB966A8512}"/>
                  </a:ext>
                </a:extLst>
              </p:cNvPr>
              <p:cNvPicPr>
                <a:picLocks noChangeAspect="1"/>
              </p:cNvPicPr>
              <p:nvPr/>
            </p:nvPicPr>
            <p:blipFill>
              <a:blip r:embed="rId4"/>
              <a:stretch>
                <a:fillRect/>
              </a:stretch>
            </p:blipFill>
            <p:spPr>
              <a:xfrm>
                <a:off x="4588327" y="5916386"/>
                <a:ext cx="636815" cy="636815"/>
              </a:xfrm>
              <a:prstGeom prst="rect">
                <a:avLst/>
              </a:prstGeom>
              <a:grpFill/>
            </p:spPr>
          </p:pic>
        </p:grpSp>
      </p:grpSp>
      <p:sp>
        <p:nvSpPr>
          <p:cNvPr id="81" name="Slide Number Placeholder 2">
            <a:extLst>
              <a:ext uri="{FF2B5EF4-FFF2-40B4-BE49-F238E27FC236}">
                <a16:creationId xmlns:a16="http://schemas.microsoft.com/office/drawing/2014/main" id="{C5180A9E-4EA2-5A45-B935-0F6B15CE622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31</a:t>
            </a:fld>
            <a:endParaRPr lang="en-US" dirty="0"/>
          </a:p>
        </p:txBody>
      </p:sp>
    </p:spTree>
    <p:extLst>
      <p:ext uri="{BB962C8B-B14F-4D97-AF65-F5344CB8AC3E}">
        <p14:creationId xmlns:p14="http://schemas.microsoft.com/office/powerpoint/2010/main" val="16196934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0"/>
                                        </p:tgtEl>
                                        <p:attrNameLst>
                                          <p:attrName>style.visibility</p:attrName>
                                        </p:attrNameLst>
                                      </p:cBhvr>
                                      <p:to>
                                        <p:strVal val="visible"/>
                                      </p:to>
                                    </p:set>
                                    <p:animEffect transition="in" filter="dissolve">
                                      <p:cBhvr>
                                        <p:cTn id="12" dur="500"/>
                                        <p:tgtEl>
                                          <p:spTgt spid="2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ssolv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2-way handshake scenarios</a:t>
            </a:r>
          </a:p>
        </p:txBody>
      </p:sp>
      <p:grpSp>
        <p:nvGrpSpPr>
          <p:cNvPr id="357" name="Group 152">
            <a:extLst>
              <a:ext uri="{FF2B5EF4-FFF2-40B4-BE49-F238E27FC236}">
                <a16:creationId xmlns:a16="http://schemas.microsoft.com/office/drawing/2014/main" id="{9C2006BA-AA2D-8544-A70F-118097C53265}"/>
              </a:ext>
            </a:extLst>
          </p:cNvPr>
          <p:cNvGrpSpPr>
            <a:grpSpLocks/>
          </p:cNvGrpSpPr>
          <p:nvPr/>
        </p:nvGrpSpPr>
        <p:grpSpPr bwMode="auto">
          <a:xfrm>
            <a:off x="8173174" y="1342839"/>
            <a:ext cx="3933825" cy="4568825"/>
            <a:chOff x="3150" y="1107"/>
            <a:chExt cx="2478" cy="2878"/>
          </a:xfrm>
        </p:grpSpPr>
        <p:sp>
          <p:nvSpPr>
            <p:cNvPr id="358" name="Line 153">
              <a:extLst>
                <a:ext uri="{FF2B5EF4-FFF2-40B4-BE49-F238E27FC236}">
                  <a16:creationId xmlns:a16="http://schemas.microsoft.com/office/drawing/2014/main" id="{C056962F-C2E4-4D43-8591-63C2094689E9}"/>
                </a:ext>
              </a:extLst>
            </p:cNvPr>
            <p:cNvSpPr>
              <a:spLocks noChangeShapeType="1"/>
            </p:cNvSpPr>
            <p:nvPr/>
          </p:nvSpPr>
          <p:spPr bwMode="auto">
            <a:xfrm flipH="1">
              <a:off x="4822" y="1490"/>
              <a:ext cx="1" cy="2495"/>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9" name="Text Box 154">
              <a:extLst>
                <a:ext uri="{FF2B5EF4-FFF2-40B4-BE49-F238E27FC236}">
                  <a16:creationId xmlns:a16="http://schemas.microsoft.com/office/drawing/2014/main" id="{CDA652F2-819F-6848-A5C9-8D9B66F9680B}"/>
                </a:ext>
              </a:extLst>
            </p:cNvPr>
            <p:cNvSpPr txBox="1">
              <a:spLocks noChangeArrowheads="1"/>
            </p:cNvSpPr>
            <p:nvPr/>
          </p:nvSpPr>
          <p:spPr bwMode="auto">
            <a:xfrm>
              <a:off x="3150" y="2983"/>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client terminates</a:t>
              </a:r>
            </a:p>
          </p:txBody>
        </p:sp>
        <p:sp>
          <p:nvSpPr>
            <p:cNvPr id="360" name="Line 155">
              <a:extLst>
                <a:ext uri="{FF2B5EF4-FFF2-40B4-BE49-F238E27FC236}">
                  <a16:creationId xmlns:a16="http://schemas.microsoft.com/office/drawing/2014/main" id="{666153C5-2212-0042-ABC5-919CF540FFF1}"/>
                </a:ext>
              </a:extLst>
            </p:cNvPr>
            <p:cNvSpPr>
              <a:spLocks noChangeShapeType="1"/>
            </p:cNvSpPr>
            <p:nvPr/>
          </p:nvSpPr>
          <p:spPr bwMode="auto">
            <a:xfrm flipH="1">
              <a:off x="3845" y="1451"/>
              <a:ext cx="15" cy="1549"/>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1" name="Line 156">
              <a:extLst>
                <a:ext uri="{FF2B5EF4-FFF2-40B4-BE49-F238E27FC236}">
                  <a16:creationId xmlns:a16="http://schemas.microsoft.com/office/drawing/2014/main" id="{16ACB45E-8A1D-F74A-9C70-18C251DD28E3}"/>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2" name="Rectangle 157">
              <a:extLst>
                <a:ext uri="{FF2B5EF4-FFF2-40B4-BE49-F238E27FC236}">
                  <a16:creationId xmlns:a16="http://schemas.microsoft.com/office/drawing/2014/main" id="{7479C1A9-07F7-CD4C-A137-D663CAEFD43C}"/>
                </a:ext>
              </a:extLst>
            </p:cNvPr>
            <p:cNvSpPr>
              <a:spLocks noChangeArrowheads="1"/>
            </p:cNvSpPr>
            <p:nvPr/>
          </p:nvSpPr>
          <p:spPr bwMode="auto">
            <a:xfrm>
              <a:off x="4200" y="1761"/>
              <a:ext cx="277"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3" name="Text Box 158">
              <a:extLst>
                <a:ext uri="{FF2B5EF4-FFF2-40B4-BE49-F238E27FC236}">
                  <a16:creationId xmlns:a16="http://schemas.microsoft.com/office/drawing/2014/main" id="{07E98DEC-15BD-8E44-8C66-72860ACC5678}"/>
                </a:ext>
              </a:extLst>
            </p:cNvPr>
            <p:cNvSpPr txBox="1">
              <a:spLocks noChangeArrowheads="1"/>
            </p:cNvSpPr>
            <p:nvPr/>
          </p:nvSpPr>
          <p:spPr bwMode="auto">
            <a:xfrm>
              <a:off x="3312" y="2221"/>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364" name="Oval 159">
              <a:extLst>
                <a:ext uri="{FF2B5EF4-FFF2-40B4-BE49-F238E27FC236}">
                  <a16:creationId xmlns:a16="http://schemas.microsoft.com/office/drawing/2014/main" id="{C387CC00-D294-7442-8EAF-0E4792392432}"/>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365" name="Text Box 160">
              <a:extLst>
                <a:ext uri="{FF2B5EF4-FFF2-40B4-BE49-F238E27FC236}">
                  <a16:creationId xmlns:a16="http://schemas.microsoft.com/office/drawing/2014/main" id="{A3029202-6E45-6F46-B68F-696E31F63852}"/>
                </a:ext>
              </a:extLst>
            </p:cNvPr>
            <p:cNvSpPr txBox="1">
              <a:spLocks noChangeArrowheads="1"/>
            </p:cNvSpPr>
            <p:nvPr/>
          </p:nvSpPr>
          <p:spPr bwMode="auto">
            <a:xfrm>
              <a:off x="3213" y="1380"/>
              <a:ext cx="613"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choose 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6" name="Line 161">
              <a:extLst>
                <a:ext uri="{FF2B5EF4-FFF2-40B4-BE49-F238E27FC236}">
                  <a16:creationId xmlns:a16="http://schemas.microsoft.com/office/drawing/2014/main" id="{0FC46209-BD0B-0445-AF05-C8310A8E862F}"/>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7" name="Rectangle 162">
              <a:extLst>
                <a:ext uri="{FF2B5EF4-FFF2-40B4-BE49-F238E27FC236}">
                  <a16:creationId xmlns:a16="http://schemas.microsoft.com/office/drawing/2014/main" id="{636932A4-EF38-E141-9BEF-C806F12D9ABB}"/>
                </a:ext>
              </a:extLst>
            </p:cNvPr>
            <p:cNvSpPr>
              <a:spLocks noChangeArrowheads="1"/>
            </p:cNvSpPr>
            <p:nvPr/>
          </p:nvSpPr>
          <p:spPr bwMode="auto">
            <a:xfrm>
              <a:off x="4088" y="1494"/>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8" name="Text Box 163">
              <a:extLst>
                <a:ext uri="{FF2B5EF4-FFF2-40B4-BE49-F238E27FC236}">
                  <a16:creationId xmlns:a16="http://schemas.microsoft.com/office/drawing/2014/main" id="{09C7E230-4405-9E40-BEB3-C33FFEF6366D}"/>
                </a:ext>
              </a:extLst>
            </p:cNvPr>
            <p:cNvSpPr txBox="1">
              <a:spLocks noChangeArrowheads="1"/>
            </p:cNvSpPr>
            <p:nvPr/>
          </p:nvSpPr>
          <p:spPr bwMode="auto">
            <a:xfrm>
              <a:off x="3943" y="1473"/>
              <a:ext cx="802"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req_conn(x)</a:t>
              </a:r>
            </a:p>
          </p:txBody>
        </p:sp>
        <p:sp>
          <p:nvSpPr>
            <p:cNvPr id="369" name="Text Box 164">
              <a:extLst>
                <a:ext uri="{FF2B5EF4-FFF2-40B4-BE49-F238E27FC236}">
                  <a16:creationId xmlns:a16="http://schemas.microsoft.com/office/drawing/2014/main" id="{8AEE0E4A-F8B4-9A4D-85F5-6FF0942C65C4}"/>
                </a:ext>
              </a:extLst>
            </p:cNvPr>
            <p:cNvSpPr txBox="1">
              <a:spLocks noChangeArrowheads="1"/>
            </p:cNvSpPr>
            <p:nvPr/>
          </p:nvSpPr>
          <p:spPr bwMode="auto">
            <a:xfrm>
              <a:off x="4862" y="1636"/>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370" name="Oval 165">
              <a:extLst>
                <a:ext uri="{FF2B5EF4-FFF2-40B4-BE49-F238E27FC236}">
                  <a16:creationId xmlns:a16="http://schemas.microsoft.com/office/drawing/2014/main" id="{837C2516-1B6F-784E-B717-4861DCB88C9F}"/>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grpSp>
          <p:nvGrpSpPr>
            <p:cNvPr id="371" name="Group 166">
              <a:extLst>
                <a:ext uri="{FF2B5EF4-FFF2-40B4-BE49-F238E27FC236}">
                  <a16:creationId xmlns:a16="http://schemas.microsoft.com/office/drawing/2014/main" id="{A1A4C995-57EF-2B44-9A2B-4B574A973474}"/>
                </a:ext>
              </a:extLst>
            </p:cNvPr>
            <p:cNvGrpSpPr>
              <a:grpSpLocks/>
            </p:cNvGrpSpPr>
            <p:nvPr/>
          </p:nvGrpSpPr>
          <p:grpSpPr bwMode="auto">
            <a:xfrm>
              <a:off x="4006" y="1848"/>
              <a:ext cx="803" cy="212"/>
              <a:chOff x="1065" y="2085"/>
              <a:chExt cx="803" cy="212"/>
            </a:xfrm>
          </p:grpSpPr>
          <p:sp>
            <p:nvSpPr>
              <p:cNvPr id="417" name="Rectangle 167">
                <a:extLst>
                  <a:ext uri="{FF2B5EF4-FFF2-40B4-BE49-F238E27FC236}">
                    <a16:creationId xmlns:a16="http://schemas.microsoft.com/office/drawing/2014/main" id="{5B3B9AC0-C168-2542-9619-9FFE0FFD6E75}"/>
                  </a:ext>
                </a:extLst>
              </p:cNvPr>
              <p:cNvSpPr>
                <a:spLocks noChangeArrowheads="1"/>
              </p:cNvSpPr>
              <p:nvPr/>
            </p:nvSpPr>
            <p:spPr bwMode="auto">
              <a:xfrm>
                <a:off x="1137" y="2123"/>
                <a:ext cx="675" cy="16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8" name="Text Box 168">
                <a:extLst>
                  <a:ext uri="{FF2B5EF4-FFF2-40B4-BE49-F238E27FC236}">
                    <a16:creationId xmlns:a16="http://schemas.microsoft.com/office/drawing/2014/main" id="{FAF5722C-69B4-6B44-95D4-000562ACFDF9}"/>
                  </a:ext>
                </a:extLst>
              </p:cNvPr>
              <p:cNvSpPr txBox="1">
                <a:spLocks noChangeArrowheads="1"/>
              </p:cNvSpPr>
              <p:nvPr/>
            </p:nvSpPr>
            <p:spPr bwMode="auto">
              <a:xfrm>
                <a:off x="1065" y="2085"/>
                <a:ext cx="803"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acc_conn(x)</a:t>
                </a:r>
              </a:p>
            </p:txBody>
          </p:sp>
        </p:grpSp>
        <p:sp>
          <p:nvSpPr>
            <p:cNvPr id="372" name="Line 169">
              <a:extLst>
                <a:ext uri="{FF2B5EF4-FFF2-40B4-BE49-F238E27FC236}">
                  <a16:creationId xmlns:a16="http://schemas.microsoft.com/office/drawing/2014/main" id="{73E51126-71B9-DA4D-B01B-7072D4E22BDC}"/>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3" name="Rectangle 170">
              <a:extLst>
                <a:ext uri="{FF2B5EF4-FFF2-40B4-BE49-F238E27FC236}">
                  <a16:creationId xmlns:a16="http://schemas.microsoft.com/office/drawing/2014/main" id="{8B70B875-EE96-E044-B8D9-41CF1BBB693D}"/>
                </a:ext>
              </a:extLst>
            </p:cNvPr>
            <p:cNvSpPr>
              <a:spLocks noChangeArrowheads="1"/>
            </p:cNvSpPr>
            <p:nvPr/>
          </p:nvSpPr>
          <p:spPr bwMode="auto">
            <a:xfrm>
              <a:off x="4077" y="2336"/>
              <a:ext cx="490" cy="20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4" name="Text Box 171">
              <a:extLst>
                <a:ext uri="{FF2B5EF4-FFF2-40B4-BE49-F238E27FC236}">
                  <a16:creationId xmlns:a16="http://schemas.microsoft.com/office/drawing/2014/main" id="{069C4711-758D-CF4A-A407-6F22C98DCF70}"/>
                </a:ext>
              </a:extLst>
            </p:cNvPr>
            <p:cNvSpPr txBox="1">
              <a:spLocks noChangeArrowheads="1"/>
            </p:cNvSpPr>
            <p:nvPr/>
          </p:nvSpPr>
          <p:spPr bwMode="auto">
            <a:xfrm>
              <a:off x="3989" y="2315"/>
              <a:ext cx="688"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sp>
          <p:nvSpPr>
            <p:cNvPr id="375" name="Oval 172">
              <a:extLst>
                <a:ext uri="{FF2B5EF4-FFF2-40B4-BE49-F238E27FC236}">
                  <a16:creationId xmlns:a16="http://schemas.microsoft.com/office/drawing/2014/main" id="{B63CF324-44AD-D941-BFE9-6823A7212A48}"/>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sp>
          <p:nvSpPr>
            <p:cNvPr id="376" name="Text Box 173">
              <a:extLst>
                <a:ext uri="{FF2B5EF4-FFF2-40B4-BE49-F238E27FC236}">
                  <a16:creationId xmlns:a16="http://schemas.microsoft.com/office/drawing/2014/main" id="{21C7DDF1-6000-FA4F-8259-FD106EBA0F67}"/>
                </a:ext>
              </a:extLst>
            </p:cNvPr>
            <p:cNvSpPr txBox="1">
              <a:spLocks noChangeArrowheads="1"/>
            </p:cNvSpPr>
            <p:nvPr/>
          </p:nvSpPr>
          <p:spPr bwMode="auto">
            <a:xfrm>
              <a:off x="4890" y="2373"/>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accept</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grpSp>
          <p:nvGrpSpPr>
            <p:cNvPr id="377" name="Group 174">
              <a:extLst>
                <a:ext uri="{FF2B5EF4-FFF2-40B4-BE49-F238E27FC236}">
                  <a16:creationId xmlns:a16="http://schemas.microsoft.com/office/drawing/2014/main" id="{67E235CF-E2F0-4A4C-B6BE-CB6AC0D0B6B1}"/>
                </a:ext>
              </a:extLst>
            </p:cNvPr>
            <p:cNvGrpSpPr>
              <a:grpSpLocks/>
            </p:cNvGrpSpPr>
            <p:nvPr/>
          </p:nvGrpSpPr>
          <p:grpSpPr bwMode="auto">
            <a:xfrm>
              <a:off x="3826" y="2803"/>
              <a:ext cx="1515" cy="300"/>
              <a:chOff x="3818" y="2796"/>
              <a:chExt cx="1515" cy="300"/>
            </a:xfrm>
          </p:grpSpPr>
          <p:sp>
            <p:nvSpPr>
              <p:cNvPr id="415" name="Line 175">
                <a:extLst>
                  <a:ext uri="{FF2B5EF4-FFF2-40B4-BE49-F238E27FC236}">
                    <a16:creationId xmlns:a16="http://schemas.microsoft.com/office/drawing/2014/main" id="{BC5ADDF2-7CBC-484B-8D57-A55A75E1FA1C}"/>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6" name="Text Box 176">
                <a:extLst>
                  <a:ext uri="{FF2B5EF4-FFF2-40B4-BE49-F238E27FC236}">
                    <a16:creationId xmlns:a16="http://schemas.microsoft.com/office/drawing/2014/main" id="{4DB46F2E-E4BE-194B-8D43-E5E134B15493}"/>
                  </a:ext>
                </a:extLst>
              </p:cNvPr>
              <p:cNvSpPr txBox="1">
                <a:spLocks noChangeArrowheads="1"/>
              </p:cNvSpPr>
              <p:nvPr/>
            </p:nvSpPr>
            <p:spPr bwMode="auto">
              <a:xfrm>
                <a:off x="3989" y="2796"/>
                <a:ext cx="706" cy="30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x completes</a:t>
                </a:r>
              </a:p>
            </p:txBody>
          </p:sp>
        </p:grpSp>
        <p:sp>
          <p:nvSpPr>
            <p:cNvPr id="378" name="Text Box 177">
              <a:extLst>
                <a:ext uri="{FF2B5EF4-FFF2-40B4-BE49-F238E27FC236}">
                  <a16:creationId xmlns:a16="http://schemas.microsoft.com/office/drawing/2014/main" id="{1C719B44-FA92-594B-8E17-4A5C23A8F44E}"/>
                </a:ext>
              </a:extLst>
            </p:cNvPr>
            <p:cNvSpPr txBox="1">
              <a:spLocks noChangeArrowheads="1"/>
            </p:cNvSpPr>
            <p:nvPr/>
          </p:nvSpPr>
          <p:spPr bwMode="auto">
            <a:xfrm>
              <a:off x="4830" y="2962"/>
              <a:ext cx="738" cy="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server</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forgets x</a:t>
              </a:r>
            </a:p>
          </p:txBody>
        </p:sp>
        <p:grpSp>
          <p:nvGrpSpPr>
            <p:cNvPr id="379" name="Group 178">
              <a:extLst>
                <a:ext uri="{FF2B5EF4-FFF2-40B4-BE49-F238E27FC236}">
                  <a16:creationId xmlns:a16="http://schemas.microsoft.com/office/drawing/2014/main" id="{EC86099C-C8AD-6846-8AE7-34CA041B869C}"/>
                </a:ext>
              </a:extLst>
            </p:cNvPr>
            <p:cNvGrpSpPr>
              <a:grpSpLocks/>
            </p:cNvGrpSpPr>
            <p:nvPr/>
          </p:nvGrpSpPr>
          <p:grpSpPr bwMode="auto">
            <a:xfrm>
              <a:off x="3570" y="1119"/>
              <a:ext cx="391" cy="307"/>
              <a:chOff x="-44" y="1473"/>
              <a:chExt cx="981" cy="1105"/>
            </a:xfrm>
          </p:grpSpPr>
          <p:pic>
            <p:nvPicPr>
              <p:cNvPr id="413" name="Picture 179" descr="desktop_computer_stylized_medium">
                <a:extLst>
                  <a:ext uri="{FF2B5EF4-FFF2-40B4-BE49-F238E27FC236}">
                    <a16:creationId xmlns:a16="http://schemas.microsoft.com/office/drawing/2014/main" id="{F1C9C236-427D-834B-8DAC-99F53A437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4" name="Freeform 180">
                <a:extLst>
                  <a:ext uri="{FF2B5EF4-FFF2-40B4-BE49-F238E27FC236}">
                    <a16:creationId xmlns:a16="http://schemas.microsoft.com/office/drawing/2014/main" id="{77EA5CD5-1868-AB46-B031-A7892A487F0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80" name="Group 181">
              <a:extLst>
                <a:ext uri="{FF2B5EF4-FFF2-40B4-BE49-F238E27FC236}">
                  <a16:creationId xmlns:a16="http://schemas.microsoft.com/office/drawing/2014/main" id="{D3F68FA6-F7DF-A146-A605-ABBDC8F8EFF8}"/>
                </a:ext>
              </a:extLst>
            </p:cNvPr>
            <p:cNvGrpSpPr>
              <a:grpSpLocks/>
            </p:cNvGrpSpPr>
            <p:nvPr/>
          </p:nvGrpSpPr>
          <p:grpSpPr bwMode="auto">
            <a:xfrm>
              <a:off x="4709" y="1107"/>
              <a:ext cx="212" cy="323"/>
              <a:chOff x="4140" y="429"/>
              <a:chExt cx="1425" cy="2396"/>
            </a:xfrm>
          </p:grpSpPr>
          <p:sp>
            <p:nvSpPr>
              <p:cNvPr id="381" name="Freeform 182">
                <a:extLst>
                  <a:ext uri="{FF2B5EF4-FFF2-40B4-BE49-F238E27FC236}">
                    <a16:creationId xmlns:a16="http://schemas.microsoft.com/office/drawing/2014/main" id="{1D2E36D3-F983-B54A-87F8-4B0FB1D0A97A}"/>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2" name="Rectangle 183">
                <a:extLst>
                  <a:ext uri="{FF2B5EF4-FFF2-40B4-BE49-F238E27FC236}">
                    <a16:creationId xmlns:a16="http://schemas.microsoft.com/office/drawing/2014/main" id="{86762413-0C19-5E4F-AA7E-12F7BBEF4FE0}"/>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3" name="Freeform 184">
                <a:extLst>
                  <a:ext uri="{FF2B5EF4-FFF2-40B4-BE49-F238E27FC236}">
                    <a16:creationId xmlns:a16="http://schemas.microsoft.com/office/drawing/2014/main" id="{9ABD2B3D-5A73-0E4B-91D1-78596AD0A854}"/>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4" name="Freeform 185">
                <a:extLst>
                  <a:ext uri="{FF2B5EF4-FFF2-40B4-BE49-F238E27FC236}">
                    <a16:creationId xmlns:a16="http://schemas.microsoft.com/office/drawing/2014/main" id="{CAECD6F3-58BC-F24D-9434-643EDC4E7A8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5" name="Rectangle 186">
                <a:extLst>
                  <a:ext uri="{FF2B5EF4-FFF2-40B4-BE49-F238E27FC236}">
                    <a16:creationId xmlns:a16="http://schemas.microsoft.com/office/drawing/2014/main" id="{D640048A-92E5-F240-B20B-73B8FE8B2413}"/>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86" name="Group 187">
                <a:extLst>
                  <a:ext uri="{FF2B5EF4-FFF2-40B4-BE49-F238E27FC236}">
                    <a16:creationId xmlns:a16="http://schemas.microsoft.com/office/drawing/2014/main" id="{55FC97C6-B1FB-854D-94BE-E7BED8E1DC83}"/>
                  </a:ext>
                </a:extLst>
              </p:cNvPr>
              <p:cNvGrpSpPr>
                <a:grpSpLocks/>
              </p:cNvGrpSpPr>
              <p:nvPr/>
            </p:nvGrpSpPr>
            <p:grpSpPr bwMode="auto">
              <a:xfrm>
                <a:off x="4749" y="668"/>
                <a:ext cx="581" cy="145"/>
                <a:chOff x="614" y="2568"/>
                <a:chExt cx="725" cy="139"/>
              </a:xfrm>
            </p:grpSpPr>
            <p:sp>
              <p:nvSpPr>
                <p:cNvPr id="411" name="AutoShape 188">
                  <a:extLst>
                    <a:ext uri="{FF2B5EF4-FFF2-40B4-BE49-F238E27FC236}">
                      <a16:creationId xmlns:a16="http://schemas.microsoft.com/office/drawing/2014/main" id="{E2DCD474-0D76-1D47-938B-0347B4119D35}"/>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2" name="AutoShape 189">
                  <a:extLst>
                    <a:ext uri="{FF2B5EF4-FFF2-40B4-BE49-F238E27FC236}">
                      <a16:creationId xmlns:a16="http://schemas.microsoft.com/office/drawing/2014/main" id="{ADC0CDA4-3ACC-784D-AFDA-1C6EA9C5411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7" name="Rectangle 190">
                <a:extLst>
                  <a:ext uri="{FF2B5EF4-FFF2-40B4-BE49-F238E27FC236}">
                    <a16:creationId xmlns:a16="http://schemas.microsoft.com/office/drawing/2014/main" id="{AEEFE7D3-0B38-EE42-AA94-340CFCA0C0A3}"/>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88" name="Group 191">
                <a:extLst>
                  <a:ext uri="{FF2B5EF4-FFF2-40B4-BE49-F238E27FC236}">
                    <a16:creationId xmlns:a16="http://schemas.microsoft.com/office/drawing/2014/main" id="{3BFA70F3-4887-4A45-A0B0-300E77757667}"/>
                  </a:ext>
                </a:extLst>
              </p:cNvPr>
              <p:cNvGrpSpPr>
                <a:grpSpLocks/>
              </p:cNvGrpSpPr>
              <p:nvPr/>
            </p:nvGrpSpPr>
            <p:grpSpPr bwMode="auto">
              <a:xfrm>
                <a:off x="4747" y="994"/>
                <a:ext cx="581" cy="134"/>
                <a:chOff x="614" y="2568"/>
                <a:chExt cx="725" cy="139"/>
              </a:xfrm>
            </p:grpSpPr>
            <p:sp>
              <p:nvSpPr>
                <p:cNvPr id="409" name="AutoShape 192">
                  <a:extLst>
                    <a:ext uri="{FF2B5EF4-FFF2-40B4-BE49-F238E27FC236}">
                      <a16:creationId xmlns:a16="http://schemas.microsoft.com/office/drawing/2014/main" id="{14B933DF-A76C-E94B-9362-3D28B4CBFFB6}"/>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0" name="AutoShape 193">
                  <a:extLst>
                    <a:ext uri="{FF2B5EF4-FFF2-40B4-BE49-F238E27FC236}">
                      <a16:creationId xmlns:a16="http://schemas.microsoft.com/office/drawing/2014/main" id="{D1EC9173-2D5E-F641-9324-62AF5244C467}"/>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9" name="Rectangle 194">
                <a:extLst>
                  <a:ext uri="{FF2B5EF4-FFF2-40B4-BE49-F238E27FC236}">
                    <a16:creationId xmlns:a16="http://schemas.microsoft.com/office/drawing/2014/main" id="{B180E0D5-32AA-5A4A-92D4-28F216DC536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0" name="Rectangle 195">
                <a:extLst>
                  <a:ext uri="{FF2B5EF4-FFF2-40B4-BE49-F238E27FC236}">
                    <a16:creationId xmlns:a16="http://schemas.microsoft.com/office/drawing/2014/main" id="{A3E70690-FEFF-2446-B890-3315B37B0B0D}"/>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1" name="Group 196">
                <a:extLst>
                  <a:ext uri="{FF2B5EF4-FFF2-40B4-BE49-F238E27FC236}">
                    <a16:creationId xmlns:a16="http://schemas.microsoft.com/office/drawing/2014/main" id="{4184D53B-C370-5248-82BB-5D96E5BF521A}"/>
                  </a:ext>
                </a:extLst>
              </p:cNvPr>
              <p:cNvGrpSpPr>
                <a:grpSpLocks/>
              </p:cNvGrpSpPr>
              <p:nvPr/>
            </p:nvGrpSpPr>
            <p:grpSpPr bwMode="auto">
              <a:xfrm>
                <a:off x="4735" y="1627"/>
                <a:ext cx="582" cy="151"/>
                <a:chOff x="614" y="2568"/>
                <a:chExt cx="725" cy="139"/>
              </a:xfrm>
            </p:grpSpPr>
            <p:sp>
              <p:nvSpPr>
                <p:cNvPr id="407" name="AutoShape 197">
                  <a:extLst>
                    <a:ext uri="{FF2B5EF4-FFF2-40B4-BE49-F238E27FC236}">
                      <a16:creationId xmlns:a16="http://schemas.microsoft.com/office/drawing/2014/main" id="{66CD18C8-97C8-AD49-8806-45F2C3FA3A20}"/>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8" name="AutoShape 198">
                  <a:extLst>
                    <a:ext uri="{FF2B5EF4-FFF2-40B4-BE49-F238E27FC236}">
                      <a16:creationId xmlns:a16="http://schemas.microsoft.com/office/drawing/2014/main" id="{E4596270-7ACC-5941-82EB-426AAF88315D}"/>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2" name="Freeform 199">
                <a:extLst>
                  <a:ext uri="{FF2B5EF4-FFF2-40B4-BE49-F238E27FC236}">
                    <a16:creationId xmlns:a16="http://schemas.microsoft.com/office/drawing/2014/main" id="{8D520046-573E-1549-A1AD-345D7B8191CB}"/>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93" name="Group 200">
                <a:extLst>
                  <a:ext uri="{FF2B5EF4-FFF2-40B4-BE49-F238E27FC236}">
                    <a16:creationId xmlns:a16="http://schemas.microsoft.com/office/drawing/2014/main" id="{CBDA9A7E-0A7F-D64B-867D-2FC72D58322A}"/>
                  </a:ext>
                </a:extLst>
              </p:cNvPr>
              <p:cNvGrpSpPr>
                <a:grpSpLocks/>
              </p:cNvGrpSpPr>
              <p:nvPr/>
            </p:nvGrpSpPr>
            <p:grpSpPr bwMode="auto">
              <a:xfrm>
                <a:off x="4739" y="1327"/>
                <a:ext cx="582" cy="139"/>
                <a:chOff x="614" y="2568"/>
                <a:chExt cx="725" cy="139"/>
              </a:xfrm>
            </p:grpSpPr>
            <p:sp>
              <p:nvSpPr>
                <p:cNvPr id="405" name="AutoShape 201">
                  <a:extLst>
                    <a:ext uri="{FF2B5EF4-FFF2-40B4-BE49-F238E27FC236}">
                      <a16:creationId xmlns:a16="http://schemas.microsoft.com/office/drawing/2014/main" id="{F7CB7A1E-7741-E24C-AFB5-5F057AFD0C52}"/>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6" name="AutoShape 202">
                  <a:extLst>
                    <a:ext uri="{FF2B5EF4-FFF2-40B4-BE49-F238E27FC236}">
                      <a16:creationId xmlns:a16="http://schemas.microsoft.com/office/drawing/2014/main" id="{93BC514D-19E5-DF47-87E9-7BF859D2435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4" name="Rectangle 203">
                <a:extLst>
                  <a:ext uri="{FF2B5EF4-FFF2-40B4-BE49-F238E27FC236}">
                    <a16:creationId xmlns:a16="http://schemas.microsoft.com/office/drawing/2014/main" id="{992A2C09-2187-A749-9718-F045A2349EA9}"/>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5" name="Freeform 204">
                <a:extLst>
                  <a:ext uri="{FF2B5EF4-FFF2-40B4-BE49-F238E27FC236}">
                    <a16:creationId xmlns:a16="http://schemas.microsoft.com/office/drawing/2014/main" id="{D473F289-DF79-1D4B-BA3A-57AFA552A24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6" name="Freeform 205">
                <a:extLst>
                  <a:ext uri="{FF2B5EF4-FFF2-40B4-BE49-F238E27FC236}">
                    <a16:creationId xmlns:a16="http://schemas.microsoft.com/office/drawing/2014/main" id="{55F98009-7662-6D40-889B-2D6F20DE3EA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7" name="Oval 206">
                <a:extLst>
                  <a:ext uri="{FF2B5EF4-FFF2-40B4-BE49-F238E27FC236}">
                    <a16:creationId xmlns:a16="http://schemas.microsoft.com/office/drawing/2014/main" id="{8C0E348C-3A61-F54D-B6E7-8EEC0C479961}"/>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8" name="Freeform 207">
                <a:extLst>
                  <a:ext uri="{FF2B5EF4-FFF2-40B4-BE49-F238E27FC236}">
                    <a16:creationId xmlns:a16="http://schemas.microsoft.com/office/drawing/2014/main" id="{06CDC36B-C766-0244-ABF7-3336A9C2E7B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9" name="AutoShape 208">
                <a:extLst>
                  <a:ext uri="{FF2B5EF4-FFF2-40B4-BE49-F238E27FC236}">
                    <a16:creationId xmlns:a16="http://schemas.microsoft.com/office/drawing/2014/main" id="{E47AE9BE-71F7-0C40-BB36-B6201EAE727F}"/>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0" name="AutoShape 209">
                <a:extLst>
                  <a:ext uri="{FF2B5EF4-FFF2-40B4-BE49-F238E27FC236}">
                    <a16:creationId xmlns:a16="http://schemas.microsoft.com/office/drawing/2014/main" id="{6DDF70D2-966F-0443-BFEC-34DC981AB2D8}"/>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1" name="Oval 210">
                <a:extLst>
                  <a:ext uri="{FF2B5EF4-FFF2-40B4-BE49-F238E27FC236}">
                    <a16:creationId xmlns:a16="http://schemas.microsoft.com/office/drawing/2014/main" id="{DFF00D08-0F51-F044-8429-6F3D5CC28DB2}"/>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2" name="Oval 211">
                <a:extLst>
                  <a:ext uri="{FF2B5EF4-FFF2-40B4-BE49-F238E27FC236}">
                    <a16:creationId xmlns:a16="http://schemas.microsoft.com/office/drawing/2014/main" id="{BBFCC1D5-E5D6-FB46-9D8C-E8CE8BFE2270}"/>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03" name="Oval 212">
                <a:extLst>
                  <a:ext uri="{FF2B5EF4-FFF2-40B4-BE49-F238E27FC236}">
                    <a16:creationId xmlns:a16="http://schemas.microsoft.com/office/drawing/2014/main" id="{F4244C1D-3E80-C847-BD71-A4309DAB13CE}"/>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4" name="Rectangle 213">
                <a:extLst>
                  <a:ext uri="{FF2B5EF4-FFF2-40B4-BE49-F238E27FC236}">
                    <a16:creationId xmlns:a16="http://schemas.microsoft.com/office/drawing/2014/main" id="{F13C27D5-275D-5C47-9B76-D6F9DDED6AD3}"/>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0" name="Group 9">
            <a:extLst>
              <a:ext uri="{FF2B5EF4-FFF2-40B4-BE49-F238E27FC236}">
                <a16:creationId xmlns:a16="http://schemas.microsoft.com/office/drawing/2014/main" id="{3BB0CBF7-361A-5548-A01C-90FF3005AB01}"/>
              </a:ext>
            </a:extLst>
          </p:cNvPr>
          <p:cNvGrpSpPr/>
          <p:nvPr/>
        </p:nvGrpSpPr>
        <p:grpSpPr>
          <a:xfrm>
            <a:off x="9120415" y="5983461"/>
            <a:ext cx="3548742" cy="830997"/>
            <a:chOff x="8757558" y="5903267"/>
            <a:chExt cx="3548742" cy="830997"/>
          </a:xfrm>
        </p:grpSpPr>
        <p:sp>
          <p:nvSpPr>
            <p:cNvPr id="491" name="TextBox 490">
              <a:extLst>
                <a:ext uri="{FF2B5EF4-FFF2-40B4-BE49-F238E27FC236}">
                  <a16:creationId xmlns:a16="http://schemas.microsoft.com/office/drawing/2014/main" id="{9C02D14E-840C-344B-9763-DE44A289373C}"/>
                </a:ext>
              </a:extLst>
            </p:cNvPr>
            <p:cNvSpPr txBox="1"/>
            <p:nvPr/>
          </p:nvSpPr>
          <p:spPr>
            <a:xfrm>
              <a:off x="9372601" y="5903267"/>
              <a:ext cx="293369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Problem: dup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accepted!</a:t>
              </a:r>
            </a:p>
          </p:txBody>
        </p:sp>
        <p:pic>
          <p:nvPicPr>
            <p:cNvPr id="492" name="Picture 491" descr="A picture containing drawing&#10;&#10;Description automatically generated">
              <a:extLst>
                <a:ext uri="{FF2B5EF4-FFF2-40B4-BE49-F238E27FC236}">
                  <a16:creationId xmlns:a16="http://schemas.microsoft.com/office/drawing/2014/main" id="{44630E30-AB86-2744-AC77-B540735E14B7}"/>
                </a:ext>
              </a:extLst>
            </p:cNvPr>
            <p:cNvPicPr>
              <a:picLocks noChangeAspect="1"/>
            </p:cNvPicPr>
            <p:nvPr/>
          </p:nvPicPr>
          <p:blipFill>
            <a:blip r:embed="rId4"/>
            <a:stretch>
              <a:fillRect/>
            </a:stretch>
          </p:blipFill>
          <p:spPr>
            <a:xfrm>
              <a:off x="8757558" y="6003472"/>
              <a:ext cx="636815" cy="636815"/>
            </a:xfrm>
            <a:prstGeom prst="rect">
              <a:avLst/>
            </a:prstGeom>
          </p:spPr>
        </p:pic>
      </p:grpSp>
      <p:grpSp>
        <p:nvGrpSpPr>
          <p:cNvPr id="13" name="Group 12">
            <a:extLst>
              <a:ext uri="{FF2B5EF4-FFF2-40B4-BE49-F238E27FC236}">
                <a16:creationId xmlns:a16="http://schemas.microsoft.com/office/drawing/2014/main" id="{FF4B12AC-451D-994B-8F10-E450C0737005}"/>
              </a:ext>
            </a:extLst>
          </p:cNvPr>
          <p:cNvGrpSpPr/>
          <p:nvPr/>
        </p:nvGrpSpPr>
        <p:grpSpPr>
          <a:xfrm>
            <a:off x="8091532" y="3683267"/>
            <a:ext cx="3997325" cy="2365375"/>
            <a:chOff x="3185703" y="3422010"/>
            <a:chExt cx="3997325" cy="2365375"/>
          </a:xfrm>
        </p:grpSpPr>
        <p:sp>
          <p:nvSpPr>
            <p:cNvPr id="302" name="Freeform 86">
              <a:extLst>
                <a:ext uri="{FF2B5EF4-FFF2-40B4-BE49-F238E27FC236}">
                  <a16:creationId xmlns:a16="http://schemas.microsoft.com/office/drawing/2014/main" id="{38A816A8-A2A7-7540-BCC4-F843FEC5A429}"/>
                </a:ext>
              </a:extLst>
            </p:cNvPr>
            <p:cNvSpPr>
              <a:spLocks/>
            </p:cNvSpPr>
            <p:nvPr/>
          </p:nvSpPr>
          <p:spPr bwMode="auto">
            <a:xfrm>
              <a:off x="4431891" y="3661722"/>
              <a:ext cx="1501775" cy="1897063"/>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3" name="Rectangle 88">
              <a:extLst>
                <a:ext uri="{FF2B5EF4-FFF2-40B4-BE49-F238E27FC236}">
                  <a16:creationId xmlns:a16="http://schemas.microsoft.com/office/drawing/2014/main" id="{2B3E4B53-E066-C34C-A204-C42E865280B3}"/>
                </a:ext>
              </a:extLst>
            </p:cNvPr>
            <p:cNvSpPr>
              <a:spLocks noChangeArrowheads="1"/>
            </p:cNvSpPr>
            <p:nvPr/>
          </p:nvSpPr>
          <p:spPr bwMode="auto">
            <a:xfrm>
              <a:off x="4782728" y="5196835"/>
              <a:ext cx="711200" cy="2825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4" name="Text Box 87">
              <a:extLst>
                <a:ext uri="{FF2B5EF4-FFF2-40B4-BE49-F238E27FC236}">
                  <a16:creationId xmlns:a16="http://schemas.microsoft.com/office/drawing/2014/main" id="{3D13DFEA-C794-CD4D-B546-BEBC15495B31}"/>
                </a:ext>
              </a:extLst>
            </p:cNvPr>
            <p:cNvSpPr txBox="1">
              <a:spLocks noChangeArrowheads="1"/>
            </p:cNvSpPr>
            <p:nvPr/>
          </p:nvSpPr>
          <p:spPr bwMode="auto">
            <a:xfrm>
              <a:off x="4468403" y="5152385"/>
              <a:ext cx="1092200"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sp>
          <p:nvSpPr>
            <p:cNvPr id="305" name="Text Box 89">
              <a:extLst>
                <a:ext uri="{FF2B5EF4-FFF2-40B4-BE49-F238E27FC236}">
                  <a16:creationId xmlns:a16="http://schemas.microsoft.com/office/drawing/2014/main" id="{5708E844-9ADD-5141-AEAF-930791B6807E}"/>
                </a:ext>
              </a:extLst>
            </p:cNvPr>
            <p:cNvSpPr txBox="1">
              <a:spLocks noChangeArrowheads="1"/>
            </p:cNvSpPr>
            <p:nvPr/>
          </p:nvSpPr>
          <p:spPr bwMode="auto">
            <a:xfrm>
              <a:off x="3185703" y="3422010"/>
              <a:ext cx="1273175"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retransmit</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6" name="Text Box 90">
              <a:extLst>
                <a:ext uri="{FF2B5EF4-FFF2-40B4-BE49-F238E27FC236}">
                  <a16:creationId xmlns:a16="http://schemas.microsoft.com/office/drawing/2014/main" id="{32C37D16-8B61-D246-B162-8D0E36A5BA9F}"/>
                </a:ext>
              </a:extLst>
            </p:cNvPr>
            <p:cNvSpPr txBox="1">
              <a:spLocks noChangeArrowheads="1"/>
            </p:cNvSpPr>
            <p:nvPr/>
          </p:nvSpPr>
          <p:spPr bwMode="auto">
            <a:xfrm>
              <a:off x="6011453" y="5279385"/>
              <a:ext cx="1171575" cy="50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accept</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data(x+1)</a:t>
              </a:r>
            </a:p>
          </p:txBody>
        </p:sp>
      </p:grpSp>
      <p:grpSp>
        <p:nvGrpSpPr>
          <p:cNvPr id="12" name="Group 11">
            <a:extLst>
              <a:ext uri="{FF2B5EF4-FFF2-40B4-BE49-F238E27FC236}">
                <a16:creationId xmlns:a16="http://schemas.microsoft.com/office/drawing/2014/main" id="{2FBF50D0-D345-1348-8991-01B659F7A8D4}"/>
              </a:ext>
            </a:extLst>
          </p:cNvPr>
          <p:cNvGrpSpPr/>
          <p:nvPr/>
        </p:nvGrpSpPr>
        <p:grpSpPr>
          <a:xfrm>
            <a:off x="7997186" y="2493962"/>
            <a:ext cx="3646488" cy="2992438"/>
            <a:chOff x="3134903" y="2369497"/>
            <a:chExt cx="3646488" cy="2992438"/>
          </a:xfrm>
        </p:grpSpPr>
        <p:grpSp>
          <p:nvGrpSpPr>
            <p:cNvPr id="7" name="Group 6">
              <a:extLst>
                <a:ext uri="{FF2B5EF4-FFF2-40B4-BE49-F238E27FC236}">
                  <a16:creationId xmlns:a16="http://schemas.microsoft.com/office/drawing/2014/main" id="{6190F2C1-0C5D-3A42-A359-9CD3AF8C99E1}"/>
                </a:ext>
              </a:extLst>
            </p:cNvPr>
            <p:cNvGrpSpPr/>
            <p:nvPr/>
          </p:nvGrpSpPr>
          <p:grpSpPr>
            <a:xfrm>
              <a:off x="3134903" y="2369497"/>
              <a:ext cx="3646488" cy="2992438"/>
              <a:chOff x="3134903" y="2369497"/>
              <a:chExt cx="3646488" cy="2992438"/>
            </a:xfrm>
          </p:grpSpPr>
          <p:grpSp>
            <p:nvGrpSpPr>
              <p:cNvPr id="5" name="Group 4">
                <a:extLst>
                  <a:ext uri="{FF2B5EF4-FFF2-40B4-BE49-F238E27FC236}">
                    <a16:creationId xmlns:a16="http://schemas.microsoft.com/office/drawing/2014/main" id="{56EB4120-1B3C-1046-99F5-B25161010680}"/>
                  </a:ext>
                </a:extLst>
              </p:cNvPr>
              <p:cNvGrpSpPr/>
              <p:nvPr/>
            </p:nvGrpSpPr>
            <p:grpSpPr>
              <a:xfrm>
                <a:off x="3134903" y="2369497"/>
                <a:ext cx="3646488" cy="2992438"/>
                <a:chOff x="3134903" y="2369497"/>
                <a:chExt cx="3646488" cy="2992438"/>
              </a:xfrm>
            </p:grpSpPr>
            <p:sp>
              <p:nvSpPr>
                <p:cNvPr id="296" name="Text Box 69">
                  <a:extLst>
                    <a:ext uri="{FF2B5EF4-FFF2-40B4-BE49-F238E27FC236}">
                      <a16:creationId xmlns:a16="http://schemas.microsoft.com/office/drawing/2014/main" id="{EE39D5A5-75E8-1642-A928-9D7249ADC116}"/>
                    </a:ext>
                  </a:extLst>
                </p:cNvPr>
                <p:cNvSpPr txBox="1">
                  <a:spLocks noChangeArrowheads="1"/>
                </p:cNvSpPr>
                <p:nvPr/>
              </p:nvSpPr>
              <p:spPr bwMode="auto">
                <a:xfrm>
                  <a:off x="3134903" y="2369497"/>
                  <a:ext cx="1273175"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retransmit</a:t>
                  </a:r>
                </a:p>
                <a:p>
                  <a:pPr marL="0" marR="0" lvl="0" indent="0" algn="r" defTabSz="914400" rtl="0" eaLnBrk="0" fontAlgn="base" latinLnBrk="0" hangingPunct="0">
                    <a:lnSpc>
                      <a:spcPct val="85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req_conn(x)</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97" name="Freeform 70">
                  <a:extLst>
                    <a:ext uri="{FF2B5EF4-FFF2-40B4-BE49-F238E27FC236}">
                      <a16:creationId xmlns:a16="http://schemas.microsoft.com/office/drawing/2014/main" id="{87666E37-BAB8-714B-BDF4-51ADC162FD6B}"/>
                    </a:ext>
                  </a:extLst>
                </p:cNvPr>
                <p:cNvSpPr>
                  <a:spLocks/>
                </p:cNvSpPr>
                <p:nvPr/>
              </p:nvSpPr>
              <p:spPr bwMode="auto">
                <a:xfrm>
                  <a:off x="4449353" y="2671122"/>
                  <a:ext cx="1527175" cy="2559050"/>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8" name="Text Box 71">
                  <a:extLst>
                    <a:ext uri="{FF2B5EF4-FFF2-40B4-BE49-F238E27FC236}">
                      <a16:creationId xmlns:a16="http://schemas.microsoft.com/office/drawing/2014/main" id="{B25E41D2-C0CA-EB48-880B-B13A1DD07596}"/>
                    </a:ext>
                  </a:extLst>
                </p:cNvPr>
                <p:cNvSpPr txBox="1">
                  <a:spLocks noChangeArrowheads="1"/>
                </p:cNvSpPr>
                <p:nvPr/>
              </p:nvSpPr>
              <p:spPr bwMode="auto">
                <a:xfrm>
                  <a:off x="6009866" y="5025385"/>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grpSp>
          <p:sp>
            <p:nvSpPr>
              <p:cNvPr id="299" name="Oval 72">
                <a:extLst>
                  <a:ext uri="{FF2B5EF4-FFF2-40B4-BE49-F238E27FC236}">
                    <a16:creationId xmlns:a16="http://schemas.microsoft.com/office/drawing/2014/main" id="{64BE47B6-AB1B-DB4F-891D-6475A8808F8F}"/>
                  </a:ext>
                </a:extLst>
              </p:cNvPr>
              <p:cNvSpPr>
                <a:spLocks noChangeArrowheads="1"/>
              </p:cNvSpPr>
              <p:nvPr/>
            </p:nvSpPr>
            <p:spPr bwMode="auto">
              <a:xfrm>
                <a:off x="5933666" y="5152385"/>
                <a:ext cx="90488" cy="88900"/>
              </a:xfrm>
              <a:prstGeom prst="ellipse">
                <a:avLst/>
              </a:prstGeom>
              <a:solidFill>
                <a:srgbClr val="CC0000"/>
              </a:solidFill>
              <a:ln w="9525">
                <a:solidFill>
                  <a:srgbClr val="CC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endParaRPr>
              </a:p>
            </p:txBody>
          </p:sp>
        </p:grpSp>
        <p:sp>
          <p:nvSpPr>
            <p:cNvPr id="300" name="Rectangle 74">
              <a:extLst>
                <a:ext uri="{FF2B5EF4-FFF2-40B4-BE49-F238E27FC236}">
                  <a16:creationId xmlns:a16="http://schemas.microsoft.com/office/drawing/2014/main" id="{27FAA0CE-40E3-9343-AB09-AE069D66FDA9}"/>
                </a:ext>
              </a:extLst>
            </p:cNvPr>
            <p:cNvSpPr>
              <a:spLocks noChangeArrowheads="1"/>
            </p:cNvSpPr>
            <p:nvPr/>
          </p:nvSpPr>
          <p:spPr bwMode="auto">
            <a:xfrm>
              <a:off x="4660491" y="4725570"/>
              <a:ext cx="1071563" cy="26035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1" name="Text Box 75">
              <a:extLst>
                <a:ext uri="{FF2B5EF4-FFF2-40B4-BE49-F238E27FC236}">
                  <a16:creationId xmlns:a16="http://schemas.microsoft.com/office/drawing/2014/main" id="{DDB36B2F-A920-A540-B13F-3450D027F31C}"/>
                </a:ext>
              </a:extLst>
            </p:cNvPr>
            <p:cNvSpPr txBox="1">
              <a:spLocks noChangeArrowheads="1"/>
            </p:cNvSpPr>
            <p:nvPr/>
          </p:nvSpPr>
          <p:spPr bwMode="auto">
            <a:xfrm>
              <a:off x="4768441" y="4650731"/>
              <a:ext cx="1273175"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req_conn(x)</a:t>
              </a:r>
            </a:p>
          </p:txBody>
        </p:sp>
      </p:grpSp>
      <p:sp>
        <p:nvSpPr>
          <p:cNvPr id="14" name="Freeform 13">
            <a:extLst>
              <a:ext uri="{FF2B5EF4-FFF2-40B4-BE49-F238E27FC236}">
                <a16:creationId xmlns:a16="http://schemas.microsoft.com/office/drawing/2014/main" id="{1777275B-B883-3D44-8A7B-6DD2718917C4}"/>
              </a:ext>
            </a:extLst>
          </p:cNvPr>
          <p:cNvSpPr/>
          <p:nvPr/>
        </p:nvSpPr>
        <p:spPr>
          <a:xfrm>
            <a:off x="7997371" y="1857830"/>
            <a:ext cx="4194629" cy="3062514"/>
          </a:xfrm>
          <a:custGeom>
            <a:avLst/>
            <a:gdLst>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481943 w 3889829"/>
              <a:gd name="connsiteY8" fmla="*/ 2540000 h 3106057"/>
              <a:gd name="connsiteX9" fmla="*/ 1190172 w 3889829"/>
              <a:gd name="connsiteY9" fmla="*/ 2931886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598057 w 3889829"/>
              <a:gd name="connsiteY8" fmla="*/ 2525486 h 3106057"/>
              <a:gd name="connsiteX9" fmla="*/ 1190172 w 3889829"/>
              <a:gd name="connsiteY9" fmla="*/ 2931886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598057 w 3889829"/>
              <a:gd name="connsiteY8" fmla="*/ 2525486 h 3106057"/>
              <a:gd name="connsiteX9" fmla="*/ 2249715 w 3889829"/>
              <a:gd name="connsiteY9" fmla="*/ 2801257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106057"/>
              <a:gd name="connsiteX1" fmla="*/ 1016000 w 3889829"/>
              <a:gd name="connsiteY1" fmla="*/ 29029 h 3106057"/>
              <a:gd name="connsiteX2" fmla="*/ 1611086 w 3889829"/>
              <a:gd name="connsiteY2" fmla="*/ 58057 h 3106057"/>
              <a:gd name="connsiteX3" fmla="*/ 2989943 w 3889829"/>
              <a:gd name="connsiteY3" fmla="*/ 101600 h 3106057"/>
              <a:gd name="connsiteX4" fmla="*/ 3889829 w 3889829"/>
              <a:gd name="connsiteY4" fmla="*/ 87086 h 3106057"/>
              <a:gd name="connsiteX5" fmla="*/ 3860800 w 3889829"/>
              <a:gd name="connsiteY5" fmla="*/ 3091543 h 3106057"/>
              <a:gd name="connsiteX6" fmla="*/ 3468915 w 3889829"/>
              <a:gd name="connsiteY6" fmla="*/ 2540000 h 3106057"/>
              <a:gd name="connsiteX7" fmla="*/ 3265715 w 3889829"/>
              <a:gd name="connsiteY7" fmla="*/ 2510971 h 3106057"/>
              <a:gd name="connsiteX8" fmla="*/ 2598057 w 3889829"/>
              <a:gd name="connsiteY8" fmla="*/ 2525486 h 3106057"/>
              <a:gd name="connsiteX9" fmla="*/ 2235201 w 3889829"/>
              <a:gd name="connsiteY9" fmla="*/ 2801257 h 3106057"/>
              <a:gd name="connsiteX10" fmla="*/ 435429 w 3889829"/>
              <a:gd name="connsiteY10" fmla="*/ 3106057 h 3106057"/>
              <a:gd name="connsiteX11" fmla="*/ 29029 w 3889829"/>
              <a:gd name="connsiteY11" fmla="*/ 3062514 h 3106057"/>
              <a:gd name="connsiteX12" fmla="*/ 0 w 3889829"/>
              <a:gd name="connsiteY12" fmla="*/ 0 h 3106057"/>
              <a:gd name="connsiteX0" fmla="*/ 0 w 3889829"/>
              <a:gd name="connsiteY0" fmla="*/ 0 h 3091543"/>
              <a:gd name="connsiteX1" fmla="*/ 1016000 w 3889829"/>
              <a:gd name="connsiteY1" fmla="*/ 29029 h 3091543"/>
              <a:gd name="connsiteX2" fmla="*/ 1611086 w 3889829"/>
              <a:gd name="connsiteY2" fmla="*/ 58057 h 3091543"/>
              <a:gd name="connsiteX3" fmla="*/ 2989943 w 3889829"/>
              <a:gd name="connsiteY3" fmla="*/ 101600 h 3091543"/>
              <a:gd name="connsiteX4" fmla="*/ 3889829 w 3889829"/>
              <a:gd name="connsiteY4" fmla="*/ 87086 h 3091543"/>
              <a:gd name="connsiteX5" fmla="*/ 3860800 w 3889829"/>
              <a:gd name="connsiteY5" fmla="*/ 3091543 h 3091543"/>
              <a:gd name="connsiteX6" fmla="*/ 3468915 w 3889829"/>
              <a:gd name="connsiteY6" fmla="*/ 2540000 h 3091543"/>
              <a:gd name="connsiteX7" fmla="*/ 3265715 w 3889829"/>
              <a:gd name="connsiteY7" fmla="*/ 2510971 h 3091543"/>
              <a:gd name="connsiteX8" fmla="*/ 2598057 w 3889829"/>
              <a:gd name="connsiteY8" fmla="*/ 2525486 h 3091543"/>
              <a:gd name="connsiteX9" fmla="*/ 2235201 w 3889829"/>
              <a:gd name="connsiteY9" fmla="*/ 2801257 h 3091543"/>
              <a:gd name="connsiteX10" fmla="*/ 1088572 w 3889829"/>
              <a:gd name="connsiteY10" fmla="*/ 3033485 h 3091543"/>
              <a:gd name="connsiteX11" fmla="*/ 29029 w 3889829"/>
              <a:gd name="connsiteY11" fmla="*/ 3062514 h 3091543"/>
              <a:gd name="connsiteX12" fmla="*/ 0 w 3889829"/>
              <a:gd name="connsiteY12" fmla="*/ 0 h 3091543"/>
              <a:gd name="connsiteX0" fmla="*/ 0 w 4209143"/>
              <a:gd name="connsiteY0" fmla="*/ 14514 h 3062514"/>
              <a:gd name="connsiteX1" fmla="*/ 1335314 w 4209143"/>
              <a:gd name="connsiteY1" fmla="*/ 0 h 3062514"/>
              <a:gd name="connsiteX2" fmla="*/ 1930400 w 4209143"/>
              <a:gd name="connsiteY2" fmla="*/ 29028 h 3062514"/>
              <a:gd name="connsiteX3" fmla="*/ 3309257 w 4209143"/>
              <a:gd name="connsiteY3" fmla="*/ 72571 h 3062514"/>
              <a:gd name="connsiteX4" fmla="*/ 4209143 w 4209143"/>
              <a:gd name="connsiteY4" fmla="*/ 58057 h 3062514"/>
              <a:gd name="connsiteX5" fmla="*/ 4180114 w 4209143"/>
              <a:gd name="connsiteY5" fmla="*/ 3062514 h 3062514"/>
              <a:gd name="connsiteX6" fmla="*/ 3788229 w 4209143"/>
              <a:gd name="connsiteY6" fmla="*/ 2510971 h 3062514"/>
              <a:gd name="connsiteX7" fmla="*/ 3585029 w 4209143"/>
              <a:gd name="connsiteY7" fmla="*/ 2481942 h 3062514"/>
              <a:gd name="connsiteX8" fmla="*/ 2917371 w 4209143"/>
              <a:gd name="connsiteY8" fmla="*/ 2496457 h 3062514"/>
              <a:gd name="connsiteX9" fmla="*/ 2554515 w 4209143"/>
              <a:gd name="connsiteY9" fmla="*/ 2772228 h 3062514"/>
              <a:gd name="connsiteX10" fmla="*/ 1407886 w 4209143"/>
              <a:gd name="connsiteY10" fmla="*/ 3004456 h 3062514"/>
              <a:gd name="connsiteX11" fmla="*/ 348343 w 4209143"/>
              <a:gd name="connsiteY11" fmla="*/ 3033485 h 3062514"/>
              <a:gd name="connsiteX12" fmla="*/ 0 w 4209143"/>
              <a:gd name="connsiteY12" fmla="*/ 14514 h 3062514"/>
              <a:gd name="connsiteX0" fmla="*/ 0 w 4194629"/>
              <a:gd name="connsiteY0" fmla="*/ 29028 h 3062514"/>
              <a:gd name="connsiteX1" fmla="*/ 1320800 w 4194629"/>
              <a:gd name="connsiteY1" fmla="*/ 0 h 3062514"/>
              <a:gd name="connsiteX2" fmla="*/ 1915886 w 4194629"/>
              <a:gd name="connsiteY2" fmla="*/ 29028 h 3062514"/>
              <a:gd name="connsiteX3" fmla="*/ 3294743 w 4194629"/>
              <a:gd name="connsiteY3" fmla="*/ 72571 h 3062514"/>
              <a:gd name="connsiteX4" fmla="*/ 4194629 w 4194629"/>
              <a:gd name="connsiteY4" fmla="*/ 58057 h 3062514"/>
              <a:gd name="connsiteX5" fmla="*/ 4165600 w 4194629"/>
              <a:gd name="connsiteY5" fmla="*/ 3062514 h 3062514"/>
              <a:gd name="connsiteX6" fmla="*/ 3773715 w 4194629"/>
              <a:gd name="connsiteY6" fmla="*/ 2510971 h 3062514"/>
              <a:gd name="connsiteX7" fmla="*/ 3570515 w 4194629"/>
              <a:gd name="connsiteY7" fmla="*/ 2481942 h 3062514"/>
              <a:gd name="connsiteX8" fmla="*/ 2902857 w 4194629"/>
              <a:gd name="connsiteY8" fmla="*/ 2496457 h 3062514"/>
              <a:gd name="connsiteX9" fmla="*/ 2540001 w 4194629"/>
              <a:gd name="connsiteY9" fmla="*/ 2772228 h 3062514"/>
              <a:gd name="connsiteX10" fmla="*/ 1393372 w 4194629"/>
              <a:gd name="connsiteY10" fmla="*/ 3004456 h 3062514"/>
              <a:gd name="connsiteX11" fmla="*/ 333829 w 4194629"/>
              <a:gd name="connsiteY11" fmla="*/ 3033485 h 3062514"/>
              <a:gd name="connsiteX12" fmla="*/ 0 w 4194629"/>
              <a:gd name="connsiteY12" fmla="*/ 29028 h 3062514"/>
              <a:gd name="connsiteX0" fmla="*/ 0 w 4194629"/>
              <a:gd name="connsiteY0" fmla="*/ 29028 h 3062514"/>
              <a:gd name="connsiteX1" fmla="*/ 1320800 w 4194629"/>
              <a:gd name="connsiteY1" fmla="*/ 0 h 3062514"/>
              <a:gd name="connsiteX2" fmla="*/ 1915886 w 4194629"/>
              <a:gd name="connsiteY2" fmla="*/ 29028 h 3062514"/>
              <a:gd name="connsiteX3" fmla="*/ 3294743 w 4194629"/>
              <a:gd name="connsiteY3" fmla="*/ 72571 h 3062514"/>
              <a:gd name="connsiteX4" fmla="*/ 4194629 w 4194629"/>
              <a:gd name="connsiteY4" fmla="*/ 58057 h 3062514"/>
              <a:gd name="connsiteX5" fmla="*/ 4165600 w 4194629"/>
              <a:gd name="connsiteY5" fmla="*/ 3062514 h 3062514"/>
              <a:gd name="connsiteX6" fmla="*/ 3773715 w 4194629"/>
              <a:gd name="connsiteY6" fmla="*/ 2510971 h 3062514"/>
              <a:gd name="connsiteX7" fmla="*/ 3570515 w 4194629"/>
              <a:gd name="connsiteY7" fmla="*/ 2481942 h 3062514"/>
              <a:gd name="connsiteX8" fmla="*/ 2902857 w 4194629"/>
              <a:gd name="connsiteY8" fmla="*/ 2496457 h 3062514"/>
              <a:gd name="connsiteX9" fmla="*/ 2540001 w 4194629"/>
              <a:gd name="connsiteY9" fmla="*/ 2772228 h 3062514"/>
              <a:gd name="connsiteX10" fmla="*/ 1393372 w 4194629"/>
              <a:gd name="connsiteY10" fmla="*/ 3004456 h 3062514"/>
              <a:gd name="connsiteX11" fmla="*/ 101600 w 4194629"/>
              <a:gd name="connsiteY11" fmla="*/ 3033485 h 3062514"/>
              <a:gd name="connsiteX12" fmla="*/ 0 w 4194629"/>
              <a:gd name="connsiteY12" fmla="*/ 29028 h 3062514"/>
              <a:gd name="connsiteX0" fmla="*/ 0 w 4194629"/>
              <a:gd name="connsiteY0" fmla="*/ 29028 h 3062514"/>
              <a:gd name="connsiteX1" fmla="*/ 1320800 w 4194629"/>
              <a:gd name="connsiteY1" fmla="*/ 0 h 3062514"/>
              <a:gd name="connsiteX2" fmla="*/ 1915886 w 4194629"/>
              <a:gd name="connsiteY2" fmla="*/ 29028 h 3062514"/>
              <a:gd name="connsiteX3" fmla="*/ 3294743 w 4194629"/>
              <a:gd name="connsiteY3" fmla="*/ 72571 h 3062514"/>
              <a:gd name="connsiteX4" fmla="*/ 4194629 w 4194629"/>
              <a:gd name="connsiteY4" fmla="*/ 58057 h 3062514"/>
              <a:gd name="connsiteX5" fmla="*/ 4165600 w 4194629"/>
              <a:gd name="connsiteY5" fmla="*/ 3062514 h 3062514"/>
              <a:gd name="connsiteX6" fmla="*/ 3773715 w 4194629"/>
              <a:gd name="connsiteY6" fmla="*/ 2510971 h 3062514"/>
              <a:gd name="connsiteX7" fmla="*/ 3570515 w 4194629"/>
              <a:gd name="connsiteY7" fmla="*/ 2481942 h 3062514"/>
              <a:gd name="connsiteX8" fmla="*/ 2902857 w 4194629"/>
              <a:gd name="connsiteY8" fmla="*/ 2496457 h 3062514"/>
              <a:gd name="connsiteX9" fmla="*/ 2540001 w 4194629"/>
              <a:gd name="connsiteY9" fmla="*/ 2772228 h 3062514"/>
              <a:gd name="connsiteX10" fmla="*/ 1393372 w 4194629"/>
              <a:gd name="connsiteY10" fmla="*/ 3004456 h 3062514"/>
              <a:gd name="connsiteX11" fmla="*/ 29028 w 4194629"/>
              <a:gd name="connsiteY11" fmla="*/ 3033485 h 3062514"/>
              <a:gd name="connsiteX12" fmla="*/ 0 w 4194629"/>
              <a:gd name="connsiteY12" fmla="*/ 29028 h 306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94629" h="3062514">
                <a:moveTo>
                  <a:pt x="0" y="29028"/>
                </a:moveTo>
                <a:lnTo>
                  <a:pt x="1320800" y="0"/>
                </a:lnTo>
                <a:lnTo>
                  <a:pt x="1915886" y="29028"/>
                </a:lnTo>
                <a:lnTo>
                  <a:pt x="3294743" y="72571"/>
                </a:lnTo>
                <a:lnTo>
                  <a:pt x="4194629" y="58057"/>
                </a:lnTo>
                <a:lnTo>
                  <a:pt x="4165600" y="3062514"/>
                </a:lnTo>
                <a:lnTo>
                  <a:pt x="3773715" y="2510971"/>
                </a:lnTo>
                <a:lnTo>
                  <a:pt x="3570515" y="2481942"/>
                </a:lnTo>
                <a:lnTo>
                  <a:pt x="2902857" y="2496457"/>
                </a:lnTo>
                <a:lnTo>
                  <a:pt x="2540001" y="2772228"/>
                </a:lnTo>
                <a:lnTo>
                  <a:pt x="1393372" y="3004456"/>
                </a:lnTo>
                <a:lnTo>
                  <a:pt x="29028" y="3033485"/>
                </a:lnTo>
                <a:lnTo>
                  <a:pt x="0" y="29028"/>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61066714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dissolv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3-way handshake</a:t>
            </a:r>
            <a:endParaRPr lang="en-US" sz="4400" b="0" dirty="0"/>
          </a:p>
        </p:txBody>
      </p:sp>
      <p:sp>
        <p:nvSpPr>
          <p:cNvPr id="215" name="Line 5">
            <a:extLst>
              <a:ext uri="{FF2B5EF4-FFF2-40B4-BE49-F238E27FC236}">
                <a16:creationId xmlns:a16="http://schemas.microsoft.com/office/drawing/2014/main" id="{977A2B4A-655D-5443-8A4F-92884511787E}"/>
              </a:ext>
            </a:extLst>
          </p:cNvPr>
          <p:cNvSpPr>
            <a:spLocks noChangeShapeType="1"/>
          </p:cNvSpPr>
          <p:nvPr/>
        </p:nvSpPr>
        <p:spPr bwMode="auto">
          <a:xfrm flipH="1">
            <a:off x="4796631" y="3078661"/>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16" name="Group 102">
            <a:extLst>
              <a:ext uri="{FF2B5EF4-FFF2-40B4-BE49-F238E27FC236}">
                <a16:creationId xmlns:a16="http://schemas.microsoft.com/office/drawing/2014/main" id="{1F3D6A6C-5FEE-8646-8A80-04AC9F3BFF74}"/>
              </a:ext>
            </a:extLst>
          </p:cNvPr>
          <p:cNvGrpSpPr>
            <a:grpSpLocks/>
          </p:cNvGrpSpPr>
          <p:nvPr/>
        </p:nvGrpSpPr>
        <p:grpSpPr bwMode="auto">
          <a:xfrm>
            <a:off x="2810669" y="3005636"/>
            <a:ext cx="4494212" cy="955675"/>
            <a:chOff x="810" y="1363"/>
            <a:chExt cx="2831" cy="602"/>
          </a:xfrm>
        </p:grpSpPr>
        <p:sp>
          <p:nvSpPr>
            <p:cNvPr id="217" name="Line 10">
              <a:extLst>
                <a:ext uri="{FF2B5EF4-FFF2-40B4-BE49-F238E27FC236}">
                  <a16:creationId xmlns:a16="http://schemas.microsoft.com/office/drawing/2014/main" id="{EE87312F-9111-3748-8D8C-BFB220C5EE37}"/>
                </a:ext>
              </a:extLst>
            </p:cNvPr>
            <p:cNvSpPr>
              <a:spLocks noChangeShapeType="1"/>
            </p:cNvSpPr>
            <p:nvPr/>
          </p:nvSpPr>
          <p:spPr bwMode="auto">
            <a:xfrm>
              <a:off x="2062" y="1502"/>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Rectangle 12">
              <a:extLst>
                <a:ext uri="{FF2B5EF4-FFF2-40B4-BE49-F238E27FC236}">
                  <a16:creationId xmlns:a16="http://schemas.microsoft.com/office/drawing/2014/main" id="{F50F8FCD-3A00-574F-A159-92B207C593BD}"/>
                </a:ext>
              </a:extLst>
            </p:cNvPr>
            <p:cNvSpPr>
              <a:spLocks noChangeArrowheads="1"/>
            </p:cNvSpPr>
            <p:nvPr/>
          </p:nvSpPr>
          <p:spPr bwMode="auto">
            <a:xfrm>
              <a:off x="2518" y="1565"/>
              <a:ext cx="590"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9"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2310" y="1624"/>
              <a:ext cx="1096"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SYNbit=1, Seq=x</a:t>
              </a:r>
            </a:p>
          </p:txBody>
        </p:sp>
        <p:sp>
          <p:nvSpPr>
            <p:cNvPr id="220" name="Text Box 21">
              <a:extLst>
                <a:ext uri="{FF2B5EF4-FFF2-40B4-BE49-F238E27FC236}">
                  <a16:creationId xmlns:a16="http://schemas.microsoft.com/office/drawing/2014/main" id="{8343DEBF-07A5-D746-BE48-88F38BD40754}"/>
                </a:ext>
              </a:extLst>
            </p:cNvPr>
            <p:cNvSpPr txBox="1">
              <a:spLocks noChangeArrowheads="1"/>
            </p:cNvSpPr>
            <p:nvPr/>
          </p:nvSpPr>
          <p:spPr bwMode="auto">
            <a:xfrm>
              <a:off x="810" y="1363"/>
              <a:ext cx="1230" cy="3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choose init seq num, x</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 TCP SYN msg</a:t>
              </a:r>
            </a:p>
          </p:txBody>
        </p:sp>
      </p:grpSp>
      <p:sp>
        <p:nvSpPr>
          <p:cNvPr id="221"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7385844" y="3148511"/>
            <a:ext cx="1587" cy="3417888"/>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Text Box 92">
            <a:extLst>
              <a:ext uri="{FF2B5EF4-FFF2-40B4-BE49-F238E27FC236}">
                <a16:creationId xmlns:a16="http://schemas.microsoft.com/office/drawing/2014/main" id="{8192AE36-3CEB-7940-A712-3437D9AE1C17}"/>
              </a:ext>
            </a:extLst>
          </p:cNvPr>
          <p:cNvSpPr txBox="1">
            <a:spLocks noChangeArrowheads="1"/>
          </p:cNvSpPr>
          <p:nvPr/>
        </p:nvSpPr>
        <p:spPr bwMode="auto">
          <a:xfrm>
            <a:off x="9571831" y="5986961"/>
            <a:ext cx="771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grpSp>
        <p:nvGrpSpPr>
          <p:cNvPr id="223" name="Group 109">
            <a:extLst>
              <a:ext uri="{FF2B5EF4-FFF2-40B4-BE49-F238E27FC236}">
                <a16:creationId xmlns:a16="http://schemas.microsoft.com/office/drawing/2014/main" id="{9180F1A8-9EF0-3C49-80B2-6C9528088F36}"/>
              </a:ext>
            </a:extLst>
          </p:cNvPr>
          <p:cNvGrpSpPr>
            <a:grpSpLocks/>
          </p:cNvGrpSpPr>
          <p:nvPr/>
        </p:nvGrpSpPr>
        <p:grpSpPr bwMode="auto">
          <a:xfrm>
            <a:off x="4795044" y="3675561"/>
            <a:ext cx="4519612" cy="1425575"/>
            <a:chOff x="2060" y="1785"/>
            <a:chExt cx="2847" cy="898"/>
          </a:xfrm>
        </p:grpSpPr>
        <p:sp>
          <p:nvSpPr>
            <p:cNvPr id="224"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2060" y="2031"/>
              <a:ext cx="1580" cy="65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Rectangle 14">
              <a:extLst>
                <a:ext uri="{FF2B5EF4-FFF2-40B4-BE49-F238E27FC236}">
                  <a16:creationId xmlns:a16="http://schemas.microsoft.com/office/drawing/2014/main" id="{36832487-CAD9-A047-9D5F-96D1B02D3E65}"/>
                </a:ext>
              </a:extLst>
            </p:cNvPr>
            <p:cNvSpPr>
              <a:spLocks noChangeArrowheads="1"/>
            </p:cNvSpPr>
            <p:nvPr/>
          </p:nvSpPr>
          <p:spPr bwMode="auto">
            <a:xfrm>
              <a:off x="2381" y="2206"/>
              <a:ext cx="896" cy="32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2159" y="2169"/>
              <a:ext cx="1534" cy="366"/>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SYNbit=1, Seq=y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ACKbit=1; ACKnum=x+1</a:t>
              </a:r>
            </a:p>
          </p:txBody>
        </p:sp>
        <p:sp>
          <p:nvSpPr>
            <p:cNvPr id="227" name="Text Box 93">
              <a:extLst>
                <a:ext uri="{FF2B5EF4-FFF2-40B4-BE49-F238E27FC236}">
                  <a16:creationId xmlns:a16="http://schemas.microsoft.com/office/drawing/2014/main" id="{D2107B90-790F-D84D-8A95-4CD5BE8D772A}"/>
                </a:ext>
              </a:extLst>
            </p:cNvPr>
            <p:cNvSpPr txBox="1">
              <a:spLocks noChangeArrowheads="1"/>
            </p:cNvSpPr>
            <p:nvPr/>
          </p:nvSpPr>
          <p:spPr bwMode="auto">
            <a:xfrm>
              <a:off x="3676" y="1785"/>
              <a:ext cx="1231" cy="42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choose init seq num, y</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 TCP SYNACK</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msg, acking SYN</a:t>
              </a:r>
            </a:p>
          </p:txBody>
        </p:sp>
      </p:grpSp>
      <p:grpSp>
        <p:nvGrpSpPr>
          <p:cNvPr id="228" name="Group 110">
            <a:extLst>
              <a:ext uri="{FF2B5EF4-FFF2-40B4-BE49-F238E27FC236}">
                <a16:creationId xmlns:a16="http://schemas.microsoft.com/office/drawing/2014/main" id="{92A8D17F-88B5-E34B-ADF1-D1D5F4C6CACA}"/>
              </a:ext>
            </a:extLst>
          </p:cNvPr>
          <p:cNvGrpSpPr>
            <a:grpSpLocks/>
          </p:cNvGrpSpPr>
          <p:nvPr/>
        </p:nvGrpSpPr>
        <p:grpSpPr bwMode="auto">
          <a:xfrm>
            <a:off x="2512219" y="4774111"/>
            <a:ext cx="6630987" cy="1373188"/>
            <a:chOff x="622" y="2477"/>
            <a:chExt cx="4177" cy="865"/>
          </a:xfrm>
        </p:grpSpPr>
        <p:sp>
          <p:nvSpPr>
            <p:cNvPr id="229" name="Line 84">
              <a:extLst>
                <a:ext uri="{FF2B5EF4-FFF2-40B4-BE49-F238E27FC236}">
                  <a16:creationId xmlns:a16="http://schemas.microsoft.com/office/drawing/2014/main" id="{31D580AA-9CAF-1544-A3DB-06757FBBB395}"/>
                </a:ext>
              </a:extLst>
            </p:cNvPr>
            <p:cNvSpPr>
              <a:spLocks noChangeShapeType="1"/>
            </p:cNvSpPr>
            <p:nvPr/>
          </p:nvSpPr>
          <p:spPr bwMode="auto">
            <a:xfrm>
              <a:off x="2073" y="2728"/>
              <a:ext cx="1579" cy="46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Rectangle 89">
              <a:extLst>
                <a:ext uri="{FF2B5EF4-FFF2-40B4-BE49-F238E27FC236}">
                  <a16:creationId xmlns:a16="http://schemas.microsoft.com/office/drawing/2014/main" id="{60D16AD1-FAFA-6248-BB4D-76643C40A64C}"/>
                </a:ext>
              </a:extLst>
            </p:cNvPr>
            <p:cNvSpPr>
              <a:spLocks noChangeArrowheads="1"/>
            </p:cNvSpPr>
            <p:nvPr/>
          </p:nvSpPr>
          <p:spPr bwMode="auto">
            <a:xfrm>
              <a:off x="2486" y="2806"/>
              <a:ext cx="775" cy="27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1"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2092" y="2852"/>
              <a:ext cx="1529" cy="212"/>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ACKbit=1, ACKnum=y+1</a:t>
              </a:r>
            </a:p>
          </p:txBody>
        </p:sp>
        <p:sp>
          <p:nvSpPr>
            <p:cNvPr id="232" name="Text Box 94">
              <a:extLst>
                <a:ext uri="{FF2B5EF4-FFF2-40B4-BE49-F238E27FC236}">
                  <a16:creationId xmlns:a16="http://schemas.microsoft.com/office/drawing/2014/main" id="{B9046815-BDD2-9143-979C-D64169C26C55}"/>
                </a:ext>
              </a:extLst>
            </p:cNvPr>
            <p:cNvSpPr txBox="1">
              <a:spLocks noChangeArrowheads="1"/>
            </p:cNvSpPr>
            <p:nvPr/>
          </p:nvSpPr>
          <p:spPr bwMode="auto">
            <a:xfrm>
              <a:off x="622" y="2477"/>
              <a:ext cx="1422" cy="66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received SYNACK(x) </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indicates server is live;</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 ACK for SYNACK;</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this segment may contain </a:t>
              </a:r>
            </a:p>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client-to-server data</a:t>
              </a:r>
            </a:p>
          </p:txBody>
        </p:sp>
        <p:sp>
          <p:nvSpPr>
            <p:cNvPr id="233" name="Text Box 95">
              <a:extLst>
                <a:ext uri="{FF2B5EF4-FFF2-40B4-BE49-F238E27FC236}">
                  <a16:creationId xmlns:a16="http://schemas.microsoft.com/office/drawing/2014/main" id="{ADF0930B-F723-4446-8C5B-8996D59396E2}"/>
                </a:ext>
              </a:extLst>
            </p:cNvPr>
            <p:cNvSpPr txBox="1">
              <a:spLocks noChangeArrowheads="1"/>
            </p:cNvSpPr>
            <p:nvPr/>
          </p:nvSpPr>
          <p:spPr bwMode="auto">
            <a:xfrm>
              <a:off x="3640" y="3042"/>
              <a:ext cx="1159" cy="3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received ACK(y)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indicates client is live</a:t>
              </a:r>
            </a:p>
          </p:txBody>
        </p:sp>
      </p:grpSp>
      <p:grpSp>
        <p:nvGrpSpPr>
          <p:cNvPr id="234" name="Group 105">
            <a:extLst>
              <a:ext uri="{FF2B5EF4-FFF2-40B4-BE49-F238E27FC236}">
                <a16:creationId xmlns:a16="http://schemas.microsoft.com/office/drawing/2014/main" id="{45AA77DF-71CD-2E48-9AEE-EC1E8FB1B1C5}"/>
              </a:ext>
            </a:extLst>
          </p:cNvPr>
          <p:cNvGrpSpPr>
            <a:grpSpLocks/>
          </p:cNvGrpSpPr>
          <p:nvPr/>
        </p:nvGrpSpPr>
        <p:grpSpPr bwMode="auto">
          <a:xfrm>
            <a:off x="1813719" y="3043736"/>
            <a:ext cx="1030287" cy="700088"/>
            <a:chOff x="182" y="1387"/>
            <a:chExt cx="649" cy="441"/>
          </a:xfrm>
        </p:grpSpPr>
        <p:sp>
          <p:nvSpPr>
            <p:cNvPr id="235" name="Text Box 91">
              <a:extLst>
                <a:ext uri="{FF2B5EF4-FFF2-40B4-BE49-F238E27FC236}">
                  <a16:creationId xmlns:a16="http://schemas.microsoft.com/office/drawing/2014/main" id="{B93FA479-02A5-4C43-B059-3F1D0BB052E8}"/>
                </a:ext>
              </a:extLst>
            </p:cNvPr>
            <p:cNvSpPr txBox="1">
              <a:spLocks noChangeArrowheads="1"/>
            </p:cNvSpPr>
            <p:nvPr/>
          </p:nvSpPr>
          <p:spPr bwMode="auto">
            <a:xfrm>
              <a:off x="182" y="1616"/>
              <a:ext cx="649"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SYNSENT</a:t>
              </a:r>
            </a:p>
          </p:txBody>
        </p:sp>
        <p:sp>
          <p:nvSpPr>
            <p:cNvPr id="236" name="Line 103">
              <a:extLst>
                <a:ext uri="{FF2B5EF4-FFF2-40B4-BE49-F238E27FC236}">
                  <a16:creationId xmlns:a16="http://schemas.microsoft.com/office/drawing/2014/main" id="{C569F88B-55D7-1F45-9FD5-8D995E4C94A5}"/>
                </a:ext>
              </a:extLst>
            </p:cNvPr>
            <p:cNvSpPr>
              <a:spLocks noChangeShapeType="1"/>
            </p:cNvSpPr>
            <p:nvPr/>
          </p:nvSpPr>
          <p:spPr bwMode="auto">
            <a:xfrm>
              <a:off x="462" y="1387"/>
              <a:ext cx="0" cy="27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37" name="Group 111">
            <a:extLst>
              <a:ext uri="{FF2B5EF4-FFF2-40B4-BE49-F238E27FC236}">
                <a16:creationId xmlns:a16="http://schemas.microsoft.com/office/drawing/2014/main" id="{FBD3641B-4567-B84B-B0A9-51F31757E64D}"/>
              </a:ext>
            </a:extLst>
          </p:cNvPr>
          <p:cNvGrpSpPr>
            <a:grpSpLocks/>
          </p:cNvGrpSpPr>
          <p:nvPr/>
        </p:nvGrpSpPr>
        <p:grpSpPr bwMode="auto">
          <a:xfrm>
            <a:off x="1815306" y="3704136"/>
            <a:ext cx="771525" cy="1622425"/>
            <a:chOff x="183" y="1803"/>
            <a:chExt cx="486" cy="1022"/>
          </a:xfrm>
        </p:grpSpPr>
        <p:sp>
          <p:nvSpPr>
            <p:cNvPr id="238" name="Text Box 16">
              <a:extLst>
                <a:ext uri="{FF2B5EF4-FFF2-40B4-BE49-F238E27FC236}">
                  <a16:creationId xmlns:a16="http://schemas.microsoft.com/office/drawing/2014/main" id="{46A42911-E4FA-6E45-98D3-9BA61AF39351}"/>
                </a:ext>
              </a:extLst>
            </p:cNvPr>
            <p:cNvSpPr txBox="1">
              <a:spLocks noChangeArrowheads="1"/>
            </p:cNvSpPr>
            <p:nvPr/>
          </p:nvSpPr>
          <p:spPr bwMode="auto">
            <a:xfrm>
              <a:off x="183" y="2613"/>
              <a:ext cx="486"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CC0000"/>
                  </a:solidFill>
                  <a:effectLst/>
                  <a:uLnTx/>
                  <a:uFillTx/>
                  <a:latin typeface="Tahoma" charset="0"/>
                  <a:ea typeface="ＭＳ Ｐゴシック" charset="0"/>
                  <a:cs typeface="+mn-cs"/>
                </a:rPr>
                <a:t>ESTAB</a:t>
              </a:r>
            </a:p>
          </p:txBody>
        </p:sp>
        <p:sp>
          <p:nvSpPr>
            <p:cNvPr id="239" name="Line 104">
              <a:extLst>
                <a:ext uri="{FF2B5EF4-FFF2-40B4-BE49-F238E27FC236}">
                  <a16:creationId xmlns:a16="http://schemas.microsoft.com/office/drawing/2014/main" id="{B764515C-528C-5B41-979E-CEB5F77FD9DC}"/>
                </a:ext>
              </a:extLst>
            </p:cNvPr>
            <p:cNvSpPr>
              <a:spLocks noChangeShapeType="1"/>
            </p:cNvSpPr>
            <p:nvPr/>
          </p:nvSpPr>
          <p:spPr bwMode="auto">
            <a:xfrm>
              <a:off x="465" y="1803"/>
              <a:ext cx="0" cy="79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40" name="Group 108">
            <a:extLst>
              <a:ext uri="{FF2B5EF4-FFF2-40B4-BE49-F238E27FC236}">
                <a16:creationId xmlns:a16="http://schemas.microsoft.com/office/drawing/2014/main" id="{E9975853-CA29-F64E-9978-90818E85074F}"/>
              </a:ext>
            </a:extLst>
          </p:cNvPr>
          <p:cNvGrpSpPr>
            <a:grpSpLocks/>
          </p:cNvGrpSpPr>
          <p:nvPr/>
        </p:nvGrpSpPr>
        <p:grpSpPr bwMode="auto">
          <a:xfrm>
            <a:off x="9268619" y="3099299"/>
            <a:ext cx="1119187" cy="1192212"/>
            <a:chOff x="4878" y="1422"/>
            <a:chExt cx="705" cy="751"/>
          </a:xfrm>
        </p:grpSpPr>
        <p:sp>
          <p:nvSpPr>
            <p:cNvPr id="241" name="Text Box 99">
              <a:extLst>
                <a:ext uri="{FF2B5EF4-FFF2-40B4-BE49-F238E27FC236}">
                  <a16:creationId xmlns:a16="http://schemas.microsoft.com/office/drawing/2014/main" id="{8F08BD14-4FFB-B243-AC1A-68FE85BE4E11}"/>
                </a:ext>
              </a:extLst>
            </p:cNvPr>
            <p:cNvSpPr txBox="1">
              <a:spLocks noChangeArrowheads="1"/>
            </p:cNvSpPr>
            <p:nvPr/>
          </p:nvSpPr>
          <p:spPr bwMode="auto">
            <a:xfrm>
              <a:off x="4878" y="1961"/>
              <a:ext cx="705"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SYN RCVD</a:t>
              </a:r>
            </a:p>
          </p:txBody>
        </p:sp>
        <p:sp>
          <p:nvSpPr>
            <p:cNvPr id="242" name="Line 106">
              <a:extLst>
                <a:ext uri="{FF2B5EF4-FFF2-40B4-BE49-F238E27FC236}">
                  <a16:creationId xmlns:a16="http://schemas.microsoft.com/office/drawing/2014/main" id="{0D6BD76C-B84A-F940-AC88-70ACC69EC6F4}"/>
                </a:ext>
              </a:extLst>
            </p:cNvPr>
            <p:cNvSpPr>
              <a:spLocks noChangeShapeType="1"/>
            </p:cNvSpPr>
            <p:nvPr/>
          </p:nvSpPr>
          <p:spPr bwMode="auto">
            <a:xfrm>
              <a:off x="5339" y="1422"/>
              <a:ext cx="0" cy="569"/>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3" name="Line 107">
            <a:extLst>
              <a:ext uri="{FF2B5EF4-FFF2-40B4-BE49-F238E27FC236}">
                <a16:creationId xmlns:a16="http://schemas.microsoft.com/office/drawing/2014/main" id="{28C3410E-FF26-2849-8647-5DA1E34B6C9E}"/>
              </a:ext>
            </a:extLst>
          </p:cNvPr>
          <p:cNvSpPr>
            <a:spLocks noChangeShapeType="1"/>
          </p:cNvSpPr>
          <p:nvPr/>
        </p:nvSpPr>
        <p:spPr bwMode="auto">
          <a:xfrm>
            <a:off x="9982994" y="4301036"/>
            <a:ext cx="0" cy="17049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5" name="Text Box 114">
            <a:extLst>
              <a:ext uri="{FF2B5EF4-FFF2-40B4-BE49-F238E27FC236}">
                <a16:creationId xmlns:a16="http://schemas.microsoft.com/office/drawing/2014/main" id="{A27DEC11-2958-674C-B587-49A38C649582}"/>
              </a:ext>
            </a:extLst>
          </p:cNvPr>
          <p:cNvSpPr txBox="1">
            <a:spLocks noChangeArrowheads="1"/>
          </p:cNvSpPr>
          <p:nvPr/>
        </p:nvSpPr>
        <p:spPr bwMode="auto">
          <a:xfrm>
            <a:off x="1395197" y="1675748"/>
            <a:ext cx="1839030" cy="7694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a:ea typeface="ＭＳ Ｐゴシック" charset="0"/>
                <a:cs typeface="+mn-cs"/>
              </a:rPr>
              <a:t>Client state</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1" u="none" strike="noStrike" kern="0" cap="none" spc="0" normalizeH="0" baseline="0" noProof="0" dirty="0">
              <a:ln>
                <a:noFill/>
              </a:ln>
              <a:solidFill>
                <a:srgbClr val="000099"/>
              </a:solidFill>
              <a:effectLst/>
              <a:uLnTx/>
              <a:uFillTx/>
              <a:latin typeface="Tahoma" charset="0"/>
              <a:ea typeface="ＭＳ Ｐゴシック" charset="0"/>
              <a:cs typeface="+mn-cs"/>
            </a:endParaRPr>
          </a:p>
        </p:txBody>
      </p:sp>
      <p:sp>
        <p:nvSpPr>
          <p:cNvPr id="246" name="Text Box 115">
            <a:extLst>
              <a:ext uri="{FF2B5EF4-FFF2-40B4-BE49-F238E27FC236}">
                <a16:creationId xmlns:a16="http://schemas.microsoft.com/office/drawing/2014/main" id="{052EAC19-09BF-FD44-ADF4-7A708D2CC77C}"/>
              </a:ext>
            </a:extLst>
          </p:cNvPr>
          <p:cNvSpPr txBox="1">
            <a:spLocks noChangeArrowheads="1"/>
          </p:cNvSpPr>
          <p:nvPr/>
        </p:nvSpPr>
        <p:spPr bwMode="auto">
          <a:xfrm>
            <a:off x="1807368" y="2389622"/>
            <a:ext cx="8429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LISTEN</a:t>
            </a:r>
          </a:p>
        </p:txBody>
      </p:sp>
      <p:sp>
        <p:nvSpPr>
          <p:cNvPr id="247" name="Text Box 116">
            <a:extLst>
              <a:ext uri="{FF2B5EF4-FFF2-40B4-BE49-F238E27FC236}">
                <a16:creationId xmlns:a16="http://schemas.microsoft.com/office/drawing/2014/main" id="{27C21C28-5638-8F4A-8A80-DBD146AD39D1}"/>
              </a:ext>
            </a:extLst>
          </p:cNvPr>
          <p:cNvSpPr txBox="1">
            <a:spLocks noChangeArrowheads="1"/>
          </p:cNvSpPr>
          <p:nvPr/>
        </p:nvSpPr>
        <p:spPr bwMode="auto">
          <a:xfrm>
            <a:off x="8905645" y="1081958"/>
            <a:ext cx="1930400" cy="7694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99"/>
                </a:solidFill>
                <a:effectLst/>
                <a:uLnTx/>
                <a:uFillTx/>
                <a:latin typeface="Calibri"/>
                <a:ea typeface="ＭＳ Ｐゴシック" charset="0"/>
                <a:cs typeface="+mn-cs"/>
              </a:rPr>
              <a:t>Server state</a:t>
            </a:r>
          </a:p>
          <a:p>
            <a:pPr marL="0" marR="0" lvl="0" indent="0" algn="r" defTabSz="914400" rtl="0" eaLnBrk="0" fontAlgn="base" latinLnBrk="0" hangingPunct="0">
              <a:lnSpc>
                <a:spcPct val="100000"/>
              </a:lnSpc>
              <a:spcBef>
                <a:spcPct val="0"/>
              </a:spcBef>
              <a:spcAft>
                <a:spcPct val="0"/>
              </a:spcAft>
              <a:buClrTx/>
              <a:buSzTx/>
              <a:buFontTx/>
              <a:buNone/>
              <a:tabLst/>
              <a:defRPr/>
            </a:pPr>
            <a:endParaRPr kumimoji="0" lang="en-US" sz="1600" b="0" i="1" u="none" strike="noStrike" kern="0" cap="none" spc="0" normalizeH="0" baseline="0" noProof="0" dirty="0">
              <a:ln>
                <a:noFill/>
              </a:ln>
              <a:solidFill>
                <a:srgbClr val="000099"/>
              </a:solidFill>
              <a:effectLst/>
              <a:uLnTx/>
              <a:uFillTx/>
              <a:latin typeface="Tahoma" charset="0"/>
              <a:ea typeface="ＭＳ Ｐゴシック" charset="0"/>
              <a:cs typeface="+mn-cs"/>
            </a:endParaRPr>
          </a:p>
        </p:txBody>
      </p:sp>
      <p:sp>
        <p:nvSpPr>
          <p:cNvPr id="248" name="Text Box 117">
            <a:extLst>
              <a:ext uri="{FF2B5EF4-FFF2-40B4-BE49-F238E27FC236}">
                <a16:creationId xmlns:a16="http://schemas.microsoft.com/office/drawing/2014/main" id="{2B920772-7698-6844-B114-A453A028C206}"/>
              </a:ext>
            </a:extLst>
          </p:cNvPr>
          <p:cNvSpPr txBox="1">
            <a:spLocks noChangeArrowheads="1"/>
          </p:cNvSpPr>
          <p:nvPr/>
        </p:nvSpPr>
        <p:spPr bwMode="auto">
          <a:xfrm>
            <a:off x="9511504" y="2632510"/>
            <a:ext cx="8429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LISTEN</a:t>
            </a:r>
          </a:p>
        </p:txBody>
      </p:sp>
      <p:grpSp>
        <p:nvGrpSpPr>
          <p:cNvPr id="249" name="Group 118">
            <a:extLst>
              <a:ext uri="{FF2B5EF4-FFF2-40B4-BE49-F238E27FC236}">
                <a16:creationId xmlns:a16="http://schemas.microsoft.com/office/drawing/2014/main" id="{EE14688C-F1C2-7F41-8726-D165159240FD}"/>
              </a:ext>
            </a:extLst>
          </p:cNvPr>
          <p:cNvGrpSpPr>
            <a:grpSpLocks/>
          </p:cNvGrpSpPr>
          <p:nvPr/>
        </p:nvGrpSpPr>
        <p:grpSpPr bwMode="auto">
          <a:xfrm>
            <a:off x="4464473" y="2492809"/>
            <a:ext cx="642937" cy="600075"/>
            <a:chOff x="-44" y="1473"/>
            <a:chExt cx="981" cy="1105"/>
          </a:xfrm>
        </p:grpSpPr>
        <p:pic>
          <p:nvPicPr>
            <p:cNvPr id="424"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0" name="Group 121">
            <a:extLst>
              <a:ext uri="{FF2B5EF4-FFF2-40B4-BE49-F238E27FC236}">
                <a16:creationId xmlns:a16="http://schemas.microsoft.com/office/drawing/2014/main" id="{DC61BD1A-A71F-CF4B-B53E-5ECC0609FEB5}"/>
              </a:ext>
            </a:extLst>
          </p:cNvPr>
          <p:cNvGrpSpPr>
            <a:grpSpLocks/>
          </p:cNvGrpSpPr>
          <p:nvPr/>
        </p:nvGrpSpPr>
        <p:grpSpPr bwMode="auto">
          <a:xfrm>
            <a:off x="7221809" y="2580121"/>
            <a:ext cx="336550" cy="512763"/>
            <a:chOff x="4140" y="429"/>
            <a:chExt cx="1425" cy="2396"/>
          </a:xfrm>
        </p:grpSpPr>
        <p:sp>
          <p:nvSpPr>
            <p:cNvPr id="251"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2"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4"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5"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56"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422"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3"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57"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58"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420"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1"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59"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0"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1"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277"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9"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2"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3"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275"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4"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5"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6"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7"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8"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9"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0"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1"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2"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73"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4"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4" name="Text Box 13">
            <a:extLst>
              <a:ext uri="{FF2B5EF4-FFF2-40B4-BE49-F238E27FC236}">
                <a16:creationId xmlns:a16="http://schemas.microsoft.com/office/drawing/2014/main" id="{5C657586-8C26-7645-A308-A162DA1C735B}"/>
              </a:ext>
            </a:extLst>
          </p:cNvPr>
          <p:cNvSpPr txBox="1">
            <a:spLocks noChangeArrowheads="1"/>
          </p:cNvSpPr>
          <p:nvPr/>
        </p:nvSpPr>
        <p:spPr bwMode="auto">
          <a:xfrm>
            <a:off x="374662" y="2181018"/>
            <a:ext cx="4209864" cy="261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clientSocket = socket(AF_INET, SOCK_STREAM)</a:t>
            </a:r>
          </a:p>
        </p:txBody>
      </p:sp>
      <p:sp>
        <p:nvSpPr>
          <p:cNvPr id="75" name="Text Box 5">
            <a:extLst>
              <a:ext uri="{FF2B5EF4-FFF2-40B4-BE49-F238E27FC236}">
                <a16:creationId xmlns:a16="http://schemas.microsoft.com/office/drawing/2014/main" id="{1D57F3DF-BFA3-284D-8B9A-ADD3873D3BB3}"/>
              </a:ext>
            </a:extLst>
          </p:cNvPr>
          <p:cNvSpPr txBox="1">
            <a:spLocks noChangeArrowheads="1"/>
          </p:cNvSpPr>
          <p:nvPr/>
        </p:nvSpPr>
        <p:spPr bwMode="auto">
          <a:xfrm>
            <a:off x="7821898" y="1651172"/>
            <a:ext cx="4461478"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serverSocket = socket(AF_INET,SOCK_STREAM)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serverSocket.bind((‘’,serverPort))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serverSocket.listen(1)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connectionSocket, addr = serverSocket.accept()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7" name="Text Box 13">
            <a:extLst>
              <a:ext uri="{FF2B5EF4-FFF2-40B4-BE49-F238E27FC236}">
                <a16:creationId xmlns:a16="http://schemas.microsoft.com/office/drawing/2014/main" id="{85BB3488-0F19-2446-9F3D-0FF3F2E5F4DB}"/>
              </a:ext>
            </a:extLst>
          </p:cNvPr>
          <p:cNvSpPr txBox="1">
            <a:spLocks noChangeArrowheads="1"/>
          </p:cNvSpPr>
          <p:nvPr/>
        </p:nvSpPr>
        <p:spPr bwMode="auto">
          <a:xfrm>
            <a:off x="276543" y="2694832"/>
            <a:ext cx="4433244" cy="263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ourier Std" panose="02070409020205020404" pitchFamily="49" charset="77"/>
                <a:ea typeface="ＭＳ Ｐゴシック" panose="020B0600070205080204" pitchFamily="34" charset="-128"/>
                <a:cs typeface="+mn-cs"/>
              </a:rPr>
              <a:t>clientSocket.connect((serverName,serverPort))</a:t>
            </a:r>
          </a:p>
        </p:txBody>
      </p:sp>
      <p:sp>
        <p:nvSpPr>
          <p:cNvPr id="76" name="Slide Number Placeholder 2">
            <a:extLst>
              <a:ext uri="{FF2B5EF4-FFF2-40B4-BE49-F238E27FC236}">
                <a16:creationId xmlns:a16="http://schemas.microsoft.com/office/drawing/2014/main" id="{86E89225-4B9A-C747-8672-752709ED810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33</a:t>
            </a:fld>
            <a:endParaRPr lang="en-US" dirty="0"/>
          </a:p>
        </p:txBody>
      </p:sp>
    </p:spTree>
    <p:extLst>
      <p:ext uri="{BB962C8B-B14F-4D97-AF65-F5344CB8AC3E}">
        <p14:creationId xmlns:p14="http://schemas.microsoft.com/office/powerpoint/2010/main" val="104233165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wipe(left)">
                                      <p:cBhvr>
                                        <p:cTn id="7" dur="500"/>
                                        <p:tgtEl>
                                          <p:spTgt spid="216"/>
                                        </p:tgtEl>
                                      </p:cBhvr>
                                    </p:animEffect>
                                  </p:childTnLst>
                                </p:cTn>
                              </p:par>
                              <p:par>
                                <p:cTn id="8" presetID="22" presetClass="entr" presetSubtype="1" fill="hold"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wipe(up)">
                                      <p:cBhvr>
                                        <p:cTn id="10" dur="500"/>
                                        <p:tgtEl>
                                          <p:spTgt spid="23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dissolve">
                                      <p:cBhvr>
                                        <p:cTn id="13" dur="500"/>
                                        <p:tgtEl>
                                          <p:spTgt spid="7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40"/>
                                        </p:tgtEl>
                                        <p:attrNameLst>
                                          <p:attrName>style.visibility</p:attrName>
                                        </p:attrNameLst>
                                      </p:cBhvr>
                                      <p:to>
                                        <p:strVal val="visible"/>
                                      </p:to>
                                    </p:set>
                                    <p:animEffect transition="in" filter="wipe(up)">
                                      <p:cBhvr>
                                        <p:cTn id="18" dur="500"/>
                                        <p:tgtEl>
                                          <p:spTgt spid="240"/>
                                        </p:tgtEl>
                                      </p:cBhvr>
                                    </p:animEffect>
                                  </p:childTnLst>
                                </p:cTn>
                              </p:par>
                              <p:par>
                                <p:cTn id="19" presetID="22" presetClass="entr" presetSubtype="2" fill="hold" nodeType="withEffect">
                                  <p:stCondLst>
                                    <p:cond delay="0"/>
                                  </p:stCondLst>
                                  <p:childTnLst>
                                    <p:set>
                                      <p:cBhvr>
                                        <p:cTn id="20" dur="1" fill="hold">
                                          <p:stCondLst>
                                            <p:cond delay="0"/>
                                          </p:stCondLst>
                                        </p:cTn>
                                        <p:tgtEl>
                                          <p:spTgt spid="223"/>
                                        </p:tgtEl>
                                        <p:attrNameLst>
                                          <p:attrName>style.visibility</p:attrName>
                                        </p:attrNameLst>
                                      </p:cBhvr>
                                      <p:to>
                                        <p:strVal val="visible"/>
                                      </p:to>
                                    </p:set>
                                    <p:animEffect transition="in" filter="wipe(right)">
                                      <p:cBhvr>
                                        <p:cTn id="21" dur="500"/>
                                        <p:tgtEl>
                                          <p:spTgt spid="2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28"/>
                                        </p:tgtEl>
                                        <p:attrNameLst>
                                          <p:attrName>style.visibility</p:attrName>
                                        </p:attrNameLst>
                                      </p:cBhvr>
                                      <p:to>
                                        <p:strVal val="visible"/>
                                      </p:to>
                                    </p:set>
                                    <p:animEffect transition="in" filter="wipe(left)">
                                      <p:cBhvr>
                                        <p:cTn id="26" dur="500"/>
                                        <p:tgtEl>
                                          <p:spTgt spid="228"/>
                                        </p:tgtEl>
                                      </p:cBhvr>
                                    </p:animEffect>
                                  </p:childTnLst>
                                </p:cTn>
                              </p:par>
                              <p:par>
                                <p:cTn id="27" presetID="22" presetClass="entr" presetSubtype="1" fill="hold" nodeType="withEffect">
                                  <p:stCondLst>
                                    <p:cond delay="0"/>
                                  </p:stCondLst>
                                  <p:childTnLst>
                                    <p:set>
                                      <p:cBhvr>
                                        <p:cTn id="28" dur="1" fill="hold">
                                          <p:stCondLst>
                                            <p:cond delay="0"/>
                                          </p:stCondLst>
                                        </p:cTn>
                                        <p:tgtEl>
                                          <p:spTgt spid="237"/>
                                        </p:tgtEl>
                                        <p:attrNameLst>
                                          <p:attrName>style.visibility</p:attrName>
                                        </p:attrNameLst>
                                      </p:cBhvr>
                                      <p:to>
                                        <p:strVal val="visible"/>
                                      </p:to>
                                    </p:set>
                                    <p:animEffect transition="in" filter="wipe(up)">
                                      <p:cBhvr>
                                        <p:cTn id="29" dur="500"/>
                                        <p:tgtEl>
                                          <p:spTgt spid="237"/>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222"/>
                                        </p:tgtEl>
                                        <p:attrNameLst>
                                          <p:attrName>style.visibility</p:attrName>
                                        </p:attrNameLst>
                                      </p:cBhvr>
                                      <p:to>
                                        <p:strVal val="visible"/>
                                      </p:to>
                                    </p:set>
                                    <p:animEffect transition="in" filter="wipe(up)">
                                      <p:cBhvr>
                                        <p:cTn id="33" dur="500"/>
                                        <p:tgtEl>
                                          <p:spTgt spid="222"/>
                                        </p:tgtEl>
                                      </p:cBhvr>
                                    </p:animEffect>
                                  </p:childTnLst>
                                </p:cTn>
                              </p:par>
                              <p:par>
                                <p:cTn id="34" presetID="22" presetClass="entr" presetSubtype="1" fill="hold" nodeType="withEffect">
                                  <p:stCondLst>
                                    <p:cond delay="0"/>
                                  </p:stCondLst>
                                  <p:childTnLst>
                                    <p:set>
                                      <p:cBhvr>
                                        <p:cTn id="35" dur="1" fill="hold">
                                          <p:stCondLst>
                                            <p:cond delay="0"/>
                                          </p:stCondLst>
                                        </p:cTn>
                                        <p:tgtEl>
                                          <p:spTgt spid="243"/>
                                        </p:tgtEl>
                                        <p:attrNameLst>
                                          <p:attrName>style.visibility</p:attrName>
                                        </p:attrNameLst>
                                      </p:cBhvr>
                                      <p:to>
                                        <p:strVal val="visible"/>
                                      </p:to>
                                    </p:set>
                                    <p:animEffect transition="in" filter="wipe(up)">
                                      <p:cBhvr>
                                        <p:cTn id="36"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p:bldP spid="7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Closing a TCP connection</a:t>
            </a:r>
            <a:endParaRPr lang="en-US" sz="4400" b="0" dirty="0"/>
          </a:p>
        </p:txBody>
      </p:sp>
      <p:sp>
        <p:nvSpPr>
          <p:cNvPr id="47" name="Rectangle 47">
            <a:extLst>
              <a:ext uri="{FF2B5EF4-FFF2-40B4-BE49-F238E27FC236}">
                <a16:creationId xmlns:a16="http://schemas.microsoft.com/office/drawing/2014/main" id="{B20BADCC-1032-9A48-BC43-B4E1275E4EDF}"/>
              </a:ext>
            </a:extLst>
          </p:cNvPr>
          <p:cNvSpPr txBox="1">
            <a:spLocks noChangeArrowheads="1"/>
          </p:cNvSpPr>
          <p:nvPr/>
        </p:nvSpPr>
        <p:spPr>
          <a:xfrm>
            <a:off x="798690" y="1441263"/>
            <a:ext cx="9698318" cy="41862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client, server each close their side of connection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 TCP segment with FIN bit = 1</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respond to received FIN with ACK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receiving FIN, ACK can be combined with own FIN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simultaneous FIN exchanges can be handled</a:t>
            </a:r>
          </a:p>
        </p:txBody>
      </p:sp>
      <p:sp>
        <p:nvSpPr>
          <p:cNvPr id="4" name="Slide Number Placeholder 2">
            <a:extLst>
              <a:ext uri="{FF2B5EF4-FFF2-40B4-BE49-F238E27FC236}">
                <a16:creationId xmlns:a16="http://schemas.microsoft.com/office/drawing/2014/main" id="{E5549B3B-271C-C14B-9302-4D2CE7B4105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34</a:t>
            </a:fld>
            <a:endParaRPr lang="en-US" dirty="0"/>
          </a:p>
        </p:txBody>
      </p:sp>
    </p:spTree>
    <p:extLst>
      <p:ext uri="{BB962C8B-B14F-4D97-AF65-F5344CB8AC3E}">
        <p14:creationId xmlns:p14="http://schemas.microsoft.com/office/powerpoint/2010/main" val="2657671931"/>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pPr>
            <a:r>
              <a:rPr lang="en-US" sz="3200" dirty="0"/>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buClr>
                <a:schemeClr val="bg1">
                  <a:lumMod val="75000"/>
                </a:schemeClr>
              </a:buClr>
            </a:pPr>
            <a:r>
              <a:rPr lang="en-US" sz="3200" dirty="0">
                <a:solidFill>
                  <a:schemeClr val="bg1">
                    <a:lumMod val="75000"/>
                  </a:schemeClr>
                </a:solidFill>
              </a:rPr>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2DB81C94-6123-D143-8C6E-7FF67BFA422F}"/>
              </a:ext>
            </a:extLst>
          </p:cNvPr>
          <p:cNvSpPr>
            <a:spLocks noGrp="1"/>
          </p:cNvSpPr>
          <p:nvPr>
            <p:ph type="sldNum" sz="quarter" idx="4"/>
          </p:nvPr>
        </p:nvSpPr>
        <p:spPr/>
        <p:txBody>
          <a:bodyPr/>
          <a:lstStyle/>
          <a:p>
            <a:r>
              <a:rPr lang="en-US" dirty="0"/>
              <a:t>Transport Layer: 3-</a:t>
            </a:r>
            <a:fld id="{C4204591-24BD-A542-B9D5-F8D8A88D2FEE}" type="slidenum">
              <a:rPr lang="en-US" smtClean="0"/>
              <a:pPr/>
              <a:t>35</a:t>
            </a:fld>
            <a:endParaRPr lang="en-US" dirty="0"/>
          </a:p>
        </p:txBody>
      </p:sp>
      <p:pic>
        <p:nvPicPr>
          <p:cNvPr id="4" name="Picture 3">
            <a:extLst>
              <a:ext uri="{FF2B5EF4-FFF2-40B4-BE49-F238E27FC236}">
                <a16:creationId xmlns:a16="http://schemas.microsoft.com/office/drawing/2014/main" id="{26C3457F-BC3B-1A1E-ECEA-ACD77172AFB4}"/>
              </a:ext>
            </a:extLst>
          </p:cNvPr>
          <p:cNvPicPr>
            <a:picLocks noChangeAspect="1"/>
          </p:cNvPicPr>
          <p:nvPr/>
        </p:nvPicPr>
        <p:blipFill>
          <a:blip r:embed="rId3"/>
          <a:stretch>
            <a:fillRect/>
          </a:stretch>
        </p:blipFill>
        <p:spPr>
          <a:xfrm>
            <a:off x="7823199" y="1791867"/>
            <a:ext cx="3752851" cy="2818233"/>
          </a:xfrm>
          <a:prstGeom prst="rect">
            <a:avLst/>
          </a:prstGeom>
        </p:spPr>
      </p:pic>
    </p:spTree>
    <p:extLst>
      <p:ext uri="{BB962C8B-B14F-4D97-AF65-F5344CB8AC3E}">
        <p14:creationId xmlns:p14="http://schemas.microsoft.com/office/powerpoint/2010/main" val="2681422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61C397FE-1DDC-5444-B79A-714CFC84F37C}"/>
              </a:ext>
            </a:extLst>
          </p:cNvPr>
          <p:cNvSpPr txBox="1">
            <a:spLocks noChangeArrowheads="1"/>
          </p:cNvSpPr>
          <p:nvPr/>
        </p:nvSpPr>
        <p:spPr>
          <a:xfrm>
            <a:off x="721660" y="1411941"/>
            <a:ext cx="10977282"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Congestion:</a:t>
            </a:r>
            <a:endPar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informally: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too many sources sending too much data too fast for </a:t>
            </a:r>
            <a:r>
              <a:rPr kumimoji="0" lang="en-US" altLang="ja-JP"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network</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to handle”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manifestations: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long delays (queueing in router buffers)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packet loss (buffer overflow at routers)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Rectangle 3">
            <a:extLst>
              <a:ext uri="{FF2B5EF4-FFF2-40B4-BE49-F238E27FC236}">
                <a16:creationId xmlns:a16="http://schemas.microsoft.com/office/drawing/2014/main" id="{ACFC6554-1CEB-8346-AF21-152FD0AE2BDD}"/>
              </a:ext>
            </a:extLst>
          </p:cNvPr>
          <p:cNvSpPr txBox="1">
            <a:spLocks noChangeArrowheads="1"/>
          </p:cNvSpPr>
          <p:nvPr/>
        </p:nvSpPr>
        <p:spPr>
          <a:xfrm>
            <a:off x="722672" y="3776599"/>
            <a:ext cx="10977282" cy="101662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different from flow control!</a:t>
            </a: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73290" y="289325"/>
            <a:ext cx="11393310" cy="894622"/>
          </a:xfrm>
        </p:spPr>
        <p:txBody>
          <a:bodyPr>
            <a:normAutofit/>
          </a:bodyPr>
          <a:lstStyle/>
          <a:p>
            <a:r>
              <a:rPr lang="en-US" sz="4800" dirty="0"/>
              <a:t>Principles of congestion control</a:t>
            </a:r>
            <a:endParaRPr lang="en-US" sz="4400" b="0" dirty="0"/>
          </a:p>
        </p:txBody>
      </p:sp>
      <p:grpSp>
        <p:nvGrpSpPr>
          <p:cNvPr id="10" name="Group 9">
            <a:extLst>
              <a:ext uri="{FF2B5EF4-FFF2-40B4-BE49-F238E27FC236}">
                <a16:creationId xmlns:a16="http://schemas.microsoft.com/office/drawing/2014/main" id="{F801E622-8D2F-5C40-BD60-438B29523DDB}"/>
              </a:ext>
            </a:extLst>
          </p:cNvPr>
          <p:cNvGrpSpPr/>
          <p:nvPr/>
        </p:nvGrpSpPr>
        <p:grpSpPr>
          <a:xfrm>
            <a:off x="8686805" y="2737463"/>
            <a:ext cx="2772697" cy="2732213"/>
            <a:chOff x="8878529" y="2737463"/>
            <a:chExt cx="2772697" cy="2732213"/>
          </a:xfrm>
        </p:grpSpPr>
        <p:pic>
          <p:nvPicPr>
            <p:cNvPr id="1028" name="Picture 4" descr="Why traffic apps make congestion worse | Berkeley News">
              <a:extLst>
                <a:ext uri="{FF2B5EF4-FFF2-40B4-BE49-F238E27FC236}">
                  <a16:creationId xmlns:a16="http://schemas.microsoft.com/office/drawing/2014/main" id="{5A685C73-1A7D-7448-83D5-182E1DF28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8529" y="2737463"/>
              <a:ext cx="2595716" cy="17304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EBCDC3-59AA-0043-9771-3FAB71AFCDB3}"/>
                </a:ext>
              </a:extLst>
            </p:cNvPr>
            <p:cNvSpPr txBox="1"/>
            <p:nvPr/>
          </p:nvSpPr>
          <p:spPr>
            <a:xfrm>
              <a:off x="9085007" y="4454013"/>
              <a:ext cx="2566219" cy="1015663"/>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a:ea typeface="+mn-ea"/>
                  <a:cs typeface="+mn-cs"/>
                </a:rPr>
                <a:t>congestion control: </a:t>
              </a:r>
              <a:r>
                <a:rPr kumimoji="0" lang="en-US" sz="1800" b="0" i="0" u="none" strike="noStrike" kern="1200" cap="none" spc="0" normalizeH="0" baseline="0" noProof="0" dirty="0">
                  <a:ln>
                    <a:noFill/>
                  </a:ln>
                  <a:solidFill>
                    <a:prstClr val="black"/>
                  </a:solidFill>
                  <a:effectLst/>
                  <a:uLnTx/>
                  <a:uFillTx/>
                  <a:latin typeface="Calibri"/>
                  <a:ea typeface="+mn-ea"/>
                  <a:cs typeface="+mn-cs"/>
                </a:rPr>
                <a:t>too many senders, sending too fast</a:t>
              </a:r>
            </a:p>
          </p:txBody>
        </p:sp>
      </p:grpSp>
      <p:sp>
        <p:nvSpPr>
          <p:cNvPr id="11" name="TextBox 10">
            <a:extLst>
              <a:ext uri="{FF2B5EF4-FFF2-40B4-BE49-F238E27FC236}">
                <a16:creationId xmlns:a16="http://schemas.microsoft.com/office/drawing/2014/main" id="{DB5BA06D-3B74-5348-8D35-1DEBB37E8FA0}"/>
              </a:ext>
            </a:extLst>
          </p:cNvPr>
          <p:cNvSpPr txBox="1"/>
          <p:nvPr/>
        </p:nvSpPr>
        <p:spPr>
          <a:xfrm>
            <a:off x="8662221" y="5638804"/>
            <a:ext cx="2934929"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a:ea typeface="+mn-ea"/>
                <a:cs typeface="+mn-cs"/>
              </a:rPr>
              <a:t>flow control: </a:t>
            </a:r>
            <a:r>
              <a:rPr kumimoji="0" lang="en-US" sz="1800" b="0" i="0" u="none" strike="noStrike" kern="1200" cap="none" spc="0" normalizeH="0" baseline="0" noProof="0" dirty="0">
                <a:ln>
                  <a:noFill/>
                </a:ln>
                <a:solidFill>
                  <a:prstClr val="black"/>
                </a:solidFill>
                <a:effectLst/>
                <a:uLnTx/>
                <a:uFillTx/>
                <a:latin typeface="Calibri"/>
                <a:ea typeface="+mn-ea"/>
                <a:cs typeface="+mn-cs"/>
              </a:rPr>
              <a:t>one sender too fast for one receiver</a:t>
            </a:r>
          </a:p>
        </p:txBody>
      </p:sp>
      <p:sp>
        <p:nvSpPr>
          <p:cNvPr id="12" name="Rectangle 3">
            <a:extLst>
              <a:ext uri="{FF2B5EF4-FFF2-40B4-BE49-F238E27FC236}">
                <a16:creationId xmlns:a16="http://schemas.microsoft.com/office/drawing/2014/main" id="{EAFB275C-622F-0342-A28A-15D9EA67D3AB}"/>
              </a:ext>
            </a:extLst>
          </p:cNvPr>
          <p:cNvSpPr txBox="1">
            <a:spLocks noChangeArrowheads="1"/>
          </p:cNvSpPr>
          <p:nvPr/>
        </p:nvSpPr>
        <p:spPr>
          <a:xfrm>
            <a:off x="727588" y="4852219"/>
            <a:ext cx="4758812" cy="58010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13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a top-10 problem!</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4" name="Slide Number Placeholder 2">
            <a:extLst>
              <a:ext uri="{FF2B5EF4-FFF2-40B4-BE49-F238E27FC236}">
                <a16:creationId xmlns:a16="http://schemas.microsoft.com/office/drawing/2014/main" id="{C3383268-A75C-1640-B637-852081D5385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36</a:t>
            </a:fld>
            <a:endParaRPr lang="en-US" dirty="0"/>
          </a:p>
        </p:txBody>
      </p:sp>
    </p:spTree>
    <p:extLst>
      <p:ext uri="{BB962C8B-B14F-4D97-AF65-F5344CB8AC3E}">
        <p14:creationId xmlns:p14="http://schemas.microsoft.com/office/powerpoint/2010/main" val="2165134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Freeform 3">
            <a:extLst>
              <a:ext uri="{FF2B5EF4-FFF2-40B4-BE49-F238E27FC236}">
                <a16:creationId xmlns:a16="http://schemas.microsoft.com/office/drawing/2014/main" id="{28E26305-1B9C-8A47-B034-2E9BCCD87DED}"/>
              </a:ext>
            </a:extLst>
          </p:cNvPr>
          <p:cNvSpPr>
            <a:spLocks/>
          </p:cNvSpPr>
          <p:nvPr/>
        </p:nvSpPr>
        <p:spPr bwMode="auto">
          <a:xfrm>
            <a:off x="10005476" y="2888415"/>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03" name="Group 402">
            <a:extLst>
              <a:ext uri="{FF2B5EF4-FFF2-40B4-BE49-F238E27FC236}">
                <a16:creationId xmlns:a16="http://schemas.microsoft.com/office/drawing/2014/main" id="{3138E679-7A6F-3F4C-9CD4-1BC53C242F2F}"/>
              </a:ext>
            </a:extLst>
          </p:cNvPr>
          <p:cNvGrpSpPr/>
          <p:nvPr/>
        </p:nvGrpSpPr>
        <p:grpSpPr>
          <a:xfrm>
            <a:off x="9424984" y="2862877"/>
            <a:ext cx="586768" cy="904023"/>
            <a:chOff x="10910965" y="2513124"/>
            <a:chExt cx="586768" cy="904023"/>
          </a:xfrm>
        </p:grpSpPr>
        <p:sp>
          <p:nvSpPr>
            <p:cNvPr id="404" name="Rectangle 403">
              <a:extLst>
                <a:ext uri="{FF2B5EF4-FFF2-40B4-BE49-F238E27FC236}">
                  <a16:creationId xmlns:a16="http://schemas.microsoft.com/office/drawing/2014/main" id="{59524EB8-FD55-1D48-99F1-D1FB7A8F9D0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05" name="Straight Connector 404">
              <a:extLst>
                <a:ext uri="{FF2B5EF4-FFF2-40B4-BE49-F238E27FC236}">
                  <a16:creationId xmlns:a16="http://schemas.microsoft.com/office/drawing/2014/main" id="{F1173737-3613-AA43-B1AC-4838A3EDB68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5C427322-6070-F549-83A0-B70739AD332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9463F3C4-F379-1D41-902B-28BB5B0172C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34B78D94-0CBB-174E-B3E9-C26DCE4669A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9" name="Freeform 9">
            <a:extLst>
              <a:ext uri="{FF2B5EF4-FFF2-40B4-BE49-F238E27FC236}">
                <a16:creationId xmlns:a16="http://schemas.microsoft.com/office/drawing/2014/main" id="{5547101E-4A79-584C-9989-5E85D28B6DAA}"/>
              </a:ext>
            </a:extLst>
          </p:cNvPr>
          <p:cNvSpPr>
            <a:spLocks/>
          </p:cNvSpPr>
          <p:nvPr/>
        </p:nvSpPr>
        <p:spPr bwMode="auto">
          <a:xfrm flipH="1">
            <a:off x="5851590" y="1746530"/>
            <a:ext cx="430143" cy="90046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52" name="Group 351">
            <a:extLst>
              <a:ext uri="{FF2B5EF4-FFF2-40B4-BE49-F238E27FC236}">
                <a16:creationId xmlns:a16="http://schemas.microsoft.com/office/drawing/2014/main" id="{B6427DD3-BCDC-1D47-B9EA-F052CBEE3779}"/>
              </a:ext>
            </a:extLst>
          </p:cNvPr>
          <p:cNvGrpSpPr/>
          <p:nvPr/>
        </p:nvGrpSpPr>
        <p:grpSpPr>
          <a:xfrm>
            <a:off x="5390758" y="2639189"/>
            <a:ext cx="586768" cy="904023"/>
            <a:chOff x="10910965" y="2513124"/>
            <a:chExt cx="586768" cy="904023"/>
          </a:xfrm>
        </p:grpSpPr>
        <p:sp>
          <p:nvSpPr>
            <p:cNvPr id="353" name="Rectangle 352">
              <a:extLst>
                <a:ext uri="{FF2B5EF4-FFF2-40B4-BE49-F238E27FC236}">
                  <a16:creationId xmlns:a16="http://schemas.microsoft.com/office/drawing/2014/main" id="{334B80B7-DAB2-0C45-A85B-02F9853489C8}"/>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54" name="Straight Connector 353">
              <a:extLst>
                <a:ext uri="{FF2B5EF4-FFF2-40B4-BE49-F238E27FC236}">
                  <a16:creationId xmlns:a16="http://schemas.microsoft.com/office/drawing/2014/main" id="{9B105EEA-CD5C-4D41-AA8D-44A16BCD200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300FADAA-FF42-DC4F-B232-CEDC6356959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96243C39-7124-B447-92F8-07DFDCABC20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D2849888-7EC3-EB4C-8BC1-51F7CF36C2D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6" name="Group 195">
            <a:extLst>
              <a:ext uri="{FF2B5EF4-FFF2-40B4-BE49-F238E27FC236}">
                <a16:creationId xmlns:a16="http://schemas.microsoft.com/office/drawing/2014/main" id="{F01A9AD5-3D29-E044-89AB-2A8A2872A48C}"/>
              </a:ext>
            </a:extLst>
          </p:cNvPr>
          <p:cNvGrpSpPr/>
          <p:nvPr/>
        </p:nvGrpSpPr>
        <p:grpSpPr>
          <a:xfrm>
            <a:off x="6267058" y="1750697"/>
            <a:ext cx="586768" cy="904023"/>
            <a:chOff x="10910965" y="2513124"/>
            <a:chExt cx="586768" cy="904023"/>
          </a:xfrm>
        </p:grpSpPr>
        <p:sp>
          <p:nvSpPr>
            <p:cNvPr id="197" name="Rectangle 196">
              <a:extLst>
                <a:ext uri="{FF2B5EF4-FFF2-40B4-BE49-F238E27FC236}">
                  <a16:creationId xmlns:a16="http://schemas.microsoft.com/office/drawing/2014/main" id="{4FE038A7-CF8F-144F-89E6-58D5113323E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98" name="Straight Connector 197">
              <a:extLst>
                <a:ext uri="{FF2B5EF4-FFF2-40B4-BE49-F238E27FC236}">
                  <a16:creationId xmlns:a16="http://schemas.microsoft.com/office/drawing/2014/main" id="{022D2CD4-E115-9446-9F3B-70153BE86F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8DA93D54-B8CD-E944-A9A0-CD19B3D9BEB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C307284-45EC-EF40-B8C6-ACFAE3B84F2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A5E51FF6-6B9B-CB46-932F-6752F8BC41C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4" name="Freeform 6">
            <a:extLst>
              <a:ext uri="{FF2B5EF4-FFF2-40B4-BE49-F238E27FC236}">
                <a16:creationId xmlns:a16="http://schemas.microsoft.com/office/drawing/2014/main" id="{48AC5632-6C88-9B4F-8AC4-BA566F7E218B}"/>
              </a:ext>
            </a:extLst>
          </p:cNvPr>
          <p:cNvSpPr>
            <a:spLocks/>
          </p:cNvSpPr>
          <p:nvPr/>
        </p:nvSpPr>
        <p:spPr bwMode="auto">
          <a:xfrm>
            <a:off x="10381714" y="1887018"/>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 name="Group 8">
            <a:extLst>
              <a:ext uri="{FF2B5EF4-FFF2-40B4-BE49-F238E27FC236}">
                <a16:creationId xmlns:a16="http://schemas.microsoft.com/office/drawing/2014/main" id="{7395260E-0495-5549-B67B-D0932B2922A1}"/>
              </a:ext>
            </a:extLst>
          </p:cNvPr>
          <p:cNvGrpSpPr/>
          <p:nvPr/>
        </p:nvGrpSpPr>
        <p:grpSpPr>
          <a:xfrm>
            <a:off x="9803525" y="1862884"/>
            <a:ext cx="586768" cy="904023"/>
            <a:chOff x="10910965" y="2513124"/>
            <a:chExt cx="586768" cy="904023"/>
          </a:xfrm>
        </p:grpSpPr>
        <p:sp>
          <p:nvSpPr>
            <p:cNvPr id="191" name="Rectangle 190">
              <a:extLst>
                <a:ext uri="{FF2B5EF4-FFF2-40B4-BE49-F238E27FC236}">
                  <a16:creationId xmlns:a16="http://schemas.microsoft.com/office/drawing/2014/main" id="{F9C766A0-70B1-1B4B-AE37-4A6E9AF88F33}"/>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92" name="Straight Connector 191">
              <a:extLst>
                <a:ext uri="{FF2B5EF4-FFF2-40B4-BE49-F238E27FC236}">
                  <a16:creationId xmlns:a16="http://schemas.microsoft.com/office/drawing/2014/main" id="{AC485D2E-710B-7446-BEF0-A978225783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7BF4BF4-4371-1D47-B858-D6B04135BAE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2AEE228-C85E-AC45-B2C5-C8182C643EF4}"/>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353931E-8944-EF4A-9720-7519EA6C48F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5" name="Group 354">
            <a:extLst>
              <a:ext uri="{FF2B5EF4-FFF2-40B4-BE49-F238E27FC236}">
                <a16:creationId xmlns:a16="http://schemas.microsoft.com/office/drawing/2014/main" id="{88E9FDF2-59AD-0849-94F0-90E7C39F4845}"/>
              </a:ext>
            </a:extLst>
          </p:cNvPr>
          <p:cNvGrpSpPr/>
          <p:nvPr/>
        </p:nvGrpSpPr>
        <p:grpSpPr>
          <a:xfrm>
            <a:off x="7419579" y="2906627"/>
            <a:ext cx="1047677" cy="561649"/>
            <a:chOff x="7493876" y="2774731"/>
            <a:chExt cx="1481958" cy="894622"/>
          </a:xfrm>
        </p:grpSpPr>
        <p:sp>
          <p:nvSpPr>
            <p:cNvPr id="364" name="Freeform 363">
              <a:extLst>
                <a:ext uri="{FF2B5EF4-FFF2-40B4-BE49-F238E27FC236}">
                  <a16:creationId xmlns:a16="http://schemas.microsoft.com/office/drawing/2014/main"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65" name="Oval 364">
              <a:extLst>
                <a:ext uri="{FF2B5EF4-FFF2-40B4-BE49-F238E27FC236}">
                  <a16:creationId xmlns:a16="http://schemas.microsoft.com/office/drawing/2014/main"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66" name="Group 365">
              <a:extLst>
                <a:ext uri="{FF2B5EF4-FFF2-40B4-BE49-F238E27FC236}">
                  <a16:creationId xmlns:a16="http://schemas.microsoft.com/office/drawing/2014/main" id="{1101A5E5-CF40-804C-82BD-E8B63F1BC2AC}"/>
                </a:ext>
              </a:extLst>
            </p:cNvPr>
            <p:cNvGrpSpPr/>
            <p:nvPr/>
          </p:nvGrpSpPr>
          <p:grpSpPr>
            <a:xfrm>
              <a:off x="7713663" y="2848339"/>
              <a:ext cx="1042107" cy="425543"/>
              <a:chOff x="7786941" y="2884917"/>
              <a:chExt cx="897649" cy="353919"/>
            </a:xfrm>
          </p:grpSpPr>
          <p:sp>
            <p:nvSpPr>
              <p:cNvPr id="367" name="Freeform 366">
                <a:extLst>
                  <a:ext uri="{FF2B5EF4-FFF2-40B4-BE49-F238E27FC236}">
                    <a16:creationId xmlns:a16="http://schemas.microsoft.com/office/drawing/2014/main"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8" name="Freeform 367">
                <a:extLst>
                  <a:ext uri="{FF2B5EF4-FFF2-40B4-BE49-F238E27FC236}">
                    <a16:creationId xmlns:a16="http://schemas.microsoft.com/office/drawing/2014/main"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9" name="Freeform 368">
                <a:extLst>
                  <a:ext uri="{FF2B5EF4-FFF2-40B4-BE49-F238E27FC236}">
                    <a16:creationId xmlns:a16="http://schemas.microsoft.com/office/drawing/2014/main"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0" name="Freeform 369">
                <a:extLst>
                  <a:ext uri="{FF2B5EF4-FFF2-40B4-BE49-F238E27FC236}">
                    <a16:creationId xmlns:a16="http://schemas.microsoft.com/office/drawing/2014/main"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1 </a:t>
            </a:r>
            <a:endParaRPr lang="en-US" sz="4400" b="0" dirty="0"/>
          </a:p>
        </p:txBody>
      </p:sp>
      <p:grpSp>
        <p:nvGrpSpPr>
          <p:cNvPr id="180" name="Group 124">
            <a:extLst>
              <a:ext uri="{FF2B5EF4-FFF2-40B4-BE49-F238E27FC236}">
                <a16:creationId xmlns:a16="http://schemas.microsoft.com/office/drawing/2014/main" id="{09EDE4D1-769E-664A-B492-F153D45C56DF}"/>
              </a:ext>
            </a:extLst>
          </p:cNvPr>
          <p:cNvGrpSpPr>
            <a:grpSpLocks/>
          </p:cNvGrpSpPr>
          <p:nvPr/>
        </p:nvGrpSpPr>
        <p:grpSpPr bwMode="auto">
          <a:xfrm>
            <a:off x="5422300" y="2022783"/>
            <a:ext cx="525463" cy="434975"/>
            <a:chOff x="-44" y="1473"/>
            <a:chExt cx="981" cy="1105"/>
          </a:xfrm>
        </p:grpSpPr>
        <p:pic>
          <p:nvPicPr>
            <p:cNvPr id="181" name="Picture 125" descr="desktop_computer_stylized_medium">
              <a:extLst>
                <a:ext uri="{FF2B5EF4-FFF2-40B4-BE49-F238E27FC236}">
                  <a16:creationId xmlns:a16="http://schemas.microsoft.com/office/drawing/2014/main" id="{BCF21B40-E1CC-014D-891D-609787EB1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Freeform 126">
              <a:extLst>
                <a:ext uri="{FF2B5EF4-FFF2-40B4-BE49-F238E27FC236}">
                  <a16:creationId xmlns:a16="http://schemas.microsoft.com/office/drawing/2014/main" id="{083D804D-E191-C349-B559-AC9913D588A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85" name="Freeform 12">
            <a:extLst>
              <a:ext uri="{FF2B5EF4-FFF2-40B4-BE49-F238E27FC236}">
                <a16:creationId xmlns:a16="http://schemas.microsoft.com/office/drawing/2014/main" id="{AC913105-44C9-2F4B-B4CF-997DA724B11C}"/>
              </a:ext>
            </a:extLst>
          </p:cNvPr>
          <p:cNvSpPr>
            <a:spLocks/>
          </p:cNvSpPr>
          <p:nvPr/>
        </p:nvSpPr>
        <p:spPr bwMode="auto">
          <a:xfrm flipH="1">
            <a:off x="5146139" y="2637590"/>
            <a:ext cx="250825" cy="930275"/>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6" name="Rectangle 15">
            <a:extLst>
              <a:ext uri="{FF2B5EF4-FFF2-40B4-BE49-F238E27FC236}">
                <a16:creationId xmlns:a16="http://schemas.microsoft.com/office/drawing/2014/main" id="{49269DA6-C1BF-794F-9EEA-0EFF8A8D2CA0}"/>
              </a:ext>
            </a:extLst>
          </p:cNvPr>
          <p:cNvSpPr txBox="1">
            <a:spLocks noChangeArrowheads="1"/>
          </p:cNvSpPr>
          <p:nvPr/>
        </p:nvSpPr>
        <p:spPr bwMode="auto">
          <a:xfrm>
            <a:off x="774261" y="1490147"/>
            <a:ext cx="3792183" cy="368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Simplest scenario:</a:t>
            </a:r>
          </a:p>
          <a:p>
            <a:pPr marL="0" marR="0" lvl="0" indent="0"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endParaRPr kumimoji="0" lang="en-US" sz="28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sp>
        <p:nvSpPr>
          <p:cNvPr id="187" name="Rectangle 16">
            <a:extLst>
              <a:ext uri="{FF2B5EF4-FFF2-40B4-BE49-F238E27FC236}">
                <a16:creationId xmlns:a16="http://schemas.microsoft.com/office/drawing/2014/main" id="{F84F47E9-C6B6-224C-845B-E201FB286037}"/>
              </a:ext>
            </a:extLst>
          </p:cNvPr>
          <p:cNvSpPr txBox="1">
            <a:spLocks noChangeArrowheads="1"/>
          </p:cNvSpPr>
          <p:nvPr/>
        </p:nvSpPr>
        <p:spPr bwMode="auto">
          <a:xfrm>
            <a:off x="4868327" y="5950805"/>
            <a:ext cx="3297237" cy="784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maximum per-connection throughput: R/2</a:t>
            </a:r>
          </a:p>
        </p:txBody>
      </p:sp>
      <p:sp>
        <p:nvSpPr>
          <p:cNvPr id="203" name="Line 33">
            <a:extLst>
              <a:ext uri="{FF2B5EF4-FFF2-40B4-BE49-F238E27FC236}">
                <a16:creationId xmlns:a16="http://schemas.microsoft.com/office/drawing/2014/main" id="{A9B30674-B59F-1643-8F90-1D2641E2102B}"/>
              </a:ext>
            </a:extLst>
          </p:cNvPr>
          <p:cNvSpPr>
            <a:spLocks noChangeShapeType="1"/>
          </p:cNvSpPr>
          <p:nvPr/>
        </p:nvSpPr>
        <p:spPr bwMode="auto">
          <a:xfrm flipH="1">
            <a:off x="6308189" y="2770940"/>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2" name="Text Box 42">
            <a:extLst>
              <a:ext uri="{FF2B5EF4-FFF2-40B4-BE49-F238E27FC236}">
                <a16:creationId xmlns:a16="http://schemas.microsoft.com/office/drawing/2014/main" id="{45FD0EC2-A145-DC4A-9A60-DC5E453EC52B}"/>
              </a:ext>
            </a:extLst>
          </p:cNvPr>
          <p:cNvSpPr txBox="1">
            <a:spLocks noChangeArrowheads="1"/>
          </p:cNvSpPr>
          <p:nvPr/>
        </p:nvSpPr>
        <p:spPr bwMode="auto">
          <a:xfrm>
            <a:off x="5236024" y="1757366"/>
            <a:ext cx="913861"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221" name="Text Box 52">
            <a:extLst>
              <a:ext uri="{FF2B5EF4-FFF2-40B4-BE49-F238E27FC236}">
                <a16:creationId xmlns:a16="http://schemas.microsoft.com/office/drawing/2014/main" id="{4BAC9BCC-8A73-B14B-8D28-0C77BB126162}"/>
              </a:ext>
            </a:extLst>
          </p:cNvPr>
          <p:cNvSpPr txBox="1">
            <a:spLocks noChangeArrowheads="1"/>
          </p:cNvSpPr>
          <p:nvPr/>
        </p:nvSpPr>
        <p:spPr bwMode="auto">
          <a:xfrm>
            <a:off x="5231806" y="3686015"/>
            <a:ext cx="799129"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222" name="Line 53">
            <a:extLst>
              <a:ext uri="{FF2B5EF4-FFF2-40B4-BE49-F238E27FC236}">
                <a16:creationId xmlns:a16="http://schemas.microsoft.com/office/drawing/2014/main" id="{8E626A5E-7769-D34B-B652-6F3C2A3740FB}"/>
              </a:ext>
            </a:extLst>
          </p:cNvPr>
          <p:cNvSpPr>
            <a:spLocks noChangeShapeType="1"/>
          </p:cNvSpPr>
          <p:nvPr/>
        </p:nvSpPr>
        <p:spPr bwMode="auto">
          <a:xfrm flipH="1">
            <a:off x="6793964" y="3170990"/>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3" name="Line 54">
            <a:extLst>
              <a:ext uri="{FF2B5EF4-FFF2-40B4-BE49-F238E27FC236}">
                <a16:creationId xmlns:a16="http://schemas.microsoft.com/office/drawing/2014/main" id="{DFB6E6E2-8DA8-C549-8AC1-828F8F828431}"/>
              </a:ext>
            </a:extLst>
          </p:cNvPr>
          <p:cNvSpPr>
            <a:spLocks noChangeShapeType="1"/>
          </p:cNvSpPr>
          <p:nvPr/>
        </p:nvSpPr>
        <p:spPr bwMode="auto">
          <a:xfrm flipH="1">
            <a:off x="8413214" y="3170990"/>
            <a:ext cx="609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4" name="Line 55">
            <a:extLst>
              <a:ext uri="{FF2B5EF4-FFF2-40B4-BE49-F238E27FC236}">
                <a16:creationId xmlns:a16="http://schemas.microsoft.com/office/drawing/2014/main" id="{66F3E5E4-6136-594F-B2C6-BF81A4932B2E}"/>
              </a:ext>
            </a:extLst>
          </p:cNvPr>
          <p:cNvSpPr>
            <a:spLocks noChangeShapeType="1"/>
          </p:cNvSpPr>
          <p:nvPr/>
        </p:nvSpPr>
        <p:spPr bwMode="auto">
          <a:xfrm flipH="1">
            <a:off x="8537039" y="2770940"/>
            <a:ext cx="923925" cy="866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5" name="Line 57">
            <a:extLst>
              <a:ext uri="{FF2B5EF4-FFF2-40B4-BE49-F238E27FC236}">
                <a16:creationId xmlns:a16="http://schemas.microsoft.com/office/drawing/2014/main" id="{3D95A033-C14C-3448-9016-0C9E6C4CF3A2}"/>
              </a:ext>
            </a:extLst>
          </p:cNvPr>
          <p:cNvSpPr>
            <a:spLocks noChangeShapeType="1"/>
          </p:cNvSpPr>
          <p:nvPr/>
        </p:nvSpPr>
        <p:spPr bwMode="auto">
          <a:xfrm flipH="1">
            <a:off x="9458935" y="2771087"/>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 name="Group 15">
            <a:extLst>
              <a:ext uri="{FF2B5EF4-FFF2-40B4-BE49-F238E27FC236}">
                <a16:creationId xmlns:a16="http://schemas.microsoft.com/office/drawing/2014/main" id="{CB231E2E-E647-0B43-8C18-43AC77EF0F75}"/>
              </a:ext>
            </a:extLst>
          </p:cNvPr>
          <p:cNvGrpSpPr/>
          <p:nvPr/>
        </p:nvGrpSpPr>
        <p:grpSpPr>
          <a:xfrm>
            <a:off x="8616414" y="1265990"/>
            <a:ext cx="1790700" cy="707189"/>
            <a:chOff x="8616414" y="1265990"/>
            <a:chExt cx="1790700" cy="707189"/>
          </a:xfrm>
        </p:grpSpPr>
        <p:sp>
          <p:nvSpPr>
            <p:cNvPr id="243" name="Text Box 75">
              <a:extLst>
                <a:ext uri="{FF2B5EF4-FFF2-40B4-BE49-F238E27FC236}">
                  <a16:creationId xmlns:a16="http://schemas.microsoft.com/office/drawing/2014/main" id="{CE7D4727-1265-8046-9D9E-99C60BC228BB}"/>
                </a:ext>
              </a:extLst>
            </p:cNvPr>
            <p:cNvSpPr txBox="1">
              <a:spLocks noChangeArrowheads="1"/>
            </p:cNvSpPr>
            <p:nvPr/>
          </p:nvSpPr>
          <p:spPr bwMode="auto">
            <a:xfrm>
              <a:off x="8616414" y="1265990"/>
              <a:ext cx="1790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throughput:</a:t>
              </a:r>
              <a:r>
                <a:rPr kumimoji="0" lang="en-US" altLang="en-US" sz="2400" b="0" i="0" u="none" strike="noStrike" kern="1200" cap="none" spc="0" normalizeH="0" baseline="0" noProof="0" dirty="0">
                  <a:ln>
                    <a:noFill/>
                  </a:ln>
                  <a:solidFill>
                    <a:srgbClr val="FF0000"/>
                  </a:solidFill>
                  <a:effectLst/>
                  <a:uLnTx/>
                  <a:uFillTx/>
                  <a:latin typeface="Symbol" pitchFamily="2" charset="2"/>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srgbClr val="CC0000"/>
                  </a:solidFill>
                  <a:effectLst/>
                  <a:uLnTx/>
                  <a:uFillTx/>
                  <a:latin typeface="Symbol" pitchFamily="2" charset="2"/>
                  <a:ea typeface="ＭＳ Ｐゴシック" panose="020B0600070205080204" pitchFamily="34" charset="-128"/>
                  <a:cs typeface="+mn-cs"/>
                </a:rPr>
                <a:t>l</a:t>
              </a:r>
              <a:r>
                <a:rPr kumimoji="0" lang="en-US" altLang="en-US" sz="2400" b="0" i="0" u="none" strike="noStrike" kern="1200" cap="none" spc="0" normalizeH="0" baseline="-2500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out</a:t>
              </a:r>
              <a:endParaRPr kumimoji="0" lang="en-US" altLang="en-US" sz="2400" b="0" i="0" u="none" strike="noStrike" kern="1200" cap="none" spc="0" normalizeH="0" baseline="0" noProof="0" dirty="0">
                <a:ln>
                  <a:noFill/>
                </a:ln>
                <a:solidFill>
                  <a:srgbClr val="CC0000"/>
                </a:solidFill>
                <a:effectLst/>
                <a:uLnTx/>
                <a:uFillTx/>
                <a:latin typeface="Comic Sans MS" panose="030F0902030302020204" pitchFamily="66" charset="0"/>
                <a:ea typeface="ＭＳ Ｐゴシック" panose="020B0600070205080204" pitchFamily="34" charset="-128"/>
                <a:cs typeface="+mn-cs"/>
              </a:endParaRPr>
            </a:p>
          </p:txBody>
        </p:sp>
        <p:sp>
          <p:nvSpPr>
            <p:cNvPr id="244" name="Line 76">
              <a:extLst>
                <a:ext uri="{FF2B5EF4-FFF2-40B4-BE49-F238E27FC236}">
                  <a16:creationId xmlns:a16="http://schemas.microsoft.com/office/drawing/2014/main" id="{C5D66868-B812-9443-B51A-0CEF4AACBD68}"/>
                </a:ext>
              </a:extLst>
            </p:cNvPr>
            <p:cNvSpPr>
              <a:spLocks noChangeShapeType="1"/>
            </p:cNvSpPr>
            <p:nvPr/>
          </p:nvSpPr>
          <p:spPr bwMode="auto">
            <a:xfrm>
              <a:off x="9460964" y="1675565"/>
              <a:ext cx="549310" cy="2976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81" name="Rectangle 121">
            <a:extLst>
              <a:ext uri="{FF2B5EF4-FFF2-40B4-BE49-F238E27FC236}">
                <a16:creationId xmlns:a16="http://schemas.microsoft.com/office/drawing/2014/main" id="{EBE3971E-D5ED-054F-AE0D-069A6E86637C}"/>
              </a:ext>
            </a:extLst>
          </p:cNvPr>
          <p:cNvSpPr>
            <a:spLocks noChangeArrowheads="1"/>
          </p:cNvSpPr>
          <p:nvPr/>
        </p:nvSpPr>
        <p:spPr bwMode="auto">
          <a:xfrm>
            <a:off x="8102651" y="5953953"/>
            <a:ext cx="2605247" cy="784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0" fontAlgn="base" hangingPunct="0">
              <a:lnSpc>
                <a:spcPct val="85000"/>
              </a:lnSpc>
              <a:spcBef>
                <a:spcPct val="20000"/>
              </a:spcBef>
              <a:spcAft>
                <a:spcPct val="0"/>
              </a:spcAft>
              <a:buClr>
                <a:srgbClr val="000099"/>
              </a:buClr>
              <a:buSzPct val="65000"/>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large delays as arrival rate </a:t>
            </a:r>
            <a:r>
              <a:rPr lang="en-US" kern="0" dirty="0" err="1">
                <a:solidFill>
                  <a:srgbClr val="000000"/>
                </a:solidFill>
                <a:latin typeface="Symbol" charset="0"/>
                <a:ea typeface="ＭＳ Ｐゴシック" charset="0"/>
              </a:rPr>
              <a:t>l</a:t>
            </a:r>
            <a:r>
              <a:rPr lang="en-US" kern="0" baseline="-25000" dirty="0" err="1">
                <a:solidFill>
                  <a:srgbClr val="000000"/>
                </a:solidFill>
                <a:latin typeface="Arial" charset="0"/>
                <a:ea typeface="ＭＳ Ｐゴシック" charset="0"/>
              </a:rPr>
              <a:t>in</a:t>
            </a:r>
            <a:r>
              <a:rPr lang="en-US" dirty="0">
                <a:solidFill>
                  <a:srgbClr val="000000"/>
                </a:solidFill>
                <a:latin typeface="Calibri" panose="020F0502020204030204"/>
                <a:ea typeface="ＭＳ Ｐゴシック" charset="0"/>
              </a:rPr>
              <a:t> </a:t>
            </a: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approaches capacity</a:t>
            </a:r>
          </a:p>
        </p:txBody>
      </p:sp>
      <p:grpSp>
        <p:nvGrpSpPr>
          <p:cNvPr id="282" name="Group 127">
            <a:extLst>
              <a:ext uri="{FF2B5EF4-FFF2-40B4-BE49-F238E27FC236}">
                <a16:creationId xmlns:a16="http://schemas.microsoft.com/office/drawing/2014/main" id="{879C5F16-9AAB-6840-B838-D482AFD339D0}"/>
              </a:ext>
            </a:extLst>
          </p:cNvPr>
          <p:cNvGrpSpPr>
            <a:grpSpLocks/>
          </p:cNvGrpSpPr>
          <p:nvPr/>
        </p:nvGrpSpPr>
        <p:grpSpPr bwMode="auto">
          <a:xfrm>
            <a:off x="10481726" y="2478840"/>
            <a:ext cx="231775" cy="441325"/>
            <a:chOff x="4140" y="429"/>
            <a:chExt cx="1425" cy="2396"/>
          </a:xfrm>
        </p:grpSpPr>
        <p:sp>
          <p:nvSpPr>
            <p:cNvPr id="283" name="Freeform 128">
              <a:extLst>
                <a:ext uri="{FF2B5EF4-FFF2-40B4-BE49-F238E27FC236}">
                  <a16:creationId xmlns:a16="http://schemas.microsoft.com/office/drawing/2014/main" id="{EEE9D070-85E1-B647-B7C8-1DB5376AB2D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4" name="Rectangle 129">
              <a:extLst>
                <a:ext uri="{FF2B5EF4-FFF2-40B4-BE49-F238E27FC236}">
                  <a16:creationId xmlns:a16="http://schemas.microsoft.com/office/drawing/2014/main" id="{E73B241F-DFB6-C64D-BF7F-84EE703171D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5" name="Freeform 130">
              <a:extLst>
                <a:ext uri="{FF2B5EF4-FFF2-40B4-BE49-F238E27FC236}">
                  <a16:creationId xmlns:a16="http://schemas.microsoft.com/office/drawing/2014/main" id="{64CD10E5-9AA0-9F41-9104-ED6E9D5A2A7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6" name="Freeform 131">
              <a:extLst>
                <a:ext uri="{FF2B5EF4-FFF2-40B4-BE49-F238E27FC236}">
                  <a16:creationId xmlns:a16="http://schemas.microsoft.com/office/drawing/2014/main" id="{8E369838-B1C5-9B4A-8873-925C9867C0A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7" name="Rectangle 132">
              <a:extLst>
                <a:ext uri="{FF2B5EF4-FFF2-40B4-BE49-F238E27FC236}">
                  <a16:creationId xmlns:a16="http://schemas.microsoft.com/office/drawing/2014/main" id="{44FFFEBD-8F73-6E40-B407-310565525D0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88" name="Group 133">
              <a:extLst>
                <a:ext uri="{FF2B5EF4-FFF2-40B4-BE49-F238E27FC236}">
                  <a16:creationId xmlns:a16="http://schemas.microsoft.com/office/drawing/2014/main" id="{6C449BB4-7723-4842-B85A-6CD8ADE6EEF7}"/>
                </a:ext>
              </a:extLst>
            </p:cNvPr>
            <p:cNvGrpSpPr>
              <a:grpSpLocks/>
            </p:cNvGrpSpPr>
            <p:nvPr/>
          </p:nvGrpSpPr>
          <p:grpSpPr bwMode="auto">
            <a:xfrm>
              <a:off x="4749" y="668"/>
              <a:ext cx="581" cy="145"/>
              <a:chOff x="614" y="2568"/>
              <a:chExt cx="725" cy="139"/>
            </a:xfrm>
          </p:grpSpPr>
          <p:sp>
            <p:nvSpPr>
              <p:cNvPr id="313" name="AutoShape 134">
                <a:extLst>
                  <a:ext uri="{FF2B5EF4-FFF2-40B4-BE49-F238E27FC236}">
                    <a16:creationId xmlns:a16="http://schemas.microsoft.com/office/drawing/2014/main" id="{580CA213-4512-FA45-88F9-266D6745944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4" name="AutoShape 135">
                <a:extLst>
                  <a:ext uri="{FF2B5EF4-FFF2-40B4-BE49-F238E27FC236}">
                    <a16:creationId xmlns:a16="http://schemas.microsoft.com/office/drawing/2014/main" id="{7BFC849C-499A-0845-9AF3-BC589CDB087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89" name="Rectangle 136">
              <a:extLst>
                <a:ext uri="{FF2B5EF4-FFF2-40B4-BE49-F238E27FC236}">
                  <a16:creationId xmlns:a16="http://schemas.microsoft.com/office/drawing/2014/main" id="{B0208157-D9CE-EF44-A82A-B9CE3EFD6F21}"/>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90" name="Group 137">
              <a:extLst>
                <a:ext uri="{FF2B5EF4-FFF2-40B4-BE49-F238E27FC236}">
                  <a16:creationId xmlns:a16="http://schemas.microsoft.com/office/drawing/2014/main" id="{6411A460-4D2F-6042-B3FA-7877FC08542A}"/>
                </a:ext>
              </a:extLst>
            </p:cNvPr>
            <p:cNvGrpSpPr>
              <a:grpSpLocks/>
            </p:cNvGrpSpPr>
            <p:nvPr/>
          </p:nvGrpSpPr>
          <p:grpSpPr bwMode="auto">
            <a:xfrm>
              <a:off x="4747" y="994"/>
              <a:ext cx="581" cy="134"/>
              <a:chOff x="614" y="2568"/>
              <a:chExt cx="725" cy="139"/>
            </a:xfrm>
          </p:grpSpPr>
          <p:sp>
            <p:nvSpPr>
              <p:cNvPr id="311" name="AutoShape 138">
                <a:extLst>
                  <a:ext uri="{FF2B5EF4-FFF2-40B4-BE49-F238E27FC236}">
                    <a16:creationId xmlns:a16="http://schemas.microsoft.com/office/drawing/2014/main" id="{2528368F-0A05-EE46-8F4D-04BE346F7E3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2" name="AutoShape 139">
                <a:extLst>
                  <a:ext uri="{FF2B5EF4-FFF2-40B4-BE49-F238E27FC236}">
                    <a16:creationId xmlns:a16="http://schemas.microsoft.com/office/drawing/2014/main" id="{3B97611D-398F-1A45-996D-38BD9822FA1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91" name="Rectangle 140">
              <a:extLst>
                <a:ext uri="{FF2B5EF4-FFF2-40B4-BE49-F238E27FC236}">
                  <a16:creationId xmlns:a16="http://schemas.microsoft.com/office/drawing/2014/main" id="{4932601C-B73A-F24F-A7F0-F545FC9D85F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92" name="Rectangle 141">
              <a:extLst>
                <a:ext uri="{FF2B5EF4-FFF2-40B4-BE49-F238E27FC236}">
                  <a16:creationId xmlns:a16="http://schemas.microsoft.com/office/drawing/2014/main" id="{2E798033-84E0-4046-8123-A3E022BD0D0D}"/>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93" name="Group 142">
              <a:extLst>
                <a:ext uri="{FF2B5EF4-FFF2-40B4-BE49-F238E27FC236}">
                  <a16:creationId xmlns:a16="http://schemas.microsoft.com/office/drawing/2014/main" id="{CD337402-4020-0C40-A87E-04755B4A7EFA}"/>
                </a:ext>
              </a:extLst>
            </p:cNvPr>
            <p:cNvGrpSpPr>
              <a:grpSpLocks/>
            </p:cNvGrpSpPr>
            <p:nvPr/>
          </p:nvGrpSpPr>
          <p:grpSpPr bwMode="auto">
            <a:xfrm>
              <a:off x="4735" y="1627"/>
              <a:ext cx="582" cy="151"/>
              <a:chOff x="614" y="2568"/>
              <a:chExt cx="725" cy="139"/>
            </a:xfrm>
          </p:grpSpPr>
          <p:sp>
            <p:nvSpPr>
              <p:cNvPr id="309" name="AutoShape 143">
                <a:extLst>
                  <a:ext uri="{FF2B5EF4-FFF2-40B4-BE49-F238E27FC236}">
                    <a16:creationId xmlns:a16="http://schemas.microsoft.com/office/drawing/2014/main" id="{9BAD2454-875B-1040-9ABC-295C5238C73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10" name="AutoShape 144">
                <a:extLst>
                  <a:ext uri="{FF2B5EF4-FFF2-40B4-BE49-F238E27FC236}">
                    <a16:creationId xmlns:a16="http://schemas.microsoft.com/office/drawing/2014/main" id="{811AD1F7-D00A-2044-8EE8-E002D9859C3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94" name="Freeform 145">
              <a:extLst>
                <a:ext uri="{FF2B5EF4-FFF2-40B4-BE49-F238E27FC236}">
                  <a16:creationId xmlns:a16="http://schemas.microsoft.com/office/drawing/2014/main" id="{A082C83D-EAED-5146-8038-BE6D0CD214E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95" name="Group 146">
              <a:extLst>
                <a:ext uri="{FF2B5EF4-FFF2-40B4-BE49-F238E27FC236}">
                  <a16:creationId xmlns:a16="http://schemas.microsoft.com/office/drawing/2014/main" id="{F3E31BE7-8EE9-F941-912B-D2464A54CE69}"/>
                </a:ext>
              </a:extLst>
            </p:cNvPr>
            <p:cNvGrpSpPr>
              <a:grpSpLocks/>
            </p:cNvGrpSpPr>
            <p:nvPr/>
          </p:nvGrpSpPr>
          <p:grpSpPr bwMode="auto">
            <a:xfrm>
              <a:off x="4739" y="1327"/>
              <a:ext cx="582" cy="139"/>
              <a:chOff x="614" y="2568"/>
              <a:chExt cx="725" cy="139"/>
            </a:xfrm>
          </p:grpSpPr>
          <p:sp>
            <p:nvSpPr>
              <p:cNvPr id="307" name="AutoShape 147">
                <a:extLst>
                  <a:ext uri="{FF2B5EF4-FFF2-40B4-BE49-F238E27FC236}">
                    <a16:creationId xmlns:a16="http://schemas.microsoft.com/office/drawing/2014/main" id="{732FE339-8FD2-B042-A014-EB19D7B6750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8" name="AutoShape 148">
                <a:extLst>
                  <a:ext uri="{FF2B5EF4-FFF2-40B4-BE49-F238E27FC236}">
                    <a16:creationId xmlns:a16="http://schemas.microsoft.com/office/drawing/2014/main" id="{DB2D76FA-CDCC-F543-9A55-827409AD12D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96" name="Rectangle 149">
              <a:extLst>
                <a:ext uri="{FF2B5EF4-FFF2-40B4-BE49-F238E27FC236}">
                  <a16:creationId xmlns:a16="http://schemas.microsoft.com/office/drawing/2014/main" id="{4AFD3D79-1011-034D-82FF-36956F3D9F3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97" name="Freeform 150">
              <a:extLst>
                <a:ext uri="{FF2B5EF4-FFF2-40B4-BE49-F238E27FC236}">
                  <a16:creationId xmlns:a16="http://schemas.microsoft.com/office/drawing/2014/main" id="{52F521AF-DEC9-9748-8982-D368DDC2B6B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8" name="Freeform 151">
              <a:extLst>
                <a:ext uri="{FF2B5EF4-FFF2-40B4-BE49-F238E27FC236}">
                  <a16:creationId xmlns:a16="http://schemas.microsoft.com/office/drawing/2014/main" id="{79F218C2-4B51-FB41-BB3E-2CB4FAE168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9" name="Oval 152">
              <a:extLst>
                <a:ext uri="{FF2B5EF4-FFF2-40B4-BE49-F238E27FC236}">
                  <a16:creationId xmlns:a16="http://schemas.microsoft.com/office/drawing/2014/main" id="{D16EE320-03FD-2743-B02B-D5E39593FF7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0" name="Freeform 153">
              <a:extLst>
                <a:ext uri="{FF2B5EF4-FFF2-40B4-BE49-F238E27FC236}">
                  <a16:creationId xmlns:a16="http://schemas.microsoft.com/office/drawing/2014/main" id="{325E7068-4B41-AE4C-965D-DA302E30903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1" name="AutoShape 154">
              <a:extLst>
                <a:ext uri="{FF2B5EF4-FFF2-40B4-BE49-F238E27FC236}">
                  <a16:creationId xmlns:a16="http://schemas.microsoft.com/office/drawing/2014/main" id="{1527CD1D-4826-F249-8CC0-8D803950A59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2" name="AutoShape 155">
              <a:extLst>
                <a:ext uri="{FF2B5EF4-FFF2-40B4-BE49-F238E27FC236}">
                  <a16:creationId xmlns:a16="http://schemas.microsoft.com/office/drawing/2014/main" id="{4137A0DF-EEBF-3340-81E2-30FAAE1292FF}"/>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3" name="Oval 156">
              <a:extLst>
                <a:ext uri="{FF2B5EF4-FFF2-40B4-BE49-F238E27FC236}">
                  <a16:creationId xmlns:a16="http://schemas.microsoft.com/office/drawing/2014/main" id="{E1E6F14E-95D9-CC4D-BAB1-1C12B1C1A4A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4" name="Oval 157">
              <a:extLst>
                <a:ext uri="{FF2B5EF4-FFF2-40B4-BE49-F238E27FC236}">
                  <a16:creationId xmlns:a16="http://schemas.microsoft.com/office/drawing/2014/main" id="{6F01C793-1A32-CA48-99E6-4C06A214A40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05" name="Oval 158">
              <a:extLst>
                <a:ext uri="{FF2B5EF4-FFF2-40B4-BE49-F238E27FC236}">
                  <a16:creationId xmlns:a16="http://schemas.microsoft.com/office/drawing/2014/main" id="{3B94657D-9B77-1941-9CBF-A2C7591AF42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6" name="Rectangle 159">
              <a:extLst>
                <a:ext uri="{FF2B5EF4-FFF2-40B4-BE49-F238E27FC236}">
                  <a16:creationId xmlns:a16="http://schemas.microsoft.com/office/drawing/2014/main" id="{4C98791A-5A95-B940-9F34-EFDEF8150F81}"/>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15" name="Group 160">
            <a:extLst>
              <a:ext uri="{FF2B5EF4-FFF2-40B4-BE49-F238E27FC236}">
                <a16:creationId xmlns:a16="http://schemas.microsoft.com/office/drawing/2014/main" id="{AD8E3A61-2C5A-CC41-9933-891EC27B5015}"/>
              </a:ext>
            </a:extLst>
          </p:cNvPr>
          <p:cNvGrpSpPr>
            <a:grpSpLocks/>
          </p:cNvGrpSpPr>
          <p:nvPr/>
        </p:nvGrpSpPr>
        <p:grpSpPr bwMode="auto">
          <a:xfrm>
            <a:off x="4826257" y="3381692"/>
            <a:ext cx="525463" cy="434975"/>
            <a:chOff x="-44" y="1473"/>
            <a:chExt cx="981" cy="1105"/>
          </a:xfrm>
        </p:grpSpPr>
        <p:pic>
          <p:nvPicPr>
            <p:cNvPr id="316" name="Picture 161" descr="desktop_computer_stylized_medium">
              <a:extLst>
                <a:ext uri="{FF2B5EF4-FFF2-40B4-BE49-F238E27FC236}">
                  <a16:creationId xmlns:a16="http://schemas.microsoft.com/office/drawing/2014/main" id="{01E7AFB7-5DE3-CA4A-A50A-BEADA26B1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 name="Freeform 162">
              <a:extLst>
                <a:ext uri="{FF2B5EF4-FFF2-40B4-BE49-F238E27FC236}">
                  <a16:creationId xmlns:a16="http://schemas.microsoft.com/office/drawing/2014/main" id="{4E443E40-A128-4E43-A736-B0C7F3C2A94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18" name="Group 163">
            <a:extLst>
              <a:ext uri="{FF2B5EF4-FFF2-40B4-BE49-F238E27FC236}">
                <a16:creationId xmlns:a16="http://schemas.microsoft.com/office/drawing/2014/main" id="{C476CE94-C91A-0846-B6B7-05E77113879F}"/>
              </a:ext>
            </a:extLst>
          </p:cNvPr>
          <p:cNvGrpSpPr>
            <a:grpSpLocks/>
          </p:cNvGrpSpPr>
          <p:nvPr/>
        </p:nvGrpSpPr>
        <p:grpSpPr bwMode="auto">
          <a:xfrm>
            <a:off x="10164226" y="3444040"/>
            <a:ext cx="231775" cy="441325"/>
            <a:chOff x="4140" y="429"/>
            <a:chExt cx="1425" cy="2396"/>
          </a:xfrm>
        </p:grpSpPr>
        <p:sp>
          <p:nvSpPr>
            <p:cNvPr id="319" name="Freeform 164">
              <a:extLst>
                <a:ext uri="{FF2B5EF4-FFF2-40B4-BE49-F238E27FC236}">
                  <a16:creationId xmlns:a16="http://schemas.microsoft.com/office/drawing/2014/main" id="{7E23E3E7-6D0C-A747-B7EB-BCB232D5625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0" name="Rectangle 165">
              <a:extLst>
                <a:ext uri="{FF2B5EF4-FFF2-40B4-BE49-F238E27FC236}">
                  <a16:creationId xmlns:a16="http://schemas.microsoft.com/office/drawing/2014/main" id="{814A29A9-35F7-F44A-86DF-9F21E4CCB44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1" name="Freeform 166">
              <a:extLst>
                <a:ext uri="{FF2B5EF4-FFF2-40B4-BE49-F238E27FC236}">
                  <a16:creationId xmlns:a16="http://schemas.microsoft.com/office/drawing/2014/main" id="{B8E9398E-F70E-104C-BC4B-6FFD09F2BA4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Freeform 167">
              <a:extLst>
                <a:ext uri="{FF2B5EF4-FFF2-40B4-BE49-F238E27FC236}">
                  <a16:creationId xmlns:a16="http://schemas.microsoft.com/office/drawing/2014/main" id="{5AC97C88-7A57-AC44-A1DE-BDAB3D1F0E3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3" name="Rectangle 168">
              <a:extLst>
                <a:ext uri="{FF2B5EF4-FFF2-40B4-BE49-F238E27FC236}">
                  <a16:creationId xmlns:a16="http://schemas.microsoft.com/office/drawing/2014/main" id="{229AF22C-8CDF-2B47-88DF-3B0B587AB207}"/>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24" name="Group 169">
              <a:extLst>
                <a:ext uri="{FF2B5EF4-FFF2-40B4-BE49-F238E27FC236}">
                  <a16:creationId xmlns:a16="http://schemas.microsoft.com/office/drawing/2014/main" id="{0515312F-DE85-5641-B779-E8991ECBE8F8}"/>
                </a:ext>
              </a:extLst>
            </p:cNvPr>
            <p:cNvGrpSpPr>
              <a:grpSpLocks/>
            </p:cNvGrpSpPr>
            <p:nvPr/>
          </p:nvGrpSpPr>
          <p:grpSpPr bwMode="auto">
            <a:xfrm>
              <a:off x="4749" y="668"/>
              <a:ext cx="581" cy="145"/>
              <a:chOff x="614" y="2568"/>
              <a:chExt cx="725" cy="139"/>
            </a:xfrm>
          </p:grpSpPr>
          <p:sp>
            <p:nvSpPr>
              <p:cNvPr id="349" name="AutoShape 170">
                <a:extLst>
                  <a:ext uri="{FF2B5EF4-FFF2-40B4-BE49-F238E27FC236}">
                    <a16:creationId xmlns:a16="http://schemas.microsoft.com/office/drawing/2014/main" id="{1534A008-335A-184E-AD46-396A2FE3719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0" name="AutoShape 171">
                <a:extLst>
                  <a:ext uri="{FF2B5EF4-FFF2-40B4-BE49-F238E27FC236}">
                    <a16:creationId xmlns:a16="http://schemas.microsoft.com/office/drawing/2014/main" id="{7B78E6A8-DEDF-8144-B322-E4206C6E43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5" name="Rectangle 172">
              <a:extLst>
                <a:ext uri="{FF2B5EF4-FFF2-40B4-BE49-F238E27FC236}">
                  <a16:creationId xmlns:a16="http://schemas.microsoft.com/office/drawing/2014/main" id="{41B3D22D-F506-A448-A3D5-682181A47A7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26" name="Group 173">
              <a:extLst>
                <a:ext uri="{FF2B5EF4-FFF2-40B4-BE49-F238E27FC236}">
                  <a16:creationId xmlns:a16="http://schemas.microsoft.com/office/drawing/2014/main" id="{BAB53084-6436-7444-ACD5-5E7D01263E2B}"/>
                </a:ext>
              </a:extLst>
            </p:cNvPr>
            <p:cNvGrpSpPr>
              <a:grpSpLocks/>
            </p:cNvGrpSpPr>
            <p:nvPr/>
          </p:nvGrpSpPr>
          <p:grpSpPr bwMode="auto">
            <a:xfrm>
              <a:off x="4747" y="994"/>
              <a:ext cx="581" cy="134"/>
              <a:chOff x="614" y="2568"/>
              <a:chExt cx="725" cy="139"/>
            </a:xfrm>
          </p:grpSpPr>
          <p:sp>
            <p:nvSpPr>
              <p:cNvPr id="347" name="AutoShape 174">
                <a:extLst>
                  <a:ext uri="{FF2B5EF4-FFF2-40B4-BE49-F238E27FC236}">
                    <a16:creationId xmlns:a16="http://schemas.microsoft.com/office/drawing/2014/main" id="{0369A39A-40F1-844B-BF97-43EE1A3A2AC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8" name="AutoShape 175">
                <a:extLst>
                  <a:ext uri="{FF2B5EF4-FFF2-40B4-BE49-F238E27FC236}">
                    <a16:creationId xmlns:a16="http://schemas.microsoft.com/office/drawing/2014/main" id="{D7484B32-60C3-FA43-A0AA-A0D628003D7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7" name="Rectangle 176">
              <a:extLst>
                <a:ext uri="{FF2B5EF4-FFF2-40B4-BE49-F238E27FC236}">
                  <a16:creationId xmlns:a16="http://schemas.microsoft.com/office/drawing/2014/main" id="{47F75A27-CD31-C143-9419-3EFB259397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28" name="Rectangle 177">
              <a:extLst>
                <a:ext uri="{FF2B5EF4-FFF2-40B4-BE49-F238E27FC236}">
                  <a16:creationId xmlns:a16="http://schemas.microsoft.com/office/drawing/2014/main" id="{EBB2CB62-D2FD-C047-94B4-C2C954564AF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29" name="Group 178">
              <a:extLst>
                <a:ext uri="{FF2B5EF4-FFF2-40B4-BE49-F238E27FC236}">
                  <a16:creationId xmlns:a16="http://schemas.microsoft.com/office/drawing/2014/main" id="{E30BEF1D-E99C-EF4F-A2DE-968E737192AA}"/>
                </a:ext>
              </a:extLst>
            </p:cNvPr>
            <p:cNvGrpSpPr>
              <a:grpSpLocks/>
            </p:cNvGrpSpPr>
            <p:nvPr/>
          </p:nvGrpSpPr>
          <p:grpSpPr bwMode="auto">
            <a:xfrm>
              <a:off x="4735" y="1627"/>
              <a:ext cx="582" cy="151"/>
              <a:chOff x="614" y="2568"/>
              <a:chExt cx="725" cy="139"/>
            </a:xfrm>
          </p:grpSpPr>
          <p:sp>
            <p:nvSpPr>
              <p:cNvPr id="345" name="AutoShape 179">
                <a:extLst>
                  <a:ext uri="{FF2B5EF4-FFF2-40B4-BE49-F238E27FC236}">
                    <a16:creationId xmlns:a16="http://schemas.microsoft.com/office/drawing/2014/main" id="{F4DDADBC-B242-A44B-A408-F26BF5F85024}"/>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6" name="AutoShape 180">
                <a:extLst>
                  <a:ext uri="{FF2B5EF4-FFF2-40B4-BE49-F238E27FC236}">
                    <a16:creationId xmlns:a16="http://schemas.microsoft.com/office/drawing/2014/main" id="{44C7D4E7-B87F-0F46-9357-55FA60430CB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30" name="Freeform 181">
              <a:extLst>
                <a:ext uri="{FF2B5EF4-FFF2-40B4-BE49-F238E27FC236}">
                  <a16:creationId xmlns:a16="http://schemas.microsoft.com/office/drawing/2014/main" id="{06EF0D71-8E6B-284F-8EA0-661C363088B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31" name="Group 182">
              <a:extLst>
                <a:ext uri="{FF2B5EF4-FFF2-40B4-BE49-F238E27FC236}">
                  <a16:creationId xmlns:a16="http://schemas.microsoft.com/office/drawing/2014/main" id="{6A155784-A945-0F47-A39B-31F367A22CCA}"/>
                </a:ext>
              </a:extLst>
            </p:cNvPr>
            <p:cNvGrpSpPr>
              <a:grpSpLocks/>
            </p:cNvGrpSpPr>
            <p:nvPr/>
          </p:nvGrpSpPr>
          <p:grpSpPr bwMode="auto">
            <a:xfrm>
              <a:off x="4739" y="1327"/>
              <a:ext cx="582" cy="139"/>
              <a:chOff x="614" y="2568"/>
              <a:chExt cx="725" cy="139"/>
            </a:xfrm>
          </p:grpSpPr>
          <p:sp>
            <p:nvSpPr>
              <p:cNvPr id="343" name="AutoShape 183">
                <a:extLst>
                  <a:ext uri="{FF2B5EF4-FFF2-40B4-BE49-F238E27FC236}">
                    <a16:creationId xmlns:a16="http://schemas.microsoft.com/office/drawing/2014/main" id="{22B4B462-8B3B-7C4D-A454-5B71818EBC5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4" name="AutoShape 184">
                <a:extLst>
                  <a:ext uri="{FF2B5EF4-FFF2-40B4-BE49-F238E27FC236}">
                    <a16:creationId xmlns:a16="http://schemas.microsoft.com/office/drawing/2014/main" id="{409F6314-B504-4546-8602-B7F2622A98DF}"/>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32" name="Rectangle 185">
              <a:extLst>
                <a:ext uri="{FF2B5EF4-FFF2-40B4-BE49-F238E27FC236}">
                  <a16:creationId xmlns:a16="http://schemas.microsoft.com/office/drawing/2014/main" id="{AF2779F2-42B0-3548-98BC-AAAD425472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3" name="Freeform 186">
              <a:extLst>
                <a:ext uri="{FF2B5EF4-FFF2-40B4-BE49-F238E27FC236}">
                  <a16:creationId xmlns:a16="http://schemas.microsoft.com/office/drawing/2014/main" id="{7820BB4F-C7CB-BA4F-BE2B-ACCFBB678F2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4" name="Freeform 187">
              <a:extLst>
                <a:ext uri="{FF2B5EF4-FFF2-40B4-BE49-F238E27FC236}">
                  <a16:creationId xmlns:a16="http://schemas.microsoft.com/office/drawing/2014/main" id="{A1A403FF-DEAA-3D46-A5ED-A9AF23D9C5A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5" name="Oval 188">
              <a:extLst>
                <a:ext uri="{FF2B5EF4-FFF2-40B4-BE49-F238E27FC236}">
                  <a16:creationId xmlns:a16="http://schemas.microsoft.com/office/drawing/2014/main" id="{F39A85A5-F2E7-8645-BCBC-3F68037F827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6" name="Freeform 189">
              <a:extLst>
                <a:ext uri="{FF2B5EF4-FFF2-40B4-BE49-F238E27FC236}">
                  <a16:creationId xmlns:a16="http://schemas.microsoft.com/office/drawing/2014/main" id="{0CB2E7B8-94AB-4F40-879D-C205945B419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7" name="AutoShape 190">
              <a:extLst>
                <a:ext uri="{FF2B5EF4-FFF2-40B4-BE49-F238E27FC236}">
                  <a16:creationId xmlns:a16="http://schemas.microsoft.com/office/drawing/2014/main" id="{B6C28932-399E-9147-AD60-584710E9C015}"/>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8" name="AutoShape 191">
              <a:extLst>
                <a:ext uri="{FF2B5EF4-FFF2-40B4-BE49-F238E27FC236}">
                  <a16:creationId xmlns:a16="http://schemas.microsoft.com/office/drawing/2014/main" id="{F9F7B82B-B598-F440-A518-BFE64EF662D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9" name="Oval 192">
              <a:extLst>
                <a:ext uri="{FF2B5EF4-FFF2-40B4-BE49-F238E27FC236}">
                  <a16:creationId xmlns:a16="http://schemas.microsoft.com/office/drawing/2014/main" id="{512A4325-4F66-844C-85B1-4C936DB52511}"/>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0" name="Oval 193">
              <a:extLst>
                <a:ext uri="{FF2B5EF4-FFF2-40B4-BE49-F238E27FC236}">
                  <a16:creationId xmlns:a16="http://schemas.microsoft.com/office/drawing/2014/main" id="{42DC5D9A-8390-1D4A-A8C1-3C193D975CB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41" name="Oval 194">
              <a:extLst>
                <a:ext uri="{FF2B5EF4-FFF2-40B4-BE49-F238E27FC236}">
                  <a16:creationId xmlns:a16="http://schemas.microsoft.com/office/drawing/2014/main" id="{2D7703BC-D6FE-9D4A-BE5F-ACBE696F02D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2" name="Rectangle 195">
              <a:extLst>
                <a:ext uri="{FF2B5EF4-FFF2-40B4-BE49-F238E27FC236}">
                  <a16:creationId xmlns:a16="http://schemas.microsoft.com/office/drawing/2014/main" id="{88471DD5-00EF-B34A-BAA1-AA8AE7CFB11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 name="TextBox 3">
            <a:extLst>
              <a:ext uri="{FF2B5EF4-FFF2-40B4-BE49-F238E27FC236}">
                <a16:creationId xmlns:a16="http://schemas.microsoft.com/office/drawing/2014/main" id="{86280C64-E9DA-2647-B08F-F808595E646B}"/>
              </a:ext>
            </a:extLst>
          </p:cNvPr>
          <p:cNvSpPr txBox="1"/>
          <p:nvPr/>
        </p:nvSpPr>
        <p:spPr>
          <a:xfrm>
            <a:off x="774261" y="4402394"/>
            <a:ext cx="3172735" cy="1255728"/>
          </a:xfrm>
          <a:prstGeom prst="rect">
            <a:avLst/>
          </a:prstGeom>
          <a:noFill/>
        </p:spPr>
        <p:txBody>
          <a:bodyPr wrap="square" rtlCol="0">
            <a:spAutoFit/>
          </a:bodyPr>
          <a:lstStyle/>
          <a:p>
            <a:pPr marL="400050" marR="0" lvl="0" indent="-40005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What happens as </a:t>
            </a: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arrival rate </a:t>
            </a:r>
            <a:r>
              <a:rPr kumimoji="0" lang="en-US" sz="2800" b="0" i="1" u="none" strike="noStrike" kern="1200" cap="none" spc="0" normalizeH="0" baseline="0" noProof="0" dirty="0">
                <a:ln>
                  <a:noFill/>
                </a:ln>
                <a:solidFill>
                  <a:srgbClr val="C00000"/>
                </a:solidFill>
                <a:effectLst/>
                <a:uLnTx/>
                <a:uFillTx/>
                <a:latin typeface="Symbol" charset="0"/>
                <a:ea typeface="ＭＳ Ｐゴシック" charset="0"/>
                <a:cs typeface="+mn-cs"/>
              </a:rPr>
              <a:t>l</a:t>
            </a:r>
            <a:r>
              <a:rPr kumimoji="0" lang="en-US" sz="2800" b="0" i="0" u="none" strike="noStrike" kern="1200" cap="none" spc="0" normalizeH="0" baseline="-25000" noProof="0" dirty="0">
                <a:ln>
                  <a:noFill/>
                </a:ln>
                <a:solidFill>
                  <a:srgbClr val="C00000"/>
                </a:solidFill>
                <a:effectLst/>
                <a:uLnTx/>
                <a:uFillTx/>
                <a:latin typeface="Calibri"/>
                <a:ea typeface="ＭＳ Ｐゴシック" charset="0"/>
                <a:cs typeface="+mn-cs"/>
              </a:rPr>
              <a:t>in</a:t>
            </a:r>
            <a:r>
              <a:rPr kumimoji="0" lang="en-US" sz="2800" b="0" i="1" u="none" strike="noStrike" kern="1200" cap="none" spc="0" normalizeH="0" baseline="0" noProof="0" dirty="0">
                <a:ln>
                  <a:noFill/>
                </a:ln>
                <a:solidFill>
                  <a:srgbClr val="C00000"/>
                </a:solidFill>
                <a:effectLst/>
                <a:uLnTx/>
                <a:uFillTx/>
                <a:latin typeface="Gill Sans MT" charset="0"/>
                <a:ea typeface="ＭＳ Ｐゴシック" charset="0"/>
                <a:cs typeface="+mn-cs"/>
              </a:rPr>
              <a:t> </a:t>
            </a: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approaches R/2?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grpSp>
        <p:nvGrpSpPr>
          <p:cNvPr id="5" name="Group 4">
            <a:extLst>
              <a:ext uri="{FF2B5EF4-FFF2-40B4-BE49-F238E27FC236}">
                <a16:creationId xmlns:a16="http://schemas.microsoft.com/office/drawing/2014/main" id="{A13DE16E-F5B0-8243-9843-F4026E4132BD}"/>
              </a:ext>
            </a:extLst>
          </p:cNvPr>
          <p:cNvGrpSpPr/>
          <p:nvPr/>
        </p:nvGrpSpPr>
        <p:grpSpPr>
          <a:xfrm>
            <a:off x="4818031" y="1175178"/>
            <a:ext cx="2132013" cy="724224"/>
            <a:chOff x="4818031" y="1175178"/>
            <a:chExt cx="2132013" cy="724224"/>
          </a:xfrm>
        </p:grpSpPr>
        <p:sp>
          <p:nvSpPr>
            <p:cNvPr id="240" name="Oval 72">
              <a:extLst>
                <a:ext uri="{FF2B5EF4-FFF2-40B4-BE49-F238E27FC236}">
                  <a16:creationId xmlns:a16="http://schemas.microsoft.com/office/drawing/2014/main" id="{4B444E41-EF68-F94F-951A-91633B83D5F3}"/>
                </a:ext>
              </a:extLst>
            </p:cNvPr>
            <p:cNvSpPr>
              <a:spLocks noChangeArrowheads="1"/>
            </p:cNvSpPr>
            <p:nvPr/>
          </p:nvSpPr>
          <p:spPr bwMode="auto">
            <a:xfrm>
              <a:off x="6584414" y="1808915"/>
              <a:ext cx="92075" cy="904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2" name="Line 74">
              <a:extLst>
                <a:ext uri="{FF2B5EF4-FFF2-40B4-BE49-F238E27FC236}">
                  <a16:creationId xmlns:a16="http://schemas.microsoft.com/office/drawing/2014/main" id="{5D48EDA9-2F95-5143-AF32-3BAD44F9D608}"/>
                </a:ext>
              </a:extLst>
            </p:cNvPr>
            <p:cNvSpPr>
              <a:spLocks noChangeShapeType="1"/>
            </p:cNvSpPr>
            <p:nvPr/>
          </p:nvSpPr>
          <p:spPr bwMode="auto">
            <a:xfrm>
              <a:off x="6158964" y="1588252"/>
              <a:ext cx="369887" cy="2524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1" name="Text Box 43">
              <a:extLst>
                <a:ext uri="{FF2B5EF4-FFF2-40B4-BE49-F238E27FC236}">
                  <a16:creationId xmlns:a16="http://schemas.microsoft.com/office/drawing/2014/main" id="{1C99CDFE-9298-BC49-916B-D28FBB57638B}"/>
                </a:ext>
              </a:extLst>
            </p:cNvPr>
            <p:cNvSpPr txBox="1">
              <a:spLocks noChangeArrowheads="1"/>
            </p:cNvSpPr>
            <p:nvPr/>
          </p:nvSpPr>
          <p:spPr bwMode="auto">
            <a:xfrm>
              <a:off x="4818031" y="1175178"/>
              <a:ext cx="2132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original data: </a:t>
              </a:r>
              <a:r>
                <a:rPr kumimoji="0" lang="en-US" altLang="en-US" sz="2400" b="0" i="0" u="none" strike="noStrike" kern="1200" cap="none" spc="0" normalizeH="0" baseline="0" noProof="0" dirty="0">
                  <a:ln>
                    <a:noFill/>
                  </a:ln>
                  <a:solidFill>
                    <a:srgbClr val="CC0000"/>
                  </a:solidFill>
                  <a:effectLst/>
                  <a:uLnTx/>
                  <a:uFillTx/>
                  <a:latin typeface="Symbol" pitchFamily="2" charset="2"/>
                  <a:ea typeface="ＭＳ Ｐゴシック" panose="020B0600070205080204" pitchFamily="34" charset="-128"/>
                  <a:cs typeface="+mn-cs"/>
                </a:rPr>
                <a:t>l</a:t>
              </a:r>
              <a:r>
                <a:rPr kumimoji="0" lang="en-US" altLang="en-US" sz="2400" b="0" i="0" u="none" strike="noStrike" kern="1200" cap="none" spc="0" normalizeH="0" baseline="-2500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in</a:t>
              </a:r>
              <a:r>
                <a:rPr kumimoji="0" lang="en-US" altLang="en-US" sz="1600" b="0" i="0" u="none" strike="noStrike" kern="1200" cap="none" spc="0" normalizeH="0" baseline="-2500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 </a:t>
              </a:r>
              <a:endParaRPr kumimoji="0" lang="en-US" altLang="en-US" sz="1600" b="0" i="0"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endParaRPr>
            </a:p>
          </p:txBody>
        </p:sp>
      </p:grpSp>
      <p:sp>
        <p:nvSpPr>
          <p:cNvPr id="174" name="Line 57">
            <a:extLst>
              <a:ext uri="{FF2B5EF4-FFF2-40B4-BE49-F238E27FC236}">
                <a16:creationId xmlns:a16="http://schemas.microsoft.com/office/drawing/2014/main" id="{198CECD8-AC19-4441-B07E-D812C1E4B022}"/>
              </a:ext>
            </a:extLst>
          </p:cNvPr>
          <p:cNvSpPr>
            <a:spLocks noChangeShapeType="1"/>
          </p:cNvSpPr>
          <p:nvPr/>
        </p:nvSpPr>
        <p:spPr bwMode="auto">
          <a:xfrm flipH="1">
            <a:off x="8546879" y="3636250"/>
            <a:ext cx="82220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Line 57">
            <a:extLst>
              <a:ext uri="{FF2B5EF4-FFF2-40B4-BE49-F238E27FC236}">
                <a16:creationId xmlns:a16="http://schemas.microsoft.com/office/drawing/2014/main" id="{E3F52AFD-CA05-E145-A13D-BB73559D50E0}"/>
              </a:ext>
            </a:extLst>
          </p:cNvPr>
          <p:cNvSpPr>
            <a:spLocks noChangeShapeType="1"/>
          </p:cNvSpPr>
          <p:nvPr/>
        </p:nvSpPr>
        <p:spPr bwMode="auto">
          <a:xfrm flipH="1">
            <a:off x="6793108" y="2768743"/>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6" name="Line 57">
            <a:extLst>
              <a:ext uri="{FF2B5EF4-FFF2-40B4-BE49-F238E27FC236}">
                <a16:creationId xmlns:a16="http://schemas.microsoft.com/office/drawing/2014/main" id="{1C06B2BF-A77D-004B-A9F1-4A7417598B7E}"/>
              </a:ext>
            </a:extLst>
          </p:cNvPr>
          <p:cNvSpPr>
            <a:spLocks noChangeShapeType="1"/>
          </p:cNvSpPr>
          <p:nvPr/>
        </p:nvSpPr>
        <p:spPr bwMode="auto">
          <a:xfrm flipH="1">
            <a:off x="5871674" y="3638595"/>
            <a:ext cx="4397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 name="TextBox 7">
            <a:extLst>
              <a:ext uri="{FF2B5EF4-FFF2-40B4-BE49-F238E27FC236}">
                <a16:creationId xmlns:a16="http://schemas.microsoft.com/office/drawing/2014/main" id="{348CA410-A84F-B34C-BD63-41722EE5FAA8}"/>
              </a:ext>
            </a:extLst>
          </p:cNvPr>
          <p:cNvSpPr txBox="1"/>
          <p:nvPr/>
        </p:nvSpPr>
        <p:spPr>
          <a:xfrm>
            <a:off x="8597524" y="2808849"/>
            <a:ext cx="351378"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sp>
        <p:nvSpPr>
          <p:cNvPr id="188" name="Rectangle 15">
            <a:extLst>
              <a:ext uri="{FF2B5EF4-FFF2-40B4-BE49-F238E27FC236}">
                <a16:creationId xmlns:a16="http://schemas.microsoft.com/office/drawing/2014/main" id="{623041CF-890D-E145-9016-1967AAC98E0D}"/>
              </a:ext>
            </a:extLst>
          </p:cNvPr>
          <p:cNvSpPr txBox="1">
            <a:spLocks noChangeArrowheads="1"/>
          </p:cNvSpPr>
          <p:nvPr/>
        </p:nvSpPr>
        <p:spPr bwMode="auto">
          <a:xfrm>
            <a:off x="779177" y="2686311"/>
            <a:ext cx="3792183" cy="410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23838" marR="0" lvl="0" indent="-223838"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two flows</a:t>
            </a:r>
          </a:p>
        </p:txBody>
      </p:sp>
      <p:sp>
        <p:nvSpPr>
          <p:cNvPr id="189" name="Rectangle 15">
            <a:extLst>
              <a:ext uri="{FF2B5EF4-FFF2-40B4-BE49-F238E27FC236}">
                <a16:creationId xmlns:a16="http://schemas.microsoft.com/office/drawing/2014/main" id="{FF1255B8-CBCE-BA42-8BB2-AD361E914F8B}"/>
              </a:ext>
            </a:extLst>
          </p:cNvPr>
          <p:cNvSpPr txBox="1">
            <a:spLocks noChangeArrowheads="1"/>
          </p:cNvSpPr>
          <p:nvPr/>
        </p:nvSpPr>
        <p:spPr bwMode="auto">
          <a:xfrm>
            <a:off x="773366" y="1908019"/>
            <a:ext cx="4138268" cy="8056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23838" marR="0" lvl="0" indent="-223838"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one router, infinite buffers </a:t>
            </a:r>
          </a:p>
          <a:p>
            <a:pPr marL="223838" marR="0" lvl="0" indent="-223838"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input, output link capacity: R</a:t>
            </a:r>
          </a:p>
          <a:p>
            <a:pPr marL="0" marR="0" lvl="0" indent="0" algn="l" defTabSz="914400" rtl="0" eaLnBrk="0" fontAlgn="base" latinLnBrk="0" hangingPunct="0">
              <a:lnSpc>
                <a:spcPct val="85000"/>
              </a:lnSpc>
              <a:spcBef>
                <a:spcPct val="20000"/>
              </a:spcBef>
              <a:spcAft>
                <a:spcPct val="0"/>
              </a:spcAft>
              <a:buClr>
                <a:srgbClr val="000099"/>
              </a:buClr>
              <a:buSzPct val="100000"/>
              <a:buFont typeface="Wingdings" pitchFamily="2" charset="2"/>
              <a:buNone/>
              <a:tabLst/>
              <a:defRPr/>
            </a:pPr>
            <a:endParaRPr kumimoji="0" lang="en-US" sz="28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grpSp>
        <p:nvGrpSpPr>
          <p:cNvPr id="13" name="Group 12">
            <a:extLst>
              <a:ext uri="{FF2B5EF4-FFF2-40B4-BE49-F238E27FC236}">
                <a16:creationId xmlns:a16="http://schemas.microsoft.com/office/drawing/2014/main" id="{9F0A3C67-BB73-4845-B5BC-A5FA51964D18}"/>
              </a:ext>
            </a:extLst>
          </p:cNvPr>
          <p:cNvGrpSpPr/>
          <p:nvPr/>
        </p:nvGrpSpPr>
        <p:grpSpPr>
          <a:xfrm>
            <a:off x="7530790" y="2226427"/>
            <a:ext cx="1563461" cy="1084649"/>
            <a:chOff x="7530790" y="2226427"/>
            <a:chExt cx="1563461" cy="1084649"/>
          </a:xfrm>
        </p:grpSpPr>
        <p:sp>
          <p:nvSpPr>
            <p:cNvPr id="202" name="Text Box 32">
              <a:extLst>
                <a:ext uri="{FF2B5EF4-FFF2-40B4-BE49-F238E27FC236}">
                  <a16:creationId xmlns:a16="http://schemas.microsoft.com/office/drawing/2014/main" id="{67E5732D-E6EC-D241-A9B3-13D2E2E58D95}"/>
                </a:ext>
              </a:extLst>
            </p:cNvPr>
            <p:cNvSpPr txBox="1">
              <a:spLocks noChangeArrowheads="1"/>
            </p:cNvSpPr>
            <p:nvPr/>
          </p:nvSpPr>
          <p:spPr bwMode="auto">
            <a:xfrm>
              <a:off x="7670264" y="2226427"/>
              <a:ext cx="142398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4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infinite</a:t>
              </a: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shared output link buffers</a:t>
              </a:r>
            </a:p>
          </p:txBody>
        </p:sp>
        <p:sp>
          <p:nvSpPr>
            <p:cNvPr id="245" name="Line 77">
              <a:extLst>
                <a:ext uri="{FF2B5EF4-FFF2-40B4-BE49-F238E27FC236}">
                  <a16:creationId xmlns:a16="http://schemas.microsoft.com/office/drawing/2014/main" id="{CCE11A70-D909-BE48-AB8A-1428CFD4C558}"/>
                </a:ext>
              </a:extLst>
            </p:cNvPr>
            <p:cNvSpPr>
              <a:spLocks noChangeShapeType="1"/>
            </p:cNvSpPr>
            <p:nvPr/>
          </p:nvSpPr>
          <p:spPr bwMode="auto">
            <a:xfrm flipH="1">
              <a:off x="8308075" y="2647114"/>
              <a:ext cx="238488" cy="375865"/>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2" name="Group 11">
              <a:extLst>
                <a:ext uri="{FF2B5EF4-FFF2-40B4-BE49-F238E27FC236}">
                  <a16:creationId xmlns:a16="http://schemas.microsoft.com/office/drawing/2014/main" id="{887BD2B8-6069-9D4C-8D8B-41A687B641F2}"/>
                </a:ext>
              </a:extLst>
            </p:cNvPr>
            <p:cNvGrpSpPr/>
            <p:nvPr/>
          </p:nvGrpSpPr>
          <p:grpSpPr>
            <a:xfrm>
              <a:off x="7530790" y="3050726"/>
              <a:ext cx="899401" cy="260350"/>
              <a:chOff x="10436222" y="4555062"/>
              <a:chExt cx="899401" cy="260350"/>
            </a:xfrm>
          </p:grpSpPr>
          <p:sp>
            <p:nvSpPr>
              <p:cNvPr id="384" name="Rectangle 383">
                <a:extLst>
                  <a:ext uri="{FF2B5EF4-FFF2-40B4-BE49-F238E27FC236}">
                    <a16:creationId xmlns:a16="http://schemas.microsoft.com/office/drawing/2014/main" id="{F30537BA-9247-BC42-BBD7-831810DD3EB0}"/>
                  </a:ext>
                </a:extLst>
              </p:cNvPr>
              <p:cNvSpPr/>
              <p:nvPr/>
            </p:nvSpPr>
            <p:spPr>
              <a:xfrm>
                <a:off x="10442522" y="4559486"/>
                <a:ext cx="891015" cy="254197"/>
              </a:xfrm>
              <a:prstGeom prst="rect">
                <a:avLst/>
              </a:prstGeom>
              <a:gradFill>
                <a:gsLst>
                  <a:gs pos="0">
                    <a:schemeClr val="bg2">
                      <a:lumMod val="50000"/>
                    </a:schemeClr>
                  </a:gs>
                  <a:gs pos="100000">
                    <a:schemeClr val="bg1">
                      <a:lumMod val="8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385" name="Group 384">
                <a:extLst>
                  <a:ext uri="{FF2B5EF4-FFF2-40B4-BE49-F238E27FC236}">
                    <a16:creationId xmlns:a16="http://schemas.microsoft.com/office/drawing/2014/main" id="{2CC59C21-286F-834A-ABEB-23215F83C500}"/>
                  </a:ext>
                </a:extLst>
              </p:cNvPr>
              <p:cNvGrpSpPr/>
              <p:nvPr/>
            </p:nvGrpSpPr>
            <p:grpSpPr>
              <a:xfrm>
                <a:off x="10436222" y="4555062"/>
                <a:ext cx="899401" cy="260350"/>
                <a:chOff x="7488023" y="3444875"/>
                <a:chExt cx="947952" cy="260350"/>
              </a:xfrm>
            </p:grpSpPr>
            <p:grpSp>
              <p:nvGrpSpPr>
                <p:cNvPr id="386" name="Group 385">
                  <a:extLst>
                    <a:ext uri="{FF2B5EF4-FFF2-40B4-BE49-F238E27FC236}">
                      <a16:creationId xmlns:a16="http://schemas.microsoft.com/office/drawing/2014/main" id="{36049D02-069F-6C48-8DC5-99C6838DD8A5}"/>
                    </a:ext>
                  </a:extLst>
                </p:cNvPr>
                <p:cNvGrpSpPr/>
                <p:nvPr/>
              </p:nvGrpSpPr>
              <p:grpSpPr>
                <a:xfrm>
                  <a:off x="8025557" y="3487646"/>
                  <a:ext cx="327298" cy="173730"/>
                  <a:chOff x="8094529" y="3437940"/>
                  <a:chExt cx="307888" cy="155752"/>
                </a:xfrm>
              </p:grpSpPr>
              <p:cxnSp>
                <p:nvCxnSpPr>
                  <p:cNvPr id="395" name="Straight Connector 394">
                    <a:extLst>
                      <a:ext uri="{FF2B5EF4-FFF2-40B4-BE49-F238E27FC236}">
                        <a16:creationId xmlns:a16="http://schemas.microsoft.com/office/drawing/2014/main" id="{FF172DB4-2A00-6A46-8A16-C30786F979FB}"/>
                      </a:ext>
                    </a:extLst>
                  </p:cNvPr>
                  <p:cNvCxnSpPr/>
                  <p:nvPr/>
                </p:nvCxnSpPr>
                <p:spPr>
                  <a:xfrm flipV="1">
                    <a:off x="8402417"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99BF623C-66BC-3245-B197-115199D1F5B3}"/>
                      </a:ext>
                    </a:extLst>
                  </p:cNvPr>
                  <p:cNvCxnSpPr/>
                  <p:nvPr/>
                </p:nvCxnSpPr>
                <p:spPr>
                  <a:xfrm flipV="1">
                    <a:off x="8351102"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B4CE1C9F-BB23-484E-BA7E-95900D23BB44}"/>
                      </a:ext>
                    </a:extLst>
                  </p:cNvPr>
                  <p:cNvCxnSpPr/>
                  <p:nvPr/>
                </p:nvCxnSpPr>
                <p:spPr>
                  <a:xfrm flipV="1">
                    <a:off x="8299787"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1B65F295-34D5-B848-A55B-C87742C69F9B}"/>
                      </a:ext>
                    </a:extLst>
                  </p:cNvPr>
                  <p:cNvCxnSpPr/>
                  <p:nvPr/>
                </p:nvCxnSpPr>
                <p:spPr>
                  <a:xfrm flipV="1">
                    <a:off x="8248473"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E821A5FD-1839-F841-8915-6982EB740723}"/>
                      </a:ext>
                    </a:extLst>
                  </p:cNvPr>
                  <p:cNvCxnSpPr/>
                  <p:nvPr/>
                </p:nvCxnSpPr>
                <p:spPr>
                  <a:xfrm flipV="1">
                    <a:off x="8197158"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133501AC-7C40-F74E-8B51-CD3FBFBAA6D2}"/>
                      </a:ext>
                    </a:extLst>
                  </p:cNvPr>
                  <p:cNvCxnSpPr/>
                  <p:nvPr/>
                </p:nvCxnSpPr>
                <p:spPr>
                  <a:xfrm flipV="1">
                    <a:off x="8145843"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37CD78F7-3453-B544-9B8F-FEE9954DB3B9}"/>
                      </a:ext>
                    </a:extLst>
                  </p:cNvPr>
                  <p:cNvCxnSpPr/>
                  <p:nvPr/>
                </p:nvCxnSpPr>
                <p:spPr>
                  <a:xfrm flipV="1">
                    <a:off x="8094529"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7" name="Group 386">
                  <a:extLst>
                    <a:ext uri="{FF2B5EF4-FFF2-40B4-BE49-F238E27FC236}">
                      <a16:creationId xmlns:a16="http://schemas.microsoft.com/office/drawing/2014/main" id="{7B8129D5-9ED3-CA4A-A4D7-8B3E8421EE81}"/>
                    </a:ext>
                  </a:extLst>
                </p:cNvPr>
                <p:cNvGrpSpPr/>
                <p:nvPr/>
              </p:nvGrpSpPr>
              <p:grpSpPr>
                <a:xfrm>
                  <a:off x="7488023" y="3444875"/>
                  <a:ext cx="947952" cy="260350"/>
                  <a:chOff x="8103973" y="3803650"/>
                  <a:chExt cx="947952" cy="260350"/>
                </a:xfrm>
              </p:grpSpPr>
              <p:cxnSp>
                <p:nvCxnSpPr>
                  <p:cNvPr id="392" name="Straight Connector 391">
                    <a:extLst>
                      <a:ext uri="{FF2B5EF4-FFF2-40B4-BE49-F238E27FC236}">
                        <a16:creationId xmlns:a16="http://schemas.microsoft.com/office/drawing/2014/main" id="{872F3490-7E4D-8444-A669-531B26BEEF04}"/>
                      </a:ext>
                    </a:extLst>
                  </p:cNvPr>
                  <p:cNvCxnSpPr>
                    <a:cxnSpLocks/>
                  </p:cNvCxnSpPr>
                  <p:nvPr/>
                </p:nvCxnSpPr>
                <p:spPr>
                  <a:xfrm>
                    <a:off x="8110664" y="3810000"/>
                    <a:ext cx="9412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9174BCA4-2936-E040-BF15-8E2726830EA9}"/>
                      </a:ext>
                    </a:extLst>
                  </p:cNvPr>
                  <p:cNvCxnSpPr>
                    <a:cxnSpLocks/>
                  </p:cNvCxnSpPr>
                  <p:nvPr/>
                </p:nvCxnSpPr>
                <p:spPr>
                  <a:xfrm>
                    <a:off x="8103973" y="4060825"/>
                    <a:ext cx="9479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F9385773-39F4-2545-BD87-40FD8C9F9C6F}"/>
                      </a:ext>
                    </a:extLst>
                  </p:cNvPr>
                  <p:cNvCxnSpPr/>
                  <p:nvPr/>
                </p:nvCxnSpPr>
                <p:spPr>
                  <a:xfrm>
                    <a:off x="9048750" y="3803650"/>
                    <a:ext cx="0" cy="2603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8" name="Oval 387">
                  <a:extLst>
                    <a:ext uri="{FF2B5EF4-FFF2-40B4-BE49-F238E27FC236}">
                      <a16:creationId xmlns:a16="http://schemas.microsoft.com/office/drawing/2014/main" id="{688F0B57-026F-5344-8D43-0487FF117BFF}"/>
                    </a:ext>
                  </a:extLst>
                </p:cNvPr>
                <p:cNvSpPr/>
                <p:nvPr/>
              </p:nvSpPr>
              <p:spPr>
                <a:xfrm>
                  <a:off x="7924800" y="3546475"/>
                  <a:ext cx="57150" cy="571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89" name="Oval 388">
                  <a:extLst>
                    <a:ext uri="{FF2B5EF4-FFF2-40B4-BE49-F238E27FC236}">
                      <a16:creationId xmlns:a16="http://schemas.microsoft.com/office/drawing/2014/main" id="{8E4A8AF8-2EE5-E84B-833D-8A787630D598}"/>
                    </a:ext>
                  </a:extLst>
                </p:cNvPr>
                <p:cNvSpPr/>
                <p:nvPr/>
              </p:nvSpPr>
              <p:spPr>
                <a:xfrm>
                  <a:off x="7842250" y="3546475"/>
                  <a:ext cx="57150" cy="5715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90" name="Oval 389">
                  <a:extLst>
                    <a:ext uri="{FF2B5EF4-FFF2-40B4-BE49-F238E27FC236}">
                      <a16:creationId xmlns:a16="http://schemas.microsoft.com/office/drawing/2014/main" id="{402477F2-C87F-B441-AD74-F56E96984F63}"/>
                    </a:ext>
                  </a:extLst>
                </p:cNvPr>
                <p:cNvSpPr/>
                <p:nvPr/>
              </p:nvSpPr>
              <p:spPr>
                <a:xfrm>
                  <a:off x="7759700" y="3546475"/>
                  <a:ext cx="57150" cy="571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91" name="Oval 390">
                  <a:extLst>
                    <a:ext uri="{FF2B5EF4-FFF2-40B4-BE49-F238E27FC236}">
                      <a16:creationId xmlns:a16="http://schemas.microsoft.com/office/drawing/2014/main" id="{F86B5FF7-41EE-5F45-8AAE-5330D16205CB}"/>
                    </a:ext>
                  </a:extLst>
                </p:cNvPr>
                <p:cNvSpPr/>
                <p:nvPr/>
              </p:nvSpPr>
              <p:spPr>
                <a:xfrm>
                  <a:off x="7677150" y="3546475"/>
                  <a:ext cx="57150" cy="5715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sp>
        <p:nvSpPr>
          <p:cNvPr id="259" name="Freeform 91">
            <a:extLst>
              <a:ext uri="{FF2B5EF4-FFF2-40B4-BE49-F238E27FC236}">
                <a16:creationId xmlns:a16="http://schemas.microsoft.com/office/drawing/2014/main" id="{DCEE1836-E089-0E43-AA83-3C4D23A24812}"/>
              </a:ext>
            </a:extLst>
          </p:cNvPr>
          <p:cNvSpPr>
            <a:spLocks/>
          </p:cNvSpPr>
          <p:nvPr/>
        </p:nvSpPr>
        <p:spPr bwMode="auto">
          <a:xfrm>
            <a:off x="6632039" y="1856540"/>
            <a:ext cx="3429000" cy="1276350"/>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07632497-C7A3-5D43-A16B-0B4F26B7ADF5}"/>
              </a:ext>
            </a:extLst>
          </p:cNvPr>
          <p:cNvGrpSpPr/>
          <p:nvPr/>
        </p:nvGrpSpPr>
        <p:grpSpPr>
          <a:xfrm>
            <a:off x="5641439" y="2685215"/>
            <a:ext cx="4000500" cy="1028700"/>
            <a:chOff x="5641439" y="2685215"/>
            <a:chExt cx="4000500" cy="1028700"/>
          </a:xfrm>
        </p:grpSpPr>
        <p:sp>
          <p:nvSpPr>
            <p:cNvPr id="241" name="Oval 73">
              <a:extLst>
                <a:ext uri="{FF2B5EF4-FFF2-40B4-BE49-F238E27FC236}">
                  <a16:creationId xmlns:a16="http://schemas.microsoft.com/office/drawing/2014/main" id="{ED516131-17AE-C440-B198-2569A5BF225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Freeform 90">
              <a:extLst>
                <a:ext uri="{FF2B5EF4-FFF2-40B4-BE49-F238E27FC236}">
                  <a16:creationId xmlns:a16="http://schemas.microsoft.com/office/drawing/2014/main" id="{3B8EFAC6-AD78-9046-A67E-7BBA82E667EB}"/>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402" name="TextBox 401">
            <a:extLst>
              <a:ext uri="{FF2B5EF4-FFF2-40B4-BE49-F238E27FC236}">
                <a16:creationId xmlns:a16="http://schemas.microsoft.com/office/drawing/2014/main" id="{4CED69A2-36DA-634D-8A3B-DB1A142EB7BC}"/>
              </a:ext>
            </a:extLst>
          </p:cNvPr>
          <p:cNvSpPr txBox="1"/>
          <p:nvPr/>
        </p:nvSpPr>
        <p:spPr>
          <a:xfrm>
            <a:off x="7077879" y="2843683"/>
            <a:ext cx="351378"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sp>
        <p:nvSpPr>
          <p:cNvPr id="409" name="Rectangle 15">
            <a:extLst>
              <a:ext uri="{FF2B5EF4-FFF2-40B4-BE49-F238E27FC236}">
                <a16:creationId xmlns:a16="http://schemas.microsoft.com/office/drawing/2014/main" id="{6315C129-DEF5-A84E-932D-A6743A5F4252}"/>
              </a:ext>
            </a:extLst>
          </p:cNvPr>
          <p:cNvSpPr txBox="1">
            <a:spLocks noChangeArrowheads="1"/>
          </p:cNvSpPr>
          <p:nvPr/>
        </p:nvSpPr>
        <p:spPr bwMode="auto">
          <a:xfrm>
            <a:off x="769346" y="3074685"/>
            <a:ext cx="3792183" cy="4206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23838" marR="0" lvl="0" indent="-223838"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ＭＳ Ｐゴシック" charset="0"/>
                <a:cs typeface="Calibri" panose="020F0502020204030204" pitchFamily="34" charset="0"/>
              </a:rPr>
              <a:t>no retransmissions needed</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grpSp>
        <p:nvGrpSpPr>
          <p:cNvPr id="10" name="Group 9">
            <a:extLst>
              <a:ext uri="{FF2B5EF4-FFF2-40B4-BE49-F238E27FC236}">
                <a16:creationId xmlns:a16="http://schemas.microsoft.com/office/drawing/2014/main" id="{57176CA8-B553-A348-A420-DCCEB21C31F8}"/>
              </a:ext>
            </a:extLst>
          </p:cNvPr>
          <p:cNvGrpSpPr/>
          <p:nvPr/>
        </p:nvGrpSpPr>
        <p:grpSpPr>
          <a:xfrm>
            <a:off x="7949627" y="4325522"/>
            <a:ext cx="1778901" cy="1635125"/>
            <a:chOff x="7949627" y="4325522"/>
            <a:chExt cx="1778901" cy="1635125"/>
          </a:xfrm>
        </p:grpSpPr>
        <p:sp>
          <p:nvSpPr>
            <p:cNvPr id="273" name="Line 109">
              <a:extLst>
                <a:ext uri="{FF2B5EF4-FFF2-40B4-BE49-F238E27FC236}">
                  <a16:creationId xmlns:a16="http://schemas.microsoft.com/office/drawing/2014/main" id="{9583C00B-D534-084D-8157-1CCEC25D6E7C}"/>
                </a:ext>
              </a:extLst>
            </p:cNvPr>
            <p:cNvSpPr>
              <a:spLocks noChangeShapeType="1"/>
            </p:cNvSpPr>
            <p:nvPr/>
          </p:nvSpPr>
          <p:spPr bwMode="auto">
            <a:xfrm>
              <a:off x="8321896" y="4325522"/>
              <a:ext cx="0" cy="127635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5" name="Line 111">
              <a:extLst>
                <a:ext uri="{FF2B5EF4-FFF2-40B4-BE49-F238E27FC236}">
                  <a16:creationId xmlns:a16="http://schemas.microsoft.com/office/drawing/2014/main" id="{09BE50B8-B938-304E-AA75-9BE0DD3D3F24}"/>
                </a:ext>
              </a:extLst>
            </p:cNvPr>
            <p:cNvSpPr>
              <a:spLocks noChangeShapeType="1"/>
            </p:cNvSpPr>
            <p:nvPr/>
          </p:nvSpPr>
          <p:spPr bwMode="auto">
            <a:xfrm>
              <a:off x="9455371" y="4465222"/>
              <a:ext cx="0" cy="1104900"/>
            </a:xfrm>
            <a:prstGeom prst="line">
              <a:avLst/>
            </a:prstGeom>
            <a:noFill/>
            <a:ln w="1270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Freeform 112">
              <a:extLst>
                <a:ext uri="{FF2B5EF4-FFF2-40B4-BE49-F238E27FC236}">
                  <a16:creationId xmlns:a16="http://schemas.microsoft.com/office/drawing/2014/main" id="{B4F837A8-9013-9E4D-BE0A-50904AB16A4C}"/>
                </a:ext>
              </a:extLst>
            </p:cNvPr>
            <p:cNvSpPr>
              <a:spLocks/>
            </p:cNvSpPr>
            <p:nvPr/>
          </p:nvSpPr>
          <p:spPr bwMode="auto">
            <a:xfrm>
              <a:off x="8315546" y="4439822"/>
              <a:ext cx="1106488" cy="1152525"/>
            </a:xfrm>
            <a:custGeom>
              <a:avLst/>
              <a:gdLst>
                <a:gd name="T0" fmla="*/ 0 w 723"/>
                <a:gd name="T1" fmla="*/ 905 h 905"/>
                <a:gd name="T2" fmla="*/ 573 w 723"/>
                <a:gd name="T3" fmla="*/ 732 h 905"/>
                <a:gd name="T4" fmla="*/ 680 w 723"/>
                <a:gd name="T5" fmla="*/ 0 h 905"/>
                <a:gd name="T6" fmla="*/ 0 60000 65536"/>
                <a:gd name="T7" fmla="*/ 0 60000 65536"/>
                <a:gd name="T8" fmla="*/ 0 60000 65536"/>
                <a:gd name="connsiteX0" fmla="*/ 0 w 9642"/>
                <a:gd name="connsiteY0" fmla="*/ 8023 h 8023"/>
                <a:gd name="connsiteX1" fmla="*/ 7925 w 9642"/>
                <a:gd name="connsiteY1" fmla="*/ 6111 h 8023"/>
                <a:gd name="connsiteX2" fmla="*/ 9642 w 9642"/>
                <a:gd name="connsiteY2" fmla="*/ 0 h 8023"/>
                <a:gd name="connsiteX0" fmla="*/ 0 w 10000"/>
                <a:gd name="connsiteY0" fmla="*/ 10000 h 10000"/>
                <a:gd name="connsiteX1" fmla="*/ 8219 w 10000"/>
                <a:gd name="connsiteY1" fmla="*/ 7617 h 10000"/>
                <a:gd name="connsiteX2" fmla="*/ 10000 w 10000"/>
                <a:gd name="connsiteY2" fmla="*/ 0 h 10000"/>
                <a:gd name="connsiteX0" fmla="*/ 0 w 10000"/>
                <a:gd name="connsiteY0" fmla="*/ 10000 h 10000"/>
                <a:gd name="connsiteX1" fmla="*/ 8219 w 10000"/>
                <a:gd name="connsiteY1" fmla="*/ 7617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363" y="9601"/>
                    <a:pt x="6598" y="9697"/>
                    <a:pt x="8219" y="7617"/>
                  </a:cubicBezTo>
                  <a:cubicBezTo>
                    <a:pt x="9562" y="6715"/>
                    <a:pt x="9861" y="4761"/>
                    <a:pt x="10000" y="0"/>
                  </a:cubicBez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Line 114">
              <a:extLst>
                <a:ext uri="{FF2B5EF4-FFF2-40B4-BE49-F238E27FC236}">
                  <a16:creationId xmlns:a16="http://schemas.microsoft.com/office/drawing/2014/main" id="{9E0B5DA0-C463-1949-8C79-0C8EA78D1124}"/>
                </a:ext>
              </a:extLst>
            </p:cNvPr>
            <p:cNvSpPr>
              <a:spLocks noChangeShapeType="1"/>
            </p:cNvSpPr>
            <p:nvPr/>
          </p:nvSpPr>
          <p:spPr bwMode="auto">
            <a:xfrm>
              <a:off x="9452196" y="5601872"/>
              <a:ext cx="0" cy="92075"/>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8" name="Text Box 116">
              <a:extLst>
                <a:ext uri="{FF2B5EF4-FFF2-40B4-BE49-F238E27FC236}">
                  <a16:creationId xmlns:a16="http://schemas.microsoft.com/office/drawing/2014/main" id="{D507FAE5-0060-B54B-B86B-D3BB4178E53C}"/>
                </a:ext>
              </a:extLst>
            </p:cNvPr>
            <p:cNvSpPr txBox="1">
              <a:spLocks noChangeArrowheads="1"/>
            </p:cNvSpPr>
            <p:nvPr/>
          </p:nvSpPr>
          <p:spPr bwMode="auto">
            <a:xfrm>
              <a:off x="9242646" y="5636797"/>
              <a:ext cx="4603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R/2</a:t>
              </a:r>
            </a:p>
          </p:txBody>
        </p:sp>
        <p:sp>
          <p:nvSpPr>
            <p:cNvPr id="279" name="Text Box 117">
              <a:extLst>
                <a:ext uri="{FF2B5EF4-FFF2-40B4-BE49-F238E27FC236}">
                  <a16:creationId xmlns:a16="http://schemas.microsoft.com/office/drawing/2014/main" id="{B15ADD83-E850-F247-A96D-15A9484CF635}"/>
                </a:ext>
              </a:extLst>
            </p:cNvPr>
            <p:cNvSpPr txBox="1">
              <a:spLocks noChangeArrowheads="1"/>
            </p:cNvSpPr>
            <p:nvPr/>
          </p:nvSpPr>
          <p:spPr bwMode="auto">
            <a:xfrm rot="16200000">
              <a:off x="7790083" y="4868447"/>
              <a:ext cx="688975" cy="3698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delay</a:t>
              </a:r>
              <a:endParaRPr kumimoji="0" lang="en-US" sz="1800" b="0" i="0" u="none" strike="noStrike" kern="0" cap="none" spc="0" normalizeH="0" baseline="-25000" noProof="0" dirty="0">
                <a:ln>
                  <a:noFill/>
                </a:ln>
                <a:solidFill>
                  <a:srgbClr val="000000"/>
                </a:solidFill>
                <a:effectLst/>
                <a:uLnTx/>
                <a:uFillTx/>
                <a:latin typeface="Calibri" panose="020F0502020204030204"/>
                <a:ea typeface="ＭＳ Ｐゴシック" charset="0"/>
                <a:cs typeface="+mn-cs"/>
              </a:endParaRPr>
            </a:p>
          </p:txBody>
        </p:sp>
        <p:sp>
          <p:nvSpPr>
            <p:cNvPr id="280" name="Text Box 118">
              <a:extLst>
                <a:ext uri="{FF2B5EF4-FFF2-40B4-BE49-F238E27FC236}">
                  <a16:creationId xmlns:a16="http://schemas.microsoft.com/office/drawing/2014/main" id="{C47E14E2-29C5-9544-AE24-B08ECA631259}"/>
                </a:ext>
              </a:extLst>
            </p:cNvPr>
            <p:cNvSpPr txBox="1">
              <a:spLocks noChangeArrowheads="1"/>
            </p:cNvSpPr>
            <p:nvPr/>
          </p:nvSpPr>
          <p:spPr bwMode="auto">
            <a:xfrm>
              <a:off x="8720358" y="5563772"/>
              <a:ext cx="4524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Symbol" charset="0"/>
                  <a:ea typeface="ＭＳ Ｐゴシック" charset="0"/>
                  <a:cs typeface="+mn-cs"/>
                </a:rPr>
                <a:t>l</a:t>
              </a:r>
              <a:r>
                <a:rPr kumimoji="0" lang="en-US" sz="2000" b="0" i="0" u="none" strike="noStrike" kern="0" cap="none" spc="0" normalizeH="0" baseline="-25000" noProof="0" dirty="0">
                  <a:ln>
                    <a:noFill/>
                  </a:ln>
                  <a:solidFill>
                    <a:srgbClr val="000000"/>
                  </a:solidFill>
                  <a:effectLst/>
                  <a:uLnTx/>
                  <a:uFillTx/>
                  <a:latin typeface="Arial" charset="0"/>
                  <a:ea typeface="ＭＳ Ｐゴシック" charset="0"/>
                  <a:cs typeface="+mn-cs"/>
                </a:rPr>
                <a:t>in</a:t>
              </a:r>
            </a:p>
          </p:txBody>
        </p:sp>
        <p:cxnSp>
          <p:nvCxnSpPr>
            <p:cNvPr id="190" name="Straight Connector 189">
              <a:extLst>
                <a:ext uri="{FF2B5EF4-FFF2-40B4-BE49-F238E27FC236}">
                  <a16:creationId xmlns:a16="http://schemas.microsoft.com/office/drawing/2014/main" id="{737FA933-6276-0141-AB98-5F328D89E5E6}"/>
                </a:ext>
              </a:extLst>
            </p:cNvPr>
            <p:cNvCxnSpPr/>
            <p:nvPr/>
          </p:nvCxnSpPr>
          <p:spPr>
            <a:xfrm>
              <a:off x="8312683" y="5594801"/>
              <a:ext cx="14158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0351EA60-E695-1A49-877E-C777EE27A7EF}"/>
              </a:ext>
            </a:extLst>
          </p:cNvPr>
          <p:cNvSpPr/>
          <p:nvPr/>
        </p:nvSpPr>
        <p:spPr>
          <a:xfrm>
            <a:off x="4764506" y="1106906"/>
            <a:ext cx="1925052" cy="693019"/>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4" name="Oval 203">
            <a:extLst>
              <a:ext uri="{FF2B5EF4-FFF2-40B4-BE49-F238E27FC236}">
                <a16:creationId xmlns:a16="http://schemas.microsoft.com/office/drawing/2014/main" id="{22D67963-A1D8-D745-B58E-B552013D436E}"/>
              </a:ext>
            </a:extLst>
          </p:cNvPr>
          <p:cNvSpPr/>
          <p:nvPr/>
        </p:nvSpPr>
        <p:spPr>
          <a:xfrm>
            <a:off x="8507129" y="1182304"/>
            <a:ext cx="1925052" cy="693019"/>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6" name="Text Box 285">
            <a:extLst>
              <a:ext uri="{FF2B5EF4-FFF2-40B4-BE49-F238E27FC236}">
                <a16:creationId xmlns:a16="http://schemas.microsoft.com/office/drawing/2014/main" id="{874908D2-0B9B-5942-9966-8D55C3BC8046}"/>
              </a:ext>
            </a:extLst>
          </p:cNvPr>
          <p:cNvSpPr txBox="1">
            <a:spLocks noChangeArrowheads="1"/>
          </p:cNvSpPr>
          <p:nvPr/>
        </p:nvSpPr>
        <p:spPr bwMode="auto">
          <a:xfrm>
            <a:off x="12534826" y="6135036"/>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209" name="Line 280">
            <a:extLst>
              <a:ext uri="{FF2B5EF4-FFF2-40B4-BE49-F238E27FC236}">
                <a16:creationId xmlns:a16="http://schemas.microsoft.com/office/drawing/2014/main" id="{BDD1A869-FA53-344E-87A5-92F0D59AB461}"/>
              </a:ext>
            </a:extLst>
          </p:cNvPr>
          <p:cNvSpPr>
            <a:spLocks noChangeShapeType="1"/>
          </p:cNvSpPr>
          <p:nvPr/>
        </p:nvSpPr>
        <p:spPr bwMode="auto">
          <a:xfrm>
            <a:off x="12776717" y="4095473"/>
            <a:ext cx="0" cy="1869027"/>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3" name="Line 283">
            <a:extLst>
              <a:ext uri="{FF2B5EF4-FFF2-40B4-BE49-F238E27FC236}">
                <a16:creationId xmlns:a16="http://schemas.microsoft.com/office/drawing/2014/main" id="{09E784F2-EB2F-724D-A761-5ED5A1E01845}"/>
              </a:ext>
            </a:extLst>
          </p:cNvPr>
          <p:cNvSpPr>
            <a:spLocks noChangeShapeType="1"/>
          </p:cNvSpPr>
          <p:nvPr/>
        </p:nvSpPr>
        <p:spPr bwMode="auto">
          <a:xfrm>
            <a:off x="12771096" y="6018207"/>
            <a:ext cx="0" cy="15575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15" name="Group 14">
            <a:extLst>
              <a:ext uri="{FF2B5EF4-FFF2-40B4-BE49-F238E27FC236}">
                <a16:creationId xmlns:a16="http://schemas.microsoft.com/office/drawing/2014/main" id="{A52504F3-DA24-6D4D-AC29-260B2D78E924}"/>
              </a:ext>
            </a:extLst>
          </p:cNvPr>
          <p:cNvGrpSpPr/>
          <p:nvPr/>
        </p:nvGrpSpPr>
        <p:grpSpPr>
          <a:xfrm>
            <a:off x="4643558" y="4257261"/>
            <a:ext cx="2333625" cy="1701800"/>
            <a:chOff x="4643558" y="4257261"/>
            <a:chExt cx="2333625" cy="1701800"/>
          </a:xfrm>
        </p:grpSpPr>
        <p:grpSp>
          <p:nvGrpSpPr>
            <p:cNvPr id="11" name="Group 10">
              <a:extLst>
                <a:ext uri="{FF2B5EF4-FFF2-40B4-BE49-F238E27FC236}">
                  <a16:creationId xmlns:a16="http://schemas.microsoft.com/office/drawing/2014/main" id="{BB9E55DD-22D3-2C4D-96EC-2DA426511E2A}"/>
                </a:ext>
              </a:extLst>
            </p:cNvPr>
            <p:cNvGrpSpPr/>
            <p:nvPr/>
          </p:nvGrpSpPr>
          <p:grpSpPr>
            <a:xfrm>
              <a:off x="4643558" y="4257261"/>
              <a:ext cx="2333625" cy="1701800"/>
              <a:chOff x="4643558" y="4257261"/>
              <a:chExt cx="2333625" cy="1701800"/>
            </a:xfrm>
          </p:grpSpPr>
          <p:sp>
            <p:nvSpPr>
              <p:cNvPr id="261" name="Line 94">
                <a:extLst>
                  <a:ext uri="{FF2B5EF4-FFF2-40B4-BE49-F238E27FC236}">
                    <a16:creationId xmlns:a16="http://schemas.microsoft.com/office/drawing/2014/main" id="{7A0C5916-D5E3-FB42-83B7-2D47DCB343CA}"/>
                  </a:ext>
                </a:extLst>
              </p:cNvPr>
              <p:cNvSpPr>
                <a:spLocks noChangeShapeType="1"/>
              </p:cNvSpPr>
              <p:nvPr/>
            </p:nvSpPr>
            <p:spPr bwMode="auto">
              <a:xfrm>
                <a:off x="5126158" y="4323936"/>
                <a:ext cx="0" cy="127635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3" name="Line 96">
                <a:extLst>
                  <a:ext uri="{FF2B5EF4-FFF2-40B4-BE49-F238E27FC236}">
                    <a16:creationId xmlns:a16="http://schemas.microsoft.com/office/drawing/2014/main" id="{5174839E-5D4A-B04A-89C3-586EBCDEFCE8}"/>
                  </a:ext>
                </a:extLst>
              </p:cNvPr>
              <p:cNvSpPr>
                <a:spLocks noChangeShapeType="1"/>
              </p:cNvSpPr>
              <p:nvPr/>
            </p:nvSpPr>
            <p:spPr bwMode="auto">
              <a:xfrm>
                <a:off x="6259633" y="4463636"/>
                <a:ext cx="0" cy="1104900"/>
              </a:xfrm>
              <a:prstGeom prst="line">
                <a:avLst/>
              </a:prstGeom>
              <a:noFill/>
              <a:ln w="1270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4" name="Freeform 97">
                <a:extLst>
                  <a:ext uri="{FF2B5EF4-FFF2-40B4-BE49-F238E27FC236}">
                    <a16:creationId xmlns:a16="http://schemas.microsoft.com/office/drawing/2014/main" id="{EC237386-8658-A949-B8C2-D9BA07511FB4}"/>
                  </a:ext>
                </a:extLst>
              </p:cNvPr>
              <p:cNvSpPr>
                <a:spLocks/>
              </p:cNvSpPr>
              <p:nvPr/>
            </p:nvSpPr>
            <p:spPr bwMode="auto">
              <a:xfrm>
                <a:off x="5119808" y="4428711"/>
                <a:ext cx="1857375" cy="1162050"/>
              </a:xfrm>
              <a:custGeom>
                <a:avLst/>
                <a:gdLst>
                  <a:gd name="T0" fmla="*/ 0 w 1170"/>
                  <a:gd name="T1" fmla="*/ 732 h 732"/>
                  <a:gd name="T2" fmla="*/ 720 w 1170"/>
                  <a:gd name="T3" fmla="*/ 0 h 732"/>
                  <a:gd name="T4" fmla="*/ 1170 w 1170"/>
                  <a:gd name="T5" fmla="*/ 0 h 732"/>
                  <a:gd name="T6" fmla="*/ 0 60000 65536"/>
                  <a:gd name="T7" fmla="*/ 0 60000 65536"/>
                  <a:gd name="T8" fmla="*/ 0 60000 65536"/>
                </a:gdLst>
                <a:ahLst/>
                <a:cxnLst>
                  <a:cxn ang="T6">
                    <a:pos x="T0" y="T1"/>
                  </a:cxn>
                  <a:cxn ang="T7">
                    <a:pos x="T2" y="T3"/>
                  </a:cxn>
                  <a:cxn ang="T8">
                    <a:pos x="T4" y="T5"/>
                  </a:cxn>
                </a:cxnLst>
                <a:rect l="0" t="0" r="r" b="b"/>
                <a:pathLst>
                  <a:path w="1170" h="732">
                    <a:moveTo>
                      <a:pt x="0" y="732"/>
                    </a:moveTo>
                    <a:lnTo>
                      <a:pt x="720" y="0"/>
                    </a:lnTo>
                    <a:lnTo>
                      <a:pt x="1170"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5" name="Line 98">
                <a:extLst>
                  <a:ext uri="{FF2B5EF4-FFF2-40B4-BE49-F238E27FC236}">
                    <a16:creationId xmlns:a16="http://schemas.microsoft.com/office/drawing/2014/main" id="{72E41F27-B7FB-9D47-A225-27B5355D50CA}"/>
                  </a:ext>
                </a:extLst>
              </p:cNvPr>
              <p:cNvSpPr>
                <a:spLocks noChangeShapeType="1"/>
              </p:cNvSpPr>
              <p:nvPr/>
            </p:nvSpPr>
            <p:spPr bwMode="auto">
              <a:xfrm>
                <a:off x="5043608" y="4428711"/>
                <a:ext cx="7937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6" name="Line 99">
                <a:extLst>
                  <a:ext uri="{FF2B5EF4-FFF2-40B4-BE49-F238E27FC236}">
                    <a16:creationId xmlns:a16="http://schemas.microsoft.com/office/drawing/2014/main" id="{AC723AF5-64D6-5040-9235-C2B65B36A5B2}"/>
                  </a:ext>
                </a:extLst>
              </p:cNvPr>
              <p:cNvSpPr>
                <a:spLocks noChangeShapeType="1"/>
              </p:cNvSpPr>
              <p:nvPr/>
            </p:nvSpPr>
            <p:spPr bwMode="auto">
              <a:xfrm>
                <a:off x="6256458" y="5600286"/>
                <a:ext cx="0" cy="92075"/>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7" name="Text Box 100">
                <a:extLst>
                  <a:ext uri="{FF2B5EF4-FFF2-40B4-BE49-F238E27FC236}">
                    <a16:creationId xmlns:a16="http://schemas.microsoft.com/office/drawing/2014/main" id="{B31E33C5-D8FD-9C45-A060-B1987EF562A1}"/>
                  </a:ext>
                </a:extLst>
              </p:cNvPr>
              <p:cNvSpPr txBox="1">
                <a:spLocks noChangeArrowheads="1"/>
              </p:cNvSpPr>
              <p:nvPr/>
            </p:nvSpPr>
            <p:spPr bwMode="auto">
              <a:xfrm>
                <a:off x="4643558" y="4257261"/>
                <a:ext cx="4603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R/2</a:t>
                </a:r>
              </a:p>
            </p:txBody>
          </p:sp>
          <p:sp>
            <p:nvSpPr>
              <p:cNvPr id="268" name="Text Box 101">
                <a:extLst>
                  <a:ext uri="{FF2B5EF4-FFF2-40B4-BE49-F238E27FC236}">
                    <a16:creationId xmlns:a16="http://schemas.microsoft.com/office/drawing/2014/main" id="{F97C34ED-44A3-FE4E-8E35-B3DEC9ACCFFB}"/>
                  </a:ext>
                </a:extLst>
              </p:cNvPr>
              <p:cNvSpPr txBox="1">
                <a:spLocks noChangeArrowheads="1"/>
              </p:cNvSpPr>
              <p:nvPr/>
            </p:nvSpPr>
            <p:spPr bwMode="auto">
              <a:xfrm>
                <a:off x="6046908" y="5635211"/>
                <a:ext cx="4603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R/2</a:t>
                </a:r>
              </a:p>
            </p:txBody>
          </p:sp>
          <p:sp>
            <p:nvSpPr>
              <p:cNvPr id="269" name="Text Box 102">
                <a:extLst>
                  <a:ext uri="{FF2B5EF4-FFF2-40B4-BE49-F238E27FC236}">
                    <a16:creationId xmlns:a16="http://schemas.microsoft.com/office/drawing/2014/main" id="{E1DFCD88-D6E7-3549-94E6-D1A194DCF2F8}"/>
                  </a:ext>
                </a:extLst>
              </p:cNvPr>
              <p:cNvSpPr txBox="1">
                <a:spLocks noChangeArrowheads="1"/>
              </p:cNvSpPr>
              <p:nvPr/>
            </p:nvSpPr>
            <p:spPr bwMode="auto">
              <a:xfrm rot="16200000">
                <a:off x="4638796" y="4563816"/>
                <a:ext cx="5540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Symbol" charset="0"/>
                    <a:ea typeface="ＭＳ Ｐゴシック" charset="0"/>
                    <a:cs typeface="+mn-cs"/>
                  </a:rPr>
                  <a:t>l</a:t>
                </a:r>
                <a:r>
                  <a:rPr kumimoji="0" lang="en-US" sz="2000" b="0" i="0" u="none" strike="noStrike" kern="0" cap="none" spc="0" normalizeH="0" baseline="-25000" noProof="0" dirty="0">
                    <a:ln>
                      <a:noFill/>
                    </a:ln>
                    <a:solidFill>
                      <a:srgbClr val="000000"/>
                    </a:solidFill>
                    <a:effectLst/>
                    <a:uLnTx/>
                    <a:uFillTx/>
                    <a:latin typeface="Arial" charset="0"/>
                    <a:ea typeface="ＭＳ Ｐゴシック" charset="0"/>
                    <a:cs typeface="+mn-cs"/>
                  </a:rPr>
                  <a:t>out</a:t>
                </a:r>
              </a:p>
            </p:txBody>
          </p:sp>
          <p:sp>
            <p:nvSpPr>
              <p:cNvPr id="270" name="Text Box 103">
                <a:extLst>
                  <a:ext uri="{FF2B5EF4-FFF2-40B4-BE49-F238E27FC236}">
                    <a16:creationId xmlns:a16="http://schemas.microsoft.com/office/drawing/2014/main" id="{18220D2D-CB70-5348-8CDA-AC8B2AE8FE8C}"/>
                  </a:ext>
                </a:extLst>
              </p:cNvPr>
              <p:cNvSpPr txBox="1">
                <a:spLocks noChangeArrowheads="1"/>
              </p:cNvSpPr>
              <p:nvPr/>
            </p:nvSpPr>
            <p:spPr bwMode="auto">
              <a:xfrm>
                <a:off x="5524621" y="5562186"/>
                <a:ext cx="4524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Symbol" charset="0"/>
                    <a:ea typeface="ＭＳ Ｐゴシック" charset="0"/>
                    <a:cs typeface="+mn-cs"/>
                  </a:rPr>
                  <a:t>l</a:t>
                </a:r>
                <a:r>
                  <a:rPr kumimoji="0" lang="en-US" sz="2000" b="0" i="0" u="none" strike="noStrike" kern="0" cap="none" spc="0" normalizeH="0" baseline="-25000" noProof="0" dirty="0">
                    <a:ln>
                      <a:noFill/>
                    </a:ln>
                    <a:solidFill>
                      <a:srgbClr val="000000"/>
                    </a:solidFill>
                    <a:effectLst/>
                    <a:uLnTx/>
                    <a:uFillTx/>
                    <a:latin typeface="Arial" charset="0"/>
                    <a:ea typeface="ＭＳ Ｐゴシック" charset="0"/>
                    <a:cs typeface="+mn-cs"/>
                  </a:rPr>
                  <a:t>in</a:t>
                </a:r>
              </a:p>
            </p:txBody>
          </p:sp>
          <p:sp>
            <p:nvSpPr>
              <p:cNvPr id="271" name="Line 106">
                <a:extLst>
                  <a:ext uri="{FF2B5EF4-FFF2-40B4-BE49-F238E27FC236}">
                    <a16:creationId xmlns:a16="http://schemas.microsoft.com/office/drawing/2014/main" id="{319712D7-1AB2-9D4A-B08D-45AD00991EEA}"/>
                  </a:ext>
                </a:extLst>
              </p:cNvPr>
              <p:cNvSpPr>
                <a:spLocks noChangeShapeType="1"/>
              </p:cNvSpPr>
              <p:nvPr/>
            </p:nvSpPr>
            <p:spPr bwMode="auto">
              <a:xfrm>
                <a:off x="5145208" y="4430299"/>
                <a:ext cx="1039813"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cxnSp>
            <p:nvCxnSpPr>
              <p:cNvPr id="7" name="Straight Connector 6">
                <a:extLst>
                  <a:ext uri="{FF2B5EF4-FFF2-40B4-BE49-F238E27FC236}">
                    <a16:creationId xmlns:a16="http://schemas.microsoft.com/office/drawing/2014/main" id="{0272A867-5F31-FC46-A882-A3E999CBA0F0}"/>
                  </a:ext>
                </a:extLst>
              </p:cNvPr>
              <p:cNvCxnSpPr/>
              <p:nvPr/>
            </p:nvCxnSpPr>
            <p:spPr>
              <a:xfrm>
                <a:off x="5119903" y="5598611"/>
                <a:ext cx="14158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8" name="TextBox 217">
              <a:extLst>
                <a:ext uri="{FF2B5EF4-FFF2-40B4-BE49-F238E27FC236}">
                  <a16:creationId xmlns:a16="http://schemas.microsoft.com/office/drawing/2014/main" id="{265B06FE-7752-8942-9D69-AFB2C165CC35}"/>
                </a:ext>
              </a:extLst>
            </p:cNvPr>
            <p:cNvSpPr txBox="1"/>
            <p:nvPr/>
          </p:nvSpPr>
          <p:spPr>
            <a:xfrm rot="16200000">
              <a:off x="4435687" y="5176433"/>
              <a:ext cx="96924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throughput: </a:t>
              </a:r>
            </a:p>
          </p:txBody>
        </p:sp>
      </p:grpSp>
      <p:sp>
        <p:nvSpPr>
          <p:cNvPr id="219" name="Oval 218">
            <a:extLst>
              <a:ext uri="{FF2B5EF4-FFF2-40B4-BE49-F238E27FC236}">
                <a16:creationId xmlns:a16="http://schemas.microsoft.com/office/drawing/2014/main" id="{5CB9F7FD-8167-EF4B-AA1F-EA31EB355CB0}"/>
              </a:ext>
            </a:extLst>
          </p:cNvPr>
          <p:cNvSpPr/>
          <p:nvPr/>
        </p:nvSpPr>
        <p:spPr>
          <a:xfrm>
            <a:off x="12697995" y="3995821"/>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5" name="Slide Number Placeholder 2">
            <a:extLst>
              <a:ext uri="{FF2B5EF4-FFF2-40B4-BE49-F238E27FC236}">
                <a16:creationId xmlns:a16="http://schemas.microsoft.com/office/drawing/2014/main" id="{5938E394-4CEC-1949-BD3E-8B96E0964180}"/>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37</a:t>
            </a:fld>
            <a:endParaRPr lang="en-US" dirty="0"/>
          </a:p>
        </p:txBody>
      </p:sp>
    </p:spTree>
    <p:extLst>
      <p:ext uri="{BB962C8B-B14F-4D97-AF65-F5344CB8AC3E}">
        <p14:creationId xmlns:p14="http://schemas.microsoft.com/office/powerpoint/2010/main" val="184174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02"/>
                                        </p:tgtEl>
                                        <p:attrNameLst>
                                          <p:attrName>style.visibility</p:attrName>
                                        </p:attrNameLst>
                                      </p:cBhvr>
                                      <p:to>
                                        <p:strVal val="visible"/>
                                      </p:to>
                                    </p:set>
                                    <p:animEffect transition="in" filter="dissolve">
                                      <p:cBhvr>
                                        <p:cTn id="13" dur="500"/>
                                        <p:tgtEl>
                                          <p:spTgt spid="40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89"/>
                                        </p:tgtEl>
                                        <p:attrNameLst>
                                          <p:attrName>style.visibility</p:attrName>
                                        </p:attrNameLst>
                                      </p:cBhvr>
                                      <p:to>
                                        <p:strVal val="visible"/>
                                      </p:to>
                                    </p:set>
                                    <p:animEffect transition="in" filter="dissolve">
                                      <p:cBhvr>
                                        <p:cTn id="16" dur="500"/>
                                        <p:tgtEl>
                                          <p:spTgt spid="18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88"/>
                                        </p:tgtEl>
                                        <p:attrNameLst>
                                          <p:attrName>style.visibility</p:attrName>
                                        </p:attrNameLst>
                                      </p:cBhvr>
                                      <p:to>
                                        <p:strVal val="visible"/>
                                      </p:to>
                                    </p:set>
                                    <p:animEffect transition="in" filter="dissolve">
                                      <p:cBhvr>
                                        <p:cTn id="21" dur="500"/>
                                        <p:tgtEl>
                                          <p:spTgt spid="18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59"/>
                                        </p:tgtEl>
                                        <p:attrNameLst>
                                          <p:attrName>style.visibility</p:attrName>
                                        </p:attrNameLst>
                                      </p:cBhvr>
                                      <p:to>
                                        <p:strVal val="visible"/>
                                      </p:to>
                                    </p:set>
                                    <p:animEffect transition="in" filter="wipe(left)">
                                      <p:cBhvr>
                                        <p:cTn id="26" dur="500"/>
                                        <p:tgtEl>
                                          <p:spTgt spid="259"/>
                                        </p:tgtEl>
                                      </p:cBhvr>
                                    </p:animEffect>
                                  </p:childTnLst>
                                </p:cTn>
                              </p:par>
                              <p:par>
                                <p:cTn id="27" presetID="9"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dissolve">
                                      <p:cBhvr>
                                        <p:cTn id="29" dur="500"/>
                                        <p:tgtEl>
                                          <p:spTgt spid="5"/>
                                        </p:tgtEl>
                                      </p:cBhvr>
                                    </p:animEffect>
                                  </p:childTnLst>
                                </p:cTn>
                              </p:par>
                            </p:childTnLst>
                          </p:cTn>
                        </p:par>
                        <p:par>
                          <p:cTn id="30" fill="hold">
                            <p:stCondLst>
                              <p:cond delay="500"/>
                            </p:stCondLst>
                            <p:childTnLst>
                              <p:par>
                                <p:cTn id="31" presetID="9" presetClass="entr" presetSubtype="0"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dissolv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dissolv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xit" presetSubtype="0" fill="hold" grpId="1" nodeType="clickEffect">
                                  <p:stCondLst>
                                    <p:cond delay="0"/>
                                  </p:stCondLst>
                                  <p:childTnLst>
                                    <p:animEffect transition="out" filter="dissolve">
                                      <p:cBhvr>
                                        <p:cTn id="47" dur="500"/>
                                        <p:tgtEl>
                                          <p:spTgt spid="14"/>
                                        </p:tgtEl>
                                      </p:cBhvr>
                                    </p:animEffect>
                                    <p:set>
                                      <p:cBhvr>
                                        <p:cTn id="48" dur="1" fill="hold">
                                          <p:stCondLst>
                                            <p:cond delay="499"/>
                                          </p:stCondLst>
                                        </p:cTn>
                                        <p:tgtEl>
                                          <p:spTgt spid="14"/>
                                        </p:tgtEl>
                                        <p:attrNameLst>
                                          <p:attrName>style.visibility</p:attrName>
                                        </p:attrNameLst>
                                      </p:cBhvr>
                                      <p:to>
                                        <p:strVal val="hidden"/>
                                      </p:to>
                                    </p:set>
                                  </p:childTnLst>
                                </p:cTn>
                              </p:par>
                              <p:par>
                                <p:cTn id="49" presetID="9" presetClass="entr" presetSubtype="0" fill="hold" grpId="0" nodeType="withEffect">
                                  <p:stCondLst>
                                    <p:cond delay="0"/>
                                  </p:stCondLst>
                                  <p:childTnLst>
                                    <p:set>
                                      <p:cBhvr>
                                        <p:cTn id="50" dur="1" fill="hold">
                                          <p:stCondLst>
                                            <p:cond delay="0"/>
                                          </p:stCondLst>
                                        </p:cTn>
                                        <p:tgtEl>
                                          <p:spTgt spid="204"/>
                                        </p:tgtEl>
                                        <p:attrNameLst>
                                          <p:attrName>style.visibility</p:attrName>
                                        </p:attrNameLst>
                                      </p:cBhvr>
                                      <p:to>
                                        <p:strVal val="visible"/>
                                      </p:to>
                                    </p:set>
                                    <p:animEffect transition="in" filter="dissolve">
                                      <p:cBhvr>
                                        <p:cTn id="51" dur="500"/>
                                        <p:tgtEl>
                                          <p:spTgt spid="204"/>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xit" presetSubtype="0" fill="hold" grpId="1" nodeType="clickEffect">
                                  <p:stCondLst>
                                    <p:cond delay="0"/>
                                  </p:stCondLst>
                                  <p:childTnLst>
                                    <p:animEffect transition="out" filter="dissolve">
                                      <p:cBhvr>
                                        <p:cTn id="55" dur="500"/>
                                        <p:tgtEl>
                                          <p:spTgt spid="204"/>
                                        </p:tgtEl>
                                      </p:cBhvr>
                                    </p:animEffect>
                                    <p:set>
                                      <p:cBhvr>
                                        <p:cTn id="56" dur="1" fill="hold">
                                          <p:stCondLst>
                                            <p:cond delay="499"/>
                                          </p:stCondLst>
                                        </p:cTn>
                                        <p:tgtEl>
                                          <p:spTgt spid="204"/>
                                        </p:tgtEl>
                                        <p:attrNameLst>
                                          <p:attrName>style.visibility</p:attrName>
                                        </p:attrNameLst>
                                      </p:cBhvr>
                                      <p:to>
                                        <p:strVal val="hidden"/>
                                      </p:to>
                                    </p:set>
                                  </p:childTnLst>
                                </p:cTn>
                              </p:par>
                              <p:par>
                                <p:cTn id="57" presetID="9" presetClass="entr" presetSubtype="0" fill="hold" grpId="0" nodeType="withEffect">
                                  <p:stCondLst>
                                    <p:cond delay="0"/>
                                  </p:stCondLst>
                                  <p:childTnLst>
                                    <p:set>
                                      <p:cBhvr>
                                        <p:cTn id="58" dur="1" fill="hold">
                                          <p:stCondLst>
                                            <p:cond delay="0"/>
                                          </p:stCondLst>
                                        </p:cTn>
                                        <p:tgtEl>
                                          <p:spTgt spid="409"/>
                                        </p:tgtEl>
                                        <p:attrNameLst>
                                          <p:attrName>style.visibility</p:attrName>
                                        </p:attrNameLst>
                                      </p:cBhvr>
                                      <p:to>
                                        <p:strVal val="visible"/>
                                      </p:to>
                                    </p:set>
                                    <p:animEffect transition="in" filter="dissolve">
                                      <p:cBhvr>
                                        <p:cTn id="59" dur="500"/>
                                        <p:tgtEl>
                                          <p:spTgt spid="409"/>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dissolve">
                                      <p:cBhvr>
                                        <p:cTn id="64" dur="5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dissolve">
                                      <p:cBhvr>
                                        <p:cTn id="69" dur="500"/>
                                        <p:tgtEl>
                                          <p:spTgt spid="15"/>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187"/>
                                        </p:tgtEl>
                                        <p:attrNameLst>
                                          <p:attrName>style.visibility</p:attrName>
                                        </p:attrNameLst>
                                      </p:cBhvr>
                                      <p:to>
                                        <p:strVal val="visible"/>
                                      </p:to>
                                    </p:set>
                                    <p:animEffect transition="in" filter="dissolve">
                                      <p:cBhvr>
                                        <p:cTn id="72" dur="500"/>
                                        <p:tgtEl>
                                          <p:spTgt spid="187"/>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dissolve">
                                      <p:cBhvr>
                                        <p:cTn id="77" dur="500"/>
                                        <p:tgtEl>
                                          <p:spTgt spid="10"/>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281"/>
                                        </p:tgtEl>
                                        <p:attrNameLst>
                                          <p:attrName>style.visibility</p:attrName>
                                        </p:attrNameLst>
                                      </p:cBhvr>
                                      <p:to>
                                        <p:strVal val="visible"/>
                                      </p:to>
                                    </p:set>
                                    <p:animEffect transition="in" filter="dissolve">
                                      <p:cBhvr>
                                        <p:cTn id="80"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p:bldP spid="281" grpId="0"/>
      <p:bldP spid="4" grpId="0"/>
      <p:bldP spid="8" grpId="0"/>
      <p:bldP spid="188" grpId="0"/>
      <p:bldP spid="189" grpId="0"/>
      <p:bldP spid="259" grpId="0" animBg="1"/>
      <p:bldP spid="402" grpId="0"/>
      <p:bldP spid="409" grpId="0"/>
      <p:bldP spid="14" grpId="0" animBg="1"/>
      <p:bldP spid="14" grpId="1" animBg="1"/>
      <p:bldP spid="204" grpId="0" animBg="1"/>
      <p:bldP spid="20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Freeform 3">
            <a:extLst>
              <a:ext uri="{FF2B5EF4-FFF2-40B4-BE49-F238E27FC236}">
                <a16:creationId xmlns:a16="http://schemas.microsoft.com/office/drawing/2014/main" id="{80D23465-6886-5547-A6E1-507D7810B0F6}"/>
              </a:ext>
            </a:extLst>
          </p:cNvPr>
          <p:cNvSpPr>
            <a:spLocks/>
          </p:cNvSpPr>
          <p:nvPr/>
        </p:nvSpPr>
        <p:spPr bwMode="auto">
          <a:xfrm>
            <a:off x="6946976" y="5009814"/>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64" name="Group 463">
            <a:extLst>
              <a:ext uri="{FF2B5EF4-FFF2-40B4-BE49-F238E27FC236}">
                <a16:creationId xmlns:a16="http://schemas.microsoft.com/office/drawing/2014/main" id="{ED623061-0BAD-094E-BE78-B8341568F372}"/>
              </a:ext>
            </a:extLst>
          </p:cNvPr>
          <p:cNvGrpSpPr/>
          <p:nvPr/>
        </p:nvGrpSpPr>
        <p:grpSpPr>
          <a:xfrm>
            <a:off x="6240513" y="5016599"/>
            <a:ext cx="720732" cy="1182930"/>
            <a:chOff x="10910965" y="2513124"/>
            <a:chExt cx="586768" cy="904023"/>
          </a:xfrm>
        </p:grpSpPr>
        <p:sp>
          <p:nvSpPr>
            <p:cNvPr id="465" name="Rectangle 464">
              <a:extLst>
                <a:ext uri="{FF2B5EF4-FFF2-40B4-BE49-F238E27FC236}">
                  <a16:creationId xmlns:a16="http://schemas.microsoft.com/office/drawing/2014/main" id="{FF2C2633-7018-BA41-AB83-B819BB9A45E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66" name="Straight Connector 465">
              <a:extLst>
                <a:ext uri="{FF2B5EF4-FFF2-40B4-BE49-F238E27FC236}">
                  <a16:creationId xmlns:a16="http://schemas.microsoft.com/office/drawing/2014/main" id="{302760D7-48DE-8A4B-ACF3-A7CD0B9C6468}"/>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CB159F5A-C0DA-EB4C-A34A-F001D131F1EA}"/>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AD2F7871-F8B6-2849-8DE5-284CB68B59A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8AE2A84E-B822-F046-878E-584B56EF1E3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2</a:t>
            </a:r>
            <a:endParaRPr lang="en-US" sz="4400" b="0" dirty="0"/>
          </a:p>
        </p:txBody>
      </p:sp>
      <p:sp>
        <p:nvSpPr>
          <p:cNvPr id="909" name="Rectangle 2">
            <a:extLst>
              <a:ext uri="{FF2B5EF4-FFF2-40B4-BE49-F238E27FC236}">
                <a16:creationId xmlns:a16="http://schemas.microsoft.com/office/drawing/2014/main" id="{D810901F-4456-034F-A011-28193A3B4968}"/>
              </a:ext>
            </a:extLst>
          </p:cNvPr>
          <p:cNvSpPr txBox="1">
            <a:spLocks noChangeArrowheads="1"/>
          </p:cNvSpPr>
          <p:nvPr/>
        </p:nvSpPr>
        <p:spPr>
          <a:xfrm>
            <a:off x="634964" y="1182473"/>
            <a:ext cx="9710831" cy="50263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one router, </a:t>
            </a:r>
            <a:r>
              <a:rPr kumimoji="0" lang="en-US" sz="2800" b="0" i="1" u="none" strike="noStrike" kern="1200" cap="none" spc="0" normalizeH="0" baseline="0" noProof="0" dirty="0">
                <a:ln>
                  <a:noFill/>
                </a:ln>
                <a:solidFill>
                  <a:srgbClr val="000099"/>
                </a:solidFill>
                <a:effectLst/>
                <a:uLnTx/>
                <a:uFillTx/>
                <a:latin typeface="Calibri" panose="020F0502020204030204"/>
                <a:ea typeface="+mn-ea"/>
                <a:cs typeface="+mn-cs"/>
              </a:rPr>
              <a:t>finite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buffers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2" name="Freeform 9">
            <a:extLst>
              <a:ext uri="{FF2B5EF4-FFF2-40B4-BE49-F238E27FC236}">
                <a16:creationId xmlns:a16="http://schemas.microsoft.com/office/drawing/2014/main" id="{31041B91-E0FC-7E47-86EF-C839592CEEF9}"/>
              </a:ext>
            </a:extLst>
          </p:cNvPr>
          <p:cNvSpPr>
            <a:spLocks/>
          </p:cNvSpPr>
          <p:nvPr/>
        </p:nvSpPr>
        <p:spPr bwMode="auto">
          <a:xfrm flipH="1">
            <a:off x="1844721" y="3515638"/>
            <a:ext cx="528348" cy="117827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3" name="Group 152">
            <a:extLst>
              <a:ext uri="{FF2B5EF4-FFF2-40B4-BE49-F238E27FC236}">
                <a16:creationId xmlns:a16="http://schemas.microsoft.com/office/drawing/2014/main" id="{C664E13D-A71D-7A41-9ED2-950A4602199F}"/>
              </a:ext>
            </a:extLst>
          </p:cNvPr>
          <p:cNvGrpSpPr/>
          <p:nvPr/>
        </p:nvGrpSpPr>
        <p:grpSpPr>
          <a:xfrm>
            <a:off x="1278678" y="4683698"/>
            <a:ext cx="720732" cy="1182930"/>
            <a:chOff x="10910965" y="2513124"/>
            <a:chExt cx="586768" cy="904023"/>
          </a:xfrm>
        </p:grpSpPr>
        <p:sp>
          <p:nvSpPr>
            <p:cNvPr id="292" name="Rectangle 291">
              <a:extLst>
                <a:ext uri="{FF2B5EF4-FFF2-40B4-BE49-F238E27FC236}">
                  <a16:creationId xmlns:a16="http://schemas.microsoft.com/office/drawing/2014/main" id="{E609789D-FAF9-5746-8CD2-A008EE6CECB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93" name="Straight Connector 292">
              <a:extLst>
                <a:ext uri="{FF2B5EF4-FFF2-40B4-BE49-F238E27FC236}">
                  <a16:creationId xmlns:a16="http://schemas.microsoft.com/office/drawing/2014/main" id="{6D5231DA-8104-CB44-92A0-570084A4B4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76E0EC21-BE7F-C342-9CAD-4288FEF4BFA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DF9FAFCD-7CC5-104B-8E70-9A9A226394DD}"/>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C0759462-583F-5148-89B2-CAC38E98E11A}"/>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4" name="Group 153">
            <a:extLst>
              <a:ext uri="{FF2B5EF4-FFF2-40B4-BE49-F238E27FC236}">
                <a16:creationId xmlns:a16="http://schemas.microsoft.com/office/drawing/2014/main" id="{818064D3-1463-5B40-A9E3-050E65014C75}"/>
              </a:ext>
            </a:extLst>
          </p:cNvPr>
          <p:cNvGrpSpPr/>
          <p:nvPr/>
        </p:nvGrpSpPr>
        <p:grpSpPr>
          <a:xfrm>
            <a:off x="2355044" y="3521091"/>
            <a:ext cx="720732" cy="1182930"/>
            <a:chOff x="10910965" y="2513124"/>
            <a:chExt cx="586768" cy="904023"/>
          </a:xfrm>
        </p:grpSpPr>
        <p:sp>
          <p:nvSpPr>
            <p:cNvPr id="287" name="Rectangle 286">
              <a:extLst>
                <a:ext uri="{FF2B5EF4-FFF2-40B4-BE49-F238E27FC236}">
                  <a16:creationId xmlns:a16="http://schemas.microsoft.com/office/drawing/2014/main" id="{8D19C0FC-E2FD-B34E-B3FB-BDFF7FD70A3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88" name="Straight Connector 287">
              <a:extLst>
                <a:ext uri="{FF2B5EF4-FFF2-40B4-BE49-F238E27FC236}">
                  <a16:creationId xmlns:a16="http://schemas.microsoft.com/office/drawing/2014/main" id="{FB7598A7-2ED2-704C-A197-75E68BC404D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8240FCF7-9EBB-7C41-8D3A-965DA0A9761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0F40B610-359C-5A46-86F3-309280845EC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49FA9EB9-49D7-3F4E-9667-CD5C42ECC862}"/>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5" name="Freeform 6">
            <a:extLst>
              <a:ext uri="{FF2B5EF4-FFF2-40B4-BE49-F238E27FC236}">
                <a16:creationId xmlns:a16="http://schemas.microsoft.com/office/drawing/2014/main" id="{4DB18098-9AC8-F84F-9EFC-E14F468703DC}"/>
              </a:ext>
            </a:extLst>
          </p:cNvPr>
          <p:cNvSpPr>
            <a:spLocks/>
          </p:cNvSpPr>
          <p:nvPr/>
        </p:nvSpPr>
        <p:spPr bwMode="auto">
          <a:xfrm>
            <a:off x="7409112" y="3699469"/>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id="{9E49415B-7EB6-4743-B880-41FB066DB4B9}"/>
              </a:ext>
            </a:extLst>
          </p:cNvPr>
          <p:cNvGrpSpPr/>
          <p:nvPr/>
        </p:nvGrpSpPr>
        <p:grpSpPr>
          <a:xfrm>
            <a:off x="6698918" y="3667889"/>
            <a:ext cx="720732" cy="1182930"/>
            <a:chOff x="10910965" y="2513124"/>
            <a:chExt cx="586768" cy="904023"/>
          </a:xfrm>
        </p:grpSpPr>
        <p:sp>
          <p:nvSpPr>
            <p:cNvPr id="282" name="Rectangle 281">
              <a:extLst>
                <a:ext uri="{FF2B5EF4-FFF2-40B4-BE49-F238E27FC236}">
                  <a16:creationId xmlns:a16="http://schemas.microsoft.com/office/drawing/2014/main" id="{0448B2D2-1A62-5C43-9150-A99468BAB68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83" name="Straight Connector 282">
              <a:extLst>
                <a:ext uri="{FF2B5EF4-FFF2-40B4-BE49-F238E27FC236}">
                  <a16:creationId xmlns:a16="http://schemas.microsoft.com/office/drawing/2014/main" id="{940DD19D-B2AD-964D-83A9-82488AF7E0ED}"/>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1E98CF7C-ADBA-454F-9236-1C970C41D5B9}"/>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5343C97A-736C-CB4E-A0C3-58EA9178C035}"/>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95638F38-76DF-9646-AF7C-7B73311BC37D}"/>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E455C231-4F77-2943-A4A7-79D8A6F887B7}"/>
              </a:ext>
            </a:extLst>
          </p:cNvPr>
          <p:cNvGrpSpPr/>
          <p:nvPr/>
        </p:nvGrpSpPr>
        <p:grpSpPr>
          <a:xfrm>
            <a:off x="3770696" y="5033645"/>
            <a:ext cx="1286871" cy="734927"/>
            <a:chOff x="7493876" y="2774731"/>
            <a:chExt cx="1481958" cy="894622"/>
          </a:xfrm>
        </p:grpSpPr>
        <p:sp>
          <p:nvSpPr>
            <p:cNvPr id="275" name="Freeform 274">
              <a:extLst>
                <a:ext uri="{FF2B5EF4-FFF2-40B4-BE49-F238E27FC236}">
                  <a16:creationId xmlns:a16="http://schemas.microsoft.com/office/drawing/2014/main" id="{4D0698D9-69AC-074F-89C8-D8A88994A28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76" name="Oval 275">
              <a:extLst>
                <a:ext uri="{FF2B5EF4-FFF2-40B4-BE49-F238E27FC236}">
                  <a16:creationId xmlns:a16="http://schemas.microsoft.com/office/drawing/2014/main" id="{59DCF5EE-AB68-B240-BE5F-5203162A964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77" name="Group 276">
              <a:extLst>
                <a:ext uri="{FF2B5EF4-FFF2-40B4-BE49-F238E27FC236}">
                  <a16:creationId xmlns:a16="http://schemas.microsoft.com/office/drawing/2014/main" id="{170C8D46-5FC3-C145-B11A-7CB2D312B360}"/>
                </a:ext>
              </a:extLst>
            </p:cNvPr>
            <p:cNvGrpSpPr/>
            <p:nvPr/>
          </p:nvGrpSpPr>
          <p:grpSpPr>
            <a:xfrm>
              <a:off x="7713663" y="2848339"/>
              <a:ext cx="1042107" cy="425543"/>
              <a:chOff x="7786941" y="2884917"/>
              <a:chExt cx="897649" cy="353919"/>
            </a:xfrm>
          </p:grpSpPr>
          <p:sp>
            <p:nvSpPr>
              <p:cNvPr id="278" name="Freeform 277">
                <a:extLst>
                  <a:ext uri="{FF2B5EF4-FFF2-40B4-BE49-F238E27FC236}">
                    <a16:creationId xmlns:a16="http://schemas.microsoft.com/office/drawing/2014/main" id="{AF04230D-700C-C549-99E0-41EBB2B22DD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9" name="Freeform 278">
                <a:extLst>
                  <a:ext uri="{FF2B5EF4-FFF2-40B4-BE49-F238E27FC236}">
                    <a16:creationId xmlns:a16="http://schemas.microsoft.com/office/drawing/2014/main" id="{4D1E1E76-B8D0-7C4B-9A0D-667DF456C81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0" name="Freeform 279">
                <a:extLst>
                  <a:ext uri="{FF2B5EF4-FFF2-40B4-BE49-F238E27FC236}">
                    <a16:creationId xmlns:a16="http://schemas.microsoft.com/office/drawing/2014/main" id="{B9903FEA-8DB2-E54A-AD78-7A6E5A6847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1" name="Freeform 280">
                <a:extLst>
                  <a:ext uri="{FF2B5EF4-FFF2-40B4-BE49-F238E27FC236}">
                    <a16:creationId xmlns:a16="http://schemas.microsoft.com/office/drawing/2014/main" id="{B092F8C6-79B6-BC42-B991-7922CC9AB62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8" name="Group 124">
            <a:extLst>
              <a:ext uri="{FF2B5EF4-FFF2-40B4-BE49-F238E27FC236}">
                <a16:creationId xmlns:a16="http://schemas.microsoft.com/office/drawing/2014/main" id="{BC5A178C-850C-0546-B828-A97A5F9A9008}"/>
              </a:ext>
            </a:extLst>
          </p:cNvPr>
          <p:cNvGrpSpPr>
            <a:grpSpLocks/>
          </p:cNvGrpSpPr>
          <p:nvPr/>
        </p:nvGrpSpPr>
        <p:grpSpPr bwMode="auto">
          <a:xfrm>
            <a:off x="1317421" y="3877120"/>
            <a:ext cx="645431" cy="569172"/>
            <a:chOff x="-44" y="1473"/>
            <a:chExt cx="981" cy="1105"/>
          </a:xfrm>
        </p:grpSpPr>
        <p:pic>
          <p:nvPicPr>
            <p:cNvPr id="273" name="Picture 125" descr="desktop_computer_stylized_medium">
              <a:extLst>
                <a:ext uri="{FF2B5EF4-FFF2-40B4-BE49-F238E27FC236}">
                  <a16:creationId xmlns:a16="http://schemas.microsoft.com/office/drawing/2014/main" id="{8B5BD8CE-2A84-E846-817A-1550E18BFB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 name="Freeform 126">
              <a:extLst>
                <a:ext uri="{FF2B5EF4-FFF2-40B4-BE49-F238E27FC236}">
                  <a16:creationId xmlns:a16="http://schemas.microsoft.com/office/drawing/2014/main" id="{56638146-3603-4B43-8C07-22A53DD29F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60" name="Freeform 12">
            <a:extLst>
              <a:ext uri="{FF2B5EF4-FFF2-40B4-BE49-F238E27FC236}">
                <a16:creationId xmlns:a16="http://schemas.microsoft.com/office/drawing/2014/main" id="{B265A6FF-6F16-644A-A3DA-369A224CF48A}"/>
              </a:ext>
            </a:extLst>
          </p:cNvPr>
          <p:cNvSpPr>
            <a:spLocks/>
          </p:cNvSpPr>
          <p:nvPr/>
        </p:nvSpPr>
        <p:spPr bwMode="auto">
          <a:xfrm flipH="1">
            <a:off x="978210" y="4681606"/>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Line 33">
            <a:extLst>
              <a:ext uri="{FF2B5EF4-FFF2-40B4-BE49-F238E27FC236}">
                <a16:creationId xmlns:a16="http://schemas.microsoft.com/office/drawing/2014/main" id="{C878E23C-4C42-2D44-B41A-E547E44A04AD}"/>
              </a:ext>
            </a:extLst>
          </p:cNvPr>
          <p:cNvSpPr>
            <a:spLocks noChangeShapeType="1"/>
          </p:cNvSpPr>
          <p:nvPr/>
        </p:nvSpPr>
        <p:spPr bwMode="auto">
          <a:xfrm flipH="1">
            <a:off x="2405566"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2" name="Text Box 42">
            <a:extLst>
              <a:ext uri="{FF2B5EF4-FFF2-40B4-BE49-F238E27FC236}">
                <a16:creationId xmlns:a16="http://schemas.microsoft.com/office/drawing/2014/main" id="{DFAA6AE2-F5C0-4846-83FF-51CD9D3430CA}"/>
              </a:ext>
            </a:extLst>
          </p:cNvPr>
          <p:cNvSpPr txBox="1">
            <a:spLocks noChangeArrowheads="1"/>
          </p:cNvSpPr>
          <p:nvPr/>
        </p:nvSpPr>
        <p:spPr bwMode="auto">
          <a:xfrm>
            <a:off x="1088616" y="3529817"/>
            <a:ext cx="1122503"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163" name="Text Box 52">
            <a:extLst>
              <a:ext uri="{FF2B5EF4-FFF2-40B4-BE49-F238E27FC236}">
                <a16:creationId xmlns:a16="http://schemas.microsoft.com/office/drawing/2014/main" id="{697CE3BC-08E3-0743-B33B-A06D8A9715A3}"/>
              </a:ext>
            </a:extLst>
          </p:cNvPr>
          <p:cNvSpPr txBox="1">
            <a:spLocks noChangeArrowheads="1"/>
          </p:cNvSpPr>
          <p:nvPr/>
        </p:nvSpPr>
        <p:spPr bwMode="auto">
          <a:xfrm>
            <a:off x="1083435" y="6053488"/>
            <a:ext cx="981577"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164" name="Line 53">
            <a:extLst>
              <a:ext uri="{FF2B5EF4-FFF2-40B4-BE49-F238E27FC236}">
                <a16:creationId xmlns:a16="http://schemas.microsoft.com/office/drawing/2014/main" id="{66A4B303-46B3-9E4D-A4D5-76E145975885}"/>
              </a:ext>
            </a:extLst>
          </p:cNvPr>
          <p:cNvSpPr>
            <a:spLocks noChangeShapeType="1"/>
          </p:cNvSpPr>
          <p:nvPr/>
        </p:nvSpPr>
        <p:spPr bwMode="auto">
          <a:xfrm flipH="1">
            <a:off x="3002248"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5" name="Line 54">
            <a:extLst>
              <a:ext uri="{FF2B5EF4-FFF2-40B4-BE49-F238E27FC236}">
                <a16:creationId xmlns:a16="http://schemas.microsoft.com/office/drawing/2014/main" id="{17F5C019-D2C3-9C47-8837-56EB26DFF684}"/>
              </a:ext>
            </a:extLst>
          </p:cNvPr>
          <p:cNvSpPr>
            <a:spLocks noChangeShapeType="1"/>
          </p:cNvSpPr>
          <p:nvPr/>
        </p:nvSpPr>
        <p:spPr bwMode="auto">
          <a:xfrm flipH="1">
            <a:off x="4991187"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6" name="Line 55">
            <a:extLst>
              <a:ext uri="{FF2B5EF4-FFF2-40B4-BE49-F238E27FC236}">
                <a16:creationId xmlns:a16="http://schemas.microsoft.com/office/drawing/2014/main" id="{5B033825-3CFA-7B48-B2A8-5386F733A453}"/>
              </a:ext>
            </a:extLst>
          </p:cNvPr>
          <p:cNvSpPr>
            <a:spLocks noChangeShapeType="1"/>
          </p:cNvSpPr>
          <p:nvPr/>
        </p:nvSpPr>
        <p:spPr bwMode="auto">
          <a:xfrm flipH="1">
            <a:off x="5143282"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7" name="Line 57">
            <a:extLst>
              <a:ext uri="{FF2B5EF4-FFF2-40B4-BE49-F238E27FC236}">
                <a16:creationId xmlns:a16="http://schemas.microsoft.com/office/drawing/2014/main" id="{6C1DD6E4-4DE9-0F41-BF04-1F6DF97D23BF}"/>
              </a:ext>
            </a:extLst>
          </p:cNvPr>
          <p:cNvSpPr>
            <a:spLocks noChangeShapeType="1"/>
          </p:cNvSpPr>
          <p:nvPr/>
        </p:nvSpPr>
        <p:spPr bwMode="auto">
          <a:xfrm flipH="1">
            <a:off x="6275655" y="4856289"/>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3" name="Group 127">
            <a:extLst>
              <a:ext uri="{FF2B5EF4-FFF2-40B4-BE49-F238E27FC236}">
                <a16:creationId xmlns:a16="http://schemas.microsoft.com/office/drawing/2014/main" id="{3808CE02-5C3D-C346-BEE9-B6E121BF954D}"/>
              </a:ext>
            </a:extLst>
          </p:cNvPr>
          <p:cNvGrpSpPr>
            <a:grpSpLocks/>
          </p:cNvGrpSpPr>
          <p:nvPr/>
        </p:nvGrpSpPr>
        <p:grpSpPr bwMode="auto">
          <a:xfrm>
            <a:off x="7531958" y="4473878"/>
            <a:ext cx="284691" cy="577481"/>
            <a:chOff x="4140" y="429"/>
            <a:chExt cx="1425" cy="2396"/>
          </a:xfrm>
        </p:grpSpPr>
        <p:sp>
          <p:nvSpPr>
            <p:cNvPr id="233" name="Freeform 128">
              <a:extLst>
                <a:ext uri="{FF2B5EF4-FFF2-40B4-BE49-F238E27FC236}">
                  <a16:creationId xmlns:a16="http://schemas.microsoft.com/office/drawing/2014/main" id="{811C558B-4215-704B-94D0-E1230464502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4" name="Rectangle 129">
              <a:extLst>
                <a:ext uri="{FF2B5EF4-FFF2-40B4-BE49-F238E27FC236}">
                  <a16:creationId xmlns:a16="http://schemas.microsoft.com/office/drawing/2014/main" id="{83BDE6F4-12C8-254F-99E6-1AC22AB23A6C}"/>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5" name="Freeform 130">
              <a:extLst>
                <a:ext uri="{FF2B5EF4-FFF2-40B4-BE49-F238E27FC236}">
                  <a16:creationId xmlns:a16="http://schemas.microsoft.com/office/drawing/2014/main" id="{505E1BFF-3C9F-B243-B5B0-75BB0D03FC8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6" name="Freeform 131">
              <a:extLst>
                <a:ext uri="{FF2B5EF4-FFF2-40B4-BE49-F238E27FC236}">
                  <a16:creationId xmlns:a16="http://schemas.microsoft.com/office/drawing/2014/main" id="{6FA76602-7304-F042-9F0F-79DB3F9AFF9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7" name="Rectangle 132">
              <a:extLst>
                <a:ext uri="{FF2B5EF4-FFF2-40B4-BE49-F238E27FC236}">
                  <a16:creationId xmlns:a16="http://schemas.microsoft.com/office/drawing/2014/main" id="{FA53C885-D9E0-A545-8445-B2721091BDBD}"/>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8" name="Group 133">
              <a:extLst>
                <a:ext uri="{FF2B5EF4-FFF2-40B4-BE49-F238E27FC236}">
                  <a16:creationId xmlns:a16="http://schemas.microsoft.com/office/drawing/2014/main" id="{3A3B6CB5-41F2-664A-A843-912B5DB61A2B}"/>
                </a:ext>
              </a:extLst>
            </p:cNvPr>
            <p:cNvGrpSpPr>
              <a:grpSpLocks/>
            </p:cNvGrpSpPr>
            <p:nvPr/>
          </p:nvGrpSpPr>
          <p:grpSpPr bwMode="auto">
            <a:xfrm>
              <a:off x="4749" y="668"/>
              <a:ext cx="581" cy="145"/>
              <a:chOff x="614" y="2568"/>
              <a:chExt cx="725" cy="139"/>
            </a:xfrm>
          </p:grpSpPr>
          <p:sp>
            <p:nvSpPr>
              <p:cNvPr id="263" name="AutoShape 134">
                <a:extLst>
                  <a:ext uri="{FF2B5EF4-FFF2-40B4-BE49-F238E27FC236}">
                    <a16:creationId xmlns:a16="http://schemas.microsoft.com/office/drawing/2014/main" id="{BC9432EE-0011-9F4F-8687-4173A06D0FE0}"/>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4" name="AutoShape 135">
                <a:extLst>
                  <a:ext uri="{FF2B5EF4-FFF2-40B4-BE49-F238E27FC236}">
                    <a16:creationId xmlns:a16="http://schemas.microsoft.com/office/drawing/2014/main" id="{1850FFB1-810C-5D46-B468-F1377E8B8691}"/>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9" name="Rectangle 136">
              <a:extLst>
                <a:ext uri="{FF2B5EF4-FFF2-40B4-BE49-F238E27FC236}">
                  <a16:creationId xmlns:a16="http://schemas.microsoft.com/office/drawing/2014/main" id="{E6E1815D-B0B7-C249-B837-587E975BE7DC}"/>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40" name="Group 137">
              <a:extLst>
                <a:ext uri="{FF2B5EF4-FFF2-40B4-BE49-F238E27FC236}">
                  <a16:creationId xmlns:a16="http://schemas.microsoft.com/office/drawing/2014/main" id="{7F97E068-6BF9-8149-811C-00184DED144A}"/>
                </a:ext>
              </a:extLst>
            </p:cNvPr>
            <p:cNvGrpSpPr>
              <a:grpSpLocks/>
            </p:cNvGrpSpPr>
            <p:nvPr/>
          </p:nvGrpSpPr>
          <p:grpSpPr bwMode="auto">
            <a:xfrm>
              <a:off x="4747" y="994"/>
              <a:ext cx="581" cy="134"/>
              <a:chOff x="614" y="2568"/>
              <a:chExt cx="725" cy="139"/>
            </a:xfrm>
          </p:grpSpPr>
          <p:sp>
            <p:nvSpPr>
              <p:cNvPr id="261" name="AutoShape 138">
                <a:extLst>
                  <a:ext uri="{FF2B5EF4-FFF2-40B4-BE49-F238E27FC236}">
                    <a16:creationId xmlns:a16="http://schemas.microsoft.com/office/drawing/2014/main" id="{6649A030-733E-DB43-A4BD-D41A8DDFDFB4}"/>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2" name="AutoShape 139">
                <a:extLst>
                  <a:ext uri="{FF2B5EF4-FFF2-40B4-BE49-F238E27FC236}">
                    <a16:creationId xmlns:a16="http://schemas.microsoft.com/office/drawing/2014/main" id="{9E214A48-F0EF-174A-A6D2-127D876264A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1" name="Rectangle 140">
              <a:extLst>
                <a:ext uri="{FF2B5EF4-FFF2-40B4-BE49-F238E27FC236}">
                  <a16:creationId xmlns:a16="http://schemas.microsoft.com/office/drawing/2014/main" id="{F4213574-ABC8-7F43-9C79-6E5C211657F9}"/>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Rectangle 141">
              <a:extLst>
                <a:ext uri="{FF2B5EF4-FFF2-40B4-BE49-F238E27FC236}">
                  <a16:creationId xmlns:a16="http://schemas.microsoft.com/office/drawing/2014/main" id="{6C7F02A7-1E6B-6744-BB83-50A5FD6692BB}"/>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43" name="Group 142">
              <a:extLst>
                <a:ext uri="{FF2B5EF4-FFF2-40B4-BE49-F238E27FC236}">
                  <a16:creationId xmlns:a16="http://schemas.microsoft.com/office/drawing/2014/main" id="{8F919684-30D5-B14A-AB97-B5DFBEF5302D}"/>
                </a:ext>
              </a:extLst>
            </p:cNvPr>
            <p:cNvGrpSpPr>
              <a:grpSpLocks/>
            </p:cNvGrpSpPr>
            <p:nvPr/>
          </p:nvGrpSpPr>
          <p:grpSpPr bwMode="auto">
            <a:xfrm>
              <a:off x="4735" y="1627"/>
              <a:ext cx="582" cy="151"/>
              <a:chOff x="614" y="2568"/>
              <a:chExt cx="725" cy="139"/>
            </a:xfrm>
          </p:grpSpPr>
          <p:sp>
            <p:nvSpPr>
              <p:cNvPr id="259" name="AutoShape 143">
                <a:extLst>
                  <a:ext uri="{FF2B5EF4-FFF2-40B4-BE49-F238E27FC236}">
                    <a16:creationId xmlns:a16="http://schemas.microsoft.com/office/drawing/2014/main" id="{96D6248B-EAAA-2A4D-A4BD-1009D13EBACD}"/>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0" name="AutoShape 144">
                <a:extLst>
                  <a:ext uri="{FF2B5EF4-FFF2-40B4-BE49-F238E27FC236}">
                    <a16:creationId xmlns:a16="http://schemas.microsoft.com/office/drawing/2014/main" id="{B63C93F6-376E-2F42-8185-8FD1271480A8}"/>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4" name="Freeform 145">
              <a:extLst>
                <a:ext uri="{FF2B5EF4-FFF2-40B4-BE49-F238E27FC236}">
                  <a16:creationId xmlns:a16="http://schemas.microsoft.com/office/drawing/2014/main" id="{B5A663D7-E6EE-734B-9792-F536336D04E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5" name="Group 146">
              <a:extLst>
                <a:ext uri="{FF2B5EF4-FFF2-40B4-BE49-F238E27FC236}">
                  <a16:creationId xmlns:a16="http://schemas.microsoft.com/office/drawing/2014/main" id="{C596A713-1C52-A34E-9381-F7F919A695BB}"/>
                </a:ext>
              </a:extLst>
            </p:cNvPr>
            <p:cNvGrpSpPr>
              <a:grpSpLocks/>
            </p:cNvGrpSpPr>
            <p:nvPr/>
          </p:nvGrpSpPr>
          <p:grpSpPr bwMode="auto">
            <a:xfrm>
              <a:off x="4739" y="1327"/>
              <a:ext cx="582" cy="139"/>
              <a:chOff x="614" y="2568"/>
              <a:chExt cx="725" cy="139"/>
            </a:xfrm>
          </p:grpSpPr>
          <p:sp>
            <p:nvSpPr>
              <p:cNvPr id="257" name="AutoShape 147">
                <a:extLst>
                  <a:ext uri="{FF2B5EF4-FFF2-40B4-BE49-F238E27FC236}">
                    <a16:creationId xmlns:a16="http://schemas.microsoft.com/office/drawing/2014/main" id="{A2AF9509-2E9C-F049-A69C-BC151ADB23CC}"/>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8" name="AutoShape 148">
                <a:extLst>
                  <a:ext uri="{FF2B5EF4-FFF2-40B4-BE49-F238E27FC236}">
                    <a16:creationId xmlns:a16="http://schemas.microsoft.com/office/drawing/2014/main" id="{C59B2148-A3C8-0841-87D7-7B5FBFD9C24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6" name="Rectangle 149">
              <a:extLst>
                <a:ext uri="{FF2B5EF4-FFF2-40B4-BE49-F238E27FC236}">
                  <a16:creationId xmlns:a16="http://schemas.microsoft.com/office/drawing/2014/main" id="{B0F127BD-9A3A-EB41-A2E1-7CD4CC524985}"/>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Freeform 150">
              <a:extLst>
                <a:ext uri="{FF2B5EF4-FFF2-40B4-BE49-F238E27FC236}">
                  <a16:creationId xmlns:a16="http://schemas.microsoft.com/office/drawing/2014/main" id="{3BBBB4B7-56DB-1D43-A6D4-1D492AE15866}"/>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8" name="Freeform 151">
              <a:extLst>
                <a:ext uri="{FF2B5EF4-FFF2-40B4-BE49-F238E27FC236}">
                  <a16:creationId xmlns:a16="http://schemas.microsoft.com/office/drawing/2014/main" id="{591A95E8-6F86-8A42-A0C9-7487B89DA12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9" name="Oval 152">
              <a:extLst>
                <a:ext uri="{FF2B5EF4-FFF2-40B4-BE49-F238E27FC236}">
                  <a16:creationId xmlns:a16="http://schemas.microsoft.com/office/drawing/2014/main" id="{7C866B93-DCBC-7749-9A90-2E6DF2E7A4D7}"/>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Freeform 153">
              <a:extLst>
                <a:ext uri="{FF2B5EF4-FFF2-40B4-BE49-F238E27FC236}">
                  <a16:creationId xmlns:a16="http://schemas.microsoft.com/office/drawing/2014/main" id="{20096CEE-1D0A-DA4A-B4EA-CE851FB638CA}"/>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1" name="AutoShape 154">
              <a:extLst>
                <a:ext uri="{FF2B5EF4-FFF2-40B4-BE49-F238E27FC236}">
                  <a16:creationId xmlns:a16="http://schemas.microsoft.com/office/drawing/2014/main" id="{800A41D3-8C32-9540-A084-0538BB956EA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AutoShape 155">
              <a:extLst>
                <a:ext uri="{FF2B5EF4-FFF2-40B4-BE49-F238E27FC236}">
                  <a16:creationId xmlns:a16="http://schemas.microsoft.com/office/drawing/2014/main" id="{67F818BC-2518-4C4C-8597-C941419A472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Oval 156">
              <a:extLst>
                <a:ext uri="{FF2B5EF4-FFF2-40B4-BE49-F238E27FC236}">
                  <a16:creationId xmlns:a16="http://schemas.microsoft.com/office/drawing/2014/main" id="{80D903FF-E73B-D84D-B215-D7FB2AA30BC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4" name="Oval 157">
              <a:extLst>
                <a:ext uri="{FF2B5EF4-FFF2-40B4-BE49-F238E27FC236}">
                  <a16:creationId xmlns:a16="http://schemas.microsoft.com/office/drawing/2014/main" id="{CB203238-7D82-C747-B805-A2FDFABD199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55" name="Oval 158">
              <a:extLst>
                <a:ext uri="{FF2B5EF4-FFF2-40B4-BE49-F238E27FC236}">
                  <a16:creationId xmlns:a16="http://schemas.microsoft.com/office/drawing/2014/main" id="{963F0D1E-6FE3-8E42-B74D-4F2947878C5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6" name="Rectangle 159">
              <a:extLst>
                <a:ext uri="{FF2B5EF4-FFF2-40B4-BE49-F238E27FC236}">
                  <a16:creationId xmlns:a16="http://schemas.microsoft.com/office/drawing/2014/main" id="{3C003407-E16A-4B46-B1EA-E94247F7467D}"/>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74" name="Group 160">
            <a:extLst>
              <a:ext uri="{FF2B5EF4-FFF2-40B4-BE49-F238E27FC236}">
                <a16:creationId xmlns:a16="http://schemas.microsoft.com/office/drawing/2014/main" id="{0F097A1A-2185-F148-8F82-34ABB517D6AE}"/>
              </a:ext>
            </a:extLst>
          </p:cNvPr>
          <p:cNvGrpSpPr>
            <a:grpSpLocks/>
          </p:cNvGrpSpPr>
          <p:nvPr/>
        </p:nvGrpSpPr>
        <p:grpSpPr bwMode="auto">
          <a:xfrm>
            <a:off x="585296" y="5655276"/>
            <a:ext cx="645431" cy="569172"/>
            <a:chOff x="-44" y="1473"/>
            <a:chExt cx="981" cy="1105"/>
          </a:xfrm>
        </p:grpSpPr>
        <p:pic>
          <p:nvPicPr>
            <p:cNvPr id="231" name="Picture 161" descr="desktop_computer_stylized_medium">
              <a:extLst>
                <a:ext uri="{FF2B5EF4-FFF2-40B4-BE49-F238E27FC236}">
                  <a16:creationId xmlns:a16="http://schemas.microsoft.com/office/drawing/2014/main" id="{739E1A58-F96D-1345-AEAE-EA59CB2F6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 name="Freeform 162">
              <a:extLst>
                <a:ext uri="{FF2B5EF4-FFF2-40B4-BE49-F238E27FC236}">
                  <a16:creationId xmlns:a16="http://schemas.microsoft.com/office/drawing/2014/main" id="{476098FC-333E-C14D-BD39-044AEB98AE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75" name="Group 163">
            <a:extLst>
              <a:ext uri="{FF2B5EF4-FFF2-40B4-BE49-F238E27FC236}">
                <a16:creationId xmlns:a16="http://schemas.microsoft.com/office/drawing/2014/main" id="{E2EFDB81-0D19-4A48-8538-D27C6B7F7D14}"/>
              </a:ext>
            </a:extLst>
          </p:cNvPr>
          <p:cNvGrpSpPr>
            <a:grpSpLocks/>
          </p:cNvGrpSpPr>
          <p:nvPr/>
        </p:nvGrpSpPr>
        <p:grpSpPr bwMode="auto">
          <a:xfrm>
            <a:off x="7141970" y="5736859"/>
            <a:ext cx="284691" cy="577481"/>
            <a:chOff x="4140" y="429"/>
            <a:chExt cx="1425" cy="2396"/>
          </a:xfrm>
        </p:grpSpPr>
        <p:sp>
          <p:nvSpPr>
            <p:cNvPr id="199" name="Freeform 164">
              <a:extLst>
                <a:ext uri="{FF2B5EF4-FFF2-40B4-BE49-F238E27FC236}">
                  <a16:creationId xmlns:a16="http://schemas.microsoft.com/office/drawing/2014/main" id="{BD6EFF4C-D844-414A-9756-E53717BA495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0" name="Rectangle 165">
              <a:extLst>
                <a:ext uri="{FF2B5EF4-FFF2-40B4-BE49-F238E27FC236}">
                  <a16:creationId xmlns:a16="http://schemas.microsoft.com/office/drawing/2014/main" id="{7CB552E3-C1C5-F942-A2D3-56184702A5A0}"/>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Freeform 166">
              <a:extLst>
                <a:ext uri="{FF2B5EF4-FFF2-40B4-BE49-F238E27FC236}">
                  <a16:creationId xmlns:a16="http://schemas.microsoft.com/office/drawing/2014/main" id="{ADBEFE66-AA30-4B46-A1C5-46CBEA0C1B8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2" name="Freeform 167">
              <a:extLst>
                <a:ext uri="{FF2B5EF4-FFF2-40B4-BE49-F238E27FC236}">
                  <a16:creationId xmlns:a16="http://schemas.microsoft.com/office/drawing/2014/main" id="{02AE45A3-16A5-2145-B7BC-4400869B56CA}"/>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3" name="Rectangle 168">
              <a:extLst>
                <a:ext uri="{FF2B5EF4-FFF2-40B4-BE49-F238E27FC236}">
                  <a16:creationId xmlns:a16="http://schemas.microsoft.com/office/drawing/2014/main" id="{8CFC0F08-B9F2-1B47-BFD4-FF5DCA080029}"/>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4" name="Group 169">
              <a:extLst>
                <a:ext uri="{FF2B5EF4-FFF2-40B4-BE49-F238E27FC236}">
                  <a16:creationId xmlns:a16="http://schemas.microsoft.com/office/drawing/2014/main" id="{13A37EEE-1891-1440-9CC9-602B2446BBA2}"/>
                </a:ext>
              </a:extLst>
            </p:cNvPr>
            <p:cNvGrpSpPr>
              <a:grpSpLocks/>
            </p:cNvGrpSpPr>
            <p:nvPr/>
          </p:nvGrpSpPr>
          <p:grpSpPr bwMode="auto">
            <a:xfrm>
              <a:off x="4749" y="668"/>
              <a:ext cx="581" cy="145"/>
              <a:chOff x="614" y="2568"/>
              <a:chExt cx="725" cy="139"/>
            </a:xfrm>
          </p:grpSpPr>
          <p:sp>
            <p:nvSpPr>
              <p:cNvPr id="229" name="AutoShape 170">
                <a:extLst>
                  <a:ext uri="{FF2B5EF4-FFF2-40B4-BE49-F238E27FC236}">
                    <a16:creationId xmlns:a16="http://schemas.microsoft.com/office/drawing/2014/main" id="{0DE9F83D-BA7B-AB43-9A9D-4DC6E78250E4}"/>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AutoShape 171">
                <a:extLst>
                  <a:ext uri="{FF2B5EF4-FFF2-40B4-BE49-F238E27FC236}">
                    <a16:creationId xmlns:a16="http://schemas.microsoft.com/office/drawing/2014/main" id="{A22C12A6-C6AF-F645-B954-ECC93E01FA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5" name="Rectangle 172">
              <a:extLst>
                <a:ext uri="{FF2B5EF4-FFF2-40B4-BE49-F238E27FC236}">
                  <a16:creationId xmlns:a16="http://schemas.microsoft.com/office/drawing/2014/main" id="{E3DCF607-14CC-8F49-81D1-A0BB7C7DE346}"/>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6" name="Group 173">
              <a:extLst>
                <a:ext uri="{FF2B5EF4-FFF2-40B4-BE49-F238E27FC236}">
                  <a16:creationId xmlns:a16="http://schemas.microsoft.com/office/drawing/2014/main" id="{86D015C1-5E8B-3F4F-82D3-56E79D5E8284}"/>
                </a:ext>
              </a:extLst>
            </p:cNvPr>
            <p:cNvGrpSpPr>
              <a:grpSpLocks/>
            </p:cNvGrpSpPr>
            <p:nvPr/>
          </p:nvGrpSpPr>
          <p:grpSpPr bwMode="auto">
            <a:xfrm>
              <a:off x="4747" y="994"/>
              <a:ext cx="581" cy="134"/>
              <a:chOff x="614" y="2568"/>
              <a:chExt cx="725" cy="139"/>
            </a:xfrm>
          </p:grpSpPr>
          <p:sp>
            <p:nvSpPr>
              <p:cNvPr id="227" name="AutoShape 174">
                <a:extLst>
                  <a:ext uri="{FF2B5EF4-FFF2-40B4-BE49-F238E27FC236}">
                    <a16:creationId xmlns:a16="http://schemas.microsoft.com/office/drawing/2014/main" id="{48620533-E7B5-AD47-9B24-98B7CD27707C}"/>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8" name="AutoShape 175">
                <a:extLst>
                  <a:ext uri="{FF2B5EF4-FFF2-40B4-BE49-F238E27FC236}">
                    <a16:creationId xmlns:a16="http://schemas.microsoft.com/office/drawing/2014/main" id="{E12148F0-F22A-FE46-8240-0D9581F97CFA}"/>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7" name="Rectangle 176">
              <a:extLst>
                <a:ext uri="{FF2B5EF4-FFF2-40B4-BE49-F238E27FC236}">
                  <a16:creationId xmlns:a16="http://schemas.microsoft.com/office/drawing/2014/main" id="{9AEDD470-9194-E749-BE81-8C84F3423921}"/>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Rectangle 177">
              <a:extLst>
                <a:ext uri="{FF2B5EF4-FFF2-40B4-BE49-F238E27FC236}">
                  <a16:creationId xmlns:a16="http://schemas.microsoft.com/office/drawing/2014/main" id="{92944065-57F3-474C-B7C9-8C3EF2246EB5}"/>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9" name="Group 178">
              <a:extLst>
                <a:ext uri="{FF2B5EF4-FFF2-40B4-BE49-F238E27FC236}">
                  <a16:creationId xmlns:a16="http://schemas.microsoft.com/office/drawing/2014/main" id="{F21A1F7B-AAFD-0B45-8D20-66719A131603}"/>
                </a:ext>
              </a:extLst>
            </p:cNvPr>
            <p:cNvGrpSpPr>
              <a:grpSpLocks/>
            </p:cNvGrpSpPr>
            <p:nvPr/>
          </p:nvGrpSpPr>
          <p:grpSpPr bwMode="auto">
            <a:xfrm>
              <a:off x="4735" y="1627"/>
              <a:ext cx="582" cy="151"/>
              <a:chOff x="614" y="2568"/>
              <a:chExt cx="725" cy="139"/>
            </a:xfrm>
          </p:grpSpPr>
          <p:sp>
            <p:nvSpPr>
              <p:cNvPr id="225" name="AutoShape 179">
                <a:extLst>
                  <a:ext uri="{FF2B5EF4-FFF2-40B4-BE49-F238E27FC236}">
                    <a16:creationId xmlns:a16="http://schemas.microsoft.com/office/drawing/2014/main" id="{C1DDC539-D8AE-0F41-B3C6-7BDF3D7B6C7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AutoShape 180">
                <a:extLst>
                  <a:ext uri="{FF2B5EF4-FFF2-40B4-BE49-F238E27FC236}">
                    <a16:creationId xmlns:a16="http://schemas.microsoft.com/office/drawing/2014/main" id="{7BE912F4-6A13-C146-872D-5E728DEDB99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0" name="Freeform 181">
              <a:extLst>
                <a:ext uri="{FF2B5EF4-FFF2-40B4-BE49-F238E27FC236}">
                  <a16:creationId xmlns:a16="http://schemas.microsoft.com/office/drawing/2014/main" id="{2D115A2E-4180-8D4D-9CD8-D6CDE2038C7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11" name="Group 182">
              <a:extLst>
                <a:ext uri="{FF2B5EF4-FFF2-40B4-BE49-F238E27FC236}">
                  <a16:creationId xmlns:a16="http://schemas.microsoft.com/office/drawing/2014/main" id="{60622201-2E59-994D-AB7D-72EE5A986908}"/>
                </a:ext>
              </a:extLst>
            </p:cNvPr>
            <p:cNvGrpSpPr>
              <a:grpSpLocks/>
            </p:cNvGrpSpPr>
            <p:nvPr/>
          </p:nvGrpSpPr>
          <p:grpSpPr bwMode="auto">
            <a:xfrm>
              <a:off x="4739" y="1327"/>
              <a:ext cx="582" cy="139"/>
              <a:chOff x="614" y="2568"/>
              <a:chExt cx="725" cy="139"/>
            </a:xfrm>
          </p:grpSpPr>
          <p:sp>
            <p:nvSpPr>
              <p:cNvPr id="223" name="AutoShape 183">
                <a:extLst>
                  <a:ext uri="{FF2B5EF4-FFF2-40B4-BE49-F238E27FC236}">
                    <a16:creationId xmlns:a16="http://schemas.microsoft.com/office/drawing/2014/main" id="{4C230A94-BC0D-F34B-A373-92423746E145}"/>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4" name="AutoShape 184">
                <a:extLst>
                  <a:ext uri="{FF2B5EF4-FFF2-40B4-BE49-F238E27FC236}">
                    <a16:creationId xmlns:a16="http://schemas.microsoft.com/office/drawing/2014/main" id="{790B5D31-2480-4F41-8E42-1AF6E8FAD50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2" name="Rectangle 185">
              <a:extLst>
                <a:ext uri="{FF2B5EF4-FFF2-40B4-BE49-F238E27FC236}">
                  <a16:creationId xmlns:a16="http://schemas.microsoft.com/office/drawing/2014/main" id="{FDF61F85-9CD0-354B-947A-470245040D5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3" name="Freeform 186">
              <a:extLst>
                <a:ext uri="{FF2B5EF4-FFF2-40B4-BE49-F238E27FC236}">
                  <a16:creationId xmlns:a16="http://schemas.microsoft.com/office/drawing/2014/main" id="{611684CC-E72C-034A-A61A-6164A0BF856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4" name="Freeform 187">
              <a:extLst>
                <a:ext uri="{FF2B5EF4-FFF2-40B4-BE49-F238E27FC236}">
                  <a16:creationId xmlns:a16="http://schemas.microsoft.com/office/drawing/2014/main" id="{DBB964D6-CEE2-3241-BFDA-5DB20E1598D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5" name="Oval 188">
              <a:extLst>
                <a:ext uri="{FF2B5EF4-FFF2-40B4-BE49-F238E27FC236}">
                  <a16:creationId xmlns:a16="http://schemas.microsoft.com/office/drawing/2014/main" id="{27197FE3-A9C2-EE42-B3C2-C3A9CBF3D281}"/>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6" name="Freeform 189">
              <a:extLst>
                <a:ext uri="{FF2B5EF4-FFF2-40B4-BE49-F238E27FC236}">
                  <a16:creationId xmlns:a16="http://schemas.microsoft.com/office/drawing/2014/main" id="{F3ED62CF-FC3D-8949-A608-5B7BFE69DAA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7" name="AutoShape 190">
              <a:extLst>
                <a:ext uri="{FF2B5EF4-FFF2-40B4-BE49-F238E27FC236}">
                  <a16:creationId xmlns:a16="http://schemas.microsoft.com/office/drawing/2014/main" id="{3091CE7F-A295-6F47-B397-614B62DF0BA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AutoShape 191">
              <a:extLst>
                <a:ext uri="{FF2B5EF4-FFF2-40B4-BE49-F238E27FC236}">
                  <a16:creationId xmlns:a16="http://schemas.microsoft.com/office/drawing/2014/main" id="{415A0F15-253E-F54D-B178-9525AED18470}"/>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9" name="Oval 192">
              <a:extLst>
                <a:ext uri="{FF2B5EF4-FFF2-40B4-BE49-F238E27FC236}">
                  <a16:creationId xmlns:a16="http://schemas.microsoft.com/office/drawing/2014/main" id="{C2CD80B7-EEF4-014D-B5A6-EAE8E9D2D83E}"/>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0" name="Oval 193">
              <a:extLst>
                <a:ext uri="{FF2B5EF4-FFF2-40B4-BE49-F238E27FC236}">
                  <a16:creationId xmlns:a16="http://schemas.microsoft.com/office/drawing/2014/main" id="{36F54B23-051A-244E-98BA-0B1F8C402586}"/>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21" name="Oval 194">
              <a:extLst>
                <a:ext uri="{FF2B5EF4-FFF2-40B4-BE49-F238E27FC236}">
                  <a16:creationId xmlns:a16="http://schemas.microsoft.com/office/drawing/2014/main" id="{9B7CB66A-4AB2-C249-9259-D8943EEC6473}"/>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Rectangle 195">
              <a:extLst>
                <a:ext uri="{FF2B5EF4-FFF2-40B4-BE49-F238E27FC236}">
                  <a16:creationId xmlns:a16="http://schemas.microsoft.com/office/drawing/2014/main" id="{99EDA04F-76BC-A24E-994C-040F379BA75A}"/>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8" name="Line 57">
            <a:extLst>
              <a:ext uri="{FF2B5EF4-FFF2-40B4-BE49-F238E27FC236}">
                <a16:creationId xmlns:a16="http://schemas.microsoft.com/office/drawing/2014/main" id="{57E79EDF-A69C-7748-A8F5-A8D11C416955}"/>
              </a:ext>
            </a:extLst>
          </p:cNvPr>
          <p:cNvSpPr>
            <a:spLocks noChangeShapeType="1"/>
          </p:cNvSpPr>
          <p:nvPr/>
        </p:nvSpPr>
        <p:spPr bwMode="auto">
          <a:xfrm flipH="1">
            <a:off x="5155368" y="5988369"/>
            <a:ext cx="10099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9" name="Line 57">
            <a:extLst>
              <a:ext uri="{FF2B5EF4-FFF2-40B4-BE49-F238E27FC236}">
                <a16:creationId xmlns:a16="http://schemas.microsoft.com/office/drawing/2014/main" id="{F9B908EA-CCC5-9140-968E-E85601F061A8}"/>
              </a:ext>
            </a:extLst>
          </p:cNvPr>
          <p:cNvSpPr>
            <a:spLocks noChangeShapeType="1"/>
          </p:cNvSpPr>
          <p:nvPr/>
        </p:nvSpPr>
        <p:spPr bwMode="auto">
          <a:xfrm flipH="1">
            <a:off x="3001196" y="4853221"/>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Line 57">
            <a:extLst>
              <a:ext uri="{FF2B5EF4-FFF2-40B4-BE49-F238E27FC236}">
                <a16:creationId xmlns:a16="http://schemas.microsoft.com/office/drawing/2014/main" id="{B8DA85AE-A4EF-8949-A171-7D8A32E2383C}"/>
              </a:ext>
            </a:extLst>
          </p:cNvPr>
          <p:cNvSpPr>
            <a:spLocks noChangeShapeType="1"/>
          </p:cNvSpPr>
          <p:nvPr/>
        </p:nvSpPr>
        <p:spPr bwMode="auto">
          <a:xfrm flipH="1">
            <a:off x="1869391" y="5991438"/>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 name="Group 2">
            <a:extLst>
              <a:ext uri="{FF2B5EF4-FFF2-40B4-BE49-F238E27FC236}">
                <a16:creationId xmlns:a16="http://schemas.microsoft.com/office/drawing/2014/main" id="{88B36FCA-98F2-334E-B745-8BE5CDDCBFB2}"/>
              </a:ext>
            </a:extLst>
          </p:cNvPr>
          <p:cNvGrpSpPr/>
          <p:nvPr/>
        </p:nvGrpSpPr>
        <p:grpSpPr>
          <a:xfrm>
            <a:off x="2749090" y="3427413"/>
            <a:ext cx="2851610" cy="946150"/>
            <a:chOff x="2749090" y="3427413"/>
            <a:chExt cx="2851610" cy="946150"/>
          </a:xfrm>
        </p:grpSpPr>
        <p:sp>
          <p:nvSpPr>
            <p:cNvPr id="297" name="Text Box 68">
              <a:extLst>
                <a:ext uri="{FF2B5EF4-FFF2-40B4-BE49-F238E27FC236}">
                  <a16:creationId xmlns:a16="http://schemas.microsoft.com/office/drawing/2014/main" id="{A106E788-CB34-784B-A7C6-28841DDC2E4F}"/>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6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original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298" name="Oval 217">
              <a:extLst>
                <a:ext uri="{FF2B5EF4-FFF2-40B4-BE49-F238E27FC236}">
                  <a16:creationId xmlns:a16="http://schemas.microsoft.com/office/drawing/2014/main" id="{CEE2DA5C-50A0-D742-A105-CCD7EE709734}"/>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99" name="Line 229">
              <a:extLst>
                <a:ext uri="{FF2B5EF4-FFF2-40B4-BE49-F238E27FC236}">
                  <a16:creationId xmlns:a16="http://schemas.microsoft.com/office/drawing/2014/main" id="{255225C8-6B39-2541-95EB-F48A1F34AF4E}"/>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0" name="Oval 232">
              <a:extLst>
                <a:ext uri="{FF2B5EF4-FFF2-40B4-BE49-F238E27FC236}">
                  <a16:creationId xmlns:a16="http://schemas.microsoft.com/office/drawing/2014/main" id="{43D2CE91-2B81-EF48-9C07-31413440C1BA}"/>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1" name="Text Box 233">
              <a:extLst>
                <a:ext uri="{FF2B5EF4-FFF2-40B4-BE49-F238E27FC236}">
                  <a16:creationId xmlns:a16="http://schemas.microsoft.com/office/drawing/2014/main" id="{FE1C66F4-D8DA-494A-9A89-F8E745865FF4}"/>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8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original data, </a:t>
              </a:r>
              <a:r>
                <a:rPr kumimoji="0" lang="en-US" altLang="en-US" sz="1600" b="0"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plus</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retransmitted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02" name="Line 234">
              <a:extLst>
                <a:ext uri="{FF2B5EF4-FFF2-40B4-BE49-F238E27FC236}">
                  <a16:creationId xmlns:a16="http://schemas.microsoft.com/office/drawing/2014/main" id="{63AF49C8-A0AA-624A-85D8-166B2AE4973F}"/>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03" name="Line 235">
              <a:extLst>
                <a:ext uri="{FF2B5EF4-FFF2-40B4-BE49-F238E27FC236}">
                  <a16:creationId xmlns:a16="http://schemas.microsoft.com/office/drawing/2014/main" id="{DB362CDB-1FF4-4C41-99F9-FAF1CC7CC705}"/>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4" name="Group 3">
            <a:extLst>
              <a:ext uri="{FF2B5EF4-FFF2-40B4-BE49-F238E27FC236}">
                <a16:creationId xmlns:a16="http://schemas.microsoft.com/office/drawing/2014/main" id="{9DD48FEE-9456-1B4E-84A7-B3ED91FFE8E0}"/>
              </a:ext>
            </a:extLst>
          </p:cNvPr>
          <p:cNvGrpSpPr/>
          <p:nvPr/>
        </p:nvGrpSpPr>
        <p:grpSpPr>
          <a:xfrm>
            <a:off x="2913490" y="5218953"/>
            <a:ext cx="1938730" cy="1300181"/>
            <a:chOff x="2913490" y="5218953"/>
            <a:chExt cx="1938730" cy="1300181"/>
          </a:xfrm>
        </p:grpSpPr>
        <p:sp>
          <p:nvSpPr>
            <p:cNvPr id="182" name="Text Box 32">
              <a:extLst>
                <a:ext uri="{FF2B5EF4-FFF2-40B4-BE49-F238E27FC236}">
                  <a16:creationId xmlns:a16="http://schemas.microsoft.com/office/drawing/2014/main" id="{CF2B7F29-466D-FC4A-ACE7-BFBF267B0CB3}"/>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finite</a:t>
              </a: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shared output link buffers</a:t>
              </a:r>
            </a:p>
          </p:txBody>
        </p:sp>
        <p:sp>
          <p:nvSpPr>
            <p:cNvPr id="184" name="Line 77">
              <a:extLst>
                <a:ext uri="{FF2B5EF4-FFF2-40B4-BE49-F238E27FC236}">
                  <a16:creationId xmlns:a16="http://schemas.microsoft.com/office/drawing/2014/main" id="{7E362826-A3B7-5941-AE9B-A10769F86A4D}"/>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25" name="Group 324">
              <a:extLst>
                <a:ext uri="{FF2B5EF4-FFF2-40B4-BE49-F238E27FC236}">
                  <a16:creationId xmlns:a16="http://schemas.microsoft.com/office/drawing/2014/main" id="{F6512663-A281-404F-AF8E-A1DB8E5E7ECA}"/>
                </a:ext>
              </a:extLst>
            </p:cNvPr>
            <p:cNvGrpSpPr/>
            <p:nvPr/>
          </p:nvGrpSpPr>
          <p:grpSpPr>
            <a:xfrm>
              <a:off x="4030362" y="5218953"/>
              <a:ext cx="821858" cy="355937"/>
              <a:chOff x="6859123" y="5156933"/>
              <a:chExt cx="456701" cy="226548"/>
            </a:xfrm>
          </p:grpSpPr>
          <p:sp>
            <p:nvSpPr>
              <p:cNvPr id="326" name="Rectangle 325">
                <a:extLst>
                  <a:ext uri="{FF2B5EF4-FFF2-40B4-BE49-F238E27FC236}">
                    <a16:creationId xmlns:a16="http://schemas.microsoft.com/office/drawing/2014/main" id="{115AD671-DB74-444A-B48E-E8BEAB79A7D2}"/>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32" name="Straight Connector 331">
                <a:extLst>
                  <a:ext uri="{FF2B5EF4-FFF2-40B4-BE49-F238E27FC236}">
                    <a16:creationId xmlns:a16="http://schemas.microsoft.com/office/drawing/2014/main" id="{99DD12F9-E416-394B-8D63-40D48A708559}"/>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15780100-29B8-5C4F-93B7-5649208D6A95}"/>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202CCE17-CE75-B441-ADA2-F35E98844675}"/>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9471ACA7-44C6-004C-B2C2-7818A49BE16E}"/>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72FD74F9-7342-F046-8132-AF1193BA35CF}"/>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4E5C557C-7FBE-9746-A186-91684629902D}"/>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9B6FEECA-C37C-BB48-B144-6D6274CBC319}"/>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72" name="Freeform 91">
            <a:extLst>
              <a:ext uri="{FF2B5EF4-FFF2-40B4-BE49-F238E27FC236}">
                <a16:creationId xmlns:a16="http://schemas.microsoft.com/office/drawing/2014/main" id="{A9B480FF-21CF-FC44-9DF0-9C672684A517}"/>
              </a:ext>
            </a:extLst>
          </p:cNvPr>
          <p:cNvSpPr>
            <a:spLocks/>
          </p:cNvSpPr>
          <p:nvPr/>
        </p:nvSpPr>
        <p:spPr bwMode="auto">
          <a:xfrm>
            <a:off x="2803354" y="3659588"/>
            <a:ext cx="4211870" cy="1670126"/>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1" name="Group 170">
            <a:extLst>
              <a:ext uri="{FF2B5EF4-FFF2-40B4-BE49-F238E27FC236}">
                <a16:creationId xmlns:a16="http://schemas.microsoft.com/office/drawing/2014/main" id="{FE72A71E-CC9B-AE4A-AE8F-124BCB210BCD}"/>
              </a:ext>
            </a:extLst>
          </p:cNvPr>
          <p:cNvGrpSpPr/>
          <p:nvPr/>
        </p:nvGrpSpPr>
        <p:grpSpPr>
          <a:xfrm>
            <a:off x="1586591" y="4743924"/>
            <a:ext cx="4913849" cy="1346072"/>
            <a:chOff x="5641439" y="2685215"/>
            <a:chExt cx="4000500" cy="1028700"/>
          </a:xfrm>
        </p:grpSpPr>
        <p:sp>
          <p:nvSpPr>
            <p:cNvPr id="265" name="Oval 73">
              <a:extLst>
                <a:ext uri="{FF2B5EF4-FFF2-40B4-BE49-F238E27FC236}">
                  <a16:creationId xmlns:a16="http://schemas.microsoft.com/office/drawing/2014/main" id="{CBF2A11D-CB4B-5047-8DCE-1CCA81F60201}"/>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6" name="Freeform 90">
              <a:extLst>
                <a:ext uri="{FF2B5EF4-FFF2-40B4-BE49-F238E27FC236}">
                  <a16:creationId xmlns:a16="http://schemas.microsoft.com/office/drawing/2014/main" id="{A788A76C-C9BB-D246-93A9-CFA5F5F5A5FF}"/>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7A2C2F29-CDE1-7F43-8E31-AA4451365879}"/>
              </a:ext>
            </a:extLst>
          </p:cNvPr>
          <p:cNvGrpSpPr/>
          <p:nvPr/>
        </p:nvGrpSpPr>
        <p:grpSpPr>
          <a:xfrm>
            <a:off x="643673" y="1714605"/>
            <a:ext cx="9710831" cy="1905000"/>
            <a:chOff x="643673" y="1714605"/>
            <a:chExt cx="9710831" cy="1905000"/>
          </a:xfrm>
        </p:grpSpPr>
        <p:grpSp>
          <p:nvGrpSpPr>
            <p:cNvPr id="910" name="Group 237">
              <a:extLst>
                <a:ext uri="{FF2B5EF4-FFF2-40B4-BE49-F238E27FC236}">
                  <a16:creationId xmlns:a16="http://schemas.microsoft.com/office/drawing/2014/main" id="{EC72FC62-B230-A94B-A95E-6B7E5B9B9AA4}"/>
                </a:ext>
              </a:extLst>
            </p:cNvPr>
            <p:cNvGrpSpPr>
              <a:grpSpLocks/>
            </p:cNvGrpSpPr>
            <p:nvPr/>
          </p:nvGrpSpPr>
          <p:grpSpPr bwMode="auto">
            <a:xfrm>
              <a:off x="7750739" y="2720058"/>
              <a:ext cx="195221" cy="142875"/>
              <a:chOff x="174" y="3986"/>
              <a:chExt cx="51" cy="62"/>
            </a:xfrm>
          </p:grpSpPr>
          <p:sp>
            <p:nvSpPr>
              <p:cNvPr id="911" name="Freeform 238">
                <a:extLst>
                  <a:ext uri="{FF2B5EF4-FFF2-40B4-BE49-F238E27FC236}">
                    <a16:creationId xmlns:a16="http://schemas.microsoft.com/office/drawing/2014/main" id="{8675489A-2D10-4445-84BB-BCD7F29CF98A}"/>
                  </a:ext>
                </a:extLst>
              </p:cNvPr>
              <p:cNvSpPr>
                <a:spLocks/>
              </p:cNvSpPr>
              <p:nvPr/>
            </p:nvSpPr>
            <p:spPr bwMode="auto">
              <a:xfrm>
                <a:off x="176" y="3986"/>
                <a:ext cx="49" cy="48"/>
              </a:xfrm>
              <a:custGeom>
                <a:avLst/>
                <a:gdLst>
                  <a:gd name="T0" fmla="*/ 0 w 49"/>
                  <a:gd name="T1" fmla="*/ 0 h 62"/>
                  <a:gd name="T2" fmla="*/ 49 w 49"/>
                  <a:gd name="T3" fmla="*/ 2 h 62"/>
                  <a:gd name="T4" fmla="*/ 4 w 49"/>
                  <a:gd name="T5" fmla="*/ 5 h 62"/>
                  <a:gd name="T6" fmla="*/ 0 60000 65536"/>
                  <a:gd name="T7" fmla="*/ 0 60000 65536"/>
                  <a:gd name="T8" fmla="*/ 0 60000 65536"/>
                </a:gdLst>
                <a:ahLst/>
                <a:cxnLst>
                  <a:cxn ang="T6">
                    <a:pos x="T0" y="T1"/>
                  </a:cxn>
                  <a:cxn ang="T7">
                    <a:pos x="T2" y="T3"/>
                  </a:cxn>
                  <a:cxn ang="T8">
                    <a:pos x="T4" y="T5"/>
                  </a:cxn>
                </a:cxnLst>
                <a:rect l="0" t="0" r="r" b="b"/>
                <a:pathLst>
                  <a:path w="49" h="62">
                    <a:moveTo>
                      <a:pt x="0" y="0"/>
                    </a:moveTo>
                    <a:lnTo>
                      <a:pt x="49" y="32"/>
                    </a:lnTo>
                    <a:lnTo>
                      <a:pt x="4" y="62"/>
                    </a:lnTo>
                  </a:path>
                </a:pathLst>
              </a:custGeom>
              <a:solidFill>
                <a:schemeClr val="bg1"/>
              </a:solidFill>
              <a:ln w="222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2" name="Line 239">
                <a:extLst>
                  <a:ext uri="{FF2B5EF4-FFF2-40B4-BE49-F238E27FC236}">
                    <a16:creationId xmlns:a16="http://schemas.microsoft.com/office/drawing/2014/main" id="{6EE2EE7A-D9AA-9444-A38F-5ADDE6E80F73}"/>
                  </a:ext>
                </a:extLst>
              </p:cNvPr>
              <p:cNvSpPr>
                <a:spLocks noChangeShapeType="1"/>
              </p:cNvSpPr>
              <p:nvPr/>
            </p:nvSpPr>
            <p:spPr bwMode="auto">
              <a:xfrm>
                <a:off x="174" y="4048"/>
                <a:ext cx="46" cy="0"/>
              </a:xfrm>
              <a:prstGeom prst="line">
                <a:avLst/>
              </a:prstGeom>
              <a:noFill/>
              <a:ln w="222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460" name="Rectangle 2">
              <a:extLst>
                <a:ext uri="{FF2B5EF4-FFF2-40B4-BE49-F238E27FC236}">
                  <a16:creationId xmlns:a16="http://schemas.microsoft.com/office/drawing/2014/main" id="{03320F89-A084-7B49-8A13-3CBCE2696C5C}"/>
                </a:ext>
              </a:extLst>
            </p:cNvPr>
            <p:cNvSpPr txBox="1">
              <a:spLocks noChangeArrowheads="1"/>
            </p:cNvSpPr>
            <p:nvPr/>
          </p:nvSpPr>
          <p:spPr>
            <a:xfrm>
              <a:off x="643673" y="1714605"/>
              <a:ext cx="9710831"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sender retransmits lost, timed-out packet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application-layer input = application-layer output:</a:t>
              </a:r>
              <a:r>
                <a:rPr kumimoji="0" lang="en-US" sz="2400" b="0" i="0" u="none" strike="noStrike" kern="1200" cap="none" spc="0" normalizeH="0" baseline="0" noProof="0" dirty="0">
                  <a:ln>
                    <a:noFill/>
                  </a:ln>
                  <a:solidFill>
                    <a:prstClr val="black"/>
                  </a:solidFill>
                  <a:effectLst/>
                  <a:uLnTx/>
                  <a:uFillTx/>
                  <a:latin typeface="Symbol" charset="0"/>
                  <a:ea typeface="+mn-ea"/>
                  <a:cs typeface="+mn-cs"/>
                </a:rPr>
                <a:t> l</a:t>
              </a:r>
              <a:r>
                <a:rPr kumimoji="0" lang="en-US" sz="2400" b="0" i="0" u="none" strike="noStrike" kern="1200" cap="none" spc="0" normalizeH="0" baseline="-25000" noProof="0" dirty="0">
                  <a:ln>
                    <a:noFill/>
                  </a:ln>
                  <a:solidFill>
                    <a:prstClr val="black"/>
                  </a:solidFill>
                  <a:effectLst/>
                  <a:uLnTx/>
                  <a:uFillTx/>
                  <a:latin typeface="Arial" charset="0"/>
                  <a:ea typeface="+mn-ea"/>
                  <a:cs typeface="+mn-cs"/>
                </a:rPr>
                <a:t>in </a:t>
              </a:r>
              <a:r>
                <a:rPr kumimoji="0" lang="en-US" sz="2400" b="0" i="0" u="none" strike="noStrike" kern="1200" cap="none" spc="0" normalizeH="0" baseline="0" noProof="0" dirty="0">
                  <a:ln>
                    <a:noFill/>
                  </a:ln>
                  <a:solidFill>
                    <a:prstClr val="black"/>
                  </a:solidFill>
                  <a:effectLst/>
                  <a:uLnTx/>
                  <a:uFillTx/>
                  <a:latin typeface="Arial" charset="0"/>
                  <a:ea typeface="+mn-ea"/>
                  <a:cs typeface="+mn-cs"/>
                </a:rPr>
                <a:t>= </a:t>
              </a:r>
              <a:r>
                <a:rPr kumimoji="0" lang="en-US" sz="2400" b="0" i="0" u="none" strike="noStrike" kern="1200" cap="none" spc="0" normalizeH="0" baseline="0" noProof="0" dirty="0">
                  <a:ln>
                    <a:noFill/>
                  </a:ln>
                  <a:solidFill>
                    <a:prstClr val="black"/>
                  </a:solidFill>
                  <a:effectLst/>
                  <a:uLnTx/>
                  <a:uFillTx/>
                  <a:latin typeface="Symbol" charset="0"/>
                  <a:ea typeface="+mn-ea"/>
                  <a:cs typeface="+mn-cs"/>
                </a:rPr>
                <a:t>l</a:t>
              </a:r>
              <a:r>
                <a:rPr kumimoji="0" lang="en-US" sz="2400" b="0" i="0" u="none" strike="noStrike" kern="1200" cap="none" spc="0" normalizeH="0" baseline="-25000" noProof="0" dirty="0">
                  <a:ln>
                    <a:noFill/>
                  </a:ln>
                  <a:solidFill>
                    <a:prstClr val="black"/>
                  </a:solidFill>
                  <a:effectLst/>
                  <a:uLnTx/>
                  <a:uFillTx/>
                  <a:latin typeface="Arial" charset="0"/>
                  <a:ea typeface="+mn-ea"/>
                  <a:cs typeface="+mn-cs"/>
                </a:rPr>
                <a:t>out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transport-layer input includes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retransmissions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0" noProof="0" dirty="0">
                  <a:ln>
                    <a:noFill/>
                  </a:ln>
                  <a:solidFill>
                    <a:prstClr val="black"/>
                  </a:solidFill>
                  <a:effectLst/>
                  <a:uLnTx/>
                  <a:uFillTx/>
                  <a:latin typeface="Symbol" charset="0"/>
                  <a:ea typeface="+mn-ea"/>
                  <a:cs typeface="+mn-cs"/>
                </a:rPr>
                <a:t> l</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400" b="0" i="0" u="none" strike="noStrike" kern="1200" cap="none" spc="0" normalizeH="0" baseline="-25000" noProof="0" dirty="0">
                  <a:ln>
                    <a:noFill/>
                  </a:ln>
                  <a:solidFill>
                    <a:prstClr val="black"/>
                  </a:solidFill>
                  <a:effectLst/>
                  <a:uLnTx/>
                  <a:uFillTx/>
                  <a:latin typeface="Arial" charset="0"/>
                  <a:ea typeface="+mn-ea"/>
                  <a:cs typeface="+mn-cs"/>
                </a:rPr>
                <a:t>in </a:t>
              </a:r>
              <a:r>
                <a:rPr kumimoji="0" lang="en-US" sz="2400" b="0" i="0" u="none" strike="noStrike" kern="1200" cap="none" spc="0" normalizeH="0" baseline="0" noProof="0" dirty="0">
                  <a:ln>
                    <a:noFill/>
                  </a:ln>
                  <a:solidFill>
                    <a:prstClr val="black"/>
                  </a:solidFill>
                  <a:effectLst/>
                  <a:uLnTx/>
                  <a:uFillTx/>
                  <a:latin typeface="Arial" charset="0"/>
                  <a:ea typeface="+mn-ea"/>
                  <a:cs typeface="+mn-cs"/>
                </a:rPr>
                <a:t>   </a:t>
              </a:r>
              <a:r>
                <a:rPr kumimoji="0" lang="en-US" sz="2400" b="0" i="0" u="none" strike="noStrike" kern="1200" cap="none" spc="0" normalizeH="0" baseline="0" noProof="0" dirty="0">
                  <a:ln>
                    <a:noFill/>
                  </a:ln>
                  <a:solidFill>
                    <a:prstClr val="black"/>
                  </a:solidFill>
                  <a:effectLst/>
                  <a:uLnTx/>
                  <a:uFillTx/>
                  <a:latin typeface="Symbol" charset="0"/>
                  <a:ea typeface="+mn-ea"/>
                  <a:cs typeface="+mn-cs"/>
                </a:rPr>
                <a:t>l</a:t>
              </a:r>
              <a:r>
                <a:rPr kumimoji="0" lang="en-US" sz="2400" b="0" i="0" u="none" strike="noStrike" kern="1200" cap="none" spc="0" normalizeH="0" baseline="-25000" noProof="0" dirty="0">
                  <a:ln>
                    <a:noFill/>
                  </a:ln>
                  <a:solidFill>
                    <a:prstClr val="black"/>
                  </a:solidFill>
                  <a:effectLst/>
                  <a:uLnTx/>
                  <a:uFillTx/>
                  <a:latin typeface="Arial" charset="0"/>
                  <a:ea typeface="+mn-ea"/>
                  <a:cs typeface="+mn-cs"/>
                </a:rPr>
                <a:t>in</a:t>
              </a:r>
              <a:endPar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7" name="Group 6">
            <a:extLst>
              <a:ext uri="{FF2B5EF4-FFF2-40B4-BE49-F238E27FC236}">
                <a16:creationId xmlns:a16="http://schemas.microsoft.com/office/drawing/2014/main" id="{3C232186-DB8B-EE41-ABB8-8C4434E748DD}"/>
              </a:ext>
            </a:extLst>
          </p:cNvPr>
          <p:cNvGrpSpPr/>
          <p:nvPr/>
        </p:nvGrpSpPr>
        <p:grpSpPr>
          <a:xfrm>
            <a:off x="7116763" y="3629025"/>
            <a:ext cx="1057275" cy="473075"/>
            <a:chOff x="7116763" y="3629025"/>
            <a:chExt cx="1057275" cy="473075"/>
          </a:xfrm>
        </p:grpSpPr>
        <p:sp>
          <p:nvSpPr>
            <p:cNvPr id="461" name="Text Box 219">
              <a:extLst>
                <a:ext uri="{FF2B5EF4-FFF2-40B4-BE49-F238E27FC236}">
                  <a16:creationId xmlns:a16="http://schemas.microsoft.com/office/drawing/2014/main" id="{C648AB54-6598-DE46-92A6-D245E6D0B322}"/>
                </a:ext>
              </a:extLst>
            </p:cNvPr>
            <p:cNvSpPr txBox="1">
              <a:spLocks noChangeArrowheads="1"/>
            </p:cNvSpPr>
            <p:nvPr/>
          </p:nvSpPr>
          <p:spPr bwMode="auto">
            <a:xfrm>
              <a:off x="7583488" y="3629025"/>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out</a:t>
              </a:r>
              <a:endParaRPr kumimoji="0" lang="en-US" altLang="en-US" sz="2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462" name="Line 236">
              <a:extLst>
                <a:ext uri="{FF2B5EF4-FFF2-40B4-BE49-F238E27FC236}">
                  <a16:creationId xmlns:a16="http://schemas.microsoft.com/office/drawing/2014/main" id="{1870B461-7B79-EB4C-840A-4B5BE77A4D98}"/>
                </a:ext>
              </a:extLst>
            </p:cNvPr>
            <p:cNvSpPr>
              <a:spLocks noChangeShapeType="1"/>
            </p:cNvSpPr>
            <p:nvPr/>
          </p:nvSpPr>
          <p:spPr bwMode="auto">
            <a:xfrm>
              <a:off x="7116763" y="3835400"/>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5" name="Group 4">
            <a:extLst>
              <a:ext uri="{FF2B5EF4-FFF2-40B4-BE49-F238E27FC236}">
                <a16:creationId xmlns:a16="http://schemas.microsoft.com/office/drawing/2014/main" id="{65560666-FC53-B945-9620-BB2E2AE986CF}"/>
              </a:ext>
            </a:extLst>
          </p:cNvPr>
          <p:cNvGrpSpPr/>
          <p:nvPr/>
        </p:nvGrpSpPr>
        <p:grpSpPr>
          <a:xfrm>
            <a:off x="3289650" y="5336775"/>
            <a:ext cx="2124396" cy="604097"/>
            <a:chOff x="3289650" y="5336775"/>
            <a:chExt cx="2124396" cy="604097"/>
          </a:xfrm>
        </p:grpSpPr>
        <p:sp>
          <p:nvSpPr>
            <p:cNvPr id="181" name="TextBox 180">
              <a:extLst>
                <a:ext uri="{FF2B5EF4-FFF2-40B4-BE49-F238E27FC236}">
                  <a16:creationId xmlns:a16="http://schemas.microsoft.com/office/drawing/2014/main" id="{8372AD6F-EEFC-914F-BE23-DE28BE98C152}"/>
                </a:ext>
              </a:extLst>
            </p:cNvPr>
            <p:cNvSpPr txBox="1"/>
            <p:nvPr/>
          </p:nvSpPr>
          <p:spPr>
            <a:xfrm>
              <a:off x="4982445" y="5336775"/>
              <a:ext cx="431601" cy="60409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sp>
          <p:nvSpPr>
            <p:cNvPr id="463" name="TextBox 462">
              <a:extLst>
                <a:ext uri="{FF2B5EF4-FFF2-40B4-BE49-F238E27FC236}">
                  <a16:creationId xmlns:a16="http://schemas.microsoft.com/office/drawing/2014/main" id="{AECD2E0A-D6E2-2842-934A-3F651325C0C8}"/>
                </a:ext>
              </a:extLst>
            </p:cNvPr>
            <p:cNvSpPr txBox="1"/>
            <p:nvPr/>
          </p:nvSpPr>
          <p:spPr>
            <a:xfrm>
              <a:off x="3289650" y="5351752"/>
              <a:ext cx="351378"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grpSp>
      <p:sp>
        <p:nvSpPr>
          <p:cNvPr id="168" name="Slide Number Placeholder 2">
            <a:extLst>
              <a:ext uri="{FF2B5EF4-FFF2-40B4-BE49-F238E27FC236}">
                <a16:creationId xmlns:a16="http://schemas.microsoft.com/office/drawing/2014/main" id="{EDF89B14-4877-B447-9EAB-EAB6735B3B5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38</a:t>
            </a:fld>
            <a:endParaRPr lang="en-US" dirty="0"/>
          </a:p>
        </p:txBody>
      </p:sp>
    </p:spTree>
    <p:extLst>
      <p:ext uri="{BB962C8B-B14F-4D97-AF65-F5344CB8AC3E}">
        <p14:creationId xmlns:p14="http://schemas.microsoft.com/office/powerpoint/2010/main" val="344901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Freeform 3">
            <a:extLst>
              <a:ext uri="{FF2B5EF4-FFF2-40B4-BE49-F238E27FC236}">
                <a16:creationId xmlns:a16="http://schemas.microsoft.com/office/drawing/2014/main" id="{94850343-F164-9342-8172-492C44663F13}"/>
              </a:ext>
            </a:extLst>
          </p:cNvPr>
          <p:cNvSpPr>
            <a:spLocks/>
          </p:cNvSpPr>
          <p:nvPr/>
        </p:nvSpPr>
        <p:spPr bwMode="auto">
          <a:xfrm>
            <a:off x="6946976" y="5009814"/>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69" name="Group 468">
            <a:extLst>
              <a:ext uri="{FF2B5EF4-FFF2-40B4-BE49-F238E27FC236}">
                <a16:creationId xmlns:a16="http://schemas.microsoft.com/office/drawing/2014/main" id="{D7909E55-4569-0948-961D-43068CFC7348}"/>
              </a:ext>
            </a:extLst>
          </p:cNvPr>
          <p:cNvGrpSpPr/>
          <p:nvPr/>
        </p:nvGrpSpPr>
        <p:grpSpPr>
          <a:xfrm>
            <a:off x="6240513" y="5016599"/>
            <a:ext cx="720732" cy="1182930"/>
            <a:chOff x="10910965" y="2513124"/>
            <a:chExt cx="586768" cy="904023"/>
          </a:xfrm>
        </p:grpSpPr>
        <p:sp>
          <p:nvSpPr>
            <p:cNvPr id="470" name="Rectangle 469">
              <a:extLst>
                <a:ext uri="{FF2B5EF4-FFF2-40B4-BE49-F238E27FC236}">
                  <a16:creationId xmlns:a16="http://schemas.microsoft.com/office/drawing/2014/main" id="{78B11350-9794-2342-B562-D5B69F60AC8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71" name="Straight Connector 470">
              <a:extLst>
                <a:ext uri="{FF2B5EF4-FFF2-40B4-BE49-F238E27FC236}">
                  <a16:creationId xmlns:a16="http://schemas.microsoft.com/office/drawing/2014/main" id="{A2D0AADF-2038-FE4A-BA0E-1A216AAE2643}"/>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8A6F32B7-0022-B245-AE89-E8233E5F30D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F3C70DC5-A1ED-2147-9421-DD1A82216451}"/>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DCBAE229-1066-ED4A-BFB7-7DDF8153B5E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5" name="Freeform 9">
            <a:extLst>
              <a:ext uri="{FF2B5EF4-FFF2-40B4-BE49-F238E27FC236}">
                <a16:creationId xmlns:a16="http://schemas.microsoft.com/office/drawing/2014/main" id="{6FAE0227-588C-3740-BD2A-167D60FE1374}"/>
              </a:ext>
            </a:extLst>
          </p:cNvPr>
          <p:cNvSpPr>
            <a:spLocks/>
          </p:cNvSpPr>
          <p:nvPr/>
        </p:nvSpPr>
        <p:spPr bwMode="auto">
          <a:xfrm flipH="1">
            <a:off x="1844721" y="3515638"/>
            <a:ext cx="528348" cy="117827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6" name="Group 165">
            <a:extLst>
              <a:ext uri="{FF2B5EF4-FFF2-40B4-BE49-F238E27FC236}">
                <a16:creationId xmlns:a16="http://schemas.microsoft.com/office/drawing/2014/main" id="{27FD24CC-8B00-1249-B3EA-B48ED9BD0C16}"/>
              </a:ext>
            </a:extLst>
          </p:cNvPr>
          <p:cNvGrpSpPr/>
          <p:nvPr/>
        </p:nvGrpSpPr>
        <p:grpSpPr>
          <a:xfrm>
            <a:off x="1278678" y="4683698"/>
            <a:ext cx="720732" cy="1182930"/>
            <a:chOff x="10910965" y="2513124"/>
            <a:chExt cx="586768" cy="904023"/>
          </a:xfrm>
        </p:grpSpPr>
        <p:sp>
          <p:nvSpPr>
            <p:cNvPr id="458" name="Rectangle 457">
              <a:extLst>
                <a:ext uri="{FF2B5EF4-FFF2-40B4-BE49-F238E27FC236}">
                  <a16:creationId xmlns:a16="http://schemas.microsoft.com/office/drawing/2014/main" id="{90C923E9-F601-6A4C-8C38-FACF63AC4DA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59" name="Straight Connector 458">
              <a:extLst>
                <a:ext uri="{FF2B5EF4-FFF2-40B4-BE49-F238E27FC236}">
                  <a16:creationId xmlns:a16="http://schemas.microsoft.com/office/drawing/2014/main" id="{3B5A7695-AD4A-514E-8995-83287D6880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E21D7D74-8D80-2446-BB07-DFA009FB035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863D0752-8B82-6B47-8C73-82CD069862DA}"/>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14D54E01-67AD-BD41-8FC0-3607A456773F}"/>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166">
            <a:extLst>
              <a:ext uri="{FF2B5EF4-FFF2-40B4-BE49-F238E27FC236}">
                <a16:creationId xmlns:a16="http://schemas.microsoft.com/office/drawing/2014/main" id="{BFD7089E-96E8-4D43-B449-4D5C177E9983}"/>
              </a:ext>
            </a:extLst>
          </p:cNvPr>
          <p:cNvGrpSpPr/>
          <p:nvPr/>
        </p:nvGrpSpPr>
        <p:grpSpPr>
          <a:xfrm>
            <a:off x="2355044" y="3521091"/>
            <a:ext cx="720732" cy="1182930"/>
            <a:chOff x="10910965" y="2513124"/>
            <a:chExt cx="586768" cy="904023"/>
          </a:xfrm>
        </p:grpSpPr>
        <p:sp>
          <p:nvSpPr>
            <p:cNvPr id="453" name="Rectangle 452">
              <a:extLst>
                <a:ext uri="{FF2B5EF4-FFF2-40B4-BE49-F238E27FC236}">
                  <a16:creationId xmlns:a16="http://schemas.microsoft.com/office/drawing/2014/main" id="{2B9795D8-DE72-0E4D-B8D0-8A4FE22C6F3F}"/>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54" name="Straight Connector 453">
              <a:extLst>
                <a:ext uri="{FF2B5EF4-FFF2-40B4-BE49-F238E27FC236}">
                  <a16:creationId xmlns:a16="http://schemas.microsoft.com/office/drawing/2014/main" id="{8DBB6C8D-4747-6047-8A27-F09F6A2E11DF}"/>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id="{F78138AC-BB02-AA47-B525-8C0F524F4082}"/>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id="{5263C1CB-C86A-1A4C-904B-C8D95F0C23F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id="{2EBC4991-6315-5645-9FFE-52CAD0CCC2F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8" name="Freeform 6">
            <a:extLst>
              <a:ext uri="{FF2B5EF4-FFF2-40B4-BE49-F238E27FC236}">
                <a16:creationId xmlns:a16="http://schemas.microsoft.com/office/drawing/2014/main" id="{3F104274-9FA2-EA4D-8A30-E52A462F2052}"/>
              </a:ext>
            </a:extLst>
          </p:cNvPr>
          <p:cNvSpPr>
            <a:spLocks/>
          </p:cNvSpPr>
          <p:nvPr/>
        </p:nvSpPr>
        <p:spPr bwMode="auto">
          <a:xfrm>
            <a:off x="7409112" y="3699469"/>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9" name="Group 168">
            <a:extLst>
              <a:ext uri="{FF2B5EF4-FFF2-40B4-BE49-F238E27FC236}">
                <a16:creationId xmlns:a16="http://schemas.microsoft.com/office/drawing/2014/main" id="{0C5836F1-F171-8247-9890-0337498997A7}"/>
              </a:ext>
            </a:extLst>
          </p:cNvPr>
          <p:cNvGrpSpPr/>
          <p:nvPr/>
        </p:nvGrpSpPr>
        <p:grpSpPr>
          <a:xfrm>
            <a:off x="6698918" y="3667889"/>
            <a:ext cx="720732" cy="1182930"/>
            <a:chOff x="10910965" y="2513124"/>
            <a:chExt cx="586768" cy="904023"/>
          </a:xfrm>
        </p:grpSpPr>
        <p:sp>
          <p:nvSpPr>
            <p:cNvPr id="448" name="Rectangle 447">
              <a:extLst>
                <a:ext uri="{FF2B5EF4-FFF2-40B4-BE49-F238E27FC236}">
                  <a16:creationId xmlns:a16="http://schemas.microsoft.com/office/drawing/2014/main" id="{C659B83A-9A86-D445-A5DC-64CCDEE48D8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49" name="Straight Connector 448">
              <a:extLst>
                <a:ext uri="{FF2B5EF4-FFF2-40B4-BE49-F238E27FC236}">
                  <a16:creationId xmlns:a16="http://schemas.microsoft.com/office/drawing/2014/main" id="{6EBE406A-A87A-9E4C-85A9-355AAF8EA23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957A93EE-01C8-704A-ACA5-9A2DD1B94367}"/>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39523A07-6615-7940-9047-7059C0F0677B}"/>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6A1A35B4-82C9-A345-8F03-D2DFA4D94CF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id="{44E2CB90-F397-AB48-B9D9-5B9B57BE257D}"/>
              </a:ext>
            </a:extLst>
          </p:cNvPr>
          <p:cNvGrpSpPr/>
          <p:nvPr/>
        </p:nvGrpSpPr>
        <p:grpSpPr>
          <a:xfrm>
            <a:off x="3770696" y="5033645"/>
            <a:ext cx="1286871" cy="734927"/>
            <a:chOff x="7493876" y="2774731"/>
            <a:chExt cx="1481958" cy="894622"/>
          </a:xfrm>
        </p:grpSpPr>
        <p:sp>
          <p:nvSpPr>
            <p:cNvPr id="441" name="Freeform 440">
              <a:extLst>
                <a:ext uri="{FF2B5EF4-FFF2-40B4-BE49-F238E27FC236}">
                  <a16:creationId xmlns:a16="http://schemas.microsoft.com/office/drawing/2014/main" id="{75657808-7F9A-4548-9BE7-735D4EF9B5E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42" name="Oval 441">
              <a:extLst>
                <a:ext uri="{FF2B5EF4-FFF2-40B4-BE49-F238E27FC236}">
                  <a16:creationId xmlns:a16="http://schemas.microsoft.com/office/drawing/2014/main" id="{D4514D5D-3874-B943-8C94-3144D5AD3E8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3" name="Group 442">
              <a:extLst>
                <a:ext uri="{FF2B5EF4-FFF2-40B4-BE49-F238E27FC236}">
                  <a16:creationId xmlns:a16="http://schemas.microsoft.com/office/drawing/2014/main" id="{54922FA6-F0ED-144C-A4FA-75A78D9FC6B7}"/>
                </a:ext>
              </a:extLst>
            </p:cNvPr>
            <p:cNvGrpSpPr/>
            <p:nvPr/>
          </p:nvGrpSpPr>
          <p:grpSpPr>
            <a:xfrm>
              <a:off x="7713663" y="2848339"/>
              <a:ext cx="1042107" cy="425543"/>
              <a:chOff x="7786941" y="2884917"/>
              <a:chExt cx="897649" cy="353919"/>
            </a:xfrm>
          </p:grpSpPr>
          <p:sp>
            <p:nvSpPr>
              <p:cNvPr id="444" name="Freeform 443">
                <a:extLst>
                  <a:ext uri="{FF2B5EF4-FFF2-40B4-BE49-F238E27FC236}">
                    <a16:creationId xmlns:a16="http://schemas.microsoft.com/office/drawing/2014/main" id="{707D05DA-BBC6-CB49-A557-5ADC3226F9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5" name="Freeform 444">
                <a:extLst>
                  <a:ext uri="{FF2B5EF4-FFF2-40B4-BE49-F238E27FC236}">
                    <a16:creationId xmlns:a16="http://schemas.microsoft.com/office/drawing/2014/main" id="{4C02C300-6C33-5F4F-839D-3428AD261D5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6" name="Freeform 445">
                <a:extLst>
                  <a:ext uri="{FF2B5EF4-FFF2-40B4-BE49-F238E27FC236}">
                    <a16:creationId xmlns:a16="http://schemas.microsoft.com/office/drawing/2014/main" id="{BC516460-C1B4-3B4A-8BA7-BE2B0D6B211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7" name="Freeform 446">
                <a:extLst>
                  <a:ext uri="{FF2B5EF4-FFF2-40B4-BE49-F238E27FC236}">
                    <a16:creationId xmlns:a16="http://schemas.microsoft.com/office/drawing/2014/main" id="{26184741-429A-0845-8EDF-E02659947DD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1" name="Group 124">
            <a:extLst>
              <a:ext uri="{FF2B5EF4-FFF2-40B4-BE49-F238E27FC236}">
                <a16:creationId xmlns:a16="http://schemas.microsoft.com/office/drawing/2014/main" id="{928D5C6C-2458-A340-B436-05E659095139}"/>
              </a:ext>
            </a:extLst>
          </p:cNvPr>
          <p:cNvGrpSpPr>
            <a:grpSpLocks/>
          </p:cNvGrpSpPr>
          <p:nvPr/>
        </p:nvGrpSpPr>
        <p:grpSpPr bwMode="auto">
          <a:xfrm>
            <a:off x="1317421" y="3877120"/>
            <a:ext cx="645431" cy="569172"/>
            <a:chOff x="-44" y="1473"/>
            <a:chExt cx="981" cy="1105"/>
          </a:xfrm>
        </p:grpSpPr>
        <p:pic>
          <p:nvPicPr>
            <p:cNvPr id="439" name="Picture 125" descr="desktop_computer_stylized_medium">
              <a:extLst>
                <a:ext uri="{FF2B5EF4-FFF2-40B4-BE49-F238E27FC236}">
                  <a16:creationId xmlns:a16="http://schemas.microsoft.com/office/drawing/2014/main" id="{0FD471B6-3E5D-2949-BD49-9611B77F5E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 name="Freeform 126">
              <a:extLst>
                <a:ext uri="{FF2B5EF4-FFF2-40B4-BE49-F238E27FC236}">
                  <a16:creationId xmlns:a16="http://schemas.microsoft.com/office/drawing/2014/main" id="{DC143BE7-08FC-9746-BAC8-890A432870EB}"/>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3" name="Freeform 12">
            <a:extLst>
              <a:ext uri="{FF2B5EF4-FFF2-40B4-BE49-F238E27FC236}">
                <a16:creationId xmlns:a16="http://schemas.microsoft.com/office/drawing/2014/main" id="{3498F994-5BD8-E74A-A219-152CBAE8AB41}"/>
              </a:ext>
            </a:extLst>
          </p:cNvPr>
          <p:cNvSpPr>
            <a:spLocks/>
          </p:cNvSpPr>
          <p:nvPr/>
        </p:nvSpPr>
        <p:spPr bwMode="auto">
          <a:xfrm flipH="1">
            <a:off x="978210" y="4681606"/>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4" name="Line 33">
            <a:extLst>
              <a:ext uri="{FF2B5EF4-FFF2-40B4-BE49-F238E27FC236}">
                <a16:creationId xmlns:a16="http://schemas.microsoft.com/office/drawing/2014/main" id="{4EAD0965-6EDE-3044-BDA1-47195A36E4BA}"/>
              </a:ext>
            </a:extLst>
          </p:cNvPr>
          <p:cNvSpPr>
            <a:spLocks noChangeShapeType="1"/>
          </p:cNvSpPr>
          <p:nvPr/>
        </p:nvSpPr>
        <p:spPr bwMode="auto">
          <a:xfrm flipH="1">
            <a:off x="2405566"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5" name="Text Box 42">
            <a:extLst>
              <a:ext uri="{FF2B5EF4-FFF2-40B4-BE49-F238E27FC236}">
                <a16:creationId xmlns:a16="http://schemas.microsoft.com/office/drawing/2014/main" id="{A72787AC-48CD-E748-AFE1-B2DF4BC2F136}"/>
              </a:ext>
            </a:extLst>
          </p:cNvPr>
          <p:cNvSpPr txBox="1">
            <a:spLocks noChangeArrowheads="1"/>
          </p:cNvSpPr>
          <p:nvPr/>
        </p:nvSpPr>
        <p:spPr bwMode="auto">
          <a:xfrm>
            <a:off x="1088616" y="3529817"/>
            <a:ext cx="1122503"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176" name="Text Box 52">
            <a:extLst>
              <a:ext uri="{FF2B5EF4-FFF2-40B4-BE49-F238E27FC236}">
                <a16:creationId xmlns:a16="http://schemas.microsoft.com/office/drawing/2014/main" id="{A95B344E-5BB8-1A4C-96D5-1A5CCC9D80C7}"/>
              </a:ext>
            </a:extLst>
          </p:cNvPr>
          <p:cNvSpPr txBox="1">
            <a:spLocks noChangeArrowheads="1"/>
          </p:cNvSpPr>
          <p:nvPr/>
        </p:nvSpPr>
        <p:spPr bwMode="auto">
          <a:xfrm>
            <a:off x="1083435" y="6053488"/>
            <a:ext cx="981577"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218" name="Line 53">
            <a:extLst>
              <a:ext uri="{FF2B5EF4-FFF2-40B4-BE49-F238E27FC236}">
                <a16:creationId xmlns:a16="http://schemas.microsoft.com/office/drawing/2014/main" id="{36BC3461-D266-FC4F-AC75-DCAB735675AE}"/>
              </a:ext>
            </a:extLst>
          </p:cNvPr>
          <p:cNvSpPr>
            <a:spLocks noChangeShapeType="1"/>
          </p:cNvSpPr>
          <p:nvPr/>
        </p:nvSpPr>
        <p:spPr bwMode="auto">
          <a:xfrm flipH="1">
            <a:off x="3002248"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2" name="Line 54">
            <a:extLst>
              <a:ext uri="{FF2B5EF4-FFF2-40B4-BE49-F238E27FC236}">
                <a16:creationId xmlns:a16="http://schemas.microsoft.com/office/drawing/2014/main" id="{0FD51E39-54E3-FC4B-8438-1DA851F5A221}"/>
              </a:ext>
            </a:extLst>
          </p:cNvPr>
          <p:cNvSpPr>
            <a:spLocks noChangeShapeType="1"/>
          </p:cNvSpPr>
          <p:nvPr/>
        </p:nvSpPr>
        <p:spPr bwMode="auto">
          <a:xfrm flipH="1">
            <a:off x="4991187"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3" name="Line 55">
            <a:extLst>
              <a:ext uri="{FF2B5EF4-FFF2-40B4-BE49-F238E27FC236}">
                <a16:creationId xmlns:a16="http://schemas.microsoft.com/office/drawing/2014/main" id="{C7D9A69E-6BD1-3F4C-A4E5-506632A2540D}"/>
              </a:ext>
            </a:extLst>
          </p:cNvPr>
          <p:cNvSpPr>
            <a:spLocks noChangeShapeType="1"/>
          </p:cNvSpPr>
          <p:nvPr/>
        </p:nvSpPr>
        <p:spPr bwMode="auto">
          <a:xfrm flipH="1">
            <a:off x="5143282"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4" name="Line 57">
            <a:extLst>
              <a:ext uri="{FF2B5EF4-FFF2-40B4-BE49-F238E27FC236}">
                <a16:creationId xmlns:a16="http://schemas.microsoft.com/office/drawing/2014/main" id="{6191562F-E046-7846-9AFD-82F26FA47437}"/>
              </a:ext>
            </a:extLst>
          </p:cNvPr>
          <p:cNvSpPr>
            <a:spLocks noChangeShapeType="1"/>
          </p:cNvSpPr>
          <p:nvPr/>
        </p:nvSpPr>
        <p:spPr bwMode="auto">
          <a:xfrm flipH="1">
            <a:off x="6275655" y="4856289"/>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36" name="Group 127">
            <a:extLst>
              <a:ext uri="{FF2B5EF4-FFF2-40B4-BE49-F238E27FC236}">
                <a16:creationId xmlns:a16="http://schemas.microsoft.com/office/drawing/2014/main" id="{976B064D-F0CE-FD45-997B-82999C62D57F}"/>
              </a:ext>
            </a:extLst>
          </p:cNvPr>
          <p:cNvGrpSpPr>
            <a:grpSpLocks/>
          </p:cNvGrpSpPr>
          <p:nvPr/>
        </p:nvGrpSpPr>
        <p:grpSpPr bwMode="auto">
          <a:xfrm>
            <a:off x="7531958" y="4473878"/>
            <a:ext cx="284691" cy="577481"/>
            <a:chOff x="4140" y="429"/>
            <a:chExt cx="1425" cy="2396"/>
          </a:xfrm>
        </p:grpSpPr>
        <p:sp>
          <p:nvSpPr>
            <p:cNvPr id="401" name="Freeform 128">
              <a:extLst>
                <a:ext uri="{FF2B5EF4-FFF2-40B4-BE49-F238E27FC236}">
                  <a16:creationId xmlns:a16="http://schemas.microsoft.com/office/drawing/2014/main" id="{CDE4EA92-43F5-C648-9A6C-E9056B53081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02" name="Rectangle 129">
              <a:extLst>
                <a:ext uri="{FF2B5EF4-FFF2-40B4-BE49-F238E27FC236}">
                  <a16:creationId xmlns:a16="http://schemas.microsoft.com/office/drawing/2014/main" id="{AA5B00D6-3312-7844-B058-10026A6BD6D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3" name="Freeform 130">
              <a:extLst>
                <a:ext uri="{FF2B5EF4-FFF2-40B4-BE49-F238E27FC236}">
                  <a16:creationId xmlns:a16="http://schemas.microsoft.com/office/drawing/2014/main" id="{027D1F88-5C4B-6F4F-B91D-DE0B9249D24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04" name="Freeform 131">
              <a:extLst>
                <a:ext uri="{FF2B5EF4-FFF2-40B4-BE49-F238E27FC236}">
                  <a16:creationId xmlns:a16="http://schemas.microsoft.com/office/drawing/2014/main" id="{727D8677-A797-794C-AA30-D4400E7BECFA}"/>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05" name="Rectangle 132">
              <a:extLst>
                <a:ext uri="{FF2B5EF4-FFF2-40B4-BE49-F238E27FC236}">
                  <a16:creationId xmlns:a16="http://schemas.microsoft.com/office/drawing/2014/main" id="{EB2FFBCE-C89F-BA45-B3E6-368DBC16E58D}"/>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06" name="Group 133">
              <a:extLst>
                <a:ext uri="{FF2B5EF4-FFF2-40B4-BE49-F238E27FC236}">
                  <a16:creationId xmlns:a16="http://schemas.microsoft.com/office/drawing/2014/main" id="{D9B4D6C3-55E2-914C-9392-B06DB43BF6A3}"/>
                </a:ext>
              </a:extLst>
            </p:cNvPr>
            <p:cNvGrpSpPr>
              <a:grpSpLocks/>
            </p:cNvGrpSpPr>
            <p:nvPr/>
          </p:nvGrpSpPr>
          <p:grpSpPr bwMode="auto">
            <a:xfrm>
              <a:off x="4749" y="668"/>
              <a:ext cx="581" cy="145"/>
              <a:chOff x="614" y="2568"/>
              <a:chExt cx="725" cy="139"/>
            </a:xfrm>
          </p:grpSpPr>
          <p:sp>
            <p:nvSpPr>
              <p:cNvPr id="431" name="AutoShape 134">
                <a:extLst>
                  <a:ext uri="{FF2B5EF4-FFF2-40B4-BE49-F238E27FC236}">
                    <a16:creationId xmlns:a16="http://schemas.microsoft.com/office/drawing/2014/main" id="{C69DD16D-9B89-454E-86FE-146165B84FB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2" name="AutoShape 135">
                <a:extLst>
                  <a:ext uri="{FF2B5EF4-FFF2-40B4-BE49-F238E27FC236}">
                    <a16:creationId xmlns:a16="http://schemas.microsoft.com/office/drawing/2014/main" id="{C5088E43-3534-E14E-B8F5-D6373D3DC00B}"/>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07" name="Rectangle 136">
              <a:extLst>
                <a:ext uri="{FF2B5EF4-FFF2-40B4-BE49-F238E27FC236}">
                  <a16:creationId xmlns:a16="http://schemas.microsoft.com/office/drawing/2014/main" id="{10AC52A8-0502-8D4A-AC13-7CB92F60C63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08" name="Group 137">
              <a:extLst>
                <a:ext uri="{FF2B5EF4-FFF2-40B4-BE49-F238E27FC236}">
                  <a16:creationId xmlns:a16="http://schemas.microsoft.com/office/drawing/2014/main" id="{74705E03-7801-7B48-B480-350446C44388}"/>
                </a:ext>
              </a:extLst>
            </p:cNvPr>
            <p:cNvGrpSpPr>
              <a:grpSpLocks/>
            </p:cNvGrpSpPr>
            <p:nvPr/>
          </p:nvGrpSpPr>
          <p:grpSpPr bwMode="auto">
            <a:xfrm>
              <a:off x="4747" y="994"/>
              <a:ext cx="581" cy="134"/>
              <a:chOff x="614" y="2568"/>
              <a:chExt cx="725" cy="139"/>
            </a:xfrm>
          </p:grpSpPr>
          <p:sp>
            <p:nvSpPr>
              <p:cNvPr id="429" name="AutoShape 138">
                <a:extLst>
                  <a:ext uri="{FF2B5EF4-FFF2-40B4-BE49-F238E27FC236}">
                    <a16:creationId xmlns:a16="http://schemas.microsoft.com/office/drawing/2014/main" id="{99F3069A-6DD0-8644-9400-4D75C6E7A8D8}"/>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0" name="AutoShape 139">
                <a:extLst>
                  <a:ext uri="{FF2B5EF4-FFF2-40B4-BE49-F238E27FC236}">
                    <a16:creationId xmlns:a16="http://schemas.microsoft.com/office/drawing/2014/main" id="{5CD3DB9D-6837-A440-8052-1C258BC50C4C}"/>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09" name="Rectangle 140">
              <a:extLst>
                <a:ext uri="{FF2B5EF4-FFF2-40B4-BE49-F238E27FC236}">
                  <a16:creationId xmlns:a16="http://schemas.microsoft.com/office/drawing/2014/main" id="{5E25305B-0E4D-B64C-986D-5C8970801687}"/>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0" name="Rectangle 141">
              <a:extLst>
                <a:ext uri="{FF2B5EF4-FFF2-40B4-BE49-F238E27FC236}">
                  <a16:creationId xmlns:a16="http://schemas.microsoft.com/office/drawing/2014/main" id="{9BE5A888-367B-F34A-89D6-EDE1723A2989}"/>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11" name="Group 142">
              <a:extLst>
                <a:ext uri="{FF2B5EF4-FFF2-40B4-BE49-F238E27FC236}">
                  <a16:creationId xmlns:a16="http://schemas.microsoft.com/office/drawing/2014/main" id="{6A6FAD94-34FC-AE44-83CD-8483AEB15BE4}"/>
                </a:ext>
              </a:extLst>
            </p:cNvPr>
            <p:cNvGrpSpPr>
              <a:grpSpLocks/>
            </p:cNvGrpSpPr>
            <p:nvPr/>
          </p:nvGrpSpPr>
          <p:grpSpPr bwMode="auto">
            <a:xfrm>
              <a:off x="4735" y="1627"/>
              <a:ext cx="582" cy="151"/>
              <a:chOff x="614" y="2568"/>
              <a:chExt cx="725" cy="139"/>
            </a:xfrm>
          </p:grpSpPr>
          <p:sp>
            <p:nvSpPr>
              <p:cNvPr id="427" name="AutoShape 143">
                <a:extLst>
                  <a:ext uri="{FF2B5EF4-FFF2-40B4-BE49-F238E27FC236}">
                    <a16:creationId xmlns:a16="http://schemas.microsoft.com/office/drawing/2014/main" id="{FDB729FC-0BB7-714B-8CB7-04CEB3A7D61B}"/>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8" name="AutoShape 144">
                <a:extLst>
                  <a:ext uri="{FF2B5EF4-FFF2-40B4-BE49-F238E27FC236}">
                    <a16:creationId xmlns:a16="http://schemas.microsoft.com/office/drawing/2014/main" id="{26E1758B-606B-A54A-B37B-4D5B7FB64E93}"/>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12" name="Freeform 145">
              <a:extLst>
                <a:ext uri="{FF2B5EF4-FFF2-40B4-BE49-F238E27FC236}">
                  <a16:creationId xmlns:a16="http://schemas.microsoft.com/office/drawing/2014/main" id="{CA66D6F4-6566-2346-AE37-5D469680361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13" name="Group 146">
              <a:extLst>
                <a:ext uri="{FF2B5EF4-FFF2-40B4-BE49-F238E27FC236}">
                  <a16:creationId xmlns:a16="http://schemas.microsoft.com/office/drawing/2014/main" id="{14E0B7CB-EDF8-5B41-B427-8AD65964DE01}"/>
                </a:ext>
              </a:extLst>
            </p:cNvPr>
            <p:cNvGrpSpPr>
              <a:grpSpLocks/>
            </p:cNvGrpSpPr>
            <p:nvPr/>
          </p:nvGrpSpPr>
          <p:grpSpPr bwMode="auto">
            <a:xfrm>
              <a:off x="4739" y="1327"/>
              <a:ext cx="582" cy="139"/>
              <a:chOff x="614" y="2568"/>
              <a:chExt cx="725" cy="139"/>
            </a:xfrm>
          </p:grpSpPr>
          <p:sp>
            <p:nvSpPr>
              <p:cNvPr id="425" name="AutoShape 147">
                <a:extLst>
                  <a:ext uri="{FF2B5EF4-FFF2-40B4-BE49-F238E27FC236}">
                    <a16:creationId xmlns:a16="http://schemas.microsoft.com/office/drawing/2014/main" id="{467127AD-2CB0-8C45-8018-5848115D91DE}"/>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6" name="AutoShape 148">
                <a:extLst>
                  <a:ext uri="{FF2B5EF4-FFF2-40B4-BE49-F238E27FC236}">
                    <a16:creationId xmlns:a16="http://schemas.microsoft.com/office/drawing/2014/main" id="{0796E888-44D7-9F44-8AFE-FED1CF4EBA8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14" name="Rectangle 149">
              <a:extLst>
                <a:ext uri="{FF2B5EF4-FFF2-40B4-BE49-F238E27FC236}">
                  <a16:creationId xmlns:a16="http://schemas.microsoft.com/office/drawing/2014/main" id="{4E54C520-F74E-674F-A888-F85B55FA5775}"/>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5" name="Freeform 150">
              <a:extLst>
                <a:ext uri="{FF2B5EF4-FFF2-40B4-BE49-F238E27FC236}">
                  <a16:creationId xmlns:a16="http://schemas.microsoft.com/office/drawing/2014/main" id="{0B18E885-C455-204F-9F4D-7CADCD00CB7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6" name="Freeform 151">
              <a:extLst>
                <a:ext uri="{FF2B5EF4-FFF2-40B4-BE49-F238E27FC236}">
                  <a16:creationId xmlns:a16="http://schemas.microsoft.com/office/drawing/2014/main" id="{2B747C07-7872-A24D-BBEF-F9E8EAAF1EA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7" name="Oval 152">
              <a:extLst>
                <a:ext uri="{FF2B5EF4-FFF2-40B4-BE49-F238E27FC236}">
                  <a16:creationId xmlns:a16="http://schemas.microsoft.com/office/drawing/2014/main" id="{AD0A4401-053C-AC45-9D2C-65FFC62C7980}"/>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8" name="Freeform 153">
              <a:extLst>
                <a:ext uri="{FF2B5EF4-FFF2-40B4-BE49-F238E27FC236}">
                  <a16:creationId xmlns:a16="http://schemas.microsoft.com/office/drawing/2014/main" id="{89E1D87C-2C15-6646-AFDC-9A1416DDED7C}"/>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9" name="AutoShape 154">
              <a:extLst>
                <a:ext uri="{FF2B5EF4-FFF2-40B4-BE49-F238E27FC236}">
                  <a16:creationId xmlns:a16="http://schemas.microsoft.com/office/drawing/2014/main" id="{66C645BA-D886-044E-8239-D4BE8DA9A6C6}"/>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0" name="AutoShape 155">
              <a:extLst>
                <a:ext uri="{FF2B5EF4-FFF2-40B4-BE49-F238E27FC236}">
                  <a16:creationId xmlns:a16="http://schemas.microsoft.com/office/drawing/2014/main" id="{5747D9F6-ED38-1747-B38A-3A0F3326F027}"/>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1" name="Oval 156">
              <a:extLst>
                <a:ext uri="{FF2B5EF4-FFF2-40B4-BE49-F238E27FC236}">
                  <a16:creationId xmlns:a16="http://schemas.microsoft.com/office/drawing/2014/main" id="{0317D36C-EC57-0840-A957-CE85B2AD965D}"/>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2" name="Oval 157">
              <a:extLst>
                <a:ext uri="{FF2B5EF4-FFF2-40B4-BE49-F238E27FC236}">
                  <a16:creationId xmlns:a16="http://schemas.microsoft.com/office/drawing/2014/main" id="{540537FD-C807-3D49-8566-6C4A55E3A420}"/>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23" name="Oval 158">
              <a:extLst>
                <a:ext uri="{FF2B5EF4-FFF2-40B4-BE49-F238E27FC236}">
                  <a16:creationId xmlns:a16="http://schemas.microsoft.com/office/drawing/2014/main" id="{23CFD8C3-6E99-8C40-806D-0A745B8363FB}"/>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4" name="Rectangle 159">
              <a:extLst>
                <a:ext uri="{FF2B5EF4-FFF2-40B4-BE49-F238E27FC236}">
                  <a16:creationId xmlns:a16="http://schemas.microsoft.com/office/drawing/2014/main" id="{8A5D6DAA-891A-F544-9751-D8BAAF267EA2}"/>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37" name="Group 160">
            <a:extLst>
              <a:ext uri="{FF2B5EF4-FFF2-40B4-BE49-F238E27FC236}">
                <a16:creationId xmlns:a16="http://schemas.microsoft.com/office/drawing/2014/main" id="{4D8A606A-8EFC-7640-A900-5D4C81F03937}"/>
              </a:ext>
            </a:extLst>
          </p:cNvPr>
          <p:cNvGrpSpPr>
            <a:grpSpLocks/>
          </p:cNvGrpSpPr>
          <p:nvPr/>
        </p:nvGrpSpPr>
        <p:grpSpPr bwMode="auto">
          <a:xfrm>
            <a:off x="585296" y="5655276"/>
            <a:ext cx="645431" cy="569172"/>
            <a:chOff x="-44" y="1473"/>
            <a:chExt cx="981" cy="1105"/>
          </a:xfrm>
        </p:grpSpPr>
        <p:pic>
          <p:nvPicPr>
            <p:cNvPr id="399" name="Picture 161" descr="desktop_computer_stylized_medium">
              <a:extLst>
                <a:ext uri="{FF2B5EF4-FFF2-40B4-BE49-F238E27FC236}">
                  <a16:creationId xmlns:a16="http://schemas.microsoft.com/office/drawing/2014/main" id="{F51E3138-EF14-9E48-9BD4-406B983C4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 name="Freeform 162">
              <a:extLst>
                <a:ext uri="{FF2B5EF4-FFF2-40B4-BE49-F238E27FC236}">
                  <a16:creationId xmlns:a16="http://schemas.microsoft.com/office/drawing/2014/main" id="{1256EDE8-FC43-7540-94FC-794D24BB662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38" name="Group 163">
            <a:extLst>
              <a:ext uri="{FF2B5EF4-FFF2-40B4-BE49-F238E27FC236}">
                <a16:creationId xmlns:a16="http://schemas.microsoft.com/office/drawing/2014/main" id="{0E7884E3-4890-9244-AEB3-FF8C9DC515D6}"/>
              </a:ext>
            </a:extLst>
          </p:cNvPr>
          <p:cNvGrpSpPr>
            <a:grpSpLocks/>
          </p:cNvGrpSpPr>
          <p:nvPr/>
        </p:nvGrpSpPr>
        <p:grpSpPr bwMode="auto">
          <a:xfrm>
            <a:off x="7141970" y="5736859"/>
            <a:ext cx="284691" cy="577481"/>
            <a:chOff x="4140" y="429"/>
            <a:chExt cx="1425" cy="2396"/>
          </a:xfrm>
        </p:grpSpPr>
        <p:sp>
          <p:nvSpPr>
            <p:cNvPr id="367" name="Freeform 164">
              <a:extLst>
                <a:ext uri="{FF2B5EF4-FFF2-40B4-BE49-F238E27FC236}">
                  <a16:creationId xmlns:a16="http://schemas.microsoft.com/office/drawing/2014/main" id="{3564F793-BB5B-2049-A377-2092094C063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8" name="Rectangle 165">
              <a:extLst>
                <a:ext uri="{FF2B5EF4-FFF2-40B4-BE49-F238E27FC236}">
                  <a16:creationId xmlns:a16="http://schemas.microsoft.com/office/drawing/2014/main" id="{EF360F4F-5495-6B4D-B6E0-552EB9DCADC6}"/>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9" name="Freeform 166">
              <a:extLst>
                <a:ext uri="{FF2B5EF4-FFF2-40B4-BE49-F238E27FC236}">
                  <a16:creationId xmlns:a16="http://schemas.microsoft.com/office/drawing/2014/main" id="{49576006-660E-9B47-AFBF-364EFC883E6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0" name="Freeform 167">
              <a:extLst>
                <a:ext uri="{FF2B5EF4-FFF2-40B4-BE49-F238E27FC236}">
                  <a16:creationId xmlns:a16="http://schemas.microsoft.com/office/drawing/2014/main" id="{8EB33FC8-E304-CE41-9CD6-0AD73C996C2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1" name="Rectangle 168">
              <a:extLst>
                <a:ext uri="{FF2B5EF4-FFF2-40B4-BE49-F238E27FC236}">
                  <a16:creationId xmlns:a16="http://schemas.microsoft.com/office/drawing/2014/main" id="{6C778B32-41A0-8244-BBE2-93B6E1761379}"/>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72" name="Group 169">
              <a:extLst>
                <a:ext uri="{FF2B5EF4-FFF2-40B4-BE49-F238E27FC236}">
                  <a16:creationId xmlns:a16="http://schemas.microsoft.com/office/drawing/2014/main" id="{7BA4195B-DEBE-4B4C-9882-FED7243E720C}"/>
                </a:ext>
              </a:extLst>
            </p:cNvPr>
            <p:cNvGrpSpPr>
              <a:grpSpLocks/>
            </p:cNvGrpSpPr>
            <p:nvPr/>
          </p:nvGrpSpPr>
          <p:grpSpPr bwMode="auto">
            <a:xfrm>
              <a:off x="4749" y="668"/>
              <a:ext cx="581" cy="145"/>
              <a:chOff x="614" y="2568"/>
              <a:chExt cx="725" cy="139"/>
            </a:xfrm>
          </p:grpSpPr>
          <p:sp>
            <p:nvSpPr>
              <p:cNvPr id="397" name="AutoShape 170">
                <a:extLst>
                  <a:ext uri="{FF2B5EF4-FFF2-40B4-BE49-F238E27FC236}">
                    <a16:creationId xmlns:a16="http://schemas.microsoft.com/office/drawing/2014/main" id="{C3147CE6-9A26-0846-A572-5121F21F6CF4}"/>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8" name="AutoShape 171">
                <a:extLst>
                  <a:ext uri="{FF2B5EF4-FFF2-40B4-BE49-F238E27FC236}">
                    <a16:creationId xmlns:a16="http://schemas.microsoft.com/office/drawing/2014/main" id="{E60D0823-A680-E749-BF37-E473D78B1738}"/>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73" name="Rectangle 172">
              <a:extLst>
                <a:ext uri="{FF2B5EF4-FFF2-40B4-BE49-F238E27FC236}">
                  <a16:creationId xmlns:a16="http://schemas.microsoft.com/office/drawing/2014/main" id="{FC18395B-F97E-B149-8E05-15194860B04B}"/>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74" name="Group 173">
              <a:extLst>
                <a:ext uri="{FF2B5EF4-FFF2-40B4-BE49-F238E27FC236}">
                  <a16:creationId xmlns:a16="http://schemas.microsoft.com/office/drawing/2014/main" id="{2BA003D7-82C2-B445-B5A2-C950E112D3A8}"/>
                </a:ext>
              </a:extLst>
            </p:cNvPr>
            <p:cNvGrpSpPr>
              <a:grpSpLocks/>
            </p:cNvGrpSpPr>
            <p:nvPr/>
          </p:nvGrpSpPr>
          <p:grpSpPr bwMode="auto">
            <a:xfrm>
              <a:off x="4747" y="994"/>
              <a:ext cx="581" cy="134"/>
              <a:chOff x="614" y="2568"/>
              <a:chExt cx="725" cy="139"/>
            </a:xfrm>
          </p:grpSpPr>
          <p:sp>
            <p:nvSpPr>
              <p:cNvPr id="395" name="AutoShape 174">
                <a:extLst>
                  <a:ext uri="{FF2B5EF4-FFF2-40B4-BE49-F238E27FC236}">
                    <a16:creationId xmlns:a16="http://schemas.microsoft.com/office/drawing/2014/main" id="{FAC3334E-F98D-3143-8A22-9FBE215555C8}"/>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6" name="AutoShape 175">
                <a:extLst>
                  <a:ext uri="{FF2B5EF4-FFF2-40B4-BE49-F238E27FC236}">
                    <a16:creationId xmlns:a16="http://schemas.microsoft.com/office/drawing/2014/main" id="{E2C9795D-E16D-BA42-A574-5505AF764534}"/>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75" name="Rectangle 176">
              <a:extLst>
                <a:ext uri="{FF2B5EF4-FFF2-40B4-BE49-F238E27FC236}">
                  <a16:creationId xmlns:a16="http://schemas.microsoft.com/office/drawing/2014/main" id="{E8ADCEF9-A7C3-1346-9F35-EAE9DE327CB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6" name="Rectangle 177">
              <a:extLst>
                <a:ext uri="{FF2B5EF4-FFF2-40B4-BE49-F238E27FC236}">
                  <a16:creationId xmlns:a16="http://schemas.microsoft.com/office/drawing/2014/main" id="{04D364FF-2C20-5C4D-B865-EF176AD2D2E5}"/>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77" name="Group 178">
              <a:extLst>
                <a:ext uri="{FF2B5EF4-FFF2-40B4-BE49-F238E27FC236}">
                  <a16:creationId xmlns:a16="http://schemas.microsoft.com/office/drawing/2014/main" id="{62CBF903-6CC6-274F-B178-5CF7DFE4E8FF}"/>
                </a:ext>
              </a:extLst>
            </p:cNvPr>
            <p:cNvGrpSpPr>
              <a:grpSpLocks/>
            </p:cNvGrpSpPr>
            <p:nvPr/>
          </p:nvGrpSpPr>
          <p:grpSpPr bwMode="auto">
            <a:xfrm>
              <a:off x="4735" y="1627"/>
              <a:ext cx="582" cy="151"/>
              <a:chOff x="614" y="2568"/>
              <a:chExt cx="725" cy="139"/>
            </a:xfrm>
          </p:grpSpPr>
          <p:sp>
            <p:nvSpPr>
              <p:cNvPr id="393" name="AutoShape 179">
                <a:extLst>
                  <a:ext uri="{FF2B5EF4-FFF2-40B4-BE49-F238E27FC236}">
                    <a16:creationId xmlns:a16="http://schemas.microsoft.com/office/drawing/2014/main" id="{204B8DDB-66CE-734E-B5AA-D99AAFCB5D8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4" name="AutoShape 180">
                <a:extLst>
                  <a:ext uri="{FF2B5EF4-FFF2-40B4-BE49-F238E27FC236}">
                    <a16:creationId xmlns:a16="http://schemas.microsoft.com/office/drawing/2014/main" id="{1C725834-7BCF-624D-ADAE-62F2539CDD4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78" name="Freeform 181">
              <a:extLst>
                <a:ext uri="{FF2B5EF4-FFF2-40B4-BE49-F238E27FC236}">
                  <a16:creationId xmlns:a16="http://schemas.microsoft.com/office/drawing/2014/main" id="{98340748-8514-DB48-90DD-35536247277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79" name="Group 182">
              <a:extLst>
                <a:ext uri="{FF2B5EF4-FFF2-40B4-BE49-F238E27FC236}">
                  <a16:creationId xmlns:a16="http://schemas.microsoft.com/office/drawing/2014/main" id="{F9562A1A-DA6F-9849-AC85-D69A990FF6C5}"/>
                </a:ext>
              </a:extLst>
            </p:cNvPr>
            <p:cNvGrpSpPr>
              <a:grpSpLocks/>
            </p:cNvGrpSpPr>
            <p:nvPr/>
          </p:nvGrpSpPr>
          <p:grpSpPr bwMode="auto">
            <a:xfrm>
              <a:off x="4739" y="1327"/>
              <a:ext cx="582" cy="139"/>
              <a:chOff x="614" y="2568"/>
              <a:chExt cx="725" cy="139"/>
            </a:xfrm>
          </p:grpSpPr>
          <p:sp>
            <p:nvSpPr>
              <p:cNvPr id="391" name="AutoShape 183">
                <a:extLst>
                  <a:ext uri="{FF2B5EF4-FFF2-40B4-BE49-F238E27FC236}">
                    <a16:creationId xmlns:a16="http://schemas.microsoft.com/office/drawing/2014/main" id="{A670CFDF-AFF7-A547-9CF4-9F926AE4D45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2" name="AutoShape 184">
                <a:extLst>
                  <a:ext uri="{FF2B5EF4-FFF2-40B4-BE49-F238E27FC236}">
                    <a16:creationId xmlns:a16="http://schemas.microsoft.com/office/drawing/2014/main" id="{8B989888-AABB-1E49-9382-C06BFA14BDC8}"/>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0" name="Rectangle 185">
              <a:extLst>
                <a:ext uri="{FF2B5EF4-FFF2-40B4-BE49-F238E27FC236}">
                  <a16:creationId xmlns:a16="http://schemas.microsoft.com/office/drawing/2014/main" id="{BB8DEF06-6B12-6A43-8D15-89B827E3F7B3}"/>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1" name="Freeform 186">
              <a:extLst>
                <a:ext uri="{FF2B5EF4-FFF2-40B4-BE49-F238E27FC236}">
                  <a16:creationId xmlns:a16="http://schemas.microsoft.com/office/drawing/2014/main" id="{D46CBF71-1AA1-1848-B7FE-0B5B429E7BF3}"/>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2" name="Freeform 187">
              <a:extLst>
                <a:ext uri="{FF2B5EF4-FFF2-40B4-BE49-F238E27FC236}">
                  <a16:creationId xmlns:a16="http://schemas.microsoft.com/office/drawing/2014/main" id="{E33DBEE9-2A43-1846-9129-67A75C2B41A8}"/>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3" name="Oval 188">
              <a:extLst>
                <a:ext uri="{FF2B5EF4-FFF2-40B4-BE49-F238E27FC236}">
                  <a16:creationId xmlns:a16="http://schemas.microsoft.com/office/drawing/2014/main" id="{4184AD3D-A3AA-D744-B0D4-86BC19CF850B}"/>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4" name="Freeform 189">
              <a:extLst>
                <a:ext uri="{FF2B5EF4-FFF2-40B4-BE49-F238E27FC236}">
                  <a16:creationId xmlns:a16="http://schemas.microsoft.com/office/drawing/2014/main" id="{30BD63BA-1E7E-5543-8241-5EE587F00DF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5" name="AutoShape 190">
              <a:extLst>
                <a:ext uri="{FF2B5EF4-FFF2-40B4-BE49-F238E27FC236}">
                  <a16:creationId xmlns:a16="http://schemas.microsoft.com/office/drawing/2014/main" id="{221FD49B-FBB4-D44C-A5B9-40C856B448C9}"/>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6" name="AutoShape 191">
              <a:extLst>
                <a:ext uri="{FF2B5EF4-FFF2-40B4-BE49-F238E27FC236}">
                  <a16:creationId xmlns:a16="http://schemas.microsoft.com/office/drawing/2014/main" id="{E02AA9C5-4176-1C44-A6F0-A95EC32403A6}"/>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7" name="Oval 192">
              <a:extLst>
                <a:ext uri="{FF2B5EF4-FFF2-40B4-BE49-F238E27FC236}">
                  <a16:creationId xmlns:a16="http://schemas.microsoft.com/office/drawing/2014/main" id="{DB848E75-06E4-9845-A916-4E09A522EAB5}"/>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8" name="Oval 193">
              <a:extLst>
                <a:ext uri="{FF2B5EF4-FFF2-40B4-BE49-F238E27FC236}">
                  <a16:creationId xmlns:a16="http://schemas.microsoft.com/office/drawing/2014/main" id="{E1CC4DA0-CE21-7849-ADF5-B8258F6A703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89" name="Oval 194">
              <a:extLst>
                <a:ext uri="{FF2B5EF4-FFF2-40B4-BE49-F238E27FC236}">
                  <a16:creationId xmlns:a16="http://schemas.microsoft.com/office/drawing/2014/main" id="{FB60D991-801A-5D49-A562-F17DB7672BEC}"/>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0" name="Rectangle 195">
              <a:extLst>
                <a:ext uri="{FF2B5EF4-FFF2-40B4-BE49-F238E27FC236}">
                  <a16:creationId xmlns:a16="http://schemas.microsoft.com/office/drawing/2014/main" id="{E71FA6D2-7AE4-AB49-97A1-DC456EBD084E}"/>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39" name="Line 57">
            <a:extLst>
              <a:ext uri="{FF2B5EF4-FFF2-40B4-BE49-F238E27FC236}">
                <a16:creationId xmlns:a16="http://schemas.microsoft.com/office/drawing/2014/main" id="{249CC5AB-AB21-0542-9359-82773A70F7B0}"/>
              </a:ext>
            </a:extLst>
          </p:cNvPr>
          <p:cNvSpPr>
            <a:spLocks noChangeShapeType="1"/>
          </p:cNvSpPr>
          <p:nvPr/>
        </p:nvSpPr>
        <p:spPr bwMode="auto">
          <a:xfrm flipH="1">
            <a:off x="5155368" y="5988369"/>
            <a:ext cx="10099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0" name="Line 57">
            <a:extLst>
              <a:ext uri="{FF2B5EF4-FFF2-40B4-BE49-F238E27FC236}">
                <a16:creationId xmlns:a16="http://schemas.microsoft.com/office/drawing/2014/main" id="{D195CB72-88E8-C440-A559-6FA4F63B9443}"/>
              </a:ext>
            </a:extLst>
          </p:cNvPr>
          <p:cNvSpPr>
            <a:spLocks noChangeShapeType="1"/>
          </p:cNvSpPr>
          <p:nvPr/>
        </p:nvSpPr>
        <p:spPr bwMode="auto">
          <a:xfrm flipH="1">
            <a:off x="3001196" y="4853221"/>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1" name="Line 57">
            <a:extLst>
              <a:ext uri="{FF2B5EF4-FFF2-40B4-BE49-F238E27FC236}">
                <a16:creationId xmlns:a16="http://schemas.microsoft.com/office/drawing/2014/main" id="{4BEB9C9E-14C1-E440-B93B-C474D1D3078F}"/>
              </a:ext>
            </a:extLst>
          </p:cNvPr>
          <p:cNvSpPr>
            <a:spLocks noChangeShapeType="1"/>
          </p:cNvSpPr>
          <p:nvPr/>
        </p:nvSpPr>
        <p:spPr bwMode="auto">
          <a:xfrm flipH="1">
            <a:off x="1869391" y="5991438"/>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43" name="Group 342">
            <a:extLst>
              <a:ext uri="{FF2B5EF4-FFF2-40B4-BE49-F238E27FC236}">
                <a16:creationId xmlns:a16="http://schemas.microsoft.com/office/drawing/2014/main" id="{406EC58A-B6EC-4447-9E97-40F524DE60FB}"/>
              </a:ext>
            </a:extLst>
          </p:cNvPr>
          <p:cNvGrpSpPr/>
          <p:nvPr/>
        </p:nvGrpSpPr>
        <p:grpSpPr>
          <a:xfrm>
            <a:off x="2749090" y="3427413"/>
            <a:ext cx="2851610" cy="946150"/>
            <a:chOff x="2749090" y="3427413"/>
            <a:chExt cx="2851610" cy="946150"/>
          </a:xfrm>
        </p:grpSpPr>
        <p:sp>
          <p:nvSpPr>
            <p:cNvPr id="360" name="Text Box 68">
              <a:extLst>
                <a:ext uri="{FF2B5EF4-FFF2-40B4-BE49-F238E27FC236}">
                  <a16:creationId xmlns:a16="http://schemas.microsoft.com/office/drawing/2014/main" id="{FA375BE1-B3E2-C94A-A758-A65780134EA0}"/>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6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original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61" name="Oval 217">
              <a:extLst>
                <a:ext uri="{FF2B5EF4-FFF2-40B4-BE49-F238E27FC236}">
                  <a16:creationId xmlns:a16="http://schemas.microsoft.com/office/drawing/2014/main" id="{D579EE0C-24C1-7F4B-B6EE-A5D60E6E72F5}"/>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2" name="Line 229">
              <a:extLst>
                <a:ext uri="{FF2B5EF4-FFF2-40B4-BE49-F238E27FC236}">
                  <a16:creationId xmlns:a16="http://schemas.microsoft.com/office/drawing/2014/main" id="{7DFBE726-798B-1140-8F3C-66C3B37C2B5D}"/>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3" name="Oval 232">
              <a:extLst>
                <a:ext uri="{FF2B5EF4-FFF2-40B4-BE49-F238E27FC236}">
                  <a16:creationId xmlns:a16="http://schemas.microsoft.com/office/drawing/2014/main" id="{41ED5C42-E6DE-0444-B4F1-99DA159ABE99}"/>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4" name="Text Box 233">
              <a:extLst>
                <a:ext uri="{FF2B5EF4-FFF2-40B4-BE49-F238E27FC236}">
                  <a16:creationId xmlns:a16="http://schemas.microsoft.com/office/drawing/2014/main" id="{B7139E43-D720-7844-9069-FE79DA74AC38}"/>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8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original data, </a:t>
              </a:r>
              <a:r>
                <a:rPr kumimoji="0" lang="en-US" altLang="en-US" sz="1600" b="0"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plus</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retransmitted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65" name="Line 234">
              <a:extLst>
                <a:ext uri="{FF2B5EF4-FFF2-40B4-BE49-F238E27FC236}">
                  <a16:creationId xmlns:a16="http://schemas.microsoft.com/office/drawing/2014/main" id="{0082E09C-2174-3D43-877E-80509AB6F4D1}"/>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6" name="Line 235">
              <a:extLst>
                <a:ext uri="{FF2B5EF4-FFF2-40B4-BE49-F238E27FC236}">
                  <a16:creationId xmlns:a16="http://schemas.microsoft.com/office/drawing/2014/main" id="{D509C4AE-0768-3A40-9EEC-F41827CED3E1}"/>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44" name="Group 343">
            <a:extLst>
              <a:ext uri="{FF2B5EF4-FFF2-40B4-BE49-F238E27FC236}">
                <a16:creationId xmlns:a16="http://schemas.microsoft.com/office/drawing/2014/main" id="{D2E444DF-6D2A-054F-ACC0-9BC78029DB62}"/>
              </a:ext>
            </a:extLst>
          </p:cNvPr>
          <p:cNvGrpSpPr/>
          <p:nvPr/>
        </p:nvGrpSpPr>
        <p:grpSpPr>
          <a:xfrm>
            <a:off x="2913490" y="5218953"/>
            <a:ext cx="1938730" cy="1300181"/>
            <a:chOff x="2913490" y="5218953"/>
            <a:chExt cx="1938730" cy="1300181"/>
          </a:xfrm>
        </p:grpSpPr>
        <p:sp>
          <p:nvSpPr>
            <p:cNvPr id="349" name="Text Box 32">
              <a:extLst>
                <a:ext uri="{FF2B5EF4-FFF2-40B4-BE49-F238E27FC236}">
                  <a16:creationId xmlns:a16="http://schemas.microsoft.com/office/drawing/2014/main" id="{568EB7D0-7CC1-B447-B931-1708DD0E5DFD}"/>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finite</a:t>
              </a: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shared output link buffers</a:t>
              </a:r>
            </a:p>
          </p:txBody>
        </p:sp>
        <p:sp>
          <p:nvSpPr>
            <p:cNvPr id="350" name="Line 77">
              <a:extLst>
                <a:ext uri="{FF2B5EF4-FFF2-40B4-BE49-F238E27FC236}">
                  <a16:creationId xmlns:a16="http://schemas.microsoft.com/office/drawing/2014/main" id="{2609129D-FECD-5541-8755-40B9535EF20B}"/>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51" name="Group 350">
              <a:extLst>
                <a:ext uri="{FF2B5EF4-FFF2-40B4-BE49-F238E27FC236}">
                  <a16:creationId xmlns:a16="http://schemas.microsoft.com/office/drawing/2014/main" id="{DC9E0C42-D0D0-C642-A75B-D2B504E09F89}"/>
                </a:ext>
              </a:extLst>
            </p:cNvPr>
            <p:cNvGrpSpPr/>
            <p:nvPr/>
          </p:nvGrpSpPr>
          <p:grpSpPr>
            <a:xfrm>
              <a:off x="4030362" y="5218953"/>
              <a:ext cx="821858" cy="355937"/>
              <a:chOff x="6859123" y="5156933"/>
              <a:chExt cx="456701" cy="226548"/>
            </a:xfrm>
          </p:grpSpPr>
          <p:sp>
            <p:nvSpPr>
              <p:cNvPr id="352" name="Rectangle 351">
                <a:extLst>
                  <a:ext uri="{FF2B5EF4-FFF2-40B4-BE49-F238E27FC236}">
                    <a16:creationId xmlns:a16="http://schemas.microsoft.com/office/drawing/2014/main" id="{E85536C7-7667-104C-AC53-1ACBD3293324}"/>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53" name="Straight Connector 352">
                <a:extLst>
                  <a:ext uri="{FF2B5EF4-FFF2-40B4-BE49-F238E27FC236}">
                    <a16:creationId xmlns:a16="http://schemas.microsoft.com/office/drawing/2014/main" id="{0F6C01FB-9ABA-2B44-8CD3-912673CE784D}"/>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3479AC20-C321-4140-9DF7-DAE3A82CAFBF}"/>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5D7A5D36-0D51-274E-BD57-89216EE3D0ED}"/>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8C56DC83-453E-884E-88C0-5F16F3D2F239}"/>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F486F91F-497E-4840-99FF-2F6E93438A65}"/>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F367282B-BA64-9F40-80F4-FC127E0FBA3C}"/>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B165A859-F8AA-894A-AA38-F397DF087DF1}"/>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45" name="Freeform 91">
            <a:extLst>
              <a:ext uri="{FF2B5EF4-FFF2-40B4-BE49-F238E27FC236}">
                <a16:creationId xmlns:a16="http://schemas.microsoft.com/office/drawing/2014/main" id="{FE9A735A-D29D-5048-9B95-09DCFCC19EE5}"/>
              </a:ext>
            </a:extLst>
          </p:cNvPr>
          <p:cNvSpPr>
            <a:spLocks/>
          </p:cNvSpPr>
          <p:nvPr/>
        </p:nvSpPr>
        <p:spPr bwMode="auto">
          <a:xfrm>
            <a:off x="2803354" y="3659588"/>
            <a:ext cx="4211870" cy="1670126"/>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46" name="Group 345">
            <a:extLst>
              <a:ext uri="{FF2B5EF4-FFF2-40B4-BE49-F238E27FC236}">
                <a16:creationId xmlns:a16="http://schemas.microsoft.com/office/drawing/2014/main" id="{D2EA7F33-E890-F044-9EFA-B51D448A85C4}"/>
              </a:ext>
            </a:extLst>
          </p:cNvPr>
          <p:cNvGrpSpPr/>
          <p:nvPr/>
        </p:nvGrpSpPr>
        <p:grpSpPr>
          <a:xfrm>
            <a:off x="1586591" y="4743924"/>
            <a:ext cx="4913849" cy="1346072"/>
            <a:chOff x="5641439" y="2685215"/>
            <a:chExt cx="4000500" cy="1028700"/>
          </a:xfrm>
        </p:grpSpPr>
        <p:sp>
          <p:nvSpPr>
            <p:cNvPr id="347" name="Oval 73">
              <a:extLst>
                <a:ext uri="{FF2B5EF4-FFF2-40B4-BE49-F238E27FC236}">
                  <a16:creationId xmlns:a16="http://schemas.microsoft.com/office/drawing/2014/main" id="{3265C07F-8CC7-8143-AF1A-B97C285AC26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8" name="Freeform 90">
              <a:extLst>
                <a:ext uri="{FF2B5EF4-FFF2-40B4-BE49-F238E27FC236}">
                  <a16:creationId xmlns:a16="http://schemas.microsoft.com/office/drawing/2014/main" id="{342C12D1-D3C0-854C-B5E9-1645E78B3183}"/>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2</a:t>
            </a:r>
            <a:endParaRPr lang="en-US" sz="4400" b="0" dirty="0"/>
          </a:p>
        </p:txBody>
      </p:sp>
      <p:sp>
        <p:nvSpPr>
          <p:cNvPr id="215" name="Oval 217">
            <a:extLst>
              <a:ext uri="{FF2B5EF4-FFF2-40B4-BE49-F238E27FC236}">
                <a16:creationId xmlns:a16="http://schemas.microsoft.com/office/drawing/2014/main" id="{E8380F29-F9DD-FD41-A743-32A2D2C0356C}"/>
              </a:ext>
            </a:extLst>
          </p:cNvPr>
          <p:cNvSpPr>
            <a:spLocks noChangeArrowheads="1"/>
          </p:cNvSpPr>
          <p:nvPr/>
        </p:nvSpPr>
        <p:spPr bwMode="auto">
          <a:xfrm>
            <a:off x="2763838"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0" name="Oval 232">
            <a:extLst>
              <a:ext uri="{FF2B5EF4-FFF2-40B4-BE49-F238E27FC236}">
                <a16:creationId xmlns:a16="http://schemas.microsoft.com/office/drawing/2014/main" id="{6F587E7E-71AC-E54E-91B9-31091ED341D4}"/>
              </a:ext>
            </a:extLst>
          </p:cNvPr>
          <p:cNvSpPr>
            <a:spLocks noChangeArrowheads="1"/>
          </p:cNvSpPr>
          <p:nvPr/>
        </p:nvSpPr>
        <p:spPr bwMode="auto">
          <a:xfrm>
            <a:off x="2763838"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Rectangle 241">
            <a:extLst>
              <a:ext uri="{FF2B5EF4-FFF2-40B4-BE49-F238E27FC236}">
                <a16:creationId xmlns:a16="http://schemas.microsoft.com/office/drawing/2014/main" id="{17406B91-ED98-7540-A5E7-482325DFDBB3}"/>
              </a:ext>
            </a:extLst>
          </p:cNvPr>
          <p:cNvSpPr>
            <a:spLocks noChangeArrowheads="1"/>
          </p:cNvSpPr>
          <p:nvPr/>
        </p:nvSpPr>
        <p:spPr bwMode="auto">
          <a:xfrm>
            <a:off x="2711450" y="3590925"/>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6" name="Rectangle 242">
            <a:extLst>
              <a:ext uri="{FF2B5EF4-FFF2-40B4-BE49-F238E27FC236}">
                <a16:creationId xmlns:a16="http://schemas.microsoft.com/office/drawing/2014/main" id="{16D1BB3A-2730-5542-A67A-DC96F7F3C3AA}"/>
              </a:ext>
            </a:extLst>
          </p:cNvPr>
          <p:cNvSpPr>
            <a:spLocks noChangeArrowheads="1"/>
          </p:cNvSpPr>
          <p:nvPr/>
        </p:nvSpPr>
        <p:spPr bwMode="auto">
          <a:xfrm>
            <a:off x="2381250" y="3824288"/>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Text Box 243">
            <a:extLst>
              <a:ext uri="{FF2B5EF4-FFF2-40B4-BE49-F238E27FC236}">
                <a16:creationId xmlns:a16="http://schemas.microsoft.com/office/drawing/2014/main" id="{0D22406C-BED1-1A4C-A523-FB8EDCECFC59}"/>
              </a:ext>
            </a:extLst>
          </p:cNvPr>
          <p:cNvSpPr txBox="1">
            <a:spLocks noChangeArrowheads="1"/>
          </p:cNvSpPr>
          <p:nvPr/>
        </p:nvSpPr>
        <p:spPr bwMode="auto">
          <a:xfrm>
            <a:off x="1757363" y="3714750"/>
            <a:ext cx="6127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6600"/>
                </a:solidFill>
                <a:effectLst/>
                <a:uLnTx/>
                <a:uFillTx/>
                <a:latin typeface="Arial" charset="0"/>
                <a:ea typeface="ＭＳ Ｐゴシック" charset="0"/>
                <a:cs typeface="+mn-cs"/>
              </a:rPr>
              <a:t>copy</a:t>
            </a:r>
          </a:p>
        </p:txBody>
      </p:sp>
      <p:sp>
        <p:nvSpPr>
          <p:cNvPr id="238" name="Text Box 259">
            <a:extLst>
              <a:ext uri="{FF2B5EF4-FFF2-40B4-BE49-F238E27FC236}">
                <a16:creationId xmlns:a16="http://schemas.microsoft.com/office/drawing/2014/main" id="{586FFC28-194B-2246-81D3-22BA6BAE93C1}"/>
              </a:ext>
            </a:extLst>
          </p:cNvPr>
          <p:cNvSpPr txBox="1">
            <a:spLocks noChangeArrowheads="1"/>
          </p:cNvSpPr>
          <p:nvPr/>
        </p:nvSpPr>
        <p:spPr bwMode="auto">
          <a:xfrm>
            <a:off x="3722688" y="4738894"/>
            <a:ext cx="17684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1200" cap="none" spc="0" normalizeH="0" baseline="0" noProof="0" dirty="0">
                <a:ln>
                  <a:noFill/>
                </a:ln>
                <a:solidFill>
                  <a:srgbClr val="006600"/>
                </a:solidFill>
                <a:effectLst/>
                <a:uLnTx/>
                <a:uFillTx/>
                <a:latin typeface="Arial" charset="0"/>
                <a:ea typeface="ＭＳ Ｐゴシック" charset="0"/>
                <a:cs typeface="+mn-cs"/>
              </a:rPr>
              <a:t>free buffer space!</a:t>
            </a:r>
          </a:p>
        </p:txBody>
      </p:sp>
      <p:sp>
        <p:nvSpPr>
          <p:cNvPr id="319" name="Rectangle 3">
            <a:extLst>
              <a:ext uri="{FF2B5EF4-FFF2-40B4-BE49-F238E27FC236}">
                <a16:creationId xmlns:a16="http://schemas.microsoft.com/office/drawing/2014/main" id="{E5E65C79-ACE3-1743-A76E-FFA95B9A44A1}"/>
              </a:ext>
            </a:extLst>
          </p:cNvPr>
          <p:cNvSpPr txBox="1">
            <a:spLocks noChangeArrowheads="1"/>
          </p:cNvSpPr>
          <p:nvPr/>
        </p:nvSpPr>
        <p:spPr>
          <a:xfrm>
            <a:off x="592471" y="1287763"/>
            <a:ext cx="7623176" cy="143033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8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000099"/>
                </a:solidFill>
                <a:effectLst/>
                <a:uLnTx/>
                <a:uFillTx/>
                <a:latin typeface="Calibri" panose="020F0502020204030204"/>
                <a:ea typeface="+mn-ea"/>
                <a:cs typeface="+mn-cs"/>
              </a:rPr>
              <a:t>Idealization: </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perfect knowledge</a:t>
            </a:r>
          </a:p>
          <a:p>
            <a:pPr marL="466725" marR="0" lvl="0" indent="-227013" algn="l" defTabSz="914400" rtl="0" eaLnBrk="1" fontAlgn="auto" latinLnBrk="0" hangingPunct="1">
              <a:lnSpc>
                <a:spcPct val="8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sends only when router buffers available </a:t>
            </a:r>
          </a:p>
          <a:p>
            <a:pPr marL="352425" marR="0" lvl="0" indent="-222250" algn="l" defTabSz="914400" rtl="0" eaLnBrk="1" fontAlgn="auto" latinLnBrk="0" hangingPunct="1">
              <a:lnSpc>
                <a:spcPct val="80000"/>
              </a:lnSpc>
              <a:spcBef>
                <a:spcPts val="1000"/>
              </a:spcBef>
              <a:spcAft>
                <a:spcPts val="0"/>
              </a:spcAft>
              <a:buClr>
                <a:srgbClr val="0000A3"/>
              </a:buClr>
              <a:buSzTx/>
              <a:buFont typeface="Wingdings"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3" name="Text Box 219">
            <a:extLst>
              <a:ext uri="{FF2B5EF4-FFF2-40B4-BE49-F238E27FC236}">
                <a16:creationId xmlns:a16="http://schemas.microsoft.com/office/drawing/2014/main" id="{52831C5B-CB06-DA40-A231-55AF76B69619}"/>
              </a:ext>
            </a:extLst>
          </p:cNvPr>
          <p:cNvSpPr txBox="1">
            <a:spLocks noChangeArrowheads="1"/>
          </p:cNvSpPr>
          <p:nvPr/>
        </p:nvSpPr>
        <p:spPr bwMode="auto">
          <a:xfrm>
            <a:off x="7583488" y="3629025"/>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out</a:t>
            </a:r>
            <a:endParaRPr kumimoji="0" lang="en-US" altLang="en-US" sz="2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464" name="Line 236">
            <a:extLst>
              <a:ext uri="{FF2B5EF4-FFF2-40B4-BE49-F238E27FC236}">
                <a16:creationId xmlns:a16="http://schemas.microsoft.com/office/drawing/2014/main" id="{AFF1C7E6-124D-294E-B63A-863323A2A9B8}"/>
              </a:ext>
            </a:extLst>
          </p:cNvPr>
          <p:cNvSpPr>
            <a:spLocks noChangeShapeType="1"/>
          </p:cNvSpPr>
          <p:nvPr/>
        </p:nvSpPr>
        <p:spPr bwMode="auto">
          <a:xfrm>
            <a:off x="7116763" y="3835400"/>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66" name="Group 465">
            <a:extLst>
              <a:ext uri="{FF2B5EF4-FFF2-40B4-BE49-F238E27FC236}">
                <a16:creationId xmlns:a16="http://schemas.microsoft.com/office/drawing/2014/main" id="{B447B17F-F2FC-BA4D-B4F5-E4177AE17CB6}"/>
              </a:ext>
            </a:extLst>
          </p:cNvPr>
          <p:cNvGrpSpPr/>
          <p:nvPr/>
        </p:nvGrpSpPr>
        <p:grpSpPr>
          <a:xfrm>
            <a:off x="3289650" y="5336775"/>
            <a:ext cx="2124396" cy="604097"/>
            <a:chOff x="3289650" y="5336775"/>
            <a:chExt cx="2124396" cy="604097"/>
          </a:xfrm>
        </p:grpSpPr>
        <p:sp>
          <p:nvSpPr>
            <p:cNvPr id="467" name="TextBox 466">
              <a:extLst>
                <a:ext uri="{FF2B5EF4-FFF2-40B4-BE49-F238E27FC236}">
                  <a16:creationId xmlns:a16="http://schemas.microsoft.com/office/drawing/2014/main" id="{047AB416-0A13-7F45-9060-405793255F64}"/>
                </a:ext>
              </a:extLst>
            </p:cNvPr>
            <p:cNvSpPr txBox="1"/>
            <p:nvPr/>
          </p:nvSpPr>
          <p:spPr>
            <a:xfrm>
              <a:off x="4982445" y="5336775"/>
              <a:ext cx="431601" cy="60409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sp>
          <p:nvSpPr>
            <p:cNvPr id="468" name="TextBox 467">
              <a:extLst>
                <a:ext uri="{FF2B5EF4-FFF2-40B4-BE49-F238E27FC236}">
                  <a16:creationId xmlns:a16="http://schemas.microsoft.com/office/drawing/2014/main" id="{E0E6E743-A4D4-5C4F-827B-4DB74EAE48CD}"/>
                </a:ext>
              </a:extLst>
            </p:cNvPr>
            <p:cNvSpPr txBox="1"/>
            <p:nvPr/>
          </p:nvSpPr>
          <p:spPr>
            <a:xfrm>
              <a:off x="3289650" y="5351752"/>
              <a:ext cx="351378"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grpSp>
      <p:grpSp>
        <p:nvGrpSpPr>
          <p:cNvPr id="10" name="Group 9">
            <a:extLst>
              <a:ext uri="{FF2B5EF4-FFF2-40B4-BE49-F238E27FC236}">
                <a16:creationId xmlns:a16="http://schemas.microsoft.com/office/drawing/2014/main" id="{C52758C3-5717-F349-9801-53D0A9A63540}"/>
              </a:ext>
            </a:extLst>
          </p:cNvPr>
          <p:cNvGrpSpPr/>
          <p:nvPr/>
        </p:nvGrpSpPr>
        <p:grpSpPr>
          <a:xfrm>
            <a:off x="8192434" y="1423967"/>
            <a:ext cx="3184336" cy="2791471"/>
            <a:chOff x="7614918" y="1260338"/>
            <a:chExt cx="3184336" cy="2791471"/>
          </a:xfrm>
        </p:grpSpPr>
        <p:sp>
          <p:nvSpPr>
            <p:cNvPr id="328" name="Text Box 285">
              <a:extLst>
                <a:ext uri="{FF2B5EF4-FFF2-40B4-BE49-F238E27FC236}">
                  <a16:creationId xmlns:a16="http://schemas.microsoft.com/office/drawing/2014/main" id="{6552704E-18C8-1F45-B183-35CF584169C1}"/>
                </a:ext>
              </a:extLst>
            </p:cNvPr>
            <p:cNvSpPr txBox="1">
              <a:spLocks noChangeArrowheads="1"/>
            </p:cNvSpPr>
            <p:nvPr/>
          </p:nvSpPr>
          <p:spPr bwMode="auto">
            <a:xfrm>
              <a:off x="9984131" y="3536215"/>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330" name="Text Box 287">
              <a:extLst>
                <a:ext uri="{FF2B5EF4-FFF2-40B4-BE49-F238E27FC236}">
                  <a16:creationId xmlns:a16="http://schemas.microsoft.com/office/drawing/2014/main" id="{D3FBF239-D37F-BE46-A593-750EEE535A20}"/>
                </a:ext>
              </a:extLst>
            </p:cNvPr>
            <p:cNvSpPr txBox="1">
              <a:spLocks noChangeArrowheads="1"/>
            </p:cNvSpPr>
            <p:nvPr/>
          </p:nvSpPr>
          <p:spPr bwMode="auto">
            <a:xfrm>
              <a:off x="8924637" y="3354937"/>
              <a:ext cx="801069" cy="6713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mn-cs"/>
                </a:rPr>
                <a:t>in</a:t>
              </a:r>
            </a:p>
          </p:txBody>
        </p:sp>
        <p:sp>
          <p:nvSpPr>
            <p:cNvPr id="321" name="Line 278">
              <a:extLst>
                <a:ext uri="{FF2B5EF4-FFF2-40B4-BE49-F238E27FC236}">
                  <a16:creationId xmlns:a16="http://schemas.microsoft.com/office/drawing/2014/main" id="{8D1C7E69-8607-034F-9010-2F675295D4F5}"/>
                </a:ext>
              </a:extLst>
            </p:cNvPr>
            <p:cNvSpPr>
              <a:spLocks noChangeShapeType="1"/>
            </p:cNvSpPr>
            <p:nvPr/>
          </p:nvSpPr>
          <p:spPr bwMode="auto">
            <a:xfrm>
              <a:off x="8219134" y="1260338"/>
              <a:ext cx="0" cy="215904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3" name="Line 280">
              <a:extLst>
                <a:ext uri="{FF2B5EF4-FFF2-40B4-BE49-F238E27FC236}">
                  <a16:creationId xmlns:a16="http://schemas.microsoft.com/office/drawing/2014/main" id="{7BEEB8CF-6CB9-6340-9F43-F3E16379CE2E}"/>
                </a:ext>
              </a:extLst>
            </p:cNvPr>
            <p:cNvSpPr>
              <a:spLocks noChangeShapeType="1"/>
            </p:cNvSpPr>
            <p:nvPr/>
          </p:nvSpPr>
          <p:spPr bwMode="auto">
            <a:xfrm>
              <a:off x="10226022" y="1496652"/>
              <a:ext cx="0" cy="1869027"/>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4" name="Freeform 281">
              <a:extLst>
                <a:ext uri="{FF2B5EF4-FFF2-40B4-BE49-F238E27FC236}">
                  <a16:creationId xmlns:a16="http://schemas.microsoft.com/office/drawing/2014/main" id="{8E4BA303-1A21-0447-B1FD-7D49AEC15714}"/>
                </a:ext>
              </a:extLst>
            </p:cNvPr>
            <p:cNvSpPr>
              <a:spLocks/>
            </p:cNvSpPr>
            <p:nvPr/>
          </p:nvSpPr>
          <p:spPr bwMode="auto">
            <a:xfrm>
              <a:off x="8207891" y="1437573"/>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5" name="Line 282">
              <a:extLst>
                <a:ext uri="{FF2B5EF4-FFF2-40B4-BE49-F238E27FC236}">
                  <a16:creationId xmlns:a16="http://schemas.microsoft.com/office/drawing/2014/main" id="{0C4AD16F-1863-314E-9708-694B5FDAA99C}"/>
                </a:ext>
              </a:extLst>
            </p:cNvPr>
            <p:cNvSpPr>
              <a:spLocks noChangeShapeType="1"/>
            </p:cNvSpPr>
            <p:nvPr/>
          </p:nvSpPr>
          <p:spPr bwMode="auto">
            <a:xfrm>
              <a:off x="8072974" y="1437573"/>
              <a:ext cx="14053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6" name="Line 283">
              <a:extLst>
                <a:ext uri="{FF2B5EF4-FFF2-40B4-BE49-F238E27FC236}">
                  <a16:creationId xmlns:a16="http://schemas.microsoft.com/office/drawing/2014/main" id="{9408EF0E-6715-C947-964B-F65207653824}"/>
                </a:ext>
              </a:extLst>
            </p:cNvPr>
            <p:cNvSpPr>
              <a:spLocks noChangeShapeType="1"/>
            </p:cNvSpPr>
            <p:nvPr/>
          </p:nvSpPr>
          <p:spPr bwMode="auto">
            <a:xfrm>
              <a:off x="10220401" y="3419386"/>
              <a:ext cx="0" cy="15575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27" name="Text Box 284">
              <a:extLst>
                <a:ext uri="{FF2B5EF4-FFF2-40B4-BE49-F238E27FC236}">
                  <a16:creationId xmlns:a16="http://schemas.microsoft.com/office/drawing/2014/main" id="{DA7FA505-87D5-134C-A7F4-6FFBF2A5BAFE}"/>
                </a:ext>
              </a:extLst>
            </p:cNvPr>
            <p:cNvSpPr txBox="1">
              <a:spLocks noChangeArrowheads="1"/>
            </p:cNvSpPr>
            <p:nvPr/>
          </p:nvSpPr>
          <p:spPr bwMode="auto">
            <a:xfrm>
              <a:off x="7614918" y="1263052"/>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329" name="Text Box 286">
              <a:extLst>
                <a:ext uri="{FF2B5EF4-FFF2-40B4-BE49-F238E27FC236}">
                  <a16:creationId xmlns:a16="http://schemas.microsoft.com/office/drawing/2014/main" id="{F49DCA20-B1B5-E041-9E16-56DEDA3D0B40}"/>
                </a:ext>
              </a:extLst>
            </p:cNvPr>
            <p:cNvSpPr txBox="1">
              <a:spLocks noChangeArrowheads="1"/>
            </p:cNvSpPr>
            <p:nvPr/>
          </p:nvSpPr>
          <p:spPr bwMode="auto">
            <a:xfrm rot="16200000">
              <a:off x="7645131" y="1392361"/>
              <a:ext cx="937199" cy="702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mn-cs"/>
                </a:rPr>
                <a:t>out</a:t>
              </a:r>
            </a:p>
          </p:txBody>
        </p:sp>
        <p:sp>
          <p:nvSpPr>
            <p:cNvPr id="331" name="Line 288">
              <a:extLst>
                <a:ext uri="{FF2B5EF4-FFF2-40B4-BE49-F238E27FC236}">
                  <a16:creationId xmlns:a16="http://schemas.microsoft.com/office/drawing/2014/main" id="{91CAA45D-D9D4-7D43-8A3C-E896823A07F2}"/>
                </a:ext>
              </a:extLst>
            </p:cNvPr>
            <p:cNvSpPr>
              <a:spLocks noChangeShapeType="1"/>
            </p:cNvSpPr>
            <p:nvPr/>
          </p:nvSpPr>
          <p:spPr bwMode="auto">
            <a:xfrm>
              <a:off x="8252864" y="1440259"/>
              <a:ext cx="1841053"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cxnSp>
          <p:nvCxnSpPr>
            <p:cNvPr id="4" name="Straight Connector 3">
              <a:extLst>
                <a:ext uri="{FF2B5EF4-FFF2-40B4-BE49-F238E27FC236}">
                  <a16:creationId xmlns:a16="http://schemas.microsoft.com/office/drawing/2014/main" id="{E424D221-E335-BE44-90B5-F02D72533E0A}"/>
                </a:ext>
              </a:extLst>
            </p:cNvPr>
            <p:cNvCxnSpPr>
              <a:cxnSpLocks/>
            </p:cNvCxnSpPr>
            <p:nvPr/>
          </p:nvCxnSpPr>
          <p:spPr>
            <a:xfrm>
              <a:off x="8229601" y="3397718"/>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378D6D1-AFF2-2349-B28A-F078B72C27EA}"/>
                </a:ext>
              </a:extLst>
            </p:cNvPr>
            <p:cNvSpPr txBox="1"/>
            <p:nvPr/>
          </p:nvSpPr>
          <p:spPr>
            <a:xfrm rot="16200000">
              <a:off x="7392763" y="2479458"/>
              <a:ext cx="123450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throughput: </a:t>
              </a:r>
            </a:p>
          </p:txBody>
        </p:sp>
        <p:sp>
          <p:nvSpPr>
            <p:cNvPr id="8" name="Oval 7">
              <a:extLst>
                <a:ext uri="{FF2B5EF4-FFF2-40B4-BE49-F238E27FC236}">
                  <a16:creationId xmlns:a16="http://schemas.microsoft.com/office/drawing/2014/main" id="{CC0BD9B2-FF07-7748-9C3C-FBC864C16D93}"/>
                </a:ext>
              </a:extLst>
            </p:cNvPr>
            <p:cNvSpPr/>
            <p:nvPr/>
          </p:nvSpPr>
          <p:spPr>
            <a:xfrm>
              <a:off x="10147300" y="1397000"/>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77" name="Slide Number Placeholder 2">
            <a:extLst>
              <a:ext uri="{FF2B5EF4-FFF2-40B4-BE49-F238E27FC236}">
                <a16:creationId xmlns:a16="http://schemas.microsoft.com/office/drawing/2014/main" id="{20FB35DE-567D-2248-A135-547303EA8E6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39</a:t>
            </a:fld>
            <a:endParaRPr lang="en-US" dirty="0"/>
          </a:p>
        </p:txBody>
      </p:sp>
    </p:spTree>
    <p:extLst>
      <p:ext uri="{BB962C8B-B14F-4D97-AF65-F5344CB8AC3E}">
        <p14:creationId xmlns:p14="http://schemas.microsoft.com/office/powerpoint/2010/main" val="44509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dissolve">
                                      <p:cBhvr>
                                        <p:cTn id="7" dur="500"/>
                                        <p:tgtEl>
                                          <p:spTgt spid="235"/>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5 L -5.55556E-7 0.03542 " pathEditMode="relative" rAng="0" ptsTypes="AA">
                                      <p:cBhvr>
                                        <p:cTn id="10" dur="2000" fill="hold"/>
                                        <p:tgtEl>
                                          <p:spTgt spid="235"/>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236"/>
                                        </p:tgtEl>
                                        <p:attrNameLst>
                                          <p:attrName>style.visibility</p:attrName>
                                        </p:attrNameLst>
                                      </p:cBhvr>
                                      <p:to>
                                        <p:strVal val="visible"/>
                                      </p:to>
                                    </p:set>
                                    <p:animEffect transition="in" filter="dissolve">
                                      <p:cBhvr>
                                        <p:cTn id="14" dur="500"/>
                                        <p:tgtEl>
                                          <p:spTgt spid="23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7"/>
                                        </p:tgtEl>
                                        <p:attrNameLst>
                                          <p:attrName>style.visibility</p:attrName>
                                        </p:attrNameLst>
                                      </p:cBhvr>
                                      <p:to>
                                        <p:strVal val="visible"/>
                                      </p:to>
                                    </p:set>
                                    <p:animEffect transition="in" filter="dissolve">
                                      <p:cBhvr>
                                        <p:cTn id="17" dur="500"/>
                                        <p:tgtEl>
                                          <p:spTgt spid="237"/>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1.875E-6 0.03542 L 0.00026 0.17778 L 0.06537 0.17871 L 0.03542 0.24167 L 0.14753 0.24167 " pathEditMode="relative" rAng="0" ptsTypes="AAAAA">
                                      <p:cBhvr>
                                        <p:cTn id="20" dur="2000" fill="hold"/>
                                        <p:tgtEl>
                                          <p:spTgt spid="235"/>
                                        </p:tgtEl>
                                        <p:attrNameLst>
                                          <p:attrName>ppt_x</p:attrName>
                                          <p:attrName>ppt_y</p:attrName>
                                        </p:attrNameLst>
                                      </p:cBhvr>
                                      <p:rCtr x="7370" y="10301"/>
                                    </p:animMotion>
                                  </p:childTnLst>
                                </p:cTn>
                              </p:par>
                              <p:par>
                                <p:cTn id="21" presetID="9" presetClass="exit" presetSubtype="0" fill="hold" grpId="1" nodeType="withEffect">
                                  <p:stCondLst>
                                    <p:cond delay="0"/>
                                  </p:stCondLst>
                                  <p:childTnLst>
                                    <p:animEffect transition="out" filter="dissolve">
                                      <p:cBhvr>
                                        <p:cTn id="22" dur="500"/>
                                        <p:tgtEl>
                                          <p:spTgt spid="237"/>
                                        </p:tgtEl>
                                      </p:cBhvr>
                                    </p:animEffect>
                                    <p:set>
                                      <p:cBhvr>
                                        <p:cTn id="23" dur="1" fill="hold">
                                          <p:stCondLst>
                                            <p:cond delay="499"/>
                                          </p:stCondLst>
                                        </p:cTn>
                                        <p:tgtEl>
                                          <p:spTgt spid="237"/>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238"/>
                                        </p:tgtEl>
                                        <p:attrNameLst>
                                          <p:attrName>style.visibility</p:attrName>
                                        </p:attrNameLst>
                                      </p:cBhvr>
                                      <p:to>
                                        <p:strVal val="visible"/>
                                      </p:to>
                                    </p:set>
                                    <p:animEffect transition="in" filter="dissolve">
                                      <p:cBhvr>
                                        <p:cTn id="27" dur="500"/>
                                        <p:tgtEl>
                                          <p:spTgt spid="238"/>
                                        </p:tgtEl>
                                      </p:cBhvr>
                                    </p:animEffect>
                                  </p:childTnLst>
                                </p:cTn>
                              </p:par>
                            </p:childTnLst>
                          </p:cTn>
                        </p:par>
                        <p:par>
                          <p:cTn id="28" fill="hold">
                            <p:stCondLst>
                              <p:cond delay="5500"/>
                            </p:stCondLst>
                            <p:childTnLst>
                              <p:par>
                                <p:cTn id="29" presetID="0" presetClass="path" presetSubtype="0" accel="50000" decel="50000" fill="hold" grpId="3" nodeType="afterEffect">
                                  <p:stCondLst>
                                    <p:cond delay="0"/>
                                  </p:stCondLst>
                                  <p:childTnLst>
                                    <p:animMotion origin="layout" path="M 0.14753 0.24167 L 0.17917 0.24167 " pathEditMode="relative" rAng="0" ptsTypes="AA">
                                      <p:cBhvr>
                                        <p:cTn id="30" dur="3000" fill="hold"/>
                                        <p:tgtEl>
                                          <p:spTgt spid="235"/>
                                        </p:tgtEl>
                                        <p:attrNameLst>
                                          <p:attrName>ppt_x</p:attrName>
                                          <p:attrName>ppt_y</p:attrName>
                                        </p:attrNameLst>
                                      </p:cBhvr>
                                      <p:rCtr x="1576" y="0"/>
                                    </p:animMotion>
                                  </p:childTnLst>
                                </p:cTn>
                              </p:par>
                            </p:childTnLst>
                          </p:cTn>
                        </p:par>
                        <p:par>
                          <p:cTn id="31" fill="hold">
                            <p:stCondLst>
                              <p:cond delay="8500"/>
                            </p:stCondLst>
                            <p:childTnLst>
                              <p:par>
                                <p:cTn id="32" presetID="9" presetClass="exit" presetSubtype="0" fill="hold" grpId="1" nodeType="afterEffect">
                                  <p:stCondLst>
                                    <p:cond delay="0"/>
                                  </p:stCondLst>
                                  <p:childTnLst>
                                    <p:animEffect transition="out" filter="dissolve">
                                      <p:cBhvr>
                                        <p:cTn id="33" dur="500"/>
                                        <p:tgtEl>
                                          <p:spTgt spid="238"/>
                                        </p:tgtEl>
                                      </p:cBhvr>
                                    </p:animEffect>
                                    <p:set>
                                      <p:cBhvr>
                                        <p:cTn id="34" dur="1" fill="hold">
                                          <p:stCondLst>
                                            <p:cond delay="499"/>
                                          </p:stCondLst>
                                        </p:cTn>
                                        <p:tgtEl>
                                          <p:spTgt spid="238"/>
                                        </p:tgtEl>
                                        <p:attrNameLst>
                                          <p:attrName>style.visibility</p:attrName>
                                        </p:attrNameLst>
                                      </p:cBhvr>
                                      <p:to>
                                        <p:strVal val="hidden"/>
                                      </p:to>
                                    </p:set>
                                  </p:childTnLst>
                                </p:cTn>
                              </p:par>
                            </p:childTnLst>
                          </p:cTn>
                        </p:par>
                        <p:par>
                          <p:cTn id="35" fill="hold">
                            <p:stCondLst>
                              <p:cond delay="9000"/>
                            </p:stCondLst>
                            <p:childTnLst>
                              <p:par>
                                <p:cTn id="36" presetID="0" presetClass="path" presetSubtype="0" accel="50000" decel="50000" fill="hold" grpId="4" nodeType="afterEffect">
                                  <p:stCondLst>
                                    <p:cond delay="0"/>
                                  </p:stCondLst>
                                  <p:childTnLst>
                                    <p:animMotion origin="layout" path="M 0.17917 0.24167 L 0.22526 0.24167 L 0.27005 0.15278 L 0.33347 0.15278 L 0.33177 0.01297 " pathEditMode="relative" rAng="0" ptsTypes="AAAAA">
                                      <p:cBhvr>
                                        <p:cTn id="37" dur="2000" fill="hold"/>
                                        <p:tgtEl>
                                          <p:spTgt spid="235"/>
                                        </p:tgtEl>
                                        <p:attrNameLst>
                                          <p:attrName>ppt_x</p:attrName>
                                          <p:attrName>ppt_y</p:attrName>
                                        </p:attrNameLst>
                                      </p:cBhvr>
                                      <p:rCtr x="7708" y="-11435"/>
                                    </p:animMotion>
                                  </p:childTnLst>
                                </p:cTn>
                              </p:par>
                            </p:childTnLst>
                          </p:cTn>
                        </p:par>
                        <p:par>
                          <p:cTn id="38" fill="hold">
                            <p:stCondLst>
                              <p:cond delay="11000"/>
                            </p:stCondLst>
                            <p:childTnLst>
                              <p:par>
                                <p:cTn id="39" presetID="9" presetClass="exit" presetSubtype="0" fill="hold" grpId="5" nodeType="afterEffect">
                                  <p:stCondLst>
                                    <p:cond delay="0"/>
                                  </p:stCondLst>
                                  <p:childTnLst>
                                    <p:animEffect transition="out" filter="dissolve">
                                      <p:cBhvr>
                                        <p:cTn id="40" dur="500"/>
                                        <p:tgtEl>
                                          <p:spTgt spid="235"/>
                                        </p:tgtEl>
                                      </p:cBhvr>
                                    </p:animEffect>
                                    <p:set>
                                      <p:cBhvr>
                                        <p:cTn id="41" dur="1" fill="hold">
                                          <p:stCondLst>
                                            <p:cond delay="499"/>
                                          </p:stCondLst>
                                        </p:cTn>
                                        <p:tgtEl>
                                          <p:spTgt spid="235"/>
                                        </p:tgtEl>
                                        <p:attrNameLst>
                                          <p:attrName>style.visibility</p:attrName>
                                        </p:attrNameLst>
                                      </p:cBhvr>
                                      <p:to>
                                        <p:strVal val="hidden"/>
                                      </p:to>
                                    </p:set>
                                  </p:childTnLst>
                                </p:cTn>
                              </p:par>
                              <p:par>
                                <p:cTn id="42" presetID="9" presetClass="exit" presetSubtype="0" fill="hold" grpId="1" nodeType="withEffect">
                                  <p:stCondLst>
                                    <p:cond delay="0"/>
                                  </p:stCondLst>
                                  <p:childTnLst>
                                    <p:animEffect transition="out" filter="dissolve">
                                      <p:cBhvr>
                                        <p:cTn id="43" dur="500"/>
                                        <p:tgtEl>
                                          <p:spTgt spid="236"/>
                                        </p:tgtEl>
                                      </p:cBhvr>
                                    </p:animEffect>
                                    <p:set>
                                      <p:cBhvr>
                                        <p:cTn id="44" dur="1" fill="hold">
                                          <p:stCondLst>
                                            <p:cond delay="499"/>
                                          </p:stCondLst>
                                        </p:cTn>
                                        <p:tgtEl>
                                          <p:spTgt spid="23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dissolve">
                                      <p:cBhvr>
                                        <p:cTn id="4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animBg="1"/>
      <p:bldP spid="235" grpId="1" animBg="1"/>
      <p:bldP spid="235" grpId="2" animBg="1"/>
      <p:bldP spid="235" grpId="3" animBg="1"/>
      <p:bldP spid="235" grpId="4" animBg="1"/>
      <p:bldP spid="235" grpId="5" animBg="1"/>
      <p:bldP spid="236" grpId="0" animBg="1"/>
      <p:bldP spid="236" grpId="1" animBg="1"/>
      <p:bldP spid="237" grpId="0"/>
      <p:bldP spid="237" grpId="1"/>
      <p:bldP spid="238" grpId="0"/>
      <p:bldP spid="238"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Picture 2" descr="garbage_can">
            <a:extLst>
              <a:ext uri="{FF2B5EF4-FFF2-40B4-BE49-F238E27FC236}">
                <a16:creationId xmlns:a16="http://schemas.microsoft.com/office/drawing/2014/main" id="{584AA802-2B1D-9B45-90AF-1F6B78CA92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9913" y="5775325"/>
            <a:ext cx="4873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Freeform 3">
            <a:extLst>
              <a:ext uri="{FF2B5EF4-FFF2-40B4-BE49-F238E27FC236}">
                <a16:creationId xmlns:a16="http://schemas.microsoft.com/office/drawing/2014/main" id="{56CD104B-8E67-7142-9E50-DB57D15E8A76}"/>
              </a:ext>
            </a:extLst>
          </p:cNvPr>
          <p:cNvSpPr>
            <a:spLocks/>
          </p:cNvSpPr>
          <p:nvPr/>
        </p:nvSpPr>
        <p:spPr bwMode="auto">
          <a:xfrm>
            <a:off x="6946976" y="5009814"/>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47" name="Group 446">
            <a:extLst>
              <a:ext uri="{FF2B5EF4-FFF2-40B4-BE49-F238E27FC236}">
                <a16:creationId xmlns:a16="http://schemas.microsoft.com/office/drawing/2014/main" id="{E3154B3D-EA89-ED49-9BDD-71ADB5CBED52}"/>
              </a:ext>
            </a:extLst>
          </p:cNvPr>
          <p:cNvGrpSpPr/>
          <p:nvPr/>
        </p:nvGrpSpPr>
        <p:grpSpPr>
          <a:xfrm>
            <a:off x="6240513" y="5016599"/>
            <a:ext cx="720732" cy="1182930"/>
            <a:chOff x="10910965" y="2513124"/>
            <a:chExt cx="586768" cy="904023"/>
          </a:xfrm>
        </p:grpSpPr>
        <p:sp>
          <p:nvSpPr>
            <p:cNvPr id="448" name="Rectangle 447">
              <a:extLst>
                <a:ext uri="{FF2B5EF4-FFF2-40B4-BE49-F238E27FC236}">
                  <a16:creationId xmlns:a16="http://schemas.microsoft.com/office/drawing/2014/main" id="{C20196EC-5C9D-244E-A054-231C07CB12EB}"/>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49" name="Straight Connector 448">
              <a:extLst>
                <a:ext uri="{FF2B5EF4-FFF2-40B4-BE49-F238E27FC236}">
                  <a16:creationId xmlns:a16="http://schemas.microsoft.com/office/drawing/2014/main" id="{20DAC0A1-5E9E-9342-8773-AC28BFF1C79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B9D8B51B-4873-D441-BBAD-7FC691EBDD5D}"/>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3C668D72-9BBE-1141-800B-852CFD5E677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1EAA48DB-862D-C446-8306-33815B191079}"/>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3" name="Freeform 9">
            <a:extLst>
              <a:ext uri="{FF2B5EF4-FFF2-40B4-BE49-F238E27FC236}">
                <a16:creationId xmlns:a16="http://schemas.microsoft.com/office/drawing/2014/main" id="{259E0A94-54BE-7245-80CC-030B9BD2E052}"/>
              </a:ext>
            </a:extLst>
          </p:cNvPr>
          <p:cNvSpPr>
            <a:spLocks/>
          </p:cNvSpPr>
          <p:nvPr/>
        </p:nvSpPr>
        <p:spPr bwMode="auto">
          <a:xfrm flipH="1">
            <a:off x="1844721" y="3515638"/>
            <a:ext cx="528348" cy="117827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4" name="Group 153">
            <a:extLst>
              <a:ext uri="{FF2B5EF4-FFF2-40B4-BE49-F238E27FC236}">
                <a16:creationId xmlns:a16="http://schemas.microsoft.com/office/drawing/2014/main" id="{746745B0-4450-AC42-B8BD-FE92C0ADE9D4}"/>
              </a:ext>
            </a:extLst>
          </p:cNvPr>
          <p:cNvGrpSpPr/>
          <p:nvPr/>
        </p:nvGrpSpPr>
        <p:grpSpPr>
          <a:xfrm>
            <a:off x="1278678" y="4683698"/>
            <a:ext cx="720732" cy="1182930"/>
            <a:chOff x="10910965" y="2513124"/>
            <a:chExt cx="586768" cy="904023"/>
          </a:xfrm>
        </p:grpSpPr>
        <p:sp>
          <p:nvSpPr>
            <p:cNvPr id="439" name="Rectangle 438">
              <a:extLst>
                <a:ext uri="{FF2B5EF4-FFF2-40B4-BE49-F238E27FC236}">
                  <a16:creationId xmlns:a16="http://schemas.microsoft.com/office/drawing/2014/main" id="{95C531B4-14C6-CF42-8F62-ECB0746666C0}"/>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40" name="Straight Connector 439">
              <a:extLst>
                <a:ext uri="{FF2B5EF4-FFF2-40B4-BE49-F238E27FC236}">
                  <a16:creationId xmlns:a16="http://schemas.microsoft.com/office/drawing/2014/main" id="{31B59911-BB8F-554E-A3ED-D3BD4296D93A}"/>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7535AE79-BB12-7844-B2DA-41BDECE3CD4A}"/>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0B14C542-C613-7E4B-9B5A-53DE92065BB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04BDA539-80EE-F64B-81C9-754C3FD32FF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5" name="Group 154">
            <a:extLst>
              <a:ext uri="{FF2B5EF4-FFF2-40B4-BE49-F238E27FC236}">
                <a16:creationId xmlns:a16="http://schemas.microsoft.com/office/drawing/2014/main" id="{4879B8F7-8950-1649-8D37-378ECBBFDB62}"/>
              </a:ext>
            </a:extLst>
          </p:cNvPr>
          <p:cNvGrpSpPr/>
          <p:nvPr/>
        </p:nvGrpSpPr>
        <p:grpSpPr>
          <a:xfrm>
            <a:off x="2355044" y="3521091"/>
            <a:ext cx="720732" cy="1182930"/>
            <a:chOff x="10910965" y="2513124"/>
            <a:chExt cx="586768" cy="904023"/>
          </a:xfrm>
        </p:grpSpPr>
        <p:sp>
          <p:nvSpPr>
            <p:cNvPr id="434" name="Rectangle 433">
              <a:extLst>
                <a:ext uri="{FF2B5EF4-FFF2-40B4-BE49-F238E27FC236}">
                  <a16:creationId xmlns:a16="http://schemas.microsoft.com/office/drawing/2014/main" id="{4E1426E7-23EC-AF46-8C8F-112D49CD5E79}"/>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35" name="Straight Connector 434">
              <a:extLst>
                <a:ext uri="{FF2B5EF4-FFF2-40B4-BE49-F238E27FC236}">
                  <a16:creationId xmlns:a16="http://schemas.microsoft.com/office/drawing/2014/main" id="{20090985-59C2-BD4B-855E-827534772F4D}"/>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5F629929-45C7-FC4C-A84E-2FD6FDD93F4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B8ED8CF2-A42B-EE49-9744-A4C7F576E88D}"/>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635F92FB-5801-1845-9FAD-2C2BFB02757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1" name="Freeform 6">
            <a:extLst>
              <a:ext uri="{FF2B5EF4-FFF2-40B4-BE49-F238E27FC236}">
                <a16:creationId xmlns:a16="http://schemas.microsoft.com/office/drawing/2014/main" id="{E2AF8D49-A0C7-EC4A-803B-E7B675E9573F}"/>
              </a:ext>
            </a:extLst>
          </p:cNvPr>
          <p:cNvSpPr>
            <a:spLocks/>
          </p:cNvSpPr>
          <p:nvPr/>
        </p:nvSpPr>
        <p:spPr bwMode="auto">
          <a:xfrm>
            <a:off x="7409112" y="3699469"/>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2" name="Group 161">
            <a:extLst>
              <a:ext uri="{FF2B5EF4-FFF2-40B4-BE49-F238E27FC236}">
                <a16:creationId xmlns:a16="http://schemas.microsoft.com/office/drawing/2014/main" id="{5C7D5A1E-3514-C947-B273-F2E0678C33D3}"/>
              </a:ext>
            </a:extLst>
          </p:cNvPr>
          <p:cNvGrpSpPr/>
          <p:nvPr/>
        </p:nvGrpSpPr>
        <p:grpSpPr>
          <a:xfrm>
            <a:off x="6698918" y="3667889"/>
            <a:ext cx="720732" cy="1182930"/>
            <a:chOff x="10910965" y="2513124"/>
            <a:chExt cx="586768" cy="904023"/>
          </a:xfrm>
        </p:grpSpPr>
        <p:sp>
          <p:nvSpPr>
            <p:cNvPr id="429" name="Rectangle 428">
              <a:extLst>
                <a:ext uri="{FF2B5EF4-FFF2-40B4-BE49-F238E27FC236}">
                  <a16:creationId xmlns:a16="http://schemas.microsoft.com/office/drawing/2014/main" id="{E1244AFB-0325-244E-A9B8-C17FA4F7C011}"/>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30" name="Straight Connector 429">
              <a:extLst>
                <a:ext uri="{FF2B5EF4-FFF2-40B4-BE49-F238E27FC236}">
                  <a16:creationId xmlns:a16="http://schemas.microsoft.com/office/drawing/2014/main" id="{A4F86619-DC06-F44A-B7E8-F853FF0B8F13}"/>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58D6F3BD-6F9A-CE4C-A9E8-F1527ABCD40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A7318AF6-6AC3-FD4C-9C9B-6AEF838CD717}"/>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D496FD87-9FA2-E348-8DF6-0A2ED6851CEA}"/>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id="{357E12A1-9668-9B42-B100-34C1DE0591E4}"/>
              </a:ext>
            </a:extLst>
          </p:cNvPr>
          <p:cNvGrpSpPr/>
          <p:nvPr/>
        </p:nvGrpSpPr>
        <p:grpSpPr>
          <a:xfrm>
            <a:off x="3770696" y="5033645"/>
            <a:ext cx="1286871" cy="734927"/>
            <a:chOff x="7493876" y="2774731"/>
            <a:chExt cx="1481958" cy="894622"/>
          </a:xfrm>
        </p:grpSpPr>
        <p:sp>
          <p:nvSpPr>
            <p:cNvPr id="422" name="Freeform 421">
              <a:extLst>
                <a:ext uri="{FF2B5EF4-FFF2-40B4-BE49-F238E27FC236}">
                  <a16:creationId xmlns:a16="http://schemas.microsoft.com/office/drawing/2014/main" id="{F56C0630-709C-2843-A3DC-28B191A54A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23" name="Oval 422">
              <a:extLst>
                <a:ext uri="{FF2B5EF4-FFF2-40B4-BE49-F238E27FC236}">
                  <a16:creationId xmlns:a16="http://schemas.microsoft.com/office/drawing/2014/main" id="{295F088B-9D9D-964F-AA6D-D5327CE0C3A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24" name="Group 423">
              <a:extLst>
                <a:ext uri="{FF2B5EF4-FFF2-40B4-BE49-F238E27FC236}">
                  <a16:creationId xmlns:a16="http://schemas.microsoft.com/office/drawing/2014/main" id="{B1CAB28B-358E-AA46-BD50-E34CAAEF8E8D}"/>
                </a:ext>
              </a:extLst>
            </p:cNvPr>
            <p:cNvGrpSpPr/>
            <p:nvPr/>
          </p:nvGrpSpPr>
          <p:grpSpPr>
            <a:xfrm>
              <a:off x="7713663" y="2848339"/>
              <a:ext cx="1042107" cy="425543"/>
              <a:chOff x="7786941" y="2884917"/>
              <a:chExt cx="897649" cy="353919"/>
            </a:xfrm>
          </p:grpSpPr>
          <p:sp>
            <p:nvSpPr>
              <p:cNvPr id="425" name="Freeform 424">
                <a:extLst>
                  <a:ext uri="{FF2B5EF4-FFF2-40B4-BE49-F238E27FC236}">
                    <a16:creationId xmlns:a16="http://schemas.microsoft.com/office/drawing/2014/main" id="{01DD581A-A88A-A243-9941-2CA12F31E1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6" name="Freeform 425">
                <a:extLst>
                  <a:ext uri="{FF2B5EF4-FFF2-40B4-BE49-F238E27FC236}">
                    <a16:creationId xmlns:a16="http://schemas.microsoft.com/office/drawing/2014/main" id="{DC80F0DF-8C07-9F4B-A91E-B69266F157E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7" name="Freeform 426">
                <a:extLst>
                  <a:ext uri="{FF2B5EF4-FFF2-40B4-BE49-F238E27FC236}">
                    <a16:creationId xmlns:a16="http://schemas.microsoft.com/office/drawing/2014/main" id="{F8E66F3B-2637-A747-9C24-85B20184E6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8" name="Freeform 427">
                <a:extLst>
                  <a:ext uri="{FF2B5EF4-FFF2-40B4-BE49-F238E27FC236}">
                    <a16:creationId xmlns:a16="http://schemas.microsoft.com/office/drawing/2014/main" id="{3334DF4C-51D1-1941-B531-C15B374AB0E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4" name="Group 124">
            <a:extLst>
              <a:ext uri="{FF2B5EF4-FFF2-40B4-BE49-F238E27FC236}">
                <a16:creationId xmlns:a16="http://schemas.microsoft.com/office/drawing/2014/main" id="{FC5EB0EE-47AC-FF4C-AF7B-EEF579419908}"/>
              </a:ext>
            </a:extLst>
          </p:cNvPr>
          <p:cNvGrpSpPr>
            <a:grpSpLocks/>
          </p:cNvGrpSpPr>
          <p:nvPr/>
        </p:nvGrpSpPr>
        <p:grpSpPr bwMode="auto">
          <a:xfrm>
            <a:off x="1317421" y="3877120"/>
            <a:ext cx="645431" cy="569172"/>
            <a:chOff x="-44" y="1473"/>
            <a:chExt cx="981" cy="1105"/>
          </a:xfrm>
        </p:grpSpPr>
        <p:pic>
          <p:nvPicPr>
            <p:cNvPr id="420" name="Picture 125" descr="desktop_computer_stylized_medium">
              <a:extLst>
                <a:ext uri="{FF2B5EF4-FFF2-40B4-BE49-F238E27FC236}">
                  <a16:creationId xmlns:a16="http://schemas.microsoft.com/office/drawing/2014/main" id="{DCB34079-A6E3-9D4A-BE16-E82BDFE7BE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1" name="Freeform 126">
              <a:extLst>
                <a:ext uri="{FF2B5EF4-FFF2-40B4-BE49-F238E27FC236}">
                  <a16:creationId xmlns:a16="http://schemas.microsoft.com/office/drawing/2014/main" id="{B18A6DB4-0DA7-0441-9809-42625EC3D67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66" name="Freeform 12">
            <a:extLst>
              <a:ext uri="{FF2B5EF4-FFF2-40B4-BE49-F238E27FC236}">
                <a16:creationId xmlns:a16="http://schemas.microsoft.com/office/drawing/2014/main" id="{3953C5E3-1C88-7F42-A861-A35744860036}"/>
              </a:ext>
            </a:extLst>
          </p:cNvPr>
          <p:cNvSpPr>
            <a:spLocks/>
          </p:cNvSpPr>
          <p:nvPr/>
        </p:nvSpPr>
        <p:spPr bwMode="auto">
          <a:xfrm flipH="1">
            <a:off x="978210" y="4681606"/>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7" name="Line 33">
            <a:extLst>
              <a:ext uri="{FF2B5EF4-FFF2-40B4-BE49-F238E27FC236}">
                <a16:creationId xmlns:a16="http://schemas.microsoft.com/office/drawing/2014/main" id="{6B880909-138C-864F-A544-21462FBDBD13}"/>
              </a:ext>
            </a:extLst>
          </p:cNvPr>
          <p:cNvSpPr>
            <a:spLocks noChangeShapeType="1"/>
          </p:cNvSpPr>
          <p:nvPr/>
        </p:nvSpPr>
        <p:spPr bwMode="auto">
          <a:xfrm flipH="1">
            <a:off x="2405566"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Text Box 42">
            <a:extLst>
              <a:ext uri="{FF2B5EF4-FFF2-40B4-BE49-F238E27FC236}">
                <a16:creationId xmlns:a16="http://schemas.microsoft.com/office/drawing/2014/main" id="{C12F884F-8B3B-254B-979E-446A00E57D14}"/>
              </a:ext>
            </a:extLst>
          </p:cNvPr>
          <p:cNvSpPr txBox="1">
            <a:spLocks noChangeArrowheads="1"/>
          </p:cNvSpPr>
          <p:nvPr/>
        </p:nvSpPr>
        <p:spPr bwMode="auto">
          <a:xfrm>
            <a:off x="1088616" y="3529817"/>
            <a:ext cx="1122503"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169" name="Text Box 52">
            <a:extLst>
              <a:ext uri="{FF2B5EF4-FFF2-40B4-BE49-F238E27FC236}">
                <a16:creationId xmlns:a16="http://schemas.microsoft.com/office/drawing/2014/main" id="{7B14A372-36AF-7943-B01F-CCDE7A3DF094}"/>
              </a:ext>
            </a:extLst>
          </p:cNvPr>
          <p:cNvSpPr txBox="1">
            <a:spLocks noChangeArrowheads="1"/>
          </p:cNvSpPr>
          <p:nvPr/>
        </p:nvSpPr>
        <p:spPr bwMode="auto">
          <a:xfrm>
            <a:off x="1083435" y="6053488"/>
            <a:ext cx="981577"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170" name="Line 53">
            <a:extLst>
              <a:ext uri="{FF2B5EF4-FFF2-40B4-BE49-F238E27FC236}">
                <a16:creationId xmlns:a16="http://schemas.microsoft.com/office/drawing/2014/main" id="{E766E562-5368-124F-9601-7FDC89262714}"/>
              </a:ext>
            </a:extLst>
          </p:cNvPr>
          <p:cNvSpPr>
            <a:spLocks noChangeShapeType="1"/>
          </p:cNvSpPr>
          <p:nvPr/>
        </p:nvSpPr>
        <p:spPr bwMode="auto">
          <a:xfrm flipH="1">
            <a:off x="3002248"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Line 54">
            <a:extLst>
              <a:ext uri="{FF2B5EF4-FFF2-40B4-BE49-F238E27FC236}">
                <a16:creationId xmlns:a16="http://schemas.microsoft.com/office/drawing/2014/main" id="{5217D62B-C74B-E74F-A167-EAC133435E5A}"/>
              </a:ext>
            </a:extLst>
          </p:cNvPr>
          <p:cNvSpPr>
            <a:spLocks noChangeShapeType="1"/>
          </p:cNvSpPr>
          <p:nvPr/>
        </p:nvSpPr>
        <p:spPr bwMode="auto">
          <a:xfrm flipH="1">
            <a:off x="4991187"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2" name="Line 55">
            <a:extLst>
              <a:ext uri="{FF2B5EF4-FFF2-40B4-BE49-F238E27FC236}">
                <a16:creationId xmlns:a16="http://schemas.microsoft.com/office/drawing/2014/main" id="{13864E4D-0C95-B848-9A1E-13BC90244670}"/>
              </a:ext>
            </a:extLst>
          </p:cNvPr>
          <p:cNvSpPr>
            <a:spLocks noChangeShapeType="1"/>
          </p:cNvSpPr>
          <p:nvPr/>
        </p:nvSpPr>
        <p:spPr bwMode="auto">
          <a:xfrm flipH="1">
            <a:off x="5143282"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Line 57">
            <a:extLst>
              <a:ext uri="{FF2B5EF4-FFF2-40B4-BE49-F238E27FC236}">
                <a16:creationId xmlns:a16="http://schemas.microsoft.com/office/drawing/2014/main" id="{BF96F5E7-6F33-8C4E-8B93-288BD347F4C8}"/>
              </a:ext>
            </a:extLst>
          </p:cNvPr>
          <p:cNvSpPr>
            <a:spLocks noChangeShapeType="1"/>
          </p:cNvSpPr>
          <p:nvPr/>
        </p:nvSpPr>
        <p:spPr bwMode="auto">
          <a:xfrm flipH="1">
            <a:off x="6275655" y="4856289"/>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08" name="Group 127">
            <a:extLst>
              <a:ext uri="{FF2B5EF4-FFF2-40B4-BE49-F238E27FC236}">
                <a16:creationId xmlns:a16="http://schemas.microsoft.com/office/drawing/2014/main" id="{5A859FBC-BCA2-C842-8621-8728D6AA737D}"/>
              </a:ext>
            </a:extLst>
          </p:cNvPr>
          <p:cNvGrpSpPr>
            <a:grpSpLocks/>
          </p:cNvGrpSpPr>
          <p:nvPr/>
        </p:nvGrpSpPr>
        <p:grpSpPr bwMode="auto">
          <a:xfrm>
            <a:off x="7531958" y="4473878"/>
            <a:ext cx="284691" cy="577481"/>
            <a:chOff x="4140" y="429"/>
            <a:chExt cx="1425" cy="2396"/>
          </a:xfrm>
        </p:grpSpPr>
        <p:sp>
          <p:nvSpPr>
            <p:cNvPr id="382" name="Freeform 128">
              <a:extLst>
                <a:ext uri="{FF2B5EF4-FFF2-40B4-BE49-F238E27FC236}">
                  <a16:creationId xmlns:a16="http://schemas.microsoft.com/office/drawing/2014/main" id="{53E7DA9C-A2FB-2A47-9F85-7E7A65DE8A5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3" name="Rectangle 129">
              <a:extLst>
                <a:ext uri="{FF2B5EF4-FFF2-40B4-BE49-F238E27FC236}">
                  <a16:creationId xmlns:a16="http://schemas.microsoft.com/office/drawing/2014/main" id="{3AF5C3FC-49CB-F149-8EC4-D3CE93FBDCDA}"/>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4" name="Freeform 130">
              <a:extLst>
                <a:ext uri="{FF2B5EF4-FFF2-40B4-BE49-F238E27FC236}">
                  <a16:creationId xmlns:a16="http://schemas.microsoft.com/office/drawing/2014/main" id="{7C42DC53-39FF-5A49-8C4F-6C40C63A2CA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5" name="Freeform 131">
              <a:extLst>
                <a:ext uri="{FF2B5EF4-FFF2-40B4-BE49-F238E27FC236}">
                  <a16:creationId xmlns:a16="http://schemas.microsoft.com/office/drawing/2014/main" id="{904C6061-3C0D-024D-9392-F0BBD56C7B4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6" name="Rectangle 132">
              <a:extLst>
                <a:ext uri="{FF2B5EF4-FFF2-40B4-BE49-F238E27FC236}">
                  <a16:creationId xmlns:a16="http://schemas.microsoft.com/office/drawing/2014/main" id="{CBF7762D-B9E1-3F42-8A5B-2FD716C9EFA6}"/>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87" name="Group 133">
              <a:extLst>
                <a:ext uri="{FF2B5EF4-FFF2-40B4-BE49-F238E27FC236}">
                  <a16:creationId xmlns:a16="http://schemas.microsoft.com/office/drawing/2014/main" id="{37F59F7C-B64B-B948-AF1B-7F3AF0207575}"/>
                </a:ext>
              </a:extLst>
            </p:cNvPr>
            <p:cNvGrpSpPr>
              <a:grpSpLocks/>
            </p:cNvGrpSpPr>
            <p:nvPr/>
          </p:nvGrpSpPr>
          <p:grpSpPr bwMode="auto">
            <a:xfrm>
              <a:off x="4749" y="668"/>
              <a:ext cx="581" cy="145"/>
              <a:chOff x="614" y="2568"/>
              <a:chExt cx="725" cy="139"/>
            </a:xfrm>
          </p:grpSpPr>
          <p:sp>
            <p:nvSpPr>
              <p:cNvPr id="412" name="AutoShape 134">
                <a:extLst>
                  <a:ext uri="{FF2B5EF4-FFF2-40B4-BE49-F238E27FC236}">
                    <a16:creationId xmlns:a16="http://schemas.microsoft.com/office/drawing/2014/main" id="{DC9F766E-CCD1-BE4A-94CB-63A12C7B94DB}"/>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3" name="AutoShape 135">
                <a:extLst>
                  <a:ext uri="{FF2B5EF4-FFF2-40B4-BE49-F238E27FC236}">
                    <a16:creationId xmlns:a16="http://schemas.microsoft.com/office/drawing/2014/main" id="{DD08DC7B-FBF1-C548-A5EC-8949A2770AAA}"/>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8" name="Rectangle 136">
              <a:extLst>
                <a:ext uri="{FF2B5EF4-FFF2-40B4-BE49-F238E27FC236}">
                  <a16:creationId xmlns:a16="http://schemas.microsoft.com/office/drawing/2014/main" id="{C3C4DB9B-2C11-974B-AE3D-EEE3882C2E58}"/>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89" name="Group 137">
              <a:extLst>
                <a:ext uri="{FF2B5EF4-FFF2-40B4-BE49-F238E27FC236}">
                  <a16:creationId xmlns:a16="http://schemas.microsoft.com/office/drawing/2014/main" id="{EC619C0F-379A-2342-B3D5-485A8C9E4063}"/>
                </a:ext>
              </a:extLst>
            </p:cNvPr>
            <p:cNvGrpSpPr>
              <a:grpSpLocks/>
            </p:cNvGrpSpPr>
            <p:nvPr/>
          </p:nvGrpSpPr>
          <p:grpSpPr bwMode="auto">
            <a:xfrm>
              <a:off x="4747" y="994"/>
              <a:ext cx="581" cy="134"/>
              <a:chOff x="614" y="2568"/>
              <a:chExt cx="725" cy="139"/>
            </a:xfrm>
          </p:grpSpPr>
          <p:sp>
            <p:nvSpPr>
              <p:cNvPr id="410" name="AutoShape 138">
                <a:extLst>
                  <a:ext uri="{FF2B5EF4-FFF2-40B4-BE49-F238E27FC236}">
                    <a16:creationId xmlns:a16="http://schemas.microsoft.com/office/drawing/2014/main" id="{2F03F1AA-B144-6441-82E1-7E7D399D4042}"/>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1" name="AutoShape 139">
                <a:extLst>
                  <a:ext uri="{FF2B5EF4-FFF2-40B4-BE49-F238E27FC236}">
                    <a16:creationId xmlns:a16="http://schemas.microsoft.com/office/drawing/2014/main" id="{F6577811-E5CB-A24A-9C7F-8DD1CEEA402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0" name="Rectangle 140">
              <a:extLst>
                <a:ext uri="{FF2B5EF4-FFF2-40B4-BE49-F238E27FC236}">
                  <a16:creationId xmlns:a16="http://schemas.microsoft.com/office/drawing/2014/main" id="{905394A9-0D77-834D-B74B-528F8F2CC8AC}"/>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1" name="Rectangle 141">
              <a:extLst>
                <a:ext uri="{FF2B5EF4-FFF2-40B4-BE49-F238E27FC236}">
                  <a16:creationId xmlns:a16="http://schemas.microsoft.com/office/drawing/2014/main" id="{54E45B44-7162-414B-951E-CC6695CB2B24}"/>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2" name="Group 142">
              <a:extLst>
                <a:ext uri="{FF2B5EF4-FFF2-40B4-BE49-F238E27FC236}">
                  <a16:creationId xmlns:a16="http://schemas.microsoft.com/office/drawing/2014/main" id="{AD966B92-0483-3941-BD39-3D5F6359C8E3}"/>
                </a:ext>
              </a:extLst>
            </p:cNvPr>
            <p:cNvGrpSpPr>
              <a:grpSpLocks/>
            </p:cNvGrpSpPr>
            <p:nvPr/>
          </p:nvGrpSpPr>
          <p:grpSpPr bwMode="auto">
            <a:xfrm>
              <a:off x="4735" y="1627"/>
              <a:ext cx="582" cy="151"/>
              <a:chOff x="614" y="2568"/>
              <a:chExt cx="725" cy="139"/>
            </a:xfrm>
          </p:grpSpPr>
          <p:sp>
            <p:nvSpPr>
              <p:cNvPr id="408" name="AutoShape 143">
                <a:extLst>
                  <a:ext uri="{FF2B5EF4-FFF2-40B4-BE49-F238E27FC236}">
                    <a16:creationId xmlns:a16="http://schemas.microsoft.com/office/drawing/2014/main" id="{632896F6-0B90-8F4D-96AE-09DA88C7C80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9" name="AutoShape 144">
                <a:extLst>
                  <a:ext uri="{FF2B5EF4-FFF2-40B4-BE49-F238E27FC236}">
                    <a16:creationId xmlns:a16="http://schemas.microsoft.com/office/drawing/2014/main" id="{AFD82636-77B9-2B47-8699-D3BF427B33A8}"/>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3" name="Freeform 145">
              <a:extLst>
                <a:ext uri="{FF2B5EF4-FFF2-40B4-BE49-F238E27FC236}">
                  <a16:creationId xmlns:a16="http://schemas.microsoft.com/office/drawing/2014/main" id="{35166E21-5125-774B-9623-4EF221B04D8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94" name="Group 146">
              <a:extLst>
                <a:ext uri="{FF2B5EF4-FFF2-40B4-BE49-F238E27FC236}">
                  <a16:creationId xmlns:a16="http://schemas.microsoft.com/office/drawing/2014/main" id="{6C8DAE71-3F1C-904C-85C2-214CB59E7094}"/>
                </a:ext>
              </a:extLst>
            </p:cNvPr>
            <p:cNvGrpSpPr>
              <a:grpSpLocks/>
            </p:cNvGrpSpPr>
            <p:nvPr/>
          </p:nvGrpSpPr>
          <p:grpSpPr bwMode="auto">
            <a:xfrm>
              <a:off x="4739" y="1327"/>
              <a:ext cx="582" cy="139"/>
              <a:chOff x="614" y="2568"/>
              <a:chExt cx="725" cy="139"/>
            </a:xfrm>
          </p:grpSpPr>
          <p:sp>
            <p:nvSpPr>
              <p:cNvPr id="406" name="AutoShape 147">
                <a:extLst>
                  <a:ext uri="{FF2B5EF4-FFF2-40B4-BE49-F238E27FC236}">
                    <a16:creationId xmlns:a16="http://schemas.microsoft.com/office/drawing/2014/main" id="{87A402FD-47EE-FD44-AD9E-357434560E1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7" name="AutoShape 148">
                <a:extLst>
                  <a:ext uri="{FF2B5EF4-FFF2-40B4-BE49-F238E27FC236}">
                    <a16:creationId xmlns:a16="http://schemas.microsoft.com/office/drawing/2014/main" id="{D38CC5CC-31DB-F84B-B60C-A5487B93F0CD}"/>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5" name="Rectangle 149">
              <a:extLst>
                <a:ext uri="{FF2B5EF4-FFF2-40B4-BE49-F238E27FC236}">
                  <a16:creationId xmlns:a16="http://schemas.microsoft.com/office/drawing/2014/main" id="{0FDFE2FA-B251-B04D-9A87-9FA1DEE270F3}"/>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6" name="Freeform 150">
              <a:extLst>
                <a:ext uri="{FF2B5EF4-FFF2-40B4-BE49-F238E27FC236}">
                  <a16:creationId xmlns:a16="http://schemas.microsoft.com/office/drawing/2014/main" id="{861A3A88-011C-1648-B5E0-F5583D0CB17F}"/>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7" name="Freeform 151">
              <a:extLst>
                <a:ext uri="{FF2B5EF4-FFF2-40B4-BE49-F238E27FC236}">
                  <a16:creationId xmlns:a16="http://schemas.microsoft.com/office/drawing/2014/main" id="{FF9AD10E-0B20-D549-B4F4-E090093215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8" name="Oval 152">
              <a:extLst>
                <a:ext uri="{FF2B5EF4-FFF2-40B4-BE49-F238E27FC236}">
                  <a16:creationId xmlns:a16="http://schemas.microsoft.com/office/drawing/2014/main" id="{7FC6D115-11CC-8C42-84FB-F9380DF797E2}"/>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9" name="Freeform 153">
              <a:extLst>
                <a:ext uri="{FF2B5EF4-FFF2-40B4-BE49-F238E27FC236}">
                  <a16:creationId xmlns:a16="http://schemas.microsoft.com/office/drawing/2014/main" id="{FA893A70-E205-C74B-B0B1-F0BE1C5379C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00" name="AutoShape 154">
              <a:extLst>
                <a:ext uri="{FF2B5EF4-FFF2-40B4-BE49-F238E27FC236}">
                  <a16:creationId xmlns:a16="http://schemas.microsoft.com/office/drawing/2014/main" id="{CA3DE6E4-EC59-C54E-A06D-302F82AD7F5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1" name="AutoShape 155">
              <a:extLst>
                <a:ext uri="{FF2B5EF4-FFF2-40B4-BE49-F238E27FC236}">
                  <a16:creationId xmlns:a16="http://schemas.microsoft.com/office/drawing/2014/main" id="{D5954570-3A29-A04C-A694-89339B8CA162}"/>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2" name="Oval 156">
              <a:extLst>
                <a:ext uri="{FF2B5EF4-FFF2-40B4-BE49-F238E27FC236}">
                  <a16:creationId xmlns:a16="http://schemas.microsoft.com/office/drawing/2014/main" id="{6D15A2AA-735B-1540-83A7-0CF4980B6F6A}"/>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3" name="Oval 157">
              <a:extLst>
                <a:ext uri="{FF2B5EF4-FFF2-40B4-BE49-F238E27FC236}">
                  <a16:creationId xmlns:a16="http://schemas.microsoft.com/office/drawing/2014/main" id="{DBA0EFAE-DA9A-C341-9586-349045E9E09A}"/>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04" name="Oval 158">
              <a:extLst>
                <a:ext uri="{FF2B5EF4-FFF2-40B4-BE49-F238E27FC236}">
                  <a16:creationId xmlns:a16="http://schemas.microsoft.com/office/drawing/2014/main" id="{419BE2D4-504A-B24C-9BA2-88012DDF9C40}"/>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5" name="Rectangle 159">
              <a:extLst>
                <a:ext uri="{FF2B5EF4-FFF2-40B4-BE49-F238E27FC236}">
                  <a16:creationId xmlns:a16="http://schemas.microsoft.com/office/drawing/2014/main" id="{12323152-8DFE-D54A-8022-8B7157278EB3}"/>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17" name="Group 160">
            <a:extLst>
              <a:ext uri="{FF2B5EF4-FFF2-40B4-BE49-F238E27FC236}">
                <a16:creationId xmlns:a16="http://schemas.microsoft.com/office/drawing/2014/main" id="{FA087400-17DC-374A-8B3D-047A843A930C}"/>
              </a:ext>
            </a:extLst>
          </p:cNvPr>
          <p:cNvGrpSpPr>
            <a:grpSpLocks/>
          </p:cNvGrpSpPr>
          <p:nvPr/>
        </p:nvGrpSpPr>
        <p:grpSpPr bwMode="auto">
          <a:xfrm>
            <a:off x="585296" y="5655276"/>
            <a:ext cx="645431" cy="569172"/>
            <a:chOff x="-44" y="1473"/>
            <a:chExt cx="981" cy="1105"/>
          </a:xfrm>
        </p:grpSpPr>
        <p:pic>
          <p:nvPicPr>
            <p:cNvPr id="380" name="Picture 161" descr="desktop_computer_stylized_medium">
              <a:extLst>
                <a:ext uri="{FF2B5EF4-FFF2-40B4-BE49-F238E27FC236}">
                  <a16:creationId xmlns:a16="http://schemas.microsoft.com/office/drawing/2014/main" id="{3EA6EC22-E034-D743-91DD-5D279096F0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 name="Freeform 162">
              <a:extLst>
                <a:ext uri="{FF2B5EF4-FFF2-40B4-BE49-F238E27FC236}">
                  <a16:creationId xmlns:a16="http://schemas.microsoft.com/office/drawing/2014/main" id="{3DE644EB-7288-364C-85AD-A0B8C3C273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20" name="Group 163">
            <a:extLst>
              <a:ext uri="{FF2B5EF4-FFF2-40B4-BE49-F238E27FC236}">
                <a16:creationId xmlns:a16="http://schemas.microsoft.com/office/drawing/2014/main" id="{C67AA62F-6B41-6E41-82AB-388CDEBE1BF4}"/>
              </a:ext>
            </a:extLst>
          </p:cNvPr>
          <p:cNvGrpSpPr>
            <a:grpSpLocks/>
          </p:cNvGrpSpPr>
          <p:nvPr/>
        </p:nvGrpSpPr>
        <p:grpSpPr bwMode="auto">
          <a:xfrm>
            <a:off x="7141970" y="5736859"/>
            <a:ext cx="284691" cy="577481"/>
            <a:chOff x="4140" y="429"/>
            <a:chExt cx="1425" cy="2396"/>
          </a:xfrm>
        </p:grpSpPr>
        <p:sp>
          <p:nvSpPr>
            <p:cNvPr id="348" name="Freeform 164">
              <a:extLst>
                <a:ext uri="{FF2B5EF4-FFF2-40B4-BE49-F238E27FC236}">
                  <a16:creationId xmlns:a16="http://schemas.microsoft.com/office/drawing/2014/main" id="{D195FCDA-1D6E-A14F-813E-82BA881BA57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9" name="Rectangle 165">
              <a:extLst>
                <a:ext uri="{FF2B5EF4-FFF2-40B4-BE49-F238E27FC236}">
                  <a16:creationId xmlns:a16="http://schemas.microsoft.com/office/drawing/2014/main" id="{08336962-E72A-234B-AE02-13BF68CF9D88}"/>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0" name="Freeform 166">
              <a:extLst>
                <a:ext uri="{FF2B5EF4-FFF2-40B4-BE49-F238E27FC236}">
                  <a16:creationId xmlns:a16="http://schemas.microsoft.com/office/drawing/2014/main" id="{9CC8CF3D-B0E5-DF41-A2B1-CB144840173A}"/>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1" name="Freeform 167">
              <a:extLst>
                <a:ext uri="{FF2B5EF4-FFF2-40B4-BE49-F238E27FC236}">
                  <a16:creationId xmlns:a16="http://schemas.microsoft.com/office/drawing/2014/main" id="{A62F35DC-6D41-2C46-9982-EC06FA2C340F}"/>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2" name="Rectangle 168">
              <a:extLst>
                <a:ext uri="{FF2B5EF4-FFF2-40B4-BE49-F238E27FC236}">
                  <a16:creationId xmlns:a16="http://schemas.microsoft.com/office/drawing/2014/main" id="{41008D83-EBD9-A042-BDC0-CCFD7F0B7B12}"/>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53" name="Group 169">
              <a:extLst>
                <a:ext uri="{FF2B5EF4-FFF2-40B4-BE49-F238E27FC236}">
                  <a16:creationId xmlns:a16="http://schemas.microsoft.com/office/drawing/2014/main" id="{D5C2A6D0-2900-374F-8B47-7CAC43E5EA66}"/>
                </a:ext>
              </a:extLst>
            </p:cNvPr>
            <p:cNvGrpSpPr>
              <a:grpSpLocks/>
            </p:cNvGrpSpPr>
            <p:nvPr/>
          </p:nvGrpSpPr>
          <p:grpSpPr bwMode="auto">
            <a:xfrm>
              <a:off x="4749" y="668"/>
              <a:ext cx="581" cy="145"/>
              <a:chOff x="614" y="2568"/>
              <a:chExt cx="725" cy="139"/>
            </a:xfrm>
          </p:grpSpPr>
          <p:sp>
            <p:nvSpPr>
              <p:cNvPr id="378" name="AutoShape 170">
                <a:extLst>
                  <a:ext uri="{FF2B5EF4-FFF2-40B4-BE49-F238E27FC236}">
                    <a16:creationId xmlns:a16="http://schemas.microsoft.com/office/drawing/2014/main" id="{316161F8-F72E-8842-A7EA-ACD5553EBA20}"/>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9" name="AutoShape 171">
                <a:extLst>
                  <a:ext uri="{FF2B5EF4-FFF2-40B4-BE49-F238E27FC236}">
                    <a16:creationId xmlns:a16="http://schemas.microsoft.com/office/drawing/2014/main" id="{65D8DF1E-DC5A-4048-8F8A-B22E74465030}"/>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54" name="Rectangle 172">
              <a:extLst>
                <a:ext uri="{FF2B5EF4-FFF2-40B4-BE49-F238E27FC236}">
                  <a16:creationId xmlns:a16="http://schemas.microsoft.com/office/drawing/2014/main" id="{F0278590-CB35-2B4C-8960-A8E639AE0BF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55" name="Group 173">
              <a:extLst>
                <a:ext uri="{FF2B5EF4-FFF2-40B4-BE49-F238E27FC236}">
                  <a16:creationId xmlns:a16="http://schemas.microsoft.com/office/drawing/2014/main" id="{6B7EAD7C-E09C-8C45-93EA-4861697FBBA8}"/>
                </a:ext>
              </a:extLst>
            </p:cNvPr>
            <p:cNvGrpSpPr>
              <a:grpSpLocks/>
            </p:cNvGrpSpPr>
            <p:nvPr/>
          </p:nvGrpSpPr>
          <p:grpSpPr bwMode="auto">
            <a:xfrm>
              <a:off x="4747" y="994"/>
              <a:ext cx="581" cy="134"/>
              <a:chOff x="614" y="2568"/>
              <a:chExt cx="725" cy="139"/>
            </a:xfrm>
          </p:grpSpPr>
          <p:sp>
            <p:nvSpPr>
              <p:cNvPr id="376" name="AutoShape 174">
                <a:extLst>
                  <a:ext uri="{FF2B5EF4-FFF2-40B4-BE49-F238E27FC236}">
                    <a16:creationId xmlns:a16="http://schemas.microsoft.com/office/drawing/2014/main" id="{B100E59C-193E-F74A-9B2F-64705FC8DCCC}"/>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7" name="AutoShape 175">
                <a:extLst>
                  <a:ext uri="{FF2B5EF4-FFF2-40B4-BE49-F238E27FC236}">
                    <a16:creationId xmlns:a16="http://schemas.microsoft.com/office/drawing/2014/main" id="{C5CAF38F-0311-FF44-974E-7B3A277A8628}"/>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56" name="Rectangle 176">
              <a:extLst>
                <a:ext uri="{FF2B5EF4-FFF2-40B4-BE49-F238E27FC236}">
                  <a16:creationId xmlns:a16="http://schemas.microsoft.com/office/drawing/2014/main" id="{950C602D-D3E9-9D49-95E7-FEAA72A87184}"/>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7" name="Rectangle 177">
              <a:extLst>
                <a:ext uri="{FF2B5EF4-FFF2-40B4-BE49-F238E27FC236}">
                  <a16:creationId xmlns:a16="http://schemas.microsoft.com/office/drawing/2014/main" id="{08A4D495-7D7A-BC4E-B504-63349FFAAB6E}"/>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58" name="Group 178">
              <a:extLst>
                <a:ext uri="{FF2B5EF4-FFF2-40B4-BE49-F238E27FC236}">
                  <a16:creationId xmlns:a16="http://schemas.microsoft.com/office/drawing/2014/main" id="{F305A5C0-33C8-774E-A415-F8DB3638929B}"/>
                </a:ext>
              </a:extLst>
            </p:cNvPr>
            <p:cNvGrpSpPr>
              <a:grpSpLocks/>
            </p:cNvGrpSpPr>
            <p:nvPr/>
          </p:nvGrpSpPr>
          <p:grpSpPr bwMode="auto">
            <a:xfrm>
              <a:off x="4735" y="1627"/>
              <a:ext cx="582" cy="151"/>
              <a:chOff x="614" y="2568"/>
              <a:chExt cx="725" cy="139"/>
            </a:xfrm>
          </p:grpSpPr>
          <p:sp>
            <p:nvSpPr>
              <p:cNvPr id="374" name="AutoShape 179">
                <a:extLst>
                  <a:ext uri="{FF2B5EF4-FFF2-40B4-BE49-F238E27FC236}">
                    <a16:creationId xmlns:a16="http://schemas.microsoft.com/office/drawing/2014/main" id="{1D60B3F0-C96C-CF4F-AE8E-9DFC4AC8DCD2}"/>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5" name="AutoShape 180">
                <a:extLst>
                  <a:ext uri="{FF2B5EF4-FFF2-40B4-BE49-F238E27FC236}">
                    <a16:creationId xmlns:a16="http://schemas.microsoft.com/office/drawing/2014/main" id="{59F17474-B1E9-5A4A-95BC-0FFA152A6A9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59" name="Freeform 181">
              <a:extLst>
                <a:ext uri="{FF2B5EF4-FFF2-40B4-BE49-F238E27FC236}">
                  <a16:creationId xmlns:a16="http://schemas.microsoft.com/office/drawing/2014/main" id="{4D4849DA-5BB5-194F-B347-D9C0FD3BCD1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60" name="Group 182">
              <a:extLst>
                <a:ext uri="{FF2B5EF4-FFF2-40B4-BE49-F238E27FC236}">
                  <a16:creationId xmlns:a16="http://schemas.microsoft.com/office/drawing/2014/main" id="{387B571D-6B5A-D54A-893E-26AE8531647F}"/>
                </a:ext>
              </a:extLst>
            </p:cNvPr>
            <p:cNvGrpSpPr>
              <a:grpSpLocks/>
            </p:cNvGrpSpPr>
            <p:nvPr/>
          </p:nvGrpSpPr>
          <p:grpSpPr bwMode="auto">
            <a:xfrm>
              <a:off x="4739" y="1327"/>
              <a:ext cx="582" cy="139"/>
              <a:chOff x="614" y="2568"/>
              <a:chExt cx="725" cy="139"/>
            </a:xfrm>
          </p:grpSpPr>
          <p:sp>
            <p:nvSpPr>
              <p:cNvPr id="372" name="AutoShape 183">
                <a:extLst>
                  <a:ext uri="{FF2B5EF4-FFF2-40B4-BE49-F238E27FC236}">
                    <a16:creationId xmlns:a16="http://schemas.microsoft.com/office/drawing/2014/main" id="{5B2C6A46-36B9-A645-9C38-687443126F02}"/>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3" name="AutoShape 184">
                <a:extLst>
                  <a:ext uri="{FF2B5EF4-FFF2-40B4-BE49-F238E27FC236}">
                    <a16:creationId xmlns:a16="http://schemas.microsoft.com/office/drawing/2014/main" id="{02DF9FD3-61E5-B44A-9E31-BCF57F47401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61" name="Rectangle 185">
              <a:extLst>
                <a:ext uri="{FF2B5EF4-FFF2-40B4-BE49-F238E27FC236}">
                  <a16:creationId xmlns:a16="http://schemas.microsoft.com/office/drawing/2014/main" id="{F669C71A-A324-3F42-B2FE-2FE5DA2A8DED}"/>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2" name="Freeform 186">
              <a:extLst>
                <a:ext uri="{FF2B5EF4-FFF2-40B4-BE49-F238E27FC236}">
                  <a16:creationId xmlns:a16="http://schemas.microsoft.com/office/drawing/2014/main" id="{1BE5E4D2-2391-A140-B438-A2BFAB94D309}"/>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3" name="Freeform 187">
              <a:extLst>
                <a:ext uri="{FF2B5EF4-FFF2-40B4-BE49-F238E27FC236}">
                  <a16:creationId xmlns:a16="http://schemas.microsoft.com/office/drawing/2014/main" id="{F61AA69B-2497-BB41-84E6-2379E99BE2CC}"/>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4" name="Oval 188">
              <a:extLst>
                <a:ext uri="{FF2B5EF4-FFF2-40B4-BE49-F238E27FC236}">
                  <a16:creationId xmlns:a16="http://schemas.microsoft.com/office/drawing/2014/main" id="{E5FC988D-0562-6D4B-B677-9976C97CCB3E}"/>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5" name="Freeform 189">
              <a:extLst>
                <a:ext uri="{FF2B5EF4-FFF2-40B4-BE49-F238E27FC236}">
                  <a16:creationId xmlns:a16="http://schemas.microsoft.com/office/drawing/2014/main" id="{5F9AF67B-EB16-1940-9E54-CD01DD73DF6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6" name="AutoShape 190">
              <a:extLst>
                <a:ext uri="{FF2B5EF4-FFF2-40B4-BE49-F238E27FC236}">
                  <a16:creationId xmlns:a16="http://schemas.microsoft.com/office/drawing/2014/main" id="{425C5A13-F083-B641-AE96-394F4EC8B801}"/>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7" name="AutoShape 191">
              <a:extLst>
                <a:ext uri="{FF2B5EF4-FFF2-40B4-BE49-F238E27FC236}">
                  <a16:creationId xmlns:a16="http://schemas.microsoft.com/office/drawing/2014/main" id="{6A53B106-9919-0D42-AB27-C542B277A4D3}"/>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8" name="Oval 192">
              <a:extLst>
                <a:ext uri="{FF2B5EF4-FFF2-40B4-BE49-F238E27FC236}">
                  <a16:creationId xmlns:a16="http://schemas.microsoft.com/office/drawing/2014/main" id="{20C525CE-1753-F641-9DA5-9A348D00FCC7}"/>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9" name="Oval 193">
              <a:extLst>
                <a:ext uri="{FF2B5EF4-FFF2-40B4-BE49-F238E27FC236}">
                  <a16:creationId xmlns:a16="http://schemas.microsoft.com/office/drawing/2014/main" id="{98E2DDA5-BB4C-C44C-94CB-E3E75C14A37B}"/>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70" name="Oval 194">
              <a:extLst>
                <a:ext uri="{FF2B5EF4-FFF2-40B4-BE49-F238E27FC236}">
                  <a16:creationId xmlns:a16="http://schemas.microsoft.com/office/drawing/2014/main" id="{BE983F88-4E1D-8D4F-BAE7-B4FF6986BCA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1" name="Rectangle 195">
              <a:extLst>
                <a:ext uri="{FF2B5EF4-FFF2-40B4-BE49-F238E27FC236}">
                  <a16:creationId xmlns:a16="http://schemas.microsoft.com/office/drawing/2014/main" id="{6517F9BF-0412-704A-8CF4-5197BADDBEC3}"/>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21" name="Line 57">
            <a:extLst>
              <a:ext uri="{FF2B5EF4-FFF2-40B4-BE49-F238E27FC236}">
                <a16:creationId xmlns:a16="http://schemas.microsoft.com/office/drawing/2014/main" id="{68763ED6-942C-0F41-AD7D-01D0E5880E9B}"/>
              </a:ext>
            </a:extLst>
          </p:cNvPr>
          <p:cNvSpPr>
            <a:spLocks noChangeShapeType="1"/>
          </p:cNvSpPr>
          <p:nvPr/>
        </p:nvSpPr>
        <p:spPr bwMode="auto">
          <a:xfrm flipH="1">
            <a:off x="5155368" y="5988369"/>
            <a:ext cx="10099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2" name="Line 57">
            <a:extLst>
              <a:ext uri="{FF2B5EF4-FFF2-40B4-BE49-F238E27FC236}">
                <a16:creationId xmlns:a16="http://schemas.microsoft.com/office/drawing/2014/main" id="{F860BD77-FEC3-1440-9C5F-412C1944CF71}"/>
              </a:ext>
            </a:extLst>
          </p:cNvPr>
          <p:cNvSpPr>
            <a:spLocks noChangeShapeType="1"/>
          </p:cNvSpPr>
          <p:nvPr/>
        </p:nvSpPr>
        <p:spPr bwMode="auto">
          <a:xfrm flipH="1">
            <a:off x="3001196" y="4853221"/>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3" name="Line 57">
            <a:extLst>
              <a:ext uri="{FF2B5EF4-FFF2-40B4-BE49-F238E27FC236}">
                <a16:creationId xmlns:a16="http://schemas.microsoft.com/office/drawing/2014/main" id="{27B00412-D610-DE4A-846E-7A4177E41EB4}"/>
              </a:ext>
            </a:extLst>
          </p:cNvPr>
          <p:cNvSpPr>
            <a:spLocks noChangeShapeType="1"/>
          </p:cNvSpPr>
          <p:nvPr/>
        </p:nvSpPr>
        <p:spPr bwMode="auto">
          <a:xfrm flipH="1">
            <a:off x="1869391" y="5991438"/>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24" name="Group 323">
            <a:extLst>
              <a:ext uri="{FF2B5EF4-FFF2-40B4-BE49-F238E27FC236}">
                <a16:creationId xmlns:a16="http://schemas.microsoft.com/office/drawing/2014/main" id="{E8361AD1-D10B-914D-B557-ED00BB81668B}"/>
              </a:ext>
            </a:extLst>
          </p:cNvPr>
          <p:cNvGrpSpPr/>
          <p:nvPr/>
        </p:nvGrpSpPr>
        <p:grpSpPr>
          <a:xfrm>
            <a:off x="2749090" y="3427413"/>
            <a:ext cx="2851610" cy="946150"/>
            <a:chOff x="2749090" y="3427413"/>
            <a:chExt cx="2851610" cy="946150"/>
          </a:xfrm>
        </p:grpSpPr>
        <p:sp>
          <p:nvSpPr>
            <p:cNvPr id="341" name="Text Box 68">
              <a:extLst>
                <a:ext uri="{FF2B5EF4-FFF2-40B4-BE49-F238E27FC236}">
                  <a16:creationId xmlns:a16="http://schemas.microsoft.com/office/drawing/2014/main" id="{3B9B04FF-F305-1B42-B32C-BD98A3457B82}"/>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6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original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42" name="Oval 217">
              <a:extLst>
                <a:ext uri="{FF2B5EF4-FFF2-40B4-BE49-F238E27FC236}">
                  <a16:creationId xmlns:a16="http://schemas.microsoft.com/office/drawing/2014/main" id="{EDF2431F-1AB1-4C49-A181-71EBA9C9AEE4}"/>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3" name="Line 229">
              <a:extLst>
                <a:ext uri="{FF2B5EF4-FFF2-40B4-BE49-F238E27FC236}">
                  <a16:creationId xmlns:a16="http://schemas.microsoft.com/office/drawing/2014/main" id="{B59B3A23-BDBB-ED4B-90A7-F3F3742615C8}"/>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4" name="Oval 232">
              <a:extLst>
                <a:ext uri="{FF2B5EF4-FFF2-40B4-BE49-F238E27FC236}">
                  <a16:creationId xmlns:a16="http://schemas.microsoft.com/office/drawing/2014/main" id="{A0D84490-063F-6249-A3C3-EBD662E3F907}"/>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5" name="Text Box 233">
              <a:extLst>
                <a:ext uri="{FF2B5EF4-FFF2-40B4-BE49-F238E27FC236}">
                  <a16:creationId xmlns:a16="http://schemas.microsoft.com/office/drawing/2014/main" id="{8B358585-163D-654F-995A-9C22E22B5CB1}"/>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8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original data, </a:t>
              </a:r>
              <a:r>
                <a:rPr kumimoji="0" lang="en-US" altLang="en-US" sz="1600" b="0"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plus</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retransmitted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46" name="Line 234">
              <a:extLst>
                <a:ext uri="{FF2B5EF4-FFF2-40B4-BE49-F238E27FC236}">
                  <a16:creationId xmlns:a16="http://schemas.microsoft.com/office/drawing/2014/main" id="{1E1EF6EB-75EA-3840-81BD-7EFEF385444F}"/>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7" name="Line 235">
              <a:extLst>
                <a:ext uri="{FF2B5EF4-FFF2-40B4-BE49-F238E27FC236}">
                  <a16:creationId xmlns:a16="http://schemas.microsoft.com/office/drawing/2014/main" id="{B9666650-75BE-044C-8E55-D19782D17F0D}"/>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25" name="Group 324">
            <a:extLst>
              <a:ext uri="{FF2B5EF4-FFF2-40B4-BE49-F238E27FC236}">
                <a16:creationId xmlns:a16="http://schemas.microsoft.com/office/drawing/2014/main" id="{E0A0DEBB-1942-DF47-BE8F-4DC1FAAF267D}"/>
              </a:ext>
            </a:extLst>
          </p:cNvPr>
          <p:cNvGrpSpPr/>
          <p:nvPr/>
        </p:nvGrpSpPr>
        <p:grpSpPr>
          <a:xfrm>
            <a:off x="2913490" y="5218953"/>
            <a:ext cx="1938730" cy="1300181"/>
            <a:chOff x="2913490" y="5218953"/>
            <a:chExt cx="1938730" cy="1300181"/>
          </a:xfrm>
        </p:grpSpPr>
        <p:sp>
          <p:nvSpPr>
            <p:cNvPr id="330" name="Text Box 32">
              <a:extLst>
                <a:ext uri="{FF2B5EF4-FFF2-40B4-BE49-F238E27FC236}">
                  <a16:creationId xmlns:a16="http://schemas.microsoft.com/office/drawing/2014/main" id="{2BE67432-4EDA-2144-971A-97E31C21CBFD}"/>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finite</a:t>
              </a: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shared output link buffers</a:t>
              </a:r>
            </a:p>
          </p:txBody>
        </p:sp>
        <p:sp>
          <p:nvSpPr>
            <p:cNvPr id="331" name="Line 77">
              <a:extLst>
                <a:ext uri="{FF2B5EF4-FFF2-40B4-BE49-F238E27FC236}">
                  <a16:creationId xmlns:a16="http://schemas.microsoft.com/office/drawing/2014/main" id="{0FD3A7D1-0F64-3E4F-9EFC-3E9B5C3CB4E5}"/>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32" name="Group 331">
              <a:extLst>
                <a:ext uri="{FF2B5EF4-FFF2-40B4-BE49-F238E27FC236}">
                  <a16:creationId xmlns:a16="http://schemas.microsoft.com/office/drawing/2014/main" id="{129E87F1-D0EC-544C-AAD3-67A4ADC56ED1}"/>
                </a:ext>
              </a:extLst>
            </p:cNvPr>
            <p:cNvGrpSpPr/>
            <p:nvPr/>
          </p:nvGrpSpPr>
          <p:grpSpPr>
            <a:xfrm>
              <a:off x="4030362" y="5218953"/>
              <a:ext cx="821858" cy="355937"/>
              <a:chOff x="6859123" y="5156933"/>
              <a:chExt cx="456701" cy="226548"/>
            </a:xfrm>
          </p:grpSpPr>
          <p:sp>
            <p:nvSpPr>
              <p:cNvPr id="333" name="Rectangle 332">
                <a:extLst>
                  <a:ext uri="{FF2B5EF4-FFF2-40B4-BE49-F238E27FC236}">
                    <a16:creationId xmlns:a16="http://schemas.microsoft.com/office/drawing/2014/main" id="{420EF065-0C5B-3C42-9309-A54EAD48FE41}"/>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34" name="Straight Connector 333">
                <a:extLst>
                  <a:ext uri="{FF2B5EF4-FFF2-40B4-BE49-F238E27FC236}">
                    <a16:creationId xmlns:a16="http://schemas.microsoft.com/office/drawing/2014/main" id="{E69DAA66-53B2-484A-8CE4-893106A81F71}"/>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0115558E-B280-5645-9FB4-A4EBF6BE1E2B}"/>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7ED04A48-0229-FC4F-821B-EB6EAD1E0728}"/>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771E9A5B-C688-D540-9A52-AD683DD66EBA}"/>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ED4DD7E1-448A-8143-9791-173C9F59FF70}"/>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F553CB64-B4A4-2C41-8D54-9660CE27A4FE}"/>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C11E0997-AC70-934E-899D-8D26941865C9}"/>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26" name="Freeform 91">
            <a:extLst>
              <a:ext uri="{FF2B5EF4-FFF2-40B4-BE49-F238E27FC236}">
                <a16:creationId xmlns:a16="http://schemas.microsoft.com/office/drawing/2014/main" id="{2AB634B7-7E1A-2F49-BD94-F471CBAAAB57}"/>
              </a:ext>
            </a:extLst>
          </p:cNvPr>
          <p:cNvSpPr>
            <a:spLocks/>
          </p:cNvSpPr>
          <p:nvPr/>
        </p:nvSpPr>
        <p:spPr bwMode="auto">
          <a:xfrm>
            <a:off x="2803354" y="3659588"/>
            <a:ext cx="4211870" cy="1670126"/>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27" name="Group 326">
            <a:extLst>
              <a:ext uri="{FF2B5EF4-FFF2-40B4-BE49-F238E27FC236}">
                <a16:creationId xmlns:a16="http://schemas.microsoft.com/office/drawing/2014/main" id="{E2437294-F0A6-B64F-9701-980D73E181E5}"/>
              </a:ext>
            </a:extLst>
          </p:cNvPr>
          <p:cNvGrpSpPr/>
          <p:nvPr/>
        </p:nvGrpSpPr>
        <p:grpSpPr>
          <a:xfrm>
            <a:off x="1586591" y="4743924"/>
            <a:ext cx="4913849" cy="1346072"/>
            <a:chOff x="5641439" y="2685215"/>
            <a:chExt cx="4000500" cy="1028700"/>
          </a:xfrm>
        </p:grpSpPr>
        <p:sp>
          <p:nvSpPr>
            <p:cNvPr id="328" name="Oval 73">
              <a:extLst>
                <a:ext uri="{FF2B5EF4-FFF2-40B4-BE49-F238E27FC236}">
                  <a16:creationId xmlns:a16="http://schemas.microsoft.com/office/drawing/2014/main" id="{A5E7C6D8-EF6B-FD4F-B4BF-AB9BD2FC0A39}"/>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29" name="Freeform 90">
              <a:extLst>
                <a:ext uri="{FF2B5EF4-FFF2-40B4-BE49-F238E27FC236}">
                  <a16:creationId xmlns:a16="http://schemas.microsoft.com/office/drawing/2014/main" id="{E290CF0B-A025-EA42-80CC-B9295A47390D}"/>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44" name="Group 443">
            <a:extLst>
              <a:ext uri="{FF2B5EF4-FFF2-40B4-BE49-F238E27FC236}">
                <a16:creationId xmlns:a16="http://schemas.microsoft.com/office/drawing/2014/main" id="{1EA2D756-F337-784D-91E9-D0329FAA029D}"/>
              </a:ext>
            </a:extLst>
          </p:cNvPr>
          <p:cNvGrpSpPr/>
          <p:nvPr/>
        </p:nvGrpSpPr>
        <p:grpSpPr>
          <a:xfrm>
            <a:off x="3289650" y="5336775"/>
            <a:ext cx="2124396" cy="604097"/>
            <a:chOff x="3289650" y="5336775"/>
            <a:chExt cx="2124396" cy="604097"/>
          </a:xfrm>
        </p:grpSpPr>
        <p:sp>
          <p:nvSpPr>
            <p:cNvPr id="445" name="TextBox 444">
              <a:extLst>
                <a:ext uri="{FF2B5EF4-FFF2-40B4-BE49-F238E27FC236}">
                  <a16:creationId xmlns:a16="http://schemas.microsoft.com/office/drawing/2014/main" id="{1CF86E91-20B2-AA40-ADE7-23C1A4B452F5}"/>
                </a:ext>
              </a:extLst>
            </p:cNvPr>
            <p:cNvSpPr txBox="1"/>
            <p:nvPr/>
          </p:nvSpPr>
          <p:spPr>
            <a:xfrm>
              <a:off x="4982445" y="5336775"/>
              <a:ext cx="431601" cy="60409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sp>
          <p:nvSpPr>
            <p:cNvPr id="446" name="TextBox 445">
              <a:extLst>
                <a:ext uri="{FF2B5EF4-FFF2-40B4-BE49-F238E27FC236}">
                  <a16:creationId xmlns:a16="http://schemas.microsoft.com/office/drawing/2014/main" id="{4B4D0976-F981-B64D-A7D0-EC08D7AD5DE8}"/>
                </a:ext>
              </a:extLst>
            </p:cNvPr>
            <p:cNvSpPr txBox="1"/>
            <p:nvPr/>
          </p:nvSpPr>
          <p:spPr>
            <a:xfrm>
              <a:off x="3289650" y="5351752"/>
              <a:ext cx="351378"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2</a:t>
            </a:r>
            <a:endParaRPr lang="en-US" sz="4400" b="0" dirty="0"/>
          </a:p>
        </p:txBody>
      </p:sp>
      <p:sp>
        <p:nvSpPr>
          <p:cNvPr id="230" name="Rectangle 234">
            <a:extLst>
              <a:ext uri="{FF2B5EF4-FFF2-40B4-BE49-F238E27FC236}">
                <a16:creationId xmlns:a16="http://schemas.microsoft.com/office/drawing/2014/main" id="{6E45144B-BF92-9A47-94FD-F52064FD06E8}"/>
              </a:ext>
            </a:extLst>
          </p:cNvPr>
          <p:cNvSpPr>
            <a:spLocks noChangeArrowheads="1"/>
          </p:cNvSpPr>
          <p:nvPr/>
        </p:nvSpPr>
        <p:spPr bwMode="auto">
          <a:xfrm>
            <a:off x="2711450" y="3613150"/>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1" name="Rectangle 235">
            <a:extLst>
              <a:ext uri="{FF2B5EF4-FFF2-40B4-BE49-F238E27FC236}">
                <a16:creationId xmlns:a16="http://schemas.microsoft.com/office/drawing/2014/main" id="{F4772420-2FB1-314B-A194-38B964C76259}"/>
              </a:ext>
            </a:extLst>
          </p:cNvPr>
          <p:cNvSpPr>
            <a:spLocks noChangeArrowheads="1"/>
          </p:cNvSpPr>
          <p:nvPr/>
        </p:nvSpPr>
        <p:spPr bwMode="auto">
          <a:xfrm>
            <a:off x="2381250" y="3846513"/>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Text Box 236">
            <a:extLst>
              <a:ext uri="{FF2B5EF4-FFF2-40B4-BE49-F238E27FC236}">
                <a16:creationId xmlns:a16="http://schemas.microsoft.com/office/drawing/2014/main" id="{11E59F0D-C317-314F-8F6B-B5D0BED054AD}"/>
              </a:ext>
            </a:extLst>
          </p:cNvPr>
          <p:cNvSpPr txBox="1">
            <a:spLocks noChangeArrowheads="1"/>
          </p:cNvSpPr>
          <p:nvPr/>
        </p:nvSpPr>
        <p:spPr bwMode="auto">
          <a:xfrm>
            <a:off x="1757363" y="3736975"/>
            <a:ext cx="6127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6600"/>
                </a:solidFill>
                <a:effectLst/>
                <a:uLnTx/>
                <a:uFillTx/>
                <a:latin typeface="Arial" charset="0"/>
                <a:ea typeface="ＭＳ Ｐゴシック" charset="0"/>
                <a:cs typeface="+mn-cs"/>
              </a:rPr>
              <a:t>copy</a:t>
            </a:r>
          </a:p>
        </p:txBody>
      </p:sp>
      <p:sp>
        <p:nvSpPr>
          <p:cNvPr id="233" name="Text Box 237">
            <a:extLst>
              <a:ext uri="{FF2B5EF4-FFF2-40B4-BE49-F238E27FC236}">
                <a16:creationId xmlns:a16="http://schemas.microsoft.com/office/drawing/2014/main" id="{EAD9B395-E752-6A49-A4A1-C7F6E1FAF489}"/>
              </a:ext>
            </a:extLst>
          </p:cNvPr>
          <p:cNvSpPr txBox="1">
            <a:spLocks noChangeArrowheads="1"/>
          </p:cNvSpPr>
          <p:nvPr/>
        </p:nvSpPr>
        <p:spPr bwMode="auto">
          <a:xfrm>
            <a:off x="3786188" y="4761119"/>
            <a:ext cx="16430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1200" cap="none" spc="0" normalizeH="0" baseline="0" noProof="0" dirty="0">
                <a:ln>
                  <a:noFill/>
                </a:ln>
                <a:solidFill>
                  <a:srgbClr val="006600"/>
                </a:solidFill>
                <a:effectLst/>
                <a:uLnTx/>
                <a:uFillTx/>
                <a:latin typeface="Arial" charset="0"/>
                <a:ea typeface="ＭＳ Ｐゴシック" charset="0"/>
                <a:cs typeface="+mn-cs"/>
              </a:rPr>
              <a:t>no buffer space!</a:t>
            </a:r>
          </a:p>
        </p:txBody>
      </p:sp>
      <p:sp>
        <p:nvSpPr>
          <p:cNvPr id="318" name="Rectangle 264">
            <a:extLst>
              <a:ext uri="{FF2B5EF4-FFF2-40B4-BE49-F238E27FC236}">
                <a16:creationId xmlns:a16="http://schemas.microsoft.com/office/drawing/2014/main" id="{D09A7464-92EB-C943-B1B0-D7DED6B7F590}"/>
              </a:ext>
            </a:extLst>
          </p:cNvPr>
          <p:cNvSpPr txBox="1">
            <a:spLocks noChangeArrowheads="1"/>
          </p:cNvSpPr>
          <p:nvPr/>
        </p:nvSpPr>
        <p:spPr>
          <a:xfrm>
            <a:off x="600313" y="1223059"/>
            <a:ext cx="5915913" cy="2132179"/>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0" u="none" strike="noStrike" kern="1200" cap="none" spc="0" normalizeH="0" baseline="0" noProof="0" dirty="0">
                <a:ln>
                  <a:noFill/>
                </a:ln>
                <a:solidFill>
                  <a:srgbClr val="000099"/>
                </a:solidFill>
                <a:effectLst/>
                <a:uLnTx/>
                <a:uFillTx/>
                <a:latin typeface="Calibri" panose="020F0502020204030204"/>
                <a:ea typeface="+mn-ea"/>
                <a:cs typeface="+mn-cs"/>
              </a:rPr>
              <a:t>Idealization: </a:t>
            </a:r>
            <a:r>
              <a:rPr kumimoji="0" lang="en-US" sz="3000" b="0" i="1" u="none" strike="noStrike" kern="1200" cap="none" spc="0" normalizeH="0" baseline="0" noProof="0" dirty="0">
                <a:ln>
                  <a:noFill/>
                </a:ln>
                <a:solidFill>
                  <a:srgbClr val="C00000"/>
                </a:solidFill>
                <a:effectLst/>
                <a:uLnTx/>
                <a:uFillTx/>
                <a:latin typeface="Calibri" panose="020F0502020204030204"/>
                <a:ea typeface="+mn-ea"/>
                <a:cs typeface="+mn-cs"/>
              </a:rPr>
              <a:t>some </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rPr>
              <a:t>perfect knowledge</a:t>
            </a:r>
          </a:p>
          <a:p>
            <a:pPr marL="457200"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packets can be lost (dropped at router) due  to full buffers</a:t>
            </a:r>
          </a:p>
          <a:p>
            <a:pPr marL="457200"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knows when packet has been dropped: only resends if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known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to be lost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6" name="Slide Number Placeholder 2">
            <a:extLst>
              <a:ext uri="{FF2B5EF4-FFF2-40B4-BE49-F238E27FC236}">
                <a16:creationId xmlns:a16="http://schemas.microsoft.com/office/drawing/2014/main" id="{D2612AFA-2896-BE40-9DDD-29726BDC295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40</a:t>
            </a:fld>
            <a:endParaRPr lang="en-US" dirty="0"/>
          </a:p>
        </p:txBody>
      </p:sp>
    </p:spTree>
    <p:extLst>
      <p:ext uri="{BB962C8B-B14F-4D97-AF65-F5344CB8AC3E}">
        <p14:creationId xmlns:p14="http://schemas.microsoft.com/office/powerpoint/2010/main" val="74526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dissolve">
                                      <p:cBhvr>
                                        <p:cTn id="7" dur="500"/>
                                        <p:tgtEl>
                                          <p:spTgt spid="230"/>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5 L -5.55556E-7 0.03542 " pathEditMode="relative" rAng="0" ptsTypes="AA">
                                      <p:cBhvr>
                                        <p:cTn id="10" dur="2000" fill="hold"/>
                                        <p:tgtEl>
                                          <p:spTgt spid="230"/>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231"/>
                                        </p:tgtEl>
                                        <p:attrNameLst>
                                          <p:attrName>style.visibility</p:attrName>
                                        </p:attrNameLst>
                                      </p:cBhvr>
                                      <p:to>
                                        <p:strVal val="visible"/>
                                      </p:to>
                                    </p:set>
                                    <p:animEffect transition="in" filter="dissolve">
                                      <p:cBhvr>
                                        <p:cTn id="14" dur="500"/>
                                        <p:tgtEl>
                                          <p:spTgt spid="231"/>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dissolve">
                                      <p:cBhvr>
                                        <p:cTn id="17" dur="500"/>
                                        <p:tgtEl>
                                          <p:spTgt spid="232"/>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1.875E-6 0.03542 L 0.00026 0.17778 L 0.06328 0.17871 L 0.03451 0.24167 L 0.14323 0.24167 " pathEditMode="relative" rAng="0" ptsTypes="AAAAA">
                                      <p:cBhvr>
                                        <p:cTn id="20" dur="2000" fill="hold"/>
                                        <p:tgtEl>
                                          <p:spTgt spid="230"/>
                                        </p:tgtEl>
                                        <p:attrNameLst>
                                          <p:attrName>ppt_x</p:attrName>
                                          <p:attrName>ppt_y</p:attrName>
                                        </p:attrNameLst>
                                      </p:cBhvr>
                                      <p:rCtr x="7161" y="10301"/>
                                    </p:animMotion>
                                  </p:childTnLst>
                                </p:cTn>
                              </p:par>
                              <p:par>
                                <p:cTn id="21" presetID="9" presetClass="exit" presetSubtype="0" fill="hold" grpId="1" nodeType="withEffect">
                                  <p:stCondLst>
                                    <p:cond delay="0"/>
                                  </p:stCondLst>
                                  <p:childTnLst>
                                    <p:animEffect transition="out" filter="dissolve">
                                      <p:cBhvr>
                                        <p:cTn id="22" dur="500"/>
                                        <p:tgtEl>
                                          <p:spTgt spid="232"/>
                                        </p:tgtEl>
                                      </p:cBhvr>
                                    </p:animEffect>
                                    <p:set>
                                      <p:cBhvr>
                                        <p:cTn id="23" dur="1" fill="hold">
                                          <p:stCondLst>
                                            <p:cond delay="499"/>
                                          </p:stCondLst>
                                        </p:cTn>
                                        <p:tgtEl>
                                          <p:spTgt spid="232"/>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233"/>
                                        </p:tgtEl>
                                        <p:attrNameLst>
                                          <p:attrName>style.visibility</p:attrName>
                                        </p:attrNameLst>
                                      </p:cBhvr>
                                      <p:to>
                                        <p:strVal val="visible"/>
                                      </p:to>
                                    </p:set>
                                    <p:animEffect transition="in" filter="dissolve">
                                      <p:cBhvr>
                                        <p:cTn id="27" dur="500"/>
                                        <p:tgtEl>
                                          <p:spTgt spid="233"/>
                                        </p:tgtEl>
                                      </p:cBhvr>
                                    </p:animEffect>
                                  </p:childTnLst>
                                </p:cTn>
                              </p:par>
                            </p:childTnLst>
                          </p:cTn>
                        </p:par>
                        <p:par>
                          <p:cTn id="28" fill="hold">
                            <p:stCondLst>
                              <p:cond delay="5500"/>
                            </p:stCondLst>
                            <p:childTnLst>
                              <p:par>
                                <p:cTn id="29" presetID="9" presetClass="entr" presetSubtype="0" fill="hold" nodeType="afterEffect">
                                  <p:stCondLst>
                                    <p:cond delay="0"/>
                                  </p:stCondLst>
                                  <p:childTnLst>
                                    <p:set>
                                      <p:cBhvr>
                                        <p:cTn id="30" dur="1" fill="hold">
                                          <p:stCondLst>
                                            <p:cond delay="0"/>
                                          </p:stCondLst>
                                        </p:cTn>
                                        <p:tgtEl>
                                          <p:spTgt spid="160"/>
                                        </p:tgtEl>
                                        <p:attrNameLst>
                                          <p:attrName>style.visibility</p:attrName>
                                        </p:attrNameLst>
                                      </p:cBhvr>
                                      <p:to>
                                        <p:strVal val="visible"/>
                                      </p:to>
                                    </p:set>
                                    <p:animEffect transition="in" filter="dissolve">
                                      <p:cBhvr>
                                        <p:cTn id="31" dur="500"/>
                                        <p:tgtEl>
                                          <p:spTgt spid="160"/>
                                        </p:tgtEl>
                                      </p:cBhvr>
                                    </p:animEffect>
                                  </p:childTnLst>
                                </p:cTn>
                              </p:par>
                            </p:childTnLst>
                          </p:cTn>
                        </p:par>
                        <p:par>
                          <p:cTn id="32" fill="hold">
                            <p:stCondLst>
                              <p:cond delay="6000"/>
                            </p:stCondLst>
                            <p:childTnLst>
                              <p:par>
                                <p:cTn id="33" presetID="0" presetClass="path" presetSubtype="0" accel="50000" decel="50000" fill="hold" grpId="3" nodeType="afterEffect">
                                  <p:stCondLst>
                                    <p:cond delay="0"/>
                                  </p:stCondLst>
                                  <p:childTnLst>
                                    <p:animMotion origin="layout" path="M 0.14323 0.24167 L 0.14544 0.35116 " pathEditMode="relative" rAng="0" ptsTypes="AA">
                                      <p:cBhvr>
                                        <p:cTn id="34" dur="2000" fill="hold"/>
                                        <p:tgtEl>
                                          <p:spTgt spid="230"/>
                                        </p:tgtEl>
                                        <p:attrNameLst>
                                          <p:attrName>ppt_x</p:attrName>
                                          <p:attrName>ppt_y</p:attrName>
                                        </p:attrNameLst>
                                      </p:cBhvr>
                                      <p:rCtr x="104" y="5463"/>
                                    </p:animMotion>
                                  </p:childTnLst>
                                </p:cTn>
                              </p:par>
                              <p:par>
                                <p:cTn id="35" presetID="9" presetClass="exit" presetSubtype="0" fill="hold" grpId="1" nodeType="withEffect">
                                  <p:stCondLst>
                                    <p:cond delay="0"/>
                                  </p:stCondLst>
                                  <p:childTnLst>
                                    <p:animEffect transition="out" filter="dissolve">
                                      <p:cBhvr>
                                        <p:cTn id="36" dur="500"/>
                                        <p:tgtEl>
                                          <p:spTgt spid="233"/>
                                        </p:tgtEl>
                                      </p:cBhvr>
                                    </p:animEffect>
                                    <p:set>
                                      <p:cBhvr>
                                        <p:cTn id="37" dur="1" fill="hold">
                                          <p:stCondLst>
                                            <p:cond delay="499"/>
                                          </p:stCondLst>
                                        </p:cTn>
                                        <p:tgtEl>
                                          <p:spTgt spid="233"/>
                                        </p:tgtEl>
                                        <p:attrNameLst>
                                          <p:attrName>style.visibility</p:attrName>
                                        </p:attrNameLst>
                                      </p:cBhvr>
                                      <p:to>
                                        <p:strVal val="hidden"/>
                                      </p:to>
                                    </p:set>
                                  </p:childTnLst>
                                </p:cTn>
                              </p:par>
                            </p:childTnLst>
                          </p:cTn>
                        </p:par>
                        <p:par>
                          <p:cTn id="38" fill="hold">
                            <p:stCondLst>
                              <p:cond delay="8000"/>
                            </p:stCondLst>
                            <p:childTnLst>
                              <p:par>
                                <p:cTn id="39" presetID="9" presetClass="exit" presetSubtype="0" fill="hold" grpId="4" nodeType="afterEffect">
                                  <p:stCondLst>
                                    <p:cond delay="0"/>
                                  </p:stCondLst>
                                  <p:childTnLst>
                                    <p:animEffect transition="out" filter="dissolve">
                                      <p:cBhvr>
                                        <p:cTn id="40" dur="500"/>
                                        <p:tgtEl>
                                          <p:spTgt spid="230"/>
                                        </p:tgtEl>
                                      </p:cBhvr>
                                    </p:animEffect>
                                    <p:set>
                                      <p:cBhvr>
                                        <p:cTn id="41" dur="1" fill="hold">
                                          <p:stCondLst>
                                            <p:cond delay="499"/>
                                          </p:stCondLst>
                                        </p:cTn>
                                        <p:tgtEl>
                                          <p:spTgt spid="2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animBg="1"/>
      <p:bldP spid="230" grpId="1" animBg="1"/>
      <p:bldP spid="230" grpId="2" animBg="1"/>
      <p:bldP spid="230" grpId="3" animBg="1"/>
      <p:bldP spid="230" grpId="4" animBg="1"/>
      <p:bldP spid="231" grpId="0" animBg="1"/>
      <p:bldP spid="232" grpId="0"/>
      <p:bldP spid="232" grpId="1"/>
      <p:bldP spid="233" grpId="0"/>
      <p:bldP spid="233"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Freeform 3">
            <a:extLst>
              <a:ext uri="{FF2B5EF4-FFF2-40B4-BE49-F238E27FC236}">
                <a16:creationId xmlns:a16="http://schemas.microsoft.com/office/drawing/2014/main" id="{78DA0B54-F98B-BB46-88B3-CE41F122DE26}"/>
              </a:ext>
            </a:extLst>
          </p:cNvPr>
          <p:cNvSpPr>
            <a:spLocks/>
          </p:cNvSpPr>
          <p:nvPr/>
        </p:nvSpPr>
        <p:spPr bwMode="auto">
          <a:xfrm>
            <a:off x="6946976" y="5009814"/>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74" name="Group 473">
            <a:extLst>
              <a:ext uri="{FF2B5EF4-FFF2-40B4-BE49-F238E27FC236}">
                <a16:creationId xmlns:a16="http://schemas.microsoft.com/office/drawing/2014/main" id="{B7831227-C019-F54D-8486-90C2641B233E}"/>
              </a:ext>
            </a:extLst>
          </p:cNvPr>
          <p:cNvGrpSpPr/>
          <p:nvPr/>
        </p:nvGrpSpPr>
        <p:grpSpPr>
          <a:xfrm>
            <a:off x="6249435" y="5024056"/>
            <a:ext cx="720732" cy="1182930"/>
            <a:chOff x="10910965" y="2513124"/>
            <a:chExt cx="586768" cy="904023"/>
          </a:xfrm>
        </p:grpSpPr>
        <p:sp>
          <p:nvSpPr>
            <p:cNvPr id="475" name="Rectangle 474">
              <a:extLst>
                <a:ext uri="{FF2B5EF4-FFF2-40B4-BE49-F238E27FC236}">
                  <a16:creationId xmlns:a16="http://schemas.microsoft.com/office/drawing/2014/main" id="{1F86B744-C8BE-A248-B391-C1A1E47E0A0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76" name="Straight Connector 475">
              <a:extLst>
                <a:ext uri="{FF2B5EF4-FFF2-40B4-BE49-F238E27FC236}">
                  <a16:creationId xmlns:a16="http://schemas.microsoft.com/office/drawing/2014/main" id="{900566A3-5320-FA4C-ABD1-930C515C0C89}"/>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93B54A25-2EFC-2B49-BB5B-BE990ACB6E19}"/>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A6538998-BDBF-DF4C-B2EC-77F281D72F0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id="{968272CD-399F-264B-A633-827064A7E41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9" name="Freeform 9">
            <a:extLst>
              <a:ext uri="{FF2B5EF4-FFF2-40B4-BE49-F238E27FC236}">
                <a16:creationId xmlns:a16="http://schemas.microsoft.com/office/drawing/2014/main" id="{3605A7CD-486E-374E-857B-A5FED463149A}"/>
              </a:ext>
            </a:extLst>
          </p:cNvPr>
          <p:cNvSpPr>
            <a:spLocks/>
          </p:cNvSpPr>
          <p:nvPr/>
        </p:nvSpPr>
        <p:spPr bwMode="auto">
          <a:xfrm flipH="1">
            <a:off x="1844721" y="3515638"/>
            <a:ext cx="528348" cy="117827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0" name="Group 169">
            <a:extLst>
              <a:ext uri="{FF2B5EF4-FFF2-40B4-BE49-F238E27FC236}">
                <a16:creationId xmlns:a16="http://schemas.microsoft.com/office/drawing/2014/main" id="{6BAE210C-B315-BF49-9E14-832C803385C1}"/>
              </a:ext>
            </a:extLst>
          </p:cNvPr>
          <p:cNvGrpSpPr/>
          <p:nvPr/>
        </p:nvGrpSpPr>
        <p:grpSpPr>
          <a:xfrm>
            <a:off x="1278678" y="4683698"/>
            <a:ext cx="720732" cy="1182930"/>
            <a:chOff x="10910965" y="2513124"/>
            <a:chExt cx="586768" cy="904023"/>
          </a:xfrm>
        </p:grpSpPr>
        <p:sp>
          <p:nvSpPr>
            <p:cNvPr id="466" name="Rectangle 465">
              <a:extLst>
                <a:ext uri="{FF2B5EF4-FFF2-40B4-BE49-F238E27FC236}">
                  <a16:creationId xmlns:a16="http://schemas.microsoft.com/office/drawing/2014/main" id="{782DF269-B22E-124D-A8AB-1B45AC4017FB}"/>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67" name="Straight Connector 466">
              <a:extLst>
                <a:ext uri="{FF2B5EF4-FFF2-40B4-BE49-F238E27FC236}">
                  <a16:creationId xmlns:a16="http://schemas.microsoft.com/office/drawing/2014/main" id="{A7812E96-3B07-D348-AB53-B122DAB4E6B2}"/>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2B399334-1A8E-134C-B4FC-1DADB2572F9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2A8D4057-50A8-0C4E-B3DB-41EF5AA29419}"/>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303C7848-D36A-834E-9516-64CE78236ED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1" name="Group 170">
            <a:extLst>
              <a:ext uri="{FF2B5EF4-FFF2-40B4-BE49-F238E27FC236}">
                <a16:creationId xmlns:a16="http://schemas.microsoft.com/office/drawing/2014/main" id="{584477B2-231F-6342-BB1B-FEE6C59ECF52}"/>
              </a:ext>
            </a:extLst>
          </p:cNvPr>
          <p:cNvGrpSpPr/>
          <p:nvPr/>
        </p:nvGrpSpPr>
        <p:grpSpPr>
          <a:xfrm>
            <a:off x="2355044" y="3521091"/>
            <a:ext cx="720732" cy="1182930"/>
            <a:chOff x="10910965" y="2513124"/>
            <a:chExt cx="586768" cy="904023"/>
          </a:xfrm>
        </p:grpSpPr>
        <p:sp>
          <p:nvSpPr>
            <p:cNvPr id="461" name="Rectangle 460">
              <a:extLst>
                <a:ext uri="{FF2B5EF4-FFF2-40B4-BE49-F238E27FC236}">
                  <a16:creationId xmlns:a16="http://schemas.microsoft.com/office/drawing/2014/main" id="{6809513A-96B2-F747-B5DE-AE92732DF736}"/>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62" name="Straight Connector 461">
              <a:extLst>
                <a:ext uri="{FF2B5EF4-FFF2-40B4-BE49-F238E27FC236}">
                  <a16:creationId xmlns:a16="http://schemas.microsoft.com/office/drawing/2014/main" id="{12D921D5-B6BF-A24C-8002-5AB6451D58B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8E7AFE4F-E85D-E74E-9028-EA5E47E1FC08}"/>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A7E6CF1A-5E38-FC4A-91EC-B6B52C3CCCC0}"/>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C7013E7D-279D-3441-A1FC-72573517FCAA}"/>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2" name="Freeform 6">
            <a:extLst>
              <a:ext uri="{FF2B5EF4-FFF2-40B4-BE49-F238E27FC236}">
                <a16:creationId xmlns:a16="http://schemas.microsoft.com/office/drawing/2014/main" id="{206261C0-C19D-5445-B1A1-7208FAA9D5C0}"/>
              </a:ext>
            </a:extLst>
          </p:cNvPr>
          <p:cNvSpPr>
            <a:spLocks/>
          </p:cNvSpPr>
          <p:nvPr/>
        </p:nvSpPr>
        <p:spPr bwMode="auto">
          <a:xfrm>
            <a:off x="7409112" y="3699469"/>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34">
            <a:extLst>
              <a:ext uri="{FF2B5EF4-FFF2-40B4-BE49-F238E27FC236}">
                <a16:creationId xmlns:a16="http://schemas.microsoft.com/office/drawing/2014/main" id="{2D5D8D25-47D7-4247-93AC-740845C8F29F}"/>
              </a:ext>
            </a:extLst>
          </p:cNvPr>
          <p:cNvGrpSpPr/>
          <p:nvPr/>
        </p:nvGrpSpPr>
        <p:grpSpPr>
          <a:xfrm>
            <a:off x="6698918" y="3667889"/>
            <a:ext cx="720732" cy="1182930"/>
            <a:chOff x="10910965" y="2513124"/>
            <a:chExt cx="586768" cy="904023"/>
          </a:xfrm>
        </p:grpSpPr>
        <p:sp>
          <p:nvSpPr>
            <p:cNvPr id="456" name="Rectangle 455">
              <a:extLst>
                <a:ext uri="{FF2B5EF4-FFF2-40B4-BE49-F238E27FC236}">
                  <a16:creationId xmlns:a16="http://schemas.microsoft.com/office/drawing/2014/main" id="{23DA77B2-BEC2-8945-AF87-82BF78DFEBDC}"/>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57" name="Straight Connector 456">
              <a:extLst>
                <a:ext uri="{FF2B5EF4-FFF2-40B4-BE49-F238E27FC236}">
                  <a16:creationId xmlns:a16="http://schemas.microsoft.com/office/drawing/2014/main" id="{5E0EB13A-C315-4845-B3CA-9996078979F7}"/>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77FF2C2F-77E2-114D-A87A-BE0DC6998087}"/>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215BACD8-AE1A-024C-8113-15D983544269}"/>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4A77BC0A-EA01-7445-AAE0-B8E8936A6672}"/>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1" name="Group 330">
            <a:extLst>
              <a:ext uri="{FF2B5EF4-FFF2-40B4-BE49-F238E27FC236}">
                <a16:creationId xmlns:a16="http://schemas.microsoft.com/office/drawing/2014/main" id="{FFA35F8C-504E-E740-B268-F48CB484744A}"/>
              </a:ext>
            </a:extLst>
          </p:cNvPr>
          <p:cNvGrpSpPr/>
          <p:nvPr/>
        </p:nvGrpSpPr>
        <p:grpSpPr>
          <a:xfrm>
            <a:off x="3770696" y="5033645"/>
            <a:ext cx="1286871" cy="734927"/>
            <a:chOff x="7493876" y="2774731"/>
            <a:chExt cx="1481958" cy="894622"/>
          </a:xfrm>
        </p:grpSpPr>
        <p:sp>
          <p:nvSpPr>
            <p:cNvPr id="449" name="Freeform 448">
              <a:extLst>
                <a:ext uri="{FF2B5EF4-FFF2-40B4-BE49-F238E27FC236}">
                  <a16:creationId xmlns:a16="http://schemas.microsoft.com/office/drawing/2014/main" id="{0C5B982F-8D0D-5E4B-A5F4-51D4EACABD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50" name="Oval 449">
              <a:extLst>
                <a:ext uri="{FF2B5EF4-FFF2-40B4-BE49-F238E27FC236}">
                  <a16:creationId xmlns:a16="http://schemas.microsoft.com/office/drawing/2014/main" id="{486B86C4-CAB3-2943-9DDD-58492CC7335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51" name="Group 450">
              <a:extLst>
                <a:ext uri="{FF2B5EF4-FFF2-40B4-BE49-F238E27FC236}">
                  <a16:creationId xmlns:a16="http://schemas.microsoft.com/office/drawing/2014/main" id="{2DD189E4-73DE-594A-9971-497300D8C426}"/>
                </a:ext>
              </a:extLst>
            </p:cNvPr>
            <p:cNvGrpSpPr/>
            <p:nvPr/>
          </p:nvGrpSpPr>
          <p:grpSpPr>
            <a:xfrm>
              <a:off x="7713663" y="2848339"/>
              <a:ext cx="1042107" cy="425543"/>
              <a:chOff x="7786941" y="2884917"/>
              <a:chExt cx="897649" cy="353919"/>
            </a:xfrm>
          </p:grpSpPr>
          <p:sp>
            <p:nvSpPr>
              <p:cNvPr id="452" name="Freeform 451">
                <a:extLst>
                  <a:ext uri="{FF2B5EF4-FFF2-40B4-BE49-F238E27FC236}">
                    <a16:creationId xmlns:a16="http://schemas.microsoft.com/office/drawing/2014/main" id="{E85CF2D0-3CFC-5E43-B858-03D42C9110A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3" name="Freeform 452">
                <a:extLst>
                  <a:ext uri="{FF2B5EF4-FFF2-40B4-BE49-F238E27FC236}">
                    <a16:creationId xmlns:a16="http://schemas.microsoft.com/office/drawing/2014/main" id="{EC9DAD17-F992-4F48-8267-9058E7CD27F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4" name="Freeform 453">
                <a:extLst>
                  <a:ext uri="{FF2B5EF4-FFF2-40B4-BE49-F238E27FC236}">
                    <a16:creationId xmlns:a16="http://schemas.microsoft.com/office/drawing/2014/main" id="{E710E015-BE76-AE4B-81F6-34C170D713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5" name="Freeform 454">
                <a:extLst>
                  <a:ext uri="{FF2B5EF4-FFF2-40B4-BE49-F238E27FC236}">
                    <a16:creationId xmlns:a16="http://schemas.microsoft.com/office/drawing/2014/main" id="{E6F85A0B-00CE-6D4F-A4FF-FFB7E1C2F7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34" name="Group 124">
            <a:extLst>
              <a:ext uri="{FF2B5EF4-FFF2-40B4-BE49-F238E27FC236}">
                <a16:creationId xmlns:a16="http://schemas.microsoft.com/office/drawing/2014/main" id="{9BF07229-A6A4-AD45-97F8-02F77949015D}"/>
              </a:ext>
            </a:extLst>
          </p:cNvPr>
          <p:cNvGrpSpPr>
            <a:grpSpLocks/>
          </p:cNvGrpSpPr>
          <p:nvPr/>
        </p:nvGrpSpPr>
        <p:grpSpPr bwMode="auto">
          <a:xfrm>
            <a:off x="1317421" y="3877120"/>
            <a:ext cx="645431" cy="569172"/>
            <a:chOff x="-44" y="1473"/>
            <a:chExt cx="981" cy="1105"/>
          </a:xfrm>
        </p:grpSpPr>
        <p:pic>
          <p:nvPicPr>
            <p:cNvPr id="447" name="Picture 125" descr="desktop_computer_stylized_medium">
              <a:extLst>
                <a:ext uri="{FF2B5EF4-FFF2-40B4-BE49-F238E27FC236}">
                  <a16:creationId xmlns:a16="http://schemas.microsoft.com/office/drawing/2014/main" id="{7307EF69-0AD9-7347-B5CF-13B9A3CE26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8" name="Freeform 126">
              <a:extLst>
                <a:ext uri="{FF2B5EF4-FFF2-40B4-BE49-F238E27FC236}">
                  <a16:creationId xmlns:a16="http://schemas.microsoft.com/office/drawing/2014/main" id="{70150EB8-302C-104D-A225-CB59DD73AD6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36" name="Freeform 12">
            <a:extLst>
              <a:ext uri="{FF2B5EF4-FFF2-40B4-BE49-F238E27FC236}">
                <a16:creationId xmlns:a16="http://schemas.microsoft.com/office/drawing/2014/main" id="{0457B109-DCF7-7B48-990C-188E960DA7E2}"/>
              </a:ext>
            </a:extLst>
          </p:cNvPr>
          <p:cNvSpPr>
            <a:spLocks/>
          </p:cNvSpPr>
          <p:nvPr/>
        </p:nvSpPr>
        <p:spPr bwMode="auto">
          <a:xfrm flipH="1">
            <a:off x="978210" y="4681606"/>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7" name="Line 33">
            <a:extLst>
              <a:ext uri="{FF2B5EF4-FFF2-40B4-BE49-F238E27FC236}">
                <a16:creationId xmlns:a16="http://schemas.microsoft.com/office/drawing/2014/main" id="{378BB6D2-BFAA-E544-BB30-E3BAC64FEF3E}"/>
              </a:ext>
            </a:extLst>
          </p:cNvPr>
          <p:cNvSpPr>
            <a:spLocks noChangeShapeType="1"/>
          </p:cNvSpPr>
          <p:nvPr/>
        </p:nvSpPr>
        <p:spPr bwMode="auto">
          <a:xfrm flipH="1">
            <a:off x="2405566"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8" name="Text Box 42">
            <a:extLst>
              <a:ext uri="{FF2B5EF4-FFF2-40B4-BE49-F238E27FC236}">
                <a16:creationId xmlns:a16="http://schemas.microsoft.com/office/drawing/2014/main" id="{E22D8322-6AC1-024E-A7E0-7FB476A5F28E}"/>
              </a:ext>
            </a:extLst>
          </p:cNvPr>
          <p:cNvSpPr txBox="1">
            <a:spLocks noChangeArrowheads="1"/>
          </p:cNvSpPr>
          <p:nvPr/>
        </p:nvSpPr>
        <p:spPr bwMode="auto">
          <a:xfrm>
            <a:off x="1088616" y="3529817"/>
            <a:ext cx="1122503"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39" name="Text Box 52">
            <a:extLst>
              <a:ext uri="{FF2B5EF4-FFF2-40B4-BE49-F238E27FC236}">
                <a16:creationId xmlns:a16="http://schemas.microsoft.com/office/drawing/2014/main" id="{C9BA4092-FFBC-344B-B0CD-5F77B5C37F21}"/>
              </a:ext>
            </a:extLst>
          </p:cNvPr>
          <p:cNvSpPr txBox="1">
            <a:spLocks noChangeArrowheads="1"/>
          </p:cNvSpPr>
          <p:nvPr/>
        </p:nvSpPr>
        <p:spPr bwMode="auto">
          <a:xfrm>
            <a:off x="1083435" y="6053488"/>
            <a:ext cx="981577"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340" name="Line 53">
            <a:extLst>
              <a:ext uri="{FF2B5EF4-FFF2-40B4-BE49-F238E27FC236}">
                <a16:creationId xmlns:a16="http://schemas.microsoft.com/office/drawing/2014/main" id="{D40AEB36-CE2F-6240-A4C3-F1CF224B9976}"/>
              </a:ext>
            </a:extLst>
          </p:cNvPr>
          <p:cNvSpPr>
            <a:spLocks noChangeShapeType="1"/>
          </p:cNvSpPr>
          <p:nvPr/>
        </p:nvSpPr>
        <p:spPr bwMode="auto">
          <a:xfrm flipH="1">
            <a:off x="3002248"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1" name="Line 54">
            <a:extLst>
              <a:ext uri="{FF2B5EF4-FFF2-40B4-BE49-F238E27FC236}">
                <a16:creationId xmlns:a16="http://schemas.microsoft.com/office/drawing/2014/main" id="{495C95A8-89BF-AD47-9100-5231A4D8B0C2}"/>
              </a:ext>
            </a:extLst>
          </p:cNvPr>
          <p:cNvSpPr>
            <a:spLocks noChangeShapeType="1"/>
          </p:cNvSpPr>
          <p:nvPr/>
        </p:nvSpPr>
        <p:spPr bwMode="auto">
          <a:xfrm flipH="1">
            <a:off x="4991187"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2" name="Line 55">
            <a:extLst>
              <a:ext uri="{FF2B5EF4-FFF2-40B4-BE49-F238E27FC236}">
                <a16:creationId xmlns:a16="http://schemas.microsoft.com/office/drawing/2014/main" id="{120B847C-F27F-494F-8014-E8B621196DE4}"/>
              </a:ext>
            </a:extLst>
          </p:cNvPr>
          <p:cNvSpPr>
            <a:spLocks noChangeShapeType="1"/>
          </p:cNvSpPr>
          <p:nvPr/>
        </p:nvSpPr>
        <p:spPr bwMode="auto">
          <a:xfrm flipH="1">
            <a:off x="5143282"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3" name="Line 57">
            <a:extLst>
              <a:ext uri="{FF2B5EF4-FFF2-40B4-BE49-F238E27FC236}">
                <a16:creationId xmlns:a16="http://schemas.microsoft.com/office/drawing/2014/main" id="{960F0352-E2A3-DE4C-9E29-AD02BDE1E663}"/>
              </a:ext>
            </a:extLst>
          </p:cNvPr>
          <p:cNvSpPr>
            <a:spLocks noChangeShapeType="1"/>
          </p:cNvSpPr>
          <p:nvPr/>
        </p:nvSpPr>
        <p:spPr bwMode="auto">
          <a:xfrm flipH="1">
            <a:off x="6275655" y="4856289"/>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45" name="Group 127">
            <a:extLst>
              <a:ext uri="{FF2B5EF4-FFF2-40B4-BE49-F238E27FC236}">
                <a16:creationId xmlns:a16="http://schemas.microsoft.com/office/drawing/2014/main" id="{3AD20F85-F9D5-B241-A4C0-83AA3C7AFA1C}"/>
              </a:ext>
            </a:extLst>
          </p:cNvPr>
          <p:cNvGrpSpPr>
            <a:grpSpLocks/>
          </p:cNvGrpSpPr>
          <p:nvPr/>
        </p:nvGrpSpPr>
        <p:grpSpPr bwMode="auto">
          <a:xfrm>
            <a:off x="7531958" y="4473878"/>
            <a:ext cx="284691" cy="577481"/>
            <a:chOff x="4140" y="429"/>
            <a:chExt cx="1425" cy="2396"/>
          </a:xfrm>
        </p:grpSpPr>
        <p:sp>
          <p:nvSpPr>
            <p:cNvPr id="409" name="Freeform 128">
              <a:extLst>
                <a:ext uri="{FF2B5EF4-FFF2-40B4-BE49-F238E27FC236}">
                  <a16:creationId xmlns:a16="http://schemas.microsoft.com/office/drawing/2014/main" id="{0B4C7EC1-ADAA-B244-8CDF-3FEFCFF9F2D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0" name="Rectangle 129">
              <a:extLst>
                <a:ext uri="{FF2B5EF4-FFF2-40B4-BE49-F238E27FC236}">
                  <a16:creationId xmlns:a16="http://schemas.microsoft.com/office/drawing/2014/main" id="{A0FF8C35-B0F8-A74B-9E6E-A21B68AFBDF1}"/>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1" name="Freeform 130">
              <a:extLst>
                <a:ext uri="{FF2B5EF4-FFF2-40B4-BE49-F238E27FC236}">
                  <a16:creationId xmlns:a16="http://schemas.microsoft.com/office/drawing/2014/main" id="{B8A6A9CE-AE19-9646-8506-8FABE239754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2" name="Freeform 131">
              <a:extLst>
                <a:ext uri="{FF2B5EF4-FFF2-40B4-BE49-F238E27FC236}">
                  <a16:creationId xmlns:a16="http://schemas.microsoft.com/office/drawing/2014/main" id="{920D5DF8-F10D-784B-A501-18ADE558747A}"/>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13" name="Rectangle 132">
              <a:extLst>
                <a:ext uri="{FF2B5EF4-FFF2-40B4-BE49-F238E27FC236}">
                  <a16:creationId xmlns:a16="http://schemas.microsoft.com/office/drawing/2014/main" id="{158A36BE-3875-984B-860D-8A0FE0867C21}"/>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14" name="Group 133">
              <a:extLst>
                <a:ext uri="{FF2B5EF4-FFF2-40B4-BE49-F238E27FC236}">
                  <a16:creationId xmlns:a16="http://schemas.microsoft.com/office/drawing/2014/main" id="{E5497F18-12AE-964F-A3C6-A90B513556BE}"/>
                </a:ext>
              </a:extLst>
            </p:cNvPr>
            <p:cNvGrpSpPr>
              <a:grpSpLocks/>
            </p:cNvGrpSpPr>
            <p:nvPr/>
          </p:nvGrpSpPr>
          <p:grpSpPr bwMode="auto">
            <a:xfrm>
              <a:off x="4749" y="668"/>
              <a:ext cx="581" cy="145"/>
              <a:chOff x="614" y="2568"/>
              <a:chExt cx="725" cy="139"/>
            </a:xfrm>
          </p:grpSpPr>
          <p:sp>
            <p:nvSpPr>
              <p:cNvPr id="439" name="AutoShape 134">
                <a:extLst>
                  <a:ext uri="{FF2B5EF4-FFF2-40B4-BE49-F238E27FC236}">
                    <a16:creationId xmlns:a16="http://schemas.microsoft.com/office/drawing/2014/main" id="{44D06AC1-BE64-AD44-B78A-06EA0742660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0" name="AutoShape 135">
                <a:extLst>
                  <a:ext uri="{FF2B5EF4-FFF2-40B4-BE49-F238E27FC236}">
                    <a16:creationId xmlns:a16="http://schemas.microsoft.com/office/drawing/2014/main" id="{AB2F27B0-5EAD-DE4F-BB61-62C23D5FBC86}"/>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15" name="Rectangle 136">
              <a:extLst>
                <a:ext uri="{FF2B5EF4-FFF2-40B4-BE49-F238E27FC236}">
                  <a16:creationId xmlns:a16="http://schemas.microsoft.com/office/drawing/2014/main" id="{497EAA10-56C6-FF48-9B71-8DD4C9104F4D}"/>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16" name="Group 137">
              <a:extLst>
                <a:ext uri="{FF2B5EF4-FFF2-40B4-BE49-F238E27FC236}">
                  <a16:creationId xmlns:a16="http://schemas.microsoft.com/office/drawing/2014/main" id="{C3283769-C067-6D49-911F-DE095B9010DC}"/>
                </a:ext>
              </a:extLst>
            </p:cNvPr>
            <p:cNvGrpSpPr>
              <a:grpSpLocks/>
            </p:cNvGrpSpPr>
            <p:nvPr/>
          </p:nvGrpSpPr>
          <p:grpSpPr bwMode="auto">
            <a:xfrm>
              <a:off x="4747" y="994"/>
              <a:ext cx="581" cy="134"/>
              <a:chOff x="614" y="2568"/>
              <a:chExt cx="725" cy="139"/>
            </a:xfrm>
          </p:grpSpPr>
          <p:sp>
            <p:nvSpPr>
              <p:cNvPr id="437" name="AutoShape 138">
                <a:extLst>
                  <a:ext uri="{FF2B5EF4-FFF2-40B4-BE49-F238E27FC236}">
                    <a16:creationId xmlns:a16="http://schemas.microsoft.com/office/drawing/2014/main" id="{AB151B02-EE9D-8247-BD54-A32913D967B6}"/>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8" name="AutoShape 139">
                <a:extLst>
                  <a:ext uri="{FF2B5EF4-FFF2-40B4-BE49-F238E27FC236}">
                    <a16:creationId xmlns:a16="http://schemas.microsoft.com/office/drawing/2014/main" id="{FEF7F223-DA6D-0843-95D8-3849E237504B}"/>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17" name="Rectangle 140">
              <a:extLst>
                <a:ext uri="{FF2B5EF4-FFF2-40B4-BE49-F238E27FC236}">
                  <a16:creationId xmlns:a16="http://schemas.microsoft.com/office/drawing/2014/main" id="{7E6BEA62-9B73-F64A-AD66-03070B2683C2}"/>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8" name="Rectangle 141">
              <a:extLst>
                <a:ext uri="{FF2B5EF4-FFF2-40B4-BE49-F238E27FC236}">
                  <a16:creationId xmlns:a16="http://schemas.microsoft.com/office/drawing/2014/main" id="{B703598A-F43E-8F44-AA55-32B934E36F72}"/>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19" name="Group 142">
              <a:extLst>
                <a:ext uri="{FF2B5EF4-FFF2-40B4-BE49-F238E27FC236}">
                  <a16:creationId xmlns:a16="http://schemas.microsoft.com/office/drawing/2014/main" id="{37E008B5-DF9F-4741-9481-59DB934698E8}"/>
                </a:ext>
              </a:extLst>
            </p:cNvPr>
            <p:cNvGrpSpPr>
              <a:grpSpLocks/>
            </p:cNvGrpSpPr>
            <p:nvPr/>
          </p:nvGrpSpPr>
          <p:grpSpPr bwMode="auto">
            <a:xfrm>
              <a:off x="4735" y="1627"/>
              <a:ext cx="582" cy="151"/>
              <a:chOff x="614" y="2568"/>
              <a:chExt cx="725" cy="139"/>
            </a:xfrm>
          </p:grpSpPr>
          <p:sp>
            <p:nvSpPr>
              <p:cNvPr id="435" name="AutoShape 143">
                <a:extLst>
                  <a:ext uri="{FF2B5EF4-FFF2-40B4-BE49-F238E27FC236}">
                    <a16:creationId xmlns:a16="http://schemas.microsoft.com/office/drawing/2014/main" id="{4DFCD725-D192-594A-9091-58E3EB174CD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6" name="AutoShape 144">
                <a:extLst>
                  <a:ext uri="{FF2B5EF4-FFF2-40B4-BE49-F238E27FC236}">
                    <a16:creationId xmlns:a16="http://schemas.microsoft.com/office/drawing/2014/main" id="{E1E81217-E6F8-7E4C-83BD-39023D5FF17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20" name="Freeform 145">
              <a:extLst>
                <a:ext uri="{FF2B5EF4-FFF2-40B4-BE49-F238E27FC236}">
                  <a16:creationId xmlns:a16="http://schemas.microsoft.com/office/drawing/2014/main" id="{C9C21037-BEFA-DF45-969E-77E95675D29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21" name="Group 146">
              <a:extLst>
                <a:ext uri="{FF2B5EF4-FFF2-40B4-BE49-F238E27FC236}">
                  <a16:creationId xmlns:a16="http://schemas.microsoft.com/office/drawing/2014/main" id="{8C21E2FB-1E40-4E43-8A6F-A77D3B537718}"/>
                </a:ext>
              </a:extLst>
            </p:cNvPr>
            <p:cNvGrpSpPr>
              <a:grpSpLocks/>
            </p:cNvGrpSpPr>
            <p:nvPr/>
          </p:nvGrpSpPr>
          <p:grpSpPr bwMode="auto">
            <a:xfrm>
              <a:off x="4739" y="1327"/>
              <a:ext cx="582" cy="139"/>
              <a:chOff x="614" y="2568"/>
              <a:chExt cx="725" cy="139"/>
            </a:xfrm>
          </p:grpSpPr>
          <p:sp>
            <p:nvSpPr>
              <p:cNvPr id="433" name="AutoShape 147">
                <a:extLst>
                  <a:ext uri="{FF2B5EF4-FFF2-40B4-BE49-F238E27FC236}">
                    <a16:creationId xmlns:a16="http://schemas.microsoft.com/office/drawing/2014/main" id="{3FB07F3E-B384-BA42-B9DC-3F347F4454A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4" name="AutoShape 148">
                <a:extLst>
                  <a:ext uri="{FF2B5EF4-FFF2-40B4-BE49-F238E27FC236}">
                    <a16:creationId xmlns:a16="http://schemas.microsoft.com/office/drawing/2014/main" id="{53CFABFE-9ECC-654C-A26F-077B10C41C5B}"/>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22" name="Rectangle 149">
              <a:extLst>
                <a:ext uri="{FF2B5EF4-FFF2-40B4-BE49-F238E27FC236}">
                  <a16:creationId xmlns:a16="http://schemas.microsoft.com/office/drawing/2014/main" id="{2ADBFF81-E61D-BD42-A5DA-C6C72A45BA9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3" name="Freeform 150">
              <a:extLst>
                <a:ext uri="{FF2B5EF4-FFF2-40B4-BE49-F238E27FC236}">
                  <a16:creationId xmlns:a16="http://schemas.microsoft.com/office/drawing/2014/main" id="{B801D18D-12AF-604B-826B-87612B4BE25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4" name="Freeform 151">
              <a:extLst>
                <a:ext uri="{FF2B5EF4-FFF2-40B4-BE49-F238E27FC236}">
                  <a16:creationId xmlns:a16="http://schemas.microsoft.com/office/drawing/2014/main" id="{E0D76583-E225-D143-AD69-86F92601178E}"/>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5" name="Oval 152">
              <a:extLst>
                <a:ext uri="{FF2B5EF4-FFF2-40B4-BE49-F238E27FC236}">
                  <a16:creationId xmlns:a16="http://schemas.microsoft.com/office/drawing/2014/main" id="{B87BD5BD-84ED-1A45-B304-E70CB33272B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6" name="Freeform 153">
              <a:extLst>
                <a:ext uri="{FF2B5EF4-FFF2-40B4-BE49-F238E27FC236}">
                  <a16:creationId xmlns:a16="http://schemas.microsoft.com/office/drawing/2014/main" id="{AC83A214-EE2C-7D46-A95B-93B9ECF9794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7" name="AutoShape 154">
              <a:extLst>
                <a:ext uri="{FF2B5EF4-FFF2-40B4-BE49-F238E27FC236}">
                  <a16:creationId xmlns:a16="http://schemas.microsoft.com/office/drawing/2014/main" id="{E7B0CC33-9743-9840-8876-CD696FD4644E}"/>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8" name="AutoShape 155">
              <a:extLst>
                <a:ext uri="{FF2B5EF4-FFF2-40B4-BE49-F238E27FC236}">
                  <a16:creationId xmlns:a16="http://schemas.microsoft.com/office/drawing/2014/main" id="{90FDCD67-DF9D-014D-94A7-D70073231139}"/>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9" name="Oval 156">
              <a:extLst>
                <a:ext uri="{FF2B5EF4-FFF2-40B4-BE49-F238E27FC236}">
                  <a16:creationId xmlns:a16="http://schemas.microsoft.com/office/drawing/2014/main" id="{B70C62CF-87D8-BD4F-8287-EAFAD6879C9C}"/>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0" name="Oval 157">
              <a:extLst>
                <a:ext uri="{FF2B5EF4-FFF2-40B4-BE49-F238E27FC236}">
                  <a16:creationId xmlns:a16="http://schemas.microsoft.com/office/drawing/2014/main" id="{9CB3EBC8-732C-2243-9992-39D2F18B4FAC}"/>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31" name="Oval 158">
              <a:extLst>
                <a:ext uri="{FF2B5EF4-FFF2-40B4-BE49-F238E27FC236}">
                  <a16:creationId xmlns:a16="http://schemas.microsoft.com/office/drawing/2014/main" id="{F6C1B254-B4D2-D447-9853-48F46447F66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2" name="Rectangle 159">
              <a:extLst>
                <a:ext uri="{FF2B5EF4-FFF2-40B4-BE49-F238E27FC236}">
                  <a16:creationId xmlns:a16="http://schemas.microsoft.com/office/drawing/2014/main" id="{0ACFD0C6-117A-4E4E-ABC4-5883C7B0EF1B}"/>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46" name="Group 160">
            <a:extLst>
              <a:ext uri="{FF2B5EF4-FFF2-40B4-BE49-F238E27FC236}">
                <a16:creationId xmlns:a16="http://schemas.microsoft.com/office/drawing/2014/main" id="{C6CE532B-F6A8-1F45-B978-5D94FE3A17B7}"/>
              </a:ext>
            </a:extLst>
          </p:cNvPr>
          <p:cNvGrpSpPr>
            <a:grpSpLocks/>
          </p:cNvGrpSpPr>
          <p:nvPr/>
        </p:nvGrpSpPr>
        <p:grpSpPr bwMode="auto">
          <a:xfrm>
            <a:off x="585296" y="5655276"/>
            <a:ext cx="645431" cy="569172"/>
            <a:chOff x="-44" y="1473"/>
            <a:chExt cx="981" cy="1105"/>
          </a:xfrm>
        </p:grpSpPr>
        <p:pic>
          <p:nvPicPr>
            <p:cNvPr id="407" name="Picture 161" descr="desktop_computer_stylized_medium">
              <a:extLst>
                <a:ext uri="{FF2B5EF4-FFF2-40B4-BE49-F238E27FC236}">
                  <a16:creationId xmlns:a16="http://schemas.microsoft.com/office/drawing/2014/main" id="{3D454C67-648C-464C-9348-5D5073002B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8" name="Freeform 162">
              <a:extLst>
                <a:ext uri="{FF2B5EF4-FFF2-40B4-BE49-F238E27FC236}">
                  <a16:creationId xmlns:a16="http://schemas.microsoft.com/office/drawing/2014/main" id="{AF9C0563-4685-1D4B-BCCD-35AFDE3FA6D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47" name="Group 163">
            <a:extLst>
              <a:ext uri="{FF2B5EF4-FFF2-40B4-BE49-F238E27FC236}">
                <a16:creationId xmlns:a16="http://schemas.microsoft.com/office/drawing/2014/main" id="{B6D845CD-0E90-2A48-9E39-CEAB78AAF9D3}"/>
              </a:ext>
            </a:extLst>
          </p:cNvPr>
          <p:cNvGrpSpPr>
            <a:grpSpLocks/>
          </p:cNvGrpSpPr>
          <p:nvPr/>
        </p:nvGrpSpPr>
        <p:grpSpPr bwMode="auto">
          <a:xfrm>
            <a:off x="7141970" y="5736859"/>
            <a:ext cx="284691" cy="577481"/>
            <a:chOff x="4140" y="429"/>
            <a:chExt cx="1425" cy="2396"/>
          </a:xfrm>
        </p:grpSpPr>
        <p:sp>
          <p:nvSpPr>
            <p:cNvPr id="375" name="Freeform 164">
              <a:extLst>
                <a:ext uri="{FF2B5EF4-FFF2-40B4-BE49-F238E27FC236}">
                  <a16:creationId xmlns:a16="http://schemas.microsoft.com/office/drawing/2014/main" id="{AC1944D9-AB2D-A840-B696-F06D81AC9CA9}"/>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6" name="Rectangle 165">
              <a:extLst>
                <a:ext uri="{FF2B5EF4-FFF2-40B4-BE49-F238E27FC236}">
                  <a16:creationId xmlns:a16="http://schemas.microsoft.com/office/drawing/2014/main" id="{FE3F2702-7FD8-D84F-B02B-60338FAC6456}"/>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7" name="Freeform 166">
              <a:extLst>
                <a:ext uri="{FF2B5EF4-FFF2-40B4-BE49-F238E27FC236}">
                  <a16:creationId xmlns:a16="http://schemas.microsoft.com/office/drawing/2014/main" id="{AE3945C7-89B6-AE48-8EE1-FAE01D503FE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8" name="Freeform 167">
              <a:extLst>
                <a:ext uri="{FF2B5EF4-FFF2-40B4-BE49-F238E27FC236}">
                  <a16:creationId xmlns:a16="http://schemas.microsoft.com/office/drawing/2014/main" id="{8B262BBF-D0A1-384E-849C-4C274B7FE56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9" name="Rectangle 168">
              <a:extLst>
                <a:ext uri="{FF2B5EF4-FFF2-40B4-BE49-F238E27FC236}">
                  <a16:creationId xmlns:a16="http://schemas.microsoft.com/office/drawing/2014/main" id="{B21054BF-A0F7-5548-9EE7-4534695D12BF}"/>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80" name="Group 169">
              <a:extLst>
                <a:ext uri="{FF2B5EF4-FFF2-40B4-BE49-F238E27FC236}">
                  <a16:creationId xmlns:a16="http://schemas.microsoft.com/office/drawing/2014/main" id="{2C63B899-F37C-2843-B0E4-6A8FD67FEB3C}"/>
                </a:ext>
              </a:extLst>
            </p:cNvPr>
            <p:cNvGrpSpPr>
              <a:grpSpLocks/>
            </p:cNvGrpSpPr>
            <p:nvPr/>
          </p:nvGrpSpPr>
          <p:grpSpPr bwMode="auto">
            <a:xfrm>
              <a:off x="4749" y="668"/>
              <a:ext cx="581" cy="145"/>
              <a:chOff x="614" y="2568"/>
              <a:chExt cx="725" cy="139"/>
            </a:xfrm>
          </p:grpSpPr>
          <p:sp>
            <p:nvSpPr>
              <p:cNvPr id="405" name="AutoShape 170">
                <a:extLst>
                  <a:ext uri="{FF2B5EF4-FFF2-40B4-BE49-F238E27FC236}">
                    <a16:creationId xmlns:a16="http://schemas.microsoft.com/office/drawing/2014/main" id="{94C05A2E-6617-C343-8F01-95B4E8D0C0AD}"/>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6" name="AutoShape 171">
                <a:extLst>
                  <a:ext uri="{FF2B5EF4-FFF2-40B4-BE49-F238E27FC236}">
                    <a16:creationId xmlns:a16="http://schemas.microsoft.com/office/drawing/2014/main" id="{881D794E-FF34-414B-ABDF-C5EFE314129B}"/>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1" name="Rectangle 172">
              <a:extLst>
                <a:ext uri="{FF2B5EF4-FFF2-40B4-BE49-F238E27FC236}">
                  <a16:creationId xmlns:a16="http://schemas.microsoft.com/office/drawing/2014/main" id="{1248FF3D-9E05-3A40-AB88-FD1C22C30F07}"/>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82" name="Group 173">
              <a:extLst>
                <a:ext uri="{FF2B5EF4-FFF2-40B4-BE49-F238E27FC236}">
                  <a16:creationId xmlns:a16="http://schemas.microsoft.com/office/drawing/2014/main" id="{AEA37B61-C679-BD4C-946C-0850A830FE28}"/>
                </a:ext>
              </a:extLst>
            </p:cNvPr>
            <p:cNvGrpSpPr>
              <a:grpSpLocks/>
            </p:cNvGrpSpPr>
            <p:nvPr/>
          </p:nvGrpSpPr>
          <p:grpSpPr bwMode="auto">
            <a:xfrm>
              <a:off x="4747" y="994"/>
              <a:ext cx="581" cy="134"/>
              <a:chOff x="614" y="2568"/>
              <a:chExt cx="725" cy="139"/>
            </a:xfrm>
          </p:grpSpPr>
          <p:sp>
            <p:nvSpPr>
              <p:cNvPr id="403" name="AutoShape 174">
                <a:extLst>
                  <a:ext uri="{FF2B5EF4-FFF2-40B4-BE49-F238E27FC236}">
                    <a16:creationId xmlns:a16="http://schemas.microsoft.com/office/drawing/2014/main" id="{E18E671A-3A85-AB40-A9A6-C1676123ED1A}"/>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4" name="AutoShape 175">
                <a:extLst>
                  <a:ext uri="{FF2B5EF4-FFF2-40B4-BE49-F238E27FC236}">
                    <a16:creationId xmlns:a16="http://schemas.microsoft.com/office/drawing/2014/main" id="{091465B3-523F-F74A-848E-134B2B03659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3" name="Rectangle 176">
              <a:extLst>
                <a:ext uri="{FF2B5EF4-FFF2-40B4-BE49-F238E27FC236}">
                  <a16:creationId xmlns:a16="http://schemas.microsoft.com/office/drawing/2014/main" id="{9F161249-61DD-1645-8787-2796E69D4525}"/>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4" name="Rectangle 177">
              <a:extLst>
                <a:ext uri="{FF2B5EF4-FFF2-40B4-BE49-F238E27FC236}">
                  <a16:creationId xmlns:a16="http://schemas.microsoft.com/office/drawing/2014/main" id="{AA505E39-11E3-4D49-96C3-80F10D41D467}"/>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85" name="Group 178">
              <a:extLst>
                <a:ext uri="{FF2B5EF4-FFF2-40B4-BE49-F238E27FC236}">
                  <a16:creationId xmlns:a16="http://schemas.microsoft.com/office/drawing/2014/main" id="{A3C57DB1-4919-604C-A319-3C717B76618C}"/>
                </a:ext>
              </a:extLst>
            </p:cNvPr>
            <p:cNvGrpSpPr>
              <a:grpSpLocks/>
            </p:cNvGrpSpPr>
            <p:nvPr/>
          </p:nvGrpSpPr>
          <p:grpSpPr bwMode="auto">
            <a:xfrm>
              <a:off x="4735" y="1627"/>
              <a:ext cx="582" cy="151"/>
              <a:chOff x="614" y="2568"/>
              <a:chExt cx="725" cy="139"/>
            </a:xfrm>
          </p:grpSpPr>
          <p:sp>
            <p:nvSpPr>
              <p:cNvPr id="401" name="AutoShape 179">
                <a:extLst>
                  <a:ext uri="{FF2B5EF4-FFF2-40B4-BE49-F238E27FC236}">
                    <a16:creationId xmlns:a16="http://schemas.microsoft.com/office/drawing/2014/main" id="{5E8B2822-F633-304D-B3EE-0E72DDC60D67}"/>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2" name="AutoShape 180">
                <a:extLst>
                  <a:ext uri="{FF2B5EF4-FFF2-40B4-BE49-F238E27FC236}">
                    <a16:creationId xmlns:a16="http://schemas.microsoft.com/office/drawing/2014/main" id="{05C20314-621B-134F-97EA-D4A0DDECDD4F}"/>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6" name="Freeform 181">
              <a:extLst>
                <a:ext uri="{FF2B5EF4-FFF2-40B4-BE49-F238E27FC236}">
                  <a16:creationId xmlns:a16="http://schemas.microsoft.com/office/drawing/2014/main" id="{BD2DBEB0-3968-0649-BC9B-64EA7317E00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87" name="Group 182">
              <a:extLst>
                <a:ext uri="{FF2B5EF4-FFF2-40B4-BE49-F238E27FC236}">
                  <a16:creationId xmlns:a16="http://schemas.microsoft.com/office/drawing/2014/main" id="{BFC44DA6-F534-CD44-A919-BDA60B793836}"/>
                </a:ext>
              </a:extLst>
            </p:cNvPr>
            <p:cNvGrpSpPr>
              <a:grpSpLocks/>
            </p:cNvGrpSpPr>
            <p:nvPr/>
          </p:nvGrpSpPr>
          <p:grpSpPr bwMode="auto">
            <a:xfrm>
              <a:off x="4739" y="1327"/>
              <a:ext cx="582" cy="139"/>
              <a:chOff x="614" y="2568"/>
              <a:chExt cx="725" cy="139"/>
            </a:xfrm>
          </p:grpSpPr>
          <p:sp>
            <p:nvSpPr>
              <p:cNvPr id="399" name="AutoShape 183">
                <a:extLst>
                  <a:ext uri="{FF2B5EF4-FFF2-40B4-BE49-F238E27FC236}">
                    <a16:creationId xmlns:a16="http://schemas.microsoft.com/office/drawing/2014/main" id="{E60E8D05-3918-B747-A606-FC0E1386C154}"/>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0" name="AutoShape 184">
                <a:extLst>
                  <a:ext uri="{FF2B5EF4-FFF2-40B4-BE49-F238E27FC236}">
                    <a16:creationId xmlns:a16="http://schemas.microsoft.com/office/drawing/2014/main" id="{8735D17B-A685-3648-8255-F30DD55695AC}"/>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88" name="Rectangle 185">
              <a:extLst>
                <a:ext uri="{FF2B5EF4-FFF2-40B4-BE49-F238E27FC236}">
                  <a16:creationId xmlns:a16="http://schemas.microsoft.com/office/drawing/2014/main" id="{B66C501C-7D5B-8E4B-B068-5CCE73A0405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9" name="Freeform 186">
              <a:extLst>
                <a:ext uri="{FF2B5EF4-FFF2-40B4-BE49-F238E27FC236}">
                  <a16:creationId xmlns:a16="http://schemas.microsoft.com/office/drawing/2014/main" id="{33C62712-7A81-4F41-B474-B9218B7AFA0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0" name="Freeform 187">
              <a:extLst>
                <a:ext uri="{FF2B5EF4-FFF2-40B4-BE49-F238E27FC236}">
                  <a16:creationId xmlns:a16="http://schemas.microsoft.com/office/drawing/2014/main" id="{E4B6BE7D-DBBB-B44D-A0F9-E40A81D7F43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1" name="Oval 188">
              <a:extLst>
                <a:ext uri="{FF2B5EF4-FFF2-40B4-BE49-F238E27FC236}">
                  <a16:creationId xmlns:a16="http://schemas.microsoft.com/office/drawing/2014/main" id="{6D17DB9A-DA87-3640-89B5-EA939BE73CED}"/>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2" name="Freeform 189">
              <a:extLst>
                <a:ext uri="{FF2B5EF4-FFF2-40B4-BE49-F238E27FC236}">
                  <a16:creationId xmlns:a16="http://schemas.microsoft.com/office/drawing/2014/main" id="{2DE874C4-BF52-8245-9555-CA025B392D7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3" name="AutoShape 190">
              <a:extLst>
                <a:ext uri="{FF2B5EF4-FFF2-40B4-BE49-F238E27FC236}">
                  <a16:creationId xmlns:a16="http://schemas.microsoft.com/office/drawing/2014/main" id="{D15AD96A-57FC-B240-8995-DEDB6B8C42C8}"/>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4" name="AutoShape 191">
              <a:extLst>
                <a:ext uri="{FF2B5EF4-FFF2-40B4-BE49-F238E27FC236}">
                  <a16:creationId xmlns:a16="http://schemas.microsoft.com/office/drawing/2014/main" id="{9B662CF9-5E9F-EE42-826A-BA11CF39366A}"/>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5" name="Oval 192">
              <a:extLst>
                <a:ext uri="{FF2B5EF4-FFF2-40B4-BE49-F238E27FC236}">
                  <a16:creationId xmlns:a16="http://schemas.microsoft.com/office/drawing/2014/main" id="{F2A6059E-C073-154E-9CDE-85E284A9C1E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6" name="Oval 193">
              <a:extLst>
                <a:ext uri="{FF2B5EF4-FFF2-40B4-BE49-F238E27FC236}">
                  <a16:creationId xmlns:a16="http://schemas.microsoft.com/office/drawing/2014/main" id="{55ECAC8A-9EEB-3F47-B474-796C5779F66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97" name="Oval 194">
              <a:extLst>
                <a:ext uri="{FF2B5EF4-FFF2-40B4-BE49-F238E27FC236}">
                  <a16:creationId xmlns:a16="http://schemas.microsoft.com/office/drawing/2014/main" id="{F009E702-300F-2245-8184-904D723ECFB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8" name="Rectangle 195">
              <a:extLst>
                <a:ext uri="{FF2B5EF4-FFF2-40B4-BE49-F238E27FC236}">
                  <a16:creationId xmlns:a16="http://schemas.microsoft.com/office/drawing/2014/main" id="{E1220E42-05A2-224A-AF06-8BC122552018}"/>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48" name="Line 57">
            <a:extLst>
              <a:ext uri="{FF2B5EF4-FFF2-40B4-BE49-F238E27FC236}">
                <a16:creationId xmlns:a16="http://schemas.microsoft.com/office/drawing/2014/main" id="{BE19B1CA-E01A-2D4A-A501-25E01C74D0D9}"/>
              </a:ext>
            </a:extLst>
          </p:cNvPr>
          <p:cNvSpPr>
            <a:spLocks noChangeShapeType="1"/>
          </p:cNvSpPr>
          <p:nvPr/>
        </p:nvSpPr>
        <p:spPr bwMode="auto">
          <a:xfrm flipH="1">
            <a:off x="5155368" y="5988369"/>
            <a:ext cx="10099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9" name="Line 57">
            <a:extLst>
              <a:ext uri="{FF2B5EF4-FFF2-40B4-BE49-F238E27FC236}">
                <a16:creationId xmlns:a16="http://schemas.microsoft.com/office/drawing/2014/main" id="{CDD86028-5E0B-1E49-A327-7BF095EF01DB}"/>
              </a:ext>
            </a:extLst>
          </p:cNvPr>
          <p:cNvSpPr>
            <a:spLocks noChangeShapeType="1"/>
          </p:cNvSpPr>
          <p:nvPr/>
        </p:nvSpPr>
        <p:spPr bwMode="auto">
          <a:xfrm flipH="1">
            <a:off x="3001196" y="4853221"/>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0" name="Line 57">
            <a:extLst>
              <a:ext uri="{FF2B5EF4-FFF2-40B4-BE49-F238E27FC236}">
                <a16:creationId xmlns:a16="http://schemas.microsoft.com/office/drawing/2014/main" id="{456364AC-0294-B946-BA06-B02AD7C1481D}"/>
              </a:ext>
            </a:extLst>
          </p:cNvPr>
          <p:cNvSpPr>
            <a:spLocks noChangeShapeType="1"/>
          </p:cNvSpPr>
          <p:nvPr/>
        </p:nvSpPr>
        <p:spPr bwMode="auto">
          <a:xfrm flipH="1">
            <a:off x="1869391" y="5991438"/>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51" name="Group 350">
            <a:extLst>
              <a:ext uri="{FF2B5EF4-FFF2-40B4-BE49-F238E27FC236}">
                <a16:creationId xmlns:a16="http://schemas.microsoft.com/office/drawing/2014/main" id="{7AD5920F-E18F-2E4A-8BAE-ACFA2B9B05A4}"/>
              </a:ext>
            </a:extLst>
          </p:cNvPr>
          <p:cNvGrpSpPr/>
          <p:nvPr/>
        </p:nvGrpSpPr>
        <p:grpSpPr>
          <a:xfrm>
            <a:off x="2749090" y="3427413"/>
            <a:ext cx="2851610" cy="946150"/>
            <a:chOff x="2749090" y="3427413"/>
            <a:chExt cx="2851610" cy="946150"/>
          </a:xfrm>
        </p:grpSpPr>
        <p:sp>
          <p:nvSpPr>
            <p:cNvPr id="368" name="Text Box 68">
              <a:extLst>
                <a:ext uri="{FF2B5EF4-FFF2-40B4-BE49-F238E27FC236}">
                  <a16:creationId xmlns:a16="http://schemas.microsoft.com/office/drawing/2014/main" id="{859A744D-4964-E049-B851-169F4C802B9D}"/>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6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original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69" name="Oval 217">
              <a:extLst>
                <a:ext uri="{FF2B5EF4-FFF2-40B4-BE49-F238E27FC236}">
                  <a16:creationId xmlns:a16="http://schemas.microsoft.com/office/drawing/2014/main" id="{46259149-BCE0-B941-AA71-927BC7C2EE1D}"/>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0" name="Line 229">
              <a:extLst>
                <a:ext uri="{FF2B5EF4-FFF2-40B4-BE49-F238E27FC236}">
                  <a16:creationId xmlns:a16="http://schemas.microsoft.com/office/drawing/2014/main" id="{9CBDE0F7-AD5A-7847-A00B-C9BE9408958B}"/>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1" name="Oval 232">
              <a:extLst>
                <a:ext uri="{FF2B5EF4-FFF2-40B4-BE49-F238E27FC236}">
                  <a16:creationId xmlns:a16="http://schemas.microsoft.com/office/drawing/2014/main" id="{50F84776-27DA-5E43-BACA-DB1E8848891B}"/>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2" name="Text Box 233">
              <a:extLst>
                <a:ext uri="{FF2B5EF4-FFF2-40B4-BE49-F238E27FC236}">
                  <a16:creationId xmlns:a16="http://schemas.microsoft.com/office/drawing/2014/main" id="{CD7720D4-A07A-DB4C-A9C9-DFD5FF905D56}"/>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8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original data, </a:t>
              </a:r>
              <a:r>
                <a:rPr kumimoji="0" lang="en-US" altLang="en-US" sz="1600" b="0"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plus</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retransmitted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73" name="Line 234">
              <a:extLst>
                <a:ext uri="{FF2B5EF4-FFF2-40B4-BE49-F238E27FC236}">
                  <a16:creationId xmlns:a16="http://schemas.microsoft.com/office/drawing/2014/main" id="{E5F71B29-0A2A-964A-BC39-E82168AE5BAA}"/>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4" name="Line 235">
              <a:extLst>
                <a:ext uri="{FF2B5EF4-FFF2-40B4-BE49-F238E27FC236}">
                  <a16:creationId xmlns:a16="http://schemas.microsoft.com/office/drawing/2014/main" id="{2CB87FE3-B426-7646-85C8-A92260133CCD}"/>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52" name="Group 351">
            <a:extLst>
              <a:ext uri="{FF2B5EF4-FFF2-40B4-BE49-F238E27FC236}">
                <a16:creationId xmlns:a16="http://schemas.microsoft.com/office/drawing/2014/main" id="{F6D1D3E8-6407-F347-8471-50418E5DB3B6}"/>
              </a:ext>
            </a:extLst>
          </p:cNvPr>
          <p:cNvGrpSpPr/>
          <p:nvPr/>
        </p:nvGrpSpPr>
        <p:grpSpPr>
          <a:xfrm>
            <a:off x="2913490" y="5218953"/>
            <a:ext cx="1938730" cy="1300181"/>
            <a:chOff x="2913490" y="5218953"/>
            <a:chExt cx="1938730" cy="1300181"/>
          </a:xfrm>
        </p:grpSpPr>
        <p:sp>
          <p:nvSpPr>
            <p:cNvPr id="357" name="Text Box 32">
              <a:extLst>
                <a:ext uri="{FF2B5EF4-FFF2-40B4-BE49-F238E27FC236}">
                  <a16:creationId xmlns:a16="http://schemas.microsoft.com/office/drawing/2014/main" id="{1A4AA4F8-0231-2B46-803C-7155B2F0120F}"/>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finite</a:t>
              </a: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shared output link buffers</a:t>
              </a:r>
            </a:p>
          </p:txBody>
        </p:sp>
        <p:sp>
          <p:nvSpPr>
            <p:cNvPr id="358" name="Line 77">
              <a:extLst>
                <a:ext uri="{FF2B5EF4-FFF2-40B4-BE49-F238E27FC236}">
                  <a16:creationId xmlns:a16="http://schemas.microsoft.com/office/drawing/2014/main" id="{89EEFCE7-B693-DF47-A9C3-7974FB2172E2}"/>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59" name="Group 358">
              <a:extLst>
                <a:ext uri="{FF2B5EF4-FFF2-40B4-BE49-F238E27FC236}">
                  <a16:creationId xmlns:a16="http://schemas.microsoft.com/office/drawing/2014/main" id="{D0C09238-8174-BB4A-8E90-44FDE9970486}"/>
                </a:ext>
              </a:extLst>
            </p:cNvPr>
            <p:cNvGrpSpPr/>
            <p:nvPr/>
          </p:nvGrpSpPr>
          <p:grpSpPr>
            <a:xfrm>
              <a:off x="4030362" y="5218953"/>
              <a:ext cx="821858" cy="355937"/>
              <a:chOff x="6859123" y="5156933"/>
              <a:chExt cx="456701" cy="226548"/>
            </a:xfrm>
          </p:grpSpPr>
          <p:sp>
            <p:nvSpPr>
              <p:cNvPr id="360" name="Rectangle 359">
                <a:extLst>
                  <a:ext uri="{FF2B5EF4-FFF2-40B4-BE49-F238E27FC236}">
                    <a16:creationId xmlns:a16="http://schemas.microsoft.com/office/drawing/2014/main" id="{92A586BF-DE6F-8C4B-AE2F-F0967D2E3721}"/>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61" name="Straight Connector 360">
                <a:extLst>
                  <a:ext uri="{FF2B5EF4-FFF2-40B4-BE49-F238E27FC236}">
                    <a16:creationId xmlns:a16="http://schemas.microsoft.com/office/drawing/2014/main" id="{0E592EE8-BB64-8D4B-9345-8DEFE71B26CD}"/>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D5F79093-B2D3-DA49-86C9-324E48C7FA3A}"/>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E578935-8319-0640-AF1D-F33CFCCD6D7E}"/>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1A169DC6-020D-CF4C-944B-35A60B7E9A3E}"/>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3FE5D615-EDCC-3D44-B201-E215C2A51C1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F42D5131-B17F-3447-A42A-972810DE3D7C}"/>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1CCBEF8-F4EA-4348-968D-DFF086EA12A7}"/>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53" name="Freeform 91">
            <a:extLst>
              <a:ext uri="{FF2B5EF4-FFF2-40B4-BE49-F238E27FC236}">
                <a16:creationId xmlns:a16="http://schemas.microsoft.com/office/drawing/2014/main" id="{74B53B18-9053-AB4D-AAB3-9A2A8C61C05F}"/>
              </a:ext>
            </a:extLst>
          </p:cNvPr>
          <p:cNvSpPr>
            <a:spLocks/>
          </p:cNvSpPr>
          <p:nvPr/>
        </p:nvSpPr>
        <p:spPr bwMode="auto">
          <a:xfrm>
            <a:off x="2803354" y="3659588"/>
            <a:ext cx="4211870" cy="1670126"/>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54" name="Group 353">
            <a:extLst>
              <a:ext uri="{FF2B5EF4-FFF2-40B4-BE49-F238E27FC236}">
                <a16:creationId xmlns:a16="http://schemas.microsoft.com/office/drawing/2014/main" id="{FC27C661-ABA7-0F42-9E2F-25607CCF3F4D}"/>
              </a:ext>
            </a:extLst>
          </p:cNvPr>
          <p:cNvGrpSpPr/>
          <p:nvPr/>
        </p:nvGrpSpPr>
        <p:grpSpPr>
          <a:xfrm>
            <a:off x="1586591" y="4743924"/>
            <a:ext cx="4913849" cy="1346072"/>
            <a:chOff x="5641439" y="2685215"/>
            <a:chExt cx="4000500" cy="1028700"/>
          </a:xfrm>
        </p:grpSpPr>
        <p:sp>
          <p:nvSpPr>
            <p:cNvPr id="355" name="Oval 73">
              <a:extLst>
                <a:ext uri="{FF2B5EF4-FFF2-40B4-BE49-F238E27FC236}">
                  <a16:creationId xmlns:a16="http://schemas.microsoft.com/office/drawing/2014/main" id="{E72E301D-F1BA-6444-B895-0B1F0880352E}"/>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6" name="Freeform 90">
              <a:extLst>
                <a:ext uri="{FF2B5EF4-FFF2-40B4-BE49-F238E27FC236}">
                  <a16:creationId xmlns:a16="http://schemas.microsoft.com/office/drawing/2014/main" id="{13DADEF9-AF21-FF44-BE17-072235C1AE6F}"/>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71" name="Group 470">
            <a:extLst>
              <a:ext uri="{FF2B5EF4-FFF2-40B4-BE49-F238E27FC236}">
                <a16:creationId xmlns:a16="http://schemas.microsoft.com/office/drawing/2014/main" id="{C0C36A94-589E-A54C-A4A3-B52075E06328}"/>
              </a:ext>
            </a:extLst>
          </p:cNvPr>
          <p:cNvGrpSpPr/>
          <p:nvPr/>
        </p:nvGrpSpPr>
        <p:grpSpPr>
          <a:xfrm>
            <a:off x="3289650" y="5336775"/>
            <a:ext cx="2124396" cy="604097"/>
            <a:chOff x="3289650" y="5336775"/>
            <a:chExt cx="2124396" cy="604097"/>
          </a:xfrm>
        </p:grpSpPr>
        <p:sp>
          <p:nvSpPr>
            <p:cNvPr id="472" name="TextBox 471">
              <a:extLst>
                <a:ext uri="{FF2B5EF4-FFF2-40B4-BE49-F238E27FC236}">
                  <a16:creationId xmlns:a16="http://schemas.microsoft.com/office/drawing/2014/main" id="{A9A4B8BA-23AF-5649-A3E6-D2BC9304C809}"/>
                </a:ext>
              </a:extLst>
            </p:cNvPr>
            <p:cNvSpPr txBox="1"/>
            <p:nvPr/>
          </p:nvSpPr>
          <p:spPr>
            <a:xfrm>
              <a:off x="4982445" y="5336775"/>
              <a:ext cx="431601" cy="60409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sp>
          <p:nvSpPr>
            <p:cNvPr id="473" name="TextBox 472">
              <a:extLst>
                <a:ext uri="{FF2B5EF4-FFF2-40B4-BE49-F238E27FC236}">
                  <a16:creationId xmlns:a16="http://schemas.microsoft.com/office/drawing/2014/main" id="{1F06564D-8518-8D42-A177-6D185E9763E0}"/>
                </a:ext>
              </a:extLst>
            </p:cNvPr>
            <p:cNvSpPr txBox="1"/>
            <p:nvPr/>
          </p:nvSpPr>
          <p:spPr>
            <a:xfrm>
              <a:off x="3289650" y="5351752"/>
              <a:ext cx="351378"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2</a:t>
            </a:r>
            <a:endParaRPr lang="en-US" sz="4400" b="0" dirty="0"/>
          </a:p>
        </p:txBody>
      </p:sp>
      <p:sp>
        <p:nvSpPr>
          <p:cNvPr id="229" name="Rectangle 235">
            <a:extLst>
              <a:ext uri="{FF2B5EF4-FFF2-40B4-BE49-F238E27FC236}">
                <a16:creationId xmlns:a16="http://schemas.microsoft.com/office/drawing/2014/main" id="{3A9A156B-19A0-8342-AF04-25615D3C763E}"/>
              </a:ext>
            </a:extLst>
          </p:cNvPr>
          <p:cNvSpPr>
            <a:spLocks noChangeArrowheads="1"/>
          </p:cNvSpPr>
          <p:nvPr/>
        </p:nvSpPr>
        <p:spPr bwMode="auto">
          <a:xfrm>
            <a:off x="2381250" y="3846513"/>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Text Box 236">
            <a:extLst>
              <a:ext uri="{FF2B5EF4-FFF2-40B4-BE49-F238E27FC236}">
                <a16:creationId xmlns:a16="http://schemas.microsoft.com/office/drawing/2014/main" id="{E294DDA8-9BC1-2C4F-AB17-AAF3914D97A7}"/>
              </a:ext>
            </a:extLst>
          </p:cNvPr>
          <p:cNvSpPr txBox="1">
            <a:spLocks noChangeArrowheads="1"/>
          </p:cNvSpPr>
          <p:nvPr/>
        </p:nvSpPr>
        <p:spPr bwMode="auto">
          <a:xfrm>
            <a:off x="3725863" y="4761119"/>
            <a:ext cx="17684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1200" cap="none" spc="0" normalizeH="0" baseline="0" noProof="0" dirty="0">
                <a:ln>
                  <a:noFill/>
                </a:ln>
                <a:solidFill>
                  <a:srgbClr val="006600"/>
                </a:solidFill>
                <a:effectLst/>
                <a:uLnTx/>
                <a:uFillTx/>
                <a:latin typeface="Arial" charset="0"/>
                <a:ea typeface="ＭＳ Ｐゴシック" charset="0"/>
                <a:cs typeface="+mn-cs"/>
              </a:rPr>
              <a:t>free buffer space!</a:t>
            </a:r>
          </a:p>
        </p:txBody>
      </p:sp>
      <p:sp>
        <p:nvSpPr>
          <p:cNvPr id="231" name="Rectangle 237">
            <a:extLst>
              <a:ext uri="{FF2B5EF4-FFF2-40B4-BE49-F238E27FC236}">
                <a16:creationId xmlns:a16="http://schemas.microsoft.com/office/drawing/2014/main" id="{360D339D-2CD2-AD42-920B-3E6688F7095A}"/>
              </a:ext>
            </a:extLst>
          </p:cNvPr>
          <p:cNvSpPr>
            <a:spLocks noChangeArrowheads="1"/>
          </p:cNvSpPr>
          <p:nvPr/>
        </p:nvSpPr>
        <p:spPr bwMode="auto">
          <a:xfrm>
            <a:off x="2381250" y="3844925"/>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32" name="Rectangle 264">
            <a:extLst>
              <a:ext uri="{FF2B5EF4-FFF2-40B4-BE49-F238E27FC236}">
                <a16:creationId xmlns:a16="http://schemas.microsoft.com/office/drawing/2014/main" id="{BB519C3C-C510-F944-9E31-54655082190E}"/>
              </a:ext>
            </a:extLst>
          </p:cNvPr>
          <p:cNvSpPr txBox="1">
            <a:spLocks noChangeArrowheads="1"/>
          </p:cNvSpPr>
          <p:nvPr/>
        </p:nvSpPr>
        <p:spPr>
          <a:xfrm>
            <a:off x="600313" y="1223059"/>
            <a:ext cx="5915913" cy="2132179"/>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000" b="0" i="0" u="none" strike="noStrike" kern="1200" cap="none" spc="0" normalizeH="0" baseline="0" noProof="0" dirty="0">
                <a:ln>
                  <a:noFill/>
                </a:ln>
                <a:solidFill>
                  <a:srgbClr val="000099"/>
                </a:solidFill>
                <a:effectLst/>
                <a:uLnTx/>
                <a:uFillTx/>
                <a:latin typeface="Calibri" panose="020F0502020204030204"/>
                <a:ea typeface="+mn-ea"/>
                <a:cs typeface="+mn-cs"/>
              </a:rPr>
              <a:t>Idealization: </a:t>
            </a:r>
            <a:r>
              <a:rPr kumimoji="0" lang="en-US" sz="3000" b="0" i="1" u="none" strike="noStrike" kern="1200" cap="none" spc="0" normalizeH="0" baseline="0" noProof="0" dirty="0">
                <a:ln>
                  <a:noFill/>
                </a:ln>
                <a:solidFill>
                  <a:srgbClr val="C00000"/>
                </a:solidFill>
                <a:effectLst/>
                <a:uLnTx/>
                <a:uFillTx/>
                <a:latin typeface="Calibri" panose="020F0502020204030204"/>
                <a:ea typeface="+mn-ea"/>
                <a:cs typeface="+mn-cs"/>
              </a:rPr>
              <a:t>some </a:t>
            </a:r>
            <a:r>
              <a:rPr kumimoji="0" lang="en-US" sz="3000" b="0" i="0" u="none" strike="noStrike" kern="1200" cap="none" spc="0" normalizeH="0" baseline="0" noProof="0" dirty="0">
                <a:ln>
                  <a:noFill/>
                </a:ln>
                <a:solidFill>
                  <a:srgbClr val="C00000"/>
                </a:solidFill>
                <a:effectLst/>
                <a:uLnTx/>
                <a:uFillTx/>
                <a:latin typeface="Calibri" panose="020F0502020204030204"/>
                <a:ea typeface="+mn-ea"/>
                <a:cs typeface="+mn-cs"/>
              </a:rPr>
              <a:t>perfect knowledge</a:t>
            </a:r>
          </a:p>
          <a:p>
            <a:pPr marL="457200"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packets can be lost (dropped at router) due  to full buffers</a:t>
            </a:r>
          </a:p>
          <a:p>
            <a:pPr marL="457200" marR="0" lvl="0" indent="-2159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 knows when packet has been dropped: only resends if packet </a:t>
            </a: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known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to be lost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1126E605-68BC-EB43-9DDC-7055194378DF}"/>
              </a:ext>
            </a:extLst>
          </p:cNvPr>
          <p:cNvGrpSpPr/>
          <p:nvPr/>
        </p:nvGrpSpPr>
        <p:grpSpPr>
          <a:xfrm>
            <a:off x="10039611" y="1993407"/>
            <a:ext cx="1866837" cy="1277498"/>
            <a:chOff x="10039611" y="1800903"/>
            <a:chExt cx="1866837" cy="1277498"/>
          </a:xfrm>
        </p:grpSpPr>
        <p:sp>
          <p:nvSpPr>
            <p:cNvPr id="174" name="Text Box 252">
              <a:extLst>
                <a:ext uri="{FF2B5EF4-FFF2-40B4-BE49-F238E27FC236}">
                  <a16:creationId xmlns:a16="http://schemas.microsoft.com/office/drawing/2014/main" id="{01A1C74C-CAF4-D343-928F-0A92D0818ABD}"/>
                </a:ext>
              </a:extLst>
            </p:cNvPr>
            <p:cNvSpPr txBox="1">
              <a:spLocks noChangeArrowheads="1"/>
            </p:cNvSpPr>
            <p:nvPr/>
          </p:nvSpPr>
          <p:spPr bwMode="auto">
            <a:xfrm>
              <a:off x="10188717" y="2099672"/>
              <a:ext cx="1717731" cy="9787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when sending at R/2, some packets are needed retransmissions</a:t>
              </a:r>
            </a:p>
          </p:txBody>
        </p:sp>
        <p:sp>
          <p:nvSpPr>
            <p:cNvPr id="175" name="Line 253">
              <a:extLst>
                <a:ext uri="{FF2B5EF4-FFF2-40B4-BE49-F238E27FC236}">
                  <a16:creationId xmlns:a16="http://schemas.microsoft.com/office/drawing/2014/main" id="{08A19883-389A-0744-90AC-A2F43EE860AE}"/>
                </a:ext>
              </a:extLst>
            </p:cNvPr>
            <p:cNvSpPr>
              <a:spLocks noChangeShapeType="1"/>
            </p:cNvSpPr>
            <p:nvPr/>
          </p:nvSpPr>
          <p:spPr bwMode="auto">
            <a:xfrm flipH="1" flipV="1">
              <a:off x="10039611" y="1800903"/>
              <a:ext cx="423050" cy="35515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nvGrpSpPr>
          <p:cNvPr id="176" name="Group 175">
            <a:extLst>
              <a:ext uri="{FF2B5EF4-FFF2-40B4-BE49-F238E27FC236}">
                <a16:creationId xmlns:a16="http://schemas.microsoft.com/office/drawing/2014/main" id="{926AA148-B0D7-CC4E-9816-B84A671E16CE}"/>
              </a:ext>
            </a:extLst>
          </p:cNvPr>
          <p:cNvGrpSpPr/>
          <p:nvPr/>
        </p:nvGrpSpPr>
        <p:grpSpPr>
          <a:xfrm>
            <a:off x="7361453" y="1392684"/>
            <a:ext cx="3100386" cy="2791471"/>
            <a:chOff x="10662918" y="1488938"/>
            <a:chExt cx="3100386" cy="2791471"/>
          </a:xfrm>
        </p:grpSpPr>
        <p:sp>
          <p:nvSpPr>
            <p:cNvPr id="177" name="Freeform 245">
              <a:extLst>
                <a:ext uri="{FF2B5EF4-FFF2-40B4-BE49-F238E27FC236}">
                  <a16:creationId xmlns:a16="http://schemas.microsoft.com/office/drawing/2014/main" id="{F3B393A3-F432-5143-B5C5-92241ECA3889}"/>
                </a:ext>
              </a:extLst>
            </p:cNvPr>
            <p:cNvSpPr>
              <a:spLocks/>
            </p:cNvSpPr>
            <p:nvPr/>
          </p:nvSpPr>
          <p:spPr bwMode="auto">
            <a:xfrm>
              <a:off x="11260180" y="2035401"/>
              <a:ext cx="2024019" cy="1604948"/>
            </a:xfrm>
            <a:custGeom>
              <a:avLst/>
              <a:gdLst>
                <a:gd name="T0" fmla="*/ 0 w 1636"/>
                <a:gd name="T1" fmla="*/ 955 h 955"/>
                <a:gd name="T2" fmla="*/ 758 w 1636"/>
                <a:gd name="T3" fmla="*/ 246 h 955"/>
                <a:gd name="T4" fmla="*/ 1636 w 1636"/>
                <a:gd name="T5" fmla="*/ 7 h 955"/>
                <a:gd name="T6" fmla="*/ 0 60000 65536"/>
                <a:gd name="T7" fmla="*/ 0 60000 65536"/>
                <a:gd name="T8" fmla="*/ 0 60000 65536"/>
                <a:gd name="connsiteX0" fmla="*/ 0 w 6072"/>
                <a:gd name="connsiteY0" fmla="*/ 8862 h 8862"/>
                <a:gd name="connsiteX1" fmla="*/ 4633 w 6072"/>
                <a:gd name="connsiteY1" fmla="*/ 1438 h 8862"/>
                <a:gd name="connsiteX2" fmla="*/ 6072 w 6072"/>
                <a:gd name="connsiteY2" fmla="*/ 120 h 8862"/>
                <a:gd name="connsiteX0" fmla="*/ 0 w 10000"/>
                <a:gd name="connsiteY0" fmla="*/ 9865 h 9865"/>
                <a:gd name="connsiteX1" fmla="*/ 7630 w 10000"/>
                <a:gd name="connsiteY1" fmla="*/ 1488 h 9865"/>
                <a:gd name="connsiteX2" fmla="*/ 10000 w 10000"/>
                <a:gd name="connsiteY2" fmla="*/ 0 h 9865"/>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268" y="8586"/>
                    <a:pt x="-125" y="9688"/>
                    <a:pt x="7233" y="1532"/>
                  </a:cubicBezTo>
                  <a:cubicBezTo>
                    <a:pt x="7865" y="929"/>
                    <a:pt x="8381" y="338"/>
                    <a:pt x="10000" y="0"/>
                  </a:cubicBezTo>
                </a:path>
              </a:pathLst>
            </a:custGeom>
            <a:noFill/>
            <a:ln w="28575"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78" name="Group 246">
              <a:extLst>
                <a:ext uri="{FF2B5EF4-FFF2-40B4-BE49-F238E27FC236}">
                  <a16:creationId xmlns:a16="http://schemas.microsoft.com/office/drawing/2014/main" id="{AAE2772B-88A3-794C-B173-B78F63EB26A5}"/>
                </a:ext>
              </a:extLst>
            </p:cNvPr>
            <p:cNvGrpSpPr>
              <a:grpSpLocks/>
            </p:cNvGrpSpPr>
            <p:nvPr/>
          </p:nvGrpSpPr>
          <p:grpSpPr bwMode="auto">
            <a:xfrm>
              <a:off x="12077700" y="3606746"/>
              <a:ext cx="458788" cy="400051"/>
              <a:chOff x="3583" y="1761"/>
              <a:chExt cx="289" cy="252"/>
            </a:xfrm>
          </p:grpSpPr>
          <p:sp>
            <p:nvSpPr>
              <p:cNvPr id="192" name="Text Box 247">
                <a:extLst>
                  <a:ext uri="{FF2B5EF4-FFF2-40B4-BE49-F238E27FC236}">
                    <a16:creationId xmlns:a16="http://schemas.microsoft.com/office/drawing/2014/main" id="{0CD967AF-AE53-0141-B763-822463304CC6}"/>
                  </a:ext>
                </a:extLst>
              </p:cNvPr>
              <p:cNvSpPr txBox="1">
                <a:spLocks noChangeArrowheads="1"/>
              </p:cNvSpPr>
              <p:nvPr/>
            </p:nvSpPr>
            <p:spPr bwMode="auto">
              <a:xfrm>
                <a:off x="3583" y="1761"/>
                <a:ext cx="289"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Arial" charset="0"/>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Arial" charset="0"/>
                  </a:rPr>
                  <a:t>in</a:t>
                </a:r>
              </a:p>
            </p:txBody>
          </p:sp>
          <p:sp>
            <p:nvSpPr>
              <p:cNvPr id="193" name="Line 248">
                <a:extLst>
                  <a:ext uri="{FF2B5EF4-FFF2-40B4-BE49-F238E27FC236}">
                    <a16:creationId xmlns:a16="http://schemas.microsoft.com/office/drawing/2014/main" id="{8D1623B3-54DC-FF40-A9ED-596362BD7E24}"/>
                  </a:ext>
                </a:extLst>
              </p:cNvPr>
              <p:cNvSpPr>
                <a:spLocks noChangeShapeType="1"/>
              </p:cNvSpPr>
              <p:nvPr/>
            </p:nvSpPr>
            <p:spPr bwMode="auto">
              <a:xfrm flipV="1">
                <a:off x="3726" y="1834"/>
                <a:ext cx="24" cy="2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79" name="Line 278">
              <a:extLst>
                <a:ext uri="{FF2B5EF4-FFF2-40B4-BE49-F238E27FC236}">
                  <a16:creationId xmlns:a16="http://schemas.microsoft.com/office/drawing/2014/main" id="{2DAB427C-45D4-6A41-80B1-CB2A86EFD9C8}"/>
                </a:ext>
              </a:extLst>
            </p:cNvPr>
            <p:cNvSpPr>
              <a:spLocks noChangeShapeType="1"/>
            </p:cNvSpPr>
            <p:nvPr/>
          </p:nvSpPr>
          <p:spPr bwMode="auto">
            <a:xfrm>
              <a:off x="11267134" y="1488938"/>
              <a:ext cx="0" cy="215904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80" name="Line 280">
              <a:extLst>
                <a:ext uri="{FF2B5EF4-FFF2-40B4-BE49-F238E27FC236}">
                  <a16:creationId xmlns:a16="http://schemas.microsoft.com/office/drawing/2014/main" id="{76DB589D-7977-134C-A4C6-CBB66786BDAB}"/>
                </a:ext>
              </a:extLst>
            </p:cNvPr>
            <p:cNvSpPr>
              <a:spLocks noChangeShapeType="1"/>
            </p:cNvSpPr>
            <p:nvPr/>
          </p:nvSpPr>
          <p:spPr bwMode="auto">
            <a:xfrm>
              <a:off x="13274022" y="1725252"/>
              <a:ext cx="0" cy="1869027"/>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81" name="Freeform 281">
              <a:extLst>
                <a:ext uri="{FF2B5EF4-FFF2-40B4-BE49-F238E27FC236}">
                  <a16:creationId xmlns:a16="http://schemas.microsoft.com/office/drawing/2014/main" id="{4582F97F-DEC6-1042-84F8-230A0E725038}"/>
                </a:ext>
              </a:extLst>
            </p:cNvPr>
            <p:cNvSpPr>
              <a:spLocks/>
            </p:cNvSpPr>
            <p:nvPr/>
          </p:nvSpPr>
          <p:spPr bwMode="auto">
            <a:xfrm>
              <a:off x="11255891" y="1666173"/>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2" name="Line 282">
              <a:extLst>
                <a:ext uri="{FF2B5EF4-FFF2-40B4-BE49-F238E27FC236}">
                  <a16:creationId xmlns:a16="http://schemas.microsoft.com/office/drawing/2014/main" id="{E27607A2-A55D-1E4E-A7DC-D02F627E8623}"/>
                </a:ext>
              </a:extLst>
            </p:cNvPr>
            <p:cNvSpPr>
              <a:spLocks noChangeShapeType="1"/>
            </p:cNvSpPr>
            <p:nvPr/>
          </p:nvSpPr>
          <p:spPr bwMode="auto">
            <a:xfrm>
              <a:off x="11120974" y="1666173"/>
              <a:ext cx="14053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83" name="Line 283">
              <a:extLst>
                <a:ext uri="{FF2B5EF4-FFF2-40B4-BE49-F238E27FC236}">
                  <a16:creationId xmlns:a16="http://schemas.microsoft.com/office/drawing/2014/main" id="{8DD37E8C-1915-D049-AB47-171918ED155D}"/>
                </a:ext>
              </a:extLst>
            </p:cNvPr>
            <p:cNvSpPr>
              <a:spLocks noChangeShapeType="1"/>
            </p:cNvSpPr>
            <p:nvPr/>
          </p:nvSpPr>
          <p:spPr bwMode="auto">
            <a:xfrm>
              <a:off x="13268401" y="3647986"/>
              <a:ext cx="0" cy="15575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84" name="Text Box 284">
              <a:extLst>
                <a:ext uri="{FF2B5EF4-FFF2-40B4-BE49-F238E27FC236}">
                  <a16:creationId xmlns:a16="http://schemas.microsoft.com/office/drawing/2014/main" id="{373B57A0-6A99-7640-8562-A14FEDE2B5C1}"/>
                </a:ext>
              </a:extLst>
            </p:cNvPr>
            <p:cNvSpPr txBox="1">
              <a:spLocks noChangeArrowheads="1"/>
            </p:cNvSpPr>
            <p:nvPr/>
          </p:nvSpPr>
          <p:spPr bwMode="auto">
            <a:xfrm>
              <a:off x="10662918" y="1491652"/>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185" name="Text Box 286">
              <a:extLst>
                <a:ext uri="{FF2B5EF4-FFF2-40B4-BE49-F238E27FC236}">
                  <a16:creationId xmlns:a16="http://schemas.microsoft.com/office/drawing/2014/main" id="{A39B50BF-5EFF-0045-ADB3-B4F28E92E69B}"/>
                </a:ext>
              </a:extLst>
            </p:cNvPr>
            <p:cNvSpPr txBox="1">
              <a:spLocks noChangeArrowheads="1"/>
            </p:cNvSpPr>
            <p:nvPr/>
          </p:nvSpPr>
          <p:spPr bwMode="auto">
            <a:xfrm rot="16200000">
              <a:off x="10693131" y="1620961"/>
              <a:ext cx="937199" cy="702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mn-cs"/>
                </a:rPr>
                <a:t>out</a:t>
              </a:r>
            </a:p>
          </p:txBody>
        </p:sp>
        <p:sp>
          <p:nvSpPr>
            <p:cNvPr id="186" name="Line 288">
              <a:extLst>
                <a:ext uri="{FF2B5EF4-FFF2-40B4-BE49-F238E27FC236}">
                  <a16:creationId xmlns:a16="http://schemas.microsoft.com/office/drawing/2014/main" id="{55EB893A-4478-7D4E-A2A8-A5437DE0CEFB}"/>
                </a:ext>
              </a:extLst>
            </p:cNvPr>
            <p:cNvSpPr>
              <a:spLocks noChangeShapeType="1"/>
            </p:cNvSpPr>
            <p:nvPr/>
          </p:nvSpPr>
          <p:spPr bwMode="auto">
            <a:xfrm>
              <a:off x="11300864" y="1668859"/>
              <a:ext cx="1841053" cy="0"/>
            </a:xfrm>
            <a:prstGeom prst="line">
              <a:avLst/>
            </a:prstGeom>
            <a:noFill/>
            <a:ln w="12700">
              <a:solidFill>
                <a:schemeClr val="bg1">
                  <a:lumMod val="75000"/>
                </a:schemeClr>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cxnSp>
          <p:nvCxnSpPr>
            <p:cNvPr id="187" name="Straight Connector 186">
              <a:extLst>
                <a:ext uri="{FF2B5EF4-FFF2-40B4-BE49-F238E27FC236}">
                  <a16:creationId xmlns:a16="http://schemas.microsoft.com/office/drawing/2014/main" id="{0D3A43B7-67EB-8149-8177-63ACBDAC09D3}"/>
                </a:ext>
              </a:extLst>
            </p:cNvPr>
            <p:cNvCxnSpPr>
              <a:cxnSpLocks/>
            </p:cNvCxnSpPr>
            <p:nvPr/>
          </p:nvCxnSpPr>
          <p:spPr>
            <a:xfrm>
              <a:off x="11277601" y="3626318"/>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8" name="TextBox 187">
              <a:extLst>
                <a:ext uri="{FF2B5EF4-FFF2-40B4-BE49-F238E27FC236}">
                  <a16:creationId xmlns:a16="http://schemas.microsoft.com/office/drawing/2014/main" id="{8C6ED6D6-A137-9B42-BF4F-C72EBCC66029}"/>
                </a:ext>
              </a:extLst>
            </p:cNvPr>
            <p:cNvSpPr txBox="1"/>
            <p:nvPr/>
          </p:nvSpPr>
          <p:spPr>
            <a:xfrm rot="16200000">
              <a:off x="10440763" y="2708058"/>
              <a:ext cx="123450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throughput: </a:t>
              </a:r>
            </a:p>
          </p:txBody>
        </p:sp>
        <p:sp>
          <p:nvSpPr>
            <p:cNvPr id="189" name="Oval 188">
              <a:extLst>
                <a:ext uri="{FF2B5EF4-FFF2-40B4-BE49-F238E27FC236}">
                  <a16:creationId xmlns:a16="http://schemas.microsoft.com/office/drawing/2014/main" id="{A51FB1CF-649B-CC49-BACE-97B8B3CDE942}"/>
                </a:ext>
              </a:extLst>
            </p:cNvPr>
            <p:cNvSpPr/>
            <p:nvPr/>
          </p:nvSpPr>
          <p:spPr>
            <a:xfrm>
              <a:off x="13195300" y="1625600"/>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0" name="Text Box 285">
              <a:extLst>
                <a:ext uri="{FF2B5EF4-FFF2-40B4-BE49-F238E27FC236}">
                  <a16:creationId xmlns:a16="http://schemas.microsoft.com/office/drawing/2014/main" id="{C633E812-6FC0-C24F-B90C-3885051F03C4}"/>
                </a:ext>
              </a:extLst>
            </p:cNvPr>
            <p:cNvSpPr txBox="1">
              <a:spLocks noChangeArrowheads="1"/>
            </p:cNvSpPr>
            <p:nvPr/>
          </p:nvSpPr>
          <p:spPr bwMode="auto">
            <a:xfrm>
              <a:off x="12948181" y="3764815"/>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191" name="Oval 190">
              <a:extLst>
                <a:ext uri="{FF2B5EF4-FFF2-40B4-BE49-F238E27FC236}">
                  <a16:creationId xmlns:a16="http://schemas.microsoft.com/office/drawing/2014/main" id="{DB7FD550-F812-2E40-88E3-303D39E6D2EA}"/>
                </a:ext>
              </a:extLst>
            </p:cNvPr>
            <p:cNvSpPr/>
            <p:nvPr/>
          </p:nvSpPr>
          <p:spPr>
            <a:xfrm>
              <a:off x="13213792" y="1978681"/>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4" name="Line 288">
              <a:extLst>
                <a:ext uri="{FF2B5EF4-FFF2-40B4-BE49-F238E27FC236}">
                  <a16:creationId xmlns:a16="http://schemas.microsoft.com/office/drawing/2014/main" id="{D53B1774-03D5-BD4B-9BCD-E50D15DB4A0C}"/>
                </a:ext>
              </a:extLst>
            </p:cNvPr>
            <p:cNvSpPr>
              <a:spLocks noChangeShapeType="1"/>
            </p:cNvSpPr>
            <p:nvPr/>
          </p:nvSpPr>
          <p:spPr bwMode="auto">
            <a:xfrm>
              <a:off x="11261558" y="2061890"/>
              <a:ext cx="1975007"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0" name="Oval 9">
            <a:extLst>
              <a:ext uri="{FF2B5EF4-FFF2-40B4-BE49-F238E27FC236}">
                <a16:creationId xmlns:a16="http://schemas.microsoft.com/office/drawing/2014/main" id="{9628093C-FFB3-054E-B64A-1E3835241090}"/>
              </a:ext>
            </a:extLst>
          </p:cNvPr>
          <p:cNvSpPr/>
          <p:nvPr/>
        </p:nvSpPr>
        <p:spPr>
          <a:xfrm rot="19191287">
            <a:off x="7883091" y="2781701"/>
            <a:ext cx="1203158" cy="529390"/>
          </a:xfrm>
          <a:prstGeom prst="ellipse">
            <a:avLst/>
          </a:prstGeom>
          <a:noFill/>
          <a:ln w="25400">
            <a:solidFill>
              <a:srgbClr val="0013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Oval 10">
            <a:extLst>
              <a:ext uri="{FF2B5EF4-FFF2-40B4-BE49-F238E27FC236}">
                <a16:creationId xmlns:a16="http://schemas.microsoft.com/office/drawing/2014/main" id="{1B6200A7-EAB4-A446-B925-6AAC42752BAA}"/>
              </a:ext>
            </a:extLst>
          </p:cNvPr>
          <p:cNvSpPr/>
          <p:nvPr/>
        </p:nvSpPr>
        <p:spPr>
          <a:xfrm>
            <a:off x="9577137" y="1414913"/>
            <a:ext cx="866274" cy="866274"/>
          </a:xfrm>
          <a:prstGeom prst="ellipse">
            <a:avLst/>
          </a:prstGeom>
          <a:noFill/>
          <a:ln w="28575">
            <a:solidFill>
              <a:srgbClr val="0013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nvGrpSpPr>
          <p:cNvPr id="9" name="Group 8">
            <a:extLst>
              <a:ext uri="{FF2B5EF4-FFF2-40B4-BE49-F238E27FC236}">
                <a16:creationId xmlns:a16="http://schemas.microsoft.com/office/drawing/2014/main" id="{D654E839-2366-974D-AA53-9D5D4AA79583}"/>
              </a:ext>
            </a:extLst>
          </p:cNvPr>
          <p:cNvGrpSpPr/>
          <p:nvPr/>
        </p:nvGrpSpPr>
        <p:grpSpPr>
          <a:xfrm>
            <a:off x="10048776" y="1568677"/>
            <a:ext cx="1915427" cy="480131"/>
            <a:chOff x="10048776" y="1376173"/>
            <a:chExt cx="1915427" cy="480131"/>
          </a:xfrm>
          <a:solidFill>
            <a:schemeClr val="bg1"/>
          </a:solidFill>
        </p:grpSpPr>
        <p:sp>
          <p:nvSpPr>
            <p:cNvPr id="7" name="Right Brace 6">
              <a:extLst>
                <a:ext uri="{FF2B5EF4-FFF2-40B4-BE49-F238E27FC236}">
                  <a16:creationId xmlns:a16="http://schemas.microsoft.com/office/drawing/2014/main" id="{0A993798-9407-6A45-8986-FB364E5661F1}"/>
                </a:ext>
              </a:extLst>
            </p:cNvPr>
            <p:cNvSpPr/>
            <p:nvPr/>
          </p:nvSpPr>
          <p:spPr>
            <a:xfrm>
              <a:off x="10048776" y="1414914"/>
              <a:ext cx="144379" cy="336885"/>
            </a:xfrm>
            <a:prstGeom prst="rightBrac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6" name="Text Box 252">
              <a:extLst>
                <a:ext uri="{FF2B5EF4-FFF2-40B4-BE49-F238E27FC236}">
                  <a16:creationId xmlns:a16="http://schemas.microsoft.com/office/drawing/2014/main" id="{90EEE6E2-B3F9-6740-9FCA-2CF9A84F8740}"/>
                </a:ext>
              </a:extLst>
            </p:cNvPr>
            <p:cNvSpPr txBox="1">
              <a:spLocks noChangeArrowheads="1"/>
            </p:cNvSpPr>
            <p:nvPr/>
          </p:nvSpPr>
          <p:spPr bwMode="auto">
            <a:xfrm>
              <a:off x="10148612" y="1376173"/>
              <a:ext cx="1815591" cy="480131"/>
            </a:xfrm>
            <a:prstGeom prst="rect">
              <a:avLst/>
            </a:prstGeom>
            <a:grp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“wasted” capacity due to retransmissions</a:t>
              </a:r>
            </a:p>
          </p:txBody>
        </p:sp>
      </p:grpSp>
      <p:sp>
        <p:nvSpPr>
          <p:cNvPr id="195" name="Slide Number Placeholder 2">
            <a:extLst>
              <a:ext uri="{FF2B5EF4-FFF2-40B4-BE49-F238E27FC236}">
                <a16:creationId xmlns:a16="http://schemas.microsoft.com/office/drawing/2014/main" id="{D20A324A-9052-8641-896E-6CAFE67008AC}"/>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41</a:t>
            </a:fld>
            <a:endParaRPr lang="en-US" dirty="0"/>
          </a:p>
        </p:txBody>
      </p:sp>
    </p:spTree>
    <p:extLst>
      <p:ext uri="{BB962C8B-B14F-4D97-AF65-F5344CB8AC3E}">
        <p14:creationId xmlns:p14="http://schemas.microsoft.com/office/powerpoint/2010/main" val="84952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1.45833E-6 -2.22222E-6 L 0.02383 -2.22222E-6 L 0.02383 0.14584 L 0.08542 0.14584 L 0.05716 0.20625 L 0.16237 0.20625 " pathEditMode="relative" rAng="0" ptsTypes="AAAAAA">
                                      <p:cBhvr>
                                        <p:cTn id="6" dur="2000" fill="hold"/>
                                        <p:tgtEl>
                                          <p:spTgt spid="229"/>
                                        </p:tgtEl>
                                        <p:attrNameLst>
                                          <p:attrName>ppt_x</p:attrName>
                                          <p:attrName>ppt_y</p:attrName>
                                        </p:attrNameLst>
                                      </p:cBhvr>
                                      <p:rCtr x="8112" y="10301"/>
                                    </p:animMotion>
                                  </p:childTnLst>
                                </p:cTn>
                              </p:par>
                            </p:childTnLst>
                          </p:cTn>
                        </p:par>
                        <p:par>
                          <p:cTn id="7" fill="hold">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230"/>
                                        </p:tgtEl>
                                        <p:attrNameLst>
                                          <p:attrName>style.visibility</p:attrName>
                                        </p:attrNameLst>
                                      </p:cBhvr>
                                      <p:to>
                                        <p:strVal val="visible"/>
                                      </p:to>
                                    </p:set>
                                    <p:animEffect transition="in" filter="dissolve">
                                      <p:cBhvr>
                                        <p:cTn id="10" dur="500"/>
                                        <p:tgtEl>
                                          <p:spTgt spid="230"/>
                                        </p:tgtEl>
                                      </p:cBhvr>
                                    </p:animEffect>
                                  </p:childTnLst>
                                </p:cTn>
                              </p:par>
                            </p:childTnLst>
                          </p:cTn>
                        </p:par>
                        <p:par>
                          <p:cTn id="11" fill="hold">
                            <p:stCondLst>
                              <p:cond delay="2500"/>
                            </p:stCondLst>
                            <p:childTnLst>
                              <p:par>
                                <p:cTn id="12" presetID="0" presetClass="path" presetSubtype="0" accel="50000" decel="50000" fill="hold" grpId="1" nodeType="afterEffect">
                                  <p:stCondLst>
                                    <p:cond delay="0"/>
                                  </p:stCondLst>
                                  <p:childTnLst>
                                    <p:animMotion origin="layout" path="M 0.16237 0.20625 L 0.19492 0.20648 " pathEditMode="relative" rAng="0" ptsTypes="AA">
                                      <p:cBhvr>
                                        <p:cTn id="13" dur="3000" fill="hold"/>
                                        <p:tgtEl>
                                          <p:spTgt spid="229"/>
                                        </p:tgtEl>
                                        <p:attrNameLst>
                                          <p:attrName>ppt_x</p:attrName>
                                          <p:attrName>ppt_y</p:attrName>
                                        </p:attrNameLst>
                                      </p:cBhvr>
                                      <p:rCtr x="1628" y="0"/>
                                    </p:animMotion>
                                  </p:childTnLst>
                                </p:cTn>
                              </p:par>
                            </p:childTnLst>
                          </p:cTn>
                        </p:par>
                        <p:par>
                          <p:cTn id="14" fill="hold">
                            <p:stCondLst>
                              <p:cond delay="5500"/>
                            </p:stCondLst>
                            <p:childTnLst>
                              <p:par>
                                <p:cTn id="15" presetID="9" presetClass="exit" presetSubtype="0" fill="hold" nodeType="afterEffect">
                                  <p:stCondLst>
                                    <p:cond delay="0"/>
                                  </p:stCondLst>
                                  <p:childTnLst>
                                    <p:animEffect transition="out" filter="dissolve">
                                      <p:cBhvr>
                                        <p:cTn id="16" dur="500"/>
                                        <p:tgtEl>
                                          <p:spTgt spid="230"/>
                                        </p:tgtEl>
                                      </p:cBhvr>
                                    </p:animEffect>
                                    <p:set>
                                      <p:cBhvr>
                                        <p:cTn id="17" dur="1" fill="hold">
                                          <p:stCondLst>
                                            <p:cond delay="499"/>
                                          </p:stCondLst>
                                        </p:cTn>
                                        <p:tgtEl>
                                          <p:spTgt spid="230"/>
                                        </p:tgtEl>
                                        <p:attrNameLst>
                                          <p:attrName>style.visibility</p:attrName>
                                        </p:attrNameLst>
                                      </p:cBhvr>
                                      <p:to>
                                        <p:strVal val="hidden"/>
                                      </p:to>
                                    </p:set>
                                  </p:childTnLst>
                                </p:cTn>
                              </p:par>
                            </p:childTnLst>
                          </p:cTn>
                        </p:par>
                        <p:par>
                          <p:cTn id="18" fill="hold">
                            <p:stCondLst>
                              <p:cond delay="6000"/>
                            </p:stCondLst>
                            <p:childTnLst>
                              <p:par>
                                <p:cTn id="19" presetID="0" presetClass="path" presetSubtype="0" accel="50000" decel="50000" fill="hold" grpId="2" nodeType="afterEffect">
                                  <p:stCondLst>
                                    <p:cond delay="0"/>
                                  </p:stCondLst>
                                  <p:childTnLst>
                                    <p:animMotion origin="layout" path="M 0.20625 0.20648 L 0.25221 0.20648 L 0.29661 0.11597 L 0.35755 0.12084 L 0.35755 -0.01111 " pathEditMode="relative" rAng="0" ptsTypes="AAAAA">
                                      <p:cBhvr>
                                        <p:cTn id="20" dur="2000" fill="hold"/>
                                        <p:tgtEl>
                                          <p:spTgt spid="229"/>
                                        </p:tgtEl>
                                        <p:attrNameLst>
                                          <p:attrName>ppt_x</p:attrName>
                                          <p:attrName>ppt_y</p:attrName>
                                        </p:attrNameLst>
                                      </p:cBhvr>
                                      <p:rCtr x="7565" y="-10880"/>
                                    </p:animMotion>
                                  </p:childTnLst>
                                </p:cTn>
                              </p:par>
                            </p:childTnLst>
                          </p:cTn>
                        </p:par>
                        <p:par>
                          <p:cTn id="21" fill="hold">
                            <p:stCondLst>
                              <p:cond delay="8000"/>
                            </p:stCondLst>
                            <p:childTnLst>
                              <p:par>
                                <p:cTn id="22" presetID="9" presetClass="exit" presetSubtype="0" fill="hold" grpId="3" nodeType="afterEffect">
                                  <p:stCondLst>
                                    <p:cond delay="0"/>
                                  </p:stCondLst>
                                  <p:childTnLst>
                                    <p:animEffect transition="out" filter="dissolve">
                                      <p:cBhvr>
                                        <p:cTn id="23" dur="500"/>
                                        <p:tgtEl>
                                          <p:spTgt spid="229"/>
                                        </p:tgtEl>
                                      </p:cBhvr>
                                    </p:animEffect>
                                    <p:set>
                                      <p:cBhvr>
                                        <p:cTn id="24" dur="1" fill="hold">
                                          <p:stCondLst>
                                            <p:cond delay="499"/>
                                          </p:stCondLst>
                                        </p:cTn>
                                        <p:tgtEl>
                                          <p:spTgt spid="229"/>
                                        </p:tgtEl>
                                        <p:attrNameLst>
                                          <p:attrName>style.visibility</p:attrName>
                                        </p:attrNameLst>
                                      </p:cBhvr>
                                      <p:to>
                                        <p:strVal val="hidden"/>
                                      </p:to>
                                    </p:set>
                                  </p:childTnLst>
                                </p:cTn>
                              </p:par>
                              <p:par>
                                <p:cTn id="25" presetID="9" presetClass="exit" presetSubtype="0" fill="hold" grpId="0" nodeType="withEffect">
                                  <p:stCondLst>
                                    <p:cond delay="0"/>
                                  </p:stCondLst>
                                  <p:childTnLst>
                                    <p:animEffect transition="out" filter="dissolve">
                                      <p:cBhvr>
                                        <p:cTn id="26" dur="500"/>
                                        <p:tgtEl>
                                          <p:spTgt spid="231"/>
                                        </p:tgtEl>
                                      </p:cBhvr>
                                    </p:animEffect>
                                    <p:set>
                                      <p:cBhvr>
                                        <p:cTn id="27" dur="1" fill="hold">
                                          <p:stCondLst>
                                            <p:cond delay="499"/>
                                          </p:stCondLst>
                                        </p:cTn>
                                        <p:tgtEl>
                                          <p:spTgt spid="23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76"/>
                                        </p:tgtEl>
                                        <p:attrNameLst>
                                          <p:attrName>style.visibility</p:attrName>
                                        </p:attrNameLst>
                                      </p:cBhvr>
                                      <p:to>
                                        <p:strVal val="visible"/>
                                      </p:to>
                                    </p:set>
                                    <p:animEffect transition="in" filter="dissolve">
                                      <p:cBhvr>
                                        <p:cTn id="32" dur="500"/>
                                        <p:tgtEl>
                                          <p:spTgt spid="17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dissolv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dissolve">
                                      <p:cBhvr>
                                        <p:cTn id="42" dur="500"/>
                                        <p:tgtEl>
                                          <p:spTgt spid="11"/>
                                        </p:tgtEl>
                                      </p:cBhvr>
                                    </p:animEffect>
                                  </p:childTnLst>
                                </p:cTn>
                              </p:par>
                              <p:par>
                                <p:cTn id="43" presetID="9" presetClass="exit" presetSubtype="0" fill="hold" grpId="1" nodeType="withEffect">
                                  <p:stCondLst>
                                    <p:cond delay="0"/>
                                  </p:stCondLst>
                                  <p:childTnLst>
                                    <p:animEffect transition="out" filter="dissolve">
                                      <p:cBhvr>
                                        <p:cTn id="44" dur="500"/>
                                        <p:tgtEl>
                                          <p:spTgt spid="10"/>
                                        </p:tgtEl>
                                      </p:cBhvr>
                                    </p:animEffect>
                                    <p:set>
                                      <p:cBhvr>
                                        <p:cTn id="45" dur="1" fill="hold">
                                          <p:stCondLst>
                                            <p:cond delay="499"/>
                                          </p:stCondLst>
                                        </p:cTn>
                                        <p:tgtEl>
                                          <p:spTgt spid="10"/>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dissolve">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dissolve">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P spid="229" grpId="1" animBg="1"/>
      <p:bldP spid="229" grpId="2" animBg="1"/>
      <p:bldP spid="229" grpId="3" animBg="1"/>
      <p:bldP spid="230" grpId="0"/>
      <p:bldP spid="231" grpId="0" animBg="1"/>
      <p:bldP spid="10" grpId="0" animBg="1"/>
      <p:bldP spid="10" grpId="1"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Freeform 3">
            <a:extLst>
              <a:ext uri="{FF2B5EF4-FFF2-40B4-BE49-F238E27FC236}">
                <a16:creationId xmlns:a16="http://schemas.microsoft.com/office/drawing/2014/main" id="{F3DAD8A0-663C-1646-8A3A-A562D7F6543A}"/>
              </a:ext>
            </a:extLst>
          </p:cNvPr>
          <p:cNvSpPr>
            <a:spLocks/>
          </p:cNvSpPr>
          <p:nvPr/>
        </p:nvSpPr>
        <p:spPr bwMode="auto">
          <a:xfrm>
            <a:off x="6946976" y="5009814"/>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91" name="Group 490">
            <a:extLst>
              <a:ext uri="{FF2B5EF4-FFF2-40B4-BE49-F238E27FC236}">
                <a16:creationId xmlns:a16="http://schemas.microsoft.com/office/drawing/2014/main" id="{83BB7D95-FCAE-9B42-AEAB-D8E35C89434F}"/>
              </a:ext>
            </a:extLst>
          </p:cNvPr>
          <p:cNvGrpSpPr/>
          <p:nvPr/>
        </p:nvGrpSpPr>
        <p:grpSpPr>
          <a:xfrm>
            <a:off x="6249435" y="5024056"/>
            <a:ext cx="720732" cy="1182930"/>
            <a:chOff x="10910965" y="2513124"/>
            <a:chExt cx="586768" cy="904023"/>
          </a:xfrm>
        </p:grpSpPr>
        <p:sp>
          <p:nvSpPr>
            <p:cNvPr id="492" name="Rectangle 491">
              <a:extLst>
                <a:ext uri="{FF2B5EF4-FFF2-40B4-BE49-F238E27FC236}">
                  <a16:creationId xmlns:a16="http://schemas.microsoft.com/office/drawing/2014/main" id="{B166A895-5BC9-2648-8A56-D2E710C6B54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93" name="Straight Connector 492">
              <a:extLst>
                <a:ext uri="{FF2B5EF4-FFF2-40B4-BE49-F238E27FC236}">
                  <a16:creationId xmlns:a16="http://schemas.microsoft.com/office/drawing/2014/main" id="{1E312B60-1C4E-AD4B-8C4A-4F2EEF65724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32EBA421-617D-FD48-A968-2D26C923E03D}"/>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A91341A0-C7EC-F148-816F-EABD49A6B590}"/>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95EE473-EC8C-B946-A371-E70E0010B34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4" name="Freeform 9">
            <a:extLst>
              <a:ext uri="{FF2B5EF4-FFF2-40B4-BE49-F238E27FC236}">
                <a16:creationId xmlns:a16="http://schemas.microsoft.com/office/drawing/2014/main" id="{7BC539C4-03E2-6040-9EE4-38A67D76BDD0}"/>
              </a:ext>
            </a:extLst>
          </p:cNvPr>
          <p:cNvSpPr>
            <a:spLocks/>
          </p:cNvSpPr>
          <p:nvPr/>
        </p:nvSpPr>
        <p:spPr bwMode="auto">
          <a:xfrm flipH="1">
            <a:off x="1844721" y="3515638"/>
            <a:ext cx="528348" cy="117827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5" name="Group 174">
            <a:extLst>
              <a:ext uri="{FF2B5EF4-FFF2-40B4-BE49-F238E27FC236}">
                <a16:creationId xmlns:a16="http://schemas.microsoft.com/office/drawing/2014/main" id="{4BD209F8-EB2A-9F4F-B363-BC938C5DA835}"/>
              </a:ext>
            </a:extLst>
          </p:cNvPr>
          <p:cNvGrpSpPr/>
          <p:nvPr/>
        </p:nvGrpSpPr>
        <p:grpSpPr>
          <a:xfrm>
            <a:off x="1278678" y="4683698"/>
            <a:ext cx="720732" cy="1182930"/>
            <a:chOff x="10910965" y="2513124"/>
            <a:chExt cx="586768" cy="904023"/>
          </a:xfrm>
        </p:grpSpPr>
        <p:sp>
          <p:nvSpPr>
            <p:cNvPr id="477" name="Rectangle 476">
              <a:extLst>
                <a:ext uri="{FF2B5EF4-FFF2-40B4-BE49-F238E27FC236}">
                  <a16:creationId xmlns:a16="http://schemas.microsoft.com/office/drawing/2014/main" id="{BCE8A729-A73C-F54F-A8A9-3733CC70183B}"/>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78" name="Straight Connector 477">
              <a:extLst>
                <a:ext uri="{FF2B5EF4-FFF2-40B4-BE49-F238E27FC236}">
                  <a16:creationId xmlns:a16="http://schemas.microsoft.com/office/drawing/2014/main" id="{2F48DF19-80E3-7F4A-8454-1BEB4B00E16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id="{8FA6A88D-F9D7-4145-A917-41C2C7FC12A7}"/>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391498D3-135C-F543-A213-6124B95A870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F5B7A06C-468D-E74C-97F5-530BC4315BF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6" name="Group 175">
            <a:extLst>
              <a:ext uri="{FF2B5EF4-FFF2-40B4-BE49-F238E27FC236}">
                <a16:creationId xmlns:a16="http://schemas.microsoft.com/office/drawing/2014/main" id="{B26A6ED3-2CE4-F243-BD5E-0E3D12D1032C}"/>
              </a:ext>
            </a:extLst>
          </p:cNvPr>
          <p:cNvGrpSpPr/>
          <p:nvPr/>
        </p:nvGrpSpPr>
        <p:grpSpPr>
          <a:xfrm>
            <a:off x="2355044" y="3521091"/>
            <a:ext cx="720732" cy="1182930"/>
            <a:chOff x="10910965" y="2513124"/>
            <a:chExt cx="586768" cy="904023"/>
          </a:xfrm>
        </p:grpSpPr>
        <p:sp>
          <p:nvSpPr>
            <p:cNvPr id="472" name="Rectangle 471">
              <a:extLst>
                <a:ext uri="{FF2B5EF4-FFF2-40B4-BE49-F238E27FC236}">
                  <a16:creationId xmlns:a16="http://schemas.microsoft.com/office/drawing/2014/main" id="{E5732A89-DEC6-C04F-8D35-653ED5A74D0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73" name="Straight Connector 472">
              <a:extLst>
                <a:ext uri="{FF2B5EF4-FFF2-40B4-BE49-F238E27FC236}">
                  <a16:creationId xmlns:a16="http://schemas.microsoft.com/office/drawing/2014/main" id="{3BA48241-0809-D749-AA95-E5E0009564B5}"/>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F914E7F-35B8-B84D-9E03-048E2AC52A84}"/>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F059F7DD-38D6-FB44-928C-D70FCB46C69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69780329-E6CC-7B44-AD09-CD529A71009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7" name="Freeform 6">
            <a:extLst>
              <a:ext uri="{FF2B5EF4-FFF2-40B4-BE49-F238E27FC236}">
                <a16:creationId xmlns:a16="http://schemas.microsoft.com/office/drawing/2014/main" id="{0A6B0B41-CE88-A847-BDFD-D4C5406DB4FD}"/>
              </a:ext>
            </a:extLst>
          </p:cNvPr>
          <p:cNvSpPr>
            <a:spLocks/>
          </p:cNvSpPr>
          <p:nvPr/>
        </p:nvSpPr>
        <p:spPr bwMode="auto">
          <a:xfrm>
            <a:off x="7409112" y="3699469"/>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7" name="Group 186">
            <a:extLst>
              <a:ext uri="{FF2B5EF4-FFF2-40B4-BE49-F238E27FC236}">
                <a16:creationId xmlns:a16="http://schemas.microsoft.com/office/drawing/2014/main" id="{698728B3-54B3-7348-A92A-D46EBCBE40A7}"/>
              </a:ext>
            </a:extLst>
          </p:cNvPr>
          <p:cNvGrpSpPr/>
          <p:nvPr/>
        </p:nvGrpSpPr>
        <p:grpSpPr>
          <a:xfrm>
            <a:off x="6698918" y="3667889"/>
            <a:ext cx="720732" cy="1182930"/>
            <a:chOff x="10910965" y="2513124"/>
            <a:chExt cx="586768" cy="904023"/>
          </a:xfrm>
        </p:grpSpPr>
        <p:sp>
          <p:nvSpPr>
            <p:cNvPr id="467" name="Rectangle 466">
              <a:extLst>
                <a:ext uri="{FF2B5EF4-FFF2-40B4-BE49-F238E27FC236}">
                  <a16:creationId xmlns:a16="http://schemas.microsoft.com/office/drawing/2014/main" id="{993EFA25-A923-104F-AA7A-D1A0A1DFAF09}"/>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468" name="Straight Connector 467">
              <a:extLst>
                <a:ext uri="{FF2B5EF4-FFF2-40B4-BE49-F238E27FC236}">
                  <a16:creationId xmlns:a16="http://schemas.microsoft.com/office/drawing/2014/main" id="{F9FAACE5-7286-8041-B6C5-31BF3B00BC52}"/>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2B9192CF-4A86-234C-A018-E18B6174B23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E51604E2-6668-3C47-9339-A57BD00E151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1355E105-F22E-4C4E-B4E5-337CC0AC9628}"/>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4" name="Group 343">
            <a:extLst>
              <a:ext uri="{FF2B5EF4-FFF2-40B4-BE49-F238E27FC236}">
                <a16:creationId xmlns:a16="http://schemas.microsoft.com/office/drawing/2014/main" id="{98CAF04A-1334-B348-B035-3A982F9BDEB6}"/>
              </a:ext>
            </a:extLst>
          </p:cNvPr>
          <p:cNvGrpSpPr/>
          <p:nvPr/>
        </p:nvGrpSpPr>
        <p:grpSpPr>
          <a:xfrm>
            <a:off x="3770696" y="5033645"/>
            <a:ext cx="1286871" cy="734927"/>
            <a:chOff x="7493876" y="2774731"/>
            <a:chExt cx="1481958" cy="894622"/>
          </a:xfrm>
        </p:grpSpPr>
        <p:sp>
          <p:nvSpPr>
            <p:cNvPr id="460" name="Freeform 459">
              <a:extLst>
                <a:ext uri="{FF2B5EF4-FFF2-40B4-BE49-F238E27FC236}">
                  <a16:creationId xmlns:a16="http://schemas.microsoft.com/office/drawing/2014/main" id="{1CC3E213-0DED-B141-84EE-4148FCBF95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61" name="Oval 460">
              <a:extLst>
                <a:ext uri="{FF2B5EF4-FFF2-40B4-BE49-F238E27FC236}">
                  <a16:creationId xmlns:a16="http://schemas.microsoft.com/office/drawing/2014/main" id="{873B81E7-2D3F-7C4E-BD26-C74207A647E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62" name="Group 461">
              <a:extLst>
                <a:ext uri="{FF2B5EF4-FFF2-40B4-BE49-F238E27FC236}">
                  <a16:creationId xmlns:a16="http://schemas.microsoft.com/office/drawing/2014/main" id="{6BE5949F-B050-EB4B-B822-E35D4247EEC2}"/>
                </a:ext>
              </a:extLst>
            </p:cNvPr>
            <p:cNvGrpSpPr/>
            <p:nvPr/>
          </p:nvGrpSpPr>
          <p:grpSpPr>
            <a:xfrm>
              <a:off x="7713663" y="2848339"/>
              <a:ext cx="1042107" cy="425543"/>
              <a:chOff x="7786941" y="2884917"/>
              <a:chExt cx="897649" cy="353919"/>
            </a:xfrm>
          </p:grpSpPr>
          <p:sp>
            <p:nvSpPr>
              <p:cNvPr id="463" name="Freeform 462">
                <a:extLst>
                  <a:ext uri="{FF2B5EF4-FFF2-40B4-BE49-F238E27FC236}">
                    <a16:creationId xmlns:a16="http://schemas.microsoft.com/office/drawing/2014/main" id="{2AD53E5B-C2A7-B44B-BE8C-CE15460DCE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4" name="Freeform 463">
                <a:extLst>
                  <a:ext uri="{FF2B5EF4-FFF2-40B4-BE49-F238E27FC236}">
                    <a16:creationId xmlns:a16="http://schemas.microsoft.com/office/drawing/2014/main" id="{D8E482E0-784D-9147-8920-C673267B1F7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5" name="Freeform 464">
                <a:extLst>
                  <a:ext uri="{FF2B5EF4-FFF2-40B4-BE49-F238E27FC236}">
                    <a16:creationId xmlns:a16="http://schemas.microsoft.com/office/drawing/2014/main" id="{C0849211-2B58-F142-A8CE-1BF8EAE9207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6" name="Freeform 465">
                <a:extLst>
                  <a:ext uri="{FF2B5EF4-FFF2-40B4-BE49-F238E27FC236}">
                    <a16:creationId xmlns:a16="http://schemas.microsoft.com/office/drawing/2014/main" id="{5A3A8A9F-4FBE-BD43-8E9E-03C5075F771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5" name="Group 124">
            <a:extLst>
              <a:ext uri="{FF2B5EF4-FFF2-40B4-BE49-F238E27FC236}">
                <a16:creationId xmlns:a16="http://schemas.microsoft.com/office/drawing/2014/main" id="{1875CC16-4D82-EC4B-A27F-8C5523CDCA1C}"/>
              </a:ext>
            </a:extLst>
          </p:cNvPr>
          <p:cNvGrpSpPr>
            <a:grpSpLocks/>
          </p:cNvGrpSpPr>
          <p:nvPr/>
        </p:nvGrpSpPr>
        <p:grpSpPr bwMode="auto">
          <a:xfrm>
            <a:off x="1317421" y="3877120"/>
            <a:ext cx="645431" cy="569172"/>
            <a:chOff x="-44" y="1473"/>
            <a:chExt cx="981" cy="1105"/>
          </a:xfrm>
        </p:grpSpPr>
        <p:pic>
          <p:nvPicPr>
            <p:cNvPr id="458" name="Picture 125" descr="desktop_computer_stylized_medium">
              <a:extLst>
                <a:ext uri="{FF2B5EF4-FFF2-40B4-BE49-F238E27FC236}">
                  <a16:creationId xmlns:a16="http://schemas.microsoft.com/office/drawing/2014/main" id="{06C4FF17-B894-F64E-B8E9-009E2F935B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9" name="Freeform 126">
              <a:extLst>
                <a:ext uri="{FF2B5EF4-FFF2-40B4-BE49-F238E27FC236}">
                  <a16:creationId xmlns:a16="http://schemas.microsoft.com/office/drawing/2014/main" id="{2B78B566-3D03-D044-A615-5F2E69BA2D5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47" name="Freeform 12">
            <a:extLst>
              <a:ext uri="{FF2B5EF4-FFF2-40B4-BE49-F238E27FC236}">
                <a16:creationId xmlns:a16="http://schemas.microsoft.com/office/drawing/2014/main" id="{B3DEE67E-0295-1C42-877B-3030DF5CC3A0}"/>
              </a:ext>
            </a:extLst>
          </p:cNvPr>
          <p:cNvSpPr>
            <a:spLocks/>
          </p:cNvSpPr>
          <p:nvPr/>
        </p:nvSpPr>
        <p:spPr bwMode="auto">
          <a:xfrm flipH="1">
            <a:off x="978210" y="4681606"/>
            <a:ext cx="308091" cy="121728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8" name="Line 33">
            <a:extLst>
              <a:ext uri="{FF2B5EF4-FFF2-40B4-BE49-F238E27FC236}">
                <a16:creationId xmlns:a16="http://schemas.microsoft.com/office/drawing/2014/main" id="{EB4F5429-B362-3445-AEC3-247C13D4C69F}"/>
              </a:ext>
            </a:extLst>
          </p:cNvPr>
          <p:cNvSpPr>
            <a:spLocks noChangeShapeType="1"/>
          </p:cNvSpPr>
          <p:nvPr/>
        </p:nvSpPr>
        <p:spPr bwMode="auto">
          <a:xfrm flipH="1">
            <a:off x="2405566"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9" name="Text Box 42">
            <a:extLst>
              <a:ext uri="{FF2B5EF4-FFF2-40B4-BE49-F238E27FC236}">
                <a16:creationId xmlns:a16="http://schemas.microsoft.com/office/drawing/2014/main" id="{71EABF9B-1A6B-F746-87A6-59211399E59A}"/>
              </a:ext>
            </a:extLst>
          </p:cNvPr>
          <p:cNvSpPr txBox="1">
            <a:spLocks noChangeArrowheads="1"/>
          </p:cNvSpPr>
          <p:nvPr/>
        </p:nvSpPr>
        <p:spPr bwMode="auto">
          <a:xfrm>
            <a:off x="1088616" y="3529817"/>
            <a:ext cx="1122503"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Host A</a:t>
            </a:r>
            <a:endParaRPr kumimoji="0" lang="en-US" altLang="en-US" sz="4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50" name="Text Box 52">
            <a:extLst>
              <a:ext uri="{FF2B5EF4-FFF2-40B4-BE49-F238E27FC236}">
                <a16:creationId xmlns:a16="http://schemas.microsoft.com/office/drawing/2014/main" id="{E952F158-8C87-2743-A654-CB43702CF48D}"/>
              </a:ext>
            </a:extLst>
          </p:cNvPr>
          <p:cNvSpPr txBox="1">
            <a:spLocks noChangeArrowheads="1"/>
          </p:cNvSpPr>
          <p:nvPr/>
        </p:nvSpPr>
        <p:spPr bwMode="auto">
          <a:xfrm>
            <a:off x="1083435" y="6053488"/>
            <a:ext cx="981577" cy="31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13A3"/>
                </a:solidFill>
                <a:effectLst/>
                <a:uLnTx/>
                <a:uFillTx/>
                <a:latin typeface="Arial" panose="020B0604020202020204" pitchFamily="34" charset="0"/>
                <a:ea typeface="ＭＳ Ｐゴシック" panose="020B0600070205080204" pitchFamily="34" charset="-128"/>
                <a:cs typeface="+mn-cs"/>
              </a:rPr>
              <a:t>Host B</a:t>
            </a:r>
            <a:endParaRPr kumimoji="0" lang="en-US" altLang="en-US" sz="4000" b="0" i="0" u="none" strike="noStrike" kern="1200" cap="none" spc="0" normalizeH="0" baseline="0" noProof="0" dirty="0">
              <a:ln>
                <a:noFill/>
              </a:ln>
              <a:solidFill>
                <a:srgbClr val="0013A3"/>
              </a:solidFill>
              <a:effectLst/>
              <a:uLnTx/>
              <a:uFillTx/>
              <a:latin typeface="Comic Sans MS" panose="030F0902030302020204" pitchFamily="66" charset="0"/>
              <a:ea typeface="ＭＳ Ｐゴシック" panose="020B0600070205080204" pitchFamily="34" charset="-128"/>
              <a:cs typeface="+mn-cs"/>
            </a:endParaRPr>
          </a:p>
        </p:txBody>
      </p:sp>
      <p:sp>
        <p:nvSpPr>
          <p:cNvPr id="351" name="Line 53">
            <a:extLst>
              <a:ext uri="{FF2B5EF4-FFF2-40B4-BE49-F238E27FC236}">
                <a16:creationId xmlns:a16="http://schemas.microsoft.com/office/drawing/2014/main" id="{75256407-96DE-9F48-98B8-5BBEA93EFEC0}"/>
              </a:ext>
            </a:extLst>
          </p:cNvPr>
          <p:cNvSpPr>
            <a:spLocks noChangeShapeType="1"/>
          </p:cNvSpPr>
          <p:nvPr/>
        </p:nvSpPr>
        <p:spPr bwMode="auto">
          <a:xfrm flipH="1">
            <a:off x="3002248"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2" name="Line 54">
            <a:extLst>
              <a:ext uri="{FF2B5EF4-FFF2-40B4-BE49-F238E27FC236}">
                <a16:creationId xmlns:a16="http://schemas.microsoft.com/office/drawing/2014/main" id="{468D4135-22FF-CA48-B7FE-0A8C463F08E4}"/>
              </a:ext>
            </a:extLst>
          </p:cNvPr>
          <p:cNvSpPr>
            <a:spLocks noChangeShapeType="1"/>
          </p:cNvSpPr>
          <p:nvPr/>
        </p:nvSpPr>
        <p:spPr bwMode="auto">
          <a:xfrm flipH="1">
            <a:off x="4991187" y="5379569"/>
            <a:ext cx="7487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3" name="Line 55">
            <a:extLst>
              <a:ext uri="{FF2B5EF4-FFF2-40B4-BE49-F238E27FC236}">
                <a16:creationId xmlns:a16="http://schemas.microsoft.com/office/drawing/2014/main" id="{BBD1E308-9528-154A-A531-46348FA3DF78}"/>
              </a:ext>
            </a:extLst>
          </p:cNvPr>
          <p:cNvSpPr>
            <a:spLocks noChangeShapeType="1"/>
          </p:cNvSpPr>
          <p:nvPr/>
        </p:nvSpPr>
        <p:spPr bwMode="auto">
          <a:xfrm flipH="1">
            <a:off x="5143282" y="4856096"/>
            <a:ext cx="1134865" cy="1134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4" name="Line 57">
            <a:extLst>
              <a:ext uri="{FF2B5EF4-FFF2-40B4-BE49-F238E27FC236}">
                <a16:creationId xmlns:a16="http://schemas.microsoft.com/office/drawing/2014/main" id="{ED09B7CD-707F-824A-951E-3DF44B158743}"/>
              </a:ext>
            </a:extLst>
          </p:cNvPr>
          <p:cNvSpPr>
            <a:spLocks noChangeShapeType="1"/>
          </p:cNvSpPr>
          <p:nvPr/>
        </p:nvSpPr>
        <p:spPr bwMode="auto">
          <a:xfrm flipH="1">
            <a:off x="6275655" y="4856289"/>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56" name="Group 127">
            <a:extLst>
              <a:ext uri="{FF2B5EF4-FFF2-40B4-BE49-F238E27FC236}">
                <a16:creationId xmlns:a16="http://schemas.microsoft.com/office/drawing/2014/main" id="{F053E5CE-83C8-B44F-BB41-24ACED3C1F54}"/>
              </a:ext>
            </a:extLst>
          </p:cNvPr>
          <p:cNvGrpSpPr>
            <a:grpSpLocks/>
          </p:cNvGrpSpPr>
          <p:nvPr/>
        </p:nvGrpSpPr>
        <p:grpSpPr bwMode="auto">
          <a:xfrm>
            <a:off x="7531958" y="4473878"/>
            <a:ext cx="284691" cy="577481"/>
            <a:chOff x="4140" y="429"/>
            <a:chExt cx="1425" cy="2396"/>
          </a:xfrm>
        </p:grpSpPr>
        <p:sp>
          <p:nvSpPr>
            <p:cNvPr id="420" name="Freeform 128">
              <a:extLst>
                <a:ext uri="{FF2B5EF4-FFF2-40B4-BE49-F238E27FC236}">
                  <a16:creationId xmlns:a16="http://schemas.microsoft.com/office/drawing/2014/main" id="{0C38C29E-82D9-DE4D-B34F-6E1B0F29E95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1" name="Rectangle 129">
              <a:extLst>
                <a:ext uri="{FF2B5EF4-FFF2-40B4-BE49-F238E27FC236}">
                  <a16:creationId xmlns:a16="http://schemas.microsoft.com/office/drawing/2014/main" id="{68008099-7DA3-DC4F-9848-B28E0757C8AF}"/>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2" name="Freeform 130">
              <a:extLst>
                <a:ext uri="{FF2B5EF4-FFF2-40B4-BE49-F238E27FC236}">
                  <a16:creationId xmlns:a16="http://schemas.microsoft.com/office/drawing/2014/main" id="{EE836601-014E-A34E-BA49-8C6B48990CC7}"/>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3" name="Freeform 131">
              <a:extLst>
                <a:ext uri="{FF2B5EF4-FFF2-40B4-BE49-F238E27FC236}">
                  <a16:creationId xmlns:a16="http://schemas.microsoft.com/office/drawing/2014/main" id="{196DB8E5-D7EB-FE4F-8E87-CF450052351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4" name="Rectangle 132">
              <a:extLst>
                <a:ext uri="{FF2B5EF4-FFF2-40B4-BE49-F238E27FC236}">
                  <a16:creationId xmlns:a16="http://schemas.microsoft.com/office/drawing/2014/main" id="{A36AF25C-36F4-8C41-BBF3-7179E440A69A}"/>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25" name="Group 133">
              <a:extLst>
                <a:ext uri="{FF2B5EF4-FFF2-40B4-BE49-F238E27FC236}">
                  <a16:creationId xmlns:a16="http://schemas.microsoft.com/office/drawing/2014/main" id="{91FC7106-BBE3-6342-AEDC-BB075E2A4F40}"/>
                </a:ext>
              </a:extLst>
            </p:cNvPr>
            <p:cNvGrpSpPr>
              <a:grpSpLocks/>
            </p:cNvGrpSpPr>
            <p:nvPr/>
          </p:nvGrpSpPr>
          <p:grpSpPr bwMode="auto">
            <a:xfrm>
              <a:off x="4749" y="668"/>
              <a:ext cx="581" cy="145"/>
              <a:chOff x="614" y="2568"/>
              <a:chExt cx="725" cy="139"/>
            </a:xfrm>
          </p:grpSpPr>
          <p:sp>
            <p:nvSpPr>
              <p:cNvPr id="450" name="AutoShape 134">
                <a:extLst>
                  <a:ext uri="{FF2B5EF4-FFF2-40B4-BE49-F238E27FC236}">
                    <a16:creationId xmlns:a16="http://schemas.microsoft.com/office/drawing/2014/main" id="{B78B2B71-C293-E74B-A8B2-FA48F8A21AA8}"/>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51" name="AutoShape 135">
                <a:extLst>
                  <a:ext uri="{FF2B5EF4-FFF2-40B4-BE49-F238E27FC236}">
                    <a16:creationId xmlns:a16="http://schemas.microsoft.com/office/drawing/2014/main" id="{B93FE048-8D2E-184B-938F-A023FE6CC24D}"/>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26" name="Rectangle 136">
              <a:extLst>
                <a:ext uri="{FF2B5EF4-FFF2-40B4-BE49-F238E27FC236}">
                  <a16:creationId xmlns:a16="http://schemas.microsoft.com/office/drawing/2014/main" id="{1BE92891-13BB-1942-AF26-7547F5E896F7}"/>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27" name="Group 137">
              <a:extLst>
                <a:ext uri="{FF2B5EF4-FFF2-40B4-BE49-F238E27FC236}">
                  <a16:creationId xmlns:a16="http://schemas.microsoft.com/office/drawing/2014/main" id="{B146C1A0-0498-3742-B869-C11FC5A9B4D9}"/>
                </a:ext>
              </a:extLst>
            </p:cNvPr>
            <p:cNvGrpSpPr>
              <a:grpSpLocks/>
            </p:cNvGrpSpPr>
            <p:nvPr/>
          </p:nvGrpSpPr>
          <p:grpSpPr bwMode="auto">
            <a:xfrm>
              <a:off x="4747" y="994"/>
              <a:ext cx="581" cy="134"/>
              <a:chOff x="614" y="2568"/>
              <a:chExt cx="725" cy="139"/>
            </a:xfrm>
          </p:grpSpPr>
          <p:sp>
            <p:nvSpPr>
              <p:cNvPr id="448" name="AutoShape 138">
                <a:extLst>
                  <a:ext uri="{FF2B5EF4-FFF2-40B4-BE49-F238E27FC236}">
                    <a16:creationId xmlns:a16="http://schemas.microsoft.com/office/drawing/2014/main" id="{6D8DAB10-D332-E443-B0C8-6926120D7EAC}"/>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9" name="AutoShape 139">
                <a:extLst>
                  <a:ext uri="{FF2B5EF4-FFF2-40B4-BE49-F238E27FC236}">
                    <a16:creationId xmlns:a16="http://schemas.microsoft.com/office/drawing/2014/main" id="{10A758BC-CA4A-4941-B3B1-013DFD754CC9}"/>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28" name="Rectangle 140">
              <a:extLst>
                <a:ext uri="{FF2B5EF4-FFF2-40B4-BE49-F238E27FC236}">
                  <a16:creationId xmlns:a16="http://schemas.microsoft.com/office/drawing/2014/main" id="{72D726F8-E1D6-6540-B8C3-5DC6D289ACF9}"/>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9" name="Rectangle 141">
              <a:extLst>
                <a:ext uri="{FF2B5EF4-FFF2-40B4-BE49-F238E27FC236}">
                  <a16:creationId xmlns:a16="http://schemas.microsoft.com/office/drawing/2014/main" id="{A62C6415-93B4-6540-B726-6DC1170DF017}"/>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30" name="Group 142">
              <a:extLst>
                <a:ext uri="{FF2B5EF4-FFF2-40B4-BE49-F238E27FC236}">
                  <a16:creationId xmlns:a16="http://schemas.microsoft.com/office/drawing/2014/main" id="{E2133AAA-F115-D84C-A2BB-27266E35F2E4}"/>
                </a:ext>
              </a:extLst>
            </p:cNvPr>
            <p:cNvGrpSpPr>
              <a:grpSpLocks/>
            </p:cNvGrpSpPr>
            <p:nvPr/>
          </p:nvGrpSpPr>
          <p:grpSpPr bwMode="auto">
            <a:xfrm>
              <a:off x="4735" y="1627"/>
              <a:ext cx="582" cy="151"/>
              <a:chOff x="614" y="2568"/>
              <a:chExt cx="725" cy="139"/>
            </a:xfrm>
          </p:grpSpPr>
          <p:sp>
            <p:nvSpPr>
              <p:cNvPr id="446" name="AutoShape 143">
                <a:extLst>
                  <a:ext uri="{FF2B5EF4-FFF2-40B4-BE49-F238E27FC236}">
                    <a16:creationId xmlns:a16="http://schemas.microsoft.com/office/drawing/2014/main" id="{2E174869-B2BC-4A45-B3FD-9330A289DD47}"/>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7" name="AutoShape 144">
                <a:extLst>
                  <a:ext uri="{FF2B5EF4-FFF2-40B4-BE49-F238E27FC236}">
                    <a16:creationId xmlns:a16="http://schemas.microsoft.com/office/drawing/2014/main" id="{865B98B3-39D4-1340-8796-962A54421EB5}"/>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31" name="Freeform 145">
              <a:extLst>
                <a:ext uri="{FF2B5EF4-FFF2-40B4-BE49-F238E27FC236}">
                  <a16:creationId xmlns:a16="http://schemas.microsoft.com/office/drawing/2014/main" id="{519C0B54-898C-9845-915D-7A5F4E93D83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32" name="Group 146">
              <a:extLst>
                <a:ext uri="{FF2B5EF4-FFF2-40B4-BE49-F238E27FC236}">
                  <a16:creationId xmlns:a16="http://schemas.microsoft.com/office/drawing/2014/main" id="{8CDD4409-D107-D44E-A6F3-3F54C9F344EA}"/>
                </a:ext>
              </a:extLst>
            </p:cNvPr>
            <p:cNvGrpSpPr>
              <a:grpSpLocks/>
            </p:cNvGrpSpPr>
            <p:nvPr/>
          </p:nvGrpSpPr>
          <p:grpSpPr bwMode="auto">
            <a:xfrm>
              <a:off x="4739" y="1327"/>
              <a:ext cx="582" cy="139"/>
              <a:chOff x="614" y="2568"/>
              <a:chExt cx="725" cy="139"/>
            </a:xfrm>
          </p:grpSpPr>
          <p:sp>
            <p:nvSpPr>
              <p:cNvPr id="444" name="AutoShape 147">
                <a:extLst>
                  <a:ext uri="{FF2B5EF4-FFF2-40B4-BE49-F238E27FC236}">
                    <a16:creationId xmlns:a16="http://schemas.microsoft.com/office/drawing/2014/main" id="{55B72EBE-4A58-CF48-BD56-76B6F6022AB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5" name="AutoShape 148">
                <a:extLst>
                  <a:ext uri="{FF2B5EF4-FFF2-40B4-BE49-F238E27FC236}">
                    <a16:creationId xmlns:a16="http://schemas.microsoft.com/office/drawing/2014/main" id="{AEF43A66-7669-AC44-AF01-1D8B6CB77F41}"/>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33" name="Rectangle 149">
              <a:extLst>
                <a:ext uri="{FF2B5EF4-FFF2-40B4-BE49-F238E27FC236}">
                  <a16:creationId xmlns:a16="http://schemas.microsoft.com/office/drawing/2014/main" id="{48DA1B94-09C2-1840-B8EC-113BE8C83454}"/>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4" name="Freeform 150">
              <a:extLst>
                <a:ext uri="{FF2B5EF4-FFF2-40B4-BE49-F238E27FC236}">
                  <a16:creationId xmlns:a16="http://schemas.microsoft.com/office/drawing/2014/main" id="{E90CC519-FF6C-A642-B4B0-C0D5E7E7F8DF}"/>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5" name="Freeform 151">
              <a:extLst>
                <a:ext uri="{FF2B5EF4-FFF2-40B4-BE49-F238E27FC236}">
                  <a16:creationId xmlns:a16="http://schemas.microsoft.com/office/drawing/2014/main" id="{4FD498C9-45E2-9A44-833E-DF1718373526}"/>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6" name="Oval 152">
              <a:extLst>
                <a:ext uri="{FF2B5EF4-FFF2-40B4-BE49-F238E27FC236}">
                  <a16:creationId xmlns:a16="http://schemas.microsoft.com/office/drawing/2014/main" id="{094B9650-E8E9-8049-A250-639ED23B64E2}"/>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7" name="Freeform 153">
              <a:extLst>
                <a:ext uri="{FF2B5EF4-FFF2-40B4-BE49-F238E27FC236}">
                  <a16:creationId xmlns:a16="http://schemas.microsoft.com/office/drawing/2014/main" id="{CC772392-E262-1B4C-934A-C2274B74B3D1}"/>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8" name="AutoShape 154">
              <a:extLst>
                <a:ext uri="{FF2B5EF4-FFF2-40B4-BE49-F238E27FC236}">
                  <a16:creationId xmlns:a16="http://schemas.microsoft.com/office/drawing/2014/main" id="{A847FBEF-BCEF-144E-A9B4-6D4EC2B327A2}"/>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9" name="AutoShape 155">
              <a:extLst>
                <a:ext uri="{FF2B5EF4-FFF2-40B4-BE49-F238E27FC236}">
                  <a16:creationId xmlns:a16="http://schemas.microsoft.com/office/drawing/2014/main" id="{77E42DB7-A005-9743-82D9-584F8FF41393}"/>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0" name="Oval 156">
              <a:extLst>
                <a:ext uri="{FF2B5EF4-FFF2-40B4-BE49-F238E27FC236}">
                  <a16:creationId xmlns:a16="http://schemas.microsoft.com/office/drawing/2014/main" id="{727589AB-7983-4642-ABB0-1373C86DB54A}"/>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1" name="Oval 157">
              <a:extLst>
                <a:ext uri="{FF2B5EF4-FFF2-40B4-BE49-F238E27FC236}">
                  <a16:creationId xmlns:a16="http://schemas.microsoft.com/office/drawing/2014/main" id="{0E294EC3-D225-AC47-9069-5C4C2296B7DB}"/>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42" name="Oval 158">
              <a:extLst>
                <a:ext uri="{FF2B5EF4-FFF2-40B4-BE49-F238E27FC236}">
                  <a16:creationId xmlns:a16="http://schemas.microsoft.com/office/drawing/2014/main" id="{91CEEFA5-1DF7-3243-BA43-EEF99F148238}"/>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3" name="Rectangle 159">
              <a:extLst>
                <a:ext uri="{FF2B5EF4-FFF2-40B4-BE49-F238E27FC236}">
                  <a16:creationId xmlns:a16="http://schemas.microsoft.com/office/drawing/2014/main" id="{1F261A4A-7DA6-3F43-A166-B036ABB1FED2}"/>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57" name="Group 160">
            <a:extLst>
              <a:ext uri="{FF2B5EF4-FFF2-40B4-BE49-F238E27FC236}">
                <a16:creationId xmlns:a16="http://schemas.microsoft.com/office/drawing/2014/main" id="{FC5CD3E0-8F4C-A247-BF27-2828EA8EA48E}"/>
              </a:ext>
            </a:extLst>
          </p:cNvPr>
          <p:cNvGrpSpPr>
            <a:grpSpLocks/>
          </p:cNvGrpSpPr>
          <p:nvPr/>
        </p:nvGrpSpPr>
        <p:grpSpPr bwMode="auto">
          <a:xfrm>
            <a:off x="585296" y="5655276"/>
            <a:ext cx="645431" cy="569172"/>
            <a:chOff x="-44" y="1473"/>
            <a:chExt cx="981" cy="1105"/>
          </a:xfrm>
        </p:grpSpPr>
        <p:pic>
          <p:nvPicPr>
            <p:cNvPr id="418" name="Picture 161" descr="desktop_computer_stylized_medium">
              <a:extLst>
                <a:ext uri="{FF2B5EF4-FFF2-40B4-BE49-F238E27FC236}">
                  <a16:creationId xmlns:a16="http://schemas.microsoft.com/office/drawing/2014/main" id="{6E92F66C-6B76-EE47-BDD2-F1129D17E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 name="Freeform 162">
              <a:extLst>
                <a:ext uri="{FF2B5EF4-FFF2-40B4-BE49-F238E27FC236}">
                  <a16:creationId xmlns:a16="http://schemas.microsoft.com/office/drawing/2014/main" id="{6E619406-BD3D-804E-84E7-04C656A88C8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58" name="Group 163">
            <a:extLst>
              <a:ext uri="{FF2B5EF4-FFF2-40B4-BE49-F238E27FC236}">
                <a16:creationId xmlns:a16="http://schemas.microsoft.com/office/drawing/2014/main" id="{E1C5F9CD-6CD9-E043-8A6F-A2FE02A80733}"/>
              </a:ext>
            </a:extLst>
          </p:cNvPr>
          <p:cNvGrpSpPr>
            <a:grpSpLocks/>
          </p:cNvGrpSpPr>
          <p:nvPr/>
        </p:nvGrpSpPr>
        <p:grpSpPr bwMode="auto">
          <a:xfrm>
            <a:off x="7141970" y="5736859"/>
            <a:ext cx="284691" cy="577481"/>
            <a:chOff x="4140" y="429"/>
            <a:chExt cx="1425" cy="2396"/>
          </a:xfrm>
        </p:grpSpPr>
        <p:sp>
          <p:nvSpPr>
            <p:cNvPr id="386" name="Freeform 164">
              <a:extLst>
                <a:ext uri="{FF2B5EF4-FFF2-40B4-BE49-F238E27FC236}">
                  <a16:creationId xmlns:a16="http://schemas.microsoft.com/office/drawing/2014/main" id="{6CA1ADCB-BF30-864D-9F00-26EE89960734}"/>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7" name="Rectangle 165">
              <a:extLst>
                <a:ext uri="{FF2B5EF4-FFF2-40B4-BE49-F238E27FC236}">
                  <a16:creationId xmlns:a16="http://schemas.microsoft.com/office/drawing/2014/main" id="{84113A57-FEA3-A245-ADC3-1C98EE6B6040}"/>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8" name="Freeform 166">
              <a:extLst>
                <a:ext uri="{FF2B5EF4-FFF2-40B4-BE49-F238E27FC236}">
                  <a16:creationId xmlns:a16="http://schemas.microsoft.com/office/drawing/2014/main" id="{17DDF599-C8B9-ED49-A878-2E9E9C14F25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9" name="Freeform 167">
              <a:extLst>
                <a:ext uri="{FF2B5EF4-FFF2-40B4-BE49-F238E27FC236}">
                  <a16:creationId xmlns:a16="http://schemas.microsoft.com/office/drawing/2014/main" id="{D79F5A9D-B30C-E04E-814D-CEF62D45B0E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90" name="Rectangle 168">
              <a:extLst>
                <a:ext uri="{FF2B5EF4-FFF2-40B4-BE49-F238E27FC236}">
                  <a16:creationId xmlns:a16="http://schemas.microsoft.com/office/drawing/2014/main" id="{E4257EA1-363B-2845-8C9B-7FA15C50A60D}"/>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1" name="Group 169">
              <a:extLst>
                <a:ext uri="{FF2B5EF4-FFF2-40B4-BE49-F238E27FC236}">
                  <a16:creationId xmlns:a16="http://schemas.microsoft.com/office/drawing/2014/main" id="{5E2C0E7D-06A7-264F-887D-F219437D11A5}"/>
                </a:ext>
              </a:extLst>
            </p:cNvPr>
            <p:cNvGrpSpPr>
              <a:grpSpLocks/>
            </p:cNvGrpSpPr>
            <p:nvPr/>
          </p:nvGrpSpPr>
          <p:grpSpPr bwMode="auto">
            <a:xfrm>
              <a:off x="4749" y="668"/>
              <a:ext cx="581" cy="145"/>
              <a:chOff x="614" y="2568"/>
              <a:chExt cx="725" cy="139"/>
            </a:xfrm>
          </p:grpSpPr>
          <p:sp>
            <p:nvSpPr>
              <p:cNvPr id="416" name="AutoShape 170">
                <a:extLst>
                  <a:ext uri="{FF2B5EF4-FFF2-40B4-BE49-F238E27FC236}">
                    <a16:creationId xmlns:a16="http://schemas.microsoft.com/office/drawing/2014/main" id="{A967F0FF-1A5B-524B-93E6-F5241976BB9B}"/>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7" name="AutoShape 171">
                <a:extLst>
                  <a:ext uri="{FF2B5EF4-FFF2-40B4-BE49-F238E27FC236}">
                    <a16:creationId xmlns:a16="http://schemas.microsoft.com/office/drawing/2014/main" id="{47E42211-0EB4-8846-9356-8025F0B0AFDB}"/>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2" name="Rectangle 172">
              <a:extLst>
                <a:ext uri="{FF2B5EF4-FFF2-40B4-BE49-F238E27FC236}">
                  <a16:creationId xmlns:a16="http://schemas.microsoft.com/office/drawing/2014/main" id="{A253ECB5-E810-654A-8AEA-B06E7E8BD7F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3" name="Group 173">
              <a:extLst>
                <a:ext uri="{FF2B5EF4-FFF2-40B4-BE49-F238E27FC236}">
                  <a16:creationId xmlns:a16="http://schemas.microsoft.com/office/drawing/2014/main" id="{8ABBF0A2-79C7-3843-AEF7-0B108A1A9DBD}"/>
                </a:ext>
              </a:extLst>
            </p:cNvPr>
            <p:cNvGrpSpPr>
              <a:grpSpLocks/>
            </p:cNvGrpSpPr>
            <p:nvPr/>
          </p:nvGrpSpPr>
          <p:grpSpPr bwMode="auto">
            <a:xfrm>
              <a:off x="4747" y="994"/>
              <a:ext cx="581" cy="134"/>
              <a:chOff x="614" y="2568"/>
              <a:chExt cx="725" cy="139"/>
            </a:xfrm>
          </p:grpSpPr>
          <p:sp>
            <p:nvSpPr>
              <p:cNvPr id="414" name="AutoShape 174">
                <a:extLst>
                  <a:ext uri="{FF2B5EF4-FFF2-40B4-BE49-F238E27FC236}">
                    <a16:creationId xmlns:a16="http://schemas.microsoft.com/office/drawing/2014/main" id="{0D6185E6-D51D-A544-8C9F-6CF31ACD0652}"/>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5" name="AutoShape 175">
                <a:extLst>
                  <a:ext uri="{FF2B5EF4-FFF2-40B4-BE49-F238E27FC236}">
                    <a16:creationId xmlns:a16="http://schemas.microsoft.com/office/drawing/2014/main" id="{45C49FBD-4799-3440-BE93-ED432BA55488}"/>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4" name="Rectangle 176">
              <a:extLst>
                <a:ext uri="{FF2B5EF4-FFF2-40B4-BE49-F238E27FC236}">
                  <a16:creationId xmlns:a16="http://schemas.microsoft.com/office/drawing/2014/main" id="{62DDF460-8AF3-FF41-B885-D46ADE63CCE7}"/>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5" name="Rectangle 177">
              <a:extLst>
                <a:ext uri="{FF2B5EF4-FFF2-40B4-BE49-F238E27FC236}">
                  <a16:creationId xmlns:a16="http://schemas.microsoft.com/office/drawing/2014/main" id="{C24947D6-AADC-9A47-95C8-7A2CCE910DBE}"/>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96" name="Group 178">
              <a:extLst>
                <a:ext uri="{FF2B5EF4-FFF2-40B4-BE49-F238E27FC236}">
                  <a16:creationId xmlns:a16="http://schemas.microsoft.com/office/drawing/2014/main" id="{51A2B0F1-DE5B-9C44-A881-C4B542B6B50A}"/>
                </a:ext>
              </a:extLst>
            </p:cNvPr>
            <p:cNvGrpSpPr>
              <a:grpSpLocks/>
            </p:cNvGrpSpPr>
            <p:nvPr/>
          </p:nvGrpSpPr>
          <p:grpSpPr bwMode="auto">
            <a:xfrm>
              <a:off x="4735" y="1627"/>
              <a:ext cx="582" cy="151"/>
              <a:chOff x="614" y="2568"/>
              <a:chExt cx="725" cy="139"/>
            </a:xfrm>
          </p:grpSpPr>
          <p:sp>
            <p:nvSpPr>
              <p:cNvPr id="412" name="AutoShape 179">
                <a:extLst>
                  <a:ext uri="{FF2B5EF4-FFF2-40B4-BE49-F238E27FC236}">
                    <a16:creationId xmlns:a16="http://schemas.microsoft.com/office/drawing/2014/main" id="{FF26D077-4EA3-2342-837F-8A5D5BE98408}"/>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3" name="AutoShape 180">
                <a:extLst>
                  <a:ext uri="{FF2B5EF4-FFF2-40B4-BE49-F238E27FC236}">
                    <a16:creationId xmlns:a16="http://schemas.microsoft.com/office/drawing/2014/main" id="{6938491D-ACC4-D247-A174-ED9E63955920}"/>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7" name="Freeform 181">
              <a:extLst>
                <a:ext uri="{FF2B5EF4-FFF2-40B4-BE49-F238E27FC236}">
                  <a16:creationId xmlns:a16="http://schemas.microsoft.com/office/drawing/2014/main" id="{8347DBD3-007C-5347-8074-BC4893481902}"/>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98" name="Group 182">
              <a:extLst>
                <a:ext uri="{FF2B5EF4-FFF2-40B4-BE49-F238E27FC236}">
                  <a16:creationId xmlns:a16="http://schemas.microsoft.com/office/drawing/2014/main" id="{97B09700-0634-FF4D-98CD-FC999C9A388E}"/>
                </a:ext>
              </a:extLst>
            </p:cNvPr>
            <p:cNvGrpSpPr>
              <a:grpSpLocks/>
            </p:cNvGrpSpPr>
            <p:nvPr/>
          </p:nvGrpSpPr>
          <p:grpSpPr bwMode="auto">
            <a:xfrm>
              <a:off x="4739" y="1327"/>
              <a:ext cx="582" cy="139"/>
              <a:chOff x="614" y="2568"/>
              <a:chExt cx="725" cy="139"/>
            </a:xfrm>
          </p:grpSpPr>
          <p:sp>
            <p:nvSpPr>
              <p:cNvPr id="410" name="AutoShape 183">
                <a:extLst>
                  <a:ext uri="{FF2B5EF4-FFF2-40B4-BE49-F238E27FC236}">
                    <a16:creationId xmlns:a16="http://schemas.microsoft.com/office/drawing/2014/main" id="{CAE14D82-2E48-404E-B50D-02636745A8F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1" name="AutoShape 184">
                <a:extLst>
                  <a:ext uri="{FF2B5EF4-FFF2-40B4-BE49-F238E27FC236}">
                    <a16:creationId xmlns:a16="http://schemas.microsoft.com/office/drawing/2014/main" id="{51BBC259-2416-1447-ADC8-FFADEB6DBB8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99" name="Rectangle 185">
              <a:extLst>
                <a:ext uri="{FF2B5EF4-FFF2-40B4-BE49-F238E27FC236}">
                  <a16:creationId xmlns:a16="http://schemas.microsoft.com/office/drawing/2014/main" id="{1064C0C2-840D-B947-9570-7D79A80EF584}"/>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0" name="Freeform 186">
              <a:extLst>
                <a:ext uri="{FF2B5EF4-FFF2-40B4-BE49-F238E27FC236}">
                  <a16:creationId xmlns:a16="http://schemas.microsoft.com/office/drawing/2014/main" id="{B6468F87-96EF-784A-B97A-D7EA2DEA79D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01" name="Freeform 187">
              <a:extLst>
                <a:ext uri="{FF2B5EF4-FFF2-40B4-BE49-F238E27FC236}">
                  <a16:creationId xmlns:a16="http://schemas.microsoft.com/office/drawing/2014/main" id="{F24072E3-E21E-3D47-83FF-6B5B3B036830}"/>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02" name="Oval 188">
              <a:extLst>
                <a:ext uri="{FF2B5EF4-FFF2-40B4-BE49-F238E27FC236}">
                  <a16:creationId xmlns:a16="http://schemas.microsoft.com/office/drawing/2014/main" id="{C2FDEF67-F14F-2A4C-A3BF-0529D843B8F4}"/>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3" name="Freeform 189">
              <a:extLst>
                <a:ext uri="{FF2B5EF4-FFF2-40B4-BE49-F238E27FC236}">
                  <a16:creationId xmlns:a16="http://schemas.microsoft.com/office/drawing/2014/main" id="{E396FECC-6A5D-DA40-A4D0-B93DFA225851}"/>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04" name="AutoShape 190">
              <a:extLst>
                <a:ext uri="{FF2B5EF4-FFF2-40B4-BE49-F238E27FC236}">
                  <a16:creationId xmlns:a16="http://schemas.microsoft.com/office/drawing/2014/main" id="{AF73C4B3-874F-8945-8C8A-3D07D6B2FDB1}"/>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5" name="AutoShape 191">
              <a:extLst>
                <a:ext uri="{FF2B5EF4-FFF2-40B4-BE49-F238E27FC236}">
                  <a16:creationId xmlns:a16="http://schemas.microsoft.com/office/drawing/2014/main" id="{7B3616E9-0E1D-0F4A-B64E-333A0E782AEB}"/>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6" name="Oval 192">
              <a:extLst>
                <a:ext uri="{FF2B5EF4-FFF2-40B4-BE49-F238E27FC236}">
                  <a16:creationId xmlns:a16="http://schemas.microsoft.com/office/drawing/2014/main" id="{B6D080BF-90A6-B144-BB0F-B017C8FC32D0}"/>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7" name="Oval 193">
              <a:extLst>
                <a:ext uri="{FF2B5EF4-FFF2-40B4-BE49-F238E27FC236}">
                  <a16:creationId xmlns:a16="http://schemas.microsoft.com/office/drawing/2014/main" id="{476EDDEF-CE6F-4042-81DC-768C18CD64B1}"/>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08" name="Oval 194">
              <a:extLst>
                <a:ext uri="{FF2B5EF4-FFF2-40B4-BE49-F238E27FC236}">
                  <a16:creationId xmlns:a16="http://schemas.microsoft.com/office/drawing/2014/main" id="{D38E2869-2274-384D-8E48-0AED4D69634B}"/>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09" name="Rectangle 195">
              <a:extLst>
                <a:ext uri="{FF2B5EF4-FFF2-40B4-BE49-F238E27FC236}">
                  <a16:creationId xmlns:a16="http://schemas.microsoft.com/office/drawing/2014/main" id="{E207AF41-FA65-C248-905D-7770F218B047}"/>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59" name="Line 57">
            <a:extLst>
              <a:ext uri="{FF2B5EF4-FFF2-40B4-BE49-F238E27FC236}">
                <a16:creationId xmlns:a16="http://schemas.microsoft.com/office/drawing/2014/main" id="{63DE0F1D-A9CF-3B47-9DBF-096FE0F6708D}"/>
              </a:ext>
            </a:extLst>
          </p:cNvPr>
          <p:cNvSpPr>
            <a:spLocks noChangeShapeType="1"/>
          </p:cNvSpPr>
          <p:nvPr/>
        </p:nvSpPr>
        <p:spPr bwMode="auto">
          <a:xfrm flipH="1">
            <a:off x="5155368" y="5988369"/>
            <a:ext cx="10099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0" name="Line 57">
            <a:extLst>
              <a:ext uri="{FF2B5EF4-FFF2-40B4-BE49-F238E27FC236}">
                <a16:creationId xmlns:a16="http://schemas.microsoft.com/office/drawing/2014/main" id="{46D01C7A-CEF1-E346-AF5D-2CCF20987B53}"/>
              </a:ext>
            </a:extLst>
          </p:cNvPr>
          <p:cNvSpPr>
            <a:spLocks noChangeShapeType="1"/>
          </p:cNvSpPr>
          <p:nvPr/>
        </p:nvSpPr>
        <p:spPr bwMode="auto">
          <a:xfrm flipH="1">
            <a:off x="3001196" y="4853221"/>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1" name="Line 57">
            <a:extLst>
              <a:ext uri="{FF2B5EF4-FFF2-40B4-BE49-F238E27FC236}">
                <a16:creationId xmlns:a16="http://schemas.microsoft.com/office/drawing/2014/main" id="{FC5AF6D5-FBFA-504B-A634-B5D18FA55859}"/>
              </a:ext>
            </a:extLst>
          </p:cNvPr>
          <p:cNvSpPr>
            <a:spLocks noChangeShapeType="1"/>
          </p:cNvSpPr>
          <p:nvPr/>
        </p:nvSpPr>
        <p:spPr bwMode="auto">
          <a:xfrm flipH="1">
            <a:off x="1869391" y="5991438"/>
            <a:ext cx="5401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62" name="Group 361">
            <a:extLst>
              <a:ext uri="{FF2B5EF4-FFF2-40B4-BE49-F238E27FC236}">
                <a16:creationId xmlns:a16="http://schemas.microsoft.com/office/drawing/2014/main" id="{A8476EBE-514C-F24A-9934-50A3E251CCB0}"/>
              </a:ext>
            </a:extLst>
          </p:cNvPr>
          <p:cNvGrpSpPr/>
          <p:nvPr/>
        </p:nvGrpSpPr>
        <p:grpSpPr>
          <a:xfrm>
            <a:off x="2749090" y="3427413"/>
            <a:ext cx="2851610" cy="946150"/>
            <a:chOff x="2749090" y="3427413"/>
            <a:chExt cx="2851610" cy="946150"/>
          </a:xfrm>
        </p:grpSpPr>
        <p:sp>
          <p:nvSpPr>
            <p:cNvPr id="379" name="Text Box 68">
              <a:extLst>
                <a:ext uri="{FF2B5EF4-FFF2-40B4-BE49-F238E27FC236}">
                  <a16:creationId xmlns:a16="http://schemas.microsoft.com/office/drawing/2014/main" id="{8AF39E71-B088-4C43-899B-2F5F1867554D}"/>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6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original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80" name="Oval 217">
              <a:extLst>
                <a:ext uri="{FF2B5EF4-FFF2-40B4-BE49-F238E27FC236}">
                  <a16:creationId xmlns:a16="http://schemas.microsoft.com/office/drawing/2014/main" id="{11DE1202-9705-C244-9A3F-E44B4A0C0C53}"/>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1" name="Line 229">
              <a:extLst>
                <a:ext uri="{FF2B5EF4-FFF2-40B4-BE49-F238E27FC236}">
                  <a16:creationId xmlns:a16="http://schemas.microsoft.com/office/drawing/2014/main" id="{429846E6-D021-D048-B531-E1D9B4772D1D}"/>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2" name="Oval 232">
              <a:extLst>
                <a:ext uri="{FF2B5EF4-FFF2-40B4-BE49-F238E27FC236}">
                  <a16:creationId xmlns:a16="http://schemas.microsoft.com/office/drawing/2014/main" id="{C1A4B9C1-E455-364D-9F70-13A0F3F4D365}"/>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3" name="Text Box 233">
              <a:extLst>
                <a:ext uri="{FF2B5EF4-FFF2-40B4-BE49-F238E27FC236}">
                  <a16:creationId xmlns:a16="http://schemas.microsoft.com/office/drawing/2014/main" id="{580E2367-A745-E345-BB8F-41D6212780AD}"/>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8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original data, </a:t>
              </a:r>
              <a:r>
                <a:rPr kumimoji="0" lang="en-US" altLang="en-US" sz="1600" b="0"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plus</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retransmitted data</a:t>
              </a:r>
              <a:endParaRPr kumimoji="0" lang="en-US" altLang="en-US" sz="16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384" name="Line 234">
              <a:extLst>
                <a:ext uri="{FF2B5EF4-FFF2-40B4-BE49-F238E27FC236}">
                  <a16:creationId xmlns:a16="http://schemas.microsoft.com/office/drawing/2014/main" id="{461900DA-408C-DE4C-AE3A-7C59E17053E7}"/>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85" name="Line 235">
              <a:extLst>
                <a:ext uri="{FF2B5EF4-FFF2-40B4-BE49-F238E27FC236}">
                  <a16:creationId xmlns:a16="http://schemas.microsoft.com/office/drawing/2014/main" id="{9AE41AE9-2E2C-A94C-8563-FA0EF6DB2493}"/>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63" name="Group 362">
            <a:extLst>
              <a:ext uri="{FF2B5EF4-FFF2-40B4-BE49-F238E27FC236}">
                <a16:creationId xmlns:a16="http://schemas.microsoft.com/office/drawing/2014/main" id="{EF024339-16A9-2940-84AC-8D5FD6D530DC}"/>
              </a:ext>
            </a:extLst>
          </p:cNvPr>
          <p:cNvGrpSpPr/>
          <p:nvPr/>
        </p:nvGrpSpPr>
        <p:grpSpPr>
          <a:xfrm>
            <a:off x="2913490" y="5218953"/>
            <a:ext cx="1938730" cy="1300181"/>
            <a:chOff x="2913490" y="5218953"/>
            <a:chExt cx="1938730" cy="1300181"/>
          </a:xfrm>
        </p:grpSpPr>
        <p:sp>
          <p:nvSpPr>
            <p:cNvPr id="368" name="Text Box 32">
              <a:extLst>
                <a:ext uri="{FF2B5EF4-FFF2-40B4-BE49-F238E27FC236}">
                  <a16:creationId xmlns:a16="http://schemas.microsoft.com/office/drawing/2014/main" id="{5AAD3E18-5D61-9A4F-A8C6-DA15D5F6E8C8}"/>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600" b="1" i="1"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finite</a:t>
              </a:r>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shared output link buffers</a:t>
              </a:r>
            </a:p>
          </p:txBody>
        </p:sp>
        <p:sp>
          <p:nvSpPr>
            <p:cNvPr id="369" name="Line 77">
              <a:extLst>
                <a:ext uri="{FF2B5EF4-FFF2-40B4-BE49-F238E27FC236}">
                  <a16:creationId xmlns:a16="http://schemas.microsoft.com/office/drawing/2014/main" id="{9C4905E3-CC67-3F4F-9F6E-3576D662FE1F}"/>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70" name="Group 369">
              <a:extLst>
                <a:ext uri="{FF2B5EF4-FFF2-40B4-BE49-F238E27FC236}">
                  <a16:creationId xmlns:a16="http://schemas.microsoft.com/office/drawing/2014/main" id="{642EEE98-D955-2645-BCEA-6CFA28F8CF58}"/>
                </a:ext>
              </a:extLst>
            </p:cNvPr>
            <p:cNvGrpSpPr/>
            <p:nvPr/>
          </p:nvGrpSpPr>
          <p:grpSpPr>
            <a:xfrm>
              <a:off x="4030362" y="5218953"/>
              <a:ext cx="821858" cy="355937"/>
              <a:chOff x="6859123" y="5156933"/>
              <a:chExt cx="456701" cy="226548"/>
            </a:xfrm>
          </p:grpSpPr>
          <p:sp>
            <p:nvSpPr>
              <p:cNvPr id="371" name="Rectangle 370">
                <a:extLst>
                  <a:ext uri="{FF2B5EF4-FFF2-40B4-BE49-F238E27FC236}">
                    <a16:creationId xmlns:a16="http://schemas.microsoft.com/office/drawing/2014/main" id="{BF29C153-2860-A047-B353-EB834110B516}"/>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72" name="Straight Connector 371">
                <a:extLst>
                  <a:ext uri="{FF2B5EF4-FFF2-40B4-BE49-F238E27FC236}">
                    <a16:creationId xmlns:a16="http://schemas.microsoft.com/office/drawing/2014/main" id="{0F94F15C-CB01-2343-8BA9-D6A7A5F3E921}"/>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3BCDCB2-682E-8A47-B5AA-751DCC383167}"/>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4EC6D7F8-6E55-114F-BBD8-DF2048FBDBD4}"/>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0DA34588-6E4E-E843-9815-D17EF78C07C8}"/>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EDC81EAA-11E7-204C-B32D-EF46B8EA047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B2D8E63-0217-464C-AF6F-C583D47A94FB}"/>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1DC8A4E4-9140-9846-AE4D-F6F7180594C0}"/>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64" name="Freeform 91">
            <a:extLst>
              <a:ext uri="{FF2B5EF4-FFF2-40B4-BE49-F238E27FC236}">
                <a16:creationId xmlns:a16="http://schemas.microsoft.com/office/drawing/2014/main" id="{6A998D77-E674-4C42-8116-BFA762D73522}"/>
              </a:ext>
            </a:extLst>
          </p:cNvPr>
          <p:cNvSpPr>
            <a:spLocks/>
          </p:cNvSpPr>
          <p:nvPr/>
        </p:nvSpPr>
        <p:spPr bwMode="auto">
          <a:xfrm>
            <a:off x="2803354" y="3659588"/>
            <a:ext cx="4211870" cy="1670126"/>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65" name="Group 364">
            <a:extLst>
              <a:ext uri="{FF2B5EF4-FFF2-40B4-BE49-F238E27FC236}">
                <a16:creationId xmlns:a16="http://schemas.microsoft.com/office/drawing/2014/main" id="{7181676C-F21F-FA45-B687-4F604B6D6AB0}"/>
              </a:ext>
            </a:extLst>
          </p:cNvPr>
          <p:cNvGrpSpPr/>
          <p:nvPr/>
        </p:nvGrpSpPr>
        <p:grpSpPr>
          <a:xfrm>
            <a:off x="1586591" y="4743924"/>
            <a:ext cx="4913849" cy="1346072"/>
            <a:chOff x="5641439" y="2685215"/>
            <a:chExt cx="4000500" cy="1028700"/>
          </a:xfrm>
        </p:grpSpPr>
        <p:sp>
          <p:nvSpPr>
            <p:cNvPr id="366" name="Oval 73">
              <a:extLst>
                <a:ext uri="{FF2B5EF4-FFF2-40B4-BE49-F238E27FC236}">
                  <a16:creationId xmlns:a16="http://schemas.microsoft.com/office/drawing/2014/main" id="{35053334-4D7F-4847-80B3-6F40D7B23AB8}"/>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7" name="Freeform 90">
              <a:extLst>
                <a:ext uri="{FF2B5EF4-FFF2-40B4-BE49-F238E27FC236}">
                  <a16:creationId xmlns:a16="http://schemas.microsoft.com/office/drawing/2014/main" id="{95104C9F-4620-634A-B9AC-1FD27521ED0A}"/>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82" name="Group 481">
            <a:extLst>
              <a:ext uri="{FF2B5EF4-FFF2-40B4-BE49-F238E27FC236}">
                <a16:creationId xmlns:a16="http://schemas.microsoft.com/office/drawing/2014/main" id="{5013778A-FC3E-6147-B237-2E421A578596}"/>
              </a:ext>
            </a:extLst>
          </p:cNvPr>
          <p:cNvGrpSpPr/>
          <p:nvPr/>
        </p:nvGrpSpPr>
        <p:grpSpPr>
          <a:xfrm>
            <a:off x="3289650" y="5336775"/>
            <a:ext cx="2124396" cy="604097"/>
            <a:chOff x="3289650" y="5336775"/>
            <a:chExt cx="2124396" cy="604097"/>
          </a:xfrm>
        </p:grpSpPr>
        <p:sp>
          <p:nvSpPr>
            <p:cNvPr id="483" name="TextBox 482">
              <a:extLst>
                <a:ext uri="{FF2B5EF4-FFF2-40B4-BE49-F238E27FC236}">
                  <a16:creationId xmlns:a16="http://schemas.microsoft.com/office/drawing/2014/main" id="{79802D0E-17EA-E149-8E57-45B459B30699}"/>
                </a:ext>
              </a:extLst>
            </p:cNvPr>
            <p:cNvSpPr txBox="1"/>
            <p:nvPr/>
          </p:nvSpPr>
          <p:spPr>
            <a:xfrm>
              <a:off x="4982445" y="5336775"/>
              <a:ext cx="431601" cy="60409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sp>
          <p:nvSpPr>
            <p:cNvPr id="484" name="TextBox 483">
              <a:extLst>
                <a:ext uri="{FF2B5EF4-FFF2-40B4-BE49-F238E27FC236}">
                  <a16:creationId xmlns:a16="http://schemas.microsoft.com/office/drawing/2014/main" id="{18161CA6-5140-A442-9496-A8022DF846CA}"/>
                </a:ext>
              </a:extLst>
            </p:cNvPr>
            <p:cNvSpPr txBox="1"/>
            <p:nvPr/>
          </p:nvSpPr>
          <p:spPr>
            <a:xfrm>
              <a:off x="3289650" y="5351752"/>
              <a:ext cx="351378"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R</a:t>
              </a: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2</a:t>
            </a:r>
            <a:endParaRPr lang="en-US" sz="4400" b="0" dirty="0"/>
          </a:p>
        </p:txBody>
      </p:sp>
      <p:sp>
        <p:nvSpPr>
          <p:cNvPr id="179" name="Line 17">
            <a:extLst>
              <a:ext uri="{FF2B5EF4-FFF2-40B4-BE49-F238E27FC236}">
                <a16:creationId xmlns:a16="http://schemas.microsoft.com/office/drawing/2014/main" id="{D36515D0-132A-8F4C-B7B9-1155DF48878C}"/>
              </a:ext>
            </a:extLst>
          </p:cNvPr>
          <p:cNvSpPr>
            <a:spLocks noChangeShapeType="1"/>
          </p:cNvSpPr>
          <p:nvPr/>
        </p:nvSpPr>
        <p:spPr bwMode="auto">
          <a:xfrm flipH="1">
            <a:off x="3021013" y="4878388"/>
            <a:ext cx="538162"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6" name="Oval 215">
            <a:extLst>
              <a:ext uri="{FF2B5EF4-FFF2-40B4-BE49-F238E27FC236}">
                <a16:creationId xmlns:a16="http://schemas.microsoft.com/office/drawing/2014/main" id="{1C4268F0-E551-D24B-9519-6A260937A6C3}"/>
              </a:ext>
            </a:extLst>
          </p:cNvPr>
          <p:cNvSpPr>
            <a:spLocks noChangeArrowheads="1"/>
          </p:cNvSpPr>
          <p:nvPr/>
        </p:nvSpPr>
        <p:spPr bwMode="auto">
          <a:xfrm>
            <a:off x="2763838" y="3638550"/>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9" name="Freeform 228">
            <a:extLst>
              <a:ext uri="{FF2B5EF4-FFF2-40B4-BE49-F238E27FC236}">
                <a16:creationId xmlns:a16="http://schemas.microsoft.com/office/drawing/2014/main" id="{63D52C34-ADA8-824F-BFD8-D4746FEC885A}"/>
              </a:ext>
            </a:extLst>
          </p:cNvPr>
          <p:cNvSpPr>
            <a:spLocks/>
          </p:cNvSpPr>
          <p:nvPr/>
        </p:nvSpPr>
        <p:spPr bwMode="auto">
          <a:xfrm>
            <a:off x="2822575" y="3698875"/>
            <a:ext cx="4210050" cy="1646238"/>
          </a:xfrm>
          <a:custGeom>
            <a:avLst/>
            <a:gdLst>
              <a:gd name="T0" fmla="*/ 0 w 5400"/>
              <a:gd name="T1" fmla="*/ 0 h 2010"/>
              <a:gd name="T2" fmla="*/ 0 w 5400"/>
              <a:gd name="T3" fmla="*/ 2147483647 h 2010"/>
              <a:gd name="T4" fmla="*/ 2147483647 w 5400"/>
              <a:gd name="T5" fmla="*/ 2147483647 h 2010"/>
              <a:gd name="T6" fmla="*/ 2147483647 w 5400"/>
              <a:gd name="T7" fmla="*/ 2147483647 h 2010"/>
              <a:gd name="T8" fmla="*/ 2147483647 w 5400"/>
              <a:gd name="T9" fmla="*/ 2147483647 h 2010"/>
              <a:gd name="T10" fmla="*/ 2147483647 w 5400"/>
              <a:gd name="T11" fmla="*/ 2147483647 h 2010"/>
              <a:gd name="T12" fmla="*/ 2147483647 w 5400"/>
              <a:gd name="T13" fmla="*/ 2147483647 h 2010"/>
              <a:gd name="T14" fmla="*/ 2147483647 w 5400"/>
              <a:gd name="T15" fmla="*/ 2147483647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0" name="Oval 229">
            <a:extLst>
              <a:ext uri="{FF2B5EF4-FFF2-40B4-BE49-F238E27FC236}">
                <a16:creationId xmlns:a16="http://schemas.microsoft.com/office/drawing/2014/main" id="{2699F953-20DB-2F48-91B4-9336D6A63ABD}"/>
              </a:ext>
            </a:extLst>
          </p:cNvPr>
          <p:cNvSpPr>
            <a:spLocks noChangeArrowheads="1"/>
          </p:cNvSpPr>
          <p:nvPr/>
        </p:nvSpPr>
        <p:spPr bwMode="auto">
          <a:xfrm>
            <a:off x="2763838" y="3871913"/>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5" name="Rectangle 234">
            <a:extLst>
              <a:ext uri="{FF2B5EF4-FFF2-40B4-BE49-F238E27FC236}">
                <a16:creationId xmlns:a16="http://schemas.microsoft.com/office/drawing/2014/main" id="{52CAA5BF-C505-6847-BAF8-A75587362EE3}"/>
              </a:ext>
            </a:extLst>
          </p:cNvPr>
          <p:cNvSpPr>
            <a:spLocks noChangeArrowheads="1"/>
          </p:cNvSpPr>
          <p:nvPr/>
        </p:nvSpPr>
        <p:spPr bwMode="auto">
          <a:xfrm>
            <a:off x="2711450" y="3613150"/>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6" name="Rectangle 235">
            <a:extLst>
              <a:ext uri="{FF2B5EF4-FFF2-40B4-BE49-F238E27FC236}">
                <a16:creationId xmlns:a16="http://schemas.microsoft.com/office/drawing/2014/main" id="{6EBFCC57-DC97-C441-897D-9E4916F1E725}"/>
              </a:ext>
            </a:extLst>
          </p:cNvPr>
          <p:cNvSpPr>
            <a:spLocks noChangeArrowheads="1"/>
          </p:cNvSpPr>
          <p:nvPr/>
        </p:nvSpPr>
        <p:spPr bwMode="auto">
          <a:xfrm>
            <a:off x="2381250" y="3846513"/>
            <a:ext cx="244475" cy="155575"/>
          </a:xfrm>
          <a:prstGeom prst="rect">
            <a:avLst/>
          </a:prstGeom>
          <a:solidFill>
            <a:srgbClr val="00CC99"/>
          </a:solidFill>
          <a:ln w="9525">
            <a:solidFill>
              <a:srgbClr val="0066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Text Box 236">
            <a:extLst>
              <a:ext uri="{FF2B5EF4-FFF2-40B4-BE49-F238E27FC236}">
                <a16:creationId xmlns:a16="http://schemas.microsoft.com/office/drawing/2014/main" id="{2385057C-CC2A-904D-B477-1A4E091EC574}"/>
              </a:ext>
            </a:extLst>
          </p:cNvPr>
          <p:cNvSpPr txBox="1">
            <a:spLocks noChangeArrowheads="1"/>
          </p:cNvSpPr>
          <p:nvPr/>
        </p:nvSpPr>
        <p:spPr bwMode="auto">
          <a:xfrm>
            <a:off x="1757363" y="3736975"/>
            <a:ext cx="6127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6600"/>
                </a:solidFill>
                <a:effectLst/>
                <a:uLnTx/>
                <a:uFillTx/>
                <a:latin typeface="Arial" charset="0"/>
                <a:ea typeface="ＭＳ Ｐゴシック" charset="0"/>
                <a:cs typeface="+mn-cs"/>
              </a:rPr>
              <a:t>copy</a:t>
            </a:r>
          </a:p>
        </p:txBody>
      </p:sp>
      <p:grpSp>
        <p:nvGrpSpPr>
          <p:cNvPr id="239" name="Group 240">
            <a:extLst>
              <a:ext uri="{FF2B5EF4-FFF2-40B4-BE49-F238E27FC236}">
                <a16:creationId xmlns:a16="http://schemas.microsoft.com/office/drawing/2014/main" id="{3C099EA3-4C76-8E43-A8FA-DA69E23B587D}"/>
              </a:ext>
            </a:extLst>
          </p:cNvPr>
          <p:cNvGrpSpPr>
            <a:grpSpLocks/>
          </p:cNvGrpSpPr>
          <p:nvPr/>
        </p:nvGrpSpPr>
        <p:grpSpPr bwMode="auto">
          <a:xfrm>
            <a:off x="1376363" y="3300413"/>
            <a:ext cx="947737" cy="869950"/>
            <a:chOff x="3283" y="2142"/>
            <a:chExt cx="597" cy="548"/>
          </a:xfrm>
        </p:grpSpPr>
        <p:grpSp>
          <p:nvGrpSpPr>
            <p:cNvPr id="240" name="Group 241">
              <a:extLst>
                <a:ext uri="{FF2B5EF4-FFF2-40B4-BE49-F238E27FC236}">
                  <a16:creationId xmlns:a16="http://schemas.microsoft.com/office/drawing/2014/main" id="{B0C67642-FA77-3248-BB94-4C12B33DABEB}"/>
                </a:ext>
              </a:extLst>
            </p:cNvPr>
            <p:cNvGrpSpPr>
              <a:grpSpLocks/>
            </p:cNvGrpSpPr>
            <p:nvPr/>
          </p:nvGrpSpPr>
          <p:grpSpPr bwMode="auto">
            <a:xfrm>
              <a:off x="3283" y="2387"/>
              <a:ext cx="597" cy="303"/>
              <a:chOff x="990" y="4570"/>
              <a:chExt cx="597" cy="380"/>
            </a:xfrm>
          </p:grpSpPr>
          <p:pic>
            <p:nvPicPr>
              <p:cNvPr id="243" name="Picture 242">
                <a:extLst>
                  <a:ext uri="{FF2B5EF4-FFF2-40B4-BE49-F238E27FC236}">
                    <a16:creationId xmlns:a16="http://schemas.microsoft.com/office/drawing/2014/main" id="{67A85C0C-4A8A-6B47-B09B-B8DCC27068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44" name="Rectangle 243">
                <a:extLst>
                  <a:ext uri="{FF2B5EF4-FFF2-40B4-BE49-F238E27FC236}">
                    <a16:creationId xmlns:a16="http://schemas.microsoft.com/office/drawing/2014/main" id="{1BE93BC6-21EB-E345-A354-EC1A31A9313F}"/>
                  </a:ext>
                </a:extLst>
              </p:cNvPr>
              <p:cNvSpPr>
                <a:spLocks noChangeArrowheads="1"/>
              </p:cNvSpPr>
              <p:nvPr/>
            </p:nvSpPr>
            <p:spPr bwMode="auto">
              <a:xfrm>
                <a:off x="1124" y="4679"/>
                <a:ext cx="360"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1" name="Text Box 244">
              <a:extLst>
                <a:ext uri="{FF2B5EF4-FFF2-40B4-BE49-F238E27FC236}">
                  <a16:creationId xmlns:a16="http://schemas.microsoft.com/office/drawing/2014/main" id="{057976BB-0F9A-9941-9597-91496E327B0E}"/>
                </a:ext>
              </a:extLst>
            </p:cNvPr>
            <p:cNvSpPr txBox="1">
              <a:spLocks noChangeArrowheads="1"/>
            </p:cNvSpPr>
            <p:nvPr/>
          </p:nvSpPr>
          <p:spPr bwMode="auto">
            <a:xfrm>
              <a:off x="3343" y="2461"/>
              <a:ext cx="479" cy="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3333CC"/>
                  </a:solidFill>
                  <a:effectLst/>
                  <a:uLnTx/>
                  <a:uFillTx/>
                  <a:latin typeface="Comic Sans MS" charset="0"/>
                  <a:ea typeface="ＭＳ Ｐゴシック" charset="0"/>
                  <a:cs typeface="+mn-cs"/>
                </a:rPr>
                <a:t>timeout</a:t>
              </a:r>
            </a:p>
          </p:txBody>
        </p:sp>
        <p:pic>
          <p:nvPicPr>
            <p:cNvPr id="242" name="Picture 245">
              <a:extLst>
                <a:ext uri="{FF2B5EF4-FFF2-40B4-BE49-F238E27FC236}">
                  <a16:creationId xmlns:a16="http://schemas.microsoft.com/office/drawing/2014/main" id="{18023B91-60B5-4147-A0EC-197B454FEC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3419" y="2142"/>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sp>
        <p:nvSpPr>
          <p:cNvPr id="342" name="Rectangle 281">
            <a:extLst>
              <a:ext uri="{FF2B5EF4-FFF2-40B4-BE49-F238E27FC236}">
                <a16:creationId xmlns:a16="http://schemas.microsoft.com/office/drawing/2014/main" id="{3D39CBCD-019A-0349-BB68-948FE706EC0C}"/>
              </a:ext>
            </a:extLst>
          </p:cNvPr>
          <p:cNvSpPr>
            <a:spLocks noChangeArrowheads="1"/>
          </p:cNvSpPr>
          <p:nvPr/>
        </p:nvSpPr>
        <p:spPr bwMode="auto">
          <a:xfrm>
            <a:off x="768350" y="1252512"/>
            <a:ext cx="5939840" cy="20874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Realistic scenario: </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un-needed</a:t>
            </a:r>
            <a:r>
              <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duplicates</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413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packets can be lost, dropped at router due  to full buffers – requiring retransmissions</a:t>
            </a:r>
          </a:p>
          <a:p>
            <a:pPr marL="292100" marR="0" lvl="0" indent="-2413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but sender times can time out prematurely, sending </a:t>
            </a:r>
            <a:r>
              <a:rPr kumimoji="0" lang="en-US" sz="22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two</a:t>
            </a:r>
            <a:r>
              <a:rPr kumimoji="0" lang="en-US" sz="22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copies, </a:t>
            </a:r>
            <a:r>
              <a:rPr kumimoji="0" lang="en-US" sz="2200" b="0" i="1"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both</a:t>
            </a: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of which are delivered</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238" name="Text Box 237">
            <a:extLst>
              <a:ext uri="{FF2B5EF4-FFF2-40B4-BE49-F238E27FC236}">
                <a16:creationId xmlns:a16="http://schemas.microsoft.com/office/drawing/2014/main" id="{147D48B6-6F9D-A040-89CB-089EAC406DE6}"/>
              </a:ext>
            </a:extLst>
          </p:cNvPr>
          <p:cNvSpPr txBox="1">
            <a:spLocks noChangeArrowheads="1"/>
          </p:cNvSpPr>
          <p:nvPr/>
        </p:nvSpPr>
        <p:spPr bwMode="auto">
          <a:xfrm>
            <a:off x="3724275" y="4761119"/>
            <a:ext cx="17684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1" u="none" strike="noStrike" kern="1200" cap="none" spc="0" normalizeH="0" baseline="0" noProof="0" dirty="0">
                <a:ln>
                  <a:noFill/>
                </a:ln>
                <a:solidFill>
                  <a:srgbClr val="006600"/>
                </a:solidFill>
                <a:effectLst/>
                <a:uLnTx/>
                <a:uFillTx/>
                <a:latin typeface="Arial" charset="0"/>
                <a:ea typeface="ＭＳ Ｐゴシック" charset="0"/>
                <a:cs typeface="+mn-cs"/>
              </a:rPr>
              <a:t>free buffer space!</a:t>
            </a:r>
          </a:p>
        </p:txBody>
      </p:sp>
      <p:grpSp>
        <p:nvGrpSpPr>
          <p:cNvPr id="7" name="Group 6">
            <a:extLst>
              <a:ext uri="{FF2B5EF4-FFF2-40B4-BE49-F238E27FC236}">
                <a16:creationId xmlns:a16="http://schemas.microsoft.com/office/drawing/2014/main" id="{567624B7-6B20-F845-9C41-4CC182257E49}"/>
              </a:ext>
            </a:extLst>
          </p:cNvPr>
          <p:cNvGrpSpPr/>
          <p:nvPr/>
        </p:nvGrpSpPr>
        <p:grpSpPr>
          <a:xfrm>
            <a:off x="10022277" y="2256302"/>
            <a:ext cx="2018927" cy="1905034"/>
            <a:chOff x="10022277" y="2034920"/>
            <a:chExt cx="2018927" cy="1905034"/>
          </a:xfrm>
        </p:grpSpPr>
        <p:sp>
          <p:nvSpPr>
            <p:cNvPr id="198" name="Text Box 259">
              <a:extLst>
                <a:ext uri="{FF2B5EF4-FFF2-40B4-BE49-F238E27FC236}">
                  <a16:creationId xmlns:a16="http://schemas.microsoft.com/office/drawing/2014/main" id="{9EDD7432-CD42-3343-A35C-16F063B6C25E}"/>
                </a:ext>
              </a:extLst>
            </p:cNvPr>
            <p:cNvSpPr txBox="1">
              <a:spLocks noChangeArrowheads="1"/>
            </p:cNvSpPr>
            <p:nvPr/>
          </p:nvSpPr>
          <p:spPr bwMode="auto">
            <a:xfrm>
              <a:off x="10241280" y="2339516"/>
              <a:ext cx="1799924" cy="1600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when sending at R/2, some packets are retransmissions, including needed and </a:t>
              </a:r>
              <a:r>
                <a:rPr kumimoji="0" lang="en-US" sz="1400" b="0" i="1" u="none" strike="noStrike" kern="1200" cap="none" spc="0" normalizeH="0" baseline="0" noProof="0" dirty="0">
                  <a:ln>
                    <a:noFill/>
                  </a:ln>
                  <a:solidFill>
                    <a:srgbClr val="C00000"/>
                  </a:solidFill>
                  <a:effectLst/>
                  <a:uLnTx/>
                  <a:uFillTx/>
                  <a:latin typeface="Arial" charset="0"/>
                  <a:ea typeface="ＭＳ Ｐゴシック" charset="0"/>
                  <a:cs typeface="+mn-cs"/>
                </a:rPr>
                <a:t>un-needed</a:t>
              </a: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 duplicates, that are delivered!</a:t>
              </a:r>
            </a:p>
          </p:txBody>
        </p:sp>
        <p:sp>
          <p:nvSpPr>
            <p:cNvPr id="202" name="Line 253">
              <a:extLst>
                <a:ext uri="{FF2B5EF4-FFF2-40B4-BE49-F238E27FC236}">
                  <a16:creationId xmlns:a16="http://schemas.microsoft.com/office/drawing/2014/main" id="{D5AB995F-B247-6F4B-BEAE-3191BFB3D4E9}"/>
                </a:ext>
              </a:extLst>
            </p:cNvPr>
            <p:cNvSpPr>
              <a:spLocks noChangeShapeType="1"/>
            </p:cNvSpPr>
            <p:nvPr/>
          </p:nvSpPr>
          <p:spPr bwMode="auto">
            <a:xfrm flipH="1" flipV="1">
              <a:off x="10022277" y="2034920"/>
              <a:ext cx="423050" cy="35515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BEA05CA9-3FA3-BF4C-A8E9-55EEC0008877}"/>
              </a:ext>
            </a:extLst>
          </p:cNvPr>
          <p:cNvGrpSpPr/>
          <p:nvPr/>
        </p:nvGrpSpPr>
        <p:grpSpPr>
          <a:xfrm>
            <a:off x="10040109" y="1751513"/>
            <a:ext cx="1904433" cy="674031"/>
            <a:chOff x="10040109" y="1530131"/>
            <a:chExt cx="1904433" cy="674031"/>
          </a:xfrm>
        </p:grpSpPr>
        <p:sp>
          <p:nvSpPr>
            <p:cNvPr id="224" name="Text Box 252">
              <a:extLst>
                <a:ext uri="{FF2B5EF4-FFF2-40B4-BE49-F238E27FC236}">
                  <a16:creationId xmlns:a16="http://schemas.microsoft.com/office/drawing/2014/main" id="{14DBF64B-0F2A-564A-8608-15D68B07DB02}"/>
                </a:ext>
              </a:extLst>
            </p:cNvPr>
            <p:cNvSpPr txBox="1">
              <a:spLocks noChangeArrowheads="1"/>
            </p:cNvSpPr>
            <p:nvPr/>
          </p:nvSpPr>
          <p:spPr bwMode="auto">
            <a:xfrm>
              <a:off x="10128951" y="1530131"/>
              <a:ext cx="1815591" cy="6740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“wasted” capacity due to un-needed retransmissions</a:t>
              </a:r>
            </a:p>
          </p:txBody>
        </p:sp>
        <p:sp>
          <p:nvSpPr>
            <p:cNvPr id="225" name="Right Brace 224">
              <a:extLst>
                <a:ext uri="{FF2B5EF4-FFF2-40B4-BE49-F238E27FC236}">
                  <a16:creationId xmlns:a16="http://schemas.microsoft.com/office/drawing/2014/main" id="{2533B29F-81E1-3C4A-A26B-AFF9EC5694E3}"/>
                </a:ext>
              </a:extLst>
            </p:cNvPr>
            <p:cNvSpPr/>
            <p:nvPr/>
          </p:nvSpPr>
          <p:spPr>
            <a:xfrm>
              <a:off x="10040109" y="1765940"/>
              <a:ext cx="144379" cy="223205"/>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8" name="Group 7">
            <a:extLst>
              <a:ext uri="{FF2B5EF4-FFF2-40B4-BE49-F238E27FC236}">
                <a16:creationId xmlns:a16="http://schemas.microsoft.com/office/drawing/2014/main" id="{12B126A1-4A79-F34D-A071-BDA969124FB9}"/>
              </a:ext>
            </a:extLst>
          </p:cNvPr>
          <p:cNvGrpSpPr/>
          <p:nvPr/>
        </p:nvGrpSpPr>
        <p:grpSpPr>
          <a:xfrm>
            <a:off x="7361453" y="1421562"/>
            <a:ext cx="3100386" cy="2791471"/>
            <a:chOff x="7361453" y="1200180"/>
            <a:chExt cx="3100386" cy="2791471"/>
          </a:xfrm>
        </p:grpSpPr>
        <p:sp>
          <p:nvSpPr>
            <p:cNvPr id="204" name="Freeform 245">
              <a:extLst>
                <a:ext uri="{FF2B5EF4-FFF2-40B4-BE49-F238E27FC236}">
                  <a16:creationId xmlns:a16="http://schemas.microsoft.com/office/drawing/2014/main" id="{B3460BD7-A5F9-BE49-9E86-1F8442B74C7E}"/>
                </a:ext>
              </a:extLst>
            </p:cNvPr>
            <p:cNvSpPr>
              <a:spLocks/>
            </p:cNvSpPr>
            <p:nvPr/>
          </p:nvSpPr>
          <p:spPr bwMode="auto">
            <a:xfrm>
              <a:off x="7958715" y="1967477"/>
              <a:ext cx="2024019" cy="1384114"/>
            </a:xfrm>
            <a:custGeom>
              <a:avLst/>
              <a:gdLst>
                <a:gd name="T0" fmla="*/ 0 w 1636"/>
                <a:gd name="T1" fmla="*/ 955 h 955"/>
                <a:gd name="T2" fmla="*/ 758 w 1636"/>
                <a:gd name="T3" fmla="*/ 246 h 955"/>
                <a:gd name="T4" fmla="*/ 1636 w 1636"/>
                <a:gd name="T5" fmla="*/ 7 h 955"/>
                <a:gd name="T6" fmla="*/ 0 60000 65536"/>
                <a:gd name="T7" fmla="*/ 0 60000 65536"/>
                <a:gd name="T8" fmla="*/ 0 60000 65536"/>
                <a:gd name="connsiteX0" fmla="*/ 0 w 6072"/>
                <a:gd name="connsiteY0" fmla="*/ 8862 h 8862"/>
                <a:gd name="connsiteX1" fmla="*/ 4633 w 6072"/>
                <a:gd name="connsiteY1" fmla="*/ 1438 h 8862"/>
                <a:gd name="connsiteX2" fmla="*/ 6072 w 6072"/>
                <a:gd name="connsiteY2" fmla="*/ 120 h 8862"/>
                <a:gd name="connsiteX0" fmla="*/ 0 w 10000"/>
                <a:gd name="connsiteY0" fmla="*/ 9865 h 9865"/>
                <a:gd name="connsiteX1" fmla="*/ 7630 w 10000"/>
                <a:gd name="connsiteY1" fmla="*/ 1488 h 9865"/>
                <a:gd name="connsiteX2" fmla="*/ 10000 w 10000"/>
                <a:gd name="connsiteY2" fmla="*/ 0 h 9865"/>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536 w 10000"/>
                <a:gd name="connsiteY1" fmla="*/ 1223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268" y="8586"/>
                    <a:pt x="4789" y="3077"/>
                    <a:pt x="6536" y="1223"/>
                  </a:cubicBezTo>
                  <a:cubicBezTo>
                    <a:pt x="7406" y="549"/>
                    <a:pt x="8333" y="126"/>
                    <a:pt x="10000" y="0"/>
                  </a:cubicBezTo>
                </a:path>
              </a:pathLst>
            </a:custGeom>
            <a:noFill/>
            <a:ln w="28575"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05" name="Group 246">
              <a:extLst>
                <a:ext uri="{FF2B5EF4-FFF2-40B4-BE49-F238E27FC236}">
                  <a16:creationId xmlns:a16="http://schemas.microsoft.com/office/drawing/2014/main" id="{5E08E7AA-3C32-114D-AB01-2054FE7FF68F}"/>
                </a:ext>
              </a:extLst>
            </p:cNvPr>
            <p:cNvGrpSpPr>
              <a:grpSpLocks/>
            </p:cNvGrpSpPr>
            <p:nvPr/>
          </p:nvGrpSpPr>
          <p:grpSpPr bwMode="auto">
            <a:xfrm>
              <a:off x="8776235" y="3317988"/>
              <a:ext cx="458788" cy="400051"/>
              <a:chOff x="3583" y="1761"/>
              <a:chExt cx="289" cy="252"/>
            </a:xfrm>
          </p:grpSpPr>
          <p:sp>
            <p:nvSpPr>
              <p:cNvPr id="221" name="Text Box 247">
                <a:extLst>
                  <a:ext uri="{FF2B5EF4-FFF2-40B4-BE49-F238E27FC236}">
                    <a16:creationId xmlns:a16="http://schemas.microsoft.com/office/drawing/2014/main" id="{1B32B252-D75C-EE47-9DF7-3388AC1F3230}"/>
                  </a:ext>
                </a:extLst>
              </p:cNvPr>
              <p:cNvSpPr txBox="1">
                <a:spLocks noChangeArrowheads="1"/>
              </p:cNvSpPr>
              <p:nvPr/>
            </p:nvSpPr>
            <p:spPr bwMode="auto">
              <a:xfrm>
                <a:off x="3583" y="1761"/>
                <a:ext cx="289"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Arial" charset="0"/>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Arial" charset="0"/>
                  </a:rPr>
                  <a:t>in</a:t>
                </a:r>
              </a:p>
            </p:txBody>
          </p:sp>
          <p:sp>
            <p:nvSpPr>
              <p:cNvPr id="222" name="Line 248">
                <a:extLst>
                  <a:ext uri="{FF2B5EF4-FFF2-40B4-BE49-F238E27FC236}">
                    <a16:creationId xmlns:a16="http://schemas.microsoft.com/office/drawing/2014/main" id="{069831FC-8BE0-BA42-967D-6C06BFB98533}"/>
                  </a:ext>
                </a:extLst>
              </p:cNvPr>
              <p:cNvSpPr>
                <a:spLocks noChangeShapeType="1"/>
              </p:cNvSpPr>
              <p:nvPr/>
            </p:nvSpPr>
            <p:spPr bwMode="auto">
              <a:xfrm flipV="1">
                <a:off x="3726" y="1834"/>
                <a:ext cx="24" cy="2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206" name="Line 278">
              <a:extLst>
                <a:ext uri="{FF2B5EF4-FFF2-40B4-BE49-F238E27FC236}">
                  <a16:creationId xmlns:a16="http://schemas.microsoft.com/office/drawing/2014/main" id="{79D305B3-2BB2-D449-B462-DEAABA8BAFCB}"/>
                </a:ext>
              </a:extLst>
            </p:cNvPr>
            <p:cNvSpPr>
              <a:spLocks noChangeShapeType="1"/>
            </p:cNvSpPr>
            <p:nvPr/>
          </p:nvSpPr>
          <p:spPr bwMode="auto">
            <a:xfrm>
              <a:off x="7965669" y="1200180"/>
              <a:ext cx="0" cy="215904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07" name="Line 280">
              <a:extLst>
                <a:ext uri="{FF2B5EF4-FFF2-40B4-BE49-F238E27FC236}">
                  <a16:creationId xmlns:a16="http://schemas.microsoft.com/office/drawing/2014/main" id="{06048882-9574-FC44-B8CF-F1DAC2D70473}"/>
                </a:ext>
              </a:extLst>
            </p:cNvPr>
            <p:cNvSpPr>
              <a:spLocks noChangeShapeType="1"/>
            </p:cNvSpPr>
            <p:nvPr/>
          </p:nvSpPr>
          <p:spPr bwMode="auto">
            <a:xfrm>
              <a:off x="9972557" y="1436494"/>
              <a:ext cx="0" cy="1869027"/>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08" name="Freeform 281">
              <a:extLst>
                <a:ext uri="{FF2B5EF4-FFF2-40B4-BE49-F238E27FC236}">
                  <a16:creationId xmlns:a16="http://schemas.microsoft.com/office/drawing/2014/main" id="{BF1363B2-F686-8742-8291-A19A05138F45}"/>
                </a:ext>
              </a:extLst>
            </p:cNvPr>
            <p:cNvSpPr>
              <a:spLocks/>
            </p:cNvSpPr>
            <p:nvPr/>
          </p:nvSpPr>
          <p:spPr bwMode="auto">
            <a:xfrm>
              <a:off x="7954426" y="1377415"/>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9" name="Line 282">
              <a:extLst>
                <a:ext uri="{FF2B5EF4-FFF2-40B4-BE49-F238E27FC236}">
                  <a16:creationId xmlns:a16="http://schemas.microsoft.com/office/drawing/2014/main" id="{F026FEA1-5290-6345-BCE2-778BE3958BA2}"/>
                </a:ext>
              </a:extLst>
            </p:cNvPr>
            <p:cNvSpPr>
              <a:spLocks noChangeShapeType="1"/>
            </p:cNvSpPr>
            <p:nvPr/>
          </p:nvSpPr>
          <p:spPr bwMode="auto">
            <a:xfrm>
              <a:off x="7819509" y="1377415"/>
              <a:ext cx="14053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0" name="Line 283">
              <a:extLst>
                <a:ext uri="{FF2B5EF4-FFF2-40B4-BE49-F238E27FC236}">
                  <a16:creationId xmlns:a16="http://schemas.microsoft.com/office/drawing/2014/main" id="{6915514F-CA67-4B49-A03C-EFE57672B7F1}"/>
                </a:ext>
              </a:extLst>
            </p:cNvPr>
            <p:cNvSpPr>
              <a:spLocks noChangeShapeType="1"/>
            </p:cNvSpPr>
            <p:nvPr/>
          </p:nvSpPr>
          <p:spPr bwMode="auto">
            <a:xfrm>
              <a:off x="9966936" y="3359228"/>
              <a:ext cx="0" cy="15575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11" name="Text Box 284">
              <a:extLst>
                <a:ext uri="{FF2B5EF4-FFF2-40B4-BE49-F238E27FC236}">
                  <a16:creationId xmlns:a16="http://schemas.microsoft.com/office/drawing/2014/main" id="{28C1A511-7077-0445-8960-2561706C38B7}"/>
                </a:ext>
              </a:extLst>
            </p:cNvPr>
            <p:cNvSpPr txBox="1">
              <a:spLocks noChangeArrowheads="1"/>
            </p:cNvSpPr>
            <p:nvPr/>
          </p:nvSpPr>
          <p:spPr bwMode="auto">
            <a:xfrm>
              <a:off x="7361453" y="1202894"/>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212" name="Text Box 286">
              <a:extLst>
                <a:ext uri="{FF2B5EF4-FFF2-40B4-BE49-F238E27FC236}">
                  <a16:creationId xmlns:a16="http://schemas.microsoft.com/office/drawing/2014/main" id="{4E3E2B16-E915-2341-A1DD-6D63A903AE3C}"/>
                </a:ext>
              </a:extLst>
            </p:cNvPr>
            <p:cNvSpPr txBox="1">
              <a:spLocks noChangeArrowheads="1"/>
            </p:cNvSpPr>
            <p:nvPr/>
          </p:nvSpPr>
          <p:spPr bwMode="auto">
            <a:xfrm rot="16200000">
              <a:off x="7391666" y="1332203"/>
              <a:ext cx="937199" cy="702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mn-cs"/>
                </a:rPr>
                <a:t>out</a:t>
              </a:r>
            </a:p>
          </p:txBody>
        </p:sp>
        <p:sp>
          <p:nvSpPr>
            <p:cNvPr id="213" name="Line 288">
              <a:extLst>
                <a:ext uri="{FF2B5EF4-FFF2-40B4-BE49-F238E27FC236}">
                  <a16:creationId xmlns:a16="http://schemas.microsoft.com/office/drawing/2014/main" id="{3DD586CE-CDF2-2743-B1D7-9277A7808AEB}"/>
                </a:ext>
              </a:extLst>
            </p:cNvPr>
            <p:cNvSpPr>
              <a:spLocks noChangeShapeType="1"/>
            </p:cNvSpPr>
            <p:nvPr/>
          </p:nvSpPr>
          <p:spPr bwMode="auto">
            <a:xfrm>
              <a:off x="7999399" y="1380101"/>
              <a:ext cx="1841053" cy="0"/>
            </a:xfrm>
            <a:prstGeom prst="line">
              <a:avLst/>
            </a:prstGeom>
            <a:noFill/>
            <a:ln w="12700">
              <a:solidFill>
                <a:schemeClr val="bg1">
                  <a:lumMod val="75000"/>
                </a:schemeClr>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cxnSp>
          <p:nvCxnSpPr>
            <p:cNvPr id="214" name="Straight Connector 213">
              <a:extLst>
                <a:ext uri="{FF2B5EF4-FFF2-40B4-BE49-F238E27FC236}">
                  <a16:creationId xmlns:a16="http://schemas.microsoft.com/office/drawing/2014/main" id="{E3464261-F9AD-6F4C-A531-9BA3554E8509}"/>
                </a:ext>
              </a:extLst>
            </p:cNvPr>
            <p:cNvCxnSpPr>
              <a:cxnSpLocks/>
            </p:cNvCxnSpPr>
            <p:nvPr/>
          </p:nvCxnSpPr>
          <p:spPr>
            <a:xfrm>
              <a:off x="7976136" y="3337560"/>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5" name="TextBox 214">
              <a:extLst>
                <a:ext uri="{FF2B5EF4-FFF2-40B4-BE49-F238E27FC236}">
                  <a16:creationId xmlns:a16="http://schemas.microsoft.com/office/drawing/2014/main" id="{9848139A-43C0-0442-A722-9A7D460705EC}"/>
                </a:ext>
              </a:extLst>
            </p:cNvPr>
            <p:cNvSpPr txBox="1"/>
            <p:nvPr/>
          </p:nvSpPr>
          <p:spPr>
            <a:xfrm rot="16200000">
              <a:off x="7139298" y="2419300"/>
              <a:ext cx="123450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throughput: </a:t>
              </a:r>
            </a:p>
          </p:txBody>
        </p:sp>
        <p:sp>
          <p:nvSpPr>
            <p:cNvPr id="217" name="Oval 216">
              <a:extLst>
                <a:ext uri="{FF2B5EF4-FFF2-40B4-BE49-F238E27FC236}">
                  <a16:creationId xmlns:a16="http://schemas.microsoft.com/office/drawing/2014/main" id="{8833EE11-7254-0440-A469-F4B411A23097}"/>
                </a:ext>
              </a:extLst>
            </p:cNvPr>
            <p:cNvSpPr/>
            <p:nvPr/>
          </p:nvSpPr>
          <p:spPr>
            <a:xfrm>
              <a:off x="9893835" y="1336842"/>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8" name="Text Box 285">
              <a:extLst>
                <a:ext uri="{FF2B5EF4-FFF2-40B4-BE49-F238E27FC236}">
                  <a16:creationId xmlns:a16="http://schemas.microsoft.com/office/drawing/2014/main" id="{A6A2982E-D69C-954A-AC9A-D8235E843BA1}"/>
                </a:ext>
              </a:extLst>
            </p:cNvPr>
            <p:cNvSpPr txBox="1">
              <a:spLocks noChangeArrowheads="1"/>
            </p:cNvSpPr>
            <p:nvPr/>
          </p:nvSpPr>
          <p:spPr bwMode="auto">
            <a:xfrm>
              <a:off x="9646716" y="3476057"/>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219" name="Oval 218">
              <a:extLst>
                <a:ext uri="{FF2B5EF4-FFF2-40B4-BE49-F238E27FC236}">
                  <a16:creationId xmlns:a16="http://schemas.microsoft.com/office/drawing/2014/main" id="{25F13CA3-6FA8-E041-9F3C-DDDB5B06C49D}"/>
                </a:ext>
              </a:extLst>
            </p:cNvPr>
            <p:cNvSpPr/>
            <p:nvPr/>
          </p:nvSpPr>
          <p:spPr>
            <a:xfrm>
              <a:off x="9912327" y="1689923"/>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0" name="Line 288">
              <a:extLst>
                <a:ext uri="{FF2B5EF4-FFF2-40B4-BE49-F238E27FC236}">
                  <a16:creationId xmlns:a16="http://schemas.microsoft.com/office/drawing/2014/main" id="{B5526BBD-BE65-A44F-AFCC-B97E4A3E4C6E}"/>
                </a:ext>
              </a:extLst>
            </p:cNvPr>
            <p:cNvSpPr>
              <a:spLocks noChangeShapeType="1"/>
            </p:cNvSpPr>
            <p:nvPr/>
          </p:nvSpPr>
          <p:spPr bwMode="auto">
            <a:xfrm>
              <a:off x="7960093" y="1773132"/>
              <a:ext cx="1975007" cy="0"/>
            </a:xfrm>
            <a:prstGeom prst="line">
              <a:avLst/>
            </a:prstGeom>
            <a:noFill/>
            <a:ln w="12700">
              <a:solidFill>
                <a:schemeClr val="bg1">
                  <a:lumMod val="75000"/>
                </a:schemeClr>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26" name="Oval 225">
              <a:extLst>
                <a:ext uri="{FF2B5EF4-FFF2-40B4-BE49-F238E27FC236}">
                  <a16:creationId xmlns:a16="http://schemas.microsoft.com/office/drawing/2014/main" id="{64497D25-845D-1D48-B421-413BFD02AFEB}"/>
                </a:ext>
              </a:extLst>
            </p:cNvPr>
            <p:cNvSpPr/>
            <p:nvPr/>
          </p:nvSpPr>
          <p:spPr>
            <a:xfrm>
              <a:off x="9908716" y="1920329"/>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7" name="Line 288">
              <a:extLst>
                <a:ext uri="{FF2B5EF4-FFF2-40B4-BE49-F238E27FC236}">
                  <a16:creationId xmlns:a16="http://schemas.microsoft.com/office/drawing/2014/main" id="{32428ACB-96BC-1046-A240-3A7DD1957B64}"/>
                </a:ext>
              </a:extLst>
            </p:cNvPr>
            <p:cNvSpPr>
              <a:spLocks noChangeShapeType="1"/>
            </p:cNvSpPr>
            <p:nvPr/>
          </p:nvSpPr>
          <p:spPr bwMode="auto">
            <a:xfrm>
              <a:off x="7995485" y="1986203"/>
              <a:ext cx="1975007"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190" name="Slide Number Placeholder 2">
            <a:extLst>
              <a:ext uri="{FF2B5EF4-FFF2-40B4-BE49-F238E27FC236}">
                <a16:creationId xmlns:a16="http://schemas.microsoft.com/office/drawing/2014/main" id="{78C896B7-6A68-6749-AF49-8349F653C917}"/>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42</a:t>
            </a:fld>
            <a:endParaRPr lang="en-US" dirty="0"/>
          </a:p>
        </p:txBody>
      </p:sp>
    </p:spTree>
    <p:extLst>
      <p:ext uri="{BB962C8B-B14F-4D97-AF65-F5344CB8AC3E}">
        <p14:creationId xmlns:p14="http://schemas.microsoft.com/office/powerpoint/2010/main" val="95739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dissolve">
                                      <p:cBhvr>
                                        <p:cTn id="7" dur="500"/>
                                        <p:tgtEl>
                                          <p:spTgt spid="235"/>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5 L -5.55556E-7 0.03542 " pathEditMode="relative" rAng="0" ptsTypes="AA">
                                      <p:cBhvr>
                                        <p:cTn id="10" dur="2000" fill="hold"/>
                                        <p:tgtEl>
                                          <p:spTgt spid="235"/>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236"/>
                                        </p:tgtEl>
                                        <p:attrNameLst>
                                          <p:attrName>style.visibility</p:attrName>
                                        </p:attrNameLst>
                                      </p:cBhvr>
                                      <p:to>
                                        <p:strVal val="visible"/>
                                      </p:to>
                                    </p:set>
                                    <p:animEffect transition="in" filter="dissolve">
                                      <p:cBhvr>
                                        <p:cTn id="14" dur="500"/>
                                        <p:tgtEl>
                                          <p:spTgt spid="23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7"/>
                                        </p:tgtEl>
                                        <p:attrNameLst>
                                          <p:attrName>style.visibility</p:attrName>
                                        </p:attrNameLst>
                                      </p:cBhvr>
                                      <p:to>
                                        <p:strVal val="visible"/>
                                      </p:to>
                                    </p:set>
                                    <p:animEffect transition="in" filter="dissolve">
                                      <p:cBhvr>
                                        <p:cTn id="17" dur="500"/>
                                        <p:tgtEl>
                                          <p:spTgt spid="237"/>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1.875E-6 0.03542 L 0.00039 0.17732 L 0.06446 0.17825 L 0.03503 0.24121 L 0.14544 0.24121 " pathEditMode="relative" rAng="0" ptsTypes="AAAAA">
                                      <p:cBhvr>
                                        <p:cTn id="20" dur="2000" fill="hold"/>
                                        <p:tgtEl>
                                          <p:spTgt spid="235"/>
                                        </p:tgtEl>
                                        <p:attrNameLst>
                                          <p:attrName>ppt_x</p:attrName>
                                          <p:attrName>ppt_y</p:attrName>
                                        </p:attrNameLst>
                                      </p:cBhvr>
                                      <p:rCtr x="7266" y="10278"/>
                                    </p:animMotion>
                                  </p:childTnLst>
                                </p:cTn>
                              </p:par>
                              <p:par>
                                <p:cTn id="21" presetID="9" presetClass="exit" presetSubtype="0" fill="hold" grpId="1" nodeType="withEffect">
                                  <p:stCondLst>
                                    <p:cond delay="0"/>
                                  </p:stCondLst>
                                  <p:childTnLst>
                                    <p:animEffect transition="out" filter="dissolve">
                                      <p:cBhvr>
                                        <p:cTn id="22" dur="500"/>
                                        <p:tgtEl>
                                          <p:spTgt spid="237"/>
                                        </p:tgtEl>
                                      </p:cBhvr>
                                    </p:animEffect>
                                    <p:set>
                                      <p:cBhvr>
                                        <p:cTn id="23" dur="1" fill="hold">
                                          <p:stCondLst>
                                            <p:cond delay="499"/>
                                          </p:stCondLst>
                                        </p:cTn>
                                        <p:tgtEl>
                                          <p:spTgt spid="237"/>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238"/>
                                        </p:tgtEl>
                                        <p:attrNameLst>
                                          <p:attrName>style.visibility</p:attrName>
                                        </p:attrNameLst>
                                      </p:cBhvr>
                                      <p:to>
                                        <p:strVal val="visible"/>
                                      </p:to>
                                    </p:set>
                                    <p:animEffect transition="in" filter="dissolve">
                                      <p:cBhvr>
                                        <p:cTn id="27" dur="500"/>
                                        <p:tgtEl>
                                          <p:spTgt spid="238"/>
                                        </p:tgtEl>
                                      </p:cBhvr>
                                    </p:animEffect>
                                  </p:childTnLst>
                                </p:cTn>
                              </p:par>
                            </p:childTnLst>
                          </p:cTn>
                        </p:par>
                        <p:par>
                          <p:cTn id="28" fill="hold">
                            <p:stCondLst>
                              <p:cond delay="5500"/>
                            </p:stCondLst>
                            <p:childTnLst>
                              <p:par>
                                <p:cTn id="29" presetID="0" presetClass="path" presetSubtype="0" accel="50000" decel="50000" fill="hold" grpId="3" nodeType="afterEffect">
                                  <p:stCondLst>
                                    <p:cond delay="0"/>
                                  </p:stCondLst>
                                  <p:childTnLst>
                                    <p:animMotion origin="layout" path="M 0.14544 0.24121 L 0.16641 0.24121 " pathEditMode="relative" rAng="0" ptsTypes="AA">
                                      <p:cBhvr>
                                        <p:cTn id="30" dur="3000" fill="hold"/>
                                        <p:tgtEl>
                                          <p:spTgt spid="235"/>
                                        </p:tgtEl>
                                        <p:attrNameLst>
                                          <p:attrName>ppt_x</p:attrName>
                                          <p:attrName>ppt_y</p:attrName>
                                        </p:attrNameLst>
                                      </p:cBhvr>
                                      <p:rCtr x="1042" y="0"/>
                                    </p:animMotion>
                                  </p:childTnLst>
                                </p:cTn>
                              </p:par>
                            </p:childTnLst>
                          </p:cTn>
                        </p:par>
                        <p:par>
                          <p:cTn id="31" fill="hold">
                            <p:stCondLst>
                              <p:cond delay="8500"/>
                            </p:stCondLst>
                            <p:childTnLst>
                              <p:par>
                                <p:cTn id="32" presetID="0" presetClass="path" presetSubtype="0" accel="50000" decel="50000" fill="hold" grpId="4" nodeType="afterEffect">
                                  <p:stCondLst>
                                    <p:cond delay="0"/>
                                  </p:stCondLst>
                                  <p:childTnLst>
                                    <p:animMotion origin="layout" path="M 0.18086 0.24051 L 0.23542 0.24051 L 0.26641 0.18125 " pathEditMode="relative" rAng="0" ptsTypes="AAA">
                                      <p:cBhvr>
                                        <p:cTn id="33" dur="2000" fill="hold"/>
                                        <p:tgtEl>
                                          <p:spTgt spid="235"/>
                                        </p:tgtEl>
                                        <p:attrNameLst>
                                          <p:attrName>ppt_x</p:attrName>
                                          <p:attrName>ppt_y</p:attrName>
                                        </p:attrNameLst>
                                      </p:cBhvr>
                                      <p:rCtr x="4271" y="-2963"/>
                                    </p:animMotion>
                                  </p:childTnLst>
                                </p:cTn>
                              </p:par>
                              <p:par>
                                <p:cTn id="34" presetID="9" presetClass="exit" presetSubtype="0" fill="hold" grpId="1" nodeType="withEffect">
                                  <p:stCondLst>
                                    <p:cond delay="0"/>
                                  </p:stCondLst>
                                  <p:childTnLst>
                                    <p:animEffect transition="out" filter="dissolve">
                                      <p:cBhvr>
                                        <p:cTn id="35" dur="500"/>
                                        <p:tgtEl>
                                          <p:spTgt spid="238"/>
                                        </p:tgtEl>
                                      </p:cBhvr>
                                    </p:animEffect>
                                    <p:set>
                                      <p:cBhvr>
                                        <p:cTn id="36" dur="1" fill="hold">
                                          <p:stCondLst>
                                            <p:cond delay="499"/>
                                          </p:stCondLst>
                                        </p:cTn>
                                        <p:tgtEl>
                                          <p:spTgt spid="238"/>
                                        </p:tgtEl>
                                        <p:attrNameLst>
                                          <p:attrName>style.visibility</p:attrName>
                                        </p:attrNameLst>
                                      </p:cBhvr>
                                      <p:to>
                                        <p:strVal val="hidden"/>
                                      </p:to>
                                    </p:set>
                                  </p:childTnLst>
                                </p:cTn>
                              </p:par>
                            </p:childTnLst>
                          </p:cTn>
                        </p:par>
                        <p:par>
                          <p:cTn id="37" fill="hold">
                            <p:stCondLst>
                              <p:cond delay="10500"/>
                            </p:stCondLst>
                            <p:childTnLst>
                              <p:par>
                                <p:cTn id="38" presetID="9" presetClass="entr" presetSubtype="0" fill="hold" nodeType="afterEffect">
                                  <p:stCondLst>
                                    <p:cond delay="0"/>
                                  </p:stCondLst>
                                  <p:childTnLst>
                                    <p:set>
                                      <p:cBhvr>
                                        <p:cTn id="39" dur="1" fill="hold">
                                          <p:stCondLst>
                                            <p:cond delay="0"/>
                                          </p:stCondLst>
                                        </p:cTn>
                                        <p:tgtEl>
                                          <p:spTgt spid="239"/>
                                        </p:tgtEl>
                                        <p:attrNameLst>
                                          <p:attrName>style.visibility</p:attrName>
                                        </p:attrNameLst>
                                      </p:cBhvr>
                                      <p:to>
                                        <p:strVal val="visible"/>
                                      </p:to>
                                    </p:set>
                                    <p:animEffect transition="in" filter="dissolve">
                                      <p:cBhvr>
                                        <p:cTn id="40" dur="500"/>
                                        <p:tgtEl>
                                          <p:spTgt spid="239"/>
                                        </p:tgtEl>
                                      </p:cBhvr>
                                    </p:animEffect>
                                  </p:childTnLst>
                                </p:cTn>
                              </p:par>
                            </p:childTnLst>
                          </p:cTn>
                        </p:par>
                        <p:par>
                          <p:cTn id="41" fill="hold">
                            <p:stCondLst>
                              <p:cond delay="11000"/>
                            </p:stCondLst>
                            <p:childTnLst>
                              <p:par>
                                <p:cTn id="42" presetID="0" presetClass="path" presetSubtype="0" accel="50000" decel="50000" fill="hold" grpId="5" nodeType="afterEffect">
                                  <p:stCondLst>
                                    <p:cond delay="0"/>
                                  </p:stCondLst>
                                  <p:childTnLst>
                                    <p:animMotion origin="layout" path="M 0.26641 0.18125 L 0.2806 0.15348 L 0.33229 0.15348 L 0.33138 0.0169 " pathEditMode="relative" rAng="0" ptsTypes="AAAA">
                                      <p:cBhvr>
                                        <p:cTn id="43" dur="2000" fill="hold"/>
                                        <p:tgtEl>
                                          <p:spTgt spid="235"/>
                                        </p:tgtEl>
                                        <p:attrNameLst>
                                          <p:attrName>ppt_x</p:attrName>
                                          <p:attrName>ppt_y</p:attrName>
                                        </p:attrNameLst>
                                      </p:cBhvr>
                                      <p:rCtr x="3294" y="-8218"/>
                                    </p:animMotion>
                                  </p:childTnLst>
                                </p:cTn>
                              </p:par>
                              <p:par>
                                <p:cTn id="44" presetID="9" presetClass="exit" presetSubtype="0" fill="hold" nodeType="withEffect">
                                  <p:stCondLst>
                                    <p:cond delay="0"/>
                                  </p:stCondLst>
                                  <p:childTnLst>
                                    <p:animEffect transition="out" filter="dissolve">
                                      <p:cBhvr>
                                        <p:cTn id="45" dur="500"/>
                                        <p:tgtEl>
                                          <p:spTgt spid="239"/>
                                        </p:tgtEl>
                                      </p:cBhvr>
                                    </p:animEffect>
                                    <p:set>
                                      <p:cBhvr>
                                        <p:cTn id="46" dur="1" fill="hold">
                                          <p:stCondLst>
                                            <p:cond delay="499"/>
                                          </p:stCondLst>
                                        </p:cTn>
                                        <p:tgtEl>
                                          <p:spTgt spid="239"/>
                                        </p:tgtEl>
                                        <p:attrNameLst>
                                          <p:attrName>style.visibility</p:attrName>
                                        </p:attrNameLst>
                                      </p:cBhvr>
                                      <p:to>
                                        <p:strVal val="hidden"/>
                                      </p:to>
                                    </p:set>
                                  </p:childTnLst>
                                </p:cTn>
                              </p:par>
                              <p:par>
                                <p:cTn id="47" presetID="0" presetClass="path" presetSubtype="0" accel="50000" decel="50000" fill="hold" grpId="1" nodeType="withEffect">
                                  <p:stCondLst>
                                    <p:cond delay="0"/>
                                  </p:stCondLst>
                                  <p:childTnLst>
                                    <p:animMotion origin="layout" path="M 1.45833E-6 -2.22222E-6 L 0.02565 -2.22222E-6 L 0.02734 0.14306 L 0.08476 0.14468 L 0.06094 0.20648 L 0.24844 0.20648 L 0.297 0.1169 L 0.35989 0.11852 L 0.35989 -0.01805 " pathEditMode="relative" rAng="0" ptsTypes="AAAAAAAAA">
                                      <p:cBhvr>
                                        <p:cTn id="48" dur="2000" fill="hold"/>
                                        <p:tgtEl>
                                          <p:spTgt spid="236"/>
                                        </p:tgtEl>
                                        <p:attrNameLst>
                                          <p:attrName>ppt_x</p:attrName>
                                          <p:attrName>ppt_y</p:attrName>
                                        </p:attrNameLst>
                                      </p:cBhvr>
                                      <p:rCtr x="17995" y="9421"/>
                                    </p:animMotion>
                                  </p:childTnLst>
                                </p:cTn>
                              </p:par>
                            </p:childTnLst>
                          </p:cTn>
                        </p:par>
                        <p:par>
                          <p:cTn id="49" fill="hold">
                            <p:stCondLst>
                              <p:cond delay="13000"/>
                            </p:stCondLst>
                            <p:childTnLst>
                              <p:par>
                                <p:cTn id="50" presetID="9" presetClass="exit" presetSubtype="0" fill="hold" grpId="6" nodeType="afterEffect">
                                  <p:stCondLst>
                                    <p:cond delay="0"/>
                                  </p:stCondLst>
                                  <p:childTnLst>
                                    <p:animEffect transition="out" filter="dissolve">
                                      <p:cBhvr>
                                        <p:cTn id="51" dur="500"/>
                                        <p:tgtEl>
                                          <p:spTgt spid="235"/>
                                        </p:tgtEl>
                                      </p:cBhvr>
                                    </p:animEffect>
                                    <p:set>
                                      <p:cBhvr>
                                        <p:cTn id="52" dur="1" fill="hold">
                                          <p:stCondLst>
                                            <p:cond delay="499"/>
                                          </p:stCondLst>
                                        </p:cTn>
                                        <p:tgtEl>
                                          <p:spTgt spid="23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dissolve">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dissolve">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dissolve">
                                      <p:cBhvr>
                                        <p:cTn id="6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animBg="1"/>
      <p:bldP spid="235" grpId="1" animBg="1"/>
      <p:bldP spid="235" grpId="2" animBg="1"/>
      <p:bldP spid="235" grpId="3" animBg="1"/>
      <p:bldP spid="235" grpId="4" animBg="1"/>
      <p:bldP spid="235" grpId="5" animBg="1"/>
      <p:bldP spid="235" grpId="6" animBg="1"/>
      <p:bldP spid="236" grpId="0" animBg="1"/>
      <p:bldP spid="236" grpId="1" animBg="1"/>
      <p:bldP spid="237" grpId="0"/>
      <p:bldP spid="237" grpId="1"/>
      <p:bldP spid="238" grpId="0"/>
      <p:bldP spid="238"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2</a:t>
            </a:r>
            <a:endParaRPr lang="en-US" sz="4400" b="0" dirty="0"/>
          </a:p>
        </p:txBody>
      </p:sp>
      <p:sp>
        <p:nvSpPr>
          <p:cNvPr id="173" name="Rectangle 261">
            <a:extLst>
              <a:ext uri="{FF2B5EF4-FFF2-40B4-BE49-F238E27FC236}">
                <a16:creationId xmlns:a16="http://schemas.microsoft.com/office/drawing/2014/main" id="{6AE69D83-2632-D345-B492-5CABD2230391}"/>
              </a:ext>
            </a:extLst>
          </p:cNvPr>
          <p:cNvSpPr>
            <a:spLocks noChangeArrowheads="1"/>
          </p:cNvSpPr>
          <p:nvPr/>
        </p:nvSpPr>
        <p:spPr bwMode="auto">
          <a:xfrm>
            <a:off x="1474555" y="3993105"/>
            <a:ext cx="9386733" cy="2159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ja-JP" sz="2800" b="0" i="0" u="none" strike="noStrike" kern="1200" cap="none" spc="0" normalizeH="0" baseline="0" noProof="0" dirty="0">
                <a:ln>
                  <a:noFill/>
                </a:ln>
                <a:solidFill>
                  <a:srgbClr val="CC0000"/>
                </a:solidFill>
                <a:effectLst/>
                <a:uLnTx/>
                <a:uFillTx/>
                <a:latin typeface="Calibri"/>
                <a:ea typeface="ＭＳ Ｐゴシック" panose="020B0600070205080204" pitchFamily="34" charset="-128"/>
                <a:cs typeface="+mn-cs"/>
              </a:rPr>
              <a:t>“costs” of congestion:</a:t>
            </a:r>
            <a:r>
              <a:rPr kumimoji="0" lang="en-US" altLang="ja-JP" sz="28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 </a:t>
            </a:r>
          </a:p>
          <a:p>
            <a:pPr marL="342900" marR="0" lvl="0" indent="-342900"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more work (retransmission) for given receiver </a:t>
            </a:r>
            <a:r>
              <a:rPr kumimoji="0" lang="en-US" altLang="ja-JP"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throughput</a:t>
            </a:r>
          </a:p>
          <a:p>
            <a:pPr marL="342900" marR="0" lvl="0" indent="-342900" algn="l" defTabSz="914400" rtl="0" eaLnBrk="1" fontAlgn="auto" latinLnBrk="0" hangingPunct="1">
              <a:lnSpc>
                <a:spcPct val="85000"/>
              </a:lnSpc>
              <a:spcBef>
                <a:spcPct val="20000"/>
              </a:spcBef>
              <a:spcAft>
                <a:spcPts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unneeded retransmissions: link carries multiple copies of a packet</a:t>
            </a:r>
          </a:p>
          <a:p>
            <a:pPr marL="685800" marR="0" lvl="1" indent="-228600" algn="l" defTabSz="914400" rtl="0" eaLnBrk="1" fontAlgn="auto" latinLnBrk="0" hangingPunct="1">
              <a:lnSpc>
                <a:spcPct val="85000"/>
              </a:lnSpc>
              <a:spcBef>
                <a:spcPct val="20000"/>
              </a:spcBef>
              <a:spcAft>
                <a:spcPts val="0"/>
              </a:spcAft>
              <a:buClr>
                <a:srgbClr val="000099"/>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a:ea typeface="ＭＳ Ｐゴシック" panose="020B0600070205080204" pitchFamily="34" charset="-128"/>
                <a:cs typeface="+mn-cs"/>
              </a:rPr>
              <a:t>decreasing maximum achievable throughput</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Char char="v"/>
              <a:tabLst/>
              <a:defRPr/>
            </a:pPr>
            <a:endPar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endParaRPr>
          </a:p>
        </p:txBody>
      </p:sp>
      <p:sp>
        <p:nvSpPr>
          <p:cNvPr id="40" name="Rectangle 281">
            <a:extLst>
              <a:ext uri="{FF2B5EF4-FFF2-40B4-BE49-F238E27FC236}">
                <a16:creationId xmlns:a16="http://schemas.microsoft.com/office/drawing/2014/main" id="{7AF2D119-126F-014B-83AA-56B122F05B2E}"/>
              </a:ext>
            </a:extLst>
          </p:cNvPr>
          <p:cNvSpPr>
            <a:spLocks noChangeArrowheads="1"/>
          </p:cNvSpPr>
          <p:nvPr/>
        </p:nvSpPr>
        <p:spPr bwMode="auto">
          <a:xfrm>
            <a:off x="768350" y="1252512"/>
            <a:ext cx="5939840" cy="20874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None/>
              <a:tabLst/>
              <a:defRPr/>
            </a:pPr>
            <a:r>
              <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Realistic scenario: </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un-needed</a:t>
            </a:r>
            <a:r>
              <a:rPr kumimoji="0" lang="en-US" sz="2800" b="0" i="0"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 </a:t>
            </a:r>
            <a:r>
              <a:rPr kumimoji="0" lang="en-US" sz="2800" b="0" i="1" u="none" strike="noStrike" kern="1200" cap="none" spc="0" normalizeH="0" baseline="0" noProof="0" dirty="0">
                <a:ln>
                  <a:noFill/>
                </a:ln>
                <a:solidFill>
                  <a:srgbClr val="CC0000"/>
                </a:solidFill>
                <a:effectLst/>
                <a:uLnTx/>
                <a:uFillTx/>
                <a:latin typeface="Calibri" panose="020F0502020204030204"/>
                <a:ea typeface="ＭＳ Ｐゴシック" charset="0"/>
                <a:cs typeface="+mn-cs"/>
              </a:rPr>
              <a:t>duplicates</a:t>
            </a:r>
            <a:endPar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413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packets can be lost, dropped at router due  to full buffers – requiring retransmissions</a:t>
            </a:r>
          </a:p>
          <a:p>
            <a:pPr marL="292100" marR="0" lvl="0" indent="-2413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but sender times can time out prematurely, sending </a:t>
            </a:r>
            <a:r>
              <a:rPr kumimoji="0" lang="en-US" sz="22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two</a:t>
            </a:r>
            <a:r>
              <a:rPr kumimoji="0" lang="en-US" sz="22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copies, </a:t>
            </a:r>
            <a:r>
              <a:rPr kumimoji="0" lang="en-US" sz="2200" b="0" i="1"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both</a:t>
            </a:r>
            <a:r>
              <a:rPr kumimoji="0" lang="en-US" sz="22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of which are delivered</a:t>
            </a: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grpSp>
        <p:nvGrpSpPr>
          <p:cNvPr id="41" name="Group 40">
            <a:extLst>
              <a:ext uri="{FF2B5EF4-FFF2-40B4-BE49-F238E27FC236}">
                <a16:creationId xmlns:a16="http://schemas.microsoft.com/office/drawing/2014/main" id="{6B7AE07C-3439-7545-A2C3-573952E4E75C}"/>
              </a:ext>
            </a:extLst>
          </p:cNvPr>
          <p:cNvGrpSpPr/>
          <p:nvPr/>
        </p:nvGrpSpPr>
        <p:grpSpPr>
          <a:xfrm>
            <a:off x="10022277" y="2256302"/>
            <a:ext cx="2018927" cy="1905034"/>
            <a:chOff x="10022277" y="2034920"/>
            <a:chExt cx="2018927" cy="1905034"/>
          </a:xfrm>
        </p:grpSpPr>
        <p:sp>
          <p:nvSpPr>
            <p:cNvPr id="42" name="Text Box 259">
              <a:extLst>
                <a:ext uri="{FF2B5EF4-FFF2-40B4-BE49-F238E27FC236}">
                  <a16:creationId xmlns:a16="http://schemas.microsoft.com/office/drawing/2014/main" id="{2AE9ED38-872D-1547-B74B-FA1C059CE888}"/>
                </a:ext>
              </a:extLst>
            </p:cNvPr>
            <p:cNvSpPr txBox="1">
              <a:spLocks noChangeArrowheads="1"/>
            </p:cNvSpPr>
            <p:nvPr/>
          </p:nvSpPr>
          <p:spPr bwMode="auto">
            <a:xfrm>
              <a:off x="10241280" y="2339516"/>
              <a:ext cx="1799924" cy="1600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when sending at R/2, some packets are retransmissions, including needed and </a:t>
              </a:r>
              <a:r>
                <a:rPr kumimoji="0" lang="en-US" sz="1400" b="0" i="1" u="none" strike="noStrike" kern="1200" cap="none" spc="0" normalizeH="0" baseline="0" noProof="0" dirty="0">
                  <a:ln>
                    <a:noFill/>
                  </a:ln>
                  <a:solidFill>
                    <a:srgbClr val="C00000"/>
                  </a:solidFill>
                  <a:effectLst/>
                  <a:uLnTx/>
                  <a:uFillTx/>
                  <a:latin typeface="Arial" charset="0"/>
                  <a:ea typeface="ＭＳ Ｐゴシック" charset="0"/>
                  <a:cs typeface="+mn-cs"/>
                </a:rPr>
                <a:t>un-needed</a:t>
              </a: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 duplicates, that are delivered!</a:t>
              </a:r>
            </a:p>
          </p:txBody>
        </p:sp>
        <p:sp>
          <p:nvSpPr>
            <p:cNvPr id="43" name="Line 253">
              <a:extLst>
                <a:ext uri="{FF2B5EF4-FFF2-40B4-BE49-F238E27FC236}">
                  <a16:creationId xmlns:a16="http://schemas.microsoft.com/office/drawing/2014/main" id="{302372ED-29BD-194D-AEA3-543827366E80}"/>
                </a:ext>
              </a:extLst>
            </p:cNvPr>
            <p:cNvSpPr>
              <a:spLocks noChangeShapeType="1"/>
            </p:cNvSpPr>
            <p:nvPr/>
          </p:nvSpPr>
          <p:spPr bwMode="auto">
            <a:xfrm flipH="1" flipV="1">
              <a:off x="10022277" y="2034920"/>
              <a:ext cx="423050" cy="35515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grpSp>
        <p:nvGrpSpPr>
          <p:cNvPr id="44" name="Group 43">
            <a:extLst>
              <a:ext uri="{FF2B5EF4-FFF2-40B4-BE49-F238E27FC236}">
                <a16:creationId xmlns:a16="http://schemas.microsoft.com/office/drawing/2014/main" id="{BE09E8EF-02E1-6F46-BE6F-8AF28BC68C97}"/>
              </a:ext>
            </a:extLst>
          </p:cNvPr>
          <p:cNvGrpSpPr/>
          <p:nvPr/>
        </p:nvGrpSpPr>
        <p:grpSpPr>
          <a:xfrm>
            <a:off x="10040109" y="1751513"/>
            <a:ext cx="1904433" cy="674031"/>
            <a:chOff x="10040109" y="1530131"/>
            <a:chExt cx="1904433" cy="674031"/>
          </a:xfrm>
        </p:grpSpPr>
        <p:sp>
          <p:nvSpPr>
            <p:cNvPr id="45" name="Text Box 252">
              <a:extLst>
                <a:ext uri="{FF2B5EF4-FFF2-40B4-BE49-F238E27FC236}">
                  <a16:creationId xmlns:a16="http://schemas.microsoft.com/office/drawing/2014/main" id="{6A8395FC-23AA-CB40-9968-49995B9FD415}"/>
                </a:ext>
              </a:extLst>
            </p:cNvPr>
            <p:cNvSpPr txBox="1">
              <a:spLocks noChangeArrowheads="1"/>
            </p:cNvSpPr>
            <p:nvPr/>
          </p:nvSpPr>
          <p:spPr bwMode="auto">
            <a:xfrm>
              <a:off x="10128951" y="1530131"/>
              <a:ext cx="1815591" cy="6740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“wasted” capacity due to un-needed retransmissions</a:t>
              </a:r>
            </a:p>
          </p:txBody>
        </p:sp>
        <p:sp>
          <p:nvSpPr>
            <p:cNvPr id="46" name="Right Brace 45">
              <a:extLst>
                <a:ext uri="{FF2B5EF4-FFF2-40B4-BE49-F238E27FC236}">
                  <a16:creationId xmlns:a16="http://schemas.microsoft.com/office/drawing/2014/main" id="{3BBD7799-5800-514D-86AF-59DCDFAD00C3}"/>
                </a:ext>
              </a:extLst>
            </p:cNvPr>
            <p:cNvSpPr/>
            <p:nvPr/>
          </p:nvSpPr>
          <p:spPr>
            <a:xfrm>
              <a:off x="10040109" y="1765940"/>
              <a:ext cx="144379" cy="223205"/>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47" name="Group 46">
            <a:extLst>
              <a:ext uri="{FF2B5EF4-FFF2-40B4-BE49-F238E27FC236}">
                <a16:creationId xmlns:a16="http://schemas.microsoft.com/office/drawing/2014/main" id="{6D112B15-760C-5944-93D0-8A37C930F004}"/>
              </a:ext>
            </a:extLst>
          </p:cNvPr>
          <p:cNvGrpSpPr/>
          <p:nvPr/>
        </p:nvGrpSpPr>
        <p:grpSpPr>
          <a:xfrm>
            <a:off x="7361453" y="1421562"/>
            <a:ext cx="3100386" cy="2791471"/>
            <a:chOff x="7361453" y="1200180"/>
            <a:chExt cx="3100386" cy="2791471"/>
          </a:xfrm>
        </p:grpSpPr>
        <p:sp>
          <p:nvSpPr>
            <p:cNvPr id="48" name="Freeform 245">
              <a:extLst>
                <a:ext uri="{FF2B5EF4-FFF2-40B4-BE49-F238E27FC236}">
                  <a16:creationId xmlns:a16="http://schemas.microsoft.com/office/drawing/2014/main" id="{56604969-6E93-9D4E-BD54-3ABD094C7342}"/>
                </a:ext>
              </a:extLst>
            </p:cNvPr>
            <p:cNvSpPr>
              <a:spLocks/>
            </p:cNvSpPr>
            <p:nvPr/>
          </p:nvSpPr>
          <p:spPr bwMode="auto">
            <a:xfrm>
              <a:off x="7958715" y="1967477"/>
              <a:ext cx="2024019" cy="1384114"/>
            </a:xfrm>
            <a:custGeom>
              <a:avLst/>
              <a:gdLst>
                <a:gd name="T0" fmla="*/ 0 w 1636"/>
                <a:gd name="T1" fmla="*/ 955 h 955"/>
                <a:gd name="T2" fmla="*/ 758 w 1636"/>
                <a:gd name="T3" fmla="*/ 246 h 955"/>
                <a:gd name="T4" fmla="*/ 1636 w 1636"/>
                <a:gd name="T5" fmla="*/ 7 h 955"/>
                <a:gd name="T6" fmla="*/ 0 60000 65536"/>
                <a:gd name="T7" fmla="*/ 0 60000 65536"/>
                <a:gd name="T8" fmla="*/ 0 60000 65536"/>
                <a:gd name="connsiteX0" fmla="*/ 0 w 6072"/>
                <a:gd name="connsiteY0" fmla="*/ 8862 h 8862"/>
                <a:gd name="connsiteX1" fmla="*/ 4633 w 6072"/>
                <a:gd name="connsiteY1" fmla="*/ 1438 h 8862"/>
                <a:gd name="connsiteX2" fmla="*/ 6072 w 6072"/>
                <a:gd name="connsiteY2" fmla="*/ 120 h 8862"/>
                <a:gd name="connsiteX0" fmla="*/ 0 w 10000"/>
                <a:gd name="connsiteY0" fmla="*/ 9865 h 9865"/>
                <a:gd name="connsiteX1" fmla="*/ 7630 w 10000"/>
                <a:gd name="connsiteY1" fmla="*/ 1488 h 9865"/>
                <a:gd name="connsiteX2" fmla="*/ 10000 w 10000"/>
                <a:gd name="connsiteY2" fmla="*/ 0 h 9865"/>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536 w 10000"/>
                <a:gd name="connsiteY1" fmla="*/ 1223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268" y="8586"/>
                    <a:pt x="4789" y="3077"/>
                    <a:pt x="6536" y="1223"/>
                  </a:cubicBezTo>
                  <a:cubicBezTo>
                    <a:pt x="7406" y="549"/>
                    <a:pt x="8333" y="126"/>
                    <a:pt x="10000" y="0"/>
                  </a:cubicBezTo>
                </a:path>
              </a:pathLst>
            </a:custGeom>
            <a:noFill/>
            <a:ln w="28575"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9" name="Group 246">
              <a:extLst>
                <a:ext uri="{FF2B5EF4-FFF2-40B4-BE49-F238E27FC236}">
                  <a16:creationId xmlns:a16="http://schemas.microsoft.com/office/drawing/2014/main" id="{A189611D-8FA6-F342-BD61-72FA3E8C1B4F}"/>
                </a:ext>
              </a:extLst>
            </p:cNvPr>
            <p:cNvGrpSpPr>
              <a:grpSpLocks/>
            </p:cNvGrpSpPr>
            <p:nvPr/>
          </p:nvGrpSpPr>
          <p:grpSpPr bwMode="auto">
            <a:xfrm>
              <a:off x="8776235" y="3317988"/>
              <a:ext cx="458788" cy="400051"/>
              <a:chOff x="3583" y="1761"/>
              <a:chExt cx="289" cy="252"/>
            </a:xfrm>
          </p:grpSpPr>
          <p:sp>
            <p:nvSpPr>
              <p:cNvPr id="66" name="Text Box 247">
                <a:extLst>
                  <a:ext uri="{FF2B5EF4-FFF2-40B4-BE49-F238E27FC236}">
                    <a16:creationId xmlns:a16="http://schemas.microsoft.com/office/drawing/2014/main" id="{AC89A5F8-BCE7-8D47-A01F-9B344BD272D0}"/>
                  </a:ext>
                </a:extLst>
              </p:cNvPr>
              <p:cNvSpPr txBox="1">
                <a:spLocks noChangeArrowheads="1"/>
              </p:cNvSpPr>
              <p:nvPr/>
            </p:nvSpPr>
            <p:spPr bwMode="auto">
              <a:xfrm>
                <a:off x="3583" y="1761"/>
                <a:ext cx="289"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Arial" charset="0"/>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Arial" charset="0"/>
                  </a:rPr>
                  <a:t>in</a:t>
                </a:r>
              </a:p>
            </p:txBody>
          </p:sp>
          <p:sp>
            <p:nvSpPr>
              <p:cNvPr id="67" name="Line 248">
                <a:extLst>
                  <a:ext uri="{FF2B5EF4-FFF2-40B4-BE49-F238E27FC236}">
                    <a16:creationId xmlns:a16="http://schemas.microsoft.com/office/drawing/2014/main" id="{133A846F-DD32-BE46-BC1E-FCEF489756D4}"/>
                  </a:ext>
                </a:extLst>
              </p:cNvPr>
              <p:cNvSpPr>
                <a:spLocks noChangeShapeType="1"/>
              </p:cNvSpPr>
              <p:nvPr/>
            </p:nvSpPr>
            <p:spPr bwMode="auto">
              <a:xfrm flipV="1">
                <a:off x="3726" y="1834"/>
                <a:ext cx="24" cy="24"/>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50" name="Line 278">
              <a:extLst>
                <a:ext uri="{FF2B5EF4-FFF2-40B4-BE49-F238E27FC236}">
                  <a16:creationId xmlns:a16="http://schemas.microsoft.com/office/drawing/2014/main" id="{B2180F82-DB0B-BA4F-B74F-C2A5839E0AEA}"/>
                </a:ext>
              </a:extLst>
            </p:cNvPr>
            <p:cNvSpPr>
              <a:spLocks noChangeShapeType="1"/>
            </p:cNvSpPr>
            <p:nvPr/>
          </p:nvSpPr>
          <p:spPr bwMode="auto">
            <a:xfrm>
              <a:off x="7965669" y="1200180"/>
              <a:ext cx="0" cy="215904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1" name="Line 280">
              <a:extLst>
                <a:ext uri="{FF2B5EF4-FFF2-40B4-BE49-F238E27FC236}">
                  <a16:creationId xmlns:a16="http://schemas.microsoft.com/office/drawing/2014/main" id="{1336F3E0-C2F4-B745-A742-6A3442BBC08E}"/>
                </a:ext>
              </a:extLst>
            </p:cNvPr>
            <p:cNvSpPr>
              <a:spLocks noChangeShapeType="1"/>
            </p:cNvSpPr>
            <p:nvPr/>
          </p:nvSpPr>
          <p:spPr bwMode="auto">
            <a:xfrm>
              <a:off x="9972557" y="1436494"/>
              <a:ext cx="0" cy="1869027"/>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2" name="Freeform 281">
              <a:extLst>
                <a:ext uri="{FF2B5EF4-FFF2-40B4-BE49-F238E27FC236}">
                  <a16:creationId xmlns:a16="http://schemas.microsoft.com/office/drawing/2014/main" id="{76483204-6679-0C46-979F-64F97B2FEA27}"/>
                </a:ext>
              </a:extLst>
            </p:cNvPr>
            <p:cNvSpPr>
              <a:spLocks/>
            </p:cNvSpPr>
            <p:nvPr/>
          </p:nvSpPr>
          <p:spPr bwMode="auto">
            <a:xfrm>
              <a:off x="7954426" y="1377415"/>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Line 282">
              <a:extLst>
                <a:ext uri="{FF2B5EF4-FFF2-40B4-BE49-F238E27FC236}">
                  <a16:creationId xmlns:a16="http://schemas.microsoft.com/office/drawing/2014/main" id="{BEE9156E-74A8-6943-94B3-7700EC034FCE}"/>
                </a:ext>
              </a:extLst>
            </p:cNvPr>
            <p:cNvSpPr>
              <a:spLocks noChangeShapeType="1"/>
            </p:cNvSpPr>
            <p:nvPr/>
          </p:nvSpPr>
          <p:spPr bwMode="auto">
            <a:xfrm>
              <a:off x="7819509" y="1377415"/>
              <a:ext cx="140538"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4" name="Line 283">
              <a:extLst>
                <a:ext uri="{FF2B5EF4-FFF2-40B4-BE49-F238E27FC236}">
                  <a16:creationId xmlns:a16="http://schemas.microsoft.com/office/drawing/2014/main" id="{5E6BFEC0-DE88-B94E-8423-A3D452830E31}"/>
                </a:ext>
              </a:extLst>
            </p:cNvPr>
            <p:cNvSpPr>
              <a:spLocks noChangeShapeType="1"/>
            </p:cNvSpPr>
            <p:nvPr/>
          </p:nvSpPr>
          <p:spPr bwMode="auto">
            <a:xfrm>
              <a:off x="9966936" y="3359228"/>
              <a:ext cx="0" cy="155752"/>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5" name="Text Box 284">
              <a:extLst>
                <a:ext uri="{FF2B5EF4-FFF2-40B4-BE49-F238E27FC236}">
                  <a16:creationId xmlns:a16="http://schemas.microsoft.com/office/drawing/2014/main" id="{100A63B1-F092-9049-BD5D-F838C3B7C4BE}"/>
                </a:ext>
              </a:extLst>
            </p:cNvPr>
            <p:cNvSpPr txBox="1">
              <a:spLocks noChangeArrowheads="1"/>
            </p:cNvSpPr>
            <p:nvPr/>
          </p:nvSpPr>
          <p:spPr bwMode="auto">
            <a:xfrm>
              <a:off x="7361453" y="1202894"/>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56" name="Text Box 286">
              <a:extLst>
                <a:ext uri="{FF2B5EF4-FFF2-40B4-BE49-F238E27FC236}">
                  <a16:creationId xmlns:a16="http://schemas.microsoft.com/office/drawing/2014/main" id="{7D1E47C8-D6ED-C94B-BC2F-5EAB5CEDE22F}"/>
                </a:ext>
              </a:extLst>
            </p:cNvPr>
            <p:cNvSpPr txBox="1">
              <a:spLocks noChangeArrowheads="1"/>
            </p:cNvSpPr>
            <p:nvPr/>
          </p:nvSpPr>
          <p:spPr bwMode="auto">
            <a:xfrm rot="16200000">
              <a:off x="7391666" y="1332203"/>
              <a:ext cx="937199" cy="7026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ymbol" charset="0"/>
                  <a:ea typeface="ＭＳ Ｐゴシック" charset="0"/>
                  <a:cs typeface="+mn-cs"/>
                </a:rPr>
                <a:t>l</a:t>
              </a:r>
              <a:r>
                <a:rPr kumimoji="0" lang="en-US" sz="2000" b="0" i="0" u="none" strike="noStrike" kern="1200" cap="none" spc="0" normalizeH="0" baseline="-25000" noProof="0" dirty="0">
                  <a:ln>
                    <a:noFill/>
                  </a:ln>
                  <a:solidFill>
                    <a:prstClr val="black"/>
                  </a:solidFill>
                  <a:effectLst/>
                  <a:uLnTx/>
                  <a:uFillTx/>
                  <a:latin typeface="Arial" charset="0"/>
                  <a:ea typeface="ＭＳ Ｐゴシック" charset="0"/>
                  <a:cs typeface="+mn-cs"/>
                </a:rPr>
                <a:t>out</a:t>
              </a:r>
            </a:p>
          </p:txBody>
        </p:sp>
        <p:sp>
          <p:nvSpPr>
            <p:cNvPr id="57" name="Line 288">
              <a:extLst>
                <a:ext uri="{FF2B5EF4-FFF2-40B4-BE49-F238E27FC236}">
                  <a16:creationId xmlns:a16="http://schemas.microsoft.com/office/drawing/2014/main" id="{0E2D5F21-D6F0-C540-A957-E688D74A8C7D}"/>
                </a:ext>
              </a:extLst>
            </p:cNvPr>
            <p:cNvSpPr>
              <a:spLocks noChangeShapeType="1"/>
            </p:cNvSpPr>
            <p:nvPr/>
          </p:nvSpPr>
          <p:spPr bwMode="auto">
            <a:xfrm>
              <a:off x="7999399" y="1380101"/>
              <a:ext cx="1841053" cy="0"/>
            </a:xfrm>
            <a:prstGeom prst="line">
              <a:avLst/>
            </a:prstGeom>
            <a:noFill/>
            <a:ln w="12700">
              <a:solidFill>
                <a:schemeClr val="bg1">
                  <a:lumMod val="75000"/>
                </a:schemeClr>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cxnSp>
          <p:nvCxnSpPr>
            <p:cNvPr id="58" name="Straight Connector 57">
              <a:extLst>
                <a:ext uri="{FF2B5EF4-FFF2-40B4-BE49-F238E27FC236}">
                  <a16:creationId xmlns:a16="http://schemas.microsoft.com/office/drawing/2014/main" id="{077CB1B6-2EC1-3F4E-98A5-C5243ED36777}"/>
                </a:ext>
              </a:extLst>
            </p:cNvPr>
            <p:cNvCxnSpPr>
              <a:cxnSpLocks/>
            </p:cNvCxnSpPr>
            <p:nvPr/>
          </p:nvCxnSpPr>
          <p:spPr>
            <a:xfrm>
              <a:off x="7976136" y="3337560"/>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678BBF6F-1BF2-E34A-BB63-6CE7DC7FAFC6}"/>
                </a:ext>
              </a:extLst>
            </p:cNvPr>
            <p:cNvSpPr txBox="1"/>
            <p:nvPr/>
          </p:nvSpPr>
          <p:spPr>
            <a:xfrm rot="16200000">
              <a:off x="7139298" y="2419300"/>
              <a:ext cx="123450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throughput: </a:t>
              </a:r>
            </a:p>
          </p:txBody>
        </p:sp>
        <p:sp>
          <p:nvSpPr>
            <p:cNvPr id="60" name="Oval 59">
              <a:extLst>
                <a:ext uri="{FF2B5EF4-FFF2-40B4-BE49-F238E27FC236}">
                  <a16:creationId xmlns:a16="http://schemas.microsoft.com/office/drawing/2014/main" id="{8E09E356-3ED0-0441-85EB-9F2DD26A2A2E}"/>
                </a:ext>
              </a:extLst>
            </p:cNvPr>
            <p:cNvSpPr/>
            <p:nvPr/>
          </p:nvSpPr>
          <p:spPr>
            <a:xfrm>
              <a:off x="9893835" y="1336842"/>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1" name="Text Box 285">
              <a:extLst>
                <a:ext uri="{FF2B5EF4-FFF2-40B4-BE49-F238E27FC236}">
                  <a16:creationId xmlns:a16="http://schemas.microsoft.com/office/drawing/2014/main" id="{B150A84A-761E-204D-92C1-25DEA63EEABD}"/>
                </a:ext>
              </a:extLst>
            </p:cNvPr>
            <p:cNvSpPr txBox="1">
              <a:spLocks noChangeArrowheads="1"/>
            </p:cNvSpPr>
            <p:nvPr/>
          </p:nvSpPr>
          <p:spPr bwMode="auto">
            <a:xfrm>
              <a:off x="9646716" y="3476057"/>
              <a:ext cx="815123" cy="5155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ahoma" charset="0"/>
                  <a:ea typeface="ＭＳ Ｐゴシック" charset="0"/>
                  <a:cs typeface="+mn-cs"/>
                </a:rPr>
                <a:t>R/2</a:t>
              </a:r>
            </a:p>
          </p:txBody>
        </p:sp>
        <p:sp>
          <p:nvSpPr>
            <p:cNvPr id="62" name="Oval 61">
              <a:extLst>
                <a:ext uri="{FF2B5EF4-FFF2-40B4-BE49-F238E27FC236}">
                  <a16:creationId xmlns:a16="http://schemas.microsoft.com/office/drawing/2014/main" id="{966E84B0-D850-A24D-AE64-115C19BE83C3}"/>
                </a:ext>
              </a:extLst>
            </p:cNvPr>
            <p:cNvSpPr/>
            <p:nvPr/>
          </p:nvSpPr>
          <p:spPr>
            <a:xfrm>
              <a:off x="9912327" y="1689923"/>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3" name="Line 288">
              <a:extLst>
                <a:ext uri="{FF2B5EF4-FFF2-40B4-BE49-F238E27FC236}">
                  <a16:creationId xmlns:a16="http://schemas.microsoft.com/office/drawing/2014/main" id="{AC507C50-A700-6544-8A0E-A27D638B5553}"/>
                </a:ext>
              </a:extLst>
            </p:cNvPr>
            <p:cNvSpPr>
              <a:spLocks noChangeShapeType="1"/>
            </p:cNvSpPr>
            <p:nvPr/>
          </p:nvSpPr>
          <p:spPr bwMode="auto">
            <a:xfrm>
              <a:off x="7960093" y="1773132"/>
              <a:ext cx="1975007" cy="0"/>
            </a:xfrm>
            <a:prstGeom prst="line">
              <a:avLst/>
            </a:prstGeom>
            <a:noFill/>
            <a:ln w="12700">
              <a:solidFill>
                <a:schemeClr val="bg1">
                  <a:lumMod val="75000"/>
                </a:schemeClr>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64" name="Oval 63">
              <a:extLst>
                <a:ext uri="{FF2B5EF4-FFF2-40B4-BE49-F238E27FC236}">
                  <a16:creationId xmlns:a16="http://schemas.microsoft.com/office/drawing/2014/main" id="{B951CECB-9FA3-0543-B003-2298FE867A0A}"/>
                </a:ext>
              </a:extLst>
            </p:cNvPr>
            <p:cNvSpPr/>
            <p:nvPr/>
          </p:nvSpPr>
          <p:spPr>
            <a:xfrm>
              <a:off x="9908716" y="1920329"/>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5" name="Line 288">
              <a:extLst>
                <a:ext uri="{FF2B5EF4-FFF2-40B4-BE49-F238E27FC236}">
                  <a16:creationId xmlns:a16="http://schemas.microsoft.com/office/drawing/2014/main" id="{EE8235DB-C263-4B47-8EDD-99EF35F83A65}"/>
                </a:ext>
              </a:extLst>
            </p:cNvPr>
            <p:cNvSpPr>
              <a:spLocks noChangeShapeType="1"/>
            </p:cNvSpPr>
            <p:nvPr/>
          </p:nvSpPr>
          <p:spPr bwMode="auto">
            <a:xfrm>
              <a:off x="7995485" y="1986203"/>
              <a:ext cx="1975007"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sp>
        <p:nvSpPr>
          <p:cNvPr id="32" name="Slide Number Placeholder 2">
            <a:extLst>
              <a:ext uri="{FF2B5EF4-FFF2-40B4-BE49-F238E27FC236}">
                <a16:creationId xmlns:a16="http://schemas.microsoft.com/office/drawing/2014/main" id="{684A97D3-F9E5-B54D-ACCA-432EDB0F25B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43</a:t>
            </a:fld>
            <a:endParaRPr lang="en-US" dirty="0"/>
          </a:p>
        </p:txBody>
      </p:sp>
    </p:spTree>
    <p:extLst>
      <p:ext uri="{BB962C8B-B14F-4D97-AF65-F5344CB8AC3E}">
        <p14:creationId xmlns:p14="http://schemas.microsoft.com/office/powerpoint/2010/main" val="105391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Freeform 354">
            <a:extLst>
              <a:ext uri="{FF2B5EF4-FFF2-40B4-BE49-F238E27FC236}">
                <a16:creationId xmlns:a16="http://schemas.microsoft.com/office/drawing/2014/main" id="{FA3A6278-DB89-0C41-A34C-36879DB1B579}"/>
              </a:ext>
            </a:extLst>
          </p:cNvPr>
          <p:cNvSpPr>
            <a:spLocks/>
          </p:cNvSpPr>
          <p:nvPr/>
        </p:nvSpPr>
        <p:spPr bwMode="auto">
          <a:xfrm flipH="1">
            <a:off x="3903164" y="3127613"/>
            <a:ext cx="169456" cy="104273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000 w 10000"/>
              <a:gd name="connsiteY0" fmla="*/ 9153 h 9200"/>
              <a:gd name="connsiteX1" fmla="*/ 1373 w 10000"/>
              <a:gd name="connsiteY1" fmla="*/ 0 h 9200"/>
              <a:gd name="connsiteX2" fmla="*/ 0 w 10000"/>
              <a:gd name="connsiteY2" fmla="*/ 8733 h 9200"/>
              <a:gd name="connsiteX3" fmla="*/ 5082 w 10000"/>
              <a:gd name="connsiteY3" fmla="*/ 9200 h 9200"/>
              <a:gd name="connsiteX4" fmla="*/ 10000 w 10000"/>
              <a:gd name="connsiteY4" fmla="*/ 9153 h 9200"/>
              <a:gd name="connsiteX0" fmla="*/ 8955 w 8955"/>
              <a:gd name="connsiteY0" fmla="*/ 9949 h 10000"/>
              <a:gd name="connsiteX1" fmla="*/ 328 w 8955"/>
              <a:gd name="connsiteY1" fmla="*/ 0 h 10000"/>
              <a:gd name="connsiteX2" fmla="*/ 0 w 8955"/>
              <a:gd name="connsiteY2" fmla="*/ 9416 h 10000"/>
              <a:gd name="connsiteX3" fmla="*/ 4037 w 8955"/>
              <a:gd name="connsiteY3" fmla="*/ 10000 h 10000"/>
              <a:gd name="connsiteX4" fmla="*/ 8955 w 8955"/>
              <a:gd name="connsiteY4" fmla="*/ 9949 h 10000"/>
              <a:gd name="connsiteX0" fmla="*/ 8000 w 8000"/>
              <a:gd name="connsiteY0" fmla="*/ 6998 h 10000"/>
              <a:gd name="connsiteX1" fmla="*/ 366 w 8000"/>
              <a:gd name="connsiteY1" fmla="*/ 0 h 10000"/>
              <a:gd name="connsiteX2" fmla="*/ 0 w 8000"/>
              <a:gd name="connsiteY2" fmla="*/ 9416 h 10000"/>
              <a:gd name="connsiteX3" fmla="*/ 4508 w 8000"/>
              <a:gd name="connsiteY3" fmla="*/ 10000 h 10000"/>
              <a:gd name="connsiteX4" fmla="*/ 8000 w 8000"/>
              <a:gd name="connsiteY4" fmla="*/ 6998 h 10000"/>
              <a:gd name="connsiteX0" fmla="*/ 10000 w 10000"/>
              <a:gd name="connsiteY0" fmla="*/ 6998 h 11173"/>
              <a:gd name="connsiteX1" fmla="*/ 458 w 10000"/>
              <a:gd name="connsiteY1" fmla="*/ 0 h 11173"/>
              <a:gd name="connsiteX2" fmla="*/ 0 w 10000"/>
              <a:gd name="connsiteY2" fmla="*/ 9416 h 11173"/>
              <a:gd name="connsiteX3" fmla="*/ 9177 w 10000"/>
              <a:gd name="connsiteY3" fmla="*/ 11173 h 11173"/>
              <a:gd name="connsiteX4" fmla="*/ 10000 w 10000"/>
              <a:gd name="connsiteY4" fmla="*/ 6998 h 11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173">
                <a:moveTo>
                  <a:pt x="10000" y="6998"/>
                </a:moveTo>
                <a:lnTo>
                  <a:pt x="458" y="0"/>
                </a:lnTo>
                <a:cubicBezTo>
                  <a:pt x="306" y="3139"/>
                  <a:pt x="153" y="6277"/>
                  <a:pt x="0" y="9416"/>
                </a:cubicBezTo>
                <a:lnTo>
                  <a:pt x="9177" y="11173"/>
                </a:lnTo>
                <a:lnTo>
                  <a:pt x="10000" y="699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35" name="Group 334">
            <a:extLst>
              <a:ext uri="{FF2B5EF4-FFF2-40B4-BE49-F238E27FC236}">
                <a16:creationId xmlns:a16="http://schemas.microsoft.com/office/drawing/2014/main" id="{F857C4E7-5B60-F84D-8BB4-B434B73070E5}"/>
              </a:ext>
            </a:extLst>
          </p:cNvPr>
          <p:cNvGrpSpPr/>
          <p:nvPr/>
        </p:nvGrpSpPr>
        <p:grpSpPr>
          <a:xfrm>
            <a:off x="4058150" y="3125879"/>
            <a:ext cx="616282" cy="869387"/>
            <a:chOff x="10910964" y="2513124"/>
            <a:chExt cx="586769" cy="904023"/>
          </a:xfrm>
        </p:grpSpPr>
        <p:sp>
          <p:nvSpPr>
            <p:cNvPr id="336" name="Rectangle 335">
              <a:extLst>
                <a:ext uri="{FF2B5EF4-FFF2-40B4-BE49-F238E27FC236}">
                  <a16:creationId xmlns:a16="http://schemas.microsoft.com/office/drawing/2014/main" id="{610F1877-CB6B-9747-B11C-1D34E3952E75}"/>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37" name="Straight Connector 336">
              <a:extLst>
                <a:ext uri="{FF2B5EF4-FFF2-40B4-BE49-F238E27FC236}">
                  <a16:creationId xmlns:a16="http://schemas.microsoft.com/office/drawing/2014/main" id="{5B5CE757-ACFF-904B-89A6-4D678ED16A4A}"/>
                </a:ext>
              </a:extLst>
            </p:cNvPr>
            <p:cNvCxnSpPr/>
            <p:nvPr/>
          </p:nvCxnSpPr>
          <p:spPr>
            <a:xfrm>
              <a:off x="10910964"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CC2F54B2-D68E-7042-8783-586E9687DE55}"/>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4BBC8FE7-5D92-904A-AD63-57FFEB272C6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397117FA-E151-5745-9EB1-3E245C911471}"/>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4" name="Freeform 350">
            <a:extLst>
              <a:ext uri="{FF2B5EF4-FFF2-40B4-BE49-F238E27FC236}">
                <a16:creationId xmlns:a16="http://schemas.microsoft.com/office/drawing/2014/main" id="{C5AF13C6-D475-8E42-B46E-37AE6E534B0E}"/>
              </a:ext>
            </a:extLst>
          </p:cNvPr>
          <p:cNvSpPr>
            <a:spLocks/>
          </p:cNvSpPr>
          <p:nvPr/>
        </p:nvSpPr>
        <p:spPr bwMode="auto">
          <a:xfrm flipH="1">
            <a:off x="1898724" y="5081691"/>
            <a:ext cx="195993" cy="100542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000 w 10000"/>
              <a:gd name="connsiteY0" fmla="*/ 9953 h 10444"/>
              <a:gd name="connsiteX1" fmla="*/ 328 w 10000"/>
              <a:gd name="connsiteY1" fmla="*/ 0 h 10444"/>
              <a:gd name="connsiteX2" fmla="*/ 0 w 10000"/>
              <a:gd name="connsiteY2" fmla="*/ 9533 h 10444"/>
              <a:gd name="connsiteX3" fmla="*/ 7177 w 10000"/>
              <a:gd name="connsiteY3" fmla="*/ 10444 h 10444"/>
              <a:gd name="connsiteX4" fmla="*/ 10000 w 10000"/>
              <a:gd name="connsiteY4" fmla="*/ 9953 h 10444"/>
              <a:gd name="connsiteX0" fmla="*/ 7715 w 7715"/>
              <a:gd name="connsiteY0" fmla="*/ 7822 h 10444"/>
              <a:gd name="connsiteX1" fmla="*/ 328 w 7715"/>
              <a:gd name="connsiteY1" fmla="*/ 0 h 10444"/>
              <a:gd name="connsiteX2" fmla="*/ 0 w 7715"/>
              <a:gd name="connsiteY2" fmla="*/ 9533 h 10444"/>
              <a:gd name="connsiteX3" fmla="*/ 7177 w 7715"/>
              <a:gd name="connsiteY3" fmla="*/ 10444 h 10444"/>
              <a:gd name="connsiteX4" fmla="*/ 7715 w 7715"/>
              <a:gd name="connsiteY4" fmla="*/ 7822 h 10444"/>
              <a:gd name="connsiteX0" fmla="*/ 10740 w 10740"/>
              <a:gd name="connsiteY0" fmla="*/ 7489 h 10000"/>
              <a:gd name="connsiteX1" fmla="*/ 1165 w 10740"/>
              <a:gd name="connsiteY1" fmla="*/ 0 h 10000"/>
              <a:gd name="connsiteX2" fmla="*/ 0 w 10740"/>
              <a:gd name="connsiteY2" fmla="*/ 8788 h 10000"/>
              <a:gd name="connsiteX3" fmla="*/ 10043 w 10740"/>
              <a:gd name="connsiteY3" fmla="*/ 10000 h 10000"/>
              <a:gd name="connsiteX4" fmla="*/ 10740 w 10740"/>
              <a:gd name="connsiteY4" fmla="*/ 7489 h 10000"/>
              <a:gd name="connsiteX0" fmla="*/ 10740 w 10740"/>
              <a:gd name="connsiteY0" fmla="*/ 6979 h 9490"/>
              <a:gd name="connsiteX1" fmla="*/ 424 w 10740"/>
              <a:gd name="connsiteY1" fmla="*/ 0 h 9490"/>
              <a:gd name="connsiteX2" fmla="*/ 0 w 10740"/>
              <a:gd name="connsiteY2" fmla="*/ 8278 h 9490"/>
              <a:gd name="connsiteX3" fmla="*/ 10043 w 10740"/>
              <a:gd name="connsiteY3" fmla="*/ 9490 h 9490"/>
              <a:gd name="connsiteX4" fmla="*/ 10740 w 10740"/>
              <a:gd name="connsiteY4" fmla="*/ 6979 h 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0" h="9490">
                <a:moveTo>
                  <a:pt x="10740" y="6979"/>
                </a:moveTo>
                <a:lnTo>
                  <a:pt x="424" y="0"/>
                </a:lnTo>
                <a:cubicBezTo>
                  <a:pt x="283" y="3043"/>
                  <a:pt x="141" y="5235"/>
                  <a:pt x="0" y="8278"/>
                </a:cubicBezTo>
                <a:lnTo>
                  <a:pt x="10043" y="9490"/>
                </a:lnTo>
                <a:lnTo>
                  <a:pt x="10740" y="6979"/>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29" name="Group 328">
            <a:extLst>
              <a:ext uri="{FF2B5EF4-FFF2-40B4-BE49-F238E27FC236}">
                <a16:creationId xmlns:a16="http://schemas.microsoft.com/office/drawing/2014/main" id="{2DB461A9-F46E-8749-BF51-45E92AA6339A}"/>
              </a:ext>
            </a:extLst>
          </p:cNvPr>
          <p:cNvGrpSpPr/>
          <p:nvPr/>
        </p:nvGrpSpPr>
        <p:grpSpPr>
          <a:xfrm>
            <a:off x="2080082" y="5084889"/>
            <a:ext cx="616282" cy="869387"/>
            <a:chOff x="10910964" y="2513124"/>
            <a:chExt cx="586769" cy="904023"/>
          </a:xfrm>
        </p:grpSpPr>
        <p:sp>
          <p:nvSpPr>
            <p:cNvPr id="330" name="Rectangle 329">
              <a:extLst>
                <a:ext uri="{FF2B5EF4-FFF2-40B4-BE49-F238E27FC236}">
                  <a16:creationId xmlns:a16="http://schemas.microsoft.com/office/drawing/2014/main" id="{7D39F858-8BB0-A642-89CC-2F019B33E69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31" name="Straight Connector 330">
              <a:extLst>
                <a:ext uri="{FF2B5EF4-FFF2-40B4-BE49-F238E27FC236}">
                  <a16:creationId xmlns:a16="http://schemas.microsoft.com/office/drawing/2014/main" id="{B201F6E9-50D4-2949-B445-79D78C6E2F8A}"/>
                </a:ext>
              </a:extLst>
            </p:cNvPr>
            <p:cNvCxnSpPr/>
            <p:nvPr/>
          </p:nvCxnSpPr>
          <p:spPr>
            <a:xfrm>
              <a:off x="10910964"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CED38CC1-6A45-214C-BEAA-3AA92EF8440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55F19835-EB3A-3D40-8C3C-0E365455DD32}"/>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F1796FFE-1845-5840-8B13-398696D75E0E}"/>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5" name="Freeform 347">
            <a:extLst>
              <a:ext uri="{FF2B5EF4-FFF2-40B4-BE49-F238E27FC236}">
                <a16:creationId xmlns:a16="http://schemas.microsoft.com/office/drawing/2014/main" id="{84CB63DB-E546-6447-B0B5-8E43F3CC8290}"/>
              </a:ext>
            </a:extLst>
          </p:cNvPr>
          <p:cNvSpPr>
            <a:spLocks/>
          </p:cNvSpPr>
          <p:nvPr/>
        </p:nvSpPr>
        <p:spPr bwMode="auto">
          <a:xfrm>
            <a:off x="8102599" y="5226097"/>
            <a:ext cx="168983" cy="112254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000 w 10000"/>
              <a:gd name="connsiteY0" fmla="*/ 9953 h 11066"/>
              <a:gd name="connsiteX1" fmla="*/ 328 w 10000"/>
              <a:gd name="connsiteY1" fmla="*/ 0 h 11066"/>
              <a:gd name="connsiteX2" fmla="*/ 0 w 10000"/>
              <a:gd name="connsiteY2" fmla="*/ 9533 h 11066"/>
              <a:gd name="connsiteX3" fmla="*/ 6605 w 10000"/>
              <a:gd name="connsiteY3" fmla="*/ 11066 h 11066"/>
              <a:gd name="connsiteX4" fmla="*/ 10000 w 10000"/>
              <a:gd name="connsiteY4" fmla="*/ 9953 h 11066"/>
              <a:gd name="connsiteX0" fmla="*/ 7144 w 7144"/>
              <a:gd name="connsiteY0" fmla="*/ 7022 h 11066"/>
              <a:gd name="connsiteX1" fmla="*/ 328 w 7144"/>
              <a:gd name="connsiteY1" fmla="*/ 0 h 11066"/>
              <a:gd name="connsiteX2" fmla="*/ 0 w 7144"/>
              <a:gd name="connsiteY2" fmla="*/ 9533 h 11066"/>
              <a:gd name="connsiteX3" fmla="*/ 6605 w 7144"/>
              <a:gd name="connsiteY3" fmla="*/ 11066 h 11066"/>
              <a:gd name="connsiteX4" fmla="*/ 7144 w 7144"/>
              <a:gd name="connsiteY4" fmla="*/ 7022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4" h="11066">
                <a:moveTo>
                  <a:pt x="7144" y="7022"/>
                </a:moveTo>
                <a:lnTo>
                  <a:pt x="328" y="0"/>
                </a:lnTo>
                <a:cubicBezTo>
                  <a:pt x="219" y="3178"/>
                  <a:pt x="109" y="6355"/>
                  <a:pt x="0" y="9533"/>
                </a:cubicBezTo>
                <a:lnTo>
                  <a:pt x="6605" y="11066"/>
                </a:lnTo>
                <a:cubicBezTo>
                  <a:pt x="6785" y="9718"/>
                  <a:pt x="6964" y="8370"/>
                  <a:pt x="7144" y="7022"/>
                </a:cubicBez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23" name="Group 322">
            <a:extLst>
              <a:ext uri="{FF2B5EF4-FFF2-40B4-BE49-F238E27FC236}">
                <a16:creationId xmlns:a16="http://schemas.microsoft.com/office/drawing/2014/main" id="{EECEBAA5-183F-9943-8745-DBAE2D8B7061}"/>
              </a:ext>
            </a:extLst>
          </p:cNvPr>
          <p:cNvGrpSpPr/>
          <p:nvPr/>
        </p:nvGrpSpPr>
        <p:grpSpPr>
          <a:xfrm>
            <a:off x="7504175" y="5297345"/>
            <a:ext cx="616281" cy="869387"/>
            <a:chOff x="10910965" y="2513124"/>
            <a:chExt cx="586768" cy="904023"/>
          </a:xfrm>
        </p:grpSpPr>
        <p:sp>
          <p:nvSpPr>
            <p:cNvPr id="324" name="Rectangle 323">
              <a:extLst>
                <a:ext uri="{FF2B5EF4-FFF2-40B4-BE49-F238E27FC236}">
                  <a16:creationId xmlns:a16="http://schemas.microsoft.com/office/drawing/2014/main" id="{9D6A6B6B-5FD6-2346-A3EE-BD1582FAB001}"/>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25" name="Straight Connector 324">
              <a:extLst>
                <a:ext uri="{FF2B5EF4-FFF2-40B4-BE49-F238E27FC236}">
                  <a16:creationId xmlns:a16="http://schemas.microsoft.com/office/drawing/2014/main" id="{0F3D8B01-03BD-E34A-BAFB-7952B32F927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0BDB3107-533F-3542-94CF-BC06F61D2FD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64DC87E4-F7BE-8A4B-91C3-596857C5FB13}"/>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77C12250-985A-8B45-B946-123BAC2C8B7B}"/>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6" name="Freeform 344">
            <a:extLst>
              <a:ext uri="{FF2B5EF4-FFF2-40B4-BE49-F238E27FC236}">
                <a16:creationId xmlns:a16="http://schemas.microsoft.com/office/drawing/2014/main" id="{F7EB3EDB-2BCE-F949-BF32-4926B0702E72}"/>
              </a:ext>
            </a:extLst>
          </p:cNvPr>
          <p:cNvSpPr>
            <a:spLocks/>
          </p:cNvSpPr>
          <p:nvPr/>
        </p:nvSpPr>
        <p:spPr bwMode="auto">
          <a:xfrm>
            <a:off x="8572023" y="3216064"/>
            <a:ext cx="223031" cy="124417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9429 w 9429"/>
              <a:gd name="connsiteY0" fmla="*/ 8488 h 10000"/>
              <a:gd name="connsiteX1" fmla="*/ 328 w 9429"/>
              <a:gd name="connsiteY1" fmla="*/ 0 h 10000"/>
              <a:gd name="connsiteX2" fmla="*/ 0 w 9429"/>
              <a:gd name="connsiteY2" fmla="*/ 9533 h 10000"/>
              <a:gd name="connsiteX3" fmla="*/ 5082 w 9429"/>
              <a:gd name="connsiteY3" fmla="*/ 10000 h 10000"/>
              <a:gd name="connsiteX4" fmla="*/ 9429 w 9429"/>
              <a:gd name="connsiteY4" fmla="*/ 8488 h 10000"/>
              <a:gd name="connsiteX0" fmla="*/ 10000 w 10000"/>
              <a:gd name="connsiteY0" fmla="*/ 8488 h 12265"/>
              <a:gd name="connsiteX1" fmla="*/ 348 w 10000"/>
              <a:gd name="connsiteY1" fmla="*/ 0 h 12265"/>
              <a:gd name="connsiteX2" fmla="*/ 0 w 10000"/>
              <a:gd name="connsiteY2" fmla="*/ 9533 h 12265"/>
              <a:gd name="connsiteX3" fmla="*/ 9025 w 10000"/>
              <a:gd name="connsiteY3" fmla="*/ 12265 h 12265"/>
              <a:gd name="connsiteX4" fmla="*/ 10000 w 10000"/>
              <a:gd name="connsiteY4" fmla="*/ 8488 h 12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265">
                <a:moveTo>
                  <a:pt x="10000" y="8488"/>
                </a:moveTo>
                <a:lnTo>
                  <a:pt x="348" y="0"/>
                </a:lnTo>
                <a:lnTo>
                  <a:pt x="0" y="9533"/>
                </a:lnTo>
                <a:lnTo>
                  <a:pt x="9025" y="12265"/>
                </a:lnTo>
                <a:lnTo>
                  <a:pt x="10000" y="848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3</a:t>
            </a:r>
            <a:endParaRPr lang="en-US" sz="4400" b="0" dirty="0"/>
          </a:p>
        </p:txBody>
      </p:sp>
      <p:sp>
        <p:nvSpPr>
          <p:cNvPr id="173" name="Rectangle 3">
            <a:extLst>
              <a:ext uri="{FF2B5EF4-FFF2-40B4-BE49-F238E27FC236}">
                <a16:creationId xmlns:a16="http://schemas.microsoft.com/office/drawing/2014/main" id="{99753E1D-5DEC-E947-8B37-6AF7D72D62A8}"/>
              </a:ext>
            </a:extLst>
          </p:cNvPr>
          <p:cNvSpPr txBox="1">
            <a:spLocks noChangeArrowheads="1"/>
          </p:cNvSpPr>
          <p:nvPr/>
        </p:nvSpPr>
        <p:spPr>
          <a:xfrm>
            <a:off x="936625" y="1320799"/>
            <a:ext cx="3787775" cy="124777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four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multi-hop</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paths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timeout/retransmit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Rectangle 7">
            <a:extLst>
              <a:ext uri="{FF2B5EF4-FFF2-40B4-BE49-F238E27FC236}">
                <a16:creationId xmlns:a16="http://schemas.microsoft.com/office/drawing/2014/main" id="{2D1E8573-2F28-9941-A79E-BF2F04742572}"/>
              </a:ext>
            </a:extLst>
          </p:cNvPr>
          <p:cNvSpPr>
            <a:spLocks noChangeArrowheads="1"/>
          </p:cNvSpPr>
          <p:nvPr/>
        </p:nvSpPr>
        <p:spPr bwMode="auto">
          <a:xfrm>
            <a:off x="4733925" y="1273175"/>
            <a:ext cx="6264275" cy="526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sng"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what happens as </a:t>
            </a:r>
            <a:r>
              <a:rPr kumimoji="0" lang="en-US" altLang="en-US" sz="2400" b="0" i="0" u="none" strike="noStrike" kern="1200" cap="none" spc="0" normalizeH="0" baseline="0" noProof="0" dirty="0">
                <a:ln>
                  <a:noFill/>
                </a:ln>
                <a:solidFill>
                  <a:srgbClr val="CC0000"/>
                </a:solidFill>
                <a:effectLst/>
                <a:uLnTx/>
                <a:uFillTx/>
                <a:latin typeface="Symbol" pitchFamily="2" charset="2"/>
                <a:ea typeface="ＭＳ Ｐゴシック" panose="020B0600070205080204" pitchFamily="34" charset="-128"/>
                <a:cs typeface="+mn-cs"/>
              </a:rPr>
              <a:t>l</a:t>
            </a:r>
            <a:r>
              <a:rPr kumimoji="0" lang="en-US" altLang="en-US" sz="2400" b="0" i="0" u="none" strike="noStrike" kern="1200" cap="none" spc="0" normalizeH="0" baseline="-25000" noProof="0" dirty="0">
                <a:ln>
                  <a:noFill/>
                </a:ln>
                <a:solidFill>
                  <a:srgbClr val="CC0000"/>
                </a:solidFill>
                <a:effectLst/>
                <a:uLnTx/>
                <a:uFillTx/>
                <a:latin typeface="Gill Sans MT" panose="020B0502020104020203" pitchFamily="34" charset="77"/>
                <a:ea typeface="ＭＳ Ｐゴシック" panose="020B0600070205080204" pitchFamily="34" charset="-128"/>
                <a:cs typeface="+mn-cs"/>
              </a:rPr>
              <a:t>in</a:t>
            </a:r>
            <a:r>
              <a:rPr kumimoji="0" lang="en-US" altLang="en-US" sz="2400" b="0" i="0" u="none" strike="noStrike" kern="1200" cap="none" spc="0" normalizeH="0" baseline="0" noProof="0" dirty="0">
                <a:ln>
                  <a:noFill/>
                </a:ln>
                <a:solidFill>
                  <a:srgbClr val="CC0000"/>
                </a:solidFill>
                <a:effectLst/>
                <a:uLnTx/>
                <a:uFillTx/>
                <a:latin typeface="Gill Sans MT" panose="020B0502020104020203" pitchFamily="34" charset="77"/>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and</a:t>
            </a:r>
            <a:r>
              <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srgbClr val="CC0000"/>
                </a:solidFill>
                <a:effectLst/>
                <a:uLnTx/>
                <a:uFillTx/>
                <a:latin typeface="Symbol" pitchFamily="2" charset="2"/>
                <a:ea typeface="ＭＳ Ｐゴシック" panose="020B0600070205080204" pitchFamily="34" charset="-128"/>
                <a:cs typeface="+mn-cs"/>
              </a:rPr>
              <a:t>l</a:t>
            </a:r>
            <a:r>
              <a:rPr kumimoji="0" lang="en-US" altLang="en-US" sz="2400" b="0" i="0" u="none" strike="noStrike" kern="1200" cap="none" spc="0" normalizeH="0" baseline="-25000" noProof="0" dirty="0">
                <a:ln>
                  <a:noFill/>
                </a:ln>
                <a:solidFill>
                  <a:srgbClr val="CC0000"/>
                </a:solidFill>
                <a:effectLst/>
                <a:uLnTx/>
                <a:uFillTx/>
                <a:latin typeface="Gill Sans MT" panose="020B0502020104020203" pitchFamily="34" charset="77"/>
                <a:ea typeface="ＭＳ Ｐゴシック" panose="020B0600070205080204" pitchFamily="34" charset="-128"/>
                <a:cs typeface="+mn-cs"/>
              </a:rPr>
              <a:t>in</a:t>
            </a:r>
            <a:r>
              <a:rPr kumimoji="0" lang="ja-JP" altLang="en-US" sz="2400" b="1" i="0" u="none" strike="noStrike" kern="1200" cap="none" spc="0" normalizeH="0" baseline="30000" noProof="0">
                <a:ln>
                  <a:noFill/>
                </a:ln>
                <a:solidFill>
                  <a:srgbClr val="CC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ja-JP"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rPr>
              <a:t>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increase ?</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76" name="Rectangle 356">
            <a:extLst>
              <a:ext uri="{FF2B5EF4-FFF2-40B4-BE49-F238E27FC236}">
                <a16:creationId xmlns:a16="http://schemas.microsoft.com/office/drawing/2014/main" id="{F4C88F76-884B-3642-8A4C-9AF73E19454E}"/>
              </a:ext>
            </a:extLst>
          </p:cNvPr>
          <p:cNvSpPr>
            <a:spLocks noChangeArrowheads="1"/>
          </p:cNvSpPr>
          <p:nvPr/>
        </p:nvSpPr>
        <p:spPr bwMode="auto">
          <a:xfrm>
            <a:off x="4764261" y="1804940"/>
            <a:ext cx="6994525" cy="106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sng"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A:</a:t>
            </a:r>
            <a:r>
              <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as red  </a:t>
            </a:r>
            <a:r>
              <a:rPr kumimoji="0" lang="en-US" altLang="en-US" sz="2400" b="0" i="0" u="none" strike="noStrike" kern="1200" cap="none" spc="0" normalizeH="0" baseline="0" noProof="0" dirty="0">
                <a:ln>
                  <a:noFill/>
                </a:ln>
                <a:solidFill>
                  <a:srgbClr val="CC0000"/>
                </a:solidFill>
                <a:effectLst/>
                <a:uLnTx/>
                <a:uFillTx/>
                <a:latin typeface="Symbol" pitchFamily="2" charset="2"/>
                <a:ea typeface="ＭＳ Ｐゴシック" panose="020B0600070205080204" pitchFamily="34" charset="-128"/>
                <a:cs typeface="+mn-cs"/>
              </a:rPr>
              <a:t>l</a:t>
            </a:r>
            <a:r>
              <a:rPr kumimoji="0" lang="en-US" altLang="en-US" sz="2400" b="0" i="0" u="none" strike="noStrike" kern="1200" cap="none" spc="0" normalizeH="0" baseline="-25000" noProof="0" dirty="0">
                <a:ln>
                  <a:noFill/>
                </a:ln>
                <a:solidFill>
                  <a:srgbClr val="CC0000"/>
                </a:solidFill>
                <a:effectLst/>
                <a:uLnTx/>
                <a:uFillTx/>
                <a:latin typeface="Gill Sans MT" panose="020B0502020104020203" pitchFamily="34" charset="77"/>
                <a:ea typeface="ＭＳ Ｐゴシック" panose="020B0600070205080204" pitchFamily="34" charset="-128"/>
                <a:cs typeface="+mn-cs"/>
              </a:rPr>
              <a:t>in</a:t>
            </a:r>
            <a:r>
              <a:rPr kumimoji="0" lang="ja-JP" altLang="en-US" sz="2400" b="0" i="0" u="none" strike="noStrike" kern="1200" cap="none" spc="0" normalizeH="0" baseline="30000" noProof="0">
                <a:ln>
                  <a:noFill/>
                </a:ln>
                <a:solidFill>
                  <a:srgbClr val="CC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ja-JP"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increases, all arriving blue pkts at upper queue are dropped, blue throughput </a:t>
            </a:r>
            <a:r>
              <a:rPr kumimoji="0" lang="en-US" altLang="ja-JP" sz="2400" b="0" i="0" u="none" strike="noStrike" kern="1200" cap="none" spc="0" normalizeH="0" baseline="0" noProof="0" dirty="0">
                <a:ln>
                  <a:noFill/>
                </a:ln>
                <a:solidFill>
                  <a:prstClr val="black"/>
                </a:solidFill>
                <a:effectLst/>
                <a:uLnTx/>
                <a:uFillTx/>
                <a:latin typeface="Wingdings 3" pitchFamily="2" charset="2"/>
                <a:ea typeface="ＭＳ Ｐゴシック" panose="020B0600070205080204" pitchFamily="34" charset="-128"/>
                <a:cs typeface="+mn-cs"/>
              </a:rPr>
              <a:t>g</a:t>
            </a:r>
            <a:r>
              <a:rPr kumimoji="0" lang="en-US" altLang="ja-JP"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rPr>
              <a:t> </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0</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1036" name="Group 1035">
            <a:extLst>
              <a:ext uri="{FF2B5EF4-FFF2-40B4-BE49-F238E27FC236}">
                <a16:creationId xmlns:a16="http://schemas.microsoft.com/office/drawing/2014/main" id="{1590867D-F685-4246-ABDB-FB690B552C22}"/>
              </a:ext>
            </a:extLst>
          </p:cNvPr>
          <p:cNvGrpSpPr/>
          <p:nvPr/>
        </p:nvGrpSpPr>
        <p:grpSpPr>
          <a:xfrm>
            <a:off x="5682185" y="4389943"/>
            <a:ext cx="1015652" cy="456281"/>
            <a:chOff x="7493876" y="2774731"/>
            <a:chExt cx="1481958" cy="894622"/>
          </a:xfrm>
        </p:grpSpPr>
        <p:sp>
          <p:nvSpPr>
            <p:cNvPr id="1037" name="Freeform 1036">
              <a:extLst>
                <a:ext uri="{FF2B5EF4-FFF2-40B4-BE49-F238E27FC236}">
                  <a16:creationId xmlns:a16="http://schemas.microsoft.com/office/drawing/2014/main" id="{7E35F043-BF45-9F46-96E3-BB3ADBEDD6E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38" name="Oval 1037">
              <a:extLst>
                <a:ext uri="{FF2B5EF4-FFF2-40B4-BE49-F238E27FC236}">
                  <a16:creationId xmlns:a16="http://schemas.microsoft.com/office/drawing/2014/main" id="{A5ADF05E-2312-1D4F-9BE0-1759E9B9353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39" name="Group 1038">
              <a:extLst>
                <a:ext uri="{FF2B5EF4-FFF2-40B4-BE49-F238E27FC236}">
                  <a16:creationId xmlns:a16="http://schemas.microsoft.com/office/drawing/2014/main" id="{7FACC5C7-906C-2B46-A172-006761C86F1E}"/>
                </a:ext>
              </a:extLst>
            </p:cNvPr>
            <p:cNvGrpSpPr/>
            <p:nvPr/>
          </p:nvGrpSpPr>
          <p:grpSpPr>
            <a:xfrm>
              <a:off x="7713663" y="2848339"/>
              <a:ext cx="1042107" cy="425543"/>
              <a:chOff x="7786941" y="2884917"/>
              <a:chExt cx="897649" cy="353919"/>
            </a:xfrm>
          </p:grpSpPr>
          <p:sp>
            <p:nvSpPr>
              <p:cNvPr id="1040" name="Freeform 1039">
                <a:extLst>
                  <a:ext uri="{FF2B5EF4-FFF2-40B4-BE49-F238E27FC236}">
                    <a16:creationId xmlns:a16="http://schemas.microsoft.com/office/drawing/2014/main" id="{9AAEEAEF-FEE3-4C4F-A60E-ECD453E41A3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41" name="Freeform 1040">
                <a:extLst>
                  <a:ext uri="{FF2B5EF4-FFF2-40B4-BE49-F238E27FC236}">
                    <a16:creationId xmlns:a16="http://schemas.microsoft.com/office/drawing/2014/main" id="{848C9694-3AFB-E942-B20A-3BD722A4102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42" name="Freeform 1041">
                <a:extLst>
                  <a:ext uri="{FF2B5EF4-FFF2-40B4-BE49-F238E27FC236}">
                    <a16:creationId xmlns:a16="http://schemas.microsoft.com/office/drawing/2014/main" id="{17CFC228-2824-994D-9EA7-CCABCA1A5AD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43" name="Freeform 1042">
                <a:extLst>
                  <a:ext uri="{FF2B5EF4-FFF2-40B4-BE49-F238E27FC236}">
                    <a16:creationId xmlns:a16="http://schemas.microsoft.com/office/drawing/2014/main" id="{A7328784-CE2A-0440-8AE9-F80D315E67D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028" name="Group 1027">
            <a:extLst>
              <a:ext uri="{FF2B5EF4-FFF2-40B4-BE49-F238E27FC236}">
                <a16:creationId xmlns:a16="http://schemas.microsoft.com/office/drawing/2014/main" id="{D5682828-EA87-794F-BF60-819D7667E9EF}"/>
              </a:ext>
            </a:extLst>
          </p:cNvPr>
          <p:cNvGrpSpPr/>
          <p:nvPr/>
        </p:nvGrpSpPr>
        <p:grpSpPr>
          <a:xfrm>
            <a:off x="5962825" y="5123116"/>
            <a:ext cx="1015652" cy="456281"/>
            <a:chOff x="7493876" y="2774731"/>
            <a:chExt cx="1481958" cy="894622"/>
          </a:xfrm>
        </p:grpSpPr>
        <p:sp>
          <p:nvSpPr>
            <p:cNvPr id="1029" name="Freeform 1028">
              <a:extLst>
                <a:ext uri="{FF2B5EF4-FFF2-40B4-BE49-F238E27FC236}">
                  <a16:creationId xmlns:a16="http://schemas.microsoft.com/office/drawing/2014/main" id="{2056B1E8-7373-0941-8FA2-77B0D784D6D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30" name="Oval 1029">
              <a:extLst>
                <a:ext uri="{FF2B5EF4-FFF2-40B4-BE49-F238E27FC236}">
                  <a16:creationId xmlns:a16="http://schemas.microsoft.com/office/drawing/2014/main" id="{9FDCC5D4-EA9B-9746-A480-2CC5325E9B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31" name="Group 1030">
              <a:extLst>
                <a:ext uri="{FF2B5EF4-FFF2-40B4-BE49-F238E27FC236}">
                  <a16:creationId xmlns:a16="http://schemas.microsoft.com/office/drawing/2014/main" id="{570F0FCB-D968-1148-B306-F399F70F821D}"/>
                </a:ext>
              </a:extLst>
            </p:cNvPr>
            <p:cNvGrpSpPr/>
            <p:nvPr/>
          </p:nvGrpSpPr>
          <p:grpSpPr>
            <a:xfrm>
              <a:off x="7713663" y="2848339"/>
              <a:ext cx="1042107" cy="425543"/>
              <a:chOff x="7786941" y="2884917"/>
              <a:chExt cx="897649" cy="353919"/>
            </a:xfrm>
          </p:grpSpPr>
          <p:sp>
            <p:nvSpPr>
              <p:cNvPr id="1032" name="Freeform 1031">
                <a:extLst>
                  <a:ext uri="{FF2B5EF4-FFF2-40B4-BE49-F238E27FC236}">
                    <a16:creationId xmlns:a16="http://schemas.microsoft.com/office/drawing/2014/main" id="{418B1C5D-5D51-3B49-BAC8-5A977E7BF6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3" name="Freeform 1032">
                <a:extLst>
                  <a:ext uri="{FF2B5EF4-FFF2-40B4-BE49-F238E27FC236}">
                    <a16:creationId xmlns:a16="http://schemas.microsoft.com/office/drawing/2014/main" id="{D6476B65-5B26-6F41-9399-FA6E2A0A771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4" name="Freeform 1033">
                <a:extLst>
                  <a:ext uri="{FF2B5EF4-FFF2-40B4-BE49-F238E27FC236}">
                    <a16:creationId xmlns:a16="http://schemas.microsoft.com/office/drawing/2014/main" id="{3336FA20-F9EA-F640-8683-B36DE04C429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5" name="Freeform 1034">
                <a:extLst>
                  <a:ext uri="{FF2B5EF4-FFF2-40B4-BE49-F238E27FC236}">
                    <a16:creationId xmlns:a16="http://schemas.microsoft.com/office/drawing/2014/main" id="{F1C9D141-A007-CC4B-AC95-C03639BD621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004" name="Group 1003">
            <a:extLst>
              <a:ext uri="{FF2B5EF4-FFF2-40B4-BE49-F238E27FC236}">
                <a16:creationId xmlns:a16="http://schemas.microsoft.com/office/drawing/2014/main" id="{1972653F-0F1B-604A-B76F-A5AB75CE116D}"/>
              </a:ext>
            </a:extLst>
          </p:cNvPr>
          <p:cNvGrpSpPr/>
          <p:nvPr/>
        </p:nvGrpSpPr>
        <p:grpSpPr>
          <a:xfrm>
            <a:off x="3583956" y="4844264"/>
            <a:ext cx="1015652" cy="456281"/>
            <a:chOff x="7493876" y="2774731"/>
            <a:chExt cx="1481958" cy="894622"/>
          </a:xfrm>
        </p:grpSpPr>
        <p:sp>
          <p:nvSpPr>
            <p:cNvPr id="1005" name="Freeform 1004">
              <a:extLst>
                <a:ext uri="{FF2B5EF4-FFF2-40B4-BE49-F238E27FC236}">
                  <a16:creationId xmlns:a16="http://schemas.microsoft.com/office/drawing/2014/main" id="{14F756BD-3FD8-EF4A-ACB9-4374306B14A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06" name="Oval 1005">
              <a:extLst>
                <a:ext uri="{FF2B5EF4-FFF2-40B4-BE49-F238E27FC236}">
                  <a16:creationId xmlns:a16="http://schemas.microsoft.com/office/drawing/2014/main" id="{8C7BD2BF-04E8-E048-B37B-2EF4588E9F8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07" name="Group 1006">
              <a:extLst>
                <a:ext uri="{FF2B5EF4-FFF2-40B4-BE49-F238E27FC236}">
                  <a16:creationId xmlns:a16="http://schemas.microsoft.com/office/drawing/2014/main" id="{2F0EBD81-A812-B54E-87D7-F2A2A0F73598}"/>
                </a:ext>
              </a:extLst>
            </p:cNvPr>
            <p:cNvGrpSpPr/>
            <p:nvPr/>
          </p:nvGrpSpPr>
          <p:grpSpPr>
            <a:xfrm>
              <a:off x="7713663" y="2848339"/>
              <a:ext cx="1042107" cy="425543"/>
              <a:chOff x="7786941" y="2884917"/>
              <a:chExt cx="897649" cy="353919"/>
            </a:xfrm>
          </p:grpSpPr>
          <p:sp>
            <p:nvSpPr>
              <p:cNvPr id="1008" name="Freeform 1007">
                <a:extLst>
                  <a:ext uri="{FF2B5EF4-FFF2-40B4-BE49-F238E27FC236}">
                    <a16:creationId xmlns:a16="http://schemas.microsoft.com/office/drawing/2014/main" id="{DA0350AD-6BDD-8742-AD54-D31903BFFBC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09" name="Freeform 1008">
                <a:extLst>
                  <a:ext uri="{FF2B5EF4-FFF2-40B4-BE49-F238E27FC236}">
                    <a16:creationId xmlns:a16="http://schemas.microsoft.com/office/drawing/2014/main" id="{3882FE62-2EF4-8345-A049-B867546B974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10" name="Freeform 1009">
                <a:extLst>
                  <a:ext uri="{FF2B5EF4-FFF2-40B4-BE49-F238E27FC236}">
                    <a16:creationId xmlns:a16="http://schemas.microsoft.com/office/drawing/2014/main" id="{323E0DB7-EDAB-4B44-8CD0-AA680735E84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11" name="Freeform 1010">
                <a:extLst>
                  <a:ext uri="{FF2B5EF4-FFF2-40B4-BE49-F238E27FC236}">
                    <a16:creationId xmlns:a16="http://schemas.microsoft.com/office/drawing/2014/main" id="{859E3ACC-40C8-9E4B-909F-00901CF258D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77" name="Text Box 14">
            <a:extLst>
              <a:ext uri="{FF2B5EF4-FFF2-40B4-BE49-F238E27FC236}">
                <a16:creationId xmlns:a16="http://schemas.microsoft.com/office/drawing/2014/main" id="{A3C80523-A3C7-5A48-AF35-91A54191B320}"/>
              </a:ext>
            </a:extLst>
          </p:cNvPr>
          <p:cNvSpPr txBox="1">
            <a:spLocks noChangeArrowheads="1"/>
          </p:cNvSpPr>
          <p:nvPr/>
        </p:nvSpPr>
        <p:spPr bwMode="auto">
          <a:xfrm>
            <a:off x="5310361" y="3661938"/>
            <a:ext cx="191293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finite shared output link buffers</a:t>
            </a:r>
          </a:p>
        </p:txBody>
      </p:sp>
      <p:sp>
        <p:nvSpPr>
          <p:cNvPr id="678" name="Line 15">
            <a:extLst>
              <a:ext uri="{FF2B5EF4-FFF2-40B4-BE49-F238E27FC236}">
                <a16:creationId xmlns:a16="http://schemas.microsoft.com/office/drawing/2014/main" id="{A54ED1D9-7AF8-1C46-92BF-64AB53B44E8A}"/>
              </a:ext>
            </a:extLst>
          </p:cNvPr>
          <p:cNvSpPr>
            <a:spLocks noChangeShapeType="1"/>
          </p:cNvSpPr>
          <p:nvPr/>
        </p:nvSpPr>
        <p:spPr bwMode="auto">
          <a:xfrm flipH="1">
            <a:off x="4151313" y="4113259"/>
            <a:ext cx="923925" cy="8667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87" name="Text Box 65">
            <a:extLst>
              <a:ext uri="{FF2B5EF4-FFF2-40B4-BE49-F238E27FC236}">
                <a16:creationId xmlns:a16="http://schemas.microsoft.com/office/drawing/2014/main" id="{A6D6C3CB-B52A-B540-B712-B3A1C6545B8B}"/>
              </a:ext>
            </a:extLst>
          </p:cNvPr>
          <p:cNvSpPr txBox="1">
            <a:spLocks noChangeArrowheads="1"/>
          </p:cNvSpPr>
          <p:nvPr/>
        </p:nvSpPr>
        <p:spPr bwMode="auto">
          <a:xfrm>
            <a:off x="3992563" y="2779759"/>
            <a:ext cx="7350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Host A</a:t>
            </a:r>
          </a:p>
        </p:txBody>
      </p:sp>
      <p:sp>
        <p:nvSpPr>
          <p:cNvPr id="688" name="Line 67">
            <a:extLst>
              <a:ext uri="{FF2B5EF4-FFF2-40B4-BE49-F238E27FC236}">
                <a16:creationId xmlns:a16="http://schemas.microsoft.com/office/drawing/2014/main" id="{4C1968E6-EC62-094F-BD83-D9CA6A530514}"/>
              </a:ext>
            </a:extLst>
          </p:cNvPr>
          <p:cNvSpPr>
            <a:spLocks noChangeShapeType="1"/>
          </p:cNvSpPr>
          <p:nvPr/>
        </p:nvSpPr>
        <p:spPr bwMode="auto">
          <a:xfrm flipH="1">
            <a:off x="1868129" y="6103982"/>
            <a:ext cx="246257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6" name="Line 117">
            <a:extLst>
              <a:ext uri="{FF2B5EF4-FFF2-40B4-BE49-F238E27FC236}">
                <a16:creationId xmlns:a16="http://schemas.microsoft.com/office/drawing/2014/main" id="{52940752-F616-324B-80EA-ECAB405BF34E}"/>
              </a:ext>
            </a:extLst>
          </p:cNvPr>
          <p:cNvSpPr>
            <a:spLocks noChangeShapeType="1"/>
          </p:cNvSpPr>
          <p:nvPr/>
        </p:nvSpPr>
        <p:spPr bwMode="auto">
          <a:xfrm flipH="1" flipV="1">
            <a:off x="4637088" y="4543472"/>
            <a:ext cx="1357312" cy="174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7" name="Line 118">
            <a:extLst>
              <a:ext uri="{FF2B5EF4-FFF2-40B4-BE49-F238E27FC236}">
                <a16:creationId xmlns:a16="http://schemas.microsoft.com/office/drawing/2014/main" id="{C9FD2B0B-C893-774C-980F-8CD9C6DDBAA3}"/>
              </a:ext>
            </a:extLst>
          </p:cNvPr>
          <p:cNvSpPr>
            <a:spLocks noChangeShapeType="1"/>
          </p:cNvSpPr>
          <p:nvPr/>
        </p:nvSpPr>
        <p:spPr bwMode="auto">
          <a:xfrm flipH="1" flipV="1">
            <a:off x="6302375" y="4560933"/>
            <a:ext cx="895350" cy="95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8" name="Line 119">
            <a:extLst>
              <a:ext uri="{FF2B5EF4-FFF2-40B4-BE49-F238E27FC236}">
                <a16:creationId xmlns:a16="http://schemas.microsoft.com/office/drawing/2014/main" id="{6C25B7AE-261A-0646-8C1E-3F48F28CCE36}"/>
              </a:ext>
            </a:extLst>
          </p:cNvPr>
          <p:cNvSpPr>
            <a:spLocks noChangeShapeType="1"/>
          </p:cNvSpPr>
          <p:nvPr/>
        </p:nvSpPr>
        <p:spPr bwMode="auto">
          <a:xfrm flipH="1">
            <a:off x="6361112" y="4073832"/>
            <a:ext cx="1337545" cy="13538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99" name="Line 120">
            <a:extLst>
              <a:ext uri="{FF2B5EF4-FFF2-40B4-BE49-F238E27FC236}">
                <a16:creationId xmlns:a16="http://schemas.microsoft.com/office/drawing/2014/main" id="{323341B4-BD94-8040-82E9-99EC24A84587}"/>
              </a:ext>
            </a:extLst>
          </p:cNvPr>
          <p:cNvSpPr>
            <a:spLocks noChangeShapeType="1"/>
          </p:cNvSpPr>
          <p:nvPr/>
        </p:nvSpPr>
        <p:spPr bwMode="auto">
          <a:xfrm flipH="1">
            <a:off x="7687685" y="4077626"/>
            <a:ext cx="4397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id="{D478B0D0-619F-7349-B4E5-DCEC3A9A7101}"/>
              </a:ext>
            </a:extLst>
          </p:cNvPr>
          <p:cNvGrpSpPr/>
          <p:nvPr/>
        </p:nvGrpSpPr>
        <p:grpSpPr>
          <a:xfrm>
            <a:off x="7027073" y="4812231"/>
            <a:ext cx="637943" cy="602421"/>
            <a:chOff x="7027073" y="4812231"/>
            <a:chExt cx="637943" cy="602421"/>
          </a:xfrm>
        </p:grpSpPr>
        <p:sp>
          <p:nvSpPr>
            <p:cNvPr id="753" name="Text Box 216">
              <a:extLst>
                <a:ext uri="{FF2B5EF4-FFF2-40B4-BE49-F238E27FC236}">
                  <a16:creationId xmlns:a16="http://schemas.microsoft.com/office/drawing/2014/main" id="{586CD15E-9DCF-2242-ADC7-0EBB063D0983}"/>
                </a:ext>
              </a:extLst>
            </p:cNvPr>
            <p:cNvSpPr txBox="1">
              <a:spLocks noChangeArrowheads="1"/>
            </p:cNvSpPr>
            <p:nvPr/>
          </p:nvSpPr>
          <p:spPr bwMode="auto">
            <a:xfrm>
              <a:off x="7027073" y="4812231"/>
              <a:ext cx="6175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out</a:t>
              </a:r>
              <a:endParaRPr kumimoji="0" lang="en-US" altLang="en-US" sz="2000" b="0" i="0" u="none" strike="noStrike" kern="1200" cap="none" spc="0" normalizeH="0" baseline="0" noProof="0" dirty="0">
                <a:ln>
                  <a:noFill/>
                </a:ln>
                <a:solidFill>
                  <a:srgbClr val="C00000"/>
                </a:solidFill>
                <a:effectLst/>
                <a:uLnTx/>
                <a:uFillTx/>
                <a:latin typeface="Comic Sans MS" panose="030F0902030302020204" pitchFamily="66" charset="0"/>
                <a:ea typeface="ＭＳ Ｐゴシック" panose="020B0600070205080204" pitchFamily="34" charset="-128"/>
                <a:cs typeface="+mn-cs"/>
              </a:endParaRPr>
            </a:p>
          </p:txBody>
        </p:sp>
        <p:sp>
          <p:nvSpPr>
            <p:cNvPr id="754" name="Line 217">
              <a:extLst>
                <a:ext uri="{FF2B5EF4-FFF2-40B4-BE49-F238E27FC236}">
                  <a16:creationId xmlns:a16="http://schemas.microsoft.com/office/drawing/2014/main" id="{676E6049-2186-D442-B4B2-91F3161EB300}"/>
                </a:ext>
              </a:extLst>
            </p:cNvPr>
            <p:cNvSpPr>
              <a:spLocks noChangeShapeType="1"/>
            </p:cNvSpPr>
            <p:nvPr/>
          </p:nvSpPr>
          <p:spPr bwMode="auto">
            <a:xfrm>
              <a:off x="7464991" y="5195577"/>
              <a:ext cx="200025" cy="2190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755" name="Line 218">
            <a:extLst>
              <a:ext uri="{FF2B5EF4-FFF2-40B4-BE49-F238E27FC236}">
                <a16:creationId xmlns:a16="http://schemas.microsoft.com/office/drawing/2014/main" id="{9FC0E2B7-EE1C-0D41-8103-C8FCB3F9E514}"/>
              </a:ext>
            </a:extLst>
          </p:cNvPr>
          <p:cNvSpPr>
            <a:spLocks noChangeShapeType="1"/>
          </p:cNvSpPr>
          <p:nvPr/>
        </p:nvSpPr>
        <p:spPr bwMode="auto">
          <a:xfrm flipH="1">
            <a:off x="6249988" y="4162002"/>
            <a:ext cx="7937" cy="2433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79" name="Line 242">
            <a:extLst>
              <a:ext uri="{FF2B5EF4-FFF2-40B4-BE49-F238E27FC236}">
                <a16:creationId xmlns:a16="http://schemas.microsoft.com/office/drawing/2014/main" id="{064F47BF-3B0B-DE43-9F0E-D139AF6115EB}"/>
              </a:ext>
            </a:extLst>
          </p:cNvPr>
          <p:cNvSpPr>
            <a:spLocks noChangeShapeType="1"/>
          </p:cNvSpPr>
          <p:nvPr/>
        </p:nvSpPr>
        <p:spPr bwMode="auto">
          <a:xfrm>
            <a:off x="6465888" y="3475084"/>
            <a:ext cx="276225" cy="1588"/>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6" name="Line 270">
            <a:extLst>
              <a:ext uri="{FF2B5EF4-FFF2-40B4-BE49-F238E27FC236}">
                <a16:creationId xmlns:a16="http://schemas.microsoft.com/office/drawing/2014/main" id="{E95CA478-DC80-E94D-871D-F0A47C37057C}"/>
              </a:ext>
            </a:extLst>
          </p:cNvPr>
          <p:cNvSpPr>
            <a:spLocks noChangeShapeType="1"/>
          </p:cNvSpPr>
          <p:nvPr/>
        </p:nvSpPr>
        <p:spPr bwMode="auto">
          <a:xfrm flipH="1" flipV="1">
            <a:off x="4637087" y="6084932"/>
            <a:ext cx="2876307" cy="2248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07" name="Line 271">
            <a:extLst>
              <a:ext uri="{FF2B5EF4-FFF2-40B4-BE49-F238E27FC236}">
                <a16:creationId xmlns:a16="http://schemas.microsoft.com/office/drawing/2014/main" id="{27AA192C-A882-6942-AFC6-B10AE7C0042D}"/>
              </a:ext>
            </a:extLst>
          </p:cNvPr>
          <p:cNvSpPr>
            <a:spLocks noChangeShapeType="1"/>
          </p:cNvSpPr>
          <p:nvPr/>
        </p:nvSpPr>
        <p:spPr bwMode="auto">
          <a:xfrm flipH="1">
            <a:off x="5711825" y="5461837"/>
            <a:ext cx="604176" cy="63262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020" name="Group 1019">
            <a:extLst>
              <a:ext uri="{FF2B5EF4-FFF2-40B4-BE49-F238E27FC236}">
                <a16:creationId xmlns:a16="http://schemas.microsoft.com/office/drawing/2014/main" id="{B351B890-D7B2-6B4A-A54F-9A17DCD4F2A5}"/>
              </a:ext>
            </a:extLst>
          </p:cNvPr>
          <p:cNvGrpSpPr/>
          <p:nvPr/>
        </p:nvGrpSpPr>
        <p:grpSpPr>
          <a:xfrm>
            <a:off x="4115809" y="5911519"/>
            <a:ext cx="923925" cy="426578"/>
            <a:chOff x="7493876" y="2774731"/>
            <a:chExt cx="1481958" cy="894622"/>
          </a:xfrm>
        </p:grpSpPr>
        <p:sp>
          <p:nvSpPr>
            <p:cNvPr id="1021" name="Freeform 1020">
              <a:extLst>
                <a:ext uri="{FF2B5EF4-FFF2-40B4-BE49-F238E27FC236}">
                  <a16:creationId xmlns:a16="http://schemas.microsoft.com/office/drawing/2014/main" id="{BFA1621A-7C33-1442-AABC-8CA9989EF86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22" name="Oval 1021">
              <a:extLst>
                <a:ext uri="{FF2B5EF4-FFF2-40B4-BE49-F238E27FC236}">
                  <a16:creationId xmlns:a16="http://schemas.microsoft.com/office/drawing/2014/main" id="{B432F96D-DCEA-1940-B3EB-10DC273627D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23" name="Group 1022">
              <a:extLst>
                <a:ext uri="{FF2B5EF4-FFF2-40B4-BE49-F238E27FC236}">
                  <a16:creationId xmlns:a16="http://schemas.microsoft.com/office/drawing/2014/main" id="{445733B0-C200-7443-B614-F3CE56262D57}"/>
                </a:ext>
              </a:extLst>
            </p:cNvPr>
            <p:cNvGrpSpPr/>
            <p:nvPr/>
          </p:nvGrpSpPr>
          <p:grpSpPr>
            <a:xfrm>
              <a:off x="7713663" y="2848339"/>
              <a:ext cx="1042107" cy="425543"/>
              <a:chOff x="7786941" y="2884917"/>
              <a:chExt cx="897649" cy="353919"/>
            </a:xfrm>
          </p:grpSpPr>
          <p:sp>
            <p:nvSpPr>
              <p:cNvPr id="1024" name="Freeform 1023">
                <a:extLst>
                  <a:ext uri="{FF2B5EF4-FFF2-40B4-BE49-F238E27FC236}">
                    <a16:creationId xmlns:a16="http://schemas.microsoft.com/office/drawing/2014/main" id="{0B7AFB59-A6AA-4745-8FFB-C21D0E37EE8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5" name="Freeform 1024">
                <a:extLst>
                  <a:ext uri="{FF2B5EF4-FFF2-40B4-BE49-F238E27FC236}">
                    <a16:creationId xmlns:a16="http://schemas.microsoft.com/office/drawing/2014/main" id="{8F342913-D690-FA46-9B73-C46C2CD3D5F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6" name="Freeform 1025">
                <a:extLst>
                  <a:ext uri="{FF2B5EF4-FFF2-40B4-BE49-F238E27FC236}">
                    <a16:creationId xmlns:a16="http://schemas.microsoft.com/office/drawing/2014/main" id="{743F90F2-19F8-FC4B-B6BF-DAAA5DD031B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7" name="Freeform 1026">
                <a:extLst>
                  <a:ext uri="{FF2B5EF4-FFF2-40B4-BE49-F238E27FC236}">
                    <a16:creationId xmlns:a16="http://schemas.microsoft.com/office/drawing/2014/main" id="{75CD2DB9-85B3-D94B-BA98-81974DA70D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844" name="Line 308">
            <a:extLst>
              <a:ext uri="{FF2B5EF4-FFF2-40B4-BE49-F238E27FC236}">
                <a16:creationId xmlns:a16="http://schemas.microsoft.com/office/drawing/2014/main" id="{A454DE4E-2142-C540-BF6A-3FF871591668}"/>
              </a:ext>
            </a:extLst>
          </p:cNvPr>
          <p:cNvSpPr>
            <a:spLocks noChangeShapeType="1"/>
          </p:cNvSpPr>
          <p:nvPr/>
        </p:nvSpPr>
        <p:spPr bwMode="auto">
          <a:xfrm flipV="1">
            <a:off x="4047728" y="4957809"/>
            <a:ext cx="195171" cy="155510"/>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45" name="Line 309">
            <a:extLst>
              <a:ext uri="{FF2B5EF4-FFF2-40B4-BE49-F238E27FC236}">
                <a16:creationId xmlns:a16="http://schemas.microsoft.com/office/drawing/2014/main" id="{F565347B-4B50-EE43-8424-7BD5F89E83C8}"/>
              </a:ext>
            </a:extLst>
          </p:cNvPr>
          <p:cNvSpPr>
            <a:spLocks noChangeShapeType="1"/>
          </p:cNvSpPr>
          <p:nvPr/>
        </p:nvSpPr>
        <p:spPr bwMode="auto">
          <a:xfrm flipH="1">
            <a:off x="2987674" y="5113320"/>
            <a:ext cx="1031875" cy="9827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6" name="Text Box 335">
            <a:extLst>
              <a:ext uri="{FF2B5EF4-FFF2-40B4-BE49-F238E27FC236}">
                <a16:creationId xmlns:a16="http://schemas.microsoft.com/office/drawing/2014/main" id="{EC1F708A-2D5F-F542-854C-75A1D11D8280}"/>
              </a:ext>
            </a:extLst>
          </p:cNvPr>
          <p:cNvSpPr txBox="1">
            <a:spLocks noChangeArrowheads="1"/>
          </p:cNvSpPr>
          <p:nvPr/>
        </p:nvSpPr>
        <p:spPr bwMode="auto">
          <a:xfrm>
            <a:off x="8027988" y="2965497"/>
            <a:ext cx="7350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Host B</a:t>
            </a:r>
          </a:p>
        </p:txBody>
      </p:sp>
      <p:sp>
        <p:nvSpPr>
          <p:cNvPr id="867" name="Text Box 336">
            <a:extLst>
              <a:ext uri="{FF2B5EF4-FFF2-40B4-BE49-F238E27FC236}">
                <a16:creationId xmlns:a16="http://schemas.microsoft.com/office/drawing/2014/main" id="{F2F32402-4562-6C48-A689-4C8257513152}"/>
              </a:ext>
            </a:extLst>
          </p:cNvPr>
          <p:cNvSpPr txBox="1">
            <a:spLocks noChangeArrowheads="1"/>
          </p:cNvSpPr>
          <p:nvPr/>
        </p:nvSpPr>
        <p:spPr bwMode="auto">
          <a:xfrm>
            <a:off x="7480300" y="5026072"/>
            <a:ext cx="73501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Host C</a:t>
            </a:r>
          </a:p>
        </p:txBody>
      </p:sp>
      <p:sp>
        <p:nvSpPr>
          <p:cNvPr id="868" name="Text Box 337">
            <a:extLst>
              <a:ext uri="{FF2B5EF4-FFF2-40B4-BE49-F238E27FC236}">
                <a16:creationId xmlns:a16="http://schemas.microsoft.com/office/drawing/2014/main" id="{A4EB824E-664E-C940-8134-7071C617DE94}"/>
              </a:ext>
            </a:extLst>
          </p:cNvPr>
          <p:cNvSpPr txBox="1">
            <a:spLocks noChangeArrowheads="1"/>
          </p:cNvSpPr>
          <p:nvPr/>
        </p:nvSpPr>
        <p:spPr bwMode="auto">
          <a:xfrm>
            <a:off x="2043113" y="4783184"/>
            <a:ext cx="735012"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Host D</a:t>
            </a:r>
          </a:p>
        </p:txBody>
      </p:sp>
      <p:grpSp>
        <p:nvGrpSpPr>
          <p:cNvPr id="4" name="Group 3">
            <a:extLst>
              <a:ext uri="{FF2B5EF4-FFF2-40B4-BE49-F238E27FC236}">
                <a16:creationId xmlns:a16="http://schemas.microsoft.com/office/drawing/2014/main" id="{BD4E31C0-E9C7-C340-B3B9-4C96C464E2BC}"/>
              </a:ext>
            </a:extLst>
          </p:cNvPr>
          <p:cNvGrpSpPr/>
          <p:nvPr/>
        </p:nvGrpSpPr>
        <p:grpSpPr>
          <a:xfrm>
            <a:off x="4409092" y="2741055"/>
            <a:ext cx="2272505" cy="510248"/>
            <a:chOff x="4418013" y="2732134"/>
            <a:chExt cx="2272505" cy="510248"/>
          </a:xfrm>
        </p:grpSpPr>
        <p:sp>
          <p:nvSpPr>
            <p:cNvPr id="752" name="Line 215">
              <a:extLst>
                <a:ext uri="{FF2B5EF4-FFF2-40B4-BE49-F238E27FC236}">
                  <a16:creationId xmlns:a16="http://schemas.microsoft.com/office/drawing/2014/main" id="{EFFD9886-71D4-BB4B-8AB0-19FA954C4965}"/>
                </a:ext>
              </a:extLst>
            </p:cNvPr>
            <p:cNvSpPr>
              <a:spLocks noChangeShapeType="1"/>
            </p:cNvSpPr>
            <p:nvPr/>
          </p:nvSpPr>
          <p:spPr bwMode="auto">
            <a:xfrm flipH="1">
              <a:off x="4541838" y="3055984"/>
              <a:ext cx="295275" cy="1047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C00000"/>
                </a:solidFill>
                <a:effectLst/>
                <a:uLnTx/>
                <a:uFillTx/>
                <a:latin typeface="Tahoma" panose="020B0604030504040204" pitchFamily="34" charset="0"/>
                <a:ea typeface="ＭＳ Ｐゴシック" panose="020B0600070205080204" pitchFamily="34" charset="-128"/>
                <a:cs typeface="+mn-cs"/>
              </a:endParaRPr>
            </a:p>
          </p:txBody>
        </p:sp>
        <p:sp>
          <p:nvSpPr>
            <p:cNvPr id="781" name="Oval 244">
              <a:extLst>
                <a:ext uri="{FF2B5EF4-FFF2-40B4-BE49-F238E27FC236}">
                  <a16:creationId xmlns:a16="http://schemas.microsoft.com/office/drawing/2014/main" id="{51FAD07D-0B83-F54B-8BC2-AFE24FF0F1A2}"/>
                </a:ext>
              </a:extLst>
            </p:cNvPr>
            <p:cNvSpPr>
              <a:spLocks noChangeArrowheads="1"/>
            </p:cNvSpPr>
            <p:nvPr/>
          </p:nvSpPr>
          <p:spPr bwMode="auto">
            <a:xfrm>
              <a:off x="4418013" y="3151234"/>
              <a:ext cx="90487" cy="9114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C00000"/>
                </a:solidFill>
                <a:effectLst/>
                <a:uLnTx/>
                <a:uFillTx/>
                <a:latin typeface="Tahoma" panose="020B0604030504040204" pitchFamily="34" charset="0"/>
                <a:ea typeface="ＭＳ Ｐゴシック" panose="020B0600070205080204" pitchFamily="34" charset="-128"/>
                <a:cs typeface="+mn-cs"/>
              </a:endParaRPr>
            </a:p>
          </p:txBody>
        </p:sp>
        <p:sp>
          <p:nvSpPr>
            <p:cNvPr id="869" name="Text Box 338">
              <a:extLst>
                <a:ext uri="{FF2B5EF4-FFF2-40B4-BE49-F238E27FC236}">
                  <a16:creationId xmlns:a16="http://schemas.microsoft.com/office/drawing/2014/main" id="{5AE7EEB2-443D-C74D-9FE2-48E45B97BE42}"/>
                </a:ext>
              </a:extLst>
            </p:cNvPr>
            <p:cNvSpPr txBox="1">
              <a:spLocks noChangeArrowheads="1"/>
            </p:cNvSpPr>
            <p:nvPr/>
          </p:nvSpPr>
          <p:spPr bwMode="auto">
            <a:xfrm>
              <a:off x="4809330" y="2732134"/>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6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original data</a:t>
              </a:r>
            </a:p>
          </p:txBody>
        </p:sp>
      </p:grpSp>
      <p:sp>
        <p:nvSpPr>
          <p:cNvPr id="870" name="Line 340">
            <a:extLst>
              <a:ext uri="{FF2B5EF4-FFF2-40B4-BE49-F238E27FC236}">
                <a16:creationId xmlns:a16="http://schemas.microsoft.com/office/drawing/2014/main" id="{F7B1FC1D-7510-1C49-AE6A-C7F69308C1C3}"/>
              </a:ext>
            </a:extLst>
          </p:cNvPr>
          <p:cNvSpPr>
            <a:spLocks noChangeShapeType="1"/>
          </p:cNvSpPr>
          <p:nvPr/>
        </p:nvSpPr>
        <p:spPr bwMode="auto">
          <a:xfrm>
            <a:off x="6305550" y="3389359"/>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FD507231-6EFD-6A42-9136-D71365EF63D2}"/>
              </a:ext>
            </a:extLst>
          </p:cNvPr>
          <p:cNvGrpSpPr/>
          <p:nvPr/>
        </p:nvGrpSpPr>
        <p:grpSpPr>
          <a:xfrm>
            <a:off x="4413552" y="3083161"/>
            <a:ext cx="2482850" cy="617537"/>
            <a:chOff x="4418013" y="3074240"/>
            <a:chExt cx="2482850" cy="617537"/>
          </a:xfrm>
        </p:grpSpPr>
        <p:sp>
          <p:nvSpPr>
            <p:cNvPr id="782" name="Oval 245">
              <a:extLst>
                <a:ext uri="{FF2B5EF4-FFF2-40B4-BE49-F238E27FC236}">
                  <a16:creationId xmlns:a16="http://schemas.microsoft.com/office/drawing/2014/main" id="{54248ED4-7799-AC43-BD75-DD6C5002CF73}"/>
                </a:ext>
              </a:extLst>
            </p:cNvPr>
            <p:cNvSpPr>
              <a:spLocks noChangeArrowheads="1"/>
            </p:cNvSpPr>
            <p:nvPr/>
          </p:nvSpPr>
          <p:spPr bwMode="auto">
            <a:xfrm>
              <a:off x="4418013" y="3331549"/>
              <a:ext cx="90487" cy="9114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783" name="Line 247">
              <a:extLst>
                <a:ext uri="{FF2B5EF4-FFF2-40B4-BE49-F238E27FC236}">
                  <a16:creationId xmlns:a16="http://schemas.microsoft.com/office/drawing/2014/main" id="{E59D074B-1F6E-C14E-AD81-B0177A7E8C41}"/>
                </a:ext>
              </a:extLst>
            </p:cNvPr>
            <p:cNvSpPr>
              <a:spLocks noChangeShapeType="1"/>
            </p:cNvSpPr>
            <p:nvPr/>
          </p:nvSpPr>
          <p:spPr bwMode="auto">
            <a:xfrm flipH="1">
              <a:off x="4551363" y="3322684"/>
              <a:ext cx="304800" cy="38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1" name="Text Box 341">
              <a:extLst>
                <a:ext uri="{FF2B5EF4-FFF2-40B4-BE49-F238E27FC236}">
                  <a16:creationId xmlns:a16="http://schemas.microsoft.com/office/drawing/2014/main" id="{7BFEC39C-D433-1D4D-A184-DDA258B9A623}"/>
                </a:ext>
              </a:extLst>
            </p:cNvPr>
            <p:cNvSpPr txBox="1">
              <a:spLocks noChangeArrowheads="1"/>
            </p:cNvSpPr>
            <p:nvPr/>
          </p:nvSpPr>
          <p:spPr bwMode="auto">
            <a:xfrm>
              <a:off x="4551363" y="3074240"/>
              <a:ext cx="2349500"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9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C00000"/>
                  </a:solidFill>
                  <a:effectLst/>
                  <a:uLnTx/>
                  <a:uFillTx/>
                  <a:latin typeface="Symbol" pitchFamily="2" charset="2"/>
                  <a:ea typeface="ＭＳ Ｐゴシック" panose="020B0600070205080204" pitchFamily="34" charset="-128"/>
                  <a:cs typeface="+mn-cs"/>
                </a:rPr>
                <a:t>l</a:t>
              </a:r>
              <a:r>
                <a:rPr kumimoji="0" lang="en-US" altLang="en-US" sz="20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2000" b="0" i="0" u="none" strike="noStrike" kern="1200" cap="none" spc="0" normalizeH="0" baseline="-2500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in</a:t>
              </a:r>
              <a:r>
                <a:rPr kumimoji="0" lang="en-US" altLang="en-US" sz="18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a:t>
              </a:r>
              <a:r>
                <a:rPr kumimoji="0" lang="en-US" altLang="en-US" sz="1400" b="0" i="0" u="none" strike="noStrike" kern="1200" cap="none" spc="0" normalizeH="0" baseline="0" noProof="0" dirty="0">
                  <a:ln>
                    <a:noFill/>
                  </a:ln>
                  <a:solidFill>
                    <a:srgbClr val="C00000"/>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original data, </a:t>
              </a:r>
              <a:r>
                <a:rPr kumimoji="0" lang="en-US" altLang="en-US" sz="16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plus</a:t>
              </a:r>
              <a:r>
                <a:rPr kumimoji="0" lang="en-US" altLang="en-US" sz="16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 retransmitted data</a:t>
              </a:r>
            </a:p>
          </p:txBody>
        </p:sp>
      </p:grpSp>
      <p:grpSp>
        <p:nvGrpSpPr>
          <p:cNvPr id="872" name="Group 358">
            <a:extLst>
              <a:ext uri="{FF2B5EF4-FFF2-40B4-BE49-F238E27FC236}">
                <a16:creationId xmlns:a16="http://schemas.microsoft.com/office/drawing/2014/main" id="{B102A184-15F6-9D48-BA25-6DCAD4F95232}"/>
              </a:ext>
            </a:extLst>
          </p:cNvPr>
          <p:cNvGrpSpPr>
            <a:grpSpLocks/>
          </p:cNvGrpSpPr>
          <p:nvPr/>
        </p:nvGrpSpPr>
        <p:grpSpPr bwMode="auto">
          <a:xfrm>
            <a:off x="8721725" y="4056109"/>
            <a:ext cx="231775" cy="441325"/>
            <a:chOff x="4140" y="429"/>
            <a:chExt cx="1425" cy="2396"/>
          </a:xfrm>
        </p:grpSpPr>
        <p:sp>
          <p:nvSpPr>
            <p:cNvPr id="873" name="Freeform 359">
              <a:extLst>
                <a:ext uri="{FF2B5EF4-FFF2-40B4-BE49-F238E27FC236}">
                  <a16:creationId xmlns:a16="http://schemas.microsoft.com/office/drawing/2014/main" id="{401A19BA-93A0-5948-83A2-34413A31DCF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4" name="Rectangle 360">
              <a:extLst>
                <a:ext uri="{FF2B5EF4-FFF2-40B4-BE49-F238E27FC236}">
                  <a16:creationId xmlns:a16="http://schemas.microsoft.com/office/drawing/2014/main" id="{29C3A899-DA55-CB48-9E5B-0A9EA5B7F139}"/>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5" name="Freeform 361">
              <a:extLst>
                <a:ext uri="{FF2B5EF4-FFF2-40B4-BE49-F238E27FC236}">
                  <a16:creationId xmlns:a16="http://schemas.microsoft.com/office/drawing/2014/main" id="{92BBA9EA-E1EC-9642-BC6C-1195963D1CA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6" name="Freeform 362">
              <a:extLst>
                <a:ext uri="{FF2B5EF4-FFF2-40B4-BE49-F238E27FC236}">
                  <a16:creationId xmlns:a16="http://schemas.microsoft.com/office/drawing/2014/main" id="{F5DE54CC-1A21-7242-893E-5B0F34DDF569}"/>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77" name="Rectangle 363">
              <a:extLst>
                <a:ext uri="{FF2B5EF4-FFF2-40B4-BE49-F238E27FC236}">
                  <a16:creationId xmlns:a16="http://schemas.microsoft.com/office/drawing/2014/main" id="{AFD98E37-52B9-2A4A-9280-8985F3AB853C}"/>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78" name="Group 364">
              <a:extLst>
                <a:ext uri="{FF2B5EF4-FFF2-40B4-BE49-F238E27FC236}">
                  <a16:creationId xmlns:a16="http://schemas.microsoft.com/office/drawing/2014/main" id="{42B390A1-1CE1-8A44-98E6-EC785C7E804D}"/>
                </a:ext>
              </a:extLst>
            </p:cNvPr>
            <p:cNvGrpSpPr>
              <a:grpSpLocks/>
            </p:cNvGrpSpPr>
            <p:nvPr/>
          </p:nvGrpSpPr>
          <p:grpSpPr bwMode="auto">
            <a:xfrm>
              <a:off x="4749" y="668"/>
              <a:ext cx="581" cy="145"/>
              <a:chOff x="614" y="2568"/>
              <a:chExt cx="725" cy="139"/>
            </a:xfrm>
          </p:grpSpPr>
          <p:sp>
            <p:nvSpPr>
              <p:cNvPr id="903" name="AutoShape 365">
                <a:extLst>
                  <a:ext uri="{FF2B5EF4-FFF2-40B4-BE49-F238E27FC236}">
                    <a16:creationId xmlns:a16="http://schemas.microsoft.com/office/drawing/2014/main" id="{A81F4F9D-A24D-994F-987A-B13859CE60E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04" name="AutoShape 366">
                <a:extLst>
                  <a:ext uri="{FF2B5EF4-FFF2-40B4-BE49-F238E27FC236}">
                    <a16:creationId xmlns:a16="http://schemas.microsoft.com/office/drawing/2014/main" id="{9A450662-B29B-9A47-8273-B52413BF16F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879" name="Rectangle 367">
              <a:extLst>
                <a:ext uri="{FF2B5EF4-FFF2-40B4-BE49-F238E27FC236}">
                  <a16:creationId xmlns:a16="http://schemas.microsoft.com/office/drawing/2014/main" id="{28F33A87-EA9F-9646-8926-755174B82B45}"/>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80" name="Group 368">
              <a:extLst>
                <a:ext uri="{FF2B5EF4-FFF2-40B4-BE49-F238E27FC236}">
                  <a16:creationId xmlns:a16="http://schemas.microsoft.com/office/drawing/2014/main" id="{F712878E-6028-734C-9CF4-9ED3F9563904}"/>
                </a:ext>
              </a:extLst>
            </p:cNvPr>
            <p:cNvGrpSpPr>
              <a:grpSpLocks/>
            </p:cNvGrpSpPr>
            <p:nvPr/>
          </p:nvGrpSpPr>
          <p:grpSpPr bwMode="auto">
            <a:xfrm>
              <a:off x="4747" y="994"/>
              <a:ext cx="581" cy="134"/>
              <a:chOff x="614" y="2568"/>
              <a:chExt cx="725" cy="139"/>
            </a:xfrm>
          </p:grpSpPr>
          <p:sp>
            <p:nvSpPr>
              <p:cNvPr id="901" name="AutoShape 369">
                <a:extLst>
                  <a:ext uri="{FF2B5EF4-FFF2-40B4-BE49-F238E27FC236}">
                    <a16:creationId xmlns:a16="http://schemas.microsoft.com/office/drawing/2014/main" id="{D9A0700F-287C-924F-926C-F65682B21625}"/>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02" name="AutoShape 370">
                <a:extLst>
                  <a:ext uri="{FF2B5EF4-FFF2-40B4-BE49-F238E27FC236}">
                    <a16:creationId xmlns:a16="http://schemas.microsoft.com/office/drawing/2014/main" id="{69D0E01F-131B-AE4E-9FA9-4DEAD09EBE4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881" name="Rectangle 371">
              <a:extLst>
                <a:ext uri="{FF2B5EF4-FFF2-40B4-BE49-F238E27FC236}">
                  <a16:creationId xmlns:a16="http://schemas.microsoft.com/office/drawing/2014/main" id="{2B5B8250-6B47-8640-9BE0-E536E9BEB84D}"/>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82" name="Rectangle 372">
              <a:extLst>
                <a:ext uri="{FF2B5EF4-FFF2-40B4-BE49-F238E27FC236}">
                  <a16:creationId xmlns:a16="http://schemas.microsoft.com/office/drawing/2014/main" id="{4F3ADC46-A0C7-4D41-81C6-E9FEF3D22996}"/>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83" name="Group 373">
              <a:extLst>
                <a:ext uri="{FF2B5EF4-FFF2-40B4-BE49-F238E27FC236}">
                  <a16:creationId xmlns:a16="http://schemas.microsoft.com/office/drawing/2014/main" id="{DBB62302-BA22-EB43-9800-FDE6BC60AEC2}"/>
                </a:ext>
              </a:extLst>
            </p:cNvPr>
            <p:cNvGrpSpPr>
              <a:grpSpLocks/>
            </p:cNvGrpSpPr>
            <p:nvPr/>
          </p:nvGrpSpPr>
          <p:grpSpPr bwMode="auto">
            <a:xfrm>
              <a:off x="4735" y="1627"/>
              <a:ext cx="582" cy="151"/>
              <a:chOff x="614" y="2568"/>
              <a:chExt cx="725" cy="139"/>
            </a:xfrm>
          </p:grpSpPr>
          <p:sp>
            <p:nvSpPr>
              <p:cNvPr id="899" name="AutoShape 374">
                <a:extLst>
                  <a:ext uri="{FF2B5EF4-FFF2-40B4-BE49-F238E27FC236}">
                    <a16:creationId xmlns:a16="http://schemas.microsoft.com/office/drawing/2014/main" id="{073B7F63-6B8F-3C47-98E4-91D899F23EA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00" name="AutoShape 375">
                <a:extLst>
                  <a:ext uri="{FF2B5EF4-FFF2-40B4-BE49-F238E27FC236}">
                    <a16:creationId xmlns:a16="http://schemas.microsoft.com/office/drawing/2014/main" id="{341A6BBC-F5C1-4A4B-B98C-F7FBC232C096}"/>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884" name="Freeform 376">
              <a:extLst>
                <a:ext uri="{FF2B5EF4-FFF2-40B4-BE49-F238E27FC236}">
                  <a16:creationId xmlns:a16="http://schemas.microsoft.com/office/drawing/2014/main" id="{FD7BA052-11AD-0746-9E1F-ED093C0C7F5F}"/>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885" name="Group 377">
              <a:extLst>
                <a:ext uri="{FF2B5EF4-FFF2-40B4-BE49-F238E27FC236}">
                  <a16:creationId xmlns:a16="http://schemas.microsoft.com/office/drawing/2014/main" id="{94849104-ED73-4A4E-9499-FE17A0BEEADF}"/>
                </a:ext>
              </a:extLst>
            </p:cNvPr>
            <p:cNvGrpSpPr>
              <a:grpSpLocks/>
            </p:cNvGrpSpPr>
            <p:nvPr/>
          </p:nvGrpSpPr>
          <p:grpSpPr bwMode="auto">
            <a:xfrm>
              <a:off x="4739" y="1327"/>
              <a:ext cx="582" cy="139"/>
              <a:chOff x="614" y="2568"/>
              <a:chExt cx="725" cy="139"/>
            </a:xfrm>
          </p:grpSpPr>
          <p:sp>
            <p:nvSpPr>
              <p:cNvPr id="897" name="AutoShape 378">
                <a:extLst>
                  <a:ext uri="{FF2B5EF4-FFF2-40B4-BE49-F238E27FC236}">
                    <a16:creationId xmlns:a16="http://schemas.microsoft.com/office/drawing/2014/main" id="{6AF22F59-81FC-284E-9ED3-B8543A67EC4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98" name="AutoShape 379">
                <a:extLst>
                  <a:ext uri="{FF2B5EF4-FFF2-40B4-BE49-F238E27FC236}">
                    <a16:creationId xmlns:a16="http://schemas.microsoft.com/office/drawing/2014/main" id="{59F0C798-93FE-2E49-A5BB-F37B2B375CA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886" name="Rectangle 380">
              <a:extLst>
                <a:ext uri="{FF2B5EF4-FFF2-40B4-BE49-F238E27FC236}">
                  <a16:creationId xmlns:a16="http://schemas.microsoft.com/office/drawing/2014/main" id="{D7204B38-E79D-704F-9D1A-7946FE0F7A17}"/>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87" name="Freeform 381">
              <a:extLst>
                <a:ext uri="{FF2B5EF4-FFF2-40B4-BE49-F238E27FC236}">
                  <a16:creationId xmlns:a16="http://schemas.microsoft.com/office/drawing/2014/main" id="{B297E38E-B1EF-904E-B58B-D3DB570632A7}"/>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8" name="Freeform 382">
              <a:extLst>
                <a:ext uri="{FF2B5EF4-FFF2-40B4-BE49-F238E27FC236}">
                  <a16:creationId xmlns:a16="http://schemas.microsoft.com/office/drawing/2014/main" id="{D9CB8A91-EFB4-EF48-9D5A-800AA7662CE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9" name="Oval 383">
              <a:extLst>
                <a:ext uri="{FF2B5EF4-FFF2-40B4-BE49-F238E27FC236}">
                  <a16:creationId xmlns:a16="http://schemas.microsoft.com/office/drawing/2014/main" id="{8987F49C-0A2B-AD46-A559-3662A098901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90" name="Freeform 384">
              <a:extLst>
                <a:ext uri="{FF2B5EF4-FFF2-40B4-BE49-F238E27FC236}">
                  <a16:creationId xmlns:a16="http://schemas.microsoft.com/office/drawing/2014/main" id="{56272E2A-B37E-7040-8FE7-B9446851752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91" name="AutoShape 385">
              <a:extLst>
                <a:ext uri="{FF2B5EF4-FFF2-40B4-BE49-F238E27FC236}">
                  <a16:creationId xmlns:a16="http://schemas.microsoft.com/office/drawing/2014/main" id="{265AE34B-C24C-4244-B2E1-823D47AD434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92" name="AutoShape 386">
              <a:extLst>
                <a:ext uri="{FF2B5EF4-FFF2-40B4-BE49-F238E27FC236}">
                  <a16:creationId xmlns:a16="http://schemas.microsoft.com/office/drawing/2014/main" id="{10E44DC8-F69D-5545-9E57-740FE4383A04}"/>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93" name="Oval 387">
              <a:extLst>
                <a:ext uri="{FF2B5EF4-FFF2-40B4-BE49-F238E27FC236}">
                  <a16:creationId xmlns:a16="http://schemas.microsoft.com/office/drawing/2014/main" id="{FD342163-1DC9-1B48-BEA0-1620ABB4E923}"/>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94" name="Oval 388">
              <a:extLst>
                <a:ext uri="{FF2B5EF4-FFF2-40B4-BE49-F238E27FC236}">
                  <a16:creationId xmlns:a16="http://schemas.microsoft.com/office/drawing/2014/main" id="{CA07F370-4D95-0740-89A3-264118D23696}"/>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895" name="Oval 389">
              <a:extLst>
                <a:ext uri="{FF2B5EF4-FFF2-40B4-BE49-F238E27FC236}">
                  <a16:creationId xmlns:a16="http://schemas.microsoft.com/office/drawing/2014/main" id="{7A871C45-6926-0144-A9DA-1CB846474E1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96" name="Rectangle 390">
              <a:extLst>
                <a:ext uri="{FF2B5EF4-FFF2-40B4-BE49-F238E27FC236}">
                  <a16:creationId xmlns:a16="http://schemas.microsoft.com/office/drawing/2014/main" id="{93478FB3-BB83-904F-BDCC-D9C78F5D8467}"/>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905" name="Group 391">
            <a:extLst>
              <a:ext uri="{FF2B5EF4-FFF2-40B4-BE49-F238E27FC236}">
                <a16:creationId xmlns:a16="http://schemas.microsoft.com/office/drawing/2014/main" id="{B94C15E5-CBA5-2940-8689-484338C5321F}"/>
              </a:ext>
            </a:extLst>
          </p:cNvPr>
          <p:cNvGrpSpPr>
            <a:grpSpLocks/>
          </p:cNvGrpSpPr>
          <p:nvPr/>
        </p:nvGrpSpPr>
        <p:grpSpPr bwMode="auto">
          <a:xfrm>
            <a:off x="8242300" y="5913484"/>
            <a:ext cx="231775" cy="441325"/>
            <a:chOff x="4140" y="429"/>
            <a:chExt cx="1425" cy="2396"/>
          </a:xfrm>
        </p:grpSpPr>
        <p:sp>
          <p:nvSpPr>
            <p:cNvPr id="906" name="Freeform 392">
              <a:extLst>
                <a:ext uri="{FF2B5EF4-FFF2-40B4-BE49-F238E27FC236}">
                  <a16:creationId xmlns:a16="http://schemas.microsoft.com/office/drawing/2014/main" id="{4F66A60C-4523-1247-B22F-E614C232321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07" name="Rectangle 393">
              <a:extLst>
                <a:ext uri="{FF2B5EF4-FFF2-40B4-BE49-F238E27FC236}">
                  <a16:creationId xmlns:a16="http://schemas.microsoft.com/office/drawing/2014/main" id="{61D620F7-773E-9447-BBE9-EADB205BA352}"/>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08" name="Freeform 394">
              <a:extLst>
                <a:ext uri="{FF2B5EF4-FFF2-40B4-BE49-F238E27FC236}">
                  <a16:creationId xmlns:a16="http://schemas.microsoft.com/office/drawing/2014/main" id="{68051943-1F78-7D4F-9003-02B33D5103D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09" name="Freeform 395">
              <a:extLst>
                <a:ext uri="{FF2B5EF4-FFF2-40B4-BE49-F238E27FC236}">
                  <a16:creationId xmlns:a16="http://schemas.microsoft.com/office/drawing/2014/main" id="{CFD52F3A-7D38-814B-ACF7-C2DABDAC01F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10" name="Rectangle 396">
              <a:extLst>
                <a:ext uri="{FF2B5EF4-FFF2-40B4-BE49-F238E27FC236}">
                  <a16:creationId xmlns:a16="http://schemas.microsoft.com/office/drawing/2014/main" id="{ED4FE6BC-E863-0A40-A1BF-59B1EE6E65F0}"/>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11" name="Group 397">
              <a:extLst>
                <a:ext uri="{FF2B5EF4-FFF2-40B4-BE49-F238E27FC236}">
                  <a16:creationId xmlns:a16="http://schemas.microsoft.com/office/drawing/2014/main" id="{B0820A9D-B93E-724D-B70E-1CA866696055}"/>
                </a:ext>
              </a:extLst>
            </p:cNvPr>
            <p:cNvGrpSpPr>
              <a:grpSpLocks/>
            </p:cNvGrpSpPr>
            <p:nvPr/>
          </p:nvGrpSpPr>
          <p:grpSpPr bwMode="auto">
            <a:xfrm>
              <a:off x="4749" y="668"/>
              <a:ext cx="581" cy="145"/>
              <a:chOff x="614" y="2568"/>
              <a:chExt cx="725" cy="139"/>
            </a:xfrm>
          </p:grpSpPr>
          <p:sp>
            <p:nvSpPr>
              <p:cNvPr id="936" name="AutoShape 398">
                <a:extLst>
                  <a:ext uri="{FF2B5EF4-FFF2-40B4-BE49-F238E27FC236}">
                    <a16:creationId xmlns:a16="http://schemas.microsoft.com/office/drawing/2014/main" id="{C731DD29-B1AF-B140-BF66-9AA1704AA0DA}"/>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37" name="AutoShape 399">
                <a:extLst>
                  <a:ext uri="{FF2B5EF4-FFF2-40B4-BE49-F238E27FC236}">
                    <a16:creationId xmlns:a16="http://schemas.microsoft.com/office/drawing/2014/main" id="{69450BC6-9D04-5E41-AAFA-3248B29893B9}"/>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12" name="Rectangle 400">
              <a:extLst>
                <a:ext uri="{FF2B5EF4-FFF2-40B4-BE49-F238E27FC236}">
                  <a16:creationId xmlns:a16="http://schemas.microsoft.com/office/drawing/2014/main" id="{1E68D328-8CD6-494C-8980-4A62098558E2}"/>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13" name="Group 401">
              <a:extLst>
                <a:ext uri="{FF2B5EF4-FFF2-40B4-BE49-F238E27FC236}">
                  <a16:creationId xmlns:a16="http://schemas.microsoft.com/office/drawing/2014/main" id="{80ABD857-57C1-6042-8F03-E798080B040D}"/>
                </a:ext>
              </a:extLst>
            </p:cNvPr>
            <p:cNvGrpSpPr>
              <a:grpSpLocks/>
            </p:cNvGrpSpPr>
            <p:nvPr/>
          </p:nvGrpSpPr>
          <p:grpSpPr bwMode="auto">
            <a:xfrm>
              <a:off x="4747" y="994"/>
              <a:ext cx="581" cy="134"/>
              <a:chOff x="614" y="2568"/>
              <a:chExt cx="725" cy="139"/>
            </a:xfrm>
          </p:grpSpPr>
          <p:sp>
            <p:nvSpPr>
              <p:cNvPr id="934" name="AutoShape 402">
                <a:extLst>
                  <a:ext uri="{FF2B5EF4-FFF2-40B4-BE49-F238E27FC236}">
                    <a16:creationId xmlns:a16="http://schemas.microsoft.com/office/drawing/2014/main" id="{F3B87B92-FEB0-5347-AD64-CA0F25689BD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35" name="AutoShape 403">
                <a:extLst>
                  <a:ext uri="{FF2B5EF4-FFF2-40B4-BE49-F238E27FC236}">
                    <a16:creationId xmlns:a16="http://schemas.microsoft.com/office/drawing/2014/main" id="{9936A920-B1F4-C14C-B5C6-409A7AFE847A}"/>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14" name="Rectangle 404">
              <a:extLst>
                <a:ext uri="{FF2B5EF4-FFF2-40B4-BE49-F238E27FC236}">
                  <a16:creationId xmlns:a16="http://schemas.microsoft.com/office/drawing/2014/main" id="{0F04EEB4-7896-7D4A-BCDA-62B0C7B9FA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15" name="Rectangle 405">
              <a:extLst>
                <a:ext uri="{FF2B5EF4-FFF2-40B4-BE49-F238E27FC236}">
                  <a16:creationId xmlns:a16="http://schemas.microsoft.com/office/drawing/2014/main" id="{5909BD1D-CACF-D748-A5B9-4C7904EECC44}"/>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16" name="Group 406">
              <a:extLst>
                <a:ext uri="{FF2B5EF4-FFF2-40B4-BE49-F238E27FC236}">
                  <a16:creationId xmlns:a16="http://schemas.microsoft.com/office/drawing/2014/main" id="{F985F348-C548-C043-912F-5350B438D3C0}"/>
                </a:ext>
              </a:extLst>
            </p:cNvPr>
            <p:cNvGrpSpPr>
              <a:grpSpLocks/>
            </p:cNvGrpSpPr>
            <p:nvPr/>
          </p:nvGrpSpPr>
          <p:grpSpPr bwMode="auto">
            <a:xfrm>
              <a:off x="4735" y="1627"/>
              <a:ext cx="582" cy="151"/>
              <a:chOff x="614" y="2568"/>
              <a:chExt cx="725" cy="139"/>
            </a:xfrm>
          </p:grpSpPr>
          <p:sp>
            <p:nvSpPr>
              <p:cNvPr id="932" name="AutoShape 407">
                <a:extLst>
                  <a:ext uri="{FF2B5EF4-FFF2-40B4-BE49-F238E27FC236}">
                    <a16:creationId xmlns:a16="http://schemas.microsoft.com/office/drawing/2014/main" id="{F70F083E-0DB4-B64D-BC78-036B8F2D460F}"/>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33" name="AutoShape 408">
                <a:extLst>
                  <a:ext uri="{FF2B5EF4-FFF2-40B4-BE49-F238E27FC236}">
                    <a16:creationId xmlns:a16="http://schemas.microsoft.com/office/drawing/2014/main" id="{EDA150B8-1FBA-3A43-8152-77EF2D3FD366}"/>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17" name="Freeform 409">
              <a:extLst>
                <a:ext uri="{FF2B5EF4-FFF2-40B4-BE49-F238E27FC236}">
                  <a16:creationId xmlns:a16="http://schemas.microsoft.com/office/drawing/2014/main" id="{A4EE2C33-4CEF-F64E-8D2C-C9DFC11B0CF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18" name="Group 410">
              <a:extLst>
                <a:ext uri="{FF2B5EF4-FFF2-40B4-BE49-F238E27FC236}">
                  <a16:creationId xmlns:a16="http://schemas.microsoft.com/office/drawing/2014/main" id="{D5237434-45E3-9B43-B435-70ECE4BC17C6}"/>
                </a:ext>
              </a:extLst>
            </p:cNvPr>
            <p:cNvGrpSpPr>
              <a:grpSpLocks/>
            </p:cNvGrpSpPr>
            <p:nvPr/>
          </p:nvGrpSpPr>
          <p:grpSpPr bwMode="auto">
            <a:xfrm>
              <a:off x="4739" y="1327"/>
              <a:ext cx="582" cy="139"/>
              <a:chOff x="614" y="2568"/>
              <a:chExt cx="725" cy="139"/>
            </a:xfrm>
          </p:grpSpPr>
          <p:sp>
            <p:nvSpPr>
              <p:cNvPr id="930" name="AutoShape 411">
                <a:extLst>
                  <a:ext uri="{FF2B5EF4-FFF2-40B4-BE49-F238E27FC236}">
                    <a16:creationId xmlns:a16="http://schemas.microsoft.com/office/drawing/2014/main" id="{FE241821-A07C-5E45-9536-5C4C0DCB2EE2}"/>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31" name="AutoShape 412">
                <a:extLst>
                  <a:ext uri="{FF2B5EF4-FFF2-40B4-BE49-F238E27FC236}">
                    <a16:creationId xmlns:a16="http://schemas.microsoft.com/office/drawing/2014/main" id="{A291E061-47B5-8B40-B857-3700BEC1CF9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19" name="Rectangle 413">
              <a:extLst>
                <a:ext uri="{FF2B5EF4-FFF2-40B4-BE49-F238E27FC236}">
                  <a16:creationId xmlns:a16="http://schemas.microsoft.com/office/drawing/2014/main" id="{DD501FF1-6533-124E-B747-F46FD4739AA5}"/>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20" name="Freeform 414">
              <a:extLst>
                <a:ext uri="{FF2B5EF4-FFF2-40B4-BE49-F238E27FC236}">
                  <a16:creationId xmlns:a16="http://schemas.microsoft.com/office/drawing/2014/main" id="{DCD7A571-3F8E-5B4C-AE78-445B1D4AE2C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21" name="Freeform 415">
              <a:extLst>
                <a:ext uri="{FF2B5EF4-FFF2-40B4-BE49-F238E27FC236}">
                  <a16:creationId xmlns:a16="http://schemas.microsoft.com/office/drawing/2014/main" id="{938BC4F2-A426-3F45-8FD9-7FA2DBEC0307}"/>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22" name="Oval 416">
              <a:extLst>
                <a:ext uri="{FF2B5EF4-FFF2-40B4-BE49-F238E27FC236}">
                  <a16:creationId xmlns:a16="http://schemas.microsoft.com/office/drawing/2014/main" id="{AF98DFA3-988A-EC49-B271-BC58A8724EDD}"/>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23" name="Freeform 417">
              <a:extLst>
                <a:ext uri="{FF2B5EF4-FFF2-40B4-BE49-F238E27FC236}">
                  <a16:creationId xmlns:a16="http://schemas.microsoft.com/office/drawing/2014/main" id="{A196ACD0-B52A-594C-BD08-5F7FA59EA3F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24" name="AutoShape 418">
              <a:extLst>
                <a:ext uri="{FF2B5EF4-FFF2-40B4-BE49-F238E27FC236}">
                  <a16:creationId xmlns:a16="http://schemas.microsoft.com/office/drawing/2014/main" id="{31CD3BB6-E02C-FF4B-963F-83FAE08F49B8}"/>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25" name="AutoShape 419">
              <a:extLst>
                <a:ext uri="{FF2B5EF4-FFF2-40B4-BE49-F238E27FC236}">
                  <a16:creationId xmlns:a16="http://schemas.microsoft.com/office/drawing/2014/main" id="{348C19C6-E3E4-6244-86AE-3030DDC92A47}"/>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26" name="Oval 420">
              <a:extLst>
                <a:ext uri="{FF2B5EF4-FFF2-40B4-BE49-F238E27FC236}">
                  <a16:creationId xmlns:a16="http://schemas.microsoft.com/office/drawing/2014/main" id="{427211E2-1972-7141-998C-496F47DB8C74}"/>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27" name="Oval 421">
              <a:extLst>
                <a:ext uri="{FF2B5EF4-FFF2-40B4-BE49-F238E27FC236}">
                  <a16:creationId xmlns:a16="http://schemas.microsoft.com/office/drawing/2014/main" id="{A4986518-BD9B-5B44-985C-6F2FB20BB7B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928" name="Oval 422">
              <a:extLst>
                <a:ext uri="{FF2B5EF4-FFF2-40B4-BE49-F238E27FC236}">
                  <a16:creationId xmlns:a16="http://schemas.microsoft.com/office/drawing/2014/main" id="{410B6E44-7449-9E43-AFBD-60C7C42E260D}"/>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29" name="Rectangle 423">
              <a:extLst>
                <a:ext uri="{FF2B5EF4-FFF2-40B4-BE49-F238E27FC236}">
                  <a16:creationId xmlns:a16="http://schemas.microsoft.com/office/drawing/2014/main" id="{B13CD25C-C312-244E-B0BF-CD83F0BBA536}"/>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938" name="Group 424">
            <a:extLst>
              <a:ext uri="{FF2B5EF4-FFF2-40B4-BE49-F238E27FC236}">
                <a16:creationId xmlns:a16="http://schemas.microsoft.com/office/drawing/2014/main" id="{E9EBF6A3-E9F0-8746-A258-7B6F1E3DA995}"/>
              </a:ext>
            </a:extLst>
          </p:cNvPr>
          <p:cNvGrpSpPr>
            <a:grpSpLocks/>
          </p:cNvGrpSpPr>
          <p:nvPr/>
        </p:nvGrpSpPr>
        <p:grpSpPr bwMode="auto">
          <a:xfrm>
            <a:off x="1689100" y="5749972"/>
            <a:ext cx="231775" cy="441325"/>
            <a:chOff x="4140" y="429"/>
            <a:chExt cx="1425" cy="2396"/>
          </a:xfrm>
        </p:grpSpPr>
        <p:sp>
          <p:nvSpPr>
            <p:cNvPr id="939" name="Freeform 425">
              <a:extLst>
                <a:ext uri="{FF2B5EF4-FFF2-40B4-BE49-F238E27FC236}">
                  <a16:creationId xmlns:a16="http://schemas.microsoft.com/office/drawing/2014/main" id="{317EF1EB-033C-B541-875F-F971EF4C96A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40" name="Rectangle 426">
              <a:extLst>
                <a:ext uri="{FF2B5EF4-FFF2-40B4-BE49-F238E27FC236}">
                  <a16:creationId xmlns:a16="http://schemas.microsoft.com/office/drawing/2014/main" id="{7DE336F4-7D1A-AD4C-B804-3C17B5FDDBE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41" name="Freeform 427">
              <a:extLst>
                <a:ext uri="{FF2B5EF4-FFF2-40B4-BE49-F238E27FC236}">
                  <a16:creationId xmlns:a16="http://schemas.microsoft.com/office/drawing/2014/main" id="{2EF9F335-3899-2649-A235-1B2F287E3EA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42" name="Freeform 428">
              <a:extLst>
                <a:ext uri="{FF2B5EF4-FFF2-40B4-BE49-F238E27FC236}">
                  <a16:creationId xmlns:a16="http://schemas.microsoft.com/office/drawing/2014/main" id="{38F111C0-EACA-674A-B70B-E58450D355E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43" name="Rectangle 429">
              <a:extLst>
                <a:ext uri="{FF2B5EF4-FFF2-40B4-BE49-F238E27FC236}">
                  <a16:creationId xmlns:a16="http://schemas.microsoft.com/office/drawing/2014/main" id="{8FAFAE77-82D3-6944-9183-612E8FADA366}"/>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44" name="Group 430">
              <a:extLst>
                <a:ext uri="{FF2B5EF4-FFF2-40B4-BE49-F238E27FC236}">
                  <a16:creationId xmlns:a16="http://schemas.microsoft.com/office/drawing/2014/main" id="{C9C3B06D-1446-984E-8533-C1D0EC6B486C}"/>
                </a:ext>
              </a:extLst>
            </p:cNvPr>
            <p:cNvGrpSpPr>
              <a:grpSpLocks/>
            </p:cNvGrpSpPr>
            <p:nvPr/>
          </p:nvGrpSpPr>
          <p:grpSpPr bwMode="auto">
            <a:xfrm>
              <a:off x="4749" y="668"/>
              <a:ext cx="581" cy="145"/>
              <a:chOff x="614" y="2568"/>
              <a:chExt cx="725" cy="139"/>
            </a:xfrm>
          </p:grpSpPr>
          <p:sp>
            <p:nvSpPr>
              <p:cNvPr id="969" name="AutoShape 431">
                <a:extLst>
                  <a:ext uri="{FF2B5EF4-FFF2-40B4-BE49-F238E27FC236}">
                    <a16:creationId xmlns:a16="http://schemas.microsoft.com/office/drawing/2014/main" id="{B80496C4-049D-954C-A5E2-DFF3BE40A452}"/>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70" name="AutoShape 432">
                <a:extLst>
                  <a:ext uri="{FF2B5EF4-FFF2-40B4-BE49-F238E27FC236}">
                    <a16:creationId xmlns:a16="http://schemas.microsoft.com/office/drawing/2014/main" id="{E94FA028-F9BF-5049-A877-C2D7FDCD9015}"/>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45" name="Rectangle 433">
              <a:extLst>
                <a:ext uri="{FF2B5EF4-FFF2-40B4-BE49-F238E27FC236}">
                  <a16:creationId xmlns:a16="http://schemas.microsoft.com/office/drawing/2014/main" id="{1C7D30E0-62C3-8547-BC1B-55D6857A2A8C}"/>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46" name="Group 434">
              <a:extLst>
                <a:ext uri="{FF2B5EF4-FFF2-40B4-BE49-F238E27FC236}">
                  <a16:creationId xmlns:a16="http://schemas.microsoft.com/office/drawing/2014/main" id="{CAA280D4-E674-2E4D-847F-F365F1274CA6}"/>
                </a:ext>
              </a:extLst>
            </p:cNvPr>
            <p:cNvGrpSpPr>
              <a:grpSpLocks/>
            </p:cNvGrpSpPr>
            <p:nvPr/>
          </p:nvGrpSpPr>
          <p:grpSpPr bwMode="auto">
            <a:xfrm>
              <a:off x="4747" y="994"/>
              <a:ext cx="581" cy="134"/>
              <a:chOff x="614" y="2568"/>
              <a:chExt cx="725" cy="139"/>
            </a:xfrm>
          </p:grpSpPr>
          <p:sp>
            <p:nvSpPr>
              <p:cNvPr id="967" name="AutoShape 435">
                <a:extLst>
                  <a:ext uri="{FF2B5EF4-FFF2-40B4-BE49-F238E27FC236}">
                    <a16:creationId xmlns:a16="http://schemas.microsoft.com/office/drawing/2014/main" id="{738D85AC-043C-754D-A78E-BACC8A48207E}"/>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68" name="AutoShape 436">
                <a:extLst>
                  <a:ext uri="{FF2B5EF4-FFF2-40B4-BE49-F238E27FC236}">
                    <a16:creationId xmlns:a16="http://schemas.microsoft.com/office/drawing/2014/main" id="{B76D4B9D-F7C8-E14E-9522-B51842A2DCD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47" name="Rectangle 437">
              <a:extLst>
                <a:ext uri="{FF2B5EF4-FFF2-40B4-BE49-F238E27FC236}">
                  <a16:creationId xmlns:a16="http://schemas.microsoft.com/office/drawing/2014/main" id="{A121AF39-D190-9942-9112-F9B7373DD92F}"/>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48" name="Rectangle 438">
              <a:extLst>
                <a:ext uri="{FF2B5EF4-FFF2-40B4-BE49-F238E27FC236}">
                  <a16:creationId xmlns:a16="http://schemas.microsoft.com/office/drawing/2014/main" id="{9946FEDB-0B41-A441-8DFF-6C8F29D596E3}"/>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49" name="Group 439">
              <a:extLst>
                <a:ext uri="{FF2B5EF4-FFF2-40B4-BE49-F238E27FC236}">
                  <a16:creationId xmlns:a16="http://schemas.microsoft.com/office/drawing/2014/main" id="{087E5FE7-6DA0-E046-A8AD-270F21B72F4B}"/>
                </a:ext>
              </a:extLst>
            </p:cNvPr>
            <p:cNvGrpSpPr>
              <a:grpSpLocks/>
            </p:cNvGrpSpPr>
            <p:nvPr/>
          </p:nvGrpSpPr>
          <p:grpSpPr bwMode="auto">
            <a:xfrm>
              <a:off x="4735" y="1627"/>
              <a:ext cx="582" cy="151"/>
              <a:chOff x="614" y="2568"/>
              <a:chExt cx="725" cy="139"/>
            </a:xfrm>
          </p:grpSpPr>
          <p:sp>
            <p:nvSpPr>
              <p:cNvPr id="965" name="AutoShape 440">
                <a:extLst>
                  <a:ext uri="{FF2B5EF4-FFF2-40B4-BE49-F238E27FC236}">
                    <a16:creationId xmlns:a16="http://schemas.microsoft.com/office/drawing/2014/main" id="{039CD5C6-4A2D-F248-8B0E-32167F37202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66" name="AutoShape 441">
                <a:extLst>
                  <a:ext uri="{FF2B5EF4-FFF2-40B4-BE49-F238E27FC236}">
                    <a16:creationId xmlns:a16="http://schemas.microsoft.com/office/drawing/2014/main" id="{E70B0960-3C6E-5040-8F34-E0B99EDAF366}"/>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50" name="Freeform 442">
              <a:extLst>
                <a:ext uri="{FF2B5EF4-FFF2-40B4-BE49-F238E27FC236}">
                  <a16:creationId xmlns:a16="http://schemas.microsoft.com/office/drawing/2014/main" id="{17BD7AC4-5373-C941-88AB-B26440D32685}"/>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51" name="Group 443">
              <a:extLst>
                <a:ext uri="{FF2B5EF4-FFF2-40B4-BE49-F238E27FC236}">
                  <a16:creationId xmlns:a16="http://schemas.microsoft.com/office/drawing/2014/main" id="{C7BD3591-3619-7E4C-9B6A-55A758416E82}"/>
                </a:ext>
              </a:extLst>
            </p:cNvPr>
            <p:cNvGrpSpPr>
              <a:grpSpLocks/>
            </p:cNvGrpSpPr>
            <p:nvPr/>
          </p:nvGrpSpPr>
          <p:grpSpPr bwMode="auto">
            <a:xfrm>
              <a:off x="4739" y="1327"/>
              <a:ext cx="582" cy="139"/>
              <a:chOff x="614" y="2568"/>
              <a:chExt cx="725" cy="139"/>
            </a:xfrm>
          </p:grpSpPr>
          <p:sp>
            <p:nvSpPr>
              <p:cNvPr id="963" name="AutoShape 444">
                <a:extLst>
                  <a:ext uri="{FF2B5EF4-FFF2-40B4-BE49-F238E27FC236}">
                    <a16:creationId xmlns:a16="http://schemas.microsoft.com/office/drawing/2014/main" id="{C694EDB9-4E43-7042-9083-DC97B66DE3A3}"/>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64" name="AutoShape 445">
                <a:extLst>
                  <a:ext uri="{FF2B5EF4-FFF2-40B4-BE49-F238E27FC236}">
                    <a16:creationId xmlns:a16="http://schemas.microsoft.com/office/drawing/2014/main" id="{2AB5642F-0A02-6B42-AF90-50B0A18117A6}"/>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52" name="Rectangle 446">
              <a:extLst>
                <a:ext uri="{FF2B5EF4-FFF2-40B4-BE49-F238E27FC236}">
                  <a16:creationId xmlns:a16="http://schemas.microsoft.com/office/drawing/2014/main" id="{2AFCC6E7-BFA9-B440-8D4B-84D103A08926}"/>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53" name="Freeform 447">
              <a:extLst>
                <a:ext uri="{FF2B5EF4-FFF2-40B4-BE49-F238E27FC236}">
                  <a16:creationId xmlns:a16="http://schemas.microsoft.com/office/drawing/2014/main" id="{82204651-13E9-F04B-82D6-6A223B2E11E9}"/>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54" name="Freeform 448">
              <a:extLst>
                <a:ext uri="{FF2B5EF4-FFF2-40B4-BE49-F238E27FC236}">
                  <a16:creationId xmlns:a16="http://schemas.microsoft.com/office/drawing/2014/main" id="{6922DA35-3C04-774C-8ACF-153A173C658F}"/>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55" name="Oval 449">
              <a:extLst>
                <a:ext uri="{FF2B5EF4-FFF2-40B4-BE49-F238E27FC236}">
                  <a16:creationId xmlns:a16="http://schemas.microsoft.com/office/drawing/2014/main" id="{C23E4235-11FF-984D-A57A-C75AD14601A9}"/>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56" name="Freeform 450">
              <a:extLst>
                <a:ext uri="{FF2B5EF4-FFF2-40B4-BE49-F238E27FC236}">
                  <a16:creationId xmlns:a16="http://schemas.microsoft.com/office/drawing/2014/main" id="{59166102-C946-C84E-A8E6-A50DC889B2E2}"/>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57" name="AutoShape 451">
              <a:extLst>
                <a:ext uri="{FF2B5EF4-FFF2-40B4-BE49-F238E27FC236}">
                  <a16:creationId xmlns:a16="http://schemas.microsoft.com/office/drawing/2014/main" id="{DB6EAA21-8AC6-7643-85FF-FFC300E9E71D}"/>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58" name="AutoShape 452">
              <a:extLst>
                <a:ext uri="{FF2B5EF4-FFF2-40B4-BE49-F238E27FC236}">
                  <a16:creationId xmlns:a16="http://schemas.microsoft.com/office/drawing/2014/main" id="{15D9F3D2-6ED8-4C4F-BB56-E545BDE0C428}"/>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59" name="Oval 453">
              <a:extLst>
                <a:ext uri="{FF2B5EF4-FFF2-40B4-BE49-F238E27FC236}">
                  <a16:creationId xmlns:a16="http://schemas.microsoft.com/office/drawing/2014/main" id="{D05548EE-6B5D-D146-AE13-3B37C643B54E}"/>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60" name="Oval 454">
              <a:extLst>
                <a:ext uri="{FF2B5EF4-FFF2-40B4-BE49-F238E27FC236}">
                  <a16:creationId xmlns:a16="http://schemas.microsoft.com/office/drawing/2014/main" id="{BA9CDE26-F880-424F-ACDF-5A5386DB084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961" name="Oval 455">
              <a:extLst>
                <a:ext uri="{FF2B5EF4-FFF2-40B4-BE49-F238E27FC236}">
                  <a16:creationId xmlns:a16="http://schemas.microsoft.com/office/drawing/2014/main" id="{ADD01E69-6DBA-9443-B258-925348F541E2}"/>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62" name="Rectangle 456">
              <a:extLst>
                <a:ext uri="{FF2B5EF4-FFF2-40B4-BE49-F238E27FC236}">
                  <a16:creationId xmlns:a16="http://schemas.microsoft.com/office/drawing/2014/main" id="{60515F24-76C5-D241-9374-EDF990578674}"/>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17" name="Group 316">
            <a:extLst>
              <a:ext uri="{FF2B5EF4-FFF2-40B4-BE49-F238E27FC236}">
                <a16:creationId xmlns:a16="http://schemas.microsoft.com/office/drawing/2014/main" id="{C425A84F-46B8-754A-9724-6E2F7CE21E32}"/>
              </a:ext>
            </a:extLst>
          </p:cNvPr>
          <p:cNvGrpSpPr/>
          <p:nvPr/>
        </p:nvGrpSpPr>
        <p:grpSpPr>
          <a:xfrm>
            <a:off x="7928343" y="3253082"/>
            <a:ext cx="616281" cy="869387"/>
            <a:chOff x="10910965" y="2513124"/>
            <a:chExt cx="586768" cy="904023"/>
          </a:xfrm>
        </p:grpSpPr>
        <p:sp>
          <p:nvSpPr>
            <p:cNvPr id="318" name="Rectangle 317">
              <a:extLst>
                <a:ext uri="{FF2B5EF4-FFF2-40B4-BE49-F238E27FC236}">
                  <a16:creationId xmlns:a16="http://schemas.microsoft.com/office/drawing/2014/main" id="{8936A3DE-03D8-EE46-B893-03954ECF8D91}"/>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19" name="Straight Connector 318">
              <a:extLst>
                <a:ext uri="{FF2B5EF4-FFF2-40B4-BE49-F238E27FC236}">
                  <a16:creationId xmlns:a16="http://schemas.microsoft.com/office/drawing/2014/main" id="{6D7E9975-BFAD-8342-A28D-A44C4EE2D551}"/>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EA99EF4C-F055-BE41-BC0C-7222F834FC82}"/>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62BE39BD-E7EF-F549-B80A-D6DB578AC9F3}"/>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263E7FDF-996A-D047-B0F4-86BAA87A454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E5D22A11-B9BD-7D47-BC69-0B40AFC1DDE5}"/>
              </a:ext>
            </a:extLst>
          </p:cNvPr>
          <p:cNvCxnSpPr>
            <a:cxnSpLocks/>
          </p:cNvCxnSpPr>
          <p:nvPr/>
        </p:nvCxnSpPr>
        <p:spPr>
          <a:xfrm>
            <a:off x="3769031" y="4119717"/>
            <a:ext cx="130769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71" name="Group 457">
            <a:extLst>
              <a:ext uri="{FF2B5EF4-FFF2-40B4-BE49-F238E27FC236}">
                <a16:creationId xmlns:a16="http://schemas.microsoft.com/office/drawing/2014/main" id="{C6E45B59-E267-7B45-B2BC-74C688AEE131}"/>
              </a:ext>
            </a:extLst>
          </p:cNvPr>
          <p:cNvGrpSpPr>
            <a:grpSpLocks/>
          </p:cNvGrpSpPr>
          <p:nvPr/>
        </p:nvGrpSpPr>
        <p:grpSpPr bwMode="auto">
          <a:xfrm>
            <a:off x="3703638" y="3744959"/>
            <a:ext cx="231775" cy="441325"/>
            <a:chOff x="4140" y="429"/>
            <a:chExt cx="1425" cy="2396"/>
          </a:xfrm>
        </p:grpSpPr>
        <p:sp>
          <p:nvSpPr>
            <p:cNvPr id="972" name="Freeform 458">
              <a:extLst>
                <a:ext uri="{FF2B5EF4-FFF2-40B4-BE49-F238E27FC236}">
                  <a16:creationId xmlns:a16="http://schemas.microsoft.com/office/drawing/2014/main" id="{7DD04F7D-0DF7-5F46-95E0-951160D158F9}"/>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73" name="Rectangle 459">
              <a:extLst>
                <a:ext uri="{FF2B5EF4-FFF2-40B4-BE49-F238E27FC236}">
                  <a16:creationId xmlns:a16="http://schemas.microsoft.com/office/drawing/2014/main" id="{A482EC7C-40E6-5541-87E2-CC0AD47E1583}"/>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74" name="Freeform 460">
              <a:extLst>
                <a:ext uri="{FF2B5EF4-FFF2-40B4-BE49-F238E27FC236}">
                  <a16:creationId xmlns:a16="http://schemas.microsoft.com/office/drawing/2014/main" id="{09B2489F-DA46-8142-BD8E-C1442F2160E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75" name="Freeform 461">
              <a:extLst>
                <a:ext uri="{FF2B5EF4-FFF2-40B4-BE49-F238E27FC236}">
                  <a16:creationId xmlns:a16="http://schemas.microsoft.com/office/drawing/2014/main" id="{8560579B-50AA-8744-885F-62D076AE41F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76" name="Rectangle 462">
              <a:extLst>
                <a:ext uri="{FF2B5EF4-FFF2-40B4-BE49-F238E27FC236}">
                  <a16:creationId xmlns:a16="http://schemas.microsoft.com/office/drawing/2014/main" id="{981079A7-2423-4D45-ABF9-335D31DA322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77" name="Group 463">
              <a:extLst>
                <a:ext uri="{FF2B5EF4-FFF2-40B4-BE49-F238E27FC236}">
                  <a16:creationId xmlns:a16="http://schemas.microsoft.com/office/drawing/2014/main" id="{F60D08F5-01A8-1B47-9530-A60B84910B0F}"/>
                </a:ext>
              </a:extLst>
            </p:cNvPr>
            <p:cNvGrpSpPr>
              <a:grpSpLocks/>
            </p:cNvGrpSpPr>
            <p:nvPr/>
          </p:nvGrpSpPr>
          <p:grpSpPr bwMode="auto">
            <a:xfrm>
              <a:off x="4749" y="668"/>
              <a:ext cx="581" cy="145"/>
              <a:chOff x="614" y="2568"/>
              <a:chExt cx="725" cy="139"/>
            </a:xfrm>
          </p:grpSpPr>
          <p:sp>
            <p:nvSpPr>
              <p:cNvPr id="1002" name="AutoShape 464">
                <a:extLst>
                  <a:ext uri="{FF2B5EF4-FFF2-40B4-BE49-F238E27FC236}">
                    <a16:creationId xmlns:a16="http://schemas.microsoft.com/office/drawing/2014/main" id="{3FACCA5F-6077-7140-A10F-814A4CEC8338}"/>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3" name="AutoShape 465">
                <a:extLst>
                  <a:ext uri="{FF2B5EF4-FFF2-40B4-BE49-F238E27FC236}">
                    <a16:creationId xmlns:a16="http://schemas.microsoft.com/office/drawing/2014/main" id="{F7CA1427-C3CB-EB4A-9376-38E19F4B8442}"/>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78" name="Rectangle 466">
              <a:extLst>
                <a:ext uri="{FF2B5EF4-FFF2-40B4-BE49-F238E27FC236}">
                  <a16:creationId xmlns:a16="http://schemas.microsoft.com/office/drawing/2014/main" id="{837C26C6-C274-5F4E-89AD-0D0A0063C5DB}"/>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79" name="Group 467">
              <a:extLst>
                <a:ext uri="{FF2B5EF4-FFF2-40B4-BE49-F238E27FC236}">
                  <a16:creationId xmlns:a16="http://schemas.microsoft.com/office/drawing/2014/main" id="{866E97C1-381B-D941-9CAC-1F7B64147C85}"/>
                </a:ext>
              </a:extLst>
            </p:cNvPr>
            <p:cNvGrpSpPr>
              <a:grpSpLocks/>
            </p:cNvGrpSpPr>
            <p:nvPr/>
          </p:nvGrpSpPr>
          <p:grpSpPr bwMode="auto">
            <a:xfrm>
              <a:off x="4747" y="994"/>
              <a:ext cx="581" cy="134"/>
              <a:chOff x="614" y="2568"/>
              <a:chExt cx="725" cy="139"/>
            </a:xfrm>
          </p:grpSpPr>
          <p:sp>
            <p:nvSpPr>
              <p:cNvPr id="1000" name="AutoShape 468">
                <a:extLst>
                  <a:ext uri="{FF2B5EF4-FFF2-40B4-BE49-F238E27FC236}">
                    <a16:creationId xmlns:a16="http://schemas.microsoft.com/office/drawing/2014/main" id="{089E79CA-EA5F-F845-8135-381DDCE2B7F6}"/>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1" name="AutoShape 469">
                <a:extLst>
                  <a:ext uri="{FF2B5EF4-FFF2-40B4-BE49-F238E27FC236}">
                    <a16:creationId xmlns:a16="http://schemas.microsoft.com/office/drawing/2014/main" id="{CEC382CF-D42E-C148-B554-D931AF3DAF63}"/>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80" name="Rectangle 470">
              <a:extLst>
                <a:ext uri="{FF2B5EF4-FFF2-40B4-BE49-F238E27FC236}">
                  <a16:creationId xmlns:a16="http://schemas.microsoft.com/office/drawing/2014/main" id="{39C56472-C924-2940-B17A-5BD33A2B2568}"/>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81" name="Rectangle 471">
              <a:extLst>
                <a:ext uri="{FF2B5EF4-FFF2-40B4-BE49-F238E27FC236}">
                  <a16:creationId xmlns:a16="http://schemas.microsoft.com/office/drawing/2014/main" id="{48693300-7BC2-F24F-A5EA-5EFC928E335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982" name="Group 472">
              <a:extLst>
                <a:ext uri="{FF2B5EF4-FFF2-40B4-BE49-F238E27FC236}">
                  <a16:creationId xmlns:a16="http://schemas.microsoft.com/office/drawing/2014/main" id="{1BF7C429-6C5C-D54E-BD8C-1990AE08D8B1}"/>
                </a:ext>
              </a:extLst>
            </p:cNvPr>
            <p:cNvGrpSpPr>
              <a:grpSpLocks/>
            </p:cNvGrpSpPr>
            <p:nvPr/>
          </p:nvGrpSpPr>
          <p:grpSpPr bwMode="auto">
            <a:xfrm>
              <a:off x="4735" y="1627"/>
              <a:ext cx="582" cy="151"/>
              <a:chOff x="614" y="2568"/>
              <a:chExt cx="725" cy="139"/>
            </a:xfrm>
          </p:grpSpPr>
          <p:sp>
            <p:nvSpPr>
              <p:cNvPr id="998" name="AutoShape 473">
                <a:extLst>
                  <a:ext uri="{FF2B5EF4-FFF2-40B4-BE49-F238E27FC236}">
                    <a16:creationId xmlns:a16="http://schemas.microsoft.com/office/drawing/2014/main" id="{E12DA08F-762F-8A42-B411-55A6A73043E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9" name="AutoShape 474">
                <a:extLst>
                  <a:ext uri="{FF2B5EF4-FFF2-40B4-BE49-F238E27FC236}">
                    <a16:creationId xmlns:a16="http://schemas.microsoft.com/office/drawing/2014/main" id="{4E5DD8A3-DB1E-5E48-9B40-9CDB93E2F533}"/>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83" name="Freeform 475">
              <a:extLst>
                <a:ext uri="{FF2B5EF4-FFF2-40B4-BE49-F238E27FC236}">
                  <a16:creationId xmlns:a16="http://schemas.microsoft.com/office/drawing/2014/main" id="{6338E658-2064-FE4D-8C90-608F5603D1B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984" name="Group 476">
              <a:extLst>
                <a:ext uri="{FF2B5EF4-FFF2-40B4-BE49-F238E27FC236}">
                  <a16:creationId xmlns:a16="http://schemas.microsoft.com/office/drawing/2014/main" id="{F51EBDA0-8B91-7542-8465-DBEA299056D6}"/>
                </a:ext>
              </a:extLst>
            </p:cNvPr>
            <p:cNvGrpSpPr>
              <a:grpSpLocks/>
            </p:cNvGrpSpPr>
            <p:nvPr/>
          </p:nvGrpSpPr>
          <p:grpSpPr bwMode="auto">
            <a:xfrm>
              <a:off x="4739" y="1327"/>
              <a:ext cx="582" cy="139"/>
              <a:chOff x="614" y="2568"/>
              <a:chExt cx="725" cy="139"/>
            </a:xfrm>
          </p:grpSpPr>
          <p:sp>
            <p:nvSpPr>
              <p:cNvPr id="996" name="AutoShape 477">
                <a:extLst>
                  <a:ext uri="{FF2B5EF4-FFF2-40B4-BE49-F238E27FC236}">
                    <a16:creationId xmlns:a16="http://schemas.microsoft.com/office/drawing/2014/main" id="{EF24BF5B-102B-C340-948F-D8918718BC85}"/>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7" name="AutoShape 478">
                <a:extLst>
                  <a:ext uri="{FF2B5EF4-FFF2-40B4-BE49-F238E27FC236}">
                    <a16:creationId xmlns:a16="http://schemas.microsoft.com/office/drawing/2014/main" id="{140E04CF-3812-F045-8D17-168F7B463C01}"/>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985" name="Rectangle 479">
              <a:extLst>
                <a:ext uri="{FF2B5EF4-FFF2-40B4-BE49-F238E27FC236}">
                  <a16:creationId xmlns:a16="http://schemas.microsoft.com/office/drawing/2014/main" id="{A84A63E1-DEDD-8D48-9DE3-A238F90EAF8E}"/>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86" name="Freeform 480">
              <a:extLst>
                <a:ext uri="{FF2B5EF4-FFF2-40B4-BE49-F238E27FC236}">
                  <a16:creationId xmlns:a16="http://schemas.microsoft.com/office/drawing/2014/main" id="{AA0561AD-7E9C-4449-BC28-22FE95411EC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87" name="Freeform 481">
              <a:extLst>
                <a:ext uri="{FF2B5EF4-FFF2-40B4-BE49-F238E27FC236}">
                  <a16:creationId xmlns:a16="http://schemas.microsoft.com/office/drawing/2014/main" id="{4CD36BC2-CE3A-8647-BA74-07860429897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88" name="Oval 482">
              <a:extLst>
                <a:ext uri="{FF2B5EF4-FFF2-40B4-BE49-F238E27FC236}">
                  <a16:creationId xmlns:a16="http://schemas.microsoft.com/office/drawing/2014/main" id="{20A57E2B-584E-DA4B-8D86-672777B3E25D}"/>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89" name="Freeform 483">
              <a:extLst>
                <a:ext uri="{FF2B5EF4-FFF2-40B4-BE49-F238E27FC236}">
                  <a16:creationId xmlns:a16="http://schemas.microsoft.com/office/drawing/2014/main" id="{6FEFA449-FBC8-864C-B7D9-6DED5AB0CBD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990" name="AutoShape 484">
              <a:extLst>
                <a:ext uri="{FF2B5EF4-FFF2-40B4-BE49-F238E27FC236}">
                  <a16:creationId xmlns:a16="http://schemas.microsoft.com/office/drawing/2014/main" id="{4546C8B6-EBDA-5247-B1B0-B48DEBAFF978}"/>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1" name="AutoShape 485">
              <a:extLst>
                <a:ext uri="{FF2B5EF4-FFF2-40B4-BE49-F238E27FC236}">
                  <a16:creationId xmlns:a16="http://schemas.microsoft.com/office/drawing/2014/main" id="{C05FEF15-30BC-3D4D-8D0F-14F59AB04084}"/>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2" name="Oval 486">
              <a:extLst>
                <a:ext uri="{FF2B5EF4-FFF2-40B4-BE49-F238E27FC236}">
                  <a16:creationId xmlns:a16="http://schemas.microsoft.com/office/drawing/2014/main" id="{ECF2AD08-E62F-C24F-A0CB-5677D25F05B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3" name="Oval 487">
              <a:extLst>
                <a:ext uri="{FF2B5EF4-FFF2-40B4-BE49-F238E27FC236}">
                  <a16:creationId xmlns:a16="http://schemas.microsoft.com/office/drawing/2014/main" id="{CDAFBE24-E2D4-6545-BA87-78A5C4DCA02D}"/>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994" name="Oval 488">
              <a:extLst>
                <a:ext uri="{FF2B5EF4-FFF2-40B4-BE49-F238E27FC236}">
                  <a16:creationId xmlns:a16="http://schemas.microsoft.com/office/drawing/2014/main" id="{023AD650-7400-B34D-A1C1-EABEFBFD9C06}"/>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5" name="Rectangle 489">
              <a:extLst>
                <a:ext uri="{FF2B5EF4-FFF2-40B4-BE49-F238E27FC236}">
                  <a16:creationId xmlns:a16="http://schemas.microsoft.com/office/drawing/2014/main" id="{114EA38E-5873-E449-9C8C-82E6AEF3B7AA}"/>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45" name="Group 344">
            <a:extLst>
              <a:ext uri="{FF2B5EF4-FFF2-40B4-BE49-F238E27FC236}">
                <a16:creationId xmlns:a16="http://schemas.microsoft.com/office/drawing/2014/main" id="{4B59543D-C5BA-F140-B187-9B5CD42038E3}"/>
              </a:ext>
            </a:extLst>
          </p:cNvPr>
          <p:cNvGrpSpPr/>
          <p:nvPr/>
        </p:nvGrpSpPr>
        <p:grpSpPr>
          <a:xfrm>
            <a:off x="4258034" y="5968846"/>
            <a:ext cx="476864" cy="255639"/>
            <a:chOff x="6859123" y="5156933"/>
            <a:chExt cx="456701" cy="226548"/>
          </a:xfrm>
        </p:grpSpPr>
        <p:sp>
          <p:nvSpPr>
            <p:cNvPr id="346" name="Rectangle 345">
              <a:extLst>
                <a:ext uri="{FF2B5EF4-FFF2-40B4-BE49-F238E27FC236}">
                  <a16:creationId xmlns:a16="http://schemas.microsoft.com/office/drawing/2014/main" id="{658633B4-7F85-9649-9D29-D4685E4D8FCE}"/>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47" name="Straight Connector 346">
              <a:extLst>
                <a:ext uri="{FF2B5EF4-FFF2-40B4-BE49-F238E27FC236}">
                  <a16:creationId xmlns:a16="http://schemas.microsoft.com/office/drawing/2014/main" id="{4AEFBFC0-69F4-0442-A5A5-AA6B13A5C54B}"/>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72565081-DC08-D043-A503-2FB6F949E0F0}"/>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DEA8E45E-B3F3-194A-8A6B-678BE5CEA477}"/>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85A94CF9-243E-0C4E-A010-AF25D658F77B}"/>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AFCDC61C-4A1A-624B-86AF-7EC5B97EAFEE}"/>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CA58E5DA-8966-1E4E-B9CC-4D9206B74168}"/>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40B4CE1B-77BF-D040-87C6-2BE4B75297B8}"/>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54" name="Group 353">
            <a:extLst>
              <a:ext uri="{FF2B5EF4-FFF2-40B4-BE49-F238E27FC236}">
                <a16:creationId xmlns:a16="http://schemas.microsoft.com/office/drawing/2014/main" id="{1516B822-274C-9142-A594-3C026C13E15A}"/>
              </a:ext>
            </a:extLst>
          </p:cNvPr>
          <p:cNvGrpSpPr/>
          <p:nvPr/>
        </p:nvGrpSpPr>
        <p:grpSpPr>
          <a:xfrm rot="18977820">
            <a:off x="3960984" y="4842636"/>
            <a:ext cx="476864" cy="255639"/>
            <a:chOff x="6859123" y="5156933"/>
            <a:chExt cx="456701" cy="226548"/>
          </a:xfrm>
        </p:grpSpPr>
        <p:sp>
          <p:nvSpPr>
            <p:cNvPr id="355" name="Rectangle 354">
              <a:extLst>
                <a:ext uri="{FF2B5EF4-FFF2-40B4-BE49-F238E27FC236}">
                  <a16:creationId xmlns:a16="http://schemas.microsoft.com/office/drawing/2014/main" id="{FE73F339-8370-854D-865A-1DA3D42F8615}"/>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56" name="Straight Connector 355">
              <a:extLst>
                <a:ext uri="{FF2B5EF4-FFF2-40B4-BE49-F238E27FC236}">
                  <a16:creationId xmlns:a16="http://schemas.microsoft.com/office/drawing/2014/main" id="{25FCEF18-6C08-1D44-8B43-B9FEC5A1CF34}"/>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69609594-6D6C-CE4D-8793-7FF98E89AD96}"/>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CA747F05-33BD-0A44-8A65-3557ACA73F90}"/>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E37B61E4-4606-D744-BD80-B5276B042207}"/>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A86704E3-8936-8944-BEA9-BB9821A64A8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60BA1282-3FA8-494B-AA57-9F64ED26BC74}"/>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7D842007-7272-0E4C-9DDC-59436F73AB80}"/>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63" name="Group 362">
            <a:extLst>
              <a:ext uri="{FF2B5EF4-FFF2-40B4-BE49-F238E27FC236}">
                <a16:creationId xmlns:a16="http://schemas.microsoft.com/office/drawing/2014/main" id="{5D4499A7-8331-374E-915F-6FB1150582B0}"/>
              </a:ext>
            </a:extLst>
          </p:cNvPr>
          <p:cNvGrpSpPr/>
          <p:nvPr/>
        </p:nvGrpSpPr>
        <p:grpSpPr>
          <a:xfrm>
            <a:off x="6120416" y="4464220"/>
            <a:ext cx="476864" cy="255639"/>
            <a:chOff x="6859123" y="5156933"/>
            <a:chExt cx="456701" cy="226548"/>
          </a:xfrm>
        </p:grpSpPr>
        <p:sp>
          <p:nvSpPr>
            <p:cNvPr id="364" name="Rectangle 363">
              <a:extLst>
                <a:ext uri="{FF2B5EF4-FFF2-40B4-BE49-F238E27FC236}">
                  <a16:creationId xmlns:a16="http://schemas.microsoft.com/office/drawing/2014/main" id="{9DDEEE95-0C6B-F045-B62F-C3DAD3AD7FF1}"/>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65" name="Straight Connector 364">
              <a:extLst>
                <a:ext uri="{FF2B5EF4-FFF2-40B4-BE49-F238E27FC236}">
                  <a16:creationId xmlns:a16="http://schemas.microsoft.com/office/drawing/2014/main" id="{5B7AA8AC-B89C-5B40-B520-2EC3B1B81D47}"/>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3EC321B7-E2DC-344E-9763-169EF6E841EF}"/>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3C94C832-11CE-A645-9806-C75AAA76D484}"/>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E60FF87F-4770-CA45-B8F3-84AAC6B9A4B3}"/>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43B3B5EF-ECA9-B64A-93C4-85466210C7F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113028A7-6DC0-CF47-8C1B-CEF037BDA1AC}"/>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5F1AD6B8-9E8D-D448-AA1C-C19CC1452529}"/>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72" name="Group 371">
            <a:extLst>
              <a:ext uri="{FF2B5EF4-FFF2-40B4-BE49-F238E27FC236}">
                <a16:creationId xmlns:a16="http://schemas.microsoft.com/office/drawing/2014/main" id="{BC753510-FFCF-4444-A7BB-044870E26DD3}"/>
              </a:ext>
            </a:extLst>
          </p:cNvPr>
          <p:cNvGrpSpPr/>
          <p:nvPr/>
        </p:nvGrpSpPr>
        <p:grpSpPr>
          <a:xfrm rot="18857641">
            <a:off x="6110083" y="5317919"/>
            <a:ext cx="476864" cy="255639"/>
            <a:chOff x="6859123" y="5156933"/>
            <a:chExt cx="456701" cy="226548"/>
          </a:xfrm>
        </p:grpSpPr>
        <p:sp>
          <p:nvSpPr>
            <p:cNvPr id="373" name="Rectangle 372">
              <a:extLst>
                <a:ext uri="{FF2B5EF4-FFF2-40B4-BE49-F238E27FC236}">
                  <a16:creationId xmlns:a16="http://schemas.microsoft.com/office/drawing/2014/main" id="{A08E0DBC-4F5A-1745-BA9E-B4688EEBE8B2}"/>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374" name="Straight Connector 373">
              <a:extLst>
                <a:ext uri="{FF2B5EF4-FFF2-40B4-BE49-F238E27FC236}">
                  <a16:creationId xmlns:a16="http://schemas.microsoft.com/office/drawing/2014/main" id="{86CCF497-BBF5-1847-A54B-1D274EC1FBF2}"/>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44666C01-A459-0044-A0B0-3D22A107A0E3}"/>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75D8ECE7-4B34-8F48-B62B-54865BA7462D}"/>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85079C21-AA1B-2545-9071-BEE571A459AD}"/>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2D916BAD-87C0-6146-AB10-6650F08C5C71}"/>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3F49550F-F63A-B945-A97E-B7A0741AB278}"/>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2FDE63AE-3F8B-3D44-969E-074AE7DEAA97}"/>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08" name="Freeform 272">
            <a:extLst>
              <a:ext uri="{FF2B5EF4-FFF2-40B4-BE49-F238E27FC236}">
                <a16:creationId xmlns:a16="http://schemas.microsoft.com/office/drawing/2014/main" id="{CAFA60B5-CA3B-CE47-99B6-49C8AA15A522}"/>
              </a:ext>
            </a:extLst>
          </p:cNvPr>
          <p:cNvSpPr>
            <a:spLocks/>
          </p:cNvSpPr>
          <p:nvPr/>
        </p:nvSpPr>
        <p:spPr bwMode="auto">
          <a:xfrm>
            <a:off x="4455129" y="3198255"/>
            <a:ext cx="3305175" cy="2857500"/>
          </a:xfrm>
          <a:custGeom>
            <a:avLst/>
            <a:gdLst>
              <a:gd name="T0" fmla="*/ 0 w 5205"/>
              <a:gd name="T1" fmla="*/ 0 h 4500"/>
              <a:gd name="T2" fmla="*/ 0 w 5205"/>
              <a:gd name="T3" fmla="*/ 2147483647 h 4500"/>
              <a:gd name="T4" fmla="*/ 2147483647 w 5205"/>
              <a:gd name="T5" fmla="*/ 2147483647 h 4500"/>
              <a:gd name="T6" fmla="*/ 2147483647 w 5205"/>
              <a:gd name="T7" fmla="*/ 2147483647 h 4500"/>
              <a:gd name="T8" fmla="*/ 2147483647 w 5205"/>
              <a:gd name="T9" fmla="*/ 2147483647 h 4500"/>
              <a:gd name="T10" fmla="*/ 2147483647 w 5205"/>
              <a:gd name="T11" fmla="*/ 2147483647 h 4500"/>
              <a:gd name="T12" fmla="*/ 2147483647 w 5205"/>
              <a:gd name="T13" fmla="*/ 2147483647 h 4500"/>
              <a:gd name="T14" fmla="*/ 2147483647 w 5205"/>
              <a:gd name="T15" fmla="*/ 2147483647 h 4500"/>
              <a:gd name="T16" fmla="*/ 0 60000 65536"/>
              <a:gd name="T17" fmla="*/ 0 60000 65536"/>
              <a:gd name="T18" fmla="*/ 0 60000 65536"/>
              <a:gd name="T19" fmla="*/ 0 60000 65536"/>
              <a:gd name="T20" fmla="*/ 0 60000 65536"/>
              <a:gd name="T21" fmla="*/ 0 60000 65536"/>
              <a:gd name="T22" fmla="*/ 0 60000 65536"/>
              <a:gd name="T23" fmla="*/ 0 60000 65536"/>
              <a:gd name="connsiteX0" fmla="*/ 0 w 10000"/>
              <a:gd name="connsiteY0" fmla="*/ 0 h 10000"/>
              <a:gd name="connsiteX1" fmla="*/ 0 w 10000"/>
              <a:gd name="connsiteY1" fmla="*/ 2933 h 10000"/>
              <a:gd name="connsiteX2" fmla="*/ 2374 w 10000"/>
              <a:gd name="connsiteY2" fmla="*/ 2938 h 10000"/>
              <a:gd name="connsiteX3" fmla="*/ 951 w 10000"/>
              <a:gd name="connsiteY3" fmla="*/ 4533 h 10000"/>
              <a:gd name="connsiteX4" fmla="*/ 8674 w 10000"/>
              <a:gd name="connsiteY4" fmla="*/ 4700 h 10000"/>
              <a:gd name="connsiteX5" fmla="*/ 4265 w 10000"/>
              <a:gd name="connsiteY5" fmla="*/ 10000 h 10000"/>
              <a:gd name="connsiteX6" fmla="*/ 10000 w 10000"/>
              <a:gd name="connsiteY6" fmla="*/ 10000 h 10000"/>
              <a:gd name="connsiteX7" fmla="*/ 10000 w 10000"/>
              <a:gd name="connsiteY7" fmla="*/ 7567 h 10000"/>
              <a:gd name="connsiteX0" fmla="*/ 0 w 10000"/>
              <a:gd name="connsiteY0" fmla="*/ 0 h 10000"/>
              <a:gd name="connsiteX1" fmla="*/ 11 w 10000"/>
              <a:gd name="connsiteY1" fmla="*/ 2958 h 10000"/>
              <a:gd name="connsiteX2" fmla="*/ 2374 w 10000"/>
              <a:gd name="connsiteY2" fmla="*/ 2938 h 10000"/>
              <a:gd name="connsiteX3" fmla="*/ 951 w 10000"/>
              <a:gd name="connsiteY3" fmla="*/ 4533 h 10000"/>
              <a:gd name="connsiteX4" fmla="*/ 8674 w 10000"/>
              <a:gd name="connsiteY4" fmla="*/ 4700 h 10000"/>
              <a:gd name="connsiteX5" fmla="*/ 4265 w 10000"/>
              <a:gd name="connsiteY5" fmla="*/ 10000 h 10000"/>
              <a:gd name="connsiteX6" fmla="*/ 10000 w 10000"/>
              <a:gd name="connsiteY6" fmla="*/ 10000 h 10000"/>
              <a:gd name="connsiteX7" fmla="*/ 10000 w 10000"/>
              <a:gd name="connsiteY7" fmla="*/ 7567 h 10000"/>
              <a:gd name="connsiteX0" fmla="*/ 0 w 10000"/>
              <a:gd name="connsiteY0" fmla="*/ 0 h 10000"/>
              <a:gd name="connsiteX1" fmla="*/ 11 w 10000"/>
              <a:gd name="connsiteY1" fmla="*/ 2958 h 10000"/>
              <a:gd name="connsiteX2" fmla="*/ 2299 w 10000"/>
              <a:gd name="connsiteY2" fmla="*/ 2963 h 10000"/>
              <a:gd name="connsiteX3" fmla="*/ 951 w 10000"/>
              <a:gd name="connsiteY3" fmla="*/ 4533 h 10000"/>
              <a:gd name="connsiteX4" fmla="*/ 8674 w 10000"/>
              <a:gd name="connsiteY4" fmla="*/ 4700 h 10000"/>
              <a:gd name="connsiteX5" fmla="*/ 4265 w 10000"/>
              <a:gd name="connsiteY5" fmla="*/ 10000 h 10000"/>
              <a:gd name="connsiteX6" fmla="*/ 10000 w 10000"/>
              <a:gd name="connsiteY6" fmla="*/ 10000 h 10000"/>
              <a:gd name="connsiteX7" fmla="*/ 10000 w 10000"/>
              <a:gd name="connsiteY7" fmla="*/ 756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4" y="986"/>
                  <a:pt x="7" y="1972"/>
                  <a:pt x="11" y="2958"/>
                </a:cubicBezTo>
                <a:lnTo>
                  <a:pt x="2299" y="2963"/>
                </a:lnTo>
                <a:lnTo>
                  <a:pt x="951" y="4533"/>
                </a:lnTo>
                <a:lnTo>
                  <a:pt x="8674" y="4700"/>
                </a:lnTo>
                <a:lnTo>
                  <a:pt x="4265" y="10000"/>
                </a:lnTo>
                <a:lnTo>
                  <a:pt x="10000" y="10000"/>
                </a:lnTo>
                <a:lnTo>
                  <a:pt x="10000" y="7567"/>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1" name="Group 10">
            <a:extLst>
              <a:ext uri="{FF2B5EF4-FFF2-40B4-BE49-F238E27FC236}">
                <a16:creationId xmlns:a16="http://schemas.microsoft.com/office/drawing/2014/main" id="{124C2353-8341-1E42-98B2-810BFB992383}"/>
              </a:ext>
            </a:extLst>
          </p:cNvPr>
          <p:cNvGrpSpPr/>
          <p:nvPr/>
        </p:nvGrpSpPr>
        <p:grpSpPr>
          <a:xfrm>
            <a:off x="2825750" y="3227434"/>
            <a:ext cx="5111145" cy="2933700"/>
            <a:chOff x="2825750" y="3227434"/>
            <a:chExt cx="5111145" cy="2933700"/>
          </a:xfrm>
        </p:grpSpPr>
        <p:grpSp>
          <p:nvGrpSpPr>
            <p:cNvPr id="860" name="Group 324">
              <a:extLst>
                <a:ext uri="{FF2B5EF4-FFF2-40B4-BE49-F238E27FC236}">
                  <a16:creationId xmlns:a16="http://schemas.microsoft.com/office/drawing/2014/main" id="{407BA615-EDD2-8A40-BE5B-0B090D092746}"/>
                </a:ext>
              </a:extLst>
            </p:cNvPr>
            <p:cNvGrpSpPr>
              <a:grpSpLocks/>
            </p:cNvGrpSpPr>
            <p:nvPr/>
          </p:nvGrpSpPr>
          <p:grpSpPr bwMode="auto">
            <a:xfrm>
              <a:off x="7844820" y="5350527"/>
              <a:ext cx="92075" cy="271462"/>
              <a:chOff x="10104" y="10005"/>
              <a:chExt cx="137" cy="411"/>
            </a:xfrm>
          </p:grpSpPr>
          <p:sp>
            <p:nvSpPr>
              <p:cNvPr id="861" name="Oval 325">
                <a:extLst>
                  <a:ext uri="{FF2B5EF4-FFF2-40B4-BE49-F238E27FC236}">
                    <a16:creationId xmlns:a16="http://schemas.microsoft.com/office/drawing/2014/main" id="{8B751E56-0C4B-D14C-945C-749546AA535F}"/>
                  </a:ext>
                </a:extLst>
              </p:cNvPr>
              <p:cNvSpPr>
                <a:spLocks noChangeArrowheads="1"/>
              </p:cNvSpPr>
              <p:nvPr/>
            </p:nvSpPr>
            <p:spPr bwMode="auto">
              <a:xfrm>
                <a:off x="10104" y="10005"/>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2" name="Oval 326">
                <a:extLst>
                  <a:ext uri="{FF2B5EF4-FFF2-40B4-BE49-F238E27FC236}">
                    <a16:creationId xmlns:a16="http://schemas.microsoft.com/office/drawing/2014/main" id="{342DEC42-734D-D54D-A9B5-89D44C4674AF}"/>
                  </a:ext>
                </a:extLst>
              </p:cNvPr>
              <p:cNvSpPr>
                <a:spLocks noChangeArrowheads="1"/>
              </p:cNvSpPr>
              <p:nvPr/>
            </p:nvSpPr>
            <p:spPr bwMode="auto">
              <a:xfrm>
                <a:off x="10104" y="10278"/>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854" name="Freeform 318">
              <a:extLst>
                <a:ext uri="{FF2B5EF4-FFF2-40B4-BE49-F238E27FC236}">
                  <a16:creationId xmlns:a16="http://schemas.microsoft.com/office/drawing/2014/main" id="{07189EA4-F824-494B-B957-3F54E942D2D2}"/>
                </a:ext>
              </a:extLst>
            </p:cNvPr>
            <p:cNvSpPr>
              <a:spLocks/>
            </p:cNvSpPr>
            <p:nvPr/>
          </p:nvSpPr>
          <p:spPr bwMode="auto">
            <a:xfrm>
              <a:off x="2825750" y="3227434"/>
              <a:ext cx="5067300" cy="2933700"/>
            </a:xfrm>
            <a:custGeom>
              <a:avLst/>
              <a:gdLst>
                <a:gd name="T0" fmla="*/ 2147483647 w 7980"/>
                <a:gd name="T1" fmla="*/ 2147483647 h 4620"/>
                <a:gd name="T2" fmla="*/ 2147483647 w 7980"/>
                <a:gd name="T3" fmla="*/ 2147483647 h 4620"/>
                <a:gd name="T4" fmla="*/ 0 w 7980"/>
                <a:gd name="T5" fmla="*/ 2147483647 h 4620"/>
                <a:gd name="T6" fmla="*/ 2147483647 w 7980"/>
                <a:gd name="T7" fmla="*/ 2147483647 h 4620"/>
                <a:gd name="T8" fmla="*/ 2147483647 w 7980"/>
                <a:gd name="T9" fmla="*/ 2147483647 h 4620"/>
                <a:gd name="T10" fmla="*/ 2147483647 w 7980"/>
                <a:gd name="T11" fmla="*/ 0 h 4620"/>
                <a:gd name="T12" fmla="*/ 0 60000 65536"/>
                <a:gd name="T13" fmla="*/ 0 60000 65536"/>
                <a:gd name="T14" fmla="*/ 0 60000 65536"/>
                <a:gd name="T15" fmla="*/ 0 60000 65536"/>
                <a:gd name="T16" fmla="*/ 0 60000 65536"/>
                <a:gd name="T17" fmla="*/ 0 60000 65536"/>
                <a:gd name="connsiteX0" fmla="*/ 9981 w 10000"/>
                <a:gd name="connsiteY0" fmla="*/ 7403 h 10000"/>
                <a:gd name="connsiteX1" fmla="*/ 10000 w 10000"/>
                <a:gd name="connsiteY1" fmla="*/ 10000 h 10000"/>
                <a:gd name="connsiteX2" fmla="*/ 0 w 10000"/>
                <a:gd name="connsiteY2" fmla="*/ 9968 h 10000"/>
                <a:gd name="connsiteX3" fmla="*/ 4154 w 10000"/>
                <a:gd name="connsiteY3" fmla="*/ 3214 h 10000"/>
                <a:gd name="connsiteX4" fmla="*/ 2965 w 10000"/>
                <a:gd name="connsiteY4" fmla="*/ 3221 h 10000"/>
                <a:gd name="connsiteX5" fmla="*/ 2951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9981" y="7403"/>
                  </a:moveTo>
                  <a:cubicBezTo>
                    <a:pt x="9987" y="8269"/>
                    <a:pt x="9994" y="9134"/>
                    <a:pt x="10000" y="10000"/>
                  </a:cubicBezTo>
                  <a:lnTo>
                    <a:pt x="0" y="9968"/>
                  </a:lnTo>
                  <a:lnTo>
                    <a:pt x="4154" y="3214"/>
                  </a:lnTo>
                  <a:lnTo>
                    <a:pt x="2965" y="3221"/>
                  </a:lnTo>
                  <a:cubicBezTo>
                    <a:pt x="2965" y="2171"/>
                    <a:pt x="2951" y="1050"/>
                    <a:pt x="2951" y="0"/>
                  </a:cubicBezTo>
                </a:path>
              </a:pathLst>
            </a:custGeom>
            <a:noFill/>
            <a:ln w="38100" cmpd="sng">
              <a:solidFill>
                <a:srgbClr val="FF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2" name="Group 11">
            <a:extLst>
              <a:ext uri="{FF2B5EF4-FFF2-40B4-BE49-F238E27FC236}">
                <a16:creationId xmlns:a16="http://schemas.microsoft.com/office/drawing/2014/main" id="{29A84814-4EB2-8F4D-8E06-375531045ECD}"/>
              </a:ext>
            </a:extLst>
          </p:cNvPr>
          <p:cNvGrpSpPr/>
          <p:nvPr/>
        </p:nvGrpSpPr>
        <p:grpSpPr>
          <a:xfrm>
            <a:off x="2352785" y="3322684"/>
            <a:ext cx="5785267" cy="2890693"/>
            <a:chOff x="2437534" y="3327145"/>
            <a:chExt cx="5785267" cy="2890693"/>
          </a:xfrm>
        </p:grpSpPr>
        <p:grpSp>
          <p:nvGrpSpPr>
            <p:cNvPr id="857" name="Group 321">
              <a:extLst>
                <a:ext uri="{FF2B5EF4-FFF2-40B4-BE49-F238E27FC236}">
                  <a16:creationId xmlns:a16="http://schemas.microsoft.com/office/drawing/2014/main" id="{96A8E8FE-EFA0-384B-BEBD-786291E65751}"/>
                </a:ext>
              </a:extLst>
            </p:cNvPr>
            <p:cNvGrpSpPr>
              <a:grpSpLocks/>
            </p:cNvGrpSpPr>
            <p:nvPr/>
          </p:nvGrpSpPr>
          <p:grpSpPr bwMode="auto">
            <a:xfrm>
              <a:off x="2437534" y="5122909"/>
              <a:ext cx="92465" cy="271463"/>
              <a:chOff x="10192" y="10005"/>
              <a:chExt cx="140" cy="411"/>
            </a:xfrm>
          </p:grpSpPr>
          <p:sp>
            <p:nvSpPr>
              <p:cNvPr id="858" name="Oval 322">
                <a:extLst>
                  <a:ext uri="{FF2B5EF4-FFF2-40B4-BE49-F238E27FC236}">
                    <a16:creationId xmlns:a16="http://schemas.microsoft.com/office/drawing/2014/main" id="{657A2D62-DEBC-024A-A3D2-BBFF1F270141}"/>
                  </a:ext>
                </a:extLst>
              </p:cNvPr>
              <p:cNvSpPr>
                <a:spLocks noChangeArrowheads="1"/>
              </p:cNvSpPr>
              <p:nvPr/>
            </p:nvSpPr>
            <p:spPr bwMode="auto">
              <a:xfrm>
                <a:off x="10195" y="10005"/>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59" name="Oval 323">
                <a:extLst>
                  <a:ext uri="{FF2B5EF4-FFF2-40B4-BE49-F238E27FC236}">
                    <a16:creationId xmlns:a16="http://schemas.microsoft.com/office/drawing/2014/main" id="{BE20FDB8-C5B5-B94B-A64D-36960F83238A}"/>
                  </a:ext>
                </a:extLst>
              </p:cNvPr>
              <p:cNvSpPr>
                <a:spLocks noChangeArrowheads="1"/>
              </p:cNvSpPr>
              <p:nvPr/>
            </p:nvSpPr>
            <p:spPr bwMode="auto">
              <a:xfrm>
                <a:off x="10192" y="10278"/>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855" name="Freeform 319">
              <a:extLst>
                <a:ext uri="{FF2B5EF4-FFF2-40B4-BE49-F238E27FC236}">
                  <a16:creationId xmlns:a16="http://schemas.microsoft.com/office/drawing/2014/main" id="{EAE73056-B5F0-9442-A833-AEE6F289ABD3}"/>
                </a:ext>
              </a:extLst>
            </p:cNvPr>
            <p:cNvSpPr>
              <a:spLocks/>
            </p:cNvSpPr>
            <p:nvPr/>
          </p:nvSpPr>
          <p:spPr bwMode="auto">
            <a:xfrm>
              <a:off x="2479226" y="3327145"/>
              <a:ext cx="5743575" cy="2890693"/>
            </a:xfrm>
            <a:custGeom>
              <a:avLst/>
              <a:gdLst>
                <a:gd name="T0" fmla="*/ 0 w 9045"/>
                <a:gd name="T1" fmla="*/ 2147483647 h 4545"/>
                <a:gd name="T2" fmla="*/ 0 w 9045"/>
                <a:gd name="T3" fmla="*/ 2147483647 h 4545"/>
                <a:gd name="T4" fmla="*/ 2147483647 w 9045"/>
                <a:gd name="T5" fmla="*/ 2147483647 h 4545"/>
                <a:gd name="T6" fmla="*/ 2147483647 w 9045"/>
                <a:gd name="T7" fmla="*/ 2147483647 h 4545"/>
                <a:gd name="T8" fmla="*/ 2147483647 w 9045"/>
                <a:gd name="T9" fmla="*/ 2147483647 h 4545"/>
                <a:gd name="T10" fmla="*/ 2147483647 w 9045"/>
                <a:gd name="T11" fmla="*/ 2147483647 h 4545"/>
                <a:gd name="T12" fmla="*/ 2147483647 w 9045"/>
                <a:gd name="T13" fmla="*/ 2147483647 h 4545"/>
                <a:gd name="T14" fmla="*/ 2147483647 w 9045"/>
                <a:gd name="T15" fmla="*/ 0 h 4545"/>
                <a:gd name="T16" fmla="*/ 0 60000 65536"/>
                <a:gd name="T17" fmla="*/ 0 60000 65536"/>
                <a:gd name="T18" fmla="*/ 0 60000 65536"/>
                <a:gd name="T19" fmla="*/ 0 60000 65536"/>
                <a:gd name="T20" fmla="*/ 0 60000 65536"/>
                <a:gd name="T21" fmla="*/ 0 60000 65536"/>
                <a:gd name="T22" fmla="*/ 0 60000 65536"/>
                <a:gd name="T23" fmla="*/ 0 60000 65536"/>
                <a:gd name="connsiteX0" fmla="*/ 0 w 10000"/>
                <a:gd name="connsiteY0" fmla="*/ 6337 h 10028"/>
                <a:gd name="connsiteX1" fmla="*/ 0 w 10000"/>
                <a:gd name="connsiteY1" fmla="*/ 10028 h 10028"/>
                <a:gd name="connsiteX2" fmla="*/ 978 w 10000"/>
                <a:gd name="connsiteY2" fmla="*/ 10000 h 10028"/>
                <a:gd name="connsiteX3" fmla="*/ 3881 w 10000"/>
                <a:gd name="connsiteY3" fmla="*/ 4422 h 10028"/>
                <a:gd name="connsiteX4" fmla="*/ 7894 w 10000"/>
                <a:gd name="connsiteY4" fmla="*/ 4521 h 10028"/>
                <a:gd name="connsiteX5" fmla="*/ 9005 w 10000"/>
                <a:gd name="connsiteY5" fmla="*/ 2244 h 10028"/>
                <a:gd name="connsiteX6" fmla="*/ 10000 w 10000"/>
                <a:gd name="connsiteY6" fmla="*/ 2244 h 10028"/>
                <a:gd name="connsiteX7" fmla="*/ 9967 w 10000"/>
                <a:gd name="connsiteY7" fmla="*/ 0 h 10028"/>
                <a:gd name="connsiteX0" fmla="*/ 0 w 10000"/>
                <a:gd name="connsiteY0" fmla="*/ 6337 h 10000"/>
                <a:gd name="connsiteX1" fmla="*/ 6 w 10000"/>
                <a:gd name="connsiteY1" fmla="*/ 9979 h 10000"/>
                <a:gd name="connsiteX2" fmla="*/ 978 w 10000"/>
                <a:gd name="connsiteY2" fmla="*/ 10000 h 10000"/>
                <a:gd name="connsiteX3" fmla="*/ 3881 w 10000"/>
                <a:gd name="connsiteY3" fmla="*/ 4422 h 10000"/>
                <a:gd name="connsiteX4" fmla="*/ 7894 w 10000"/>
                <a:gd name="connsiteY4" fmla="*/ 4521 h 10000"/>
                <a:gd name="connsiteX5" fmla="*/ 9005 w 10000"/>
                <a:gd name="connsiteY5" fmla="*/ 2244 h 10000"/>
                <a:gd name="connsiteX6" fmla="*/ 10000 w 10000"/>
                <a:gd name="connsiteY6" fmla="*/ 2244 h 10000"/>
                <a:gd name="connsiteX7" fmla="*/ 9967 w 10000"/>
                <a:gd name="connsiteY7" fmla="*/ 0 h 10000"/>
                <a:gd name="connsiteX0" fmla="*/ 0 w 10000"/>
                <a:gd name="connsiteY0" fmla="*/ 6337 h 10016"/>
                <a:gd name="connsiteX1" fmla="*/ 0 w 10000"/>
                <a:gd name="connsiteY1" fmla="*/ 10016 h 10016"/>
                <a:gd name="connsiteX2" fmla="*/ 978 w 10000"/>
                <a:gd name="connsiteY2" fmla="*/ 10000 h 10016"/>
                <a:gd name="connsiteX3" fmla="*/ 3881 w 10000"/>
                <a:gd name="connsiteY3" fmla="*/ 4422 h 10016"/>
                <a:gd name="connsiteX4" fmla="*/ 7894 w 10000"/>
                <a:gd name="connsiteY4" fmla="*/ 4521 h 10016"/>
                <a:gd name="connsiteX5" fmla="*/ 9005 w 10000"/>
                <a:gd name="connsiteY5" fmla="*/ 2244 h 10016"/>
                <a:gd name="connsiteX6" fmla="*/ 10000 w 10000"/>
                <a:gd name="connsiteY6" fmla="*/ 2244 h 10016"/>
                <a:gd name="connsiteX7" fmla="*/ 9967 w 10000"/>
                <a:gd name="connsiteY7" fmla="*/ 0 h 1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16">
                  <a:moveTo>
                    <a:pt x="0" y="6337"/>
                  </a:moveTo>
                  <a:lnTo>
                    <a:pt x="0" y="10016"/>
                  </a:lnTo>
                  <a:lnTo>
                    <a:pt x="978" y="10000"/>
                  </a:lnTo>
                  <a:lnTo>
                    <a:pt x="3881" y="4422"/>
                  </a:lnTo>
                  <a:lnTo>
                    <a:pt x="7894" y="4521"/>
                  </a:lnTo>
                  <a:lnTo>
                    <a:pt x="9005" y="2244"/>
                  </a:lnTo>
                  <a:lnTo>
                    <a:pt x="10000" y="2244"/>
                  </a:lnTo>
                  <a:lnTo>
                    <a:pt x="9967" y="0"/>
                  </a:lnTo>
                </a:path>
              </a:pathLst>
            </a:custGeom>
            <a:noFill/>
            <a:ln w="38100" cmpd="sng">
              <a:solidFill>
                <a:srgbClr val="00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4" name="Group 13">
            <a:extLst>
              <a:ext uri="{FF2B5EF4-FFF2-40B4-BE49-F238E27FC236}">
                <a16:creationId xmlns:a16="http://schemas.microsoft.com/office/drawing/2014/main" id="{2D26D03E-1B92-E348-844D-C23EB11A6728}"/>
              </a:ext>
            </a:extLst>
          </p:cNvPr>
          <p:cNvGrpSpPr/>
          <p:nvPr/>
        </p:nvGrpSpPr>
        <p:grpSpPr>
          <a:xfrm>
            <a:off x="2549524" y="3308080"/>
            <a:ext cx="5828945" cy="2729229"/>
            <a:chOff x="2549524" y="3308080"/>
            <a:chExt cx="5828945" cy="2729229"/>
          </a:xfrm>
        </p:grpSpPr>
        <p:sp>
          <p:nvSpPr>
            <p:cNvPr id="856" name="Freeform 320">
              <a:extLst>
                <a:ext uri="{FF2B5EF4-FFF2-40B4-BE49-F238E27FC236}">
                  <a16:creationId xmlns:a16="http://schemas.microsoft.com/office/drawing/2014/main" id="{80105AF2-C1A5-E84F-BA91-D808D14D1904}"/>
                </a:ext>
              </a:extLst>
            </p:cNvPr>
            <p:cNvSpPr>
              <a:spLocks/>
            </p:cNvSpPr>
            <p:nvPr/>
          </p:nvSpPr>
          <p:spPr bwMode="auto">
            <a:xfrm>
              <a:off x="2549524" y="3370309"/>
              <a:ext cx="5787725" cy="2667000"/>
            </a:xfrm>
            <a:custGeom>
              <a:avLst/>
              <a:gdLst>
                <a:gd name="T0" fmla="*/ 0 w 9120"/>
                <a:gd name="T1" fmla="*/ 2147483647 h 4201"/>
                <a:gd name="T2" fmla="*/ 0 w 9120"/>
                <a:gd name="T3" fmla="*/ 2147483647 h 4201"/>
                <a:gd name="T4" fmla="*/ 2147483647 w 9120"/>
                <a:gd name="T5" fmla="*/ 2147483647 h 4201"/>
                <a:gd name="T6" fmla="*/ 2147483647 w 9120"/>
                <a:gd name="T7" fmla="*/ 2147483647 h 4201"/>
                <a:gd name="T8" fmla="*/ 2147483647 w 9120"/>
                <a:gd name="T9" fmla="*/ 2147483647 h 4201"/>
                <a:gd name="T10" fmla="*/ 2147483647 w 9120"/>
                <a:gd name="T11" fmla="*/ 0 h 4201"/>
                <a:gd name="T12" fmla="*/ 0 60000 65536"/>
                <a:gd name="T13" fmla="*/ 0 60000 65536"/>
                <a:gd name="T14" fmla="*/ 0 60000 65536"/>
                <a:gd name="T15" fmla="*/ 0 60000 65536"/>
                <a:gd name="T16" fmla="*/ 0 60000 65536"/>
                <a:gd name="T17" fmla="*/ 0 60000 65536"/>
                <a:gd name="connsiteX0" fmla="*/ 0 w 9994"/>
                <a:gd name="connsiteY0" fmla="*/ 6715 h 10000"/>
                <a:gd name="connsiteX1" fmla="*/ 0 w 9994"/>
                <a:gd name="connsiteY1" fmla="*/ 10000 h 10000"/>
                <a:gd name="connsiteX2" fmla="*/ 5362 w 9994"/>
                <a:gd name="connsiteY2" fmla="*/ 10000 h 10000"/>
                <a:gd name="connsiteX3" fmla="*/ 8832 w 9994"/>
                <a:gd name="connsiteY3" fmla="*/ 2502 h 10000"/>
                <a:gd name="connsiteX4" fmla="*/ 9994 w 9994"/>
                <a:gd name="connsiteY4" fmla="*/ 2505 h 10000"/>
                <a:gd name="connsiteX5" fmla="*/ 9984 w 9994"/>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4" h="10000">
                  <a:moveTo>
                    <a:pt x="0" y="6715"/>
                  </a:moveTo>
                  <a:lnTo>
                    <a:pt x="0" y="10000"/>
                  </a:lnTo>
                  <a:lnTo>
                    <a:pt x="5362" y="10000"/>
                  </a:lnTo>
                  <a:lnTo>
                    <a:pt x="8832" y="2502"/>
                  </a:lnTo>
                  <a:lnTo>
                    <a:pt x="9994" y="2505"/>
                  </a:lnTo>
                  <a:cubicBezTo>
                    <a:pt x="9989" y="1648"/>
                    <a:pt x="9989" y="857"/>
                    <a:pt x="9984" y="0"/>
                  </a:cubicBezTo>
                </a:path>
              </a:pathLst>
            </a:custGeom>
            <a:noFill/>
            <a:ln w="38100" cmpd="sng">
              <a:solidFill>
                <a:srgbClr val="00B05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3" name="Oval 12">
              <a:extLst>
                <a:ext uri="{FF2B5EF4-FFF2-40B4-BE49-F238E27FC236}">
                  <a16:creationId xmlns:a16="http://schemas.microsoft.com/office/drawing/2014/main" id="{D6207C71-6CD5-544B-8519-3A3DCC4703F2}"/>
                </a:ext>
              </a:extLst>
            </p:cNvPr>
            <p:cNvSpPr/>
            <p:nvPr/>
          </p:nvSpPr>
          <p:spPr>
            <a:xfrm>
              <a:off x="8286088" y="3308080"/>
              <a:ext cx="88262" cy="8826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84" name="Oval 383">
              <a:extLst>
                <a:ext uri="{FF2B5EF4-FFF2-40B4-BE49-F238E27FC236}">
                  <a16:creationId xmlns:a16="http://schemas.microsoft.com/office/drawing/2014/main" id="{9652FEC3-4BD4-274E-A52B-3C77A8ED251B}"/>
                </a:ext>
              </a:extLst>
            </p:cNvPr>
            <p:cNvSpPr/>
            <p:nvPr/>
          </p:nvSpPr>
          <p:spPr>
            <a:xfrm>
              <a:off x="8290207" y="3467541"/>
              <a:ext cx="88262" cy="8826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3" name="Oval 2">
            <a:extLst>
              <a:ext uri="{FF2B5EF4-FFF2-40B4-BE49-F238E27FC236}">
                <a16:creationId xmlns:a16="http://schemas.microsoft.com/office/drawing/2014/main" id="{530F87D0-D169-7740-904C-F6E74D29E96F}"/>
              </a:ext>
            </a:extLst>
          </p:cNvPr>
          <p:cNvSpPr/>
          <p:nvPr/>
        </p:nvSpPr>
        <p:spPr>
          <a:xfrm>
            <a:off x="5476775" y="4215866"/>
            <a:ext cx="1530417" cy="78927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0" name="Oval 279">
            <a:extLst>
              <a:ext uri="{FF2B5EF4-FFF2-40B4-BE49-F238E27FC236}">
                <a16:creationId xmlns:a16="http://schemas.microsoft.com/office/drawing/2014/main" id="{B439597C-D72F-F94A-933D-5ED9634D8F28}"/>
              </a:ext>
            </a:extLst>
          </p:cNvPr>
          <p:cNvSpPr/>
          <p:nvPr/>
        </p:nvSpPr>
        <p:spPr>
          <a:xfrm>
            <a:off x="5725428" y="4965032"/>
            <a:ext cx="1530417" cy="789271"/>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1" name="Slide Number Placeholder 2">
            <a:extLst>
              <a:ext uri="{FF2B5EF4-FFF2-40B4-BE49-F238E27FC236}">
                <a16:creationId xmlns:a16="http://schemas.microsoft.com/office/drawing/2014/main" id="{37102000-08EB-2645-9400-410F30EEEA5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44</a:t>
            </a:fld>
            <a:endParaRPr lang="en-US" dirty="0"/>
          </a:p>
        </p:txBody>
      </p:sp>
    </p:spTree>
    <p:extLst>
      <p:ext uri="{BB962C8B-B14F-4D97-AF65-F5344CB8AC3E}">
        <p14:creationId xmlns:p14="http://schemas.microsoft.com/office/powerpoint/2010/main" val="206785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8"/>
                                        </p:tgtEl>
                                        <p:attrNameLst>
                                          <p:attrName>style.visibility</p:attrName>
                                        </p:attrNameLst>
                                      </p:cBhvr>
                                      <p:to>
                                        <p:strVal val="visible"/>
                                      </p:to>
                                    </p:set>
                                    <p:animEffect transition="in" filter="dissolve">
                                      <p:cBhvr>
                                        <p:cTn id="7" dur="500"/>
                                        <p:tgtEl>
                                          <p:spTgt spid="8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dissolv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dissolve">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80"/>
                                        </p:tgtEl>
                                        <p:attrNameLst>
                                          <p:attrName>style.visibility</p:attrName>
                                        </p:attrNameLst>
                                      </p:cBhvr>
                                      <p:to>
                                        <p:strVal val="visible"/>
                                      </p:to>
                                    </p:set>
                                    <p:animEffect transition="in" filter="dissolve">
                                      <p:cBhvr>
                                        <p:cTn id="45" dur="500"/>
                                        <p:tgtEl>
                                          <p:spTgt spid="280"/>
                                        </p:tgtEl>
                                      </p:cBhvr>
                                    </p:animEffect>
                                  </p:childTnLst>
                                </p:cTn>
                              </p:par>
                              <p:par>
                                <p:cTn id="46" presetID="9" presetClass="exit" presetSubtype="0" fill="hold" grpId="1" nodeType="withEffect">
                                  <p:stCondLst>
                                    <p:cond delay="0"/>
                                  </p:stCondLst>
                                  <p:childTnLst>
                                    <p:animEffect transition="out" filter="dissolve">
                                      <p:cBhvr>
                                        <p:cTn id="47" dur="500"/>
                                        <p:tgtEl>
                                          <p:spTgt spid="3"/>
                                        </p:tgtEl>
                                      </p:cBhvr>
                                    </p:animEffect>
                                    <p:set>
                                      <p:cBhvr>
                                        <p:cTn id="48" dur="1" fill="hold">
                                          <p:stCondLst>
                                            <p:cond delay="499"/>
                                          </p:stCondLst>
                                        </p:cTn>
                                        <p:tgtEl>
                                          <p:spTgt spid="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9" presetClass="exit" presetSubtype="0" fill="hold" grpId="1" nodeType="clickEffect">
                                  <p:stCondLst>
                                    <p:cond delay="0"/>
                                  </p:stCondLst>
                                  <p:childTnLst>
                                    <p:animEffect transition="out" filter="dissolve">
                                      <p:cBhvr>
                                        <p:cTn id="52" dur="500"/>
                                        <p:tgtEl>
                                          <p:spTgt spid="280"/>
                                        </p:tgtEl>
                                      </p:cBhvr>
                                    </p:animEffect>
                                    <p:set>
                                      <p:cBhvr>
                                        <p:cTn id="53" dur="1" fill="hold">
                                          <p:stCondLst>
                                            <p:cond delay="499"/>
                                          </p:stCondLst>
                                        </p:cTn>
                                        <p:tgtEl>
                                          <p:spTgt spid="280"/>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74"/>
                                        </p:tgtEl>
                                        <p:attrNameLst>
                                          <p:attrName>style.visibility</p:attrName>
                                        </p:attrNameLst>
                                      </p:cBhvr>
                                      <p:to>
                                        <p:strVal val="visible"/>
                                      </p:to>
                                    </p:set>
                                    <p:animEffect transition="in" filter="dissolve">
                                      <p:cBhvr>
                                        <p:cTn id="58" dur="500"/>
                                        <p:tgtEl>
                                          <p:spTgt spid="174"/>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176"/>
                                        </p:tgtEl>
                                        <p:attrNameLst>
                                          <p:attrName>style.visibility</p:attrName>
                                        </p:attrNameLst>
                                      </p:cBhvr>
                                      <p:to>
                                        <p:strVal val="visible"/>
                                      </p:to>
                                    </p:set>
                                    <p:animEffect transition="in" filter="dissolve">
                                      <p:cBhvr>
                                        <p:cTn id="63"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6" grpId="0"/>
      <p:bldP spid="808" grpId="0" animBg="1"/>
      <p:bldP spid="3" grpId="0" animBg="1"/>
      <p:bldP spid="3" grpId="1" animBg="1"/>
      <p:bldP spid="280" grpId="0" animBg="1"/>
      <p:bldP spid="280"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 name="Group 140">
            <a:extLst>
              <a:ext uri="{FF2B5EF4-FFF2-40B4-BE49-F238E27FC236}">
                <a16:creationId xmlns:a16="http://schemas.microsoft.com/office/drawing/2014/main" id="{5C333110-16C5-1F49-87A1-51E13B44D652}"/>
              </a:ext>
            </a:extLst>
          </p:cNvPr>
          <p:cNvGrpSpPr/>
          <p:nvPr/>
        </p:nvGrpSpPr>
        <p:grpSpPr>
          <a:xfrm>
            <a:off x="9193161" y="2984089"/>
            <a:ext cx="357600" cy="634183"/>
            <a:chOff x="10910965" y="2513124"/>
            <a:chExt cx="586768" cy="904023"/>
          </a:xfrm>
        </p:grpSpPr>
        <p:sp>
          <p:nvSpPr>
            <p:cNvPr id="142" name="Rectangle 141">
              <a:extLst>
                <a:ext uri="{FF2B5EF4-FFF2-40B4-BE49-F238E27FC236}">
                  <a16:creationId xmlns:a16="http://schemas.microsoft.com/office/drawing/2014/main" id="{D39C72B5-C664-444F-8783-AE333F94F966}"/>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43" name="Straight Connector 142">
              <a:extLst>
                <a:ext uri="{FF2B5EF4-FFF2-40B4-BE49-F238E27FC236}">
                  <a16:creationId xmlns:a16="http://schemas.microsoft.com/office/drawing/2014/main" id="{CE55ED2F-C650-8E4E-9989-622310E7946A}"/>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4F1AA6DE-FC27-734F-AC8C-66592ADC486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0C86220-936C-4748-A868-3C32EF039680}"/>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D04054C-E979-0042-B411-8DB50C4331E3}"/>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id="{B8BDB9D2-287F-754F-8C7F-712CB3612986}"/>
              </a:ext>
            </a:extLst>
          </p:cNvPr>
          <p:cNvGrpSpPr/>
          <p:nvPr/>
        </p:nvGrpSpPr>
        <p:grpSpPr>
          <a:xfrm>
            <a:off x="6047012" y="2820091"/>
            <a:ext cx="357600" cy="634183"/>
            <a:chOff x="10910965" y="2513124"/>
            <a:chExt cx="586768" cy="904023"/>
          </a:xfrm>
        </p:grpSpPr>
        <p:sp>
          <p:nvSpPr>
            <p:cNvPr id="148" name="Rectangle 147">
              <a:extLst>
                <a:ext uri="{FF2B5EF4-FFF2-40B4-BE49-F238E27FC236}">
                  <a16:creationId xmlns:a16="http://schemas.microsoft.com/office/drawing/2014/main" id="{EE3BC656-1F15-3541-918F-24CF2A2E071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49" name="Straight Connector 148">
              <a:extLst>
                <a:ext uri="{FF2B5EF4-FFF2-40B4-BE49-F238E27FC236}">
                  <a16:creationId xmlns:a16="http://schemas.microsoft.com/office/drawing/2014/main" id="{853E85B6-B0C8-D24B-BE44-7D9478E30C38}"/>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9A45F3A6-BF61-9045-BFD6-D3A2D0CD2A98}"/>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52530D69-F493-4E48-8140-12C10649D561}"/>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CF1EE9AD-9FC6-B545-993A-ACB9A560CEC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3" name="Group 152">
            <a:extLst>
              <a:ext uri="{FF2B5EF4-FFF2-40B4-BE49-F238E27FC236}">
                <a16:creationId xmlns:a16="http://schemas.microsoft.com/office/drawing/2014/main" id="{DF0637CA-B847-8F48-B8C9-B75401E386A2}"/>
              </a:ext>
            </a:extLst>
          </p:cNvPr>
          <p:cNvGrpSpPr/>
          <p:nvPr/>
        </p:nvGrpSpPr>
        <p:grpSpPr>
          <a:xfrm>
            <a:off x="7166228" y="1579986"/>
            <a:ext cx="357600" cy="634183"/>
            <a:chOff x="10910965" y="2513124"/>
            <a:chExt cx="586768" cy="904023"/>
          </a:xfrm>
        </p:grpSpPr>
        <p:sp>
          <p:nvSpPr>
            <p:cNvPr id="154" name="Rectangle 153">
              <a:extLst>
                <a:ext uri="{FF2B5EF4-FFF2-40B4-BE49-F238E27FC236}">
                  <a16:creationId xmlns:a16="http://schemas.microsoft.com/office/drawing/2014/main" id="{25C5448A-6ED9-EE42-9728-2323C1ED468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55" name="Straight Connector 154">
              <a:extLst>
                <a:ext uri="{FF2B5EF4-FFF2-40B4-BE49-F238E27FC236}">
                  <a16:creationId xmlns:a16="http://schemas.microsoft.com/office/drawing/2014/main" id="{3FC0DCC4-367A-2146-B613-0903C21C5BD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280A75E-CB9B-DC4F-8F63-B45DE54CC164}"/>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2F34DC55-4A05-B149-B892-06B26874236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403A8014-0C89-5D42-802F-09680D5C4DF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2" name="Line 113">
            <a:extLst>
              <a:ext uri="{FF2B5EF4-FFF2-40B4-BE49-F238E27FC236}">
                <a16:creationId xmlns:a16="http://schemas.microsoft.com/office/drawing/2014/main" id="{8838B4E2-A532-6E47-AEF4-14729C32AA16}"/>
              </a:ext>
            </a:extLst>
          </p:cNvPr>
          <p:cNvSpPr>
            <a:spLocks noChangeShapeType="1"/>
          </p:cNvSpPr>
          <p:nvPr/>
        </p:nvSpPr>
        <p:spPr bwMode="auto">
          <a:xfrm flipH="1">
            <a:off x="9257399" y="2242311"/>
            <a:ext cx="26037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5" name="Group 134">
            <a:extLst>
              <a:ext uri="{FF2B5EF4-FFF2-40B4-BE49-F238E27FC236}">
                <a16:creationId xmlns:a16="http://schemas.microsoft.com/office/drawing/2014/main" id="{DEE32A2E-E3E8-974C-B050-845CA4991CE8}"/>
              </a:ext>
            </a:extLst>
          </p:cNvPr>
          <p:cNvGrpSpPr/>
          <p:nvPr/>
        </p:nvGrpSpPr>
        <p:grpSpPr>
          <a:xfrm>
            <a:off x="9453716" y="1637069"/>
            <a:ext cx="357600" cy="634183"/>
            <a:chOff x="10910965" y="2513124"/>
            <a:chExt cx="586768" cy="904023"/>
          </a:xfrm>
        </p:grpSpPr>
        <p:sp>
          <p:nvSpPr>
            <p:cNvPr id="136" name="Rectangle 135">
              <a:extLst>
                <a:ext uri="{FF2B5EF4-FFF2-40B4-BE49-F238E27FC236}">
                  <a16:creationId xmlns:a16="http://schemas.microsoft.com/office/drawing/2014/main" id="{36EA49ED-3E71-C441-8297-25F11265AF5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37" name="Straight Connector 136">
              <a:extLst>
                <a:ext uri="{FF2B5EF4-FFF2-40B4-BE49-F238E27FC236}">
                  <a16:creationId xmlns:a16="http://schemas.microsoft.com/office/drawing/2014/main" id="{DF0F817C-C846-4644-98B9-F36EADACB99F}"/>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61F970CA-AFE5-E347-9CDE-8D770C9134A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E77C5D55-32C2-4046-A869-1FCF51BBAAC7}"/>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0E802AC-6B6D-7B4A-99A0-CADB71BF6C3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0" name="Group 649">
            <a:extLst>
              <a:ext uri="{FF2B5EF4-FFF2-40B4-BE49-F238E27FC236}">
                <a16:creationId xmlns:a16="http://schemas.microsoft.com/office/drawing/2014/main" id="{442D49DD-B625-2044-ABE8-08653B990DD9}"/>
              </a:ext>
            </a:extLst>
          </p:cNvPr>
          <p:cNvGrpSpPr/>
          <p:nvPr/>
        </p:nvGrpSpPr>
        <p:grpSpPr>
          <a:xfrm>
            <a:off x="6869826" y="2671431"/>
            <a:ext cx="660225" cy="290099"/>
            <a:chOff x="7493876" y="2774731"/>
            <a:chExt cx="1481958" cy="894622"/>
          </a:xfrm>
        </p:grpSpPr>
        <p:sp>
          <p:nvSpPr>
            <p:cNvPr id="651" name="Freeform 650">
              <a:extLst>
                <a:ext uri="{FF2B5EF4-FFF2-40B4-BE49-F238E27FC236}">
                  <a16:creationId xmlns:a16="http://schemas.microsoft.com/office/drawing/2014/main" id="{781B9C8F-C42E-ED4B-9E19-C8CBB56BEB8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52" name="Oval 651">
              <a:extLst>
                <a:ext uri="{FF2B5EF4-FFF2-40B4-BE49-F238E27FC236}">
                  <a16:creationId xmlns:a16="http://schemas.microsoft.com/office/drawing/2014/main" id="{0E0D9018-D5B2-7742-90EB-23615AD8382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53" name="Group 652">
              <a:extLst>
                <a:ext uri="{FF2B5EF4-FFF2-40B4-BE49-F238E27FC236}">
                  <a16:creationId xmlns:a16="http://schemas.microsoft.com/office/drawing/2014/main" id="{C96D0382-34DE-5449-8232-4288C333AAE8}"/>
                </a:ext>
              </a:extLst>
            </p:cNvPr>
            <p:cNvGrpSpPr/>
            <p:nvPr/>
          </p:nvGrpSpPr>
          <p:grpSpPr>
            <a:xfrm>
              <a:off x="7713663" y="2848339"/>
              <a:ext cx="1042107" cy="425543"/>
              <a:chOff x="7786941" y="2884917"/>
              <a:chExt cx="897649" cy="353919"/>
            </a:xfrm>
          </p:grpSpPr>
          <p:sp>
            <p:nvSpPr>
              <p:cNvPr id="654" name="Freeform 653">
                <a:extLst>
                  <a:ext uri="{FF2B5EF4-FFF2-40B4-BE49-F238E27FC236}">
                    <a16:creationId xmlns:a16="http://schemas.microsoft.com/office/drawing/2014/main" id="{70D03A71-40DE-3E45-9F13-8165D05F018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5" name="Freeform 654">
                <a:extLst>
                  <a:ext uri="{FF2B5EF4-FFF2-40B4-BE49-F238E27FC236}">
                    <a16:creationId xmlns:a16="http://schemas.microsoft.com/office/drawing/2014/main" id="{B53D6BC3-8B2A-9E43-8D61-E57784BA4AE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6" name="Freeform 655">
                <a:extLst>
                  <a:ext uri="{FF2B5EF4-FFF2-40B4-BE49-F238E27FC236}">
                    <a16:creationId xmlns:a16="http://schemas.microsoft.com/office/drawing/2014/main" id="{164ECF6A-F4B9-DF4F-BF3F-242C8FCB06F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7" name="Freeform 656">
                <a:extLst>
                  <a:ext uri="{FF2B5EF4-FFF2-40B4-BE49-F238E27FC236}">
                    <a16:creationId xmlns:a16="http://schemas.microsoft.com/office/drawing/2014/main" id="{E70C37A1-A0CF-3241-B2FE-E09E92D6CF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42" name="Group 641">
            <a:extLst>
              <a:ext uri="{FF2B5EF4-FFF2-40B4-BE49-F238E27FC236}">
                <a16:creationId xmlns:a16="http://schemas.microsoft.com/office/drawing/2014/main" id="{AD4E15D3-6EC7-F447-8715-221D41005AD8}"/>
              </a:ext>
            </a:extLst>
          </p:cNvPr>
          <p:cNvGrpSpPr/>
          <p:nvPr/>
        </p:nvGrpSpPr>
        <p:grpSpPr>
          <a:xfrm>
            <a:off x="7928680" y="2356760"/>
            <a:ext cx="660225" cy="290099"/>
            <a:chOff x="7493876" y="2774731"/>
            <a:chExt cx="1481958" cy="894622"/>
          </a:xfrm>
        </p:grpSpPr>
        <p:sp>
          <p:nvSpPr>
            <p:cNvPr id="643" name="Freeform 642">
              <a:extLst>
                <a:ext uri="{FF2B5EF4-FFF2-40B4-BE49-F238E27FC236}">
                  <a16:creationId xmlns:a16="http://schemas.microsoft.com/office/drawing/2014/main" id="{C2E154AC-5367-E44D-9F74-38EDFB2ED30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44" name="Oval 643">
              <a:extLst>
                <a:ext uri="{FF2B5EF4-FFF2-40B4-BE49-F238E27FC236}">
                  <a16:creationId xmlns:a16="http://schemas.microsoft.com/office/drawing/2014/main" id="{8DD3EE1C-49D5-524C-93C0-63A60B66E8F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45" name="Group 644">
              <a:extLst>
                <a:ext uri="{FF2B5EF4-FFF2-40B4-BE49-F238E27FC236}">
                  <a16:creationId xmlns:a16="http://schemas.microsoft.com/office/drawing/2014/main" id="{90B4AB50-5DF3-044D-A589-BE7AA79D5980}"/>
                </a:ext>
              </a:extLst>
            </p:cNvPr>
            <p:cNvGrpSpPr/>
            <p:nvPr/>
          </p:nvGrpSpPr>
          <p:grpSpPr>
            <a:xfrm>
              <a:off x="7713663" y="2848339"/>
              <a:ext cx="1042107" cy="425543"/>
              <a:chOff x="7786941" y="2884917"/>
              <a:chExt cx="897649" cy="353919"/>
            </a:xfrm>
          </p:grpSpPr>
          <p:sp>
            <p:nvSpPr>
              <p:cNvPr id="646" name="Freeform 645">
                <a:extLst>
                  <a:ext uri="{FF2B5EF4-FFF2-40B4-BE49-F238E27FC236}">
                    <a16:creationId xmlns:a16="http://schemas.microsoft.com/office/drawing/2014/main" id="{E4E59325-7458-9D4F-8AB8-BD8A22B5AE4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7" name="Freeform 646">
                <a:extLst>
                  <a:ext uri="{FF2B5EF4-FFF2-40B4-BE49-F238E27FC236}">
                    <a16:creationId xmlns:a16="http://schemas.microsoft.com/office/drawing/2014/main" id="{B3D13B56-8A0D-4B4A-8192-AF51A57C2E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8" name="Freeform 647">
                <a:extLst>
                  <a:ext uri="{FF2B5EF4-FFF2-40B4-BE49-F238E27FC236}">
                    <a16:creationId xmlns:a16="http://schemas.microsoft.com/office/drawing/2014/main" id="{2C8E2625-2E7C-F743-B981-73684DBE633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9" name="Freeform 648">
                <a:extLst>
                  <a:ext uri="{FF2B5EF4-FFF2-40B4-BE49-F238E27FC236}">
                    <a16:creationId xmlns:a16="http://schemas.microsoft.com/office/drawing/2014/main" id="{2A860CE2-3114-8741-8DB0-78E922B0428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34" name="Group 633">
            <a:extLst>
              <a:ext uri="{FF2B5EF4-FFF2-40B4-BE49-F238E27FC236}">
                <a16:creationId xmlns:a16="http://schemas.microsoft.com/office/drawing/2014/main" id="{3BA91B66-EDC3-974E-B9D9-8E4503135515}"/>
              </a:ext>
            </a:extLst>
          </p:cNvPr>
          <p:cNvGrpSpPr/>
          <p:nvPr/>
        </p:nvGrpSpPr>
        <p:grpSpPr>
          <a:xfrm>
            <a:off x="8246995" y="2882143"/>
            <a:ext cx="660225" cy="290099"/>
            <a:chOff x="7493876" y="2774731"/>
            <a:chExt cx="1481958" cy="894622"/>
          </a:xfrm>
        </p:grpSpPr>
        <p:sp>
          <p:nvSpPr>
            <p:cNvPr id="635" name="Freeform 634">
              <a:extLst>
                <a:ext uri="{FF2B5EF4-FFF2-40B4-BE49-F238E27FC236}">
                  <a16:creationId xmlns:a16="http://schemas.microsoft.com/office/drawing/2014/main" id="{5B8B67F8-FC77-7B4B-86F0-B0D0CD4C19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36" name="Oval 635">
              <a:extLst>
                <a:ext uri="{FF2B5EF4-FFF2-40B4-BE49-F238E27FC236}">
                  <a16:creationId xmlns:a16="http://schemas.microsoft.com/office/drawing/2014/main" id="{24DB41F0-B458-2740-8144-D8993DA5DFD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37" name="Group 636">
              <a:extLst>
                <a:ext uri="{FF2B5EF4-FFF2-40B4-BE49-F238E27FC236}">
                  <a16:creationId xmlns:a16="http://schemas.microsoft.com/office/drawing/2014/main" id="{2A22D03D-2357-944F-A71A-94B46AED72BE}"/>
                </a:ext>
              </a:extLst>
            </p:cNvPr>
            <p:cNvGrpSpPr/>
            <p:nvPr/>
          </p:nvGrpSpPr>
          <p:grpSpPr>
            <a:xfrm>
              <a:off x="7713663" y="2848339"/>
              <a:ext cx="1042107" cy="425543"/>
              <a:chOff x="7786941" y="2884917"/>
              <a:chExt cx="897649" cy="353919"/>
            </a:xfrm>
          </p:grpSpPr>
          <p:sp>
            <p:nvSpPr>
              <p:cNvPr id="638" name="Freeform 637">
                <a:extLst>
                  <a:ext uri="{FF2B5EF4-FFF2-40B4-BE49-F238E27FC236}">
                    <a16:creationId xmlns:a16="http://schemas.microsoft.com/office/drawing/2014/main" id="{E4CD4DE0-BD74-6742-9AB5-70B9AAC5E03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9" name="Freeform 638">
                <a:extLst>
                  <a:ext uri="{FF2B5EF4-FFF2-40B4-BE49-F238E27FC236}">
                    <a16:creationId xmlns:a16="http://schemas.microsoft.com/office/drawing/2014/main" id="{888F54AE-EE96-1643-8D6C-7B9B965689F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0" name="Freeform 639">
                <a:extLst>
                  <a:ext uri="{FF2B5EF4-FFF2-40B4-BE49-F238E27FC236}">
                    <a16:creationId xmlns:a16="http://schemas.microsoft.com/office/drawing/2014/main" id="{A9967105-8A41-8646-A119-3F7E30AAD3E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1" name="Freeform 640">
                <a:extLst>
                  <a:ext uri="{FF2B5EF4-FFF2-40B4-BE49-F238E27FC236}">
                    <a16:creationId xmlns:a16="http://schemas.microsoft.com/office/drawing/2014/main" id="{F0349917-BFEB-DD4E-95A0-2C5BFAD63B1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26" name="Group 625">
            <a:extLst>
              <a:ext uri="{FF2B5EF4-FFF2-40B4-BE49-F238E27FC236}">
                <a16:creationId xmlns:a16="http://schemas.microsoft.com/office/drawing/2014/main" id="{0556E247-D59A-2842-82DE-FE8E6F79E019}"/>
              </a:ext>
            </a:extLst>
          </p:cNvPr>
          <p:cNvGrpSpPr/>
          <p:nvPr/>
        </p:nvGrpSpPr>
        <p:grpSpPr>
          <a:xfrm>
            <a:off x="7203643" y="3367614"/>
            <a:ext cx="660225" cy="290099"/>
            <a:chOff x="7493876" y="2774731"/>
            <a:chExt cx="1481958" cy="894622"/>
          </a:xfrm>
        </p:grpSpPr>
        <p:sp>
          <p:nvSpPr>
            <p:cNvPr id="627" name="Freeform 626">
              <a:extLst>
                <a:ext uri="{FF2B5EF4-FFF2-40B4-BE49-F238E27FC236}">
                  <a16:creationId xmlns:a16="http://schemas.microsoft.com/office/drawing/2014/main" id="{445667BF-2880-A44B-92FF-0150E2B89E8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28" name="Oval 627">
              <a:extLst>
                <a:ext uri="{FF2B5EF4-FFF2-40B4-BE49-F238E27FC236}">
                  <a16:creationId xmlns:a16="http://schemas.microsoft.com/office/drawing/2014/main" id="{8FE549B8-413C-AB43-AED4-55FEDF4BD68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29" name="Group 628">
              <a:extLst>
                <a:ext uri="{FF2B5EF4-FFF2-40B4-BE49-F238E27FC236}">
                  <a16:creationId xmlns:a16="http://schemas.microsoft.com/office/drawing/2014/main" id="{6310970C-CD76-5940-AC70-64BBFBC43C82}"/>
                </a:ext>
              </a:extLst>
            </p:cNvPr>
            <p:cNvGrpSpPr/>
            <p:nvPr/>
          </p:nvGrpSpPr>
          <p:grpSpPr>
            <a:xfrm>
              <a:off x="7713663" y="2848339"/>
              <a:ext cx="1042107" cy="425543"/>
              <a:chOff x="7786941" y="2884917"/>
              <a:chExt cx="897649" cy="353919"/>
            </a:xfrm>
          </p:grpSpPr>
          <p:sp>
            <p:nvSpPr>
              <p:cNvPr id="630" name="Freeform 629">
                <a:extLst>
                  <a:ext uri="{FF2B5EF4-FFF2-40B4-BE49-F238E27FC236}">
                    <a16:creationId xmlns:a16="http://schemas.microsoft.com/office/drawing/2014/main" id="{5FD9D70B-CD96-5747-B734-9870835D7C5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1" name="Freeform 630">
                <a:extLst>
                  <a:ext uri="{FF2B5EF4-FFF2-40B4-BE49-F238E27FC236}">
                    <a16:creationId xmlns:a16="http://schemas.microsoft.com/office/drawing/2014/main" id="{06B65913-DCAC-AD4F-9F10-966CCC1448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2" name="Freeform 631">
                <a:extLst>
                  <a:ext uri="{FF2B5EF4-FFF2-40B4-BE49-F238E27FC236}">
                    <a16:creationId xmlns:a16="http://schemas.microsoft.com/office/drawing/2014/main" id="{EF0534C2-36B5-7849-AFFA-5AC31B60CA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3" name="Freeform 632">
                <a:extLst>
                  <a:ext uri="{FF2B5EF4-FFF2-40B4-BE49-F238E27FC236}">
                    <a16:creationId xmlns:a16="http://schemas.microsoft.com/office/drawing/2014/main" id="{3361B307-3719-A84A-8AD5-A3B61CE63C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scenario 3</a:t>
            </a:r>
            <a:endParaRPr lang="en-US" sz="4400" b="0" dirty="0"/>
          </a:p>
        </p:txBody>
      </p:sp>
      <p:sp>
        <p:nvSpPr>
          <p:cNvPr id="470" name="Rectangle 3">
            <a:extLst>
              <a:ext uri="{FF2B5EF4-FFF2-40B4-BE49-F238E27FC236}">
                <a16:creationId xmlns:a16="http://schemas.microsoft.com/office/drawing/2014/main" id="{B3E01DA9-25FD-B546-AB8A-84DD037548D3}"/>
              </a:ext>
            </a:extLst>
          </p:cNvPr>
          <p:cNvSpPr>
            <a:spLocks noChangeArrowheads="1"/>
          </p:cNvSpPr>
          <p:nvPr/>
        </p:nvSpPr>
        <p:spPr bwMode="auto">
          <a:xfrm>
            <a:off x="1206500" y="5114925"/>
            <a:ext cx="8267700" cy="4095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71" name="Rectangle 4">
            <a:extLst>
              <a:ext uri="{FF2B5EF4-FFF2-40B4-BE49-F238E27FC236}">
                <a16:creationId xmlns:a16="http://schemas.microsoft.com/office/drawing/2014/main" id="{50204642-54CB-0C46-8699-863901641A9F}"/>
              </a:ext>
            </a:extLst>
          </p:cNvPr>
          <p:cNvSpPr>
            <a:spLocks noChangeArrowheads="1"/>
          </p:cNvSpPr>
          <p:nvPr/>
        </p:nvSpPr>
        <p:spPr bwMode="auto">
          <a:xfrm>
            <a:off x="1639888" y="4329113"/>
            <a:ext cx="9650409"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65000"/>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another “</a:t>
            </a:r>
            <a:r>
              <a:rPr kumimoji="0" lang="en-US" altLang="ja-JP"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cost” of congestion: </a:t>
            </a:r>
          </a:p>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when packet dropped, any </a:t>
            </a:r>
            <a:r>
              <a:rPr kumimoji="0" lang="en-US" altLang="ja-JP"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upstream transmission capacity and buffering used for that packet was wasted!</a:t>
            </a: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72" name="Line 8">
            <a:extLst>
              <a:ext uri="{FF2B5EF4-FFF2-40B4-BE49-F238E27FC236}">
                <a16:creationId xmlns:a16="http://schemas.microsoft.com/office/drawing/2014/main" id="{54B69D69-DB5C-FF44-9A78-3EF27FA8D5BE}"/>
              </a:ext>
            </a:extLst>
          </p:cNvPr>
          <p:cNvSpPr>
            <a:spLocks noChangeShapeType="1"/>
          </p:cNvSpPr>
          <p:nvPr/>
        </p:nvSpPr>
        <p:spPr bwMode="auto">
          <a:xfrm flipH="1">
            <a:off x="7206675" y="2219117"/>
            <a:ext cx="546573" cy="5508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3" name="Line 9">
            <a:extLst>
              <a:ext uri="{FF2B5EF4-FFF2-40B4-BE49-F238E27FC236}">
                <a16:creationId xmlns:a16="http://schemas.microsoft.com/office/drawing/2014/main" id="{17302533-B643-1D44-BB74-F2288C9D8A65}"/>
              </a:ext>
            </a:extLst>
          </p:cNvPr>
          <p:cNvSpPr>
            <a:spLocks noChangeShapeType="1"/>
          </p:cNvSpPr>
          <p:nvPr/>
        </p:nvSpPr>
        <p:spPr bwMode="auto">
          <a:xfrm flipH="1">
            <a:off x="7492872" y="2219117"/>
            <a:ext cx="26037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81" name="Line 60">
            <a:extLst>
              <a:ext uri="{FF2B5EF4-FFF2-40B4-BE49-F238E27FC236}">
                <a16:creationId xmlns:a16="http://schemas.microsoft.com/office/drawing/2014/main" id="{8E9B5F3E-D7D4-784B-A561-225983C51D20}"/>
              </a:ext>
            </a:extLst>
          </p:cNvPr>
          <p:cNvSpPr>
            <a:spLocks noChangeShapeType="1"/>
          </p:cNvSpPr>
          <p:nvPr/>
        </p:nvSpPr>
        <p:spPr bwMode="auto">
          <a:xfrm flipH="1">
            <a:off x="6404029" y="3477375"/>
            <a:ext cx="865049" cy="773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89" name="Line 110">
            <a:extLst>
              <a:ext uri="{FF2B5EF4-FFF2-40B4-BE49-F238E27FC236}">
                <a16:creationId xmlns:a16="http://schemas.microsoft.com/office/drawing/2014/main" id="{81308001-6AF2-8841-BE13-23C6875DBD2A}"/>
              </a:ext>
            </a:extLst>
          </p:cNvPr>
          <p:cNvSpPr>
            <a:spLocks noChangeShapeType="1"/>
          </p:cNvSpPr>
          <p:nvPr/>
        </p:nvSpPr>
        <p:spPr bwMode="auto">
          <a:xfrm flipH="1">
            <a:off x="7492872" y="2491642"/>
            <a:ext cx="43037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90" name="Line 111">
            <a:extLst>
              <a:ext uri="{FF2B5EF4-FFF2-40B4-BE49-F238E27FC236}">
                <a16:creationId xmlns:a16="http://schemas.microsoft.com/office/drawing/2014/main" id="{E766695C-AC11-DB4D-88D9-ADEE97B162B4}"/>
              </a:ext>
            </a:extLst>
          </p:cNvPr>
          <p:cNvSpPr>
            <a:spLocks noChangeShapeType="1"/>
          </p:cNvSpPr>
          <p:nvPr/>
        </p:nvSpPr>
        <p:spPr bwMode="auto">
          <a:xfrm flipH="1" flipV="1">
            <a:off x="8549437" y="2503239"/>
            <a:ext cx="460499" cy="579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91" name="Line 112">
            <a:extLst>
              <a:ext uri="{FF2B5EF4-FFF2-40B4-BE49-F238E27FC236}">
                <a16:creationId xmlns:a16="http://schemas.microsoft.com/office/drawing/2014/main" id="{3C681570-FA16-4C40-9E6E-770D751E77C3}"/>
              </a:ext>
            </a:extLst>
          </p:cNvPr>
          <p:cNvSpPr>
            <a:spLocks noChangeShapeType="1"/>
          </p:cNvSpPr>
          <p:nvPr/>
        </p:nvSpPr>
        <p:spPr bwMode="auto">
          <a:xfrm flipH="1">
            <a:off x="8515007" y="2230714"/>
            <a:ext cx="768214" cy="82337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16" name="Group 227">
            <a:extLst>
              <a:ext uri="{FF2B5EF4-FFF2-40B4-BE49-F238E27FC236}">
                <a16:creationId xmlns:a16="http://schemas.microsoft.com/office/drawing/2014/main" id="{C5844755-7AB4-394A-8C3D-0EAB4297B7CC}"/>
              </a:ext>
            </a:extLst>
          </p:cNvPr>
          <p:cNvGrpSpPr>
            <a:grpSpLocks/>
          </p:cNvGrpSpPr>
          <p:nvPr/>
        </p:nvGrpSpPr>
        <p:grpSpPr bwMode="auto">
          <a:xfrm>
            <a:off x="8295103" y="2407263"/>
            <a:ext cx="186693" cy="155869"/>
            <a:chOff x="11283" y="10423"/>
            <a:chExt cx="475" cy="374"/>
          </a:xfrm>
        </p:grpSpPr>
        <p:sp>
          <p:nvSpPr>
            <p:cNvPr id="517" name="Rectangle 228">
              <a:extLst>
                <a:ext uri="{FF2B5EF4-FFF2-40B4-BE49-F238E27FC236}">
                  <a16:creationId xmlns:a16="http://schemas.microsoft.com/office/drawing/2014/main" id="{F2C17F9B-7965-ED45-A4D3-EFFC3FD54295}"/>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8" name="Line 229">
              <a:extLst>
                <a:ext uri="{FF2B5EF4-FFF2-40B4-BE49-F238E27FC236}">
                  <a16:creationId xmlns:a16="http://schemas.microsoft.com/office/drawing/2014/main" id="{2A6B3E53-1684-DF43-A05E-A2C80EF94FD2}"/>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19" name="Line 230">
              <a:extLst>
                <a:ext uri="{FF2B5EF4-FFF2-40B4-BE49-F238E27FC236}">
                  <a16:creationId xmlns:a16="http://schemas.microsoft.com/office/drawing/2014/main" id="{D8396C95-BBB2-5D46-A8D2-775CD554A264}"/>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0" name="Line 231">
              <a:extLst>
                <a:ext uri="{FF2B5EF4-FFF2-40B4-BE49-F238E27FC236}">
                  <a16:creationId xmlns:a16="http://schemas.microsoft.com/office/drawing/2014/main" id="{C157781C-8502-014B-A415-7383087D3127}"/>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1" name="Line 232">
              <a:extLst>
                <a:ext uri="{FF2B5EF4-FFF2-40B4-BE49-F238E27FC236}">
                  <a16:creationId xmlns:a16="http://schemas.microsoft.com/office/drawing/2014/main" id="{11C3D78E-49BA-C343-B6BB-91EC56F70624}"/>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2" name="Line 233">
              <a:extLst>
                <a:ext uri="{FF2B5EF4-FFF2-40B4-BE49-F238E27FC236}">
                  <a16:creationId xmlns:a16="http://schemas.microsoft.com/office/drawing/2014/main" id="{18778F4C-DAAF-B04E-9D01-34E52E4B740E}"/>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23" name="Line 234">
              <a:extLst>
                <a:ext uri="{FF2B5EF4-FFF2-40B4-BE49-F238E27FC236}">
                  <a16:creationId xmlns:a16="http://schemas.microsoft.com/office/drawing/2014/main" id="{37A63491-BBEE-3E44-BBF3-79A4DB88BA10}"/>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530" name="Line 235">
            <a:extLst>
              <a:ext uri="{FF2B5EF4-FFF2-40B4-BE49-F238E27FC236}">
                <a16:creationId xmlns:a16="http://schemas.microsoft.com/office/drawing/2014/main" id="{502BD3B4-B453-4343-B3CD-F6AE3C5CA733}"/>
              </a:ext>
            </a:extLst>
          </p:cNvPr>
          <p:cNvSpPr>
            <a:spLocks noChangeShapeType="1"/>
          </p:cNvSpPr>
          <p:nvPr/>
        </p:nvSpPr>
        <p:spPr bwMode="auto">
          <a:xfrm>
            <a:off x="8577410" y="1813227"/>
            <a:ext cx="163542" cy="1932"/>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31" name="Group 236">
            <a:extLst>
              <a:ext uri="{FF2B5EF4-FFF2-40B4-BE49-F238E27FC236}">
                <a16:creationId xmlns:a16="http://schemas.microsoft.com/office/drawing/2014/main" id="{BD40F4B4-9FA4-B242-890F-C7DC5C1F1E4B}"/>
              </a:ext>
            </a:extLst>
          </p:cNvPr>
          <p:cNvGrpSpPr>
            <a:grpSpLocks/>
          </p:cNvGrpSpPr>
          <p:nvPr/>
        </p:nvGrpSpPr>
        <p:grpSpPr bwMode="auto">
          <a:xfrm>
            <a:off x="7363760" y="1608349"/>
            <a:ext cx="53797" cy="172019"/>
            <a:chOff x="10104" y="10005"/>
            <a:chExt cx="137" cy="411"/>
          </a:xfrm>
        </p:grpSpPr>
        <p:sp>
          <p:nvSpPr>
            <p:cNvPr id="532" name="Oval 237">
              <a:extLst>
                <a:ext uri="{FF2B5EF4-FFF2-40B4-BE49-F238E27FC236}">
                  <a16:creationId xmlns:a16="http://schemas.microsoft.com/office/drawing/2014/main" id="{9F31E068-8077-0E41-BA3C-C53046677C0A}"/>
                </a:ext>
              </a:extLst>
            </p:cNvPr>
            <p:cNvSpPr>
              <a:spLocks noChangeArrowheads="1"/>
            </p:cNvSpPr>
            <p:nvPr/>
          </p:nvSpPr>
          <p:spPr bwMode="auto">
            <a:xfrm>
              <a:off x="10104" y="10005"/>
              <a:ext cx="137" cy="13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33" name="Oval 238">
              <a:extLst>
                <a:ext uri="{FF2B5EF4-FFF2-40B4-BE49-F238E27FC236}">
                  <a16:creationId xmlns:a16="http://schemas.microsoft.com/office/drawing/2014/main" id="{B99DFC93-E1C9-6B48-9E97-F404126B9D76}"/>
                </a:ext>
              </a:extLst>
            </p:cNvPr>
            <p:cNvSpPr>
              <a:spLocks noChangeArrowheads="1"/>
            </p:cNvSpPr>
            <p:nvPr/>
          </p:nvSpPr>
          <p:spPr bwMode="auto">
            <a:xfrm>
              <a:off x="10104" y="10278"/>
              <a:ext cx="137" cy="13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48" name="Group 255">
            <a:extLst>
              <a:ext uri="{FF2B5EF4-FFF2-40B4-BE49-F238E27FC236}">
                <a16:creationId xmlns:a16="http://schemas.microsoft.com/office/drawing/2014/main" id="{AA469380-A079-C241-8EF0-12E5E2FF123A}"/>
              </a:ext>
            </a:extLst>
          </p:cNvPr>
          <p:cNvGrpSpPr>
            <a:grpSpLocks/>
          </p:cNvGrpSpPr>
          <p:nvPr/>
        </p:nvGrpSpPr>
        <p:grpSpPr bwMode="auto">
          <a:xfrm rot="7844936">
            <a:off x="8457757" y="2928960"/>
            <a:ext cx="204878" cy="142023"/>
            <a:chOff x="11283" y="10423"/>
            <a:chExt cx="475" cy="374"/>
          </a:xfrm>
        </p:grpSpPr>
        <p:sp>
          <p:nvSpPr>
            <p:cNvPr id="549" name="Rectangle 256">
              <a:extLst>
                <a:ext uri="{FF2B5EF4-FFF2-40B4-BE49-F238E27FC236}">
                  <a16:creationId xmlns:a16="http://schemas.microsoft.com/office/drawing/2014/main" id="{27D5FDD2-8596-9B4B-B4F5-2748842EF1D6}"/>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0" name="Line 257">
              <a:extLst>
                <a:ext uri="{FF2B5EF4-FFF2-40B4-BE49-F238E27FC236}">
                  <a16:creationId xmlns:a16="http://schemas.microsoft.com/office/drawing/2014/main" id="{5EA4070D-C55C-3C46-971A-495141BBF3E4}"/>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1" name="Line 258">
              <a:extLst>
                <a:ext uri="{FF2B5EF4-FFF2-40B4-BE49-F238E27FC236}">
                  <a16:creationId xmlns:a16="http://schemas.microsoft.com/office/drawing/2014/main" id="{E7415EB7-9A38-A34B-BC52-23820D0899A6}"/>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2" name="Line 259">
              <a:extLst>
                <a:ext uri="{FF2B5EF4-FFF2-40B4-BE49-F238E27FC236}">
                  <a16:creationId xmlns:a16="http://schemas.microsoft.com/office/drawing/2014/main" id="{E1B69AC3-E7AE-F84B-AE13-9E4B698B4530}"/>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3" name="Line 260">
              <a:extLst>
                <a:ext uri="{FF2B5EF4-FFF2-40B4-BE49-F238E27FC236}">
                  <a16:creationId xmlns:a16="http://schemas.microsoft.com/office/drawing/2014/main" id="{14297734-2A75-5D4A-905C-558B07A25DA7}"/>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4" name="Line 261">
              <a:extLst>
                <a:ext uri="{FF2B5EF4-FFF2-40B4-BE49-F238E27FC236}">
                  <a16:creationId xmlns:a16="http://schemas.microsoft.com/office/drawing/2014/main" id="{FAD2D458-99B5-D64F-9787-A3907B8537FB}"/>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5" name="Line 262">
              <a:extLst>
                <a:ext uri="{FF2B5EF4-FFF2-40B4-BE49-F238E27FC236}">
                  <a16:creationId xmlns:a16="http://schemas.microsoft.com/office/drawing/2014/main" id="{ED7690F6-614B-474E-9678-ABBBF355307B}"/>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556" name="Line 263">
            <a:extLst>
              <a:ext uri="{FF2B5EF4-FFF2-40B4-BE49-F238E27FC236}">
                <a16:creationId xmlns:a16="http://schemas.microsoft.com/office/drawing/2014/main" id="{24DFA125-06DC-CE4E-A7FC-5EC2D00675EF}"/>
              </a:ext>
            </a:extLst>
          </p:cNvPr>
          <p:cNvSpPr>
            <a:spLocks noChangeShapeType="1"/>
          </p:cNvSpPr>
          <p:nvPr/>
        </p:nvSpPr>
        <p:spPr bwMode="auto">
          <a:xfrm flipH="1" flipV="1">
            <a:off x="7764006" y="3471578"/>
            <a:ext cx="1172766" cy="115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7" name="Line 264">
            <a:extLst>
              <a:ext uri="{FF2B5EF4-FFF2-40B4-BE49-F238E27FC236}">
                <a16:creationId xmlns:a16="http://schemas.microsoft.com/office/drawing/2014/main" id="{5FF66E32-B896-A043-9D26-2F80DC2B70A1}"/>
              </a:ext>
            </a:extLst>
          </p:cNvPr>
          <p:cNvSpPr>
            <a:spLocks noChangeShapeType="1"/>
          </p:cNvSpPr>
          <p:nvPr/>
        </p:nvSpPr>
        <p:spPr bwMode="auto">
          <a:xfrm flipH="1">
            <a:off x="8129823" y="3059889"/>
            <a:ext cx="367969" cy="4174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58" name="Freeform 265">
            <a:extLst>
              <a:ext uri="{FF2B5EF4-FFF2-40B4-BE49-F238E27FC236}">
                <a16:creationId xmlns:a16="http://schemas.microsoft.com/office/drawing/2014/main" id="{E2E6E031-8D15-5A42-B00A-1F4F08AF6A0B}"/>
              </a:ext>
            </a:extLst>
          </p:cNvPr>
          <p:cNvSpPr>
            <a:spLocks/>
          </p:cNvSpPr>
          <p:nvPr/>
        </p:nvSpPr>
        <p:spPr bwMode="auto">
          <a:xfrm>
            <a:off x="7391735" y="1631543"/>
            <a:ext cx="1956042" cy="1814908"/>
          </a:xfrm>
          <a:custGeom>
            <a:avLst/>
            <a:gdLst>
              <a:gd name="T0" fmla="*/ 0 w 5205"/>
              <a:gd name="T1" fmla="*/ 0 h 4500"/>
              <a:gd name="T2" fmla="*/ 0 w 5205"/>
              <a:gd name="T3" fmla="*/ 2147483647 h 4500"/>
              <a:gd name="T4" fmla="*/ 2147483647 w 5205"/>
              <a:gd name="T5" fmla="*/ 2147483647 h 4500"/>
              <a:gd name="T6" fmla="*/ 2147483647 w 5205"/>
              <a:gd name="T7" fmla="*/ 2147483647 h 4500"/>
              <a:gd name="T8" fmla="*/ 2147483647 w 5205"/>
              <a:gd name="T9" fmla="*/ 2147483647 h 4500"/>
              <a:gd name="T10" fmla="*/ 2147483647 w 5205"/>
              <a:gd name="T11" fmla="*/ 2147483647 h 4500"/>
              <a:gd name="T12" fmla="*/ 2147483647 w 5205"/>
              <a:gd name="T13" fmla="*/ 2147483647 h 4500"/>
              <a:gd name="T14" fmla="*/ 2147483647 w 5205"/>
              <a:gd name="T15" fmla="*/ 2147483647 h 45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05" h="4500">
                <a:moveTo>
                  <a:pt x="0" y="0"/>
                </a:moveTo>
                <a:lnTo>
                  <a:pt x="0" y="1320"/>
                </a:lnTo>
                <a:lnTo>
                  <a:pt x="1230" y="1350"/>
                </a:lnTo>
                <a:lnTo>
                  <a:pt x="495" y="2040"/>
                </a:lnTo>
                <a:lnTo>
                  <a:pt x="4515" y="2115"/>
                </a:lnTo>
                <a:lnTo>
                  <a:pt x="2220" y="4500"/>
                </a:lnTo>
                <a:lnTo>
                  <a:pt x="5205" y="4500"/>
                </a:lnTo>
                <a:lnTo>
                  <a:pt x="5205" y="3405"/>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73" name="Group 280">
            <a:extLst>
              <a:ext uri="{FF2B5EF4-FFF2-40B4-BE49-F238E27FC236}">
                <a16:creationId xmlns:a16="http://schemas.microsoft.com/office/drawing/2014/main" id="{6DC31668-B2DC-E241-A69F-970AD2E5CEA7}"/>
              </a:ext>
            </a:extLst>
          </p:cNvPr>
          <p:cNvGrpSpPr>
            <a:grpSpLocks/>
          </p:cNvGrpSpPr>
          <p:nvPr/>
        </p:nvGrpSpPr>
        <p:grpSpPr bwMode="auto">
          <a:xfrm>
            <a:off x="7312115" y="3392332"/>
            <a:ext cx="187213" cy="156558"/>
            <a:chOff x="11283" y="10423"/>
            <a:chExt cx="475" cy="374"/>
          </a:xfrm>
        </p:grpSpPr>
        <p:sp>
          <p:nvSpPr>
            <p:cNvPr id="574" name="Rectangle 281">
              <a:extLst>
                <a:ext uri="{FF2B5EF4-FFF2-40B4-BE49-F238E27FC236}">
                  <a16:creationId xmlns:a16="http://schemas.microsoft.com/office/drawing/2014/main" id="{11A3D544-AE22-3748-9FE3-D90EFDC5B352}"/>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5" name="Line 282">
              <a:extLst>
                <a:ext uri="{FF2B5EF4-FFF2-40B4-BE49-F238E27FC236}">
                  <a16:creationId xmlns:a16="http://schemas.microsoft.com/office/drawing/2014/main" id="{BEC4224F-ED50-4947-9082-B57164E485BD}"/>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6" name="Line 283">
              <a:extLst>
                <a:ext uri="{FF2B5EF4-FFF2-40B4-BE49-F238E27FC236}">
                  <a16:creationId xmlns:a16="http://schemas.microsoft.com/office/drawing/2014/main" id="{8DD52BC5-C333-1F4D-ABBB-944B9DB245D1}"/>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7" name="Line 284">
              <a:extLst>
                <a:ext uri="{FF2B5EF4-FFF2-40B4-BE49-F238E27FC236}">
                  <a16:creationId xmlns:a16="http://schemas.microsoft.com/office/drawing/2014/main" id="{D000FA71-709B-0E4B-8BEF-C45BC3FE79E5}"/>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8" name="Line 285">
              <a:extLst>
                <a:ext uri="{FF2B5EF4-FFF2-40B4-BE49-F238E27FC236}">
                  <a16:creationId xmlns:a16="http://schemas.microsoft.com/office/drawing/2014/main" id="{B41DB283-7D57-A045-B70B-0D8C09746539}"/>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79" name="Line 286">
              <a:extLst>
                <a:ext uri="{FF2B5EF4-FFF2-40B4-BE49-F238E27FC236}">
                  <a16:creationId xmlns:a16="http://schemas.microsoft.com/office/drawing/2014/main" id="{9E5F402E-8251-7646-ADF1-C8D024D1C11F}"/>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80" name="Line 287">
              <a:extLst>
                <a:ext uri="{FF2B5EF4-FFF2-40B4-BE49-F238E27FC236}">
                  <a16:creationId xmlns:a16="http://schemas.microsoft.com/office/drawing/2014/main" id="{66CC75A1-C65C-3049-963E-0DFA47653CFA}"/>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595" name="Line 302">
            <a:extLst>
              <a:ext uri="{FF2B5EF4-FFF2-40B4-BE49-F238E27FC236}">
                <a16:creationId xmlns:a16="http://schemas.microsoft.com/office/drawing/2014/main" id="{D6A409AC-791D-264B-9A6A-29925F8122DE}"/>
              </a:ext>
            </a:extLst>
          </p:cNvPr>
          <p:cNvSpPr>
            <a:spLocks noChangeShapeType="1"/>
          </p:cNvSpPr>
          <p:nvPr/>
        </p:nvSpPr>
        <p:spPr bwMode="auto">
          <a:xfrm flipH="1">
            <a:off x="6515926" y="2963248"/>
            <a:ext cx="514296" cy="51412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596" name="Group 303">
            <a:extLst>
              <a:ext uri="{FF2B5EF4-FFF2-40B4-BE49-F238E27FC236}">
                <a16:creationId xmlns:a16="http://schemas.microsoft.com/office/drawing/2014/main" id="{0E0CC657-EE01-1444-92BE-C1D54E3F7BBC}"/>
              </a:ext>
            </a:extLst>
          </p:cNvPr>
          <p:cNvGrpSpPr>
            <a:grpSpLocks/>
          </p:cNvGrpSpPr>
          <p:nvPr/>
        </p:nvGrpSpPr>
        <p:grpSpPr bwMode="auto">
          <a:xfrm rot="8027572">
            <a:off x="7091324" y="2716351"/>
            <a:ext cx="204878" cy="142023"/>
            <a:chOff x="11283" y="10423"/>
            <a:chExt cx="475" cy="374"/>
          </a:xfrm>
        </p:grpSpPr>
        <p:sp>
          <p:nvSpPr>
            <p:cNvPr id="597" name="Rectangle 304">
              <a:extLst>
                <a:ext uri="{FF2B5EF4-FFF2-40B4-BE49-F238E27FC236}">
                  <a16:creationId xmlns:a16="http://schemas.microsoft.com/office/drawing/2014/main" id="{A259E52C-F06C-7042-9819-4B87037A3742}"/>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8" name="Line 305">
              <a:extLst>
                <a:ext uri="{FF2B5EF4-FFF2-40B4-BE49-F238E27FC236}">
                  <a16:creationId xmlns:a16="http://schemas.microsoft.com/office/drawing/2014/main" id="{FCA29A28-11AF-7744-92A7-70BFDC111B05}"/>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99" name="Line 306">
              <a:extLst>
                <a:ext uri="{FF2B5EF4-FFF2-40B4-BE49-F238E27FC236}">
                  <a16:creationId xmlns:a16="http://schemas.microsoft.com/office/drawing/2014/main" id="{CB933097-E020-C042-8313-287B98167A3C}"/>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0" name="Line 307">
              <a:extLst>
                <a:ext uri="{FF2B5EF4-FFF2-40B4-BE49-F238E27FC236}">
                  <a16:creationId xmlns:a16="http://schemas.microsoft.com/office/drawing/2014/main" id="{420119F4-8030-9C41-BBBE-13596216B26A}"/>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1" name="Line 308">
              <a:extLst>
                <a:ext uri="{FF2B5EF4-FFF2-40B4-BE49-F238E27FC236}">
                  <a16:creationId xmlns:a16="http://schemas.microsoft.com/office/drawing/2014/main" id="{DAD30011-10E5-FA44-A6C7-171D1805CBA4}"/>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2" name="Line 309">
              <a:extLst>
                <a:ext uri="{FF2B5EF4-FFF2-40B4-BE49-F238E27FC236}">
                  <a16:creationId xmlns:a16="http://schemas.microsoft.com/office/drawing/2014/main" id="{D6E1DBA8-2139-534A-812C-2D3021B42820}"/>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3" name="Line 310">
              <a:extLst>
                <a:ext uri="{FF2B5EF4-FFF2-40B4-BE49-F238E27FC236}">
                  <a16:creationId xmlns:a16="http://schemas.microsoft.com/office/drawing/2014/main" id="{E5BA2CAF-CE82-1046-A87A-25F846197222}"/>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604" name="Freeform 311">
            <a:extLst>
              <a:ext uri="{FF2B5EF4-FFF2-40B4-BE49-F238E27FC236}">
                <a16:creationId xmlns:a16="http://schemas.microsoft.com/office/drawing/2014/main" id="{0E044273-3CF1-1F44-AE22-0090B74B4B91}"/>
              </a:ext>
            </a:extLst>
          </p:cNvPr>
          <p:cNvSpPr>
            <a:spLocks/>
          </p:cNvSpPr>
          <p:nvPr/>
        </p:nvSpPr>
        <p:spPr bwMode="auto">
          <a:xfrm>
            <a:off x="6421244" y="1656669"/>
            <a:ext cx="2999696" cy="1863229"/>
          </a:xfrm>
          <a:custGeom>
            <a:avLst/>
            <a:gdLst>
              <a:gd name="T0" fmla="*/ 2147483647 w 7980"/>
              <a:gd name="T1" fmla="*/ 2147483647 h 4620"/>
              <a:gd name="T2" fmla="*/ 2147483647 w 7980"/>
              <a:gd name="T3" fmla="*/ 2147483647 h 4620"/>
              <a:gd name="T4" fmla="*/ 0 w 7980"/>
              <a:gd name="T5" fmla="*/ 2147483647 h 4620"/>
              <a:gd name="T6" fmla="*/ 2147483647 w 7980"/>
              <a:gd name="T7" fmla="*/ 2147483647 h 4620"/>
              <a:gd name="T8" fmla="*/ 2147483647 w 7980"/>
              <a:gd name="T9" fmla="*/ 2147483647 h 4620"/>
              <a:gd name="T10" fmla="*/ 2147483647 w 7980"/>
              <a:gd name="T11" fmla="*/ 0 h 46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80" h="4620">
                <a:moveTo>
                  <a:pt x="7965" y="3420"/>
                </a:moveTo>
                <a:lnTo>
                  <a:pt x="7980" y="4620"/>
                </a:lnTo>
                <a:lnTo>
                  <a:pt x="0" y="4605"/>
                </a:lnTo>
                <a:lnTo>
                  <a:pt x="3315" y="1485"/>
                </a:lnTo>
                <a:lnTo>
                  <a:pt x="2355" y="1455"/>
                </a:lnTo>
                <a:lnTo>
                  <a:pt x="2355" y="0"/>
                </a:lnTo>
              </a:path>
            </a:pathLst>
          </a:custGeom>
          <a:noFill/>
          <a:ln w="38100" cmpd="sng">
            <a:solidFill>
              <a:srgbClr val="FF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5" name="Freeform 312">
            <a:extLst>
              <a:ext uri="{FF2B5EF4-FFF2-40B4-BE49-F238E27FC236}">
                <a16:creationId xmlns:a16="http://schemas.microsoft.com/office/drawing/2014/main" id="{9835AE55-355E-3449-A433-1E30954185D2}"/>
              </a:ext>
            </a:extLst>
          </p:cNvPr>
          <p:cNvSpPr>
            <a:spLocks/>
          </p:cNvSpPr>
          <p:nvPr/>
        </p:nvSpPr>
        <p:spPr bwMode="auto">
          <a:xfrm>
            <a:off x="6184539" y="1716586"/>
            <a:ext cx="3399942" cy="1832304"/>
          </a:xfrm>
          <a:custGeom>
            <a:avLst/>
            <a:gdLst>
              <a:gd name="T0" fmla="*/ 0 w 9045"/>
              <a:gd name="T1" fmla="*/ 2147483647 h 4545"/>
              <a:gd name="T2" fmla="*/ 0 w 9045"/>
              <a:gd name="T3" fmla="*/ 2147483647 h 4545"/>
              <a:gd name="T4" fmla="*/ 2147483647 w 9045"/>
              <a:gd name="T5" fmla="*/ 2147483647 h 4545"/>
              <a:gd name="T6" fmla="*/ 2147483647 w 9045"/>
              <a:gd name="T7" fmla="*/ 2147483647 h 4545"/>
              <a:gd name="T8" fmla="*/ 2147483647 w 9045"/>
              <a:gd name="T9" fmla="*/ 2147483647 h 4545"/>
              <a:gd name="T10" fmla="*/ 2147483647 w 9045"/>
              <a:gd name="T11" fmla="*/ 2147483647 h 4545"/>
              <a:gd name="T12" fmla="*/ 2147483647 w 9045"/>
              <a:gd name="T13" fmla="*/ 2147483647 h 4545"/>
              <a:gd name="T14" fmla="*/ 2147483647 w 9045"/>
              <a:gd name="T15" fmla="*/ 0 h 4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45" h="4545">
                <a:moveTo>
                  <a:pt x="0" y="2880"/>
                </a:moveTo>
                <a:lnTo>
                  <a:pt x="0" y="4530"/>
                </a:lnTo>
                <a:lnTo>
                  <a:pt x="885" y="4545"/>
                </a:lnTo>
                <a:lnTo>
                  <a:pt x="3510" y="2010"/>
                </a:lnTo>
                <a:lnTo>
                  <a:pt x="7140" y="2055"/>
                </a:lnTo>
                <a:lnTo>
                  <a:pt x="8145" y="1020"/>
                </a:lnTo>
                <a:lnTo>
                  <a:pt x="9045" y="1020"/>
                </a:lnTo>
                <a:lnTo>
                  <a:pt x="9015" y="0"/>
                </a:lnTo>
              </a:path>
            </a:pathLst>
          </a:custGeom>
          <a:noFill/>
          <a:ln w="38100" cmpd="sng">
            <a:solidFill>
              <a:srgbClr val="00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6" name="Freeform 313">
            <a:extLst>
              <a:ext uri="{FF2B5EF4-FFF2-40B4-BE49-F238E27FC236}">
                <a16:creationId xmlns:a16="http://schemas.microsoft.com/office/drawing/2014/main" id="{6222373D-283A-3B4A-B1F6-7CDE8C98C64E}"/>
              </a:ext>
            </a:extLst>
          </p:cNvPr>
          <p:cNvSpPr>
            <a:spLocks/>
          </p:cNvSpPr>
          <p:nvPr/>
        </p:nvSpPr>
        <p:spPr bwMode="auto">
          <a:xfrm>
            <a:off x="6257703" y="1747511"/>
            <a:ext cx="3430069" cy="1693141"/>
          </a:xfrm>
          <a:custGeom>
            <a:avLst/>
            <a:gdLst>
              <a:gd name="T0" fmla="*/ 0 w 9120"/>
              <a:gd name="T1" fmla="*/ 2147483647 h 4201"/>
              <a:gd name="T2" fmla="*/ 0 w 9120"/>
              <a:gd name="T3" fmla="*/ 2147483647 h 4201"/>
              <a:gd name="T4" fmla="*/ 2147483647 w 9120"/>
              <a:gd name="T5" fmla="*/ 2147483647 h 4201"/>
              <a:gd name="T6" fmla="*/ 2147483647 w 9120"/>
              <a:gd name="T7" fmla="*/ 2147483647 h 4201"/>
              <a:gd name="T8" fmla="*/ 2147483647 w 9120"/>
              <a:gd name="T9" fmla="*/ 2147483647 h 4201"/>
              <a:gd name="T10" fmla="*/ 2147483647 w 9120"/>
              <a:gd name="T11" fmla="*/ 0 h 42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20" h="4201">
                <a:moveTo>
                  <a:pt x="0" y="2821"/>
                </a:moveTo>
                <a:lnTo>
                  <a:pt x="0" y="4201"/>
                </a:lnTo>
                <a:lnTo>
                  <a:pt x="4890" y="4201"/>
                </a:lnTo>
                <a:lnTo>
                  <a:pt x="8055" y="1051"/>
                </a:lnTo>
                <a:lnTo>
                  <a:pt x="9120" y="1080"/>
                </a:lnTo>
                <a:lnTo>
                  <a:pt x="9105" y="0"/>
                </a:lnTo>
              </a:path>
            </a:pathLst>
          </a:custGeom>
          <a:noFill/>
          <a:ln w="38100" cmpd="sng">
            <a:solidFill>
              <a:srgbClr val="00B05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607" name="Group 314">
            <a:extLst>
              <a:ext uri="{FF2B5EF4-FFF2-40B4-BE49-F238E27FC236}">
                <a16:creationId xmlns:a16="http://schemas.microsoft.com/office/drawing/2014/main" id="{7CED4D5D-1774-B94F-AB74-7B6F1F74FA06}"/>
              </a:ext>
            </a:extLst>
          </p:cNvPr>
          <p:cNvGrpSpPr>
            <a:grpSpLocks/>
          </p:cNvGrpSpPr>
          <p:nvPr/>
        </p:nvGrpSpPr>
        <p:grpSpPr bwMode="auto">
          <a:xfrm>
            <a:off x="6156566" y="2860810"/>
            <a:ext cx="53796" cy="172019"/>
            <a:chOff x="10104" y="10005"/>
            <a:chExt cx="137" cy="411"/>
          </a:xfrm>
        </p:grpSpPr>
        <p:sp>
          <p:nvSpPr>
            <p:cNvPr id="608" name="Oval 315">
              <a:extLst>
                <a:ext uri="{FF2B5EF4-FFF2-40B4-BE49-F238E27FC236}">
                  <a16:creationId xmlns:a16="http://schemas.microsoft.com/office/drawing/2014/main" id="{695435D0-43FA-5946-96EF-D369E25A8FF0}"/>
                </a:ext>
              </a:extLst>
            </p:cNvPr>
            <p:cNvSpPr>
              <a:spLocks noChangeArrowheads="1"/>
            </p:cNvSpPr>
            <p:nvPr/>
          </p:nvSpPr>
          <p:spPr bwMode="auto">
            <a:xfrm>
              <a:off x="10104" y="10005"/>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09" name="Oval 316">
              <a:extLst>
                <a:ext uri="{FF2B5EF4-FFF2-40B4-BE49-F238E27FC236}">
                  <a16:creationId xmlns:a16="http://schemas.microsoft.com/office/drawing/2014/main" id="{85BDA995-131F-0641-914D-C85C2FA16403}"/>
                </a:ext>
              </a:extLst>
            </p:cNvPr>
            <p:cNvSpPr>
              <a:spLocks noChangeArrowheads="1"/>
            </p:cNvSpPr>
            <p:nvPr/>
          </p:nvSpPr>
          <p:spPr bwMode="auto">
            <a:xfrm>
              <a:off x="10104" y="10278"/>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610" name="Group 317">
            <a:extLst>
              <a:ext uri="{FF2B5EF4-FFF2-40B4-BE49-F238E27FC236}">
                <a16:creationId xmlns:a16="http://schemas.microsoft.com/office/drawing/2014/main" id="{0FFCB242-31DD-7443-A923-107E105D8A00}"/>
              </a:ext>
            </a:extLst>
          </p:cNvPr>
          <p:cNvGrpSpPr>
            <a:grpSpLocks/>
          </p:cNvGrpSpPr>
          <p:nvPr/>
        </p:nvGrpSpPr>
        <p:grpSpPr bwMode="auto">
          <a:xfrm>
            <a:off x="9388663" y="3009635"/>
            <a:ext cx="53796" cy="173953"/>
            <a:chOff x="10104" y="10005"/>
            <a:chExt cx="137" cy="411"/>
          </a:xfrm>
        </p:grpSpPr>
        <p:sp>
          <p:nvSpPr>
            <p:cNvPr id="611" name="Oval 318">
              <a:extLst>
                <a:ext uri="{FF2B5EF4-FFF2-40B4-BE49-F238E27FC236}">
                  <a16:creationId xmlns:a16="http://schemas.microsoft.com/office/drawing/2014/main" id="{F25BDD80-1612-BD46-B423-42AE33DB436B}"/>
                </a:ext>
              </a:extLst>
            </p:cNvPr>
            <p:cNvSpPr>
              <a:spLocks noChangeArrowheads="1"/>
            </p:cNvSpPr>
            <p:nvPr/>
          </p:nvSpPr>
          <p:spPr bwMode="auto">
            <a:xfrm>
              <a:off x="10104" y="10005"/>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2" name="Oval 319">
              <a:extLst>
                <a:ext uri="{FF2B5EF4-FFF2-40B4-BE49-F238E27FC236}">
                  <a16:creationId xmlns:a16="http://schemas.microsoft.com/office/drawing/2014/main" id="{0B1DEF04-FA4A-924B-9F2F-610BC29F3350}"/>
                </a:ext>
              </a:extLst>
            </p:cNvPr>
            <p:cNvSpPr>
              <a:spLocks noChangeArrowheads="1"/>
            </p:cNvSpPr>
            <p:nvPr/>
          </p:nvSpPr>
          <p:spPr bwMode="auto">
            <a:xfrm>
              <a:off x="10104" y="10278"/>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613" name="Group 320">
            <a:extLst>
              <a:ext uri="{FF2B5EF4-FFF2-40B4-BE49-F238E27FC236}">
                <a16:creationId xmlns:a16="http://schemas.microsoft.com/office/drawing/2014/main" id="{0B529F14-3F08-E440-B6EC-F5B67289F089}"/>
              </a:ext>
            </a:extLst>
          </p:cNvPr>
          <p:cNvGrpSpPr>
            <a:grpSpLocks/>
          </p:cNvGrpSpPr>
          <p:nvPr/>
        </p:nvGrpSpPr>
        <p:grpSpPr bwMode="auto">
          <a:xfrm>
            <a:off x="9653341" y="1703056"/>
            <a:ext cx="53797" cy="173953"/>
            <a:chOff x="10104" y="10005"/>
            <a:chExt cx="137" cy="411"/>
          </a:xfrm>
        </p:grpSpPr>
        <p:sp>
          <p:nvSpPr>
            <p:cNvPr id="614" name="Oval 321">
              <a:extLst>
                <a:ext uri="{FF2B5EF4-FFF2-40B4-BE49-F238E27FC236}">
                  <a16:creationId xmlns:a16="http://schemas.microsoft.com/office/drawing/2014/main" id="{6437B6FC-D8DB-9746-A099-12114F7BD677}"/>
                </a:ext>
              </a:extLst>
            </p:cNvPr>
            <p:cNvSpPr>
              <a:spLocks noChangeArrowheads="1"/>
            </p:cNvSpPr>
            <p:nvPr/>
          </p:nvSpPr>
          <p:spPr bwMode="auto">
            <a:xfrm>
              <a:off x="10104" y="10005"/>
              <a:ext cx="137" cy="138"/>
            </a:xfrm>
            <a:prstGeom prst="ellipse">
              <a:avLst/>
            </a:prstGeom>
            <a:solidFill>
              <a:srgbClr val="00FF00"/>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5" name="Oval 322">
              <a:extLst>
                <a:ext uri="{FF2B5EF4-FFF2-40B4-BE49-F238E27FC236}">
                  <a16:creationId xmlns:a16="http://schemas.microsoft.com/office/drawing/2014/main" id="{0FDD47FB-2A41-0B4E-85FF-3CBB4DBDBE3B}"/>
                </a:ext>
              </a:extLst>
            </p:cNvPr>
            <p:cNvSpPr>
              <a:spLocks noChangeArrowheads="1"/>
            </p:cNvSpPr>
            <p:nvPr/>
          </p:nvSpPr>
          <p:spPr bwMode="auto">
            <a:xfrm>
              <a:off x="10104" y="10278"/>
              <a:ext cx="137" cy="138"/>
            </a:xfrm>
            <a:prstGeom prst="ellipse">
              <a:avLst/>
            </a:prstGeom>
            <a:solidFill>
              <a:srgbClr val="00FF00"/>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3" name="Group 2">
            <a:extLst>
              <a:ext uri="{FF2B5EF4-FFF2-40B4-BE49-F238E27FC236}">
                <a16:creationId xmlns:a16="http://schemas.microsoft.com/office/drawing/2014/main" id="{DCBFFE77-548F-9846-9A06-08C1230178E0}"/>
              </a:ext>
            </a:extLst>
          </p:cNvPr>
          <p:cNvGrpSpPr/>
          <p:nvPr/>
        </p:nvGrpSpPr>
        <p:grpSpPr>
          <a:xfrm>
            <a:off x="1505725" y="1423988"/>
            <a:ext cx="3115488" cy="2380952"/>
            <a:chOff x="1505725" y="1423988"/>
            <a:chExt cx="3115488" cy="2380952"/>
          </a:xfrm>
        </p:grpSpPr>
        <p:sp>
          <p:nvSpPr>
            <p:cNvPr id="616" name="Line 330">
              <a:extLst>
                <a:ext uri="{FF2B5EF4-FFF2-40B4-BE49-F238E27FC236}">
                  <a16:creationId xmlns:a16="http://schemas.microsoft.com/office/drawing/2014/main" id="{9BFD01DA-5202-CF44-9ED5-2B470718DBC3}"/>
                </a:ext>
              </a:extLst>
            </p:cNvPr>
            <p:cNvSpPr>
              <a:spLocks noChangeShapeType="1"/>
            </p:cNvSpPr>
            <p:nvPr/>
          </p:nvSpPr>
          <p:spPr bwMode="auto">
            <a:xfrm>
              <a:off x="2143125" y="1520825"/>
              <a:ext cx="0" cy="186055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7" name="Line 331">
              <a:extLst>
                <a:ext uri="{FF2B5EF4-FFF2-40B4-BE49-F238E27FC236}">
                  <a16:creationId xmlns:a16="http://schemas.microsoft.com/office/drawing/2014/main" id="{ACC222AF-8E70-314C-9EA2-B9677C72D968}"/>
                </a:ext>
              </a:extLst>
            </p:cNvPr>
            <p:cNvSpPr>
              <a:spLocks noChangeShapeType="1"/>
            </p:cNvSpPr>
            <p:nvPr/>
          </p:nvSpPr>
          <p:spPr bwMode="auto">
            <a:xfrm flipV="1">
              <a:off x="2127250" y="3373438"/>
              <a:ext cx="2333625" cy="4762"/>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8" name="Freeform 333">
              <a:extLst>
                <a:ext uri="{FF2B5EF4-FFF2-40B4-BE49-F238E27FC236}">
                  <a16:creationId xmlns:a16="http://schemas.microsoft.com/office/drawing/2014/main" id="{6D089360-38AC-4243-B6DB-EF4A57135057}"/>
                </a:ext>
              </a:extLst>
            </p:cNvPr>
            <p:cNvSpPr>
              <a:spLocks/>
            </p:cNvSpPr>
            <p:nvPr/>
          </p:nvSpPr>
          <p:spPr bwMode="auto">
            <a:xfrm>
              <a:off x="2132013" y="2607303"/>
              <a:ext cx="2489200" cy="759348"/>
            </a:xfrm>
            <a:custGeom>
              <a:avLst/>
              <a:gdLst>
                <a:gd name="T0" fmla="*/ 0 w 1568"/>
                <a:gd name="T1" fmla="*/ 2147483647 h 380"/>
                <a:gd name="T2" fmla="*/ 2147483647 w 1568"/>
                <a:gd name="T3" fmla="*/ 2147483647 h 380"/>
                <a:gd name="T4" fmla="*/ 2147483647 w 1568"/>
                <a:gd name="T5" fmla="*/ 2147483647 h 380"/>
                <a:gd name="T6" fmla="*/ 2147483647 w 1568"/>
                <a:gd name="T7" fmla="*/ 2147483647 h 380"/>
                <a:gd name="T8" fmla="*/ 0 60000 65536"/>
                <a:gd name="T9" fmla="*/ 0 60000 65536"/>
                <a:gd name="T10" fmla="*/ 0 60000 65536"/>
                <a:gd name="T11" fmla="*/ 0 60000 65536"/>
                <a:gd name="connsiteX0" fmla="*/ 0 w 10000"/>
                <a:gd name="connsiteY0" fmla="*/ 9512 h 9512"/>
                <a:gd name="connsiteX1" fmla="*/ 4152 w 10000"/>
                <a:gd name="connsiteY1" fmla="*/ 12 h 9512"/>
                <a:gd name="connsiteX2" fmla="*/ 5829 w 10000"/>
                <a:gd name="connsiteY2" fmla="*/ 8065 h 9512"/>
                <a:gd name="connsiteX3" fmla="*/ 10000 w 10000"/>
                <a:gd name="connsiteY3" fmla="*/ 8802 h 9512"/>
                <a:gd name="connsiteX0" fmla="*/ 0 w 10000"/>
                <a:gd name="connsiteY0" fmla="*/ 10000 h 10000"/>
                <a:gd name="connsiteX1" fmla="*/ 4152 w 10000"/>
                <a:gd name="connsiteY1" fmla="*/ 13 h 10000"/>
                <a:gd name="connsiteX2" fmla="*/ 5829 w 10000"/>
                <a:gd name="connsiteY2" fmla="*/ 8479 h 10000"/>
                <a:gd name="connsiteX3" fmla="*/ 10000 w 10000"/>
                <a:gd name="connsiteY3" fmla="*/ 9662 h 10000"/>
                <a:gd name="connsiteX0" fmla="*/ 0 w 10000"/>
                <a:gd name="connsiteY0" fmla="*/ 10000 h 10000"/>
                <a:gd name="connsiteX1" fmla="*/ 4152 w 10000"/>
                <a:gd name="connsiteY1" fmla="*/ 13 h 10000"/>
                <a:gd name="connsiteX2" fmla="*/ 5829 w 10000"/>
                <a:gd name="connsiteY2" fmla="*/ 8479 h 10000"/>
                <a:gd name="connsiteX3" fmla="*/ 10000 w 10000"/>
                <a:gd name="connsiteY3" fmla="*/ 9662 h 10000"/>
                <a:gd name="connsiteX0" fmla="*/ 0 w 10000"/>
                <a:gd name="connsiteY0" fmla="*/ 10000 h 10158"/>
                <a:gd name="connsiteX1" fmla="*/ 4152 w 10000"/>
                <a:gd name="connsiteY1" fmla="*/ 13 h 10158"/>
                <a:gd name="connsiteX2" fmla="*/ 5829 w 10000"/>
                <a:gd name="connsiteY2" fmla="*/ 8479 h 10158"/>
                <a:gd name="connsiteX3" fmla="*/ 10000 w 10000"/>
                <a:gd name="connsiteY3" fmla="*/ 9968 h 10158"/>
                <a:gd name="connsiteX0" fmla="*/ 0 w 10000"/>
                <a:gd name="connsiteY0" fmla="*/ 10000 h 10000"/>
                <a:gd name="connsiteX1" fmla="*/ 4152 w 10000"/>
                <a:gd name="connsiteY1" fmla="*/ 13 h 10000"/>
                <a:gd name="connsiteX2" fmla="*/ 5829 w 10000"/>
                <a:gd name="connsiteY2" fmla="*/ 8479 h 10000"/>
                <a:gd name="connsiteX3" fmla="*/ 10000 w 10000"/>
                <a:gd name="connsiteY3" fmla="*/ 9968 h 10000"/>
                <a:gd name="connsiteX0" fmla="*/ 0 w 10000"/>
                <a:gd name="connsiteY0" fmla="*/ 9898 h 9898"/>
                <a:gd name="connsiteX1" fmla="*/ 5094 w 10000"/>
                <a:gd name="connsiteY1" fmla="*/ 13 h 9898"/>
                <a:gd name="connsiteX2" fmla="*/ 5829 w 10000"/>
                <a:gd name="connsiteY2" fmla="*/ 8377 h 9898"/>
                <a:gd name="connsiteX3" fmla="*/ 10000 w 10000"/>
                <a:gd name="connsiteY3" fmla="*/ 9866 h 9898"/>
                <a:gd name="connsiteX0" fmla="*/ 0 w 10000"/>
                <a:gd name="connsiteY0" fmla="*/ 9991 h 10073"/>
                <a:gd name="connsiteX1" fmla="*/ 5094 w 10000"/>
                <a:gd name="connsiteY1" fmla="*/ 4 h 10073"/>
                <a:gd name="connsiteX2" fmla="*/ 6347 w 10000"/>
                <a:gd name="connsiteY2" fmla="*/ 8866 h 10073"/>
                <a:gd name="connsiteX3" fmla="*/ 10000 w 10000"/>
                <a:gd name="connsiteY3" fmla="*/ 9959 h 10073"/>
                <a:gd name="connsiteX0" fmla="*/ 0 w 10000"/>
                <a:gd name="connsiteY0" fmla="*/ 9992 h 10012"/>
                <a:gd name="connsiteX1" fmla="*/ 5094 w 10000"/>
                <a:gd name="connsiteY1" fmla="*/ 5 h 10012"/>
                <a:gd name="connsiteX2" fmla="*/ 6331 w 10000"/>
                <a:gd name="connsiteY2" fmla="*/ 8661 h 10012"/>
                <a:gd name="connsiteX3" fmla="*/ 10000 w 10000"/>
                <a:gd name="connsiteY3" fmla="*/ 9960 h 10012"/>
                <a:gd name="connsiteX0" fmla="*/ 0 w 10000"/>
                <a:gd name="connsiteY0" fmla="*/ 9992 h 10001"/>
                <a:gd name="connsiteX1" fmla="*/ 5094 w 10000"/>
                <a:gd name="connsiteY1" fmla="*/ 5 h 10001"/>
                <a:gd name="connsiteX2" fmla="*/ 6661 w 10000"/>
                <a:gd name="connsiteY2" fmla="*/ 8610 h 10001"/>
                <a:gd name="connsiteX3" fmla="*/ 10000 w 10000"/>
                <a:gd name="connsiteY3" fmla="*/ 9960 h 10001"/>
              </a:gdLst>
              <a:ahLst/>
              <a:cxnLst>
                <a:cxn ang="0">
                  <a:pos x="connsiteX0" y="connsiteY0"/>
                </a:cxn>
                <a:cxn ang="0">
                  <a:pos x="connsiteX1" y="connsiteY1"/>
                </a:cxn>
                <a:cxn ang="0">
                  <a:pos x="connsiteX2" y="connsiteY2"/>
                </a:cxn>
                <a:cxn ang="0">
                  <a:pos x="connsiteX3" y="connsiteY3"/>
                </a:cxn>
              </a:cxnLst>
              <a:rect l="l" t="t" r="r" b="b"/>
              <a:pathLst>
                <a:path w="10000" h="10001">
                  <a:moveTo>
                    <a:pt x="0" y="9992"/>
                  </a:moveTo>
                  <a:cubicBezTo>
                    <a:pt x="695" y="8315"/>
                    <a:pt x="3984" y="235"/>
                    <a:pt x="5094" y="5"/>
                  </a:cubicBezTo>
                  <a:cubicBezTo>
                    <a:pt x="6204" y="-225"/>
                    <a:pt x="5488" y="6933"/>
                    <a:pt x="6661" y="8610"/>
                  </a:cubicBezTo>
                  <a:cubicBezTo>
                    <a:pt x="7835" y="10287"/>
                    <a:pt x="8882" y="9997"/>
                    <a:pt x="10000" y="9960"/>
                  </a:cubicBez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619" name="Line 334">
              <a:extLst>
                <a:ext uri="{FF2B5EF4-FFF2-40B4-BE49-F238E27FC236}">
                  <a16:creationId xmlns:a16="http://schemas.microsoft.com/office/drawing/2014/main" id="{AF5D54D6-CC93-6E42-8712-1BDF48F23C59}"/>
                </a:ext>
              </a:extLst>
            </p:cNvPr>
            <p:cNvSpPr>
              <a:spLocks noChangeShapeType="1"/>
            </p:cNvSpPr>
            <p:nvPr/>
          </p:nvSpPr>
          <p:spPr bwMode="auto">
            <a:xfrm>
              <a:off x="2011363" y="1673225"/>
              <a:ext cx="125412"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20" name="Line 335">
              <a:extLst>
                <a:ext uri="{FF2B5EF4-FFF2-40B4-BE49-F238E27FC236}">
                  <a16:creationId xmlns:a16="http://schemas.microsoft.com/office/drawing/2014/main" id="{5F83D767-834B-CD45-B9C0-86188156B399}"/>
                </a:ext>
              </a:extLst>
            </p:cNvPr>
            <p:cNvSpPr>
              <a:spLocks noChangeShapeType="1"/>
            </p:cNvSpPr>
            <p:nvPr/>
          </p:nvSpPr>
          <p:spPr bwMode="auto">
            <a:xfrm>
              <a:off x="3944938" y="3381375"/>
              <a:ext cx="0" cy="134938"/>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21" name="Text Box 336">
              <a:extLst>
                <a:ext uri="{FF2B5EF4-FFF2-40B4-BE49-F238E27FC236}">
                  <a16:creationId xmlns:a16="http://schemas.microsoft.com/office/drawing/2014/main" id="{4D3494C0-DD1C-794E-97BA-6E4472E2FD59}"/>
                </a:ext>
              </a:extLst>
            </p:cNvPr>
            <p:cNvSpPr txBox="1">
              <a:spLocks noChangeArrowheads="1"/>
            </p:cNvSpPr>
            <p:nvPr/>
          </p:nvSpPr>
          <p:spPr bwMode="auto">
            <a:xfrm>
              <a:off x="1505725" y="1423988"/>
              <a:ext cx="46358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R/2</a:t>
              </a:r>
            </a:p>
          </p:txBody>
        </p:sp>
        <p:sp>
          <p:nvSpPr>
            <p:cNvPr id="622" name="Text Box 337">
              <a:extLst>
                <a:ext uri="{FF2B5EF4-FFF2-40B4-BE49-F238E27FC236}">
                  <a16:creationId xmlns:a16="http://schemas.microsoft.com/office/drawing/2014/main" id="{CE6E8577-4BD8-EE4D-8020-05E336E07DC2}"/>
                </a:ext>
              </a:extLst>
            </p:cNvPr>
            <p:cNvSpPr txBox="1">
              <a:spLocks noChangeArrowheads="1"/>
            </p:cNvSpPr>
            <p:nvPr/>
          </p:nvSpPr>
          <p:spPr bwMode="auto">
            <a:xfrm>
              <a:off x="3742512" y="3433763"/>
              <a:ext cx="463588"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R/2</a:t>
              </a:r>
            </a:p>
          </p:txBody>
        </p:sp>
        <p:sp>
          <p:nvSpPr>
            <p:cNvPr id="623" name="Text Box 338">
              <a:extLst>
                <a:ext uri="{FF2B5EF4-FFF2-40B4-BE49-F238E27FC236}">
                  <a16:creationId xmlns:a16="http://schemas.microsoft.com/office/drawing/2014/main" id="{05367630-23E9-2744-A1A7-0C85EC93DB37}"/>
                </a:ext>
              </a:extLst>
            </p:cNvPr>
            <p:cNvSpPr txBox="1">
              <a:spLocks noChangeArrowheads="1"/>
            </p:cNvSpPr>
            <p:nvPr/>
          </p:nvSpPr>
          <p:spPr bwMode="auto">
            <a:xfrm rot="-5400000">
              <a:off x="1416844" y="2351882"/>
              <a:ext cx="80803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Symbol" charset="0"/>
                  <a:ea typeface="ＭＳ Ｐゴシック" charset="0"/>
                  <a:cs typeface="+mn-cs"/>
                </a:rPr>
                <a:t>l</a:t>
              </a:r>
              <a:r>
                <a:rPr kumimoji="0" lang="en-US" sz="2400" b="0" i="0" u="none" strike="noStrike" kern="1200" cap="none" spc="0" normalizeH="0" baseline="-25000" noProof="0" dirty="0">
                  <a:ln>
                    <a:noFill/>
                  </a:ln>
                  <a:solidFill>
                    <a:srgbClr val="000000"/>
                  </a:solidFill>
                  <a:effectLst/>
                  <a:uLnTx/>
                  <a:uFillTx/>
                  <a:latin typeface="Arial" charset="0"/>
                  <a:ea typeface="ＭＳ Ｐゴシック" charset="0"/>
                  <a:cs typeface="+mn-cs"/>
                </a:rPr>
                <a:t>out</a:t>
              </a:r>
            </a:p>
          </p:txBody>
        </p:sp>
        <p:sp>
          <p:nvSpPr>
            <p:cNvPr id="624" name="Text Box 339">
              <a:extLst>
                <a:ext uri="{FF2B5EF4-FFF2-40B4-BE49-F238E27FC236}">
                  <a16:creationId xmlns:a16="http://schemas.microsoft.com/office/drawing/2014/main" id="{5131AB9A-BD62-7E48-B700-9F673321A2AA}"/>
                </a:ext>
              </a:extLst>
            </p:cNvPr>
            <p:cNvSpPr txBox="1">
              <a:spLocks noChangeArrowheads="1"/>
            </p:cNvSpPr>
            <p:nvPr/>
          </p:nvSpPr>
          <p:spPr bwMode="auto">
            <a:xfrm>
              <a:off x="2857001" y="3343275"/>
              <a:ext cx="5629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Symbol" pitchFamily="2" charset="2"/>
                  <a:ea typeface="ＭＳ Ｐゴシック" panose="020B0600070205080204" pitchFamily="34" charset="-128"/>
                  <a:cs typeface="+mn-cs"/>
                </a:rPr>
                <a:t>l</a:t>
              </a:r>
              <a:r>
                <a:rPr kumimoji="0" lang="en-US" altLang="en-US" sz="2400" b="0" i="0" u="none" strike="noStrike" kern="1200" cap="none" spc="0" normalizeH="0" baseline="-2500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a:t>
              </a:r>
              <a:r>
                <a:rPr kumimoji="0" lang="en-US" altLang="ja-JP" sz="2400" b="0" i="0" u="none" strike="noStrike" kern="1200" cap="none" spc="0" normalizeH="0" baseline="30000" noProof="0" dirty="0">
                  <a:ln>
                    <a:noFill/>
                  </a:ln>
                  <a:solidFill>
                    <a:srgbClr val="000000"/>
                  </a:solidFill>
                  <a:effectLst/>
                  <a:uLnTx/>
                  <a:uFillTx/>
                  <a:latin typeface="Calibri" panose="020F0502020204030204"/>
                  <a:ea typeface="ＭＳ Ｐゴシック" panose="020B0600070205080204" pitchFamily="34" charset="-128"/>
                  <a:cs typeface="+mn-cs"/>
                </a:rPr>
                <a:t>’</a:t>
              </a:r>
              <a:endParaRPr kumimoji="0" lang="en-US" altLang="en-US" sz="2400" b="0" i="0" u="none" strike="noStrike" kern="1200" cap="none" spc="0" normalizeH="0" baseline="3000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130" name="Slide Number Placeholder 2">
            <a:extLst>
              <a:ext uri="{FF2B5EF4-FFF2-40B4-BE49-F238E27FC236}">
                <a16:creationId xmlns:a16="http://schemas.microsoft.com/office/drawing/2014/main" id="{B2D434D1-E742-A043-86CE-3BB54BC2F15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45</a:t>
            </a:fld>
            <a:endParaRPr lang="en-US" dirty="0"/>
          </a:p>
        </p:txBody>
      </p:sp>
    </p:spTree>
    <p:extLst>
      <p:ext uri="{BB962C8B-B14F-4D97-AF65-F5344CB8AC3E}">
        <p14:creationId xmlns:p14="http://schemas.microsoft.com/office/powerpoint/2010/main" val="4282205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08643"/>
            <a:ext cx="11393310" cy="894622"/>
          </a:xfrm>
        </p:spPr>
        <p:txBody>
          <a:bodyPr>
            <a:normAutofit/>
          </a:bodyPr>
          <a:lstStyle/>
          <a:p>
            <a:r>
              <a:rPr lang="en-US" sz="4800" dirty="0"/>
              <a:t>Causes/costs of congestion: insights</a:t>
            </a:r>
            <a:endParaRPr lang="en-US" sz="4400" b="0" dirty="0"/>
          </a:p>
        </p:txBody>
      </p:sp>
      <p:grpSp>
        <p:nvGrpSpPr>
          <p:cNvPr id="10" name="Group 9">
            <a:extLst>
              <a:ext uri="{FF2B5EF4-FFF2-40B4-BE49-F238E27FC236}">
                <a16:creationId xmlns:a16="http://schemas.microsoft.com/office/drawing/2014/main" id="{C64ABAFB-5459-F446-A0AC-48FC5C1C05E1}"/>
              </a:ext>
            </a:extLst>
          </p:cNvPr>
          <p:cNvGrpSpPr/>
          <p:nvPr/>
        </p:nvGrpSpPr>
        <p:grpSpPr>
          <a:xfrm>
            <a:off x="1054099" y="5185696"/>
            <a:ext cx="8420101" cy="1336368"/>
            <a:chOff x="1054099" y="4728508"/>
            <a:chExt cx="8420101" cy="1336368"/>
          </a:xfrm>
        </p:grpSpPr>
        <p:sp>
          <p:nvSpPr>
            <p:cNvPr id="470" name="Rectangle 3">
              <a:extLst>
                <a:ext uri="{FF2B5EF4-FFF2-40B4-BE49-F238E27FC236}">
                  <a16:creationId xmlns:a16="http://schemas.microsoft.com/office/drawing/2014/main" id="{B3E01DA9-25FD-B546-AB8A-84DD037548D3}"/>
                </a:ext>
              </a:extLst>
            </p:cNvPr>
            <p:cNvSpPr>
              <a:spLocks noChangeArrowheads="1"/>
            </p:cNvSpPr>
            <p:nvPr/>
          </p:nvSpPr>
          <p:spPr bwMode="auto">
            <a:xfrm>
              <a:off x="1206500" y="5114925"/>
              <a:ext cx="8267700" cy="4095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Rectangle 4">
              <a:extLst>
                <a:ext uri="{FF2B5EF4-FFF2-40B4-BE49-F238E27FC236}">
                  <a16:creationId xmlns:a16="http://schemas.microsoft.com/office/drawing/2014/main" id="{E62417CD-29D3-4540-95AB-DBD339E4A56F}"/>
                </a:ext>
              </a:extLst>
            </p:cNvPr>
            <p:cNvSpPr>
              <a:spLocks noChangeArrowheads="1"/>
            </p:cNvSpPr>
            <p:nvPr/>
          </p:nvSpPr>
          <p:spPr bwMode="auto">
            <a:xfrm>
              <a:off x="1054099" y="4926013"/>
              <a:ext cx="6735751" cy="8081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ja-JP"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upstream transmission capacity / buffering wasted for packets lost downstream</a:t>
              </a: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pic>
          <p:nvPicPr>
            <p:cNvPr id="3" name="Picture 2">
              <a:extLst>
                <a:ext uri="{FF2B5EF4-FFF2-40B4-BE49-F238E27FC236}">
                  <a16:creationId xmlns:a16="http://schemas.microsoft.com/office/drawing/2014/main" id="{497D00A8-A6C2-354A-9DB9-EE706DA9DEDB}"/>
                </a:ext>
              </a:extLst>
            </p:cNvPr>
            <p:cNvPicPr>
              <a:picLocks noChangeAspect="1"/>
            </p:cNvPicPr>
            <p:nvPr/>
          </p:nvPicPr>
          <p:blipFill>
            <a:blip r:embed="rId3"/>
            <a:stretch>
              <a:fillRect/>
            </a:stretch>
          </p:blipFill>
          <p:spPr>
            <a:xfrm>
              <a:off x="7734126" y="4728508"/>
              <a:ext cx="1657096" cy="1336368"/>
            </a:xfrm>
            <a:prstGeom prst="rect">
              <a:avLst/>
            </a:prstGeom>
          </p:spPr>
        </p:pic>
      </p:grpSp>
      <p:grpSp>
        <p:nvGrpSpPr>
          <p:cNvPr id="13" name="Group 12">
            <a:extLst>
              <a:ext uri="{FF2B5EF4-FFF2-40B4-BE49-F238E27FC236}">
                <a16:creationId xmlns:a16="http://schemas.microsoft.com/office/drawing/2014/main" id="{77E4D1E4-3EEB-4E4B-8616-C6D7345EBEEE}"/>
              </a:ext>
            </a:extLst>
          </p:cNvPr>
          <p:cNvGrpSpPr/>
          <p:nvPr/>
        </p:nvGrpSpPr>
        <p:grpSpPr>
          <a:xfrm>
            <a:off x="1028700" y="2052023"/>
            <a:ext cx="10080734" cy="1334789"/>
            <a:chOff x="1028700" y="1860299"/>
            <a:chExt cx="10080734" cy="1334789"/>
          </a:xfrm>
        </p:grpSpPr>
        <p:sp>
          <p:nvSpPr>
            <p:cNvPr id="129" name="Rectangle 4">
              <a:extLst>
                <a:ext uri="{FF2B5EF4-FFF2-40B4-BE49-F238E27FC236}">
                  <a16:creationId xmlns:a16="http://schemas.microsoft.com/office/drawing/2014/main" id="{C8DF44BF-39DD-7A44-89E8-80E5392BB02F}"/>
                </a:ext>
              </a:extLst>
            </p:cNvPr>
            <p:cNvSpPr>
              <a:spLocks noChangeArrowheads="1"/>
            </p:cNvSpPr>
            <p:nvPr/>
          </p:nvSpPr>
          <p:spPr bwMode="auto">
            <a:xfrm>
              <a:off x="1028700" y="2139156"/>
              <a:ext cx="10080734" cy="4714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delay increases as capacity approached </a:t>
              </a:r>
            </a:p>
          </p:txBody>
        </p:sp>
        <p:pic>
          <p:nvPicPr>
            <p:cNvPr id="9" name="Picture 8">
              <a:extLst>
                <a:ext uri="{FF2B5EF4-FFF2-40B4-BE49-F238E27FC236}">
                  <a16:creationId xmlns:a16="http://schemas.microsoft.com/office/drawing/2014/main" id="{B3BC8354-A522-CA41-8AD1-6483FE2E7AA3}"/>
                </a:ext>
              </a:extLst>
            </p:cNvPr>
            <p:cNvPicPr>
              <a:picLocks noChangeAspect="1"/>
            </p:cNvPicPr>
            <p:nvPr/>
          </p:nvPicPr>
          <p:blipFill>
            <a:blip r:embed="rId4"/>
            <a:stretch>
              <a:fillRect/>
            </a:stretch>
          </p:blipFill>
          <p:spPr>
            <a:xfrm>
              <a:off x="9451601" y="1860299"/>
              <a:ext cx="1402990" cy="1334789"/>
            </a:xfrm>
            <a:prstGeom prst="rect">
              <a:avLst/>
            </a:prstGeom>
          </p:spPr>
        </p:pic>
      </p:grpSp>
      <p:grpSp>
        <p:nvGrpSpPr>
          <p:cNvPr id="18" name="Group 17">
            <a:extLst>
              <a:ext uri="{FF2B5EF4-FFF2-40B4-BE49-F238E27FC236}">
                <a16:creationId xmlns:a16="http://schemas.microsoft.com/office/drawing/2014/main" id="{A3D27AAF-A2F5-E143-ACD8-97D841F75BBA}"/>
              </a:ext>
            </a:extLst>
          </p:cNvPr>
          <p:cNvGrpSpPr/>
          <p:nvPr/>
        </p:nvGrpSpPr>
        <p:grpSpPr>
          <a:xfrm>
            <a:off x="1041400" y="4167737"/>
            <a:ext cx="9952137" cy="1463041"/>
            <a:chOff x="1041400" y="4167737"/>
            <a:chExt cx="9952137" cy="1463041"/>
          </a:xfrm>
        </p:grpSpPr>
        <p:sp>
          <p:nvSpPr>
            <p:cNvPr id="131" name="Rectangle 4">
              <a:extLst>
                <a:ext uri="{FF2B5EF4-FFF2-40B4-BE49-F238E27FC236}">
                  <a16:creationId xmlns:a16="http://schemas.microsoft.com/office/drawing/2014/main" id="{E69E1480-29A3-FC40-B2EA-9D31AA40C563}"/>
                </a:ext>
              </a:extLst>
            </p:cNvPr>
            <p:cNvSpPr>
              <a:spLocks noChangeArrowheads="1"/>
            </p:cNvSpPr>
            <p:nvPr/>
          </p:nvSpPr>
          <p:spPr bwMode="auto">
            <a:xfrm>
              <a:off x="1041400" y="4352873"/>
              <a:ext cx="6769100" cy="7622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un-needed duplicates further decreases effective throughput</a:t>
              </a:r>
            </a:p>
          </p:txBody>
        </p:sp>
        <p:pic>
          <p:nvPicPr>
            <p:cNvPr id="14" name="Picture 13">
              <a:extLst>
                <a:ext uri="{FF2B5EF4-FFF2-40B4-BE49-F238E27FC236}">
                  <a16:creationId xmlns:a16="http://schemas.microsoft.com/office/drawing/2014/main" id="{0C8C9A99-D0A4-9E4A-AD6A-0403159B3DB3}"/>
                </a:ext>
              </a:extLst>
            </p:cNvPr>
            <p:cNvPicPr>
              <a:picLocks noChangeAspect="1"/>
            </p:cNvPicPr>
            <p:nvPr/>
          </p:nvPicPr>
          <p:blipFill>
            <a:blip r:embed="rId5"/>
            <a:stretch>
              <a:fillRect/>
            </a:stretch>
          </p:blipFill>
          <p:spPr>
            <a:xfrm>
              <a:off x="9364995" y="4167737"/>
              <a:ext cx="1628542" cy="1463041"/>
            </a:xfrm>
            <a:prstGeom prst="rect">
              <a:avLst/>
            </a:prstGeom>
          </p:spPr>
        </p:pic>
      </p:grpSp>
      <p:grpSp>
        <p:nvGrpSpPr>
          <p:cNvPr id="17" name="Group 16">
            <a:extLst>
              <a:ext uri="{FF2B5EF4-FFF2-40B4-BE49-F238E27FC236}">
                <a16:creationId xmlns:a16="http://schemas.microsoft.com/office/drawing/2014/main" id="{25331F8E-78B4-5E4D-9E14-918B774CF79B}"/>
              </a:ext>
            </a:extLst>
          </p:cNvPr>
          <p:cNvGrpSpPr/>
          <p:nvPr/>
        </p:nvGrpSpPr>
        <p:grpSpPr>
          <a:xfrm>
            <a:off x="1041400" y="2983830"/>
            <a:ext cx="8301120" cy="1447533"/>
            <a:chOff x="1041400" y="2983830"/>
            <a:chExt cx="8301120" cy="1447533"/>
          </a:xfrm>
        </p:grpSpPr>
        <p:sp>
          <p:nvSpPr>
            <p:cNvPr id="130" name="Rectangle 4">
              <a:extLst>
                <a:ext uri="{FF2B5EF4-FFF2-40B4-BE49-F238E27FC236}">
                  <a16:creationId xmlns:a16="http://schemas.microsoft.com/office/drawing/2014/main" id="{E0B74A1B-74C4-184F-94CC-A99D0D2E3668}"/>
                </a:ext>
              </a:extLst>
            </p:cNvPr>
            <p:cNvSpPr>
              <a:spLocks noChangeArrowheads="1"/>
            </p:cNvSpPr>
            <p:nvPr/>
          </p:nvSpPr>
          <p:spPr bwMode="auto">
            <a:xfrm>
              <a:off x="1041400" y="3256108"/>
              <a:ext cx="6332794" cy="4272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loss/retransmission decreases effective throughput</a:t>
              </a:r>
            </a:p>
          </p:txBody>
        </p:sp>
        <p:pic>
          <p:nvPicPr>
            <p:cNvPr id="16" name="Picture 15">
              <a:extLst>
                <a:ext uri="{FF2B5EF4-FFF2-40B4-BE49-F238E27FC236}">
                  <a16:creationId xmlns:a16="http://schemas.microsoft.com/office/drawing/2014/main" id="{B0F0FCDE-CAF5-4C40-A5A2-D21059E4F26A}"/>
                </a:ext>
              </a:extLst>
            </p:cNvPr>
            <p:cNvPicPr>
              <a:picLocks noChangeAspect="1"/>
            </p:cNvPicPr>
            <p:nvPr/>
          </p:nvPicPr>
          <p:blipFill>
            <a:blip r:embed="rId6"/>
            <a:stretch>
              <a:fillRect/>
            </a:stretch>
          </p:blipFill>
          <p:spPr>
            <a:xfrm>
              <a:off x="7723915" y="2983830"/>
              <a:ext cx="1618605" cy="1447533"/>
            </a:xfrm>
            <a:prstGeom prst="rect">
              <a:avLst/>
            </a:prstGeom>
          </p:spPr>
        </p:pic>
      </p:grpSp>
      <p:grpSp>
        <p:nvGrpSpPr>
          <p:cNvPr id="20" name="Group 19">
            <a:extLst>
              <a:ext uri="{FF2B5EF4-FFF2-40B4-BE49-F238E27FC236}">
                <a16:creationId xmlns:a16="http://schemas.microsoft.com/office/drawing/2014/main" id="{1F7EFD51-4F3D-7A4D-8E82-A230AAE12880}"/>
              </a:ext>
            </a:extLst>
          </p:cNvPr>
          <p:cNvGrpSpPr/>
          <p:nvPr/>
        </p:nvGrpSpPr>
        <p:grpSpPr>
          <a:xfrm>
            <a:off x="1041400" y="1190115"/>
            <a:ext cx="8210815" cy="1330482"/>
            <a:chOff x="1041400" y="1190115"/>
            <a:chExt cx="8210815" cy="1330482"/>
          </a:xfrm>
        </p:grpSpPr>
        <p:sp>
          <p:nvSpPr>
            <p:cNvPr id="471" name="Rectangle 4">
              <a:extLst>
                <a:ext uri="{FF2B5EF4-FFF2-40B4-BE49-F238E27FC236}">
                  <a16:creationId xmlns:a16="http://schemas.microsoft.com/office/drawing/2014/main" id="{50204642-54CB-0C46-8699-863901641A9F}"/>
                </a:ext>
              </a:extLst>
            </p:cNvPr>
            <p:cNvSpPr>
              <a:spLocks noChangeArrowheads="1"/>
            </p:cNvSpPr>
            <p:nvPr/>
          </p:nvSpPr>
          <p:spPr bwMode="auto">
            <a:xfrm>
              <a:off x="1041400" y="1395413"/>
              <a:ext cx="6538912" cy="4714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pitchFamily="2" charset="2"/>
                <a:buChar char="§"/>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throughput can never exceed capacity </a:t>
              </a:r>
            </a:p>
          </p:txBody>
        </p:sp>
        <p:pic>
          <p:nvPicPr>
            <p:cNvPr id="19" name="Picture 18">
              <a:extLst>
                <a:ext uri="{FF2B5EF4-FFF2-40B4-BE49-F238E27FC236}">
                  <a16:creationId xmlns:a16="http://schemas.microsoft.com/office/drawing/2014/main" id="{C7DCF390-386B-AE45-BE92-F53BE11B8376}"/>
                </a:ext>
              </a:extLst>
            </p:cNvPr>
            <p:cNvPicPr>
              <a:picLocks noChangeAspect="1"/>
            </p:cNvPicPr>
            <p:nvPr/>
          </p:nvPicPr>
          <p:blipFill>
            <a:blip r:embed="rId7"/>
            <a:stretch>
              <a:fillRect/>
            </a:stretch>
          </p:blipFill>
          <p:spPr>
            <a:xfrm>
              <a:off x="7729084" y="1190115"/>
              <a:ext cx="1523131" cy="1330482"/>
            </a:xfrm>
            <a:prstGeom prst="rect">
              <a:avLst/>
            </a:prstGeom>
          </p:spPr>
        </p:pic>
      </p:grpSp>
      <p:sp>
        <p:nvSpPr>
          <p:cNvPr id="21" name="Slide Number Placeholder 2">
            <a:extLst>
              <a:ext uri="{FF2B5EF4-FFF2-40B4-BE49-F238E27FC236}">
                <a16:creationId xmlns:a16="http://schemas.microsoft.com/office/drawing/2014/main" id="{BBFEA973-F377-3247-B95A-5759C5BD8A0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46</a:t>
            </a:fld>
            <a:endParaRPr lang="en-US" dirty="0"/>
          </a:p>
        </p:txBody>
      </p:sp>
    </p:spTree>
    <p:extLst>
      <p:ext uri="{BB962C8B-B14F-4D97-AF65-F5344CB8AC3E}">
        <p14:creationId xmlns:p14="http://schemas.microsoft.com/office/powerpoint/2010/main" val="803740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dissolv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 name="Group 176">
            <a:extLst>
              <a:ext uri="{FF2B5EF4-FFF2-40B4-BE49-F238E27FC236}">
                <a16:creationId xmlns:a16="http://schemas.microsoft.com/office/drawing/2014/main" id="{06DD7C50-58C4-B34F-A819-0EADD89C2A37}"/>
              </a:ext>
            </a:extLst>
          </p:cNvPr>
          <p:cNvGrpSpPr/>
          <p:nvPr/>
        </p:nvGrpSpPr>
        <p:grpSpPr>
          <a:xfrm>
            <a:off x="10476914" y="2368655"/>
            <a:ext cx="717868" cy="1154474"/>
            <a:chOff x="7664720" y="2795550"/>
            <a:chExt cx="717868" cy="1154474"/>
          </a:xfrm>
        </p:grpSpPr>
        <p:sp>
          <p:nvSpPr>
            <p:cNvPr id="178" name="Rectangle 177">
              <a:extLst>
                <a:ext uri="{FF2B5EF4-FFF2-40B4-BE49-F238E27FC236}">
                  <a16:creationId xmlns:a16="http://schemas.microsoft.com/office/drawing/2014/main" id="{F52B9B30-D973-4342-9353-3C55976BEB6A}"/>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79" name="Straight Connector 178">
              <a:extLst>
                <a:ext uri="{FF2B5EF4-FFF2-40B4-BE49-F238E27FC236}">
                  <a16:creationId xmlns:a16="http://schemas.microsoft.com/office/drawing/2014/main" id="{224EADA8-9231-C54D-B660-93136571FE3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EB564AD7-6052-D74E-AFB8-443721B0BA8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C030439-89A7-D141-93A0-55E98A03659C}"/>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29CBFF5-3970-894F-B8C7-846B6CF65EF2}"/>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Freeform 270">
            <a:extLst>
              <a:ext uri="{FF2B5EF4-FFF2-40B4-BE49-F238E27FC236}">
                <a16:creationId xmlns:a16="http://schemas.microsoft.com/office/drawing/2014/main" id="{CE7C7371-97B5-C346-A95F-94B2CF95CEF8}"/>
              </a:ext>
            </a:extLst>
          </p:cNvPr>
          <p:cNvSpPr>
            <a:spLocks/>
          </p:cNvSpPr>
          <p:nvPr/>
        </p:nvSpPr>
        <p:spPr bwMode="auto">
          <a:xfrm flipH="1">
            <a:off x="6810066" y="2305050"/>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4" name="Group 354">
            <a:extLst>
              <a:ext uri="{FF2B5EF4-FFF2-40B4-BE49-F238E27FC236}">
                <a16:creationId xmlns:a16="http://schemas.microsoft.com/office/drawing/2014/main" id="{1BCC2894-BF9B-8F46-AA42-B55DC303E1A8}"/>
              </a:ext>
            </a:extLst>
          </p:cNvPr>
          <p:cNvGrpSpPr>
            <a:grpSpLocks/>
          </p:cNvGrpSpPr>
          <p:nvPr/>
        </p:nvGrpSpPr>
        <p:grpSpPr bwMode="auto">
          <a:xfrm>
            <a:off x="6405254" y="3243263"/>
            <a:ext cx="525462" cy="434975"/>
            <a:chOff x="-44" y="1473"/>
            <a:chExt cx="981" cy="1105"/>
          </a:xfrm>
        </p:grpSpPr>
        <p:pic>
          <p:nvPicPr>
            <p:cNvPr id="135" name="Picture 355" descr="desktop_computer_stylized_medium">
              <a:extLst>
                <a:ext uri="{FF2B5EF4-FFF2-40B4-BE49-F238E27FC236}">
                  <a16:creationId xmlns:a16="http://schemas.microsoft.com/office/drawing/2014/main" id="{3E99589F-1E40-7C43-B8AA-5029A4A26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Freeform 356">
              <a:extLst>
                <a:ext uri="{FF2B5EF4-FFF2-40B4-BE49-F238E27FC236}">
                  <a16:creationId xmlns:a16="http://schemas.microsoft.com/office/drawing/2014/main" id="{B3DD6BB4-576F-9148-8D11-578565B588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37" name="Group 136">
            <a:extLst>
              <a:ext uri="{FF2B5EF4-FFF2-40B4-BE49-F238E27FC236}">
                <a16:creationId xmlns:a16="http://schemas.microsoft.com/office/drawing/2014/main" id="{147F56F3-1CFD-5745-9F94-FFAF782BC64A}"/>
              </a:ext>
            </a:extLst>
          </p:cNvPr>
          <p:cNvGrpSpPr/>
          <p:nvPr/>
        </p:nvGrpSpPr>
        <p:grpSpPr>
          <a:xfrm>
            <a:off x="7045286" y="2362077"/>
            <a:ext cx="717868" cy="1154474"/>
            <a:chOff x="7664720" y="2799688"/>
            <a:chExt cx="717868" cy="1154474"/>
          </a:xfrm>
        </p:grpSpPr>
        <p:sp>
          <p:nvSpPr>
            <p:cNvPr id="138" name="Rectangle 137">
              <a:extLst>
                <a:ext uri="{FF2B5EF4-FFF2-40B4-BE49-F238E27FC236}">
                  <a16:creationId xmlns:a16="http://schemas.microsoft.com/office/drawing/2014/main" id="{12A18A2C-071A-724E-ABAB-EE121ADBCB05}"/>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39" name="Straight Connector 138">
              <a:extLst>
                <a:ext uri="{FF2B5EF4-FFF2-40B4-BE49-F238E27FC236}">
                  <a16:creationId xmlns:a16="http://schemas.microsoft.com/office/drawing/2014/main" id="{5A246001-6FA7-F047-AECA-800C5A5F30CD}"/>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407FE2E-B4F8-E142-9856-65C553F4A8E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F241007-617C-9B47-BDCF-F85615C450A7}"/>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AB2A72B-F1C5-4049-8439-AABBF750CD86}"/>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884903" y="1939313"/>
            <a:ext cx="5562600" cy="2536434"/>
          </a:xfrm>
        </p:spPr>
        <p:txBody>
          <a:bodyPr>
            <a:normAutofit lnSpcReduction="10000"/>
          </a:bodyPr>
          <a:lstStyle/>
          <a:p>
            <a:pPr>
              <a:buFont typeface="Wingdings" charset="0"/>
              <a:buNone/>
              <a:defRPr/>
            </a:pPr>
            <a:r>
              <a:rPr lang="en-US" sz="3200" dirty="0">
                <a:solidFill>
                  <a:srgbClr val="C00000"/>
                </a:solidFill>
              </a:rPr>
              <a:t>E</a:t>
            </a:r>
            <a:r>
              <a:rPr lang="en-US" sz="3200" dirty="0">
                <a:solidFill>
                  <a:srgbClr val="C00000"/>
                </a:solidFill>
                <a:cs typeface="+mn-cs"/>
              </a:rPr>
              <a:t>nd-end congestion control:</a:t>
            </a:r>
          </a:p>
          <a:p>
            <a:pPr marL="466725" indent="-336550">
              <a:defRPr/>
            </a:pPr>
            <a:r>
              <a:rPr lang="en-US" sz="3200" dirty="0"/>
              <a:t>no explicit feedback from network</a:t>
            </a:r>
          </a:p>
          <a:p>
            <a:pPr marL="466725" indent="-336550">
              <a:defRPr/>
            </a:pPr>
            <a:r>
              <a:rPr lang="en-US" sz="3200" dirty="0"/>
              <a:t>congestion </a:t>
            </a:r>
            <a:r>
              <a:rPr lang="en-US" sz="3200" i="1" dirty="0">
                <a:solidFill>
                  <a:srgbClr val="C00000"/>
                </a:solidFill>
              </a:rPr>
              <a:t>inferred</a:t>
            </a:r>
            <a:r>
              <a:rPr lang="en-US" sz="3200" dirty="0"/>
              <a:t> from observed loss, delay</a:t>
            </a: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p:txBody>
          <a:bodyPr>
            <a:normAutofit/>
          </a:bodyPr>
          <a:lstStyle/>
          <a:p>
            <a:pPr>
              <a:defRPr/>
            </a:pPr>
            <a:r>
              <a:rPr lang="en-US" sz="4800" dirty="0"/>
              <a:t>Approaches towards congestion control</a:t>
            </a:r>
            <a:endParaRPr lang="en-US" sz="5400" dirty="0">
              <a:cs typeface="+mj-cs"/>
            </a:endParaRPr>
          </a:p>
        </p:txBody>
      </p:sp>
      <p:sp>
        <p:nvSpPr>
          <p:cNvPr id="15" name="Freeform 2">
            <a:extLst>
              <a:ext uri="{FF2B5EF4-FFF2-40B4-BE49-F238E27FC236}">
                <a16:creationId xmlns:a16="http://schemas.microsoft.com/office/drawing/2014/main" id="{152A9AF6-236E-E947-A90D-95476DF178A8}"/>
              </a:ext>
            </a:extLst>
          </p:cNvPr>
          <p:cNvSpPr>
            <a:spLocks/>
          </p:cNvSpPr>
          <p:nvPr/>
        </p:nvSpPr>
        <p:spPr bwMode="auto">
          <a:xfrm>
            <a:off x="7675918" y="3459066"/>
            <a:ext cx="2848871" cy="1480906"/>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6" name="Freeform 6">
            <a:extLst>
              <a:ext uri="{FF2B5EF4-FFF2-40B4-BE49-F238E27FC236}">
                <a16:creationId xmlns:a16="http://schemas.microsoft.com/office/drawing/2014/main" id="{57E9EEA9-F362-5541-9FCC-5483A233137E}"/>
              </a:ext>
            </a:extLst>
          </p:cNvPr>
          <p:cNvSpPr>
            <a:spLocks/>
          </p:cNvSpPr>
          <p:nvPr/>
        </p:nvSpPr>
        <p:spPr bwMode="auto">
          <a:xfrm>
            <a:off x="8314293" y="3762231"/>
            <a:ext cx="543096" cy="295229"/>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7" name="Freeform 91">
            <a:extLst>
              <a:ext uri="{FF2B5EF4-FFF2-40B4-BE49-F238E27FC236}">
                <a16:creationId xmlns:a16="http://schemas.microsoft.com/office/drawing/2014/main" id="{E427D45F-306D-1B44-BF5E-891FCB01E246}"/>
              </a:ext>
            </a:extLst>
          </p:cNvPr>
          <p:cNvSpPr>
            <a:spLocks/>
          </p:cNvSpPr>
          <p:nvPr/>
        </p:nvSpPr>
        <p:spPr bwMode="auto">
          <a:xfrm>
            <a:off x="9356021" y="3755882"/>
            <a:ext cx="504984" cy="307927"/>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8" name="Freeform 92">
            <a:extLst>
              <a:ext uri="{FF2B5EF4-FFF2-40B4-BE49-F238E27FC236}">
                <a16:creationId xmlns:a16="http://schemas.microsoft.com/office/drawing/2014/main" id="{F209776F-AA9D-E941-ADBB-CB44422BD081}"/>
              </a:ext>
            </a:extLst>
          </p:cNvPr>
          <p:cNvSpPr>
            <a:spLocks/>
          </p:cNvSpPr>
          <p:nvPr/>
        </p:nvSpPr>
        <p:spPr bwMode="auto">
          <a:xfrm>
            <a:off x="8290473" y="4147933"/>
            <a:ext cx="481164" cy="238088"/>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9" name="Freeform 93">
            <a:extLst>
              <a:ext uri="{FF2B5EF4-FFF2-40B4-BE49-F238E27FC236}">
                <a16:creationId xmlns:a16="http://schemas.microsoft.com/office/drawing/2014/main" id="{8B9D5253-F5A6-2746-81DB-996216E1FB97}"/>
              </a:ext>
            </a:extLst>
          </p:cNvPr>
          <p:cNvSpPr>
            <a:spLocks/>
          </p:cNvSpPr>
          <p:nvPr/>
        </p:nvSpPr>
        <p:spPr bwMode="auto">
          <a:xfrm>
            <a:off x="9238509" y="4124124"/>
            <a:ext cx="628848" cy="247611"/>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0" name="Freeform 94">
            <a:extLst>
              <a:ext uri="{FF2B5EF4-FFF2-40B4-BE49-F238E27FC236}">
                <a16:creationId xmlns:a16="http://schemas.microsoft.com/office/drawing/2014/main" id="{61F0A20F-097C-EA42-809A-3298AB6693B1}"/>
              </a:ext>
            </a:extLst>
          </p:cNvPr>
          <p:cNvSpPr>
            <a:spLocks/>
          </p:cNvSpPr>
          <p:nvPr/>
        </p:nvSpPr>
        <p:spPr bwMode="auto">
          <a:xfrm>
            <a:off x="9905469" y="4178091"/>
            <a:ext cx="206440" cy="50792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1" name="Freeform 95">
            <a:extLst>
              <a:ext uri="{FF2B5EF4-FFF2-40B4-BE49-F238E27FC236}">
                <a16:creationId xmlns:a16="http://schemas.microsoft.com/office/drawing/2014/main" id="{424EA790-DC83-AE41-B59F-CDBDBE0981CB}"/>
              </a:ext>
            </a:extLst>
          </p:cNvPr>
          <p:cNvSpPr>
            <a:spLocks/>
          </p:cNvSpPr>
          <p:nvPr/>
        </p:nvSpPr>
        <p:spPr bwMode="auto">
          <a:xfrm>
            <a:off x="8670005" y="4711407"/>
            <a:ext cx="736832" cy="7460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2" name="Freeform 96">
            <a:extLst>
              <a:ext uri="{FF2B5EF4-FFF2-40B4-BE49-F238E27FC236}">
                <a16:creationId xmlns:a16="http://schemas.microsoft.com/office/drawing/2014/main" id="{72EB3BD6-9F21-2342-8AED-3E9F67894AD9}"/>
              </a:ext>
            </a:extLst>
          </p:cNvPr>
          <p:cNvSpPr>
            <a:spLocks/>
          </p:cNvSpPr>
          <p:nvPr/>
        </p:nvSpPr>
        <p:spPr bwMode="auto">
          <a:xfrm>
            <a:off x="8133261" y="4171742"/>
            <a:ext cx="193736" cy="425383"/>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71" name="Group 70">
            <a:extLst>
              <a:ext uri="{FF2B5EF4-FFF2-40B4-BE49-F238E27FC236}">
                <a16:creationId xmlns:a16="http://schemas.microsoft.com/office/drawing/2014/main" id="{475DCF5F-4092-2C43-896B-19822B08E6B5}"/>
              </a:ext>
            </a:extLst>
          </p:cNvPr>
          <p:cNvGrpSpPr/>
          <p:nvPr/>
        </p:nvGrpSpPr>
        <p:grpSpPr>
          <a:xfrm>
            <a:off x="9719734" y="3946352"/>
            <a:ext cx="578032" cy="285706"/>
            <a:chOff x="7493876" y="2774731"/>
            <a:chExt cx="1481958" cy="894622"/>
          </a:xfrm>
        </p:grpSpPr>
        <p:sp>
          <p:nvSpPr>
            <p:cNvPr id="72" name="Freeform 71">
              <a:extLst>
                <a:ext uri="{FF2B5EF4-FFF2-40B4-BE49-F238E27FC236}">
                  <a16:creationId xmlns:a16="http://schemas.microsoft.com/office/drawing/2014/main" id="{318160F9-6FEC-9A43-8802-7C6CC98A3E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73" name="Oval 72">
              <a:extLst>
                <a:ext uri="{FF2B5EF4-FFF2-40B4-BE49-F238E27FC236}">
                  <a16:creationId xmlns:a16="http://schemas.microsoft.com/office/drawing/2014/main" id="{5375EF01-0290-9B47-8E36-E43DE1108F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74" name="Group 73">
              <a:extLst>
                <a:ext uri="{FF2B5EF4-FFF2-40B4-BE49-F238E27FC236}">
                  <a16:creationId xmlns:a16="http://schemas.microsoft.com/office/drawing/2014/main" id="{9B178D65-D230-EE4E-A397-C7BE84BE7B28}"/>
                </a:ext>
              </a:extLst>
            </p:cNvPr>
            <p:cNvGrpSpPr/>
            <p:nvPr/>
          </p:nvGrpSpPr>
          <p:grpSpPr>
            <a:xfrm>
              <a:off x="7713663" y="2848339"/>
              <a:ext cx="1042107" cy="425543"/>
              <a:chOff x="7786941" y="2884917"/>
              <a:chExt cx="897649" cy="353919"/>
            </a:xfrm>
          </p:grpSpPr>
          <p:sp>
            <p:nvSpPr>
              <p:cNvPr id="75" name="Freeform 74">
                <a:extLst>
                  <a:ext uri="{FF2B5EF4-FFF2-40B4-BE49-F238E27FC236}">
                    <a16:creationId xmlns:a16="http://schemas.microsoft.com/office/drawing/2014/main" id="{F6706B47-A3DA-2948-AE76-ECB82CD2119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6" name="Freeform 75">
                <a:extLst>
                  <a:ext uri="{FF2B5EF4-FFF2-40B4-BE49-F238E27FC236}">
                    <a16:creationId xmlns:a16="http://schemas.microsoft.com/office/drawing/2014/main" id="{6997E8A2-E352-944A-9B99-BDEBAA2024A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7" name="Freeform 76">
                <a:extLst>
                  <a:ext uri="{FF2B5EF4-FFF2-40B4-BE49-F238E27FC236}">
                    <a16:creationId xmlns:a16="http://schemas.microsoft.com/office/drawing/2014/main" id="{C5522D15-A640-D544-8C5A-740AB15174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8" name="Freeform 77">
                <a:extLst>
                  <a:ext uri="{FF2B5EF4-FFF2-40B4-BE49-F238E27FC236}">
                    <a16:creationId xmlns:a16="http://schemas.microsoft.com/office/drawing/2014/main" id="{0A657C9E-78AA-054A-8253-7E707F297A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79" name="Group 78">
            <a:extLst>
              <a:ext uri="{FF2B5EF4-FFF2-40B4-BE49-F238E27FC236}">
                <a16:creationId xmlns:a16="http://schemas.microsoft.com/office/drawing/2014/main" id="{0703BE46-EF6B-8F4F-8103-DB506FA237F8}"/>
              </a:ext>
            </a:extLst>
          </p:cNvPr>
          <p:cNvGrpSpPr/>
          <p:nvPr/>
        </p:nvGrpSpPr>
        <p:grpSpPr>
          <a:xfrm>
            <a:off x="9351606" y="4600112"/>
            <a:ext cx="578032" cy="285706"/>
            <a:chOff x="7493876" y="2774731"/>
            <a:chExt cx="1481958" cy="894622"/>
          </a:xfrm>
        </p:grpSpPr>
        <p:sp>
          <p:nvSpPr>
            <p:cNvPr id="80" name="Freeform 79">
              <a:extLst>
                <a:ext uri="{FF2B5EF4-FFF2-40B4-BE49-F238E27FC236}">
                  <a16:creationId xmlns:a16="http://schemas.microsoft.com/office/drawing/2014/main" id="{C93DB37A-DC30-7049-A906-DE4299FCFE9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81" name="Oval 80">
              <a:extLst>
                <a:ext uri="{FF2B5EF4-FFF2-40B4-BE49-F238E27FC236}">
                  <a16:creationId xmlns:a16="http://schemas.microsoft.com/office/drawing/2014/main" id="{4D540D06-51B9-D24C-A5F5-D49982A086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82" name="Group 81">
              <a:extLst>
                <a:ext uri="{FF2B5EF4-FFF2-40B4-BE49-F238E27FC236}">
                  <a16:creationId xmlns:a16="http://schemas.microsoft.com/office/drawing/2014/main" id="{50B97449-7EBF-F346-9FFA-F3CB1C97A6B6}"/>
                </a:ext>
              </a:extLst>
            </p:cNvPr>
            <p:cNvGrpSpPr/>
            <p:nvPr/>
          </p:nvGrpSpPr>
          <p:grpSpPr>
            <a:xfrm>
              <a:off x="7713663" y="2848339"/>
              <a:ext cx="1042107" cy="425543"/>
              <a:chOff x="7786941" y="2884917"/>
              <a:chExt cx="897649" cy="353919"/>
            </a:xfrm>
          </p:grpSpPr>
          <p:sp>
            <p:nvSpPr>
              <p:cNvPr id="83" name="Freeform 82">
                <a:extLst>
                  <a:ext uri="{FF2B5EF4-FFF2-40B4-BE49-F238E27FC236}">
                    <a16:creationId xmlns:a16="http://schemas.microsoft.com/office/drawing/2014/main" id="{1A098066-DD0C-0547-8ABC-8D18EA23F16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4" name="Freeform 83">
                <a:extLst>
                  <a:ext uri="{FF2B5EF4-FFF2-40B4-BE49-F238E27FC236}">
                    <a16:creationId xmlns:a16="http://schemas.microsoft.com/office/drawing/2014/main" id="{54B9AE5D-1C6E-8747-BA6A-CE53FF8E918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5" name="Freeform 84">
                <a:extLst>
                  <a:ext uri="{FF2B5EF4-FFF2-40B4-BE49-F238E27FC236}">
                    <a16:creationId xmlns:a16="http://schemas.microsoft.com/office/drawing/2014/main" id="{D4A0CA9E-BE5A-D743-94BD-A9A3807788B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6" name="Freeform 85">
                <a:extLst>
                  <a:ext uri="{FF2B5EF4-FFF2-40B4-BE49-F238E27FC236}">
                    <a16:creationId xmlns:a16="http://schemas.microsoft.com/office/drawing/2014/main" id="{208F4AD6-8E7A-EC46-8054-65F26912355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87" name="Group 86">
            <a:extLst>
              <a:ext uri="{FF2B5EF4-FFF2-40B4-BE49-F238E27FC236}">
                <a16:creationId xmlns:a16="http://schemas.microsoft.com/office/drawing/2014/main" id="{2174B89A-A569-2044-B74A-55933EDB42EC}"/>
              </a:ext>
            </a:extLst>
          </p:cNvPr>
          <p:cNvGrpSpPr/>
          <p:nvPr/>
        </p:nvGrpSpPr>
        <p:grpSpPr>
          <a:xfrm>
            <a:off x="8195132" y="4551443"/>
            <a:ext cx="578032" cy="285706"/>
            <a:chOff x="7493876" y="2774731"/>
            <a:chExt cx="1481958" cy="894622"/>
          </a:xfrm>
        </p:grpSpPr>
        <p:sp>
          <p:nvSpPr>
            <p:cNvPr id="88" name="Freeform 87">
              <a:extLst>
                <a:ext uri="{FF2B5EF4-FFF2-40B4-BE49-F238E27FC236}">
                  <a16:creationId xmlns:a16="http://schemas.microsoft.com/office/drawing/2014/main" id="{5E0F2D6A-4975-2240-9DBA-9752CDABCD3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89" name="Oval 88">
              <a:extLst>
                <a:ext uri="{FF2B5EF4-FFF2-40B4-BE49-F238E27FC236}">
                  <a16:creationId xmlns:a16="http://schemas.microsoft.com/office/drawing/2014/main" id="{7671BCEE-CA54-2A42-97FC-01FA73F51C9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90" name="Group 89">
              <a:extLst>
                <a:ext uri="{FF2B5EF4-FFF2-40B4-BE49-F238E27FC236}">
                  <a16:creationId xmlns:a16="http://schemas.microsoft.com/office/drawing/2014/main" id="{BB74E383-7E77-2E4D-BBB3-C0CB1C080B5D}"/>
                </a:ext>
              </a:extLst>
            </p:cNvPr>
            <p:cNvGrpSpPr/>
            <p:nvPr/>
          </p:nvGrpSpPr>
          <p:grpSpPr>
            <a:xfrm>
              <a:off x="7713663" y="2848339"/>
              <a:ext cx="1042107" cy="425543"/>
              <a:chOff x="7786941" y="2884917"/>
              <a:chExt cx="897649" cy="353919"/>
            </a:xfrm>
          </p:grpSpPr>
          <p:sp>
            <p:nvSpPr>
              <p:cNvPr id="91" name="Freeform 90">
                <a:extLst>
                  <a:ext uri="{FF2B5EF4-FFF2-40B4-BE49-F238E27FC236}">
                    <a16:creationId xmlns:a16="http://schemas.microsoft.com/office/drawing/2014/main" id="{23C2C74B-BD87-0F41-9E97-2D6D70231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Freeform 91">
                <a:extLst>
                  <a:ext uri="{FF2B5EF4-FFF2-40B4-BE49-F238E27FC236}">
                    <a16:creationId xmlns:a16="http://schemas.microsoft.com/office/drawing/2014/main" id="{F9A726BB-74B1-444A-9200-225EE583E8C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Freeform 92">
                <a:extLst>
                  <a:ext uri="{FF2B5EF4-FFF2-40B4-BE49-F238E27FC236}">
                    <a16:creationId xmlns:a16="http://schemas.microsoft.com/office/drawing/2014/main" id="{480EBF5E-6B8D-F547-BD3C-56A7E685D38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Freeform 93">
                <a:extLst>
                  <a:ext uri="{FF2B5EF4-FFF2-40B4-BE49-F238E27FC236}">
                    <a16:creationId xmlns:a16="http://schemas.microsoft.com/office/drawing/2014/main" id="{BD8743C8-69EE-7C4B-AAD2-C758A3F1F9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95" name="Group 94">
            <a:extLst>
              <a:ext uri="{FF2B5EF4-FFF2-40B4-BE49-F238E27FC236}">
                <a16:creationId xmlns:a16="http://schemas.microsoft.com/office/drawing/2014/main" id="{5E3371FA-1B37-E043-BBA9-FBAEC0EF06BB}"/>
              </a:ext>
            </a:extLst>
          </p:cNvPr>
          <p:cNvGrpSpPr/>
          <p:nvPr/>
        </p:nvGrpSpPr>
        <p:grpSpPr>
          <a:xfrm>
            <a:off x="8800632" y="3636044"/>
            <a:ext cx="578032" cy="285706"/>
            <a:chOff x="7493876" y="2774731"/>
            <a:chExt cx="1481958" cy="894622"/>
          </a:xfrm>
        </p:grpSpPr>
        <p:sp>
          <p:nvSpPr>
            <p:cNvPr id="96" name="Freeform 95">
              <a:extLst>
                <a:ext uri="{FF2B5EF4-FFF2-40B4-BE49-F238E27FC236}">
                  <a16:creationId xmlns:a16="http://schemas.microsoft.com/office/drawing/2014/main" id="{D3C4E5C9-0C6C-FE44-8E48-3AEAB312320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97" name="Oval 96">
              <a:extLst>
                <a:ext uri="{FF2B5EF4-FFF2-40B4-BE49-F238E27FC236}">
                  <a16:creationId xmlns:a16="http://schemas.microsoft.com/office/drawing/2014/main" id="{00F2B9E3-1FE0-3341-9F1D-E60AC91CF4F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98" name="Group 97">
              <a:extLst>
                <a:ext uri="{FF2B5EF4-FFF2-40B4-BE49-F238E27FC236}">
                  <a16:creationId xmlns:a16="http://schemas.microsoft.com/office/drawing/2014/main" id="{D9A4FE6E-757F-104A-A301-53D57A115B9D}"/>
                </a:ext>
              </a:extLst>
            </p:cNvPr>
            <p:cNvGrpSpPr/>
            <p:nvPr/>
          </p:nvGrpSpPr>
          <p:grpSpPr>
            <a:xfrm>
              <a:off x="7713663" y="2848339"/>
              <a:ext cx="1042107" cy="425543"/>
              <a:chOff x="7786941" y="2884917"/>
              <a:chExt cx="897649" cy="353919"/>
            </a:xfrm>
          </p:grpSpPr>
          <p:sp>
            <p:nvSpPr>
              <p:cNvPr id="99" name="Freeform 98">
                <a:extLst>
                  <a:ext uri="{FF2B5EF4-FFF2-40B4-BE49-F238E27FC236}">
                    <a16:creationId xmlns:a16="http://schemas.microsoft.com/office/drawing/2014/main" id="{D1C4D832-AA7B-2F44-88F3-867F1C5C739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Freeform 99">
                <a:extLst>
                  <a:ext uri="{FF2B5EF4-FFF2-40B4-BE49-F238E27FC236}">
                    <a16:creationId xmlns:a16="http://schemas.microsoft.com/office/drawing/2014/main" id="{17B4F7C5-8F07-6444-9C56-5CCC6DAD801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Freeform 100">
                <a:extLst>
                  <a:ext uri="{FF2B5EF4-FFF2-40B4-BE49-F238E27FC236}">
                    <a16:creationId xmlns:a16="http://schemas.microsoft.com/office/drawing/2014/main" id="{A4D1016A-A633-4F47-AD16-9F5C4A1B4BB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2" name="Freeform 101">
                <a:extLst>
                  <a:ext uri="{FF2B5EF4-FFF2-40B4-BE49-F238E27FC236}">
                    <a16:creationId xmlns:a16="http://schemas.microsoft.com/office/drawing/2014/main" id="{4E90D1C0-25CA-D549-8BEC-F6FC08E9AF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03" name="Group 102">
            <a:extLst>
              <a:ext uri="{FF2B5EF4-FFF2-40B4-BE49-F238E27FC236}">
                <a16:creationId xmlns:a16="http://schemas.microsoft.com/office/drawing/2014/main" id="{5E0A555A-7D83-9C41-BC45-9CE34B97A2A0}"/>
              </a:ext>
            </a:extLst>
          </p:cNvPr>
          <p:cNvGrpSpPr/>
          <p:nvPr/>
        </p:nvGrpSpPr>
        <p:grpSpPr>
          <a:xfrm>
            <a:off x="8711293" y="4233883"/>
            <a:ext cx="578032" cy="285706"/>
            <a:chOff x="7493876" y="2774731"/>
            <a:chExt cx="1481958" cy="894622"/>
          </a:xfrm>
        </p:grpSpPr>
        <p:sp>
          <p:nvSpPr>
            <p:cNvPr id="104" name="Freeform 103">
              <a:extLst>
                <a:ext uri="{FF2B5EF4-FFF2-40B4-BE49-F238E27FC236}">
                  <a16:creationId xmlns:a16="http://schemas.microsoft.com/office/drawing/2014/main" id="{0CEF8A07-20B9-AE45-8F1F-7A43CAB1D71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5" name="Oval 104">
              <a:extLst>
                <a:ext uri="{FF2B5EF4-FFF2-40B4-BE49-F238E27FC236}">
                  <a16:creationId xmlns:a16="http://schemas.microsoft.com/office/drawing/2014/main" id="{EA79D59C-1529-9C45-BD77-6FFDD5DEAA4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6" name="Group 105">
              <a:extLst>
                <a:ext uri="{FF2B5EF4-FFF2-40B4-BE49-F238E27FC236}">
                  <a16:creationId xmlns:a16="http://schemas.microsoft.com/office/drawing/2014/main" id="{E973AF34-BA3E-0A49-9E54-BD6B223BA524}"/>
                </a:ext>
              </a:extLst>
            </p:cNvPr>
            <p:cNvGrpSpPr/>
            <p:nvPr/>
          </p:nvGrpSpPr>
          <p:grpSpPr>
            <a:xfrm>
              <a:off x="7713663" y="2848339"/>
              <a:ext cx="1042107" cy="425543"/>
              <a:chOff x="7786941" y="2884917"/>
              <a:chExt cx="897649" cy="353919"/>
            </a:xfrm>
          </p:grpSpPr>
          <p:sp>
            <p:nvSpPr>
              <p:cNvPr id="107" name="Freeform 106">
                <a:extLst>
                  <a:ext uri="{FF2B5EF4-FFF2-40B4-BE49-F238E27FC236}">
                    <a16:creationId xmlns:a16="http://schemas.microsoft.com/office/drawing/2014/main" id="{C47C43C3-8FCB-5847-9007-9FF04DAF74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8" name="Freeform 107">
                <a:extLst>
                  <a:ext uri="{FF2B5EF4-FFF2-40B4-BE49-F238E27FC236}">
                    <a16:creationId xmlns:a16="http://schemas.microsoft.com/office/drawing/2014/main" id="{09F2051C-9B20-EE45-9CE2-4D3C79652D1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9" name="Freeform 108">
                <a:extLst>
                  <a:ext uri="{FF2B5EF4-FFF2-40B4-BE49-F238E27FC236}">
                    <a16:creationId xmlns:a16="http://schemas.microsoft.com/office/drawing/2014/main" id="{79216339-F1AE-4C4A-9C17-5BCC324EB3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Freeform 109">
                <a:extLst>
                  <a:ext uri="{FF2B5EF4-FFF2-40B4-BE49-F238E27FC236}">
                    <a16:creationId xmlns:a16="http://schemas.microsoft.com/office/drawing/2014/main" id="{161D2AE2-963A-F744-92D8-01315F74683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11" name="Group 110">
            <a:extLst>
              <a:ext uri="{FF2B5EF4-FFF2-40B4-BE49-F238E27FC236}">
                <a16:creationId xmlns:a16="http://schemas.microsoft.com/office/drawing/2014/main" id="{EFB94137-26B4-A84C-B882-BC754696ADF8}"/>
              </a:ext>
            </a:extLst>
          </p:cNvPr>
          <p:cNvGrpSpPr/>
          <p:nvPr/>
        </p:nvGrpSpPr>
        <p:grpSpPr>
          <a:xfrm>
            <a:off x="7764614" y="3944180"/>
            <a:ext cx="578032" cy="285706"/>
            <a:chOff x="7493876" y="2774731"/>
            <a:chExt cx="1481958" cy="894622"/>
          </a:xfrm>
        </p:grpSpPr>
        <p:sp>
          <p:nvSpPr>
            <p:cNvPr id="112" name="Freeform 111">
              <a:extLst>
                <a:ext uri="{FF2B5EF4-FFF2-40B4-BE49-F238E27FC236}">
                  <a16:creationId xmlns:a16="http://schemas.microsoft.com/office/drawing/2014/main" id="{56959650-8F47-BD44-967D-3B54247086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13" name="Oval 112">
              <a:extLst>
                <a:ext uri="{FF2B5EF4-FFF2-40B4-BE49-F238E27FC236}">
                  <a16:creationId xmlns:a16="http://schemas.microsoft.com/office/drawing/2014/main" id="{D4F846E9-5E5D-9246-A16E-A37E1F2DB7E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14" name="Group 113">
              <a:extLst>
                <a:ext uri="{FF2B5EF4-FFF2-40B4-BE49-F238E27FC236}">
                  <a16:creationId xmlns:a16="http://schemas.microsoft.com/office/drawing/2014/main" id="{6C080F1D-CE13-8A4D-AE86-A9987401AEFE}"/>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C92B06F2-78EF-804D-8E0C-DCE71C44A56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6" name="Freeform 115">
                <a:extLst>
                  <a:ext uri="{FF2B5EF4-FFF2-40B4-BE49-F238E27FC236}">
                    <a16:creationId xmlns:a16="http://schemas.microsoft.com/office/drawing/2014/main" id="{C074DBD1-927C-2B4D-B10B-DD852445FB2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7" name="Freeform 116">
                <a:extLst>
                  <a:ext uri="{FF2B5EF4-FFF2-40B4-BE49-F238E27FC236}">
                    <a16:creationId xmlns:a16="http://schemas.microsoft.com/office/drawing/2014/main" id="{BC9D84BC-889B-C849-9229-D2795054B39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8" name="Freeform 117">
                <a:extLst>
                  <a:ext uri="{FF2B5EF4-FFF2-40B4-BE49-F238E27FC236}">
                    <a16:creationId xmlns:a16="http://schemas.microsoft.com/office/drawing/2014/main" id="{9073BE05-706B-1446-BB36-AB53194859C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3" name="Group 2">
            <a:extLst>
              <a:ext uri="{FF2B5EF4-FFF2-40B4-BE49-F238E27FC236}">
                <a16:creationId xmlns:a16="http://schemas.microsoft.com/office/drawing/2014/main" id="{C584E5A3-CC37-804B-8E37-84F25E87BC63}"/>
              </a:ext>
            </a:extLst>
          </p:cNvPr>
          <p:cNvGrpSpPr/>
          <p:nvPr/>
        </p:nvGrpSpPr>
        <p:grpSpPr>
          <a:xfrm>
            <a:off x="8867832" y="4245561"/>
            <a:ext cx="456701" cy="226548"/>
            <a:chOff x="6859123" y="5156933"/>
            <a:chExt cx="456701" cy="226548"/>
          </a:xfrm>
        </p:grpSpPr>
        <p:sp>
          <p:nvSpPr>
            <p:cNvPr id="9" name="Rectangle 8">
              <a:extLst>
                <a:ext uri="{FF2B5EF4-FFF2-40B4-BE49-F238E27FC236}">
                  <a16:creationId xmlns:a16="http://schemas.microsoft.com/office/drawing/2014/main" id="{C093256C-E351-F04F-8F57-8CBAADAD32D9}"/>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1" name="Straight Connector 10">
              <a:extLst>
                <a:ext uri="{FF2B5EF4-FFF2-40B4-BE49-F238E27FC236}">
                  <a16:creationId xmlns:a16="http://schemas.microsoft.com/office/drawing/2014/main" id="{0C154E25-F682-744F-8785-AB5EDB9A5A5F}"/>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E29C5F0A-310C-1443-A4BF-D9B6A1F9EDB9}"/>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B65FCB07-1990-1F40-B6A0-2DC9A68091B3}"/>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E0B89AD6-5E3A-1642-BCCA-337C835BC035}"/>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35A1AE44-6AB7-1949-9184-889F736756EC}"/>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C564862D-347A-7E41-8F9D-0ADF80768A2B}"/>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AC855F5F-C9C2-4744-9B1E-696B4F0DB89C}"/>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2D3DD9EA-3345-8345-9221-C06D0834BC89}"/>
              </a:ext>
            </a:extLst>
          </p:cNvPr>
          <p:cNvGrpSpPr/>
          <p:nvPr/>
        </p:nvGrpSpPr>
        <p:grpSpPr>
          <a:xfrm>
            <a:off x="7428575" y="2677315"/>
            <a:ext cx="3355719" cy="1705017"/>
            <a:chOff x="7428575" y="2677315"/>
            <a:chExt cx="3355719" cy="1705017"/>
          </a:xfrm>
        </p:grpSpPr>
        <p:sp>
          <p:nvSpPr>
            <p:cNvPr id="13" name="Freeform 12">
              <a:extLst>
                <a:ext uri="{FF2B5EF4-FFF2-40B4-BE49-F238E27FC236}">
                  <a16:creationId xmlns:a16="http://schemas.microsoft.com/office/drawing/2014/main" id="{F7906425-B196-CC44-BB40-5ACEF23B0A29}"/>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4689" name="Freeform 114688">
              <a:extLst>
                <a:ext uri="{FF2B5EF4-FFF2-40B4-BE49-F238E27FC236}">
                  <a16:creationId xmlns:a16="http://schemas.microsoft.com/office/drawing/2014/main" id="{F4B58868-99E6-0645-9773-CB66EC208FBD}"/>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431762DD-608F-AC4F-8D36-9BC825C14FB4}"/>
                </a:ext>
              </a:extLst>
            </p:cNvPr>
            <p:cNvSpPr txBox="1"/>
            <p:nvPr/>
          </p:nvSpPr>
          <p:spPr>
            <a:xfrm>
              <a:off x="10184578" y="355661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sp>
          <p:nvSpPr>
            <p:cNvPr id="129" name="TextBox 128">
              <a:extLst>
                <a:ext uri="{FF2B5EF4-FFF2-40B4-BE49-F238E27FC236}">
                  <a16:creationId xmlns:a16="http://schemas.microsoft.com/office/drawing/2014/main" id="{38081CC2-E66E-0845-8CCA-2D10C6BE30EA}"/>
                </a:ext>
              </a:extLst>
            </p:cNvPr>
            <p:cNvSpPr txBox="1"/>
            <p:nvPr/>
          </p:nvSpPr>
          <p:spPr>
            <a:xfrm>
              <a:off x="7428575" y="351769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grpSp>
      <p:grpSp>
        <p:nvGrpSpPr>
          <p:cNvPr id="10" name="Group 9">
            <a:extLst>
              <a:ext uri="{FF2B5EF4-FFF2-40B4-BE49-F238E27FC236}">
                <a16:creationId xmlns:a16="http://schemas.microsoft.com/office/drawing/2014/main" id="{57CD35EA-0731-A641-906C-8974E60D529B}"/>
              </a:ext>
            </a:extLst>
          </p:cNvPr>
          <p:cNvGrpSpPr/>
          <p:nvPr/>
        </p:nvGrpSpPr>
        <p:grpSpPr>
          <a:xfrm>
            <a:off x="6799618" y="2691243"/>
            <a:ext cx="4657206" cy="1827509"/>
            <a:chOff x="6799618" y="2691243"/>
            <a:chExt cx="4657206" cy="1827509"/>
          </a:xfrm>
        </p:grpSpPr>
        <p:sp>
          <p:nvSpPr>
            <p:cNvPr id="124" name="Freeform 123">
              <a:extLst>
                <a:ext uri="{FF2B5EF4-FFF2-40B4-BE49-F238E27FC236}">
                  <a16:creationId xmlns:a16="http://schemas.microsoft.com/office/drawing/2014/main" id="{809FCE5A-94F2-AB43-A427-15DC48978945}"/>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0" name="TextBox 129">
              <a:extLst>
                <a:ext uri="{FF2B5EF4-FFF2-40B4-BE49-F238E27FC236}">
                  <a16:creationId xmlns:a16="http://schemas.microsoft.com/office/drawing/2014/main" id="{AC21E889-4F82-8649-829E-554EB51D7E5D}"/>
                </a:ext>
              </a:extLst>
            </p:cNvPr>
            <p:cNvSpPr txBox="1"/>
            <p:nvPr/>
          </p:nvSpPr>
          <p:spPr>
            <a:xfrm>
              <a:off x="6799618" y="3650736"/>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sp>
          <p:nvSpPr>
            <p:cNvPr id="131" name="TextBox 130">
              <a:extLst>
                <a:ext uri="{FF2B5EF4-FFF2-40B4-BE49-F238E27FC236}">
                  <a16:creationId xmlns:a16="http://schemas.microsoft.com/office/drawing/2014/main" id="{4D544F8A-E5C9-4C42-B077-C996AF3E7BF7}"/>
                </a:ext>
              </a:extLst>
            </p:cNvPr>
            <p:cNvSpPr txBox="1"/>
            <p:nvPr/>
          </p:nvSpPr>
          <p:spPr>
            <a:xfrm>
              <a:off x="10809403" y="3772400"/>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grpSp>
      <p:sp>
        <p:nvSpPr>
          <p:cNvPr id="176" name="Freeform 254">
            <a:extLst>
              <a:ext uri="{FF2B5EF4-FFF2-40B4-BE49-F238E27FC236}">
                <a16:creationId xmlns:a16="http://schemas.microsoft.com/office/drawing/2014/main" id="{098028B6-BF7C-6A40-A6E7-BD363548A403}"/>
              </a:ext>
            </a:extLst>
          </p:cNvPr>
          <p:cNvSpPr>
            <a:spLocks/>
          </p:cNvSpPr>
          <p:nvPr/>
        </p:nvSpPr>
        <p:spPr bwMode="auto">
          <a:xfrm>
            <a:off x="11178866" y="2363683"/>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4" name="Group 289">
            <a:extLst>
              <a:ext uri="{FF2B5EF4-FFF2-40B4-BE49-F238E27FC236}">
                <a16:creationId xmlns:a16="http://schemas.microsoft.com/office/drawing/2014/main" id="{36A89038-0233-574C-A16F-E12F82E32856}"/>
              </a:ext>
            </a:extLst>
          </p:cNvPr>
          <p:cNvGrpSpPr>
            <a:grpSpLocks/>
          </p:cNvGrpSpPr>
          <p:nvPr/>
        </p:nvGrpSpPr>
        <p:grpSpPr bwMode="auto">
          <a:xfrm>
            <a:off x="11355079" y="3260620"/>
            <a:ext cx="231775" cy="441325"/>
            <a:chOff x="4140" y="429"/>
            <a:chExt cx="1425" cy="2396"/>
          </a:xfrm>
        </p:grpSpPr>
        <p:sp>
          <p:nvSpPr>
            <p:cNvPr id="188" name="Freeform 290">
              <a:extLst>
                <a:ext uri="{FF2B5EF4-FFF2-40B4-BE49-F238E27FC236}">
                  <a16:creationId xmlns:a16="http://schemas.microsoft.com/office/drawing/2014/main" id="{9264264F-C8FF-E941-B8DB-F2A13E30F56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Rectangle 291">
              <a:extLst>
                <a:ext uri="{FF2B5EF4-FFF2-40B4-BE49-F238E27FC236}">
                  <a16:creationId xmlns:a16="http://schemas.microsoft.com/office/drawing/2014/main" id="{5580AF65-ED2C-7F4A-90B9-25AFA8C927C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Freeform 292">
              <a:extLst>
                <a:ext uri="{FF2B5EF4-FFF2-40B4-BE49-F238E27FC236}">
                  <a16:creationId xmlns:a16="http://schemas.microsoft.com/office/drawing/2014/main" id="{BC0C9A2A-A362-5D48-A13D-A730292A1B6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Freeform 293">
              <a:extLst>
                <a:ext uri="{FF2B5EF4-FFF2-40B4-BE49-F238E27FC236}">
                  <a16:creationId xmlns:a16="http://schemas.microsoft.com/office/drawing/2014/main" id="{741E5815-F201-3946-BA11-1961624585E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5" name="Rectangle 294">
              <a:extLst>
                <a:ext uri="{FF2B5EF4-FFF2-40B4-BE49-F238E27FC236}">
                  <a16:creationId xmlns:a16="http://schemas.microsoft.com/office/drawing/2014/main" id="{16834F46-BEA1-E54A-99D2-06A1D9E4EFA1}"/>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2" name="Group 295">
              <a:extLst>
                <a:ext uri="{FF2B5EF4-FFF2-40B4-BE49-F238E27FC236}">
                  <a16:creationId xmlns:a16="http://schemas.microsoft.com/office/drawing/2014/main" id="{EFE1DB65-55C6-A040-8489-E8E7A5072621}"/>
                </a:ext>
              </a:extLst>
            </p:cNvPr>
            <p:cNvGrpSpPr>
              <a:grpSpLocks/>
            </p:cNvGrpSpPr>
            <p:nvPr/>
          </p:nvGrpSpPr>
          <p:grpSpPr bwMode="auto">
            <a:xfrm>
              <a:off x="4749" y="668"/>
              <a:ext cx="581" cy="145"/>
              <a:chOff x="614" y="2568"/>
              <a:chExt cx="725" cy="139"/>
            </a:xfrm>
          </p:grpSpPr>
          <p:sp>
            <p:nvSpPr>
              <p:cNvPr id="233" name="AutoShape 296">
                <a:extLst>
                  <a:ext uri="{FF2B5EF4-FFF2-40B4-BE49-F238E27FC236}">
                    <a16:creationId xmlns:a16="http://schemas.microsoft.com/office/drawing/2014/main" id="{60C873E6-EA5F-E546-9871-6CD69A03054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4" name="AutoShape 297">
                <a:extLst>
                  <a:ext uri="{FF2B5EF4-FFF2-40B4-BE49-F238E27FC236}">
                    <a16:creationId xmlns:a16="http://schemas.microsoft.com/office/drawing/2014/main" id="{AE94AAEC-480B-8047-91E5-519724D0625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3" name="Rectangle 298">
              <a:extLst>
                <a:ext uri="{FF2B5EF4-FFF2-40B4-BE49-F238E27FC236}">
                  <a16:creationId xmlns:a16="http://schemas.microsoft.com/office/drawing/2014/main" id="{66AA352A-88C1-474E-8553-BFDBC71D6A7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4" name="Group 299">
              <a:extLst>
                <a:ext uri="{FF2B5EF4-FFF2-40B4-BE49-F238E27FC236}">
                  <a16:creationId xmlns:a16="http://schemas.microsoft.com/office/drawing/2014/main" id="{063BD826-F329-CE4F-8A05-BAE407197A8D}"/>
                </a:ext>
              </a:extLst>
            </p:cNvPr>
            <p:cNvGrpSpPr>
              <a:grpSpLocks/>
            </p:cNvGrpSpPr>
            <p:nvPr/>
          </p:nvGrpSpPr>
          <p:grpSpPr bwMode="auto">
            <a:xfrm>
              <a:off x="4747" y="994"/>
              <a:ext cx="581" cy="134"/>
              <a:chOff x="614" y="2568"/>
              <a:chExt cx="725" cy="139"/>
            </a:xfrm>
          </p:grpSpPr>
          <p:sp>
            <p:nvSpPr>
              <p:cNvPr id="231" name="AutoShape 300">
                <a:extLst>
                  <a:ext uri="{FF2B5EF4-FFF2-40B4-BE49-F238E27FC236}">
                    <a16:creationId xmlns:a16="http://schemas.microsoft.com/office/drawing/2014/main" id="{502F9F8E-D733-304B-8917-5387C94462A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AutoShape 301">
                <a:extLst>
                  <a:ext uri="{FF2B5EF4-FFF2-40B4-BE49-F238E27FC236}">
                    <a16:creationId xmlns:a16="http://schemas.microsoft.com/office/drawing/2014/main" id="{8FA48F3E-A09B-9947-AC4E-53AB08CAC06B}"/>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5" name="Rectangle 302">
              <a:extLst>
                <a:ext uri="{FF2B5EF4-FFF2-40B4-BE49-F238E27FC236}">
                  <a16:creationId xmlns:a16="http://schemas.microsoft.com/office/drawing/2014/main" id="{7E665F5D-879D-9E40-84B5-66D85E68A508}"/>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Rectangle 303">
              <a:extLst>
                <a:ext uri="{FF2B5EF4-FFF2-40B4-BE49-F238E27FC236}">
                  <a16:creationId xmlns:a16="http://schemas.microsoft.com/office/drawing/2014/main" id="{7647528B-9EF0-E54D-974E-7DFC94037620}"/>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7" name="Group 304">
              <a:extLst>
                <a:ext uri="{FF2B5EF4-FFF2-40B4-BE49-F238E27FC236}">
                  <a16:creationId xmlns:a16="http://schemas.microsoft.com/office/drawing/2014/main" id="{467A70C4-7121-374D-AFDB-661BA82AC2A8}"/>
                </a:ext>
              </a:extLst>
            </p:cNvPr>
            <p:cNvGrpSpPr>
              <a:grpSpLocks/>
            </p:cNvGrpSpPr>
            <p:nvPr/>
          </p:nvGrpSpPr>
          <p:grpSpPr bwMode="auto">
            <a:xfrm>
              <a:off x="4735" y="1627"/>
              <a:ext cx="582" cy="151"/>
              <a:chOff x="614" y="2568"/>
              <a:chExt cx="725" cy="139"/>
            </a:xfrm>
          </p:grpSpPr>
          <p:sp>
            <p:nvSpPr>
              <p:cNvPr id="229" name="AutoShape 305">
                <a:extLst>
                  <a:ext uri="{FF2B5EF4-FFF2-40B4-BE49-F238E27FC236}">
                    <a16:creationId xmlns:a16="http://schemas.microsoft.com/office/drawing/2014/main" id="{C5AF588B-0651-0545-9142-FD07BC87638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AutoShape 306">
                <a:extLst>
                  <a:ext uri="{FF2B5EF4-FFF2-40B4-BE49-F238E27FC236}">
                    <a16:creationId xmlns:a16="http://schemas.microsoft.com/office/drawing/2014/main" id="{9BEB1652-4112-004D-B7AC-1F3734A3C04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8" name="Freeform 307">
              <a:extLst>
                <a:ext uri="{FF2B5EF4-FFF2-40B4-BE49-F238E27FC236}">
                  <a16:creationId xmlns:a16="http://schemas.microsoft.com/office/drawing/2014/main" id="{D7A79ECE-B70D-2548-A773-6DCE4F281A8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09" name="Group 308">
              <a:extLst>
                <a:ext uri="{FF2B5EF4-FFF2-40B4-BE49-F238E27FC236}">
                  <a16:creationId xmlns:a16="http://schemas.microsoft.com/office/drawing/2014/main" id="{1ECF4553-693A-DD4D-A0E2-8AA0E2504F64}"/>
                </a:ext>
              </a:extLst>
            </p:cNvPr>
            <p:cNvGrpSpPr>
              <a:grpSpLocks/>
            </p:cNvGrpSpPr>
            <p:nvPr/>
          </p:nvGrpSpPr>
          <p:grpSpPr bwMode="auto">
            <a:xfrm>
              <a:off x="4739" y="1327"/>
              <a:ext cx="582" cy="139"/>
              <a:chOff x="614" y="2568"/>
              <a:chExt cx="725" cy="139"/>
            </a:xfrm>
          </p:grpSpPr>
          <p:sp>
            <p:nvSpPr>
              <p:cNvPr id="227" name="AutoShape 309">
                <a:extLst>
                  <a:ext uri="{FF2B5EF4-FFF2-40B4-BE49-F238E27FC236}">
                    <a16:creationId xmlns:a16="http://schemas.microsoft.com/office/drawing/2014/main" id="{9C16F586-202A-6C49-BECE-8D7B0011EBAC}"/>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8" name="AutoShape 310">
                <a:extLst>
                  <a:ext uri="{FF2B5EF4-FFF2-40B4-BE49-F238E27FC236}">
                    <a16:creationId xmlns:a16="http://schemas.microsoft.com/office/drawing/2014/main" id="{C758F7C7-9330-BE46-A86A-D42B5637C8E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0" name="Rectangle 311">
              <a:extLst>
                <a:ext uri="{FF2B5EF4-FFF2-40B4-BE49-F238E27FC236}">
                  <a16:creationId xmlns:a16="http://schemas.microsoft.com/office/drawing/2014/main" id="{533FE805-6D97-3D40-A722-65F7EC32A1D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1" name="Freeform 312">
              <a:extLst>
                <a:ext uri="{FF2B5EF4-FFF2-40B4-BE49-F238E27FC236}">
                  <a16:creationId xmlns:a16="http://schemas.microsoft.com/office/drawing/2014/main" id="{620834FD-6B76-EA4B-A18C-65A47D402B0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2" name="Freeform 313">
              <a:extLst>
                <a:ext uri="{FF2B5EF4-FFF2-40B4-BE49-F238E27FC236}">
                  <a16:creationId xmlns:a16="http://schemas.microsoft.com/office/drawing/2014/main" id="{C5A12F9D-49AB-5145-AA15-D382AA5D35C0}"/>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3" name="Oval 314">
              <a:extLst>
                <a:ext uri="{FF2B5EF4-FFF2-40B4-BE49-F238E27FC236}">
                  <a16:creationId xmlns:a16="http://schemas.microsoft.com/office/drawing/2014/main" id="{80DD1625-6CB9-AC4C-88B8-9DC831FCEE6E}"/>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0" name="Freeform 315">
              <a:extLst>
                <a:ext uri="{FF2B5EF4-FFF2-40B4-BE49-F238E27FC236}">
                  <a16:creationId xmlns:a16="http://schemas.microsoft.com/office/drawing/2014/main" id="{A65F0511-3C28-C743-A21D-6264A21184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1" name="AutoShape 316">
              <a:extLst>
                <a:ext uri="{FF2B5EF4-FFF2-40B4-BE49-F238E27FC236}">
                  <a16:creationId xmlns:a16="http://schemas.microsoft.com/office/drawing/2014/main" id="{FADC981B-C983-6D40-AEA7-04B355ECAD3A}"/>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AutoShape 317">
              <a:extLst>
                <a:ext uri="{FF2B5EF4-FFF2-40B4-BE49-F238E27FC236}">
                  <a16:creationId xmlns:a16="http://schemas.microsoft.com/office/drawing/2014/main" id="{708D79ED-DBE2-644C-B85E-DB3961F564FD}"/>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3" name="Oval 318">
              <a:extLst>
                <a:ext uri="{FF2B5EF4-FFF2-40B4-BE49-F238E27FC236}">
                  <a16:creationId xmlns:a16="http://schemas.microsoft.com/office/drawing/2014/main" id="{87AF5859-5E53-EE4C-954A-8D2D2B20071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4" name="Oval 319">
              <a:extLst>
                <a:ext uri="{FF2B5EF4-FFF2-40B4-BE49-F238E27FC236}">
                  <a16:creationId xmlns:a16="http://schemas.microsoft.com/office/drawing/2014/main" id="{43616DFE-DE4C-D94C-B77F-413A270CAAE8}"/>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25" name="Oval 320">
              <a:extLst>
                <a:ext uri="{FF2B5EF4-FFF2-40B4-BE49-F238E27FC236}">
                  <a16:creationId xmlns:a16="http://schemas.microsoft.com/office/drawing/2014/main" id="{63CB7C6A-7959-294B-919F-406DF43820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Rectangle 321">
              <a:extLst>
                <a:ext uri="{FF2B5EF4-FFF2-40B4-BE49-F238E27FC236}">
                  <a16:creationId xmlns:a16="http://schemas.microsoft.com/office/drawing/2014/main" id="{3ED5D38A-C2F0-8444-B700-8ED29C8B7FB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8" name="Rectangle 3">
            <a:extLst>
              <a:ext uri="{FF2B5EF4-FFF2-40B4-BE49-F238E27FC236}">
                <a16:creationId xmlns:a16="http://schemas.microsoft.com/office/drawing/2014/main" id="{4AEA1865-8C28-134C-8B6C-07E3981D0325}"/>
              </a:ext>
            </a:extLst>
          </p:cNvPr>
          <p:cNvSpPr txBox="1">
            <a:spLocks noChangeArrowheads="1"/>
          </p:cNvSpPr>
          <p:nvPr/>
        </p:nvSpPr>
        <p:spPr>
          <a:xfrm>
            <a:off x="921800" y="4257398"/>
            <a:ext cx="5562600" cy="63223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6725" marR="0" lvl="0" indent="-3365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approach taken by TCP</a:t>
            </a:r>
            <a:endParaRPr kumimoji="0" lang="en-US"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3" name="Slide Number Placeholder 2">
            <a:extLst>
              <a:ext uri="{FF2B5EF4-FFF2-40B4-BE49-F238E27FC236}">
                <a16:creationId xmlns:a16="http://schemas.microsoft.com/office/drawing/2014/main" id="{80FEFCD4-E64A-AA4F-ACAB-74CB4ECDD26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47</a:t>
            </a:fld>
            <a:endParaRPr lang="en-US" dirty="0"/>
          </a:p>
        </p:txBody>
      </p:sp>
    </p:spTree>
    <p:extLst>
      <p:ext uri="{BB962C8B-B14F-4D97-AF65-F5344CB8AC3E}">
        <p14:creationId xmlns:p14="http://schemas.microsoft.com/office/powerpoint/2010/main" val="274916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dissolve">
                                      <p:cBhvr>
                                        <p:cTn id="16"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718945" y="5640403"/>
            <a:ext cx="5781368" cy="736333"/>
          </a:xfrm>
        </p:spPr>
        <p:txBody>
          <a:bodyPr>
            <a:normAutofit/>
          </a:bodyPr>
          <a:lstStyle/>
          <a:p>
            <a:pPr marL="407988" indent="-277813">
              <a:defRPr/>
            </a:pPr>
            <a:r>
              <a:rPr lang="en-US" sz="3000" dirty="0"/>
              <a:t>TCP ECN, ATM, DECbit protocols</a:t>
            </a:r>
            <a:endParaRPr lang="en-US" sz="3500" dirty="0">
              <a:cs typeface="+mn-cs"/>
            </a:endParaRP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p:txBody>
          <a:bodyPr>
            <a:normAutofit/>
          </a:bodyPr>
          <a:lstStyle/>
          <a:p>
            <a:pPr>
              <a:defRPr/>
            </a:pPr>
            <a:r>
              <a:rPr lang="en-US" sz="4800" dirty="0"/>
              <a:t>Approaches towards congestion control</a:t>
            </a:r>
            <a:endParaRPr lang="en-US" sz="5400" dirty="0">
              <a:cs typeface="+mj-cs"/>
            </a:endParaRPr>
          </a:p>
        </p:txBody>
      </p:sp>
      <p:sp>
        <p:nvSpPr>
          <p:cNvPr id="128" name="Freeform 2">
            <a:extLst>
              <a:ext uri="{FF2B5EF4-FFF2-40B4-BE49-F238E27FC236}">
                <a16:creationId xmlns:a16="http://schemas.microsoft.com/office/drawing/2014/main" id="{366E9ABE-54D6-794A-BFDC-C271FA98FBA8}"/>
              </a:ext>
            </a:extLst>
          </p:cNvPr>
          <p:cNvSpPr>
            <a:spLocks/>
          </p:cNvSpPr>
          <p:nvPr/>
        </p:nvSpPr>
        <p:spPr bwMode="auto">
          <a:xfrm>
            <a:off x="7675918" y="3459066"/>
            <a:ext cx="2848871" cy="1480906"/>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32" name="Freeform 6">
            <a:extLst>
              <a:ext uri="{FF2B5EF4-FFF2-40B4-BE49-F238E27FC236}">
                <a16:creationId xmlns:a16="http://schemas.microsoft.com/office/drawing/2014/main" id="{FFF13A6F-0F53-424B-A39A-76E877F099A6}"/>
              </a:ext>
            </a:extLst>
          </p:cNvPr>
          <p:cNvSpPr>
            <a:spLocks/>
          </p:cNvSpPr>
          <p:nvPr/>
        </p:nvSpPr>
        <p:spPr bwMode="auto">
          <a:xfrm>
            <a:off x="8314293" y="3762231"/>
            <a:ext cx="543096" cy="295229"/>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34" name="Freeform 91">
            <a:extLst>
              <a:ext uri="{FF2B5EF4-FFF2-40B4-BE49-F238E27FC236}">
                <a16:creationId xmlns:a16="http://schemas.microsoft.com/office/drawing/2014/main" id="{0468E56B-A027-0D44-AEB8-704F79D68813}"/>
              </a:ext>
            </a:extLst>
          </p:cNvPr>
          <p:cNvSpPr>
            <a:spLocks/>
          </p:cNvSpPr>
          <p:nvPr/>
        </p:nvSpPr>
        <p:spPr bwMode="auto">
          <a:xfrm>
            <a:off x="9356021" y="3755882"/>
            <a:ext cx="504984" cy="307927"/>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35" name="Freeform 92">
            <a:extLst>
              <a:ext uri="{FF2B5EF4-FFF2-40B4-BE49-F238E27FC236}">
                <a16:creationId xmlns:a16="http://schemas.microsoft.com/office/drawing/2014/main" id="{054FFAAB-E9BC-3E4C-8FB9-3EA2FFF0707B}"/>
              </a:ext>
            </a:extLst>
          </p:cNvPr>
          <p:cNvSpPr>
            <a:spLocks/>
          </p:cNvSpPr>
          <p:nvPr/>
        </p:nvSpPr>
        <p:spPr bwMode="auto">
          <a:xfrm>
            <a:off x="8290473" y="4147933"/>
            <a:ext cx="481164" cy="238088"/>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36" name="Freeform 93">
            <a:extLst>
              <a:ext uri="{FF2B5EF4-FFF2-40B4-BE49-F238E27FC236}">
                <a16:creationId xmlns:a16="http://schemas.microsoft.com/office/drawing/2014/main" id="{1504AC5D-D6C1-D049-A591-6F0963B988CC}"/>
              </a:ext>
            </a:extLst>
          </p:cNvPr>
          <p:cNvSpPr>
            <a:spLocks/>
          </p:cNvSpPr>
          <p:nvPr/>
        </p:nvSpPr>
        <p:spPr bwMode="auto">
          <a:xfrm>
            <a:off x="9238509" y="4124124"/>
            <a:ext cx="628848" cy="247611"/>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37" name="Freeform 94">
            <a:extLst>
              <a:ext uri="{FF2B5EF4-FFF2-40B4-BE49-F238E27FC236}">
                <a16:creationId xmlns:a16="http://schemas.microsoft.com/office/drawing/2014/main" id="{49EE5ACA-6705-2D4D-9A89-77A1C64919B5}"/>
              </a:ext>
            </a:extLst>
          </p:cNvPr>
          <p:cNvSpPr>
            <a:spLocks/>
          </p:cNvSpPr>
          <p:nvPr/>
        </p:nvSpPr>
        <p:spPr bwMode="auto">
          <a:xfrm>
            <a:off x="9905469" y="4178091"/>
            <a:ext cx="206440" cy="50792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38" name="Freeform 95">
            <a:extLst>
              <a:ext uri="{FF2B5EF4-FFF2-40B4-BE49-F238E27FC236}">
                <a16:creationId xmlns:a16="http://schemas.microsoft.com/office/drawing/2014/main" id="{C75D3801-AA9A-394F-B133-0C907B494EA8}"/>
              </a:ext>
            </a:extLst>
          </p:cNvPr>
          <p:cNvSpPr>
            <a:spLocks/>
          </p:cNvSpPr>
          <p:nvPr/>
        </p:nvSpPr>
        <p:spPr bwMode="auto">
          <a:xfrm>
            <a:off x="8670005" y="4711407"/>
            <a:ext cx="736832" cy="7460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39" name="Freeform 96">
            <a:extLst>
              <a:ext uri="{FF2B5EF4-FFF2-40B4-BE49-F238E27FC236}">
                <a16:creationId xmlns:a16="http://schemas.microsoft.com/office/drawing/2014/main" id="{22DFD150-DCC3-9C4E-B2A1-9978ADFC2D32}"/>
              </a:ext>
            </a:extLst>
          </p:cNvPr>
          <p:cNvSpPr>
            <a:spLocks/>
          </p:cNvSpPr>
          <p:nvPr/>
        </p:nvSpPr>
        <p:spPr bwMode="auto">
          <a:xfrm>
            <a:off x="8133261" y="4171742"/>
            <a:ext cx="193736" cy="425383"/>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140" name="Group 139">
            <a:extLst>
              <a:ext uri="{FF2B5EF4-FFF2-40B4-BE49-F238E27FC236}">
                <a16:creationId xmlns:a16="http://schemas.microsoft.com/office/drawing/2014/main" id="{FE2A56FD-5BF2-8A47-B917-EC5BDAE7B6D9}"/>
              </a:ext>
            </a:extLst>
          </p:cNvPr>
          <p:cNvGrpSpPr/>
          <p:nvPr/>
        </p:nvGrpSpPr>
        <p:grpSpPr>
          <a:xfrm>
            <a:off x="9719734" y="3946352"/>
            <a:ext cx="578032" cy="285706"/>
            <a:chOff x="7493876" y="2774731"/>
            <a:chExt cx="1481958" cy="894622"/>
          </a:xfrm>
        </p:grpSpPr>
        <p:sp>
          <p:nvSpPr>
            <p:cNvPr id="295" name="Freeform 294">
              <a:extLst>
                <a:ext uri="{FF2B5EF4-FFF2-40B4-BE49-F238E27FC236}">
                  <a16:creationId xmlns:a16="http://schemas.microsoft.com/office/drawing/2014/main" id="{A22F5E6C-8071-584B-A45A-61580F1DF3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296" name="Oval 295">
              <a:extLst>
                <a:ext uri="{FF2B5EF4-FFF2-40B4-BE49-F238E27FC236}">
                  <a16:creationId xmlns:a16="http://schemas.microsoft.com/office/drawing/2014/main" id="{19D9D590-1C6D-B940-8236-FB7A7C7C3E1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297" name="Group 296">
              <a:extLst>
                <a:ext uri="{FF2B5EF4-FFF2-40B4-BE49-F238E27FC236}">
                  <a16:creationId xmlns:a16="http://schemas.microsoft.com/office/drawing/2014/main" id="{55AD85DE-1093-294C-A79D-C39AACCD04DE}"/>
                </a:ext>
              </a:extLst>
            </p:cNvPr>
            <p:cNvGrpSpPr/>
            <p:nvPr/>
          </p:nvGrpSpPr>
          <p:grpSpPr>
            <a:xfrm>
              <a:off x="7713663" y="2848339"/>
              <a:ext cx="1042107" cy="425543"/>
              <a:chOff x="7786941" y="2884917"/>
              <a:chExt cx="897649" cy="353919"/>
            </a:xfrm>
          </p:grpSpPr>
          <p:sp>
            <p:nvSpPr>
              <p:cNvPr id="298" name="Freeform 297">
                <a:extLst>
                  <a:ext uri="{FF2B5EF4-FFF2-40B4-BE49-F238E27FC236}">
                    <a16:creationId xmlns:a16="http://schemas.microsoft.com/office/drawing/2014/main" id="{74555870-3136-5F47-A50A-B9C84ADD9B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99" name="Freeform 298">
                <a:extLst>
                  <a:ext uri="{FF2B5EF4-FFF2-40B4-BE49-F238E27FC236}">
                    <a16:creationId xmlns:a16="http://schemas.microsoft.com/office/drawing/2014/main" id="{4C89C07A-54CC-1F4B-8662-219BDC60226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00" name="Freeform 299">
                <a:extLst>
                  <a:ext uri="{FF2B5EF4-FFF2-40B4-BE49-F238E27FC236}">
                    <a16:creationId xmlns:a16="http://schemas.microsoft.com/office/drawing/2014/main" id="{AD074A1D-33A9-FD4E-9502-6E1A7B8749F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01" name="Freeform 300">
                <a:extLst>
                  <a:ext uri="{FF2B5EF4-FFF2-40B4-BE49-F238E27FC236}">
                    <a16:creationId xmlns:a16="http://schemas.microsoft.com/office/drawing/2014/main" id="{CCD24AC6-75BD-7240-ACA1-858F993F76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41" name="Group 140">
            <a:extLst>
              <a:ext uri="{FF2B5EF4-FFF2-40B4-BE49-F238E27FC236}">
                <a16:creationId xmlns:a16="http://schemas.microsoft.com/office/drawing/2014/main" id="{87D364BE-067C-ED48-9F93-CCBD43D1F1FD}"/>
              </a:ext>
            </a:extLst>
          </p:cNvPr>
          <p:cNvGrpSpPr/>
          <p:nvPr/>
        </p:nvGrpSpPr>
        <p:grpSpPr>
          <a:xfrm>
            <a:off x="9351606" y="4600112"/>
            <a:ext cx="578032" cy="285706"/>
            <a:chOff x="7493876" y="2774731"/>
            <a:chExt cx="1481958" cy="894622"/>
          </a:xfrm>
        </p:grpSpPr>
        <p:sp>
          <p:nvSpPr>
            <p:cNvPr id="288" name="Freeform 287">
              <a:extLst>
                <a:ext uri="{FF2B5EF4-FFF2-40B4-BE49-F238E27FC236}">
                  <a16:creationId xmlns:a16="http://schemas.microsoft.com/office/drawing/2014/main" id="{56103B33-85E9-6646-AD36-73F16468B3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289" name="Oval 288">
              <a:extLst>
                <a:ext uri="{FF2B5EF4-FFF2-40B4-BE49-F238E27FC236}">
                  <a16:creationId xmlns:a16="http://schemas.microsoft.com/office/drawing/2014/main" id="{A249CC8A-2DD9-A540-96D6-72B9DFE29F2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290" name="Group 289">
              <a:extLst>
                <a:ext uri="{FF2B5EF4-FFF2-40B4-BE49-F238E27FC236}">
                  <a16:creationId xmlns:a16="http://schemas.microsoft.com/office/drawing/2014/main" id="{BB9841D9-85A4-6641-AFC4-673E96A51A94}"/>
                </a:ext>
              </a:extLst>
            </p:cNvPr>
            <p:cNvGrpSpPr/>
            <p:nvPr/>
          </p:nvGrpSpPr>
          <p:grpSpPr>
            <a:xfrm>
              <a:off x="7713663" y="2848339"/>
              <a:ext cx="1042107" cy="425543"/>
              <a:chOff x="7786941" y="2884917"/>
              <a:chExt cx="897649" cy="353919"/>
            </a:xfrm>
          </p:grpSpPr>
          <p:sp>
            <p:nvSpPr>
              <p:cNvPr id="291" name="Freeform 290">
                <a:extLst>
                  <a:ext uri="{FF2B5EF4-FFF2-40B4-BE49-F238E27FC236}">
                    <a16:creationId xmlns:a16="http://schemas.microsoft.com/office/drawing/2014/main" id="{1F8ACD1E-2A08-8148-97FE-2327BF094A0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92" name="Freeform 291">
                <a:extLst>
                  <a:ext uri="{FF2B5EF4-FFF2-40B4-BE49-F238E27FC236}">
                    <a16:creationId xmlns:a16="http://schemas.microsoft.com/office/drawing/2014/main" id="{4E9748D8-5A01-D746-848B-32926B95C5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93" name="Freeform 292">
                <a:extLst>
                  <a:ext uri="{FF2B5EF4-FFF2-40B4-BE49-F238E27FC236}">
                    <a16:creationId xmlns:a16="http://schemas.microsoft.com/office/drawing/2014/main" id="{FD69F9EC-EC8E-3148-A0CF-68ADE091607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94" name="Freeform 293">
                <a:extLst>
                  <a:ext uri="{FF2B5EF4-FFF2-40B4-BE49-F238E27FC236}">
                    <a16:creationId xmlns:a16="http://schemas.microsoft.com/office/drawing/2014/main" id="{0C246818-5046-3547-9748-C8A5F8D31AA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75" name="Group 174">
            <a:extLst>
              <a:ext uri="{FF2B5EF4-FFF2-40B4-BE49-F238E27FC236}">
                <a16:creationId xmlns:a16="http://schemas.microsoft.com/office/drawing/2014/main" id="{4D4971E8-AD3B-214C-97F6-17EC02BCA29D}"/>
              </a:ext>
            </a:extLst>
          </p:cNvPr>
          <p:cNvGrpSpPr/>
          <p:nvPr/>
        </p:nvGrpSpPr>
        <p:grpSpPr>
          <a:xfrm>
            <a:off x="8195132" y="4551443"/>
            <a:ext cx="578032" cy="285706"/>
            <a:chOff x="7493876" y="2774731"/>
            <a:chExt cx="1481958" cy="894622"/>
          </a:xfrm>
        </p:grpSpPr>
        <p:sp>
          <p:nvSpPr>
            <p:cNvPr id="281" name="Freeform 280">
              <a:extLst>
                <a:ext uri="{FF2B5EF4-FFF2-40B4-BE49-F238E27FC236}">
                  <a16:creationId xmlns:a16="http://schemas.microsoft.com/office/drawing/2014/main" id="{9739AEF0-B1B8-F540-9C41-AE1C85694CA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282" name="Oval 281">
              <a:extLst>
                <a:ext uri="{FF2B5EF4-FFF2-40B4-BE49-F238E27FC236}">
                  <a16:creationId xmlns:a16="http://schemas.microsoft.com/office/drawing/2014/main" id="{9A8C264F-EE1E-AE42-AD54-26038D64E2D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283" name="Group 282">
              <a:extLst>
                <a:ext uri="{FF2B5EF4-FFF2-40B4-BE49-F238E27FC236}">
                  <a16:creationId xmlns:a16="http://schemas.microsoft.com/office/drawing/2014/main" id="{C4315C5D-BBB1-1548-A740-5E5B96BEB874}"/>
                </a:ext>
              </a:extLst>
            </p:cNvPr>
            <p:cNvGrpSpPr/>
            <p:nvPr/>
          </p:nvGrpSpPr>
          <p:grpSpPr>
            <a:xfrm>
              <a:off x="7713663" y="2848339"/>
              <a:ext cx="1042107" cy="425543"/>
              <a:chOff x="7786941" y="2884917"/>
              <a:chExt cx="897649" cy="353919"/>
            </a:xfrm>
          </p:grpSpPr>
          <p:sp>
            <p:nvSpPr>
              <p:cNvPr id="284" name="Freeform 283">
                <a:extLst>
                  <a:ext uri="{FF2B5EF4-FFF2-40B4-BE49-F238E27FC236}">
                    <a16:creationId xmlns:a16="http://schemas.microsoft.com/office/drawing/2014/main" id="{895B76F4-731F-1A42-B1DA-2147C72110E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5" name="Freeform 284">
                <a:extLst>
                  <a:ext uri="{FF2B5EF4-FFF2-40B4-BE49-F238E27FC236}">
                    <a16:creationId xmlns:a16="http://schemas.microsoft.com/office/drawing/2014/main" id="{0DD88259-DBF1-C849-9347-E21FCDE91C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6" name="Freeform 285">
                <a:extLst>
                  <a:ext uri="{FF2B5EF4-FFF2-40B4-BE49-F238E27FC236}">
                    <a16:creationId xmlns:a16="http://schemas.microsoft.com/office/drawing/2014/main" id="{7F83BAF8-E480-3243-8D32-1B36CF28B4D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7" name="Freeform 286">
                <a:extLst>
                  <a:ext uri="{FF2B5EF4-FFF2-40B4-BE49-F238E27FC236}">
                    <a16:creationId xmlns:a16="http://schemas.microsoft.com/office/drawing/2014/main" id="{05F54ED9-26EA-304E-B1C7-6F58A4EB53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76" name="Group 175">
            <a:extLst>
              <a:ext uri="{FF2B5EF4-FFF2-40B4-BE49-F238E27FC236}">
                <a16:creationId xmlns:a16="http://schemas.microsoft.com/office/drawing/2014/main" id="{73201F79-4BE9-2E4A-9B0C-FB48F9222B08}"/>
              </a:ext>
            </a:extLst>
          </p:cNvPr>
          <p:cNvGrpSpPr/>
          <p:nvPr/>
        </p:nvGrpSpPr>
        <p:grpSpPr>
          <a:xfrm>
            <a:off x="8800632" y="3636044"/>
            <a:ext cx="578032" cy="285706"/>
            <a:chOff x="7493876" y="2774731"/>
            <a:chExt cx="1481958" cy="894622"/>
          </a:xfrm>
        </p:grpSpPr>
        <p:sp>
          <p:nvSpPr>
            <p:cNvPr id="274" name="Freeform 273">
              <a:extLst>
                <a:ext uri="{FF2B5EF4-FFF2-40B4-BE49-F238E27FC236}">
                  <a16:creationId xmlns:a16="http://schemas.microsoft.com/office/drawing/2014/main" id="{B69ED55D-3ADE-7541-A833-BAED4178F4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275" name="Oval 274">
              <a:extLst>
                <a:ext uri="{FF2B5EF4-FFF2-40B4-BE49-F238E27FC236}">
                  <a16:creationId xmlns:a16="http://schemas.microsoft.com/office/drawing/2014/main" id="{475EA0AA-3E1E-A848-A884-768A31DBCF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276" name="Group 275">
              <a:extLst>
                <a:ext uri="{FF2B5EF4-FFF2-40B4-BE49-F238E27FC236}">
                  <a16:creationId xmlns:a16="http://schemas.microsoft.com/office/drawing/2014/main" id="{33E36C01-9187-3C43-B7AF-0C810E75817D}"/>
                </a:ext>
              </a:extLst>
            </p:cNvPr>
            <p:cNvGrpSpPr/>
            <p:nvPr/>
          </p:nvGrpSpPr>
          <p:grpSpPr>
            <a:xfrm>
              <a:off x="7713663" y="2848339"/>
              <a:ext cx="1042107" cy="425543"/>
              <a:chOff x="7786941" y="2884917"/>
              <a:chExt cx="897649" cy="353919"/>
            </a:xfrm>
          </p:grpSpPr>
          <p:sp>
            <p:nvSpPr>
              <p:cNvPr id="277" name="Freeform 276">
                <a:extLst>
                  <a:ext uri="{FF2B5EF4-FFF2-40B4-BE49-F238E27FC236}">
                    <a16:creationId xmlns:a16="http://schemas.microsoft.com/office/drawing/2014/main" id="{7E1D2CF9-8553-254D-99D3-498E60EF92F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8" name="Freeform 277">
                <a:extLst>
                  <a:ext uri="{FF2B5EF4-FFF2-40B4-BE49-F238E27FC236}">
                    <a16:creationId xmlns:a16="http://schemas.microsoft.com/office/drawing/2014/main" id="{10BB4142-3B92-B24F-AF76-70C8728A34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9" name="Freeform 278">
                <a:extLst>
                  <a:ext uri="{FF2B5EF4-FFF2-40B4-BE49-F238E27FC236}">
                    <a16:creationId xmlns:a16="http://schemas.microsoft.com/office/drawing/2014/main" id="{A8740BCE-7F97-7642-B163-168373E22B1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0" name="Freeform 279">
                <a:extLst>
                  <a:ext uri="{FF2B5EF4-FFF2-40B4-BE49-F238E27FC236}">
                    <a16:creationId xmlns:a16="http://schemas.microsoft.com/office/drawing/2014/main" id="{9B5C1122-8A18-FC4A-A85F-6F1A1A2BF1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77" name="Group 176">
            <a:extLst>
              <a:ext uri="{FF2B5EF4-FFF2-40B4-BE49-F238E27FC236}">
                <a16:creationId xmlns:a16="http://schemas.microsoft.com/office/drawing/2014/main" id="{2CAF0E6F-60BF-1240-A259-C66B643E89AC}"/>
              </a:ext>
            </a:extLst>
          </p:cNvPr>
          <p:cNvGrpSpPr/>
          <p:nvPr/>
        </p:nvGrpSpPr>
        <p:grpSpPr>
          <a:xfrm>
            <a:off x="8711293" y="4233883"/>
            <a:ext cx="578032" cy="285706"/>
            <a:chOff x="7493876" y="2774731"/>
            <a:chExt cx="1481958" cy="894622"/>
          </a:xfrm>
        </p:grpSpPr>
        <p:sp>
          <p:nvSpPr>
            <p:cNvPr id="267" name="Freeform 266">
              <a:extLst>
                <a:ext uri="{FF2B5EF4-FFF2-40B4-BE49-F238E27FC236}">
                  <a16:creationId xmlns:a16="http://schemas.microsoft.com/office/drawing/2014/main" id="{4E5B85EA-9E84-A242-B1CC-71F987F7E59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268" name="Oval 267">
              <a:extLst>
                <a:ext uri="{FF2B5EF4-FFF2-40B4-BE49-F238E27FC236}">
                  <a16:creationId xmlns:a16="http://schemas.microsoft.com/office/drawing/2014/main" id="{C034AB19-CDAE-D044-BA78-A52EC726959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269" name="Group 268">
              <a:extLst>
                <a:ext uri="{FF2B5EF4-FFF2-40B4-BE49-F238E27FC236}">
                  <a16:creationId xmlns:a16="http://schemas.microsoft.com/office/drawing/2014/main" id="{9E108296-06B4-4949-A9AD-3C1FA5DCEA06}"/>
                </a:ext>
              </a:extLst>
            </p:cNvPr>
            <p:cNvGrpSpPr/>
            <p:nvPr/>
          </p:nvGrpSpPr>
          <p:grpSpPr>
            <a:xfrm>
              <a:off x="7713663" y="2848339"/>
              <a:ext cx="1042107" cy="425543"/>
              <a:chOff x="7786941" y="2884917"/>
              <a:chExt cx="897649" cy="353919"/>
            </a:xfrm>
          </p:grpSpPr>
          <p:sp>
            <p:nvSpPr>
              <p:cNvPr id="270" name="Freeform 269">
                <a:extLst>
                  <a:ext uri="{FF2B5EF4-FFF2-40B4-BE49-F238E27FC236}">
                    <a16:creationId xmlns:a16="http://schemas.microsoft.com/office/drawing/2014/main" id="{8530AB93-30E4-7A4B-88C4-61542A5A0AC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1" name="Freeform 270">
                <a:extLst>
                  <a:ext uri="{FF2B5EF4-FFF2-40B4-BE49-F238E27FC236}">
                    <a16:creationId xmlns:a16="http://schemas.microsoft.com/office/drawing/2014/main" id="{D239BC1C-F100-2448-A44B-0B1C3E017E2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2" name="Freeform 271">
                <a:extLst>
                  <a:ext uri="{FF2B5EF4-FFF2-40B4-BE49-F238E27FC236}">
                    <a16:creationId xmlns:a16="http://schemas.microsoft.com/office/drawing/2014/main" id="{7FCAA9D2-9640-064E-9D9B-F975C49ECB6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3" name="Freeform 272">
                <a:extLst>
                  <a:ext uri="{FF2B5EF4-FFF2-40B4-BE49-F238E27FC236}">
                    <a16:creationId xmlns:a16="http://schemas.microsoft.com/office/drawing/2014/main" id="{645CEC1F-F8DD-F048-9976-7ECD558712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78" name="Group 177">
            <a:extLst>
              <a:ext uri="{FF2B5EF4-FFF2-40B4-BE49-F238E27FC236}">
                <a16:creationId xmlns:a16="http://schemas.microsoft.com/office/drawing/2014/main" id="{B80B3CBF-96BC-A640-867D-5DE8C38FCAA4}"/>
              </a:ext>
            </a:extLst>
          </p:cNvPr>
          <p:cNvGrpSpPr/>
          <p:nvPr/>
        </p:nvGrpSpPr>
        <p:grpSpPr>
          <a:xfrm>
            <a:off x="7764614" y="3944180"/>
            <a:ext cx="578032" cy="285706"/>
            <a:chOff x="7493876" y="2774731"/>
            <a:chExt cx="1481958" cy="894622"/>
          </a:xfrm>
        </p:grpSpPr>
        <p:sp>
          <p:nvSpPr>
            <p:cNvPr id="260" name="Freeform 259">
              <a:extLst>
                <a:ext uri="{FF2B5EF4-FFF2-40B4-BE49-F238E27FC236}">
                  <a16:creationId xmlns:a16="http://schemas.microsoft.com/office/drawing/2014/main" id="{E2DEA29E-E539-DD4A-8E78-F10B0CB91D3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261" name="Oval 260">
              <a:extLst>
                <a:ext uri="{FF2B5EF4-FFF2-40B4-BE49-F238E27FC236}">
                  <a16:creationId xmlns:a16="http://schemas.microsoft.com/office/drawing/2014/main" id="{B75DAF39-296E-174B-9017-65859A66C61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262" name="Group 261">
              <a:extLst>
                <a:ext uri="{FF2B5EF4-FFF2-40B4-BE49-F238E27FC236}">
                  <a16:creationId xmlns:a16="http://schemas.microsoft.com/office/drawing/2014/main" id="{F88F2AE9-EF9D-9349-9FB8-E52CAD986B93}"/>
                </a:ext>
              </a:extLst>
            </p:cNvPr>
            <p:cNvGrpSpPr/>
            <p:nvPr/>
          </p:nvGrpSpPr>
          <p:grpSpPr>
            <a:xfrm>
              <a:off x="7713663" y="2848339"/>
              <a:ext cx="1042107" cy="425543"/>
              <a:chOff x="7786941" y="2884917"/>
              <a:chExt cx="897649" cy="353919"/>
            </a:xfrm>
          </p:grpSpPr>
          <p:sp>
            <p:nvSpPr>
              <p:cNvPr id="263" name="Freeform 262">
                <a:extLst>
                  <a:ext uri="{FF2B5EF4-FFF2-40B4-BE49-F238E27FC236}">
                    <a16:creationId xmlns:a16="http://schemas.microsoft.com/office/drawing/2014/main" id="{FB60E484-FF23-D44E-87D8-BB30525A1A1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4" name="Freeform 263">
                <a:extLst>
                  <a:ext uri="{FF2B5EF4-FFF2-40B4-BE49-F238E27FC236}">
                    <a16:creationId xmlns:a16="http://schemas.microsoft.com/office/drawing/2014/main" id="{B0FF7CDC-AB3A-6C44-8273-6FEA8A00EF4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5" name="Freeform 264">
                <a:extLst>
                  <a:ext uri="{FF2B5EF4-FFF2-40B4-BE49-F238E27FC236}">
                    <a16:creationId xmlns:a16="http://schemas.microsoft.com/office/drawing/2014/main" id="{D102FF9A-7D62-CC4B-8939-37FC1A1E61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6" name="Freeform 265">
                <a:extLst>
                  <a:ext uri="{FF2B5EF4-FFF2-40B4-BE49-F238E27FC236}">
                    <a16:creationId xmlns:a16="http://schemas.microsoft.com/office/drawing/2014/main" id="{928B49DE-7679-8C46-A671-A7856D8F84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sp>
        <p:nvSpPr>
          <p:cNvPr id="179" name="Freeform 254">
            <a:extLst>
              <a:ext uri="{FF2B5EF4-FFF2-40B4-BE49-F238E27FC236}">
                <a16:creationId xmlns:a16="http://schemas.microsoft.com/office/drawing/2014/main" id="{4BD65FCE-B086-1C41-89A5-8DAF6BA0013D}"/>
              </a:ext>
            </a:extLst>
          </p:cNvPr>
          <p:cNvSpPr>
            <a:spLocks/>
          </p:cNvSpPr>
          <p:nvPr/>
        </p:nvSpPr>
        <p:spPr bwMode="auto">
          <a:xfrm>
            <a:off x="11178866" y="2363683"/>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0" name="Group 289">
            <a:extLst>
              <a:ext uri="{FF2B5EF4-FFF2-40B4-BE49-F238E27FC236}">
                <a16:creationId xmlns:a16="http://schemas.microsoft.com/office/drawing/2014/main" id="{282CC52C-6D00-A04B-884E-AF704D4FD9CC}"/>
              </a:ext>
            </a:extLst>
          </p:cNvPr>
          <p:cNvGrpSpPr>
            <a:grpSpLocks/>
          </p:cNvGrpSpPr>
          <p:nvPr/>
        </p:nvGrpSpPr>
        <p:grpSpPr bwMode="auto">
          <a:xfrm>
            <a:off x="11355079" y="3260620"/>
            <a:ext cx="231775" cy="441325"/>
            <a:chOff x="4140" y="429"/>
            <a:chExt cx="1425" cy="2396"/>
          </a:xfrm>
        </p:grpSpPr>
        <p:sp>
          <p:nvSpPr>
            <p:cNvPr id="228" name="Freeform 290">
              <a:extLst>
                <a:ext uri="{FF2B5EF4-FFF2-40B4-BE49-F238E27FC236}">
                  <a16:creationId xmlns:a16="http://schemas.microsoft.com/office/drawing/2014/main" id="{DD58842D-C583-744E-BFD5-323B2ED543E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9" name="Rectangle 291">
              <a:extLst>
                <a:ext uri="{FF2B5EF4-FFF2-40B4-BE49-F238E27FC236}">
                  <a16:creationId xmlns:a16="http://schemas.microsoft.com/office/drawing/2014/main" id="{7A587CA9-D508-B244-898D-908A8BD8F72A}"/>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Freeform 292">
              <a:extLst>
                <a:ext uri="{FF2B5EF4-FFF2-40B4-BE49-F238E27FC236}">
                  <a16:creationId xmlns:a16="http://schemas.microsoft.com/office/drawing/2014/main" id="{15485B65-6A91-A741-B71C-C9054384FF1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1" name="Freeform 293">
              <a:extLst>
                <a:ext uri="{FF2B5EF4-FFF2-40B4-BE49-F238E27FC236}">
                  <a16:creationId xmlns:a16="http://schemas.microsoft.com/office/drawing/2014/main" id="{9FD462AB-E254-4B44-ACEE-57DF3FEA3E4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32" name="Rectangle 294">
              <a:extLst>
                <a:ext uri="{FF2B5EF4-FFF2-40B4-BE49-F238E27FC236}">
                  <a16:creationId xmlns:a16="http://schemas.microsoft.com/office/drawing/2014/main" id="{8B02D026-F14D-2740-A4A5-53851F0B2463}"/>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3" name="Group 295">
              <a:extLst>
                <a:ext uri="{FF2B5EF4-FFF2-40B4-BE49-F238E27FC236}">
                  <a16:creationId xmlns:a16="http://schemas.microsoft.com/office/drawing/2014/main" id="{B0C25286-A814-9143-B593-142AD05ACA72}"/>
                </a:ext>
              </a:extLst>
            </p:cNvPr>
            <p:cNvGrpSpPr>
              <a:grpSpLocks/>
            </p:cNvGrpSpPr>
            <p:nvPr/>
          </p:nvGrpSpPr>
          <p:grpSpPr bwMode="auto">
            <a:xfrm>
              <a:off x="4749" y="668"/>
              <a:ext cx="581" cy="145"/>
              <a:chOff x="614" y="2568"/>
              <a:chExt cx="725" cy="139"/>
            </a:xfrm>
          </p:grpSpPr>
          <p:sp>
            <p:nvSpPr>
              <p:cNvPr id="258" name="AutoShape 296">
                <a:extLst>
                  <a:ext uri="{FF2B5EF4-FFF2-40B4-BE49-F238E27FC236}">
                    <a16:creationId xmlns:a16="http://schemas.microsoft.com/office/drawing/2014/main" id="{2F585279-173F-3044-B252-4EED42C34D71}"/>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AutoShape 297">
                <a:extLst>
                  <a:ext uri="{FF2B5EF4-FFF2-40B4-BE49-F238E27FC236}">
                    <a16:creationId xmlns:a16="http://schemas.microsoft.com/office/drawing/2014/main" id="{C0B63C95-0F44-8E4E-AEF1-8EEACAC76CD1}"/>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4" name="Rectangle 298">
              <a:extLst>
                <a:ext uri="{FF2B5EF4-FFF2-40B4-BE49-F238E27FC236}">
                  <a16:creationId xmlns:a16="http://schemas.microsoft.com/office/drawing/2014/main" id="{640C9C7A-DAFB-DB46-B834-AEAC566FA64C}"/>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5" name="Group 299">
              <a:extLst>
                <a:ext uri="{FF2B5EF4-FFF2-40B4-BE49-F238E27FC236}">
                  <a16:creationId xmlns:a16="http://schemas.microsoft.com/office/drawing/2014/main" id="{23F48019-DD1C-564E-B574-A8D1DB03F640}"/>
                </a:ext>
              </a:extLst>
            </p:cNvPr>
            <p:cNvGrpSpPr>
              <a:grpSpLocks/>
            </p:cNvGrpSpPr>
            <p:nvPr/>
          </p:nvGrpSpPr>
          <p:grpSpPr bwMode="auto">
            <a:xfrm>
              <a:off x="4747" y="994"/>
              <a:ext cx="581" cy="134"/>
              <a:chOff x="614" y="2568"/>
              <a:chExt cx="725" cy="139"/>
            </a:xfrm>
          </p:grpSpPr>
          <p:sp>
            <p:nvSpPr>
              <p:cNvPr id="256" name="AutoShape 300">
                <a:extLst>
                  <a:ext uri="{FF2B5EF4-FFF2-40B4-BE49-F238E27FC236}">
                    <a16:creationId xmlns:a16="http://schemas.microsoft.com/office/drawing/2014/main" id="{E4024405-5028-0C46-8622-FC0B3C82022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7" name="AutoShape 301">
                <a:extLst>
                  <a:ext uri="{FF2B5EF4-FFF2-40B4-BE49-F238E27FC236}">
                    <a16:creationId xmlns:a16="http://schemas.microsoft.com/office/drawing/2014/main" id="{A5F943AE-9009-0944-89F8-AA45045404E6}"/>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6" name="Rectangle 302">
              <a:extLst>
                <a:ext uri="{FF2B5EF4-FFF2-40B4-BE49-F238E27FC236}">
                  <a16:creationId xmlns:a16="http://schemas.microsoft.com/office/drawing/2014/main" id="{1D7CBC12-6E8F-5743-B297-791903B3F602}"/>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7" name="Rectangle 303">
              <a:extLst>
                <a:ext uri="{FF2B5EF4-FFF2-40B4-BE49-F238E27FC236}">
                  <a16:creationId xmlns:a16="http://schemas.microsoft.com/office/drawing/2014/main" id="{C3850711-AC6C-D149-8913-D8083044DE49}"/>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8" name="Group 304">
              <a:extLst>
                <a:ext uri="{FF2B5EF4-FFF2-40B4-BE49-F238E27FC236}">
                  <a16:creationId xmlns:a16="http://schemas.microsoft.com/office/drawing/2014/main" id="{9D49FEB6-488F-2048-A11B-E06E76DBE7A4}"/>
                </a:ext>
              </a:extLst>
            </p:cNvPr>
            <p:cNvGrpSpPr>
              <a:grpSpLocks/>
            </p:cNvGrpSpPr>
            <p:nvPr/>
          </p:nvGrpSpPr>
          <p:grpSpPr bwMode="auto">
            <a:xfrm>
              <a:off x="4735" y="1627"/>
              <a:ext cx="582" cy="151"/>
              <a:chOff x="614" y="2568"/>
              <a:chExt cx="725" cy="139"/>
            </a:xfrm>
          </p:grpSpPr>
          <p:sp>
            <p:nvSpPr>
              <p:cNvPr id="254" name="AutoShape 305">
                <a:extLst>
                  <a:ext uri="{FF2B5EF4-FFF2-40B4-BE49-F238E27FC236}">
                    <a16:creationId xmlns:a16="http://schemas.microsoft.com/office/drawing/2014/main" id="{0B25DD4D-3C90-584F-8831-6C80F4C7A987}"/>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5" name="AutoShape 306">
                <a:extLst>
                  <a:ext uri="{FF2B5EF4-FFF2-40B4-BE49-F238E27FC236}">
                    <a16:creationId xmlns:a16="http://schemas.microsoft.com/office/drawing/2014/main" id="{B7F3D7FB-8973-D44C-AD5E-E00A87134B2B}"/>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9" name="Freeform 307">
              <a:extLst>
                <a:ext uri="{FF2B5EF4-FFF2-40B4-BE49-F238E27FC236}">
                  <a16:creationId xmlns:a16="http://schemas.microsoft.com/office/drawing/2014/main" id="{43DC40CF-325A-0047-882C-F0B88908FD2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40" name="Group 308">
              <a:extLst>
                <a:ext uri="{FF2B5EF4-FFF2-40B4-BE49-F238E27FC236}">
                  <a16:creationId xmlns:a16="http://schemas.microsoft.com/office/drawing/2014/main" id="{F5FBB7ED-0006-594A-8F05-82D90CE6725A}"/>
                </a:ext>
              </a:extLst>
            </p:cNvPr>
            <p:cNvGrpSpPr>
              <a:grpSpLocks/>
            </p:cNvGrpSpPr>
            <p:nvPr/>
          </p:nvGrpSpPr>
          <p:grpSpPr bwMode="auto">
            <a:xfrm>
              <a:off x="4739" y="1327"/>
              <a:ext cx="582" cy="139"/>
              <a:chOff x="614" y="2568"/>
              <a:chExt cx="725" cy="139"/>
            </a:xfrm>
          </p:grpSpPr>
          <p:sp>
            <p:nvSpPr>
              <p:cNvPr id="252" name="AutoShape 309">
                <a:extLst>
                  <a:ext uri="{FF2B5EF4-FFF2-40B4-BE49-F238E27FC236}">
                    <a16:creationId xmlns:a16="http://schemas.microsoft.com/office/drawing/2014/main" id="{1A4A3E68-C445-A84F-A76F-8ADDE253BDDE}"/>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AutoShape 310">
                <a:extLst>
                  <a:ext uri="{FF2B5EF4-FFF2-40B4-BE49-F238E27FC236}">
                    <a16:creationId xmlns:a16="http://schemas.microsoft.com/office/drawing/2014/main" id="{A0077764-7657-B447-9665-316638C75160}"/>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1" name="Rectangle 311">
              <a:extLst>
                <a:ext uri="{FF2B5EF4-FFF2-40B4-BE49-F238E27FC236}">
                  <a16:creationId xmlns:a16="http://schemas.microsoft.com/office/drawing/2014/main" id="{8B482C5C-EFF7-D349-8CCD-0F43172E89C7}"/>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2" name="Freeform 312">
              <a:extLst>
                <a:ext uri="{FF2B5EF4-FFF2-40B4-BE49-F238E27FC236}">
                  <a16:creationId xmlns:a16="http://schemas.microsoft.com/office/drawing/2014/main" id="{4021586C-DA67-AA41-BA88-7AEAD6F261B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3" name="Freeform 313">
              <a:extLst>
                <a:ext uri="{FF2B5EF4-FFF2-40B4-BE49-F238E27FC236}">
                  <a16:creationId xmlns:a16="http://schemas.microsoft.com/office/drawing/2014/main" id="{3D9F60F4-9173-9246-8E1F-2C2859D17EA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4" name="Oval 314">
              <a:extLst>
                <a:ext uri="{FF2B5EF4-FFF2-40B4-BE49-F238E27FC236}">
                  <a16:creationId xmlns:a16="http://schemas.microsoft.com/office/drawing/2014/main" id="{8765AD34-763D-1F46-AA79-FB63EC3993FF}"/>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5" name="Freeform 315">
              <a:extLst>
                <a:ext uri="{FF2B5EF4-FFF2-40B4-BE49-F238E27FC236}">
                  <a16:creationId xmlns:a16="http://schemas.microsoft.com/office/drawing/2014/main" id="{E10BDF5D-EA0F-F042-BD9B-6E36BFF56F0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6" name="AutoShape 316">
              <a:extLst>
                <a:ext uri="{FF2B5EF4-FFF2-40B4-BE49-F238E27FC236}">
                  <a16:creationId xmlns:a16="http://schemas.microsoft.com/office/drawing/2014/main" id="{6C729113-6D55-C84E-BE58-123F8F053546}"/>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AutoShape 317">
              <a:extLst>
                <a:ext uri="{FF2B5EF4-FFF2-40B4-BE49-F238E27FC236}">
                  <a16:creationId xmlns:a16="http://schemas.microsoft.com/office/drawing/2014/main" id="{81EA52A6-99B7-3846-9B34-7CB52FA093B6}"/>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8" name="Oval 318">
              <a:extLst>
                <a:ext uri="{FF2B5EF4-FFF2-40B4-BE49-F238E27FC236}">
                  <a16:creationId xmlns:a16="http://schemas.microsoft.com/office/drawing/2014/main" id="{D941D592-57DE-E849-8C9C-58F0B9615263}"/>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9" name="Oval 319">
              <a:extLst>
                <a:ext uri="{FF2B5EF4-FFF2-40B4-BE49-F238E27FC236}">
                  <a16:creationId xmlns:a16="http://schemas.microsoft.com/office/drawing/2014/main" id="{BE056CB0-2EDD-6D4A-957A-3CCB3F3B3C6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50" name="Oval 320">
              <a:extLst>
                <a:ext uri="{FF2B5EF4-FFF2-40B4-BE49-F238E27FC236}">
                  <a16:creationId xmlns:a16="http://schemas.microsoft.com/office/drawing/2014/main" id="{0996AC45-D45C-6E49-8EA2-6B239FB493B4}"/>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1" name="Rectangle 321">
              <a:extLst>
                <a:ext uri="{FF2B5EF4-FFF2-40B4-BE49-F238E27FC236}">
                  <a16:creationId xmlns:a16="http://schemas.microsoft.com/office/drawing/2014/main" id="{4AD2A6FD-B1C1-2846-85C2-F6D452B32A9A}"/>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1" name="Freeform 270">
            <a:extLst>
              <a:ext uri="{FF2B5EF4-FFF2-40B4-BE49-F238E27FC236}">
                <a16:creationId xmlns:a16="http://schemas.microsoft.com/office/drawing/2014/main" id="{327C52FA-DE4A-E94F-8911-ABEE881AA22F}"/>
              </a:ext>
            </a:extLst>
          </p:cNvPr>
          <p:cNvSpPr>
            <a:spLocks/>
          </p:cNvSpPr>
          <p:nvPr/>
        </p:nvSpPr>
        <p:spPr bwMode="auto">
          <a:xfrm flipH="1">
            <a:off x="6810066" y="2305050"/>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2" name="Group 354">
            <a:extLst>
              <a:ext uri="{FF2B5EF4-FFF2-40B4-BE49-F238E27FC236}">
                <a16:creationId xmlns:a16="http://schemas.microsoft.com/office/drawing/2014/main" id="{249020EA-8359-DA4E-A6BD-01714A19478B}"/>
              </a:ext>
            </a:extLst>
          </p:cNvPr>
          <p:cNvGrpSpPr>
            <a:grpSpLocks/>
          </p:cNvGrpSpPr>
          <p:nvPr/>
        </p:nvGrpSpPr>
        <p:grpSpPr bwMode="auto">
          <a:xfrm>
            <a:off x="6405254" y="3243263"/>
            <a:ext cx="525462" cy="434975"/>
            <a:chOff x="-44" y="1473"/>
            <a:chExt cx="981" cy="1105"/>
          </a:xfrm>
        </p:grpSpPr>
        <p:pic>
          <p:nvPicPr>
            <p:cNvPr id="226" name="Picture 355" descr="desktop_computer_stylized_medium">
              <a:extLst>
                <a:ext uri="{FF2B5EF4-FFF2-40B4-BE49-F238E27FC236}">
                  <a16:creationId xmlns:a16="http://schemas.microsoft.com/office/drawing/2014/main" id="{F5E082B2-BADD-164A-983C-4F21EE854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Freeform 356">
              <a:extLst>
                <a:ext uri="{FF2B5EF4-FFF2-40B4-BE49-F238E27FC236}">
                  <a16:creationId xmlns:a16="http://schemas.microsoft.com/office/drawing/2014/main" id="{079D48B4-8397-C148-BF34-3B142B76223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84" name="Group 183">
            <a:extLst>
              <a:ext uri="{FF2B5EF4-FFF2-40B4-BE49-F238E27FC236}">
                <a16:creationId xmlns:a16="http://schemas.microsoft.com/office/drawing/2014/main" id="{B24BA112-55AD-AC41-BD94-9D9DBD9F7E9A}"/>
              </a:ext>
            </a:extLst>
          </p:cNvPr>
          <p:cNvGrpSpPr/>
          <p:nvPr/>
        </p:nvGrpSpPr>
        <p:grpSpPr>
          <a:xfrm>
            <a:off x="7045286" y="2362077"/>
            <a:ext cx="717868" cy="1154474"/>
            <a:chOff x="7664720" y="2799688"/>
            <a:chExt cx="717868" cy="1154474"/>
          </a:xfrm>
        </p:grpSpPr>
        <p:sp>
          <p:nvSpPr>
            <p:cNvPr id="221" name="Rectangle 220">
              <a:extLst>
                <a:ext uri="{FF2B5EF4-FFF2-40B4-BE49-F238E27FC236}">
                  <a16:creationId xmlns:a16="http://schemas.microsoft.com/office/drawing/2014/main" id="{1D5C8C48-4AA2-D144-9071-4FC46876C0CD}"/>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22" name="Straight Connector 221">
              <a:extLst>
                <a:ext uri="{FF2B5EF4-FFF2-40B4-BE49-F238E27FC236}">
                  <a16:creationId xmlns:a16="http://schemas.microsoft.com/office/drawing/2014/main" id="{C9115613-D043-F746-9E95-BE91F6C8BCC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74476B4D-7B72-FD42-B168-C58F9397FB9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893A87B8-2634-E14A-80D8-9E6D65DFA444}"/>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84DDD5A1-E55B-8D44-8F53-EA448F2F5AB7}"/>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8" name="Group 187">
            <a:extLst>
              <a:ext uri="{FF2B5EF4-FFF2-40B4-BE49-F238E27FC236}">
                <a16:creationId xmlns:a16="http://schemas.microsoft.com/office/drawing/2014/main" id="{D946DB51-76AF-794B-896C-CE798C356CDC}"/>
              </a:ext>
            </a:extLst>
          </p:cNvPr>
          <p:cNvGrpSpPr/>
          <p:nvPr/>
        </p:nvGrpSpPr>
        <p:grpSpPr>
          <a:xfrm>
            <a:off x="10476914" y="2368655"/>
            <a:ext cx="717868" cy="1154474"/>
            <a:chOff x="7664720" y="2795550"/>
            <a:chExt cx="717868" cy="1154474"/>
          </a:xfrm>
        </p:grpSpPr>
        <p:sp>
          <p:nvSpPr>
            <p:cNvPr id="210" name="Rectangle 209">
              <a:extLst>
                <a:ext uri="{FF2B5EF4-FFF2-40B4-BE49-F238E27FC236}">
                  <a16:creationId xmlns:a16="http://schemas.microsoft.com/office/drawing/2014/main" id="{2945C805-FB4D-1F41-B9DC-8E71DE43D0DF}"/>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11" name="Straight Connector 210">
              <a:extLst>
                <a:ext uri="{FF2B5EF4-FFF2-40B4-BE49-F238E27FC236}">
                  <a16:creationId xmlns:a16="http://schemas.microsoft.com/office/drawing/2014/main" id="{5C0CB443-CBC2-9E45-9CB6-C744CDA9BFD1}"/>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804DF73C-F88C-FA4D-8328-09984DEA993E}"/>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F977C676-85FB-0F40-8B20-289C82EC6C10}"/>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D0AB40D6-D3E3-F644-A0B4-C65086440100}"/>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9" name="Group 188">
            <a:extLst>
              <a:ext uri="{FF2B5EF4-FFF2-40B4-BE49-F238E27FC236}">
                <a16:creationId xmlns:a16="http://schemas.microsoft.com/office/drawing/2014/main" id="{CD01A017-DD54-D843-8EFE-4E068B32A548}"/>
              </a:ext>
            </a:extLst>
          </p:cNvPr>
          <p:cNvGrpSpPr/>
          <p:nvPr/>
        </p:nvGrpSpPr>
        <p:grpSpPr>
          <a:xfrm>
            <a:off x="8867832" y="4245561"/>
            <a:ext cx="456701" cy="226548"/>
            <a:chOff x="6859123" y="5156933"/>
            <a:chExt cx="456701" cy="226548"/>
          </a:xfrm>
        </p:grpSpPr>
        <p:sp>
          <p:nvSpPr>
            <p:cNvPr id="202" name="Rectangle 201">
              <a:extLst>
                <a:ext uri="{FF2B5EF4-FFF2-40B4-BE49-F238E27FC236}">
                  <a16:creationId xmlns:a16="http://schemas.microsoft.com/office/drawing/2014/main" id="{A9C46B58-EB58-CD4B-901C-36557A6BBB8A}"/>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203" name="Straight Connector 202">
              <a:extLst>
                <a:ext uri="{FF2B5EF4-FFF2-40B4-BE49-F238E27FC236}">
                  <a16:creationId xmlns:a16="http://schemas.microsoft.com/office/drawing/2014/main" id="{F310AA80-E5E5-9D45-B059-DBF356B23652}"/>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2B504DA0-0830-A247-BFB2-5B08B92F485C}"/>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89AA1B6E-8009-4F41-B5BE-F62AE9B4630F}"/>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69984DBE-4678-3045-8619-E36B03BB624E}"/>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334E391C-886C-FD40-90C5-307C327A8D88}"/>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8740E756-940A-C245-BFC2-46F263F13E78}"/>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3646C395-21B6-0B4A-B835-DCBA9C58427F}"/>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E87911E2-4676-1041-AC82-896E82DBBF94}"/>
              </a:ext>
            </a:extLst>
          </p:cNvPr>
          <p:cNvGrpSpPr/>
          <p:nvPr/>
        </p:nvGrpSpPr>
        <p:grpSpPr>
          <a:xfrm>
            <a:off x="7552398" y="2762175"/>
            <a:ext cx="3061681" cy="1433307"/>
            <a:chOff x="7552398" y="2762175"/>
            <a:chExt cx="3061681" cy="1433307"/>
          </a:xfrm>
        </p:grpSpPr>
        <p:sp>
          <p:nvSpPr>
            <p:cNvPr id="306" name="Freeform 305">
              <a:extLst>
                <a:ext uri="{FF2B5EF4-FFF2-40B4-BE49-F238E27FC236}">
                  <a16:creationId xmlns:a16="http://schemas.microsoft.com/office/drawing/2014/main" id="{A047DABE-6D91-2B46-B457-9C4D910EAC34}"/>
                </a:ext>
              </a:extLst>
            </p:cNvPr>
            <p:cNvSpPr/>
            <p:nvPr/>
          </p:nvSpPr>
          <p:spPr>
            <a:xfrm flipH="1">
              <a:off x="9104671" y="2771139"/>
              <a:ext cx="1509408" cy="1424343"/>
            </a:xfrm>
            <a:custGeom>
              <a:avLst/>
              <a:gdLst>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Lst>
              <a:ahLst/>
              <a:cxnLst>
                <a:cxn ang="0">
                  <a:pos x="connsiteX0" y="connsiteY0"/>
                </a:cxn>
                <a:cxn ang="0">
                  <a:pos x="connsiteX1" y="connsiteY1"/>
                </a:cxn>
              </a:cxnLst>
              <a:rect l="l" t="t" r="r" b="b"/>
              <a:pathLst>
                <a:path w="1509408" h="1378340">
                  <a:moveTo>
                    <a:pt x="1509408" y="1378340"/>
                  </a:moveTo>
                  <a:cubicBezTo>
                    <a:pt x="1268229" y="509348"/>
                    <a:pt x="882368" y="54174"/>
                    <a:pt x="0"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07" name="Freeform 306">
              <a:extLst>
                <a:ext uri="{FF2B5EF4-FFF2-40B4-BE49-F238E27FC236}">
                  <a16:creationId xmlns:a16="http://schemas.microsoft.com/office/drawing/2014/main" id="{268EAC65-5523-F449-A3E7-F1059BFF90A8}"/>
                </a:ext>
              </a:extLst>
            </p:cNvPr>
            <p:cNvSpPr/>
            <p:nvPr/>
          </p:nvSpPr>
          <p:spPr>
            <a:xfrm>
              <a:off x="7552398" y="2762175"/>
              <a:ext cx="1509408" cy="1424343"/>
            </a:xfrm>
            <a:custGeom>
              <a:avLst/>
              <a:gdLst>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Lst>
              <a:ahLst/>
              <a:cxnLst>
                <a:cxn ang="0">
                  <a:pos x="connsiteX0" y="connsiteY0"/>
                </a:cxn>
                <a:cxn ang="0">
                  <a:pos x="connsiteX1" y="connsiteY1"/>
                </a:cxn>
              </a:cxnLst>
              <a:rect l="l" t="t" r="r" b="b"/>
              <a:pathLst>
                <a:path w="1509408" h="1378340">
                  <a:moveTo>
                    <a:pt x="1509408" y="1378340"/>
                  </a:moveTo>
                  <a:cubicBezTo>
                    <a:pt x="1268229" y="509348"/>
                    <a:pt x="882368" y="54174"/>
                    <a:pt x="0"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308" name="Group 307">
            <a:extLst>
              <a:ext uri="{FF2B5EF4-FFF2-40B4-BE49-F238E27FC236}">
                <a16:creationId xmlns:a16="http://schemas.microsoft.com/office/drawing/2014/main" id="{CDE6A3E2-3661-2F4D-A6C8-724B4A3D05ED}"/>
              </a:ext>
            </a:extLst>
          </p:cNvPr>
          <p:cNvGrpSpPr/>
          <p:nvPr/>
        </p:nvGrpSpPr>
        <p:grpSpPr>
          <a:xfrm>
            <a:off x="7428575" y="2677315"/>
            <a:ext cx="3355719" cy="1705017"/>
            <a:chOff x="7428575" y="2677315"/>
            <a:chExt cx="3355719" cy="1705017"/>
          </a:xfrm>
        </p:grpSpPr>
        <p:sp>
          <p:nvSpPr>
            <p:cNvPr id="309" name="Freeform 308">
              <a:extLst>
                <a:ext uri="{FF2B5EF4-FFF2-40B4-BE49-F238E27FC236}">
                  <a16:creationId xmlns:a16="http://schemas.microsoft.com/office/drawing/2014/main" id="{B47BEEA4-E4B8-A64E-885F-14003C8F5A1B}"/>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0" name="Freeform 309">
              <a:extLst>
                <a:ext uri="{FF2B5EF4-FFF2-40B4-BE49-F238E27FC236}">
                  <a16:creationId xmlns:a16="http://schemas.microsoft.com/office/drawing/2014/main" id="{304AE042-2E8A-D141-BC94-ED99460E627E}"/>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1" name="TextBox 310">
              <a:extLst>
                <a:ext uri="{FF2B5EF4-FFF2-40B4-BE49-F238E27FC236}">
                  <a16:creationId xmlns:a16="http://schemas.microsoft.com/office/drawing/2014/main" id="{272D3047-A7CC-1745-B040-00D1E25997AF}"/>
                </a:ext>
              </a:extLst>
            </p:cNvPr>
            <p:cNvSpPr txBox="1"/>
            <p:nvPr/>
          </p:nvSpPr>
          <p:spPr>
            <a:xfrm>
              <a:off x="10184578" y="355661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sp>
          <p:nvSpPr>
            <p:cNvPr id="312" name="TextBox 311">
              <a:extLst>
                <a:ext uri="{FF2B5EF4-FFF2-40B4-BE49-F238E27FC236}">
                  <a16:creationId xmlns:a16="http://schemas.microsoft.com/office/drawing/2014/main" id="{BBCAFBB0-6D98-9742-AB87-26B3EE90BCAB}"/>
                </a:ext>
              </a:extLst>
            </p:cNvPr>
            <p:cNvSpPr txBox="1"/>
            <p:nvPr/>
          </p:nvSpPr>
          <p:spPr>
            <a:xfrm>
              <a:off x="7428575" y="351769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grpSp>
      <p:grpSp>
        <p:nvGrpSpPr>
          <p:cNvPr id="313" name="Group 312">
            <a:extLst>
              <a:ext uri="{FF2B5EF4-FFF2-40B4-BE49-F238E27FC236}">
                <a16:creationId xmlns:a16="http://schemas.microsoft.com/office/drawing/2014/main" id="{5DFB8599-7DDC-8447-ADE3-2DAD2C0402AB}"/>
              </a:ext>
            </a:extLst>
          </p:cNvPr>
          <p:cNvGrpSpPr/>
          <p:nvPr/>
        </p:nvGrpSpPr>
        <p:grpSpPr>
          <a:xfrm>
            <a:off x="6799618" y="2691243"/>
            <a:ext cx="4657206" cy="1827509"/>
            <a:chOff x="6799618" y="2691243"/>
            <a:chExt cx="4657206" cy="1827509"/>
          </a:xfrm>
        </p:grpSpPr>
        <p:sp>
          <p:nvSpPr>
            <p:cNvPr id="314" name="Freeform 313">
              <a:extLst>
                <a:ext uri="{FF2B5EF4-FFF2-40B4-BE49-F238E27FC236}">
                  <a16:creationId xmlns:a16="http://schemas.microsoft.com/office/drawing/2014/main" id="{67AC42C5-3F9E-0D4E-B80B-DB0208D256F0}"/>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5" name="TextBox 314">
              <a:extLst>
                <a:ext uri="{FF2B5EF4-FFF2-40B4-BE49-F238E27FC236}">
                  <a16:creationId xmlns:a16="http://schemas.microsoft.com/office/drawing/2014/main" id="{4B1BE921-31E4-C342-B3CD-DD49B4829966}"/>
                </a:ext>
              </a:extLst>
            </p:cNvPr>
            <p:cNvSpPr txBox="1"/>
            <p:nvPr/>
          </p:nvSpPr>
          <p:spPr>
            <a:xfrm>
              <a:off x="6799618" y="3650736"/>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sp>
          <p:nvSpPr>
            <p:cNvPr id="316" name="TextBox 315">
              <a:extLst>
                <a:ext uri="{FF2B5EF4-FFF2-40B4-BE49-F238E27FC236}">
                  <a16:creationId xmlns:a16="http://schemas.microsoft.com/office/drawing/2014/main" id="{E8B4DCFA-3A87-864C-A054-ED417A34E19F}"/>
                </a:ext>
              </a:extLst>
            </p:cNvPr>
            <p:cNvSpPr txBox="1"/>
            <p:nvPr/>
          </p:nvSpPr>
          <p:spPr>
            <a:xfrm>
              <a:off x="10809403" y="3772400"/>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grpSp>
      <p:sp>
        <p:nvSpPr>
          <p:cNvPr id="2" name="TextBox 1">
            <a:extLst>
              <a:ext uri="{FF2B5EF4-FFF2-40B4-BE49-F238E27FC236}">
                <a16:creationId xmlns:a16="http://schemas.microsoft.com/office/drawing/2014/main" id="{CFA18EA5-E5A9-6043-B7D4-AA1698F72E02}"/>
              </a:ext>
            </a:extLst>
          </p:cNvPr>
          <p:cNvSpPr txBox="1"/>
          <p:nvPr/>
        </p:nvSpPr>
        <p:spPr>
          <a:xfrm>
            <a:off x="8061221" y="2622756"/>
            <a:ext cx="209551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a:ea typeface="+mn-ea"/>
                <a:cs typeface="+mn-cs"/>
              </a:rPr>
              <a:t>explicit congestion info</a:t>
            </a:r>
          </a:p>
        </p:txBody>
      </p:sp>
      <p:sp>
        <p:nvSpPr>
          <p:cNvPr id="133" name="Rectangle 3">
            <a:extLst>
              <a:ext uri="{FF2B5EF4-FFF2-40B4-BE49-F238E27FC236}">
                <a16:creationId xmlns:a16="http://schemas.microsoft.com/office/drawing/2014/main" id="{5D568CC7-EA67-7743-9944-2BC5136F529F}"/>
              </a:ext>
            </a:extLst>
          </p:cNvPr>
          <p:cNvSpPr txBox="1">
            <a:spLocks noChangeArrowheads="1"/>
          </p:cNvSpPr>
          <p:nvPr/>
        </p:nvSpPr>
        <p:spPr>
          <a:xfrm>
            <a:off x="698090" y="1818967"/>
            <a:ext cx="5781368" cy="38214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500" b="0" i="0" u="none" strike="noStrike" kern="1200" cap="none" spc="0" normalizeH="0" baseline="0" noProof="0" dirty="0">
                <a:ln>
                  <a:noFill/>
                </a:ln>
                <a:solidFill>
                  <a:srgbClr val="C00000"/>
                </a:solidFill>
                <a:effectLst/>
                <a:uLnTx/>
                <a:uFillTx/>
                <a:latin typeface="Calibri"/>
                <a:ea typeface="+mn-ea"/>
                <a:cs typeface="+mn-cs"/>
              </a:rPr>
              <a:t>Network-assisted congestion control:</a:t>
            </a:r>
          </a:p>
          <a:p>
            <a:pPr marL="407988"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000" b="0" i="0" u="none" strike="noStrike" kern="1200" cap="none" spc="0" normalizeH="0" baseline="0" noProof="0" dirty="0">
                <a:ln>
                  <a:noFill/>
                </a:ln>
                <a:solidFill>
                  <a:prstClr val="black"/>
                </a:solidFill>
                <a:effectLst/>
                <a:uLnTx/>
                <a:uFillTx/>
                <a:latin typeface="Calibri"/>
                <a:ea typeface="+mn-ea"/>
                <a:cs typeface="+mn-cs"/>
              </a:rPr>
              <a:t>routers provide </a:t>
            </a:r>
            <a:r>
              <a:rPr kumimoji="0" lang="en-US" sz="3000" b="0" i="1" u="none" strike="noStrike" kern="1200" cap="none" spc="0" normalizeH="0" baseline="0" noProof="0" dirty="0">
                <a:ln>
                  <a:noFill/>
                </a:ln>
                <a:solidFill>
                  <a:srgbClr val="C00000"/>
                </a:solidFill>
                <a:effectLst/>
                <a:uLnTx/>
                <a:uFillTx/>
                <a:latin typeface="Calibri"/>
                <a:ea typeface="+mn-ea"/>
                <a:cs typeface="+mn-cs"/>
              </a:rPr>
              <a:t>direct</a:t>
            </a:r>
            <a:r>
              <a:rPr kumimoji="0" lang="en-US" sz="3000" b="0" i="0" u="none" strike="noStrike" kern="1200" cap="none" spc="0" normalizeH="0" baseline="0" noProof="0" dirty="0">
                <a:ln>
                  <a:noFill/>
                </a:ln>
                <a:solidFill>
                  <a:prstClr val="black"/>
                </a:solidFill>
                <a:effectLst/>
                <a:uLnTx/>
                <a:uFillTx/>
                <a:latin typeface="Calibri"/>
                <a:ea typeface="+mn-ea"/>
                <a:cs typeface="+mn-cs"/>
              </a:rPr>
              <a:t> feedback to sending/receiving hosts with flows passing through congested router</a:t>
            </a:r>
          </a:p>
          <a:p>
            <a:pPr marL="407988"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000" b="0" i="0" u="none" strike="noStrike" kern="1200" cap="none" spc="0" normalizeH="0" baseline="0" noProof="0" dirty="0">
                <a:ln>
                  <a:noFill/>
                </a:ln>
                <a:solidFill>
                  <a:prstClr val="black"/>
                </a:solidFill>
                <a:effectLst/>
                <a:uLnTx/>
                <a:uFillTx/>
                <a:latin typeface="Calibri"/>
                <a:ea typeface="+mn-ea"/>
                <a:cs typeface="+mn-cs"/>
              </a:rPr>
              <a:t>may indicate congestion level or explicitly set sending rate</a:t>
            </a:r>
          </a:p>
        </p:txBody>
      </p:sp>
      <p:sp>
        <p:nvSpPr>
          <p:cNvPr id="142" name="Slide Number Placeholder 2">
            <a:extLst>
              <a:ext uri="{FF2B5EF4-FFF2-40B4-BE49-F238E27FC236}">
                <a16:creationId xmlns:a16="http://schemas.microsoft.com/office/drawing/2014/main" id="{2CD52159-2B0E-9F4A-977B-27EEC203D78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48</a:t>
            </a:fld>
            <a:endParaRPr lang="en-US" dirty="0"/>
          </a:p>
        </p:txBody>
      </p:sp>
    </p:spTree>
    <p:extLst>
      <p:ext uri="{BB962C8B-B14F-4D97-AF65-F5344CB8AC3E}">
        <p14:creationId xmlns:p14="http://schemas.microsoft.com/office/powerpoint/2010/main" val="382988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wipe(left)">
                                      <p:cBhvr>
                                        <p:cTn id="7" dur="1000"/>
                                        <p:tgtEl>
                                          <p:spTgt spid="308"/>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313"/>
                                        </p:tgtEl>
                                        <p:attrNameLst>
                                          <p:attrName>style.visibility</p:attrName>
                                        </p:attrNameLst>
                                      </p:cBhvr>
                                      <p:to>
                                        <p:strVal val="visible"/>
                                      </p:to>
                                    </p:set>
                                    <p:animEffect transition="in" filter="wipe(right)">
                                      <p:cBhvr>
                                        <p:cTn id="11" dur="1000"/>
                                        <p:tgtEl>
                                          <p:spTgt spid="3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7289">
                                            <p:txEl>
                                              <p:pRg st="0" end="0"/>
                                            </p:txEl>
                                          </p:spTgt>
                                        </p:tgtEl>
                                        <p:attrNameLst>
                                          <p:attrName>style.visibility</p:attrName>
                                        </p:attrNameLst>
                                      </p:cBhvr>
                                      <p:to>
                                        <p:strVal val="visible"/>
                                      </p:to>
                                    </p:set>
                                    <p:animEffect transition="in" filter="dissolve">
                                      <p:cBhvr>
                                        <p:cTn id="25" dur="500"/>
                                        <p:tgtEl>
                                          <p:spTgt spid="972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9" grpId="0" build="p"/>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lstStyle/>
          <a:p>
            <a:r>
              <a:rPr lang="en-US" altLang="en-US" dirty="0">
                <a:cs typeface="Calibri" panose="020F0502020204030204" pitchFamily="34" charset="0"/>
              </a:rPr>
              <a:t>Chapter 3: roadmap</a:t>
            </a:r>
            <a:endParaRPr lang="en-US"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pPr>
            <a:r>
              <a:rPr lang="en-US" sz="3200" dirty="0"/>
              <a:t>TCP congestion control</a:t>
            </a:r>
          </a:p>
          <a:p>
            <a:pPr marL="403225" indent="-285750">
              <a:spcBef>
                <a:spcPts val="800"/>
              </a:spcBef>
            </a:pPr>
            <a:r>
              <a:rPr lang="en-US" sz="3200" dirty="0">
                <a:solidFill>
                  <a:schemeClr val="bg1">
                    <a:lumMod val="75000"/>
                  </a:schemeClr>
                </a:solidFill>
              </a:rPr>
              <a:t>Evolution of transport-layer functionality</a:t>
            </a:r>
            <a:endParaRPr lang="en-US" sz="3200" dirty="0"/>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7ED4EED6-AA2C-5A44-91DA-4CFB7A4AA241}"/>
              </a:ext>
            </a:extLst>
          </p:cNvPr>
          <p:cNvSpPr>
            <a:spLocks noGrp="1"/>
          </p:cNvSpPr>
          <p:nvPr>
            <p:ph type="sldNum" sz="quarter" idx="4"/>
          </p:nvPr>
        </p:nvSpPr>
        <p:spPr/>
        <p:txBody>
          <a:bodyPr/>
          <a:lstStyle/>
          <a:p>
            <a:r>
              <a:rPr lang="en-US" dirty="0"/>
              <a:t>Transport Layer: 3-</a:t>
            </a:r>
            <a:fld id="{C4204591-24BD-A542-B9D5-F8D8A88D2FEE}" type="slidenum">
              <a:rPr lang="en-US" smtClean="0"/>
              <a:pPr/>
              <a:t>49</a:t>
            </a:fld>
            <a:endParaRPr lang="en-US" dirty="0"/>
          </a:p>
        </p:txBody>
      </p:sp>
      <p:pic>
        <p:nvPicPr>
          <p:cNvPr id="4" name="Picture 3">
            <a:extLst>
              <a:ext uri="{FF2B5EF4-FFF2-40B4-BE49-F238E27FC236}">
                <a16:creationId xmlns:a16="http://schemas.microsoft.com/office/drawing/2014/main" id="{2F0B2E12-89E5-B4BA-02A5-B3AC165FEA31}"/>
              </a:ext>
            </a:extLst>
          </p:cNvPr>
          <p:cNvPicPr>
            <a:picLocks noChangeAspect="1"/>
          </p:cNvPicPr>
          <p:nvPr/>
        </p:nvPicPr>
        <p:blipFill>
          <a:blip r:embed="rId3"/>
          <a:stretch>
            <a:fillRect/>
          </a:stretch>
        </p:blipFill>
        <p:spPr>
          <a:xfrm>
            <a:off x="7823199" y="1791867"/>
            <a:ext cx="3752851" cy="2818233"/>
          </a:xfrm>
          <a:prstGeom prst="rect">
            <a:avLst/>
          </a:prstGeom>
        </p:spPr>
      </p:pic>
    </p:spTree>
    <p:extLst>
      <p:ext uri="{BB962C8B-B14F-4D97-AF65-F5344CB8AC3E}">
        <p14:creationId xmlns:p14="http://schemas.microsoft.com/office/powerpoint/2010/main" val="2352428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dirty="0"/>
              <a:t>TCP congestion control: AIMD</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168400"/>
            <a:ext cx="10274300" cy="144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approach: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senders can</a:t>
            </a:r>
            <a:r>
              <a:rPr kumimoji="0" lang="en-US" sz="2800" b="0" i="1"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increase sending rate until packet loss (congestion) occurs, then decrease sending rate on loss event</a:t>
            </a: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141" name="Text Box 13">
            <a:extLst>
              <a:ext uri="{FF2B5EF4-FFF2-40B4-BE49-F238E27FC236}">
                <a16:creationId xmlns:a16="http://schemas.microsoft.com/office/drawing/2014/main" id="{2FD36304-869C-CE42-8550-F12B5FFE2394}"/>
              </a:ext>
            </a:extLst>
          </p:cNvPr>
          <p:cNvSpPr txBox="1">
            <a:spLocks noChangeArrowheads="1"/>
          </p:cNvSpPr>
          <p:nvPr/>
        </p:nvSpPr>
        <p:spPr bwMode="auto">
          <a:xfrm>
            <a:off x="8688708" y="4380805"/>
            <a:ext cx="2769156" cy="15081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AIMD</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sawtooth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behavior: </a:t>
            </a:r>
            <a:r>
              <a:rPr kumimoji="0" lang="en-US" sz="2800" b="0" i="1"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probing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bandwidth</a:t>
            </a:r>
          </a:p>
        </p:txBody>
      </p:sp>
      <p:sp>
        <p:nvSpPr>
          <p:cNvPr id="35" name="Rectangle 11">
            <a:extLst>
              <a:ext uri="{FF2B5EF4-FFF2-40B4-BE49-F238E27FC236}">
                <a16:creationId xmlns:a16="http://schemas.microsoft.com/office/drawing/2014/main" id="{F39215FA-39B5-484D-8395-F0F1A1C5D622}"/>
              </a:ext>
            </a:extLst>
          </p:cNvPr>
          <p:cNvSpPr>
            <a:spLocks noChangeArrowheads="1"/>
          </p:cNvSpPr>
          <p:nvPr/>
        </p:nvSpPr>
        <p:spPr bwMode="auto">
          <a:xfrm>
            <a:off x="4717339" y="3774454"/>
            <a:ext cx="685800" cy="30480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 name="Line 19">
            <a:extLst>
              <a:ext uri="{FF2B5EF4-FFF2-40B4-BE49-F238E27FC236}">
                <a16:creationId xmlns:a16="http://schemas.microsoft.com/office/drawing/2014/main" id="{D3F6ABF2-92A9-2C40-8D08-91E54606260B}"/>
              </a:ext>
            </a:extLst>
          </p:cNvPr>
          <p:cNvSpPr>
            <a:spLocks noChangeShapeType="1"/>
          </p:cNvSpPr>
          <p:nvPr/>
        </p:nvSpPr>
        <p:spPr bwMode="auto">
          <a:xfrm flipV="1">
            <a:off x="3898189" y="5196854"/>
            <a:ext cx="169863" cy="16986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 name="Line 20">
            <a:extLst>
              <a:ext uri="{FF2B5EF4-FFF2-40B4-BE49-F238E27FC236}">
                <a16:creationId xmlns:a16="http://schemas.microsoft.com/office/drawing/2014/main" id="{38434DE2-13CB-044F-991F-ED186F200404}"/>
              </a:ext>
            </a:extLst>
          </p:cNvPr>
          <p:cNvSpPr>
            <a:spLocks noChangeShapeType="1"/>
          </p:cNvSpPr>
          <p:nvPr/>
        </p:nvSpPr>
        <p:spPr bwMode="auto">
          <a:xfrm>
            <a:off x="4079164" y="5185741"/>
            <a:ext cx="0" cy="64293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8" name="Line 21">
            <a:extLst>
              <a:ext uri="{FF2B5EF4-FFF2-40B4-BE49-F238E27FC236}">
                <a16:creationId xmlns:a16="http://schemas.microsoft.com/office/drawing/2014/main" id="{1937BB13-75B0-4947-8F7E-C69526352422}"/>
              </a:ext>
            </a:extLst>
          </p:cNvPr>
          <p:cNvSpPr>
            <a:spLocks noChangeShapeType="1"/>
          </p:cNvSpPr>
          <p:nvPr/>
        </p:nvSpPr>
        <p:spPr bwMode="auto">
          <a:xfrm flipV="1">
            <a:off x="4068052" y="4869829"/>
            <a:ext cx="982662" cy="9810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9" name="Line 22">
            <a:extLst>
              <a:ext uri="{FF2B5EF4-FFF2-40B4-BE49-F238E27FC236}">
                <a16:creationId xmlns:a16="http://schemas.microsoft.com/office/drawing/2014/main" id="{D3110501-FE57-9545-B9AC-7B103AF98E40}"/>
              </a:ext>
            </a:extLst>
          </p:cNvPr>
          <p:cNvSpPr>
            <a:spLocks noChangeShapeType="1"/>
          </p:cNvSpPr>
          <p:nvPr/>
        </p:nvSpPr>
        <p:spPr bwMode="auto">
          <a:xfrm>
            <a:off x="5039602" y="4871416"/>
            <a:ext cx="0" cy="80168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1" name="Line 23">
            <a:extLst>
              <a:ext uri="{FF2B5EF4-FFF2-40B4-BE49-F238E27FC236}">
                <a16:creationId xmlns:a16="http://schemas.microsoft.com/office/drawing/2014/main" id="{AAAA55BA-D404-204C-AECA-45F566AECF40}"/>
              </a:ext>
            </a:extLst>
          </p:cNvPr>
          <p:cNvSpPr>
            <a:spLocks noChangeShapeType="1"/>
          </p:cNvSpPr>
          <p:nvPr/>
        </p:nvSpPr>
        <p:spPr bwMode="auto">
          <a:xfrm flipV="1">
            <a:off x="5031664" y="5168279"/>
            <a:ext cx="525463" cy="5238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3" name="Line 24">
            <a:extLst>
              <a:ext uri="{FF2B5EF4-FFF2-40B4-BE49-F238E27FC236}">
                <a16:creationId xmlns:a16="http://schemas.microsoft.com/office/drawing/2014/main" id="{43AEBE7F-F2BB-5943-A7EA-ACC4591C9E55}"/>
              </a:ext>
            </a:extLst>
          </p:cNvPr>
          <p:cNvSpPr>
            <a:spLocks noChangeShapeType="1"/>
          </p:cNvSpPr>
          <p:nvPr/>
        </p:nvSpPr>
        <p:spPr bwMode="auto">
          <a:xfrm>
            <a:off x="5557127" y="5163516"/>
            <a:ext cx="0" cy="6889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6F7F0A4B-818C-8448-8543-A37DAD19EABE}"/>
              </a:ext>
            </a:extLst>
          </p:cNvPr>
          <p:cNvSpPr>
            <a:spLocks noChangeShapeType="1"/>
          </p:cNvSpPr>
          <p:nvPr/>
        </p:nvSpPr>
        <p:spPr bwMode="auto">
          <a:xfrm flipV="1">
            <a:off x="5568240" y="4849191"/>
            <a:ext cx="969963" cy="9810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5" name="Line 26">
            <a:extLst>
              <a:ext uri="{FF2B5EF4-FFF2-40B4-BE49-F238E27FC236}">
                <a16:creationId xmlns:a16="http://schemas.microsoft.com/office/drawing/2014/main" id="{19538173-60A5-BC46-A9E4-749776021102}"/>
              </a:ext>
            </a:extLst>
          </p:cNvPr>
          <p:cNvSpPr>
            <a:spLocks noChangeShapeType="1"/>
          </p:cNvSpPr>
          <p:nvPr/>
        </p:nvSpPr>
        <p:spPr bwMode="auto">
          <a:xfrm>
            <a:off x="6533440" y="4849191"/>
            <a:ext cx="11113" cy="83502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6" name="Line 29">
            <a:extLst>
              <a:ext uri="{FF2B5EF4-FFF2-40B4-BE49-F238E27FC236}">
                <a16:creationId xmlns:a16="http://schemas.microsoft.com/office/drawing/2014/main" id="{30FAE305-421D-C042-8E51-7C7D81EEF5FE}"/>
              </a:ext>
            </a:extLst>
          </p:cNvPr>
          <p:cNvSpPr>
            <a:spLocks noChangeShapeType="1"/>
          </p:cNvSpPr>
          <p:nvPr/>
        </p:nvSpPr>
        <p:spPr bwMode="auto">
          <a:xfrm flipV="1">
            <a:off x="6538202" y="5012704"/>
            <a:ext cx="666750" cy="66675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7" name="Line 30">
            <a:extLst>
              <a:ext uri="{FF2B5EF4-FFF2-40B4-BE49-F238E27FC236}">
                <a16:creationId xmlns:a16="http://schemas.microsoft.com/office/drawing/2014/main" id="{031213C2-BAEE-5346-905B-3F89E1716013}"/>
              </a:ext>
            </a:extLst>
          </p:cNvPr>
          <p:cNvSpPr>
            <a:spLocks noChangeShapeType="1"/>
          </p:cNvSpPr>
          <p:nvPr/>
        </p:nvSpPr>
        <p:spPr bwMode="auto">
          <a:xfrm>
            <a:off x="7204952" y="4998416"/>
            <a:ext cx="0" cy="7477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8" name="Line 31">
            <a:extLst>
              <a:ext uri="{FF2B5EF4-FFF2-40B4-BE49-F238E27FC236}">
                <a16:creationId xmlns:a16="http://schemas.microsoft.com/office/drawing/2014/main" id="{AEA390E0-709D-FA45-91DE-52C0460D608A}"/>
              </a:ext>
            </a:extLst>
          </p:cNvPr>
          <p:cNvSpPr>
            <a:spLocks noChangeShapeType="1"/>
          </p:cNvSpPr>
          <p:nvPr/>
        </p:nvSpPr>
        <p:spPr bwMode="auto">
          <a:xfrm flipV="1">
            <a:off x="7195427" y="4746004"/>
            <a:ext cx="876300" cy="10144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53" name="Group 52">
            <a:extLst>
              <a:ext uri="{FF2B5EF4-FFF2-40B4-BE49-F238E27FC236}">
                <a16:creationId xmlns:a16="http://schemas.microsoft.com/office/drawing/2014/main" id="{82C492E2-E058-BD40-8FFC-FCED8F0093C0}"/>
              </a:ext>
            </a:extLst>
          </p:cNvPr>
          <p:cNvGrpSpPr/>
          <p:nvPr/>
        </p:nvGrpSpPr>
        <p:grpSpPr>
          <a:xfrm>
            <a:off x="3439503" y="4254500"/>
            <a:ext cx="4602061" cy="2566366"/>
            <a:chOff x="4099903" y="3937000"/>
            <a:chExt cx="4602061" cy="2566366"/>
          </a:xfrm>
        </p:grpSpPr>
        <p:sp>
          <p:nvSpPr>
            <p:cNvPr id="54" name="Text Box 12">
              <a:extLst>
                <a:ext uri="{FF2B5EF4-FFF2-40B4-BE49-F238E27FC236}">
                  <a16:creationId xmlns:a16="http://schemas.microsoft.com/office/drawing/2014/main" id="{18CC901F-184A-1147-B991-15E650618DC6}"/>
                </a:ext>
              </a:extLst>
            </p:cNvPr>
            <p:cNvSpPr txBox="1">
              <a:spLocks noChangeArrowheads="1"/>
            </p:cNvSpPr>
            <p:nvPr/>
          </p:nvSpPr>
          <p:spPr bwMode="auto">
            <a:xfrm rot="16200000">
              <a:off x="3117142" y="4919761"/>
              <a:ext cx="2273300" cy="307777"/>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TCP sender  Sending rate</a:t>
              </a:r>
            </a:p>
          </p:txBody>
        </p:sp>
        <p:sp>
          <p:nvSpPr>
            <p:cNvPr id="55" name="Line 17">
              <a:extLst>
                <a:ext uri="{FF2B5EF4-FFF2-40B4-BE49-F238E27FC236}">
                  <a16:creationId xmlns:a16="http://schemas.microsoft.com/office/drawing/2014/main" id="{EF2F6AD0-B3EF-0B4C-88EA-BCCC113FD5FC}"/>
                </a:ext>
              </a:extLst>
            </p:cNvPr>
            <p:cNvSpPr>
              <a:spLocks noChangeShapeType="1"/>
            </p:cNvSpPr>
            <p:nvPr/>
          </p:nvSpPr>
          <p:spPr bwMode="auto">
            <a:xfrm>
              <a:off x="4558589" y="6176341"/>
              <a:ext cx="41433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6" name="Line 18">
              <a:extLst>
                <a:ext uri="{FF2B5EF4-FFF2-40B4-BE49-F238E27FC236}">
                  <a16:creationId xmlns:a16="http://schemas.microsoft.com/office/drawing/2014/main" id="{11B2DFEF-102F-D74F-9B47-304A5DF4E68F}"/>
                </a:ext>
              </a:extLst>
            </p:cNvPr>
            <p:cNvSpPr>
              <a:spLocks noChangeShapeType="1"/>
            </p:cNvSpPr>
            <p:nvPr/>
          </p:nvSpPr>
          <p:spPr bwMode="auto">
            <a:xfrm>
              <a:off x="4546600" y="4203700"/>
              <a:ext cx="877" cy="1974229"/>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8" name="Text Box 40">
              <a:extLst>
                <a:ext uri="{FF2B5EF4-FFF2-40B4-BE49-F238E27FC236}">
                  <a16:creationId xmlns:a16="http://schemas.microsoft.com/office/drawing/2014/main" id="{27E5BB5F-DA02-D949-9477-C50B724C7125}"/>
                </a:ext>
              </a:extLst>
            </p:cNvPr>
            <p:cNvSpPr txBox="1">
              <a:spLocks noChangeArrowheads="1"/>
            </p:cNvSpPr>
            <p:nvPr/>
          </p:nvSpPr>
          <p:spPr bwMode="auto">
            <a:xfrm>
              <a:off x="6125452" y="6166816"/>
              <a:ext cx="5762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ahoma" charset="0"/>
                  <a:ea typeface="ＭＳ Ｐゴシック" charset="0"/>
                  <a:cs typeface="+mn-cs"/>
                </a:rPr>
                <a:t>time</a:t>
              </a:r>
            </a:p>
          </p:txBody>
        </p:sp>
      </p:grpSp>
      <p:grpSp>
        <p:nvGrpSpPr>
          <p:cNvPr id="9" name="Group 8">
            <a:extLst>
              <a:ext uri="{FF2B5EF4-FFF2-40B4-BE49-F238E27FC236}">
                <a16:creationId xmlns:a16="http://schemas.microsoft.com/office/drawing/2014/main" id="{CE38AC8E-A4ED-7042-8221-EEFB417FF7BA}"/>
              </a:ext>
            </a:extLst>
          </p:cNvPr>
          <p:cNvGrpSpPr/>
          <p:nvPr/>
        </p:nvGrpSpPr>
        <p:grpSpPr>
          <a:xfrm>
            <a:off x="965200" y="2146300"/>
            <a:ext cx="5054600" cy="1905000"/>
            <a:chOff x="0" y="4533900"/>
            <a:chExt cx="4762500" cy="1905000"/>
          </a:xfrm>
        </p:grpSpPr>
        <p:sp>
          <p:nvSpPr>
            <p:cNvPr id="3" name="Rectangle 2">
              <a:extLst>
                <a:ext uri="{FF2B5EF4-FFF2-40B4-BE49-F238E27FC236}">
                  <a16:creationId xmlns:a16="http://schemas.microsoft.com/office/drawing/2014/main" id="{EA9A0FF2-0607-BD44-8404-E086F64972BE}"/>
                </a:ext>
              </a:extLst>
            </p:cNvPr>
            <p:cNvSpPr/>
            <p:nvPr/>
          </p:nvSpPr>
          <p:spPr>
            <a:xfrm>
              <a:off x="406846" y="4737100"/>
              <a:ext cx="4334880" cy="1435100"/>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0" name="Rectangle 8">
              <a:extLst>
                <a:ext uri="{FF2B5EF4-FFF2-40B4-BE49-F238E27FC236}">
                  <a16:creationId xmlns:a16="http://schemas.microsoft.com/office/drawing/2014/main" id="{83C5ED77-5FA7-AC4C-AB2A-245D62DB4EB6}"/>
                </a:ext>
              </a:extLst>
            </p:cNvPr>
            <p:cNvSpPr>
              <a:spLocks noChangeArrowheads="1"/>
            </p:cNvSpPr>
            <p:nvPr/>
          </p:nvSpPr>
          <p:spPr bwMode="auto">
            <a:xfrm>
              <a:off x="0" y="4991100"/>
              <a:ext cx="4762500" cy="144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a:ea typeface="ＭＳ Ｐゴシック" charset="0"/>
                  <a:cs typeface="+mn-cs"/>
                </a:rPr>
                <a:t>increase sending rate </a:t>
              </a:r>
              <a:r>
                <a:rPr kumimoji="0" lang="en-US" sz="2600" b="0" i="0" u="none" strike="noStrike" kern="1200" cap="none" spc="0" normalizeH="0" baseline="0" noProof="0" dirty="0">
                  <a:ln>
                    <a:noFill/>
                  </a:ln>
                  <a:solidFill>
                    <a:prstClr val="black"/>
                  </a:solidFill>
                  <a:effectLst/>
                  <a:uLnTx/>
                  <a:uFillTx/>
                  <a:latin typeface="Gill Sans MT" charset="0"/>
                  <a:ea typeface="ＭＳ Ｐゴシック" charset="0"/>
                  <a:cs typeface="+mn-cs"/>
                </a:rPr>
                <a:t>by </a:t>
              </a: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 maximum segment size every RTT until loss detected</a:t>
              </a:r>
              <a:endParaRPr kumimoji="0" lang="en-US" sz="26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36" name="Rectangle 8">
              <a:extLst>
                <a:ext uri="{FF2B5EF4-FFF2-40B4-BE49-F238E27FC236}">
                  <a16:creationId xmlns:a16="http://schemas.microsoft.com/office/drawing/2014/main" id="{91ECB6E6-4418-7243-B13D-E7E4DAE72D34}"/>
                </a:ext>
              </a:extLst>
            </p:cNvPr>
            <p:cNvSpPr>
              <a:spLocks noChangeArrowheads="1"/>
            </p:cNvSpPr>
            <p:nvPr/>
          </p:nvSpPr>
          <p:spPr bwMode="auto">
            <a:xfrm>
              <a:off x="508000" y="4533900"/>
              <a:ext cx="2667000" cy="444500"/>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A</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dditive </a:t>
              </a: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I</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ncrease</a:t>
              </a:r>
              <a:endParaRPr kumimoji="0" lang="en-US" sz="2800" b="0" i="0" u="none" strike="noStrike" kern="1200" cap="none" spc="0" normalizeH="0" baseline="0" noProof="0" dirty="0">
                <a:ln>
                  <a:noFill/>
                </a:ln>
                <a:solidFill>
                  <a:srgbClr val="00B050"/>
                </a:solidFill>
                <a:effectLst/>
                <a:uLnTx/>
                <a:uFillTx/>
                <a:latin typeface="Gill Sans MT" charset="0"/>
                <a:ea typeface="ＭＳ Ｐゴシック" charset="0"/>
                <a:cs typeface="+mn-cs"/>
              </a:endParaRPr>
            </a:p>
          </p:txBody>
        </p:sp>
      </p:grpSp>
      <p:grpSp>
        <p:nvGrpSpPr>
          <p:cNvPr id="63" name="Group 62">
            <a:extLst>
              <a:ext uri="{FF2B5EF4-FFF2-40B4-BE49-F238E27FC236}">
                <a16:creationId xmlns:a16="http://schemas.microsoft.com/office/drawing/2014/main" id="{29F4C833-80E3-E14A-98F5-D02EBF4C0AC6}"/>
              </a:ext>
            </a:extLst>
          </p:cNvPr>
          <p:cNvGrpSpPr/>
          <p:nvPr/>
        </p:nvGrpSpPr>
        <p:grpSpPr>
          <a:xfrm>
            <a:off x="6007100" y="2197100"/>
            <a:ext cx="4749800" cy="1422400"/>
            <a:chOff x="38100" y="4533900"/>
            <a:chExt cx="4749800" cy="1422400"/>
          </a:xfrm>
        </p:grpSpPr>
        <p:sp>
          <p:nvSpPr>
            <p:cNvPr id="64" name="Rectangle 63">
              <a:extLst>
                <a:ext uri="{FF2B5EF4-FFF2-40B4-BE49-F238E27FC236}">
                  <a16:creationId xmlns:a16="http://schemas.microsoft.com/office/drawing/2014/main" id="{7ED9889A-D576-6948-99EB-B6AAAAF94FF1}"/>
                </a:ext>
              </a:extLst>
            </p:cNvPr>
            <p:cNvSpPr/>
            <p:nvPr/>
          </p:nvSpPr>
          <p:spPr>
            <a:xfrm>
              <a:off x="342900" y="4686300"/>
              <a:ext cx="4267200" cy="12700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5" name="Rectangle 8">
              <a:extLst>
                <a:ext uri="{FF2B5EF4-FFF2-40B4-BE49-F238E27FC236}">
                  <a16:creationId xmlns:a16="http://schemas.microsoft.com/office/drawing/2014/main" id="{12492D08-6387-3C44-BE8F-DFB7A535E296}"/>
                </a:ext>
              </a:extLst>
            </p:cNvPr>
            <p:cNvSpPr>
              <a:spLocks noChangeArrowheads="1"/>
            </p:cNvSpPr>
            <p:nvPr/>
          </p:nvSpPr>
          <p:spPr bwMode="auto">
            <a:xfrm>
              <a:off x="38100" y="4991100"/>
              <a:ext cx="4749800" cy="825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sending rate in half at each loss event</a:t>
              </a:r>
              <a:endParaRPr kumimoji="0" lang="en-US" sz="2600" b="0" i="1" u="none" strike="noStrike" kern="1200" cap="none" spc="0" normalizeH="0" baseline="0" noProof="0" dirty="0">
                <a:ln>
                  <a:noFill/>
                </a:ln>
                <a:solidFill>
                  <a:prstClr val="black"/>
                </a:solidFill>
                <a:effectLst/>
                <a:uLnTx/>
                <a:uFillTx/>
                <a:latin typeface="Calibri"/>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66" name="Rectangle 8">
              <a:extLst>
                <a:ext uri="{FF2B5EF4-FFF2-40B4-BE49-F238E27FC236}">
                  <a16:creationId xmlns:a16="http://schemas.microsoft.com/office/drawing/2014/main" id="{4FA342B4-82DA-FE44-A283-F18BBA2F6E1B}"/>
                </a:ext>
              </a:extLst>
            </p:cNvPr>
            <p:cNvSpPr>
              <a:spLocks noChangeArrowheads="1"/>
            </p:cNvSpPr>
            <p:nvPr/>
          </p:nvSpPr>
          <p:spPr bwMode="auto">
            <a:xfrm>
              <a:off x="508000" y="4533900"/>
              <a:ext cx="3746500" cy="444500"/>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ultiplicative </a:t>
              </a: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D</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ecrease</a:t>
              </a:r>
              <a:endParaRPr kumimoji="0" lang="en-US" sz="2800" b="0" i="0" u="none" strike="noStrike" kern="1200" cap="none" spc="0" normalizeH="0" baseline="0" noProof="0" dirty="0">
                <a:ln>
                  <a:noFill/>
                </a:ln>
                <a:solidFill>
                  <a:srgbClr val="C00000"/>
                </a:solidFill>
                <a:effectLst/>
                <a:uLnTx/>
                <a:uFillTx/>
                <a:latin typeface="Gill Sans MT" charset="0"/>
                <a:ea typeface="ＭＳ Ｐゴシック" charset="0"/>
                <a:cs typeface="+mn-cs"/>
              </a:endParaRPr>
            </a:p>
          </p:txBody>
        </p:sp>
      </p:grpSp>
      <p:grpSp>
        <p:nvGrpSpPr>
          <p:cNvPr id="33" name="Group 32">
            <a:extLst>
              <a:ext uri="{FF2B5EF4-FFF2-40B4-BE49-F238E27FC236}">
                <a16:creationId xmlns:a16="http://schemas.microsoft.com/office/drawing/2014/main" id="{08B9E571-5EFE-DF45-ABEE-F217088B731C}"/>
              </a:ext>
            </a:extLst>
          </p:cNvPr>
          <p:cNvGrpSpPr/>
          <p:nvPr/>
        </p:nvGrpSpPr>
        <p:grpSpPr>
          <a:xfrm>
            <a:off x="3952943" y="3784600"/>
            <a:ext cx="3599234" cy="1591283"/>
            <a:chOff x="3965643" y="3797300"/>
            <a:chExt cx="3599234" cy="1591283"/>
          </a:xfrm>
        </p:grpSpPr>
        <p:grpSp>
          <p:nvGrpSpPr>
            <p:cNvPr id="32" name="Group 31">
              <a:extLst>
                <a:ext uri="{FF2B5EF4-FFF2-40B4-BE49-F238E27FC236}">
                  <a16:creationId xmlns:a16="http://schemas.microsoft.com/office/drawing/2014/main" id="{B98081F5-35B5-A849-A6DC-D92ECEF0752A}"/>
                </a:ext>
              </a:extLst>
            </p:cNvPr>
            <p:cNvGrpSpPr/>
            <p:nvPr/>
          </p:nvGrpSpPr>
          <p:grpSpPr>
            <a:xfrm>
              <a:off x="3965643" y="4159386"/>
              <a:ext cx="3599234" cy="1229197"/>
              <a:chOff x="3965643" y="4159386"/>
              <a:chExt cx="3599234" cy="1229197"/>
            </a:xfrm>
          </p:grpSpPr>
          <p:cxnSp>
            <p:nvCxnSpPr>
              <p:cNvPr id="11" name="Straight Arrow Connector 10">
                <a:extLst>
                  <a:ext uri="{FF2B5EF4-FFF2-40B4-BE49-F238E27FC236}">
                    <a16:creationId xmlns:a16="http://schemas.microsoft.com/office/drawing/2014/main" id="{01079667-0DAA-D94E-A312-DB3C9977FD14}"/>
                  </a:ext>
                </a:extLst>
              </p:cNvPr>
              <p:cNvCxnSpPr>
                <a:cxnSpLocks/>
              </p:cNvCxnSpPr>
              <p:nvPr/>
            </p:nvCxnSpPr>
            <p:spPr>
              <a:xfrm>
                <a:off x="3972128" y="4163438"/>
                <a:ext cx="0" cy="10562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4E7717F-1A0D-FF4E-812D-3FD618E53878}"/>
                  </a:ext>
                </a:extLst>
              </p:cNvPr>
              <p:cNvCxnSpPr>
                <a:cxnSpLocks/>
              </p:cNvCxnSpPr>
              <p:nvPr/>
            </p:nvCxnSpPr>
            <p:spPr>
              <a:xfrm>
                <a:off x="4480128" y="4163438"/>
                <a:ext cx="0" cy="12213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D125F63-AD27-6B45-AE19-4ABD9BFAAB03}"/>
                  </a:ext>
                </a:extLst>
              </p:cNvPr>
              <p:cNvCxnSpPr>
                <a:cxnSpLocks/>
              </p:cNvCxnSpPr>
              <p:nvPr/>
            </p:nvCxnSpPr>
            <p:spPr>
              <a:xfrm>
                <a:off x="5295630" y="4163438"/>
                <a:ext cx="0" cy="122514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72EFC86-C803-E843-B374-808FCECBC349}"/>
                  </a:ext>
                </a:extLst>
              </p:cNvPr>
              <p:cNvCxnSpPr>
                <a:cxnSpLocks/>
              </p:cNvCxnSpPr>
              <p:nvPr/>
            </p:nvCxnSpPr>
            <p:spPr>
              <a:xfrm>
                <a:off x="5964941" y="4171542"/>
                <a:ext cx="0" cy="120433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19D5D13-5D07-4C47-B49B-8AC41BCDCFBB}"/>
                  </a:ext>
                </a:extLst>
              </p:cNvPr>
              <p:cNvCxnSpPr>
                <a:cxnSpLocks/>
              </p:cNvCxnSpPr>
              <p:nvPr/>
            </p:nvCxnSpPr>
            <p:spPr>
              <a:xfrm>
                <a:off x="6794500" y="4165056"/>
                <a:ext cx="0" cy="11938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49C30FB-E09A-8645-AF59-0F93ED23D5ED}"/>
                  </a:ext>
                </a:extLst>
              </p:cNvPr>
              <p:cNvCxnSpPr>
                <a:cxnSpLocks/>
              </p:cNvCxnSpPr>
              <p:nvPr/>
            </p:nvCxnSpPr>
            <p:spPr>
              <a:xfrm>
                <a:off x="7559743" y="4159386"/>
                <a:ext cx="0" cy="110652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E80244-8AE8-9244-8BD7-F7A494EF70AA}"/>
                  </a:ext>
                </a:extLst>
              </p:cNvPr>
              <p:cNvCxnSpPr>
                <a:cxnSpLocks/>
              </p:cNvCxnSpPr>
              <p:nvPr/>
            </p:nvCxnSpPr>
            <p:spPr>
              <a:xfrm>
                <a:off x="3965643" y="4162357"/>
                <a:ext cx="3599234"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CA3311EB-6DA1-BE40-8300-E0A7E76CCC9C}"/>
                </a:ext>
              </a:extLst>
            </p:cNvPr>
            <p:cNvCxnSpPr/>
            <p:nvPr/>
          </p:nvCxnSpPr>
          <p:spPr>
            <a:xfrm>
              <a:off x="5651500" y="3797300"/>
              <a:ext cx="0" cy="3810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46745885-D0C9-5C4A-8189-6C1C08532D61}"/>
              </a:ext>
            </a:extLst>
          </p:cNvPr>
          <p:cNvGrpSpPr/>
          <p:nvPr/>
        </p:nvGrpSpPr>
        <p:grpSpPr>
          <a:xfrm>
            <a:off x="4108450" y="3622675"/>
            <a:ext cx="3819526" cy="1695450"/>
            <a:chOff x="4108450" y="3622675"/>
            <a:chExt cx="3819526" cy="1695450"/>
          </a:xfrm>
        </p:grpSpPr>
        <p:grpSp>
          <p:nvGrpSpPr>
            <p:cNvPr id="85" name="Group 84">
              <a:extLst>
                <a:ext uri="{FF2B5EF4-FFF2-40B4-BE49-F238E27FC236}">
                  <a16:creationId xmlns:a16="http://schemas.microsoft.com/office/drawing/2014/main" id="{CE8174FE-3375-6647-833E-1BBA1779B8E0}"/>
                </a:ext>
              </a:extLst>
            </p:cNvPr>
            <p:cNvGrpSpPr/>
            <p:nvPr/>
          </p:nvGrpSpPr>
          <p:grpSpPr>
            <a:xfrm>
              <a:off x="4108450" y="3975100"/>
              <a:ext cx="3819526" cy="1343025"/>
              <a:chOff x="4108450" y="3975100"/>
              <a:chExt cx="3819526" cy="1343025"/>
            </a:xfrm>
          </p:grpSpPr>
          <p:cxnSp>
            <p:nvCxnSpPr>
              <p:cNvPr id="61" name="Straight Arrow Connector 60">
                <a:extLst>
                  <a:ext uri="{FF2B5EF4-FFF2-40B4-BE49-F238E27FC236}">
                    <a16:creationId xmlns:a16="http://schemas.microsoft.com/office/drawing/2014/main" id="{D9182BCB-9C63-4F4E-9BFE-C6ED53E7206A}"/>
                  </a:ext>
                </a:extLst>
              </p:cNvPr>
              <p:cNvCxnSpPr>
                <a:cxnSpLocks/>
              </p:cNvCxnSpPr>
              <p:nvPr/>
            </p:nvCxnSpPr>
            <p:spPr>
              <a:xfrm flipH="1">
                <a:off x="7245350" y="3981450"/>
                <a:ext cx="679450" cy="125412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3A530988-F896-F240-A4FD-4D4D80C11F42}"/>
                  </a:ext>
                </a:extLst>
              </p:cNvPr>
              <p:cNvCxnSpPr>
                <a:cxnSpLocks/>
              </p:cNvCxnSpPr>
              <p:nvPr/>
            </p:nvCxnSpPr>
            <p:spPr>
              <a:xfrm flipH="1">
                <a:off x="4108450" y="3975100"/>
                <a:ext cx="3816350" cy="13398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6D2A9933-F916-0E46-A509-25FD8F001806}"/>
                  </a:ext>
                </a:extLst>
              </p:cNvPr>
              <p:cNvCxnSpPr>
                <a:cxnSpLocks/>
              </p:cNvCxnSpPr>
              <p:nvPr/>
            </p:nvCxnSpPr>
            <p:spPr>
              <a:xfrm flipH="1">
                <a:off x="5070475" y="3978275"/>
                <a:ext cx="2854325" cy="129857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BDE4AE1E-DD47-A648-8E75-B628D3E56B38}"/>
                  </a:ext>
                </a:extLst>
              </p:cNvPr>
              <p:cNvCxnSpPr>
                <a:cxnSpLocks/>
              </p:cNvCxnSpPr>
              <p:nvPr/>
            </p:nvCxnSpPr>
            <p:spPr>
              <a:xfrm flipH="1">
                <a:off x="5607050" y="3984625"/>
                <a:ext cx="2320926" cy="13335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2C801921-8F99-4345-AADF-C79B5379ABCC}"/>
                  </a:ext>
                </a:extLst>
              </p:cNvPr>
              <p:cNvCxnSpPr>
                <a:cxnSpLocks/>
              </p:cNvCxnSpPr>
              <p:nvPr/>
            </p:nvCxnSpPr>
            <p:spPr>
              <a:xfrm flipH="1">
                <a:off x="6565900" y="3984625"/>
                <a:ext cx="1358900" cy="11938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id="{E7A7E738-8F7C-B641-98A4-26125EAB1AA9}"/>
                </a:ext>
              </a:extLst>
            </p:cNvPr>
            <p:cNvCxnSpPr/>
            <p:nvPr/>
          </p:nvCxnSpPr>
          <p:spPr>
            <a:xfrm flipV="1">
              <a:off x="7921625" y="3622675"/>
              <a:ext cx="0" cy="35877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9" name="Slide Number Placeholder 2">
            <a:extLst>
              <a:ext uri="{FF2B5EF4-FFF2-40B4-BE49-F238E27FC236}">
                <a16:creationId xmlns:a16="http://schemas.microsoft.com/office/drawing/2014/main" id="{F67FBF66-1006-C849-9ABA-320AB4C17D7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50</a:t>
            </a:fld>
            <a:endParaRPr lang="en-US" dirty="0"/>
          </a:p>
        </p:txBody>
      </p:sp>
    </p:spTree>
    <p:extLst>
      <p:ext uri="{BB962C8B-B14F-4D97-AF65-F5344CB8AC3E}">
        <p14:creationId xmlns:p14="http://schemas.microsoft.com/office/powerpoint/2010/main" val="9389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up)">
                                      <p:cBhvr>
                                        <p:cTn id="24" dur="500"/>
                                        <p:tgtEl>
                                          <p:spTgt spid="3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up)">
                                      <p:cBhvr>
                                        <p:cTn id="32" dur="500"/>
                                        <p:tgtEl>
                                          <p:spTgt spid="43"/>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par>
                          <p:cTn id="58" fill="hold">
                            <p:stCondLst>
                              <p:cond delay="500"/>
                            </p:stCondLst>
                            <p:childTnLst>
                              <p:par>
                                <p:cTn id="59" presetID="22" presetClass="entr" presetSubtype="1" fill="hold" nodeType="afterEffect">
                                  <p:stCondLst>
                                    <p:cond delay="100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dissolve">
                                      <p:cBhvr>
                                        <p:cTn id="66" dur="500"/>
                                        <p:tgtEl>
                                          <p:spTgt spid="63"/>
                                        </p:tgtEl>
                                      </p:cBhvr>
                                    </p:animEffect>
                                  </p:childTnLst>
                                </p:cTn>
                              </p:par>
                              <p:par>
                                <p:cTn id="67" presetID="9" presetClass="exit" presetSubtype="0" fill="hold" nodeType="withEffect">
                                  <p:stCondLst>
                                    <p:cond delay="0"/>
                                  </p:stCondLst>
                                  <p:childTnLst>
                                    <p:animEffect transition="out" filter="dissolv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88"/>
                                        </p:tgtEl>
                                        <p:attrNameLst>
                                          <p:attrName>style.visibility</p:attrName>
                                        </p:attrNameLst>
                                      </p:cBhvr>
                                      <p:to>
                                        <p:strVal val="visible"/>
                                      </p:to>
                                    </p:set>
                                    <p:animEffect transition="in" filter="wipe(up)">
                                      <p:cBhvr>
                                        <p:cTn id="73" dur="50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dissolve">
                                      <p:cBhvr>
                                        <p:cTn id="78" dur="500"/>
                                        <p:tgtEl>
                                          <p:spTgt spid="141"/>
                                        </p:tgtEl>
                                      </p:cBhvr>
                                    </p:animEffect>
                                  </p:childTnLst>
                                </p:cTn>
                              </p:par>
                              <p:par>
                                <p:cTn id="79" presetID="9" presetClass="exit" presetSubtype="0" fill="hold" nodeType="withEffect">
                                  <p:stCondLst>
                                    <p:cond delay="0"/>
                                  </p:stCondLst>
                                  <p:childTnLst>
                                    <p:animEffect transition="out" filter="dissolve">
                                      <p:cBhvr>
                                        <p:cTn id="80" dur="500"/>
                                        <p:tgtEl>
                                          <p:spTgt spid="88"/>
                                        </p:tgtEl>
                                      </p:cBhvr>
                                    </p:animEffect>
                                    <p:set>
                                      <p:cBhvr>
                                        <p:cTn id="81" dur="1" fill="hold">
                                          <p:stCondLst>
                                            <p:cond delay="4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36" grpId="0" animBg="1"/>
      <p:bldP spid="37" grpId="0" animBg="1"/>
      <p:bldP spid="38" grpId="0" animBg="1"/>
      <p:bldP spid="39" grpId="0" animBg="1"/>
      <p:bldP spid="41" grpId="0" animBg="1"/>
      <p:bldP spid="43" grpId="0" animBg="1"/>
      <p:bldP spid="44" grpId="0" animBg="1"/>
      <p:bldP spid="45" grpId="0" animBg="1"/>
      <p:bldP spid="46" grpId="0" animBg="1"/>
      <p:bldP spid="47" grpId="0" animBg="1"/>
      <p:bldP spid="4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b="0" dirty="0"/>
              <a:t>TCP AIMD: more</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361440"/>
            <a:ext cx="9847580" cy="17678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Multiplicative decrease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detail:  sending rate is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in half on loss detected by triple duplicate ACK (TCP Reno)</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to 1 MSS (maximum segment size) when loss detected by timeout (TCP Tahoe)</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49" name="Rectangle 8">
            <a:extLst>
              <a:ext uri="{FF2B5EF4-FFF2-40B4-BE49-F238E27FC236}">
                <a16:creationId xmlns:a16="http://schemas.microsoft.com/office/drawing/2014/main" id="{FEB15F8D-408A-A649-8405-2EA6EA738400}"/>
              </a:ext>
            </a:extLst>
          </p:cNvPr>
          <p:cNvSpPr>
            <a:spLocks noChangeArrowheads="1"/>
          </p:cNvSpPr>
          <p:nvPr/>
        </p:nvSpPr>
        <p:spPr bwMode="auto">
          <a:xfrm>
            <a:off x="861060" y="3362960"/>
            <a:ext cx="9847580" cy="17678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Why</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A</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a:t>
            </a:r>
            <a:r>
              <a:rPr kumimoji="0" lang="en-US" sz="2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AIMD – a distributed, asynchronous algorithm – has been shown to:</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optimize congested flow rates network wide [Kelly]!</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have desirable stability properties</a:t>
            </a:r>
          </a:p>
          <a:p>
            <a:pPr marL="10160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5" name="Slide Number Placeholder 2">
            <a:extLst>
              <a:ext uri="{FF2B5EF4-FFF2-40B4-BE49-F238E27FC236}">
                <a16:creationId xmlns:a16="http://schemas.microsoft.com/office/drawing/2014/main" id="{1DCE9A74-28EC-4B49-833C-3052DE20980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51</a:t>
            </a:fld>
            <a:endParaRPr lang="en-US" dirty="0"/>
          </a:p>
        </p:txBody>
      </p:sp>
    </p:spTree>
    <p:extLst>
      <p:ext uri="{BB962C8B-B14F-4D97-AF65-F5344CB8AC3E}">
        <p14:creationId xmlns:p14="http://schemas.microsoft.com/office/powerpoint/2010/main" val="2130915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59443"/>
            <a:ext cx="11393310" cy="894622"/>
          </a:xfrm>
        </p:spPr>
        <p:txBody>
          <a:bodyPr>
            <a:normAutofit/>
          </a:bodyPr>
          <a:lstStyle/>
          <a:p>
            <a:r>
              <a:rPr lang="en-US" sz="4800" dirty="0"/>
              <a:t>TCP congestion control: details</a:t>
            </a:r>
            <a:endParaRPr lang="en-US" sz="4400" b="0" dirty="0"/>
          </a:p>
        </p:txBody>
      </p:sp>
      <p:grpSp>
        <p:nvGrpSpPr>
          <p:cNvPr id="6" name="Group 5">
            <a:extLst>
              <a:ext uri="{FF2B5EF4-FFF2-40B4-BE49-F238E27FC236}">
                <a16:creationId xmlns:a16="http://schemas.microsoft.com/office/drawing/2014/main" id="{E52FB642-7743-D04C-959D-0819117703FA}"/>
              </a:ext>
            </a:extLst>
          </p:cNvPr>
          <p:cNvGrpSpPr/>
          <p:nvPr/>
        </p:nvGrpSpPr>
        <p:grpSpPr>
          <a:xfrm>
            <a:off x="1116489" y="4838128"/>
            <a:ext cx="10034111" cy="1695450"/>
            <a:chOff x="1116489" y="4838128"/>
            <a:chExt cx="10034111" cy="1695450"/>
          </a:xfrm>
        </p:grpSpPr>
        <p:sp>
          <p:nvSpPr>
            <p:cNvPr id="17" name="Rectangle 16">
              <a:extLst>
                <a:ext uri="{FF2B5EF4-FFF2-40B4-BE49-F238E27FC236}">
                  <a16:creationId xmlns:a16="http://schemas.microsoft.com/office/drawing/2014/main" id="{0C3AD1E1-01ED-504A-8B9E-72DE11AF70D1}"/>
                </a:ext>
              </a:extLst>
            </p:cNvPr>
            <p:cNvSpPr/>
            <p:nvPr/>
          </p:nvSpPr>
          <p:spPr>
            <a:xfrm>
              <a:off x="5989208" y="4895568"/>
              <a:ext cx="5161392" cy="3651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 name="Rectangle 3">
              <a:extLst>
                <a:ext uri="{FF2B5EF4-FFF2-40B4-BE49-F238E27FC236}">
                  <a16:creationId xmlns:a16="http://schemas.microsoft.com/office/drawing/2014/main" id="{A0DE5D89-38AB-C14E-891D-428C6A0ADF69}"/>
                </a:ext>
              </a:extLst>
            </p:cNvPr>
            <p:cNvSpPr txBox="1">
              <a:spLocks noChangeArrowheads="1"/>
            </p:cNvSpPr>
            <p:nvPr/>
          </p:nvSpPr>
          <p:spPr bwMode="auto">
            <a:xfrm>
              <a:off x="1116489" y="4838128"/>
              <a:ext cx="9628822" cy="1695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sender limits transmission:</a:t>
              </a:r>
            </a:p>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 </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is dynamically adjusted in response to observed network congestion (implementing TCP congestion control)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grpSp>
          <p:nvGrpSpPr>
            <p:cNvPr id="16" name="Group 15">
              <a:extLst>
                <a:ext uri="{FF2B5EF4-FFF2-40B4-BE49-F238E27FC236}">
                  <a16:creationId xmlns:a16="http://schemas.microsoft.com/office/drawing/2014/main" id="{33A34342-F85F-A641-8C18-F113159FACD0}"/>
                </a:ext>
              </a:extLst>
            </p:cNvPr>
            <p:cNvGrpSpPr/>
            <p:nvPr/>
          </p:nvGrpSpPr>
          <p:grpSpPr>
            <a:xfrm>
              <a:off x="6040008" y="4887177"/>
              <a:ext cx="4888123" cy="397144"/>
              <a:chOff x="5614194" y="4809655"/>
              <a:chExt cx="4888123" cy="397144"/>
            </a:xfrm>
          </p:grpSpPr>
          <p:sp>
            <p:nvSpPr>
              <p:cNvPr id="181" name="Text Box 71">
                <a:extLst>
                  <a:ext uri="{FF2B5EF4-FFF2-40B4-BE49-F238E27FC236}">
                    <a16:creationId xmlns:a16="http://schemas.microsoft.com/office/drawing/2014/main" id="{77C08B5B-9AE1-D240-830E-26ECD6D1665B}"/>
                  </a:ext>
                </a:extLst>
              </p:cNvPr>
              <p:cNvSpPr txBox="1">
                <a:spLocks noChangeArrowheads="1"/>
              </p:cNvSpPr>
              <p:nvPr/>
            </p:nvSpPr>
            <p:spPr bwMode="auto">
              <a:xfrm>
                <a:off x="5614194" y="4868630"/>
                <a:ext cx="4395788" cy="3381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25425" marR="0" lvl="0" indent="-225425"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LastByteSent- LastByteAcked</a:t>
                </a:r>
                <a:endParaRPr kumimoji="0" lang="en-US" sz="18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nvGrpSpPr>
              <p:cNvPr id="15" name="Group 14">
                <a:extLst>
                  <a:ext uri="{FF2B5EF4-FFF2-40B4-BE49-F238E27FC236}">
                    <a16:creationId xmlns:a16="http://schemas.microsoft.com/office/drawing/2014/main" id="{FED586FE-6CBA-AA48-85C7-A1A11BDABF7D}"/>
                  </a:ext>
                </a:extLst>
              </p:cNvPr>
              <p:cNvGrpSpPr/>
              <p:nvPr/>
            </p:nvGrpSpPr>
            <p:grpSpPr>
              <a:xfrm>
                <a:off x="9416467" y="4809655"/>
                <a:ext cx="1085850" cy="366713"/>
                <a:chOff x="7709188" y="4768381"/>
                <a:chExt cx="1085850" cy="366713"/>
              </a:xfrm>
            </p:grpSpPr>
            <p:grpSp>
              <p:nvGrpSpPr>
                <p:cNvPr id="182" name="Group 74">
                  <a:extLst>
                    <a:ext uri="{FF2B5EF4-FFF2-40B4-BE49-F238E27FC236}">
                      <a16:creationId xmlns:a16="http://schemas.microsoft.com/office/drawing/2014/main" id="{059D1AF2-00E8-024F-B782-BBF97100FEB7}"/>
                    </a:ext>
                  </a:extLst>
                </p:cNvPr>
                <p:cNvGrpSpPr>
                  <a:grpSpLocks/>
                </p:cNvGrpSpPr>
                <p:nvPr/>
              </p:nvGrpSpPr>
              <p:grpSpPr bwMode="auto">
                <a:xfrm>
                  <a:off x="7709188" y="4789019"/>
                  <a:ext cx="350837" cy="336550"/>
                  <a:chOff x="2059" y="2097"/>
                  <a:chExt cx="221" cy="212"/>
                </a:xfrm>
              </p:grpSpPr>
              <p:sp>
                <p:nvSpPr>
                  <p:cNvPr id="183" name="Text Box 72">
                    <a:extLst>
                      <a:ext uri="{FF2B5EF4-FFF2-40B4-BE49-F238E27FC236}">
                        <a16:creationId xmlns:a16="http://schemas.microsoft.com/office/drawing/2014/main" id="{50EA1644-3183-7A41-97FA-03AEA0F526B2}"/>
                      </a:ext>
                    </a:extLst>
                  </p:cNvPr>
                  <p:cNvSpPr txBox="1">
                    <a:spLocks noChangeArrowheads="1"/>
                  </p:cNvSpPr>
                  <p:nvPr/>
                </p:nvSpPr>
                <p:spPr bwMode="auto">
                  <a:xfrm>
                    <a:off x="2059" y="2097"/>
                    <a:ext cx="22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Tahoma" charset="0"/>
                        <a:ea typeface="ＭＳ Ｐゴシック" charset="0"/>
                        <a:cs typeface="+mn-cs"/>
                      </a:rPr>
                      <a:t>&lt;</a:t>
                    </a:r>
                  </a:p>
                </p:txBody>
              </p:sp>
              <p:sp>
                <p:nvSpPr>
                  <p:cNvPr id="184" name="Line 73">
                    <a:extLst>
                      <a:ext uri="{FF2B5EF4-FFF2-40B4-BE49-F238E27FC236}">
                        <a16:creationId xmlns:a16="http://schemas.microsoft.com/office/drawing/2014/main" id="{B966005D-C4C4-C547-86E3-65FDA3A33E10}"/>
                      </a:ext>
                    </a:extLst>
                  </p:cNvPr>
                  <p:cNvSpPr>
                    <a:spLocks noChangeShapeType="1"/>
                  </p:cNvSpPr>
                  <p:nvPr/>
                </p:nvSpPr>
                <p:spPr bwMode="auto">
                  <a:xfrm>
                    <a:off x="2133" y="2269"/>
                    <a:ext cx="8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5" name="Text Box 75">
                  <a:extLst>
                    <a:ext uri="{FF2B5EF4-FFF2-40B4-BE49-F238E27FC236}">
                      <a16:creationId xmlns:a16="http://schemas.microsoft.com/office/drawing/2014/main" id="{4F80A37A-B578-A447-95BD-D5D7AC31E664}"/>
                    </a:ext>
                  </a:extLst>
                </p:cNvPr>
                <p:cNvSpPr txBox="1">
                  <a:spLocks noChangeArrowheads="1"/>
                </p:cNvSpPr>
                <p:nvPr/>
              </p:nvSpPr>
              <p:spPr bwMode="auto">
                <a:xfrm>
                  <a:off x="8064788" y="4768381"/>
                  <a:ext cx="7302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cwnd</a:t>
                  </a:r>
                </a:p>
              </p:txBody>
            </p:sp>
          </p:grpSp>
        </p:grpSp>
      </p:grpSp>
      <p:sp>
        <p:nvSpPr>
          <p:cNvPr id="165" name="Rectangle 47">
            <a:extLst>
              <a:ext uri="{FF2B5EF4-FFF2-40B4-BE49-F238E27FC236}">
                <a16:creationId xmlns:a16="http://schemas.microsoft.com/office/drawing/2014/main" id="{DE6B816E-28FD-F042-BAC6-6005321F7326}"/>
              </a:ext>
            </a:extLst>
          </p:cNvPr>
          <p:cNvSpPr>
            <a:spLocks noChangeArrowheads="1"/>
          </p:cNvSpPr>
          <p:nvPr/>
        </p:nvSpPr>
        <p:spPr bwMode="auto">
          <a:xfrm>
            <a:off x="1314221" y="2927773"/>
            <a:ext cx="4503412" cy="10754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1" name="Group 10">
            <a:extLst>
              <a:ext uri="{FF2B5EF4-FFF2-40B4-BE49-F238E27FC236}">
                <a16:creationId xmlns:a16="http://schemas.microsoft.com/office/drawing/2014/main" id="{C2EB66EB-894C-A043-A360-C60A865F68A4}"/>
              </a:ext>
            </a:extLst>
          </p:cNvPr>
          <p:cNvGrpSpPr/>
          <p:nvPr/>
        </p:nvGrpSpPr>
        <p:grpSpPr>
          <a:xfrm>
            <a:off x="1289051" y="2849038"/>
            <a:ext cx="1267801" cy="861704"/>
            <a:chOff x="1289051" y="2849038"/>
            <a:chExt cx="1267801" cy="861704"/>
          </a:xfrm>
        </p:grpSpPr>
        <p:sp>
          <p:nvSpPr>
            <p:cNvPr id="168" name="Freeform 53">
              <a:extLst>
                <a:ext uri="{FF2B5EF4-FFF2-40B4-BE49-F238E27FC236}">
                  <a16:creationId xmlns:a16="http://schemas.microsoft.com/office/drawing/2014/main" id="{E3EEFD92-7050-9249-80C1-240C22D52535}"/>
                </a:ext>
              </a:extLst>
            </p:cNvPr>
            <p:cNvSpPr>
              <a:spLocks/>
            </p:cNvSpPr>
            <p:nvPr/>
          </p:nvSpPr>
          <p:spPr bwMode="auto">
            <a:xfrm>
              <a:off x="2369283" y="2849038"/>
              <a:ext cx="187569" cy="464732"/>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Lst>
              <a:ahLst/>
              <a:cxnLst>
                <a:cxn ang="T6">
                  <a:pos x="T0" y="T1"/>
                </a:cxn>
                <a:cxn ang="T7">
                  <a:pos x="T2" y="T3"/>
                </a:cxn>
                <a:cxn ang="T8">
                  <a:pos x="T4" y="T5"/>
                </a:cxn>
              </a:cxnLst>
              <a:rect l="0" t="0" r="r" b="b"/>
              <a:pathLst>
                <a:path w="91" h="242">
                  <a:moveTo>
                    <a:pt x="91" y="0"/>
                  </a:moveTo>
                  <a:lnTo>
                    <a:pt x="88" y="242"/>
                  </a:lnTo>
                  <a:lnTo>
                    <a:pt x="0" y="242"/>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57">
              <a:extLst>
                <a:ext uri="{FF2B5EF4-FFF2-40B4-BE49-F238E27FC236}">
                  <a16:creationId xmlns:a16="http://schemas.microsoft.com/office/drawing/2014/main" id="{4DCFBA68-55DB-2E45-83BC-59D80627D5D3}"/>
                </a:ext>
              </a:extLst>
            </p:cNvPr>
            <p:cNvSpPr txBox="1">
              <a:spLocks noChangeArrowheads="1"/>
            </p:cNvSpPr>
            <p:nvPr/>
          </p:nvSpPr>
          <p:spPr bwMode="auto">
            <a:xfrm>
              <a:off x="1289051" y="3119811"/>
              <a:ext cx="986168" cy="5909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ACKed</a:t>
              </a:r>
            </a:p>
          </p:txBody>
        </p:sp>
      </p:grpSp>
      <p:grpSp>
        <p:nvGrpSpPr>
          <p:cNvPr id="13" name="Group 12">
            <a:extLst>
              <a:ext uri="{FF2B5EF4-FFF2-40B4-BE49-F238E27FC236}">
                <a16:creationId xmlns:a16="http://schemas.microsoft.com/office/drawing/2014/main" id="{A8C3752B-025F-E94F-8654-13F54E9C670F}"/>
              </a:ext>
            </a:extLst>
          </p:cNvPr>
          <p:cNvGrpSpPr/>
          <p:nvPr/>
        </p:nvGrpSpPr>
        <p:grpSpPr>
          <a:xfrm>
            <a:off x="3824084" y="2948877"/>
            <a:ext cx="1759290" cy="1283237"/>
            <a:chOff x="3824084" y="2948877"/>
            <a:chExt cx="1759290" cy="1283237"/>
          </a:xfrm>
        </p:grpSpPr>
        <p:sp>
          <p:nvSpPr>
            <p:cNvPr id="172" name="Text Box 59">
              <a:extLst>
                <a:ext uri="{FF2B5EF4-FFF2-40B4-BE49-F238E27FC236}">
                  <a16:creationId xmlns:a16="http://schemas.microsoft.com/office/drawing/2014/main" id="{44BFDC0C-7E1F-194B-B1D5-936A1056896B}"/>
                </a:ext>
              </a:extLst>
            </p:cNvPr>
            <p:cNvSpPr txBox="1">
              <a:spLocks noChangeArrowheads="1"/>
            </p:cNvSpPr>
            <p:nvPr/>
          </p:nvSpPr>
          <p:spPr bwMode="auto">
            <a:xfrm>
              <a:off x="3979525" y="3890482"/>
              <a:ext cx="1603849" cy="3416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 sent</a:t>
              </a:r>
            </a:p>
          </p:txBody>
        </p:sp>
        <p:sp>
          <p:nvSpPr>
            <p:cNvPr id="180" name="Freeform 69">
              <a:extLst>
                <a:ext uri="{FF2B5EF4-FFF2-40B4-BE49-F238E27FC236}">
                  <a16:creationId xmlns:a16="http://schemas.microsoft.com/office/drawing/2014/main" id="{33A90F9A-C7CE-C44A-B81F-BFED1356069E}"/>
                </a:ext>
              </a:extLst>
            </p:cNvPr>
            <p:cNvSpPr>
              <a:spLocks/>
            </p:cNvSpPr>
            <p:nvPr/>
          </p:nvSpPr>
          <p:spPr bwMode="auto">
            <a:xfrm flipH="1">
              <a:off x="3824084" y="2948877"/>
              <a:ext cx="190240" cy="1102896"/>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id="{42CF5997-36CB-D147-BC28-3AEB4C853BEA}"/>
              </a:ext>
            </a:extLst>
          </p:cNvPr>
          <p:cNvGrpSpPr/>
          <p:nvPr/>
        </p:nvGrpSpPr>
        <p:grpSpPr>
          <a:xfrm>
            <a:off x="1289051" y="1292332"/>
            <a:ext cx="4641849" cy="1497173"/>
            <a:chOff x="1289051" y="1292332"/>
            <a:chExt cx="4641849" cy="1497173"/>
          </a:xfrm>
        </p:grpSpPr>
        <p:sp>
          <p:nvSpPr>
            <p:cNvPr id="104" name="Rectangle 12">
              <a:extLst>
                <a:ext uri="{FF2B5EF4-FFF2-40B4-BE49-F238E27FC236}">
                  <a16:creationId xmlns:a16="http://schemas.microsoft.com/office/drawing/2014/main" id="{04993FEE-920A-A241-8D22-76E5FD7EE6A9}"/>
                </a:ext>
              </a:extLst>
            </p:cNvPr>
            <p:cNvSpPr>
              <a:spLocks noChangeArrowheads="1"/>
            </p:cNvSpPr>
            <p:nvPr/>
          </p:nvSpPr>
          <p:spPr bwMode="auto">
            <a:xfrm>
              <a:off x="1370854" y="2034797"/>
              <a:ext cx="86000" cy="752789"/>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5" name="Rectangle 13">
              <a:extLst>
                <a:ext uri="{FF2B5EF4-FFF2-40B4-BE49-F238E27FC236}">
                  <a16:creationId xmlns:a16="http://schemas.microsoft.com/office/drawing/2014/main" id="{18E83275-ACB2-EC4C-B6DC-CBDA17C3A868}"/>
                </a:ext>
              </a:extLst>
            </p:cNvPr>
            <p:cNvSpPr>
              <a:spLocks noChangeArrowheads="1"/>
            </p:cNvSpPr>
            <p:nvPr/>
          </p:nvSpPr>
          <p:spPr bwMode="auto">
            <a:xfrm>
              <a:off x="1498805" y="2036716"/>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6" name="Rectangle 14">
              <a:extLst>
                <a:ext uri="{FF2B5EF4-FFF2-40B4-BE49-F238E27FC236}">
                  <a16:creationId xmlns:a16="http://schemas.microsoft.com/office/drawing/2014/main" id="{DAC860B7-5379-0C49-8B6D-4F42EEEC890F}"/>
                </a:ext>
              </a:extLst>
            </p:cNvPr>
            <p:cNvSpPr>
              <a:spLocks noChangeArrowheads="1"/>
            </p:cNvSpPr>
            <p:nvPr/>
          </p:nvSpPr>
          <p:spPr bwMode="auto">
            <a:xfrm>
              <a:off x="1628852"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7" name="Rectangle 15">
              <a:extLst>
                <a:ext uri="{FF2B5EF4-FFF2-40B4-BE49-F238E27FC236}">
                  <a16:creationId xmlns:a16="http://schemas.microsoft.com/office/drawing/2014/main" id="{850E3686-28F1-ED45-BCA0-8626CD94C24A}"/>
                </a:ext>
              </a:extLst>
            </p:cNvPr>
            <p:cNvSpPr>
              <a:spLocks noChangeArrowheads="1"/>
            </p:cNvSpPr>
            <p:nvPr/>
          </p:nvSpPr>
          <p:spPr bwMode="auto">
            <a:xfrm>
              <a:off x="1756801"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8" name="Rectangle 16">
              <a:extLst>
                <a:ext uri="{FF2B5EF4-FFF2-40B4-BE49-F238E27FC236}">
                  <a16:creationId xmlns:a16="http://schemas.microsoft.com/office/drawing/2014/main" id="{2B67993F-458E-AA4F-8BDA-DD554E74E999}"/>
                </a:ext>
              </a:extLst>
            </p:cNvPr>
            <p:cNvSpPr>
              <a:spLocks noChangeArrowheads="1"/>
            </p:cNvSpPr>
            <p:nvPr/>
          </p:nvSpPr>
          <p:spPr bwMode="auto">
            <a:xfrm>
              <a:off x="1882653"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9" name="Rectangle 17">
              <a:extLst>
                <a:ext uri="{FF2B5EF4-FFF2-40B4-BE49-F238E27FC236}">
                  <a16:creationId xmlns:a16="http://schemas.microsoft.com/office/drawing/2014/main" id="{0FAD288D-252F-5745-BF73-6A260AA674C3}"/>
                </a:ext>
              </a:extLst>
            </p:cNvPr>
            <p:cNvSpPr>
              <a:spLocks noChangeArrowheads="1"/>
            </p:cNvSpPr>
            <p:nvPr/>
          </p:nvSpPr>
          <p:spPr bwMode="auto">
            <a:xfrm>
              <a:off x="2010604"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0" name="Rectangle 18">
              <a:extLst>
                <a:ext uri="{FF2B5EF4-FFF2-40B4-BE49-F238E27FC236}">
                  <a16:creationId xmlns:a16="http://schemas.microsoft.com/office/drawing/2014/main" id="{F50804B5-A9B0-B741-A2CB-DC3CFBF3864F}"/>
                </a:ext>
              </a:extLst>
            </p:cNvPr>
            <p:cNvSpPr>
              <a:spLocks noChangeArrowheads="1"/>
            </p:cNvSpPr>
            <p:nvPr/>
          </p:nvSpPr>
          <p:spPr bwMode="auto">
            <a:xfrm>
              <a:off x="2132261"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1" name="Rectangle 19">
              <a:extLst>
                <a:ext uri="{FF2B5EF4-FFF2-40B4-BE49-F238E27FC236}">
                  <a16:creationId xmlns:a16="http://schemas.microsoft.com/office/drawing/2014/main" id="{E9319E92-5123-8943-BEB7-081DA31ABF1D}"/>
                </a:ext>
              </a:extLst>
            </p:cNvPr>
            <p:cNvSpPr>
              <a:spLocks noChangeArrowheads="1"/>
            </p:cNvSpPr>
            <p:nvPr/>
          </p:nvSpPr>
          <p:spPr bwMode="auto">
            <a:xfrm>
              <a:off x="2258113"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2" name="Rectangle 20">
              <a:extLst>
                <a:ext uri="{FF2B5EF4-FFF2-40B4-BE49-F238E27FC236}">
                  <a16:creationId xmlns:a16="http://schemas.microsoft.com/office/drawing/2014/main" id="{C56329EF-B8DA-E848-8471-F7AB6A81A0AD}"/>
                </a:ext>
              </a:extLst>
            </p:cNvPr>
            <p:cNvSpPr>
              <a:spLocks noChangeArrowheads="1"/>
            </p:cNvSpPr>
            <p:nvPr/>
          </p:nvSpPr>
          <p:spPr bwMode="auto">
            <a:xfrm>
              <a:off x="2383965"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3" name="Rectangle 21">
              <a:extLst>
                <a:ext uri="{FF2B5EF4-FFF2-40B4-BE49-F238E27FC236}">
                  <a16:creationId xmlns:a16="http://schemas.microsoft.com/office/drawing/2014/main" id="{B6EA82BD-4235-744C-8CC2-3D0E84463334}"/>
                </a:ext>
              </a:extLst>
            </p:cNvPr>
            <p:cNvSpPr>
              <a:spLocks noChangeArrowheads="1"/>
            </p:cNvSpPr>
            <p:nvPr/>
          </p:nvSpPr>
          <p:spPr bwMode="auto">
            <a:xfrm>
              <a:off x="2524500"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4" name="Rectangle 22">
              <a:extLst>
                <a:ext uri="{FF2B5EF4-FFF2-40B4-BE49-F238E27FC236}">
                  <a16:creationId xmlns:a16="http://schemas.microsoft.com/office/drawing/2014/main" id="{3AB484C5-F544-AD4F-AC56-F33B38DBB98F}"/>
                </a:ext>
              </a:extLst>
            </p:cNvPr>
            <p:cNvSpPr>
              <a:spLocks noChangeArrowheads="1"/>
            </p:cNvSpPr>
            <p:nvPr/>
          </p:nvSpPr>
          <p:spPr bwMode="auto">
            <a:xfrm>
              <a:off x="2654547" y="2036716"/>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5" name="Rectangle 23">
              <a:extLst>
                <a:ext uri="{FF2B5EF4-FFF2-40B4-BE49-F238E27FC236}">
                  <a16:creationId xmlns:a16="http://schemas.microsoft.com/office/drawing/2014/main" id="{1DD6947E-4A84-9D4E-B2FC-3A5E7F6D1E34}"/>
                </a:ext>
              </a:extLst>
            </p:cNvPr>
            <p:cNvSpPr>
              <a:spLocks noChangeArrowheads="1"/>
            </p:cNvSpPr>
            <p:nvPr/>
          </p:nvSpPr>
          <p:spPr bwMode="auto">
            <a:xfrm>
              <a:off x="2782498"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6" name="Rectangle 24">
              <a:extLst>
                <a:ext uri="{FF2B5EF4-FFF2-40B4-BE49-F238E27FC236}">
                  <a16:creationId xmlns:a16="http://schemas.microsoft.com/office/drawing/2014/main" id="{2A55A81B-B032-0840-A48D-1D5352A231AA}"/>
                </a:ext>
              </a:extLst>
            </p:cNvPr>
            <p:cNvSpPr>
              <a:spLocks noChangeArrowheads="1"/>
            </p:cNvSpPr>
            <p:nvPr/>
          </p:nvSpPr>
          <p:spPr bwMode="auto">
            <a:xfrm>
              <a:off x="2910447"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7" name="Rectangle 25">
              <a:extLst>
                <a:ext uri="{FF2B5EF4-FFF2-40B4-BE49-F238E27FC236}">
                  <a16:creationId xmlns:a16="http://schemas.microsoft.com/office/drawing/2014/main" id="{EBC4122E-0CCF-1548-9A66-7DCD08E748CD}"/>
                </a:ext>
              </a:extLst>
            </p:cNvPr>
            <p:cNvSpPr>
              <a:spLocks noChangeArrowheads="1"/>
            </p:cNvSpPr>
            <p:nvPr/>
          </p:nvSpPr>
          <p:spPr bwMode="auto">
            <a:xfrm>
              <a:off x="3038397"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Rectangle 26">
              <a:extLst>
                <a:ext uri="{FF2B5EF4-FFF2-40B4-BE49-F238E27FC236}">
                  <a16:creationId xmlns:a16="http://schemas.microsoft.com/office/drawing/2014/main" id="{DB7235A0-624C-DB45-8BCC-3CE6B91647F3}"/>
                </a:ext>
              </a:extLst>
            </p:cNvPr>
            <p:cNvSpPr>
              <a:spLocks noChangeArrowheads="1"/>
            </p:cNvSpPr>
            <p:nvPr/>
          </p:nvSpPr>
          <p:spPr bwMode="auto">
            <a:xfrm>
              <a:off x="3164249"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27">
              <a:extLst>
                <a:ext uri="{FF2B5EF4-FFF2-40B4-BE49-F238E27FC236}">
                  <a16:creationId xmlns:a16="http://schemas.microsoft.com/office/drawing/2014/main" id="{345917A5-9719-BB4F-9C0B-ACD89A8BB0F4}"/>
                </a:ext>
              </a:extLst>
            </p:cNvPr>
            <p:cNvSpPr>
              <a:spLocks noChangeArrowheads="1"/>
            </p:cNvSpPr>
            <p:nvPr/>
          </p:nvSpPr>
          <p:spPr bwMode="auto">
            <a:xfrm>
              <a:off x="3285907"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0" name="Rectangle 28">
              <a:extLst>
                <a:ext uri="{FF2B5EF4-FFF2-40B4-BE49-F238E27FC236}">
                  <a16:creationId xmlns:a16="http://schemas.microsoft.com/office/drawing/2014/main" id="{4C1474B9-991E-6847-8B01-DE0C95138525}"/>
                </a:ext>
              </a:extLst>
            </p:cNvPr>
            <p:cNvSpPr>
              <a:spLocks noChangeArrowheads="1"/>
            </p:cNvSpPr>
            <p:nvPr/>
          </p:nvSpPr>
          <p:spPr bwMode="auto">
            <a:xfrm>
              <a:off x="3411759"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Rectangle 29">
              <a:extLst>
                <a:ext uri="{FF2B5EF4-FFF2-40B4-BE49-F238E27FC236}">
                  <a16:creationId xmlns:a16="http://schemas.microsoft.com/office/drawing/2014/main" id="{1FEE069D-BAD8-8A43-9829-68BF4DBC5019}"/>
                </a:ext>
              </a:extLst>
            </p:cNvPr>
            <p:cNvSpPr>
              <a:spLocks noChangeArrowheads="1"/>
            </p:cNvSpPr>
            <p:nvPr/>
          </p:nvSpPr>
          <p:spPr bwMode="auto">
            <a:xfrm>
              <a:off x="3539708"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Rectangle 30">
              <a:extLst>
                <a:ext uri="{FF2B5EF4-FFF2-40B4-BE49-F238E27FC236}">
                  <a16:creationId xmlns:a16="http://schemas.microsoft.com/office/drawing/2014/main" id="{F6A54E32-B859-A84C-B9EB-275C556CD8B7}"/>
                </a:ext>
              </a:extLst>
            </p:cNvPr>
            <p:cNvSpPr>
              <a:spLocks noChangeArrowheads="1"/>
            </p:cNvSpPr>
            <p:nvPr/>
          </p:nvSpPr>
          <p:spPr bwMode="auto">
            <a:xfrm>
              <a:off x="3657170"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Rectangle 31">
              <a:extLst>
                <a:ext uri="{FF2B5EF4-FFF2-40B4-BE49-F238E27FC236}">
                  <a16:creationId xmlns:a16="http://schemas.microsoft.com/office/drawing/2014/main" id="{F693AF70-5D12-874C-A1FE-39895AB51D68}"/>
                </a:ext>
              </a:extLst>
            </p:cNvPr>
            <p:cNvSpPr>
              <a:spLocks noChangeArrowheads="1"/>
            </p:cNvSpPr>
            <p:nvPr/>
          </p:nvSpPr>
          <p:spPr bwMode="auto">
            <a:xfrm>
              <a:off x="3783022"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4" name="Rectangle 32">
              <a:extLst>
                <a:ext uri="{FF2B5EF4-FFF2-40B4-BE49-F238E27FC236}">
                  <a16:creationId xmlns:a16="http://schemas.microsoft.com/office/drawing/2014/main" id="{8AF2AC6B-DBDA-9B44-8499-2FA57D21931E}"/>
                </a:ext>
              </a:extLst>
            </p:cNvPr>
            <p:cNvSpPr>
              <a:spLocks noChangeArrowheads="1"/>
            </p:cNvSpPr>
            <p:nvPr/>
          </p:nvSpPr>
          <p:spPr bwMode="auto">
            <a:xfrm>
              <a:off x="3906778" y="2032876"/>
              <a:ext cx="85998"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5" name="Rectangle 33">
              <a:extLst>
                <a:ext uri="{FF2B5EF4-FFF2-40B4-BE49-F238E27FC236}">
                  <a16:creationId xmlns:a16="http://schemas.microsoft.com/office/drawing/2014/main" id="{3C5EC589-0EEE-AA43-956D-7E1A6B8E7BEA}"/>
                </a:ext>
              </a:extLst>
            </p:cNvPr>
            <p:cNvSpPr>
              <a:spLocks noChangeArrowheads="1"/>
            </p:cNvSpPr>
            <p:nvPr/>
          </p:nvSpPr>
          <p:spPr bwMode="auto">
            <a:xfrm>
              <a:off x="4028435" y="2032876"/>
              <a:ext cx="85998"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Rectangle 34">
              <a:extLst>
                <a:ext uri="{FF2B5EF4-FFF2-40B4-BE49-F238E27FC236}">
                  <a16:creationId xmlns:a16="http://schemas.microsoft.com/office/drawing/2014/main" id="{00489FD8-0BA0-844E-AA41-BDE801D2E271}"/>
                </a:ext>
              </a:extLst>
            </p:cNvPr>
            <p:cNvSpPr>
              <a:spLocks noChangeArrowheads="1"/>
            </p:cNvSpPr>
            <p:nvPr/>
          </p:nvSpPr>
          <p:spPr bwMode="auto">
            <a:xfrm>
              <a:off x="4156384"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7" name="Rectangle 35">
              <a:extLst>
                <a:ext uri="{FF2B5EF4-FFF2-40B4-BE49-F238E27FC236}">
                  <a16:creationId xmlns:a16="http://schemas.microsoft.com/office/drawing/2014/main" id="{7CDE0EFB-7CC4-304D-AD89-8FC08C1FBD45}"/>
                </a:ext>
              </a:extLst>
            </p:cNvPr>
            <p:cNvSpPr>
              <a:spLocks noChangeArrowheads="1"/>
            </p:cNvSpPr>
            <p:nvPr/>
          </p:nvSpPr>
          <p:spPr bwMode="auto">
            <a:xfrm>
              <a:off x="4282236"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8" name="Rectangle 36">
              <a:extLst>
                <a:ext uri="{FF2B5EF4-FFF2-40B4-BE49-F238E27FC236}">
                  <a16:creationId xmlns:a16="http://schemas.microsoft.com/office/drawing/2014/main" id="{6EECC216-B56D-D043-93ED-F50164EF4E4A}"/>
                </a:ext>
              </a:extLst>
            </p:cNvPr>
            <p:cNvSpPr>
              <a:spLocks noChangeArrowheads="1"/>
            </p:cNvSpPr>
            <p:nvPr/>
          </p:nvSpPr>
          <p:spPr bwMode="auto">
            <a:xfrm>
              <a:off x="4399698"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9" name="Rectangle 37">
              <a:extLst>
                <a:ext uri="{FF2B5EF4-FFF2-40B4-BE49-F238E27FC236}">
                  <a16:creationId xmlns:a16="http://schemas.microsoft.com/office/drawing/2014/main" id="{2DDF4004-027D-3448-8C19-8E608E21464E}"/>
                </a:ext>
              </a:extLst>
            </p:cNvPr>
            <p:cNvSpPr>
              <a:spLocks noChangeArrowheads="1"/>
            </p:cNvSpPr>
            <p:nvPr/>
          </p:nvSpPr>
          <p:spPr bwMode="auto">
            <a:xfrm>
              <a:off x="4525550"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0" name="Rectangle 38">
              <a:extLst>
                <a:ext uri="{FF2B5EF4-FFF2-40B4-BE49-F238E27FC236}">
                  <a16:creationId xmlns:a16="http://schemas.microsoft.com/office/drawing/2014/main" id="{66B062CA-DE3B-DE43-ABC0-B0129B267927}"/>
                </a:ext>
              </a:extLst>
            </p:cNvPr>
            <p:cNvSpPr>
              <a:spLocks noChangeArrowheads="1"/>
            </p:cNvSpPr>
            <p:nvPr/>
          </p:nvSpPr>
          <p:spPr bwMode="auto">
            <a:xfrm>
              <a:off x="4653501"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Rectangle 39">
              <a:extLst>
                <a:ext uri="{FF2B5EF4-FFF2-40B4-BE49-F238E27FC236}">
                  <a16:creationId xmlns:a16="http://schemas.microsoft.com/office/drawing/2014/main" id="{B8FF22AA-6251-9B4A-8B71-33B1C663B36C}"/>
                </a:ext>
              </a:extLst>
            </p:cNvPr>
            <p:cNvSpPr>
              <a:spLocks noChangeArrowheads="1"/>
            </p:cNvSpPr>
            <p:nvPr/>
          </p:nvSpPr>
          <p:spPr bwMode="auto">
            <a:xfrm>
              <a:off x="4781450" y="2036716"/>
              <a:ext cx="86000"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Rectangle 40">
              <a:extLst>
                <a:ext uri="{FF2B5EF4-FFF2-40B4-BE49-F238E27FC236}">
                  <a16:creationId xmlns:a16="http://schemas.microsoft.com/office/drawing/2014/main" id="{FAB9104E-A760-C644-B315-33CD7DEB1CB4}"/>
                </a:ext>
              </a:extLst>
            </p:cNvPr>
            <p:cNvSpPr>
              <a:spLocks noChangeArrowheads="1"/>
            </p:cNvSpPr>
            <p:nvPr/>
          </p:nvSpPr>
          <p:spPr bwMode="auto">
            <a:xfrm>
              <a:off x="4909400"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Rectangle 41">
              <a:extLst>
                <a:ext uri="{FF2B5EF4-FFF2-40B4-BE49-F238E27FC236}">
                  <a16:creationId xmlns:a16="http://schemas.microsoft.com/office/drawing/2014/main" id="{84289F99-D270-C140-AA7A-F6C4AFA078ED}"/>
                </a:ext>
              </a:extLst>
            </p:cNvPr>
            <p:cNvSpPr>
              <a:spLocks noChangeArrowheads="1"/>
            </p:cNvSpPr>
            <p:nvPr/>
          </p:nvSpPr>
          <p:spPr bwMode="auto">
            <a:xfrm>
              <a:off x="5039448"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Rectangle 42">
              <a:extLst>
                <a:ext uri="{FF2B5EF4-FFF2-40B4-BE49-F238E27FC236}">
                  <a16:creationId xmlns:a16="http://schemas.microsoft.com/office/drawing/2014/main" id="{CDFBFB7B-6E55-9045-8777-DB8B3B13C3C3}"/>
                </a:ext>
              </a:extLst>
            </p:cNvPr>
            <p:cNvSpPr>
              <a:spLocks noChangeArrowheads="1"/>
            </p:cNvSpPr>
            <p:nvPr/>
          </p:nvSpPr>
          <p:spPr bwMode="auto">
            <a:xfrm>
              <a:off x="5165300"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Rectangle 43">
              <a:extLst>
                <a:ext uri="{FF2B5EF4-FFF2-40B4-BE49-F238E27FC236}">
                  <a16:creationId xmlns:a16="http://schemas.microsoft.com/office/drawing/2014/main" id="{AD3CDD9F-C7EC-964D-A02B-C8B9C75CCDA9}"/>
                </a:ext>
              </a:extLst>
            </p:cNvPr>
            <p:cNvSpPr>
              <a:spLocks noChangeArrowheads="1"/>
            </p:cNvSpPr>
            <p:nvPr/>
          </p:nvSpPr>
          <p:spPr bwMode="auto">
            <a:xfrm>
              <a:off x="5291152"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Rectangle 44">
              <a:extLst>
                <a:ext uri="{FF2B5EF4-FFF2-40B4-BE49-F238E27FC236}">
                  <a16:creationId xmlns:a16="http://schemas.microsoft.com/office/drawing/2014/main" id="{A68B931F-B222-6643-B4DE-15E3E8354B18}"/>
                </a:ext>
              </a:extLst>
            </p:cNvPr>
            <p:cNvSpPr>
              <a:spLocks noChangeArrowheads="1"/>
            </p:cNvSpPr>
            <p:nvPr/>
          </p:nvSpPr>
          <p:spPr bwMode="auto">
            <a:xfrm>
              <a:off x="5412809"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3" name="Rectangle 45">
              <a:extLst>
                <a:ext uri="{FF2B5EF4-FFF2-40B4-BE49-F238E27FC236}">
                  <a16:creationId xmlns:a16="http://schemas.microsoft.com/office/drawing/2014/main" id="{7D3A9CBD-AC18-2744-9564-5C628A27F631}"/>
                </a:ext>
              </a:extLst>
            </p:cNvPr>
            <p:cNvSpPr>
              <a:spLocks noChangeArrowheads="1"/>
            </p:cNvSpPr>
            <p:nvPr/>
          </p:nvSpPr>
          <p:spPr bwMode="auto">
            <a:xfrm>
              <a:off x="5540759" y="2034797"/>
              <a:ext cx="86000"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Rectangle 46">
              <a:extLst>
                <a:ext uri="{FF2B5EF4-FFF2-40B4-BE49-F238E27FC236}">
                  <a16:creationId xmlns:a16="http://schemas.microsoft.com/office/drawing/2014/main" id="{7BD5CB89-7651-AC4B-B6A7-CB76771F9558}"/>
                </a:ext>
              </a:extLst>
            </p:cNvPr>
            <p:cNvSpPr>
              <a:spLocks noChangeArrowheads="1"/>
            </p:cNvSpPr>
            <p:nvPr/>
          </p:nvSpPr>
          <p:spPr bwMode="auto">
            <a:xfrm>
              <a:off x="5666611" y="2034797"/>
              <a:ext cx="86000" cy="752789"/>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6" name="Rectangle 48">
              <a:extLst>
                <a:ext uri="{FF2B5EF4-FFF2-40B4-BE49-F238E27FC236}">
                  <a16:creationId xmlns:a16="http://schemas.microsoft.com/office/drawing/2014/main" id="{22B83E8B-5347-B046-AB4A-F500B639B452}"/>
                </a:ext>
              </a:extLst>
            </p:cNvPr>
            <p:cNvSpPr>
              <a:spLocks noChangeArrowheads="1"/>
            </p:cNvSpPr>
            <p:nvPr/>
          </p:nvSpPr>
          <p:spPr bwMode="auto">
            <a:xfrm>
              <a:off x="1427488" y="1902290"/>
              <a:ext cx="4503412" cy="10754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Text Box 61">
              <a:extLst>
                <a:ext uri="{FF2B5EF4-FFF2-40B4-BE49-F238E27FC236}">
                  <a16:creationId xmlns:a16="http://schemas.microsoft.com/office/drawing/2014/main" id="{EC2166A2-B157-124D-AD95-CDDC7B2DDCB8}"/>
                </a:ext>
              </a:extLst>
            </p:cNvPr>
            <p:cNvSpPr txBox="1">
              <a:spLocks noChangeArrowheads="1"/>
            </p:cNvSpPr>
            <p:nvPr/>
          </p:nvSpPr>
          <p:spPr bwMode="auto">
            <a:xfrm>
              <a:off x="3220882" y="1648799"/>
              <a:ext cx="805454" cy="3437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ourier New" charset="0"/>
                  <a:ea typeface="ＭＳ Ｐゴシック" charset="0"/>
                  <a:cs typeface="+mn-cs"/>
                </a:rPr>
                <a:t>cwnd</a:t>
              </a:r>
              <a:endParaRPr kumimoji="0" lang="en-US" sz="1400" b="1" i="1"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nvGrpSpPr>
            <p:cNvPr id="174" name="Group 62">
              <a:extLst>
                <a:ext uri="{FF2B5EF4-FFF2-40B4-BE49-F238E27FC236}">
                  <a16:creationId xmlns:a16="http://schemas.microsoft.com/office/drawing/2014/main" id="{A2ECB346-2348-1D42-A5A0-3073BBFAF723}"/>
                </a:ext>
              </a:extLst>
            </p:cNvPr>
            <p:cNvGrpSpPr>
              <a:grpSpLocks/>
            </p:cNvGrpSpPr>
            <p:nvPr/>
          </p:nvGrpSpPr>
          <p:grpSpPr bwMode="auto">
            <a:xfrm>
              <a:off x="4022141" y="1750580"/>
              <a:ext cx="591506" cy="142108"/>
              <a:chOff x="4250" y="1692"/>
              <a:chExt cx="374" cy="86"/>
            </a:xfrm>
          </p:grpSpPr>
          <p:sp>
            <p:nvSpPr>
              <p:cNvPr id="175" name="Line 63">
                <a:extLst>
                  <a:ext uri="{FF2B5EF4-FFF2-40B4-BE49-F238E27FC236}">
                    <a16:creationId xmlns:a16="http://schemas.microsoft.com/office/drawing/2014/main" id="{D8AB4372-6622-194F-8B2C-95E11AB4BDB8}"/>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Line 64">
                <a:extLst>
                  <a:ext uri="{FF2B5EF4-FFF2-40B4-BE49-F238E27FC236}">
                    <a16:creationId xmlns:a16="http://schemas.microsoft.com/office/drawing/2014/main" id="{90113FC4-9E6C-1344-9A19-D18BED38D2E9}"/>
                  </a:ext>
                </a:extLst>
              </p:cNvPr>
              <p:cNvSpPr>
                <a:spLocks noChangeShapeType="1"/>
              </p:cNvSpPr>
              <p:nvPr/>
            </p:nvSpPr>
            <p:spPr bwMode="auto">
              <a:xfrm>
                <a:off x="4621" y="1692"/>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77" name="Group 65">
              <a:extLst>
                <a:ext uri="{FF2B5EF4-FFF2-40B4-BE49-F238E27FC236}">
                  <a16:creationId xmlns:a16="http://schemas.microsoft.com/office/drawing/2014/main" id="{DA340DC1-A02D-8B4C-B20C-F58E960E37E4}"/>
                </a:ext>
              </a:extLst>
            </p:cNvPr>
            <p:cNvGrpSpPr>
              <a:grpSpLocks/>
            </p:cNvGrpSpPr>
            <p:nvPr/>
          </p:nvGrpSpPr>
          <p:grpSpPr bwMode="auto">
            <a:xfrm rot="10800000">
              <a:off x="2650352" y="1773625"/>
              <a:ext cx="616676" cy="149790"/>
              <a:chOff x="4250" y="1692"/>
              <a:chExt cx="374" cy="86"/>
            </a:xfrm>
          </p:grpSpPr>
          <p:sp>
            <p:nvSpPr>
              <p:cNvPr id="178" name="Line 66">
                <a:extLst>
                  <a:ext uri="{FF2B5EF4-FFF2-40B4-BE49-F238E27FC236}">
                    <a16:creationId xmlns:a16="http://schemas.microsoft.com/office/drawing/2014/main" id="{996A9ACA-B6A9-274C-AF8C-6FDF8BEA33F2}"/>
                  </a:ext>
                </a:extLst>
              </p:cNvPr>
              <p:cNvSpPr>
                <a:spLocks noChangeShapeType="1"/>
              </p:cNvSpPr>
              <p:nvPr/>
            </p:nvSpPr>
            <p:spPr bwMode="auto">
              <a:xfrm>
                <a:off x="4260" y="1746"/>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9" name="Line 67">
                <a:extLst>
                  <a:ext uri="{FF2B5EF4-FFF2-40B4-BE49-F238E27FC236}">
                    <a16:creationId xmlns:a16="http://schemas.microsoft.com/office/drawing/2014/main" id="{1CAF8AD6-4F2D-AF41-B54A-FA702FB44D10}"/>
                  </a:ext>
                </a:extLst>
              </p:cNvPr>
              <p:cNvSpPr>
                <a:spLocks noChangeShapeType="1"/>
              </p:cNvSpPr>
              <p:nvPr/>
            </p:nvSpPr>
            <p:spPr bwMode="auto">
              <a:xfrm>
                <a:off x="4632" y="1700"/>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7" name="Text Box 78">
              <a:extLst>
                <a:ext uri="{FF2B5EF4-FFF2-40B4-BE49-F238E27FC236}">
                  <a16:creationId xmlns:a16="http://schemas.microsoft.com/office/drawing/2014/main" id="{084366A9-52AF-9848-912D-70AD364BF8CE}"/>
                </a:ext>
              </a:extLst>
            </p:cNvPr>
            <p:cNvSpPr txBox="1">
              <a:spLocks noChangeArrowheads="1"/>
            </p:cNvSpPr>
            <p:nvPr/>
          </p:nvSpPr>
          <p:spPr bwMode="auto">
            <a:xfrm>
              <a:off x="1289051" y="1292332"/>
              <a:ext cx="3220754" cy="3693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sender sequence number space </a:t>
              </a:r>
            </a:p>
          </p:txBody>
        </p:sp>
      </p:grpSp>
      <p:sp>
        <p:nvSpPr>
          <p:cNvPr id="198" name="Line 51">
            <a:extLst>
              <a:ext uri="{FF2B5EF4-FFF2-40B4-BE49-F238E27FC236}">
                <a16:creationId xmlns:a16="http://schemas.microsoft.com/office/drawing/2014/main" id="{E6E4B0C6-1414-3D4F-93A5-CCA3CEEBB668}"/>
              </a:ext>
            </a:extLst>
          </p:cNvPr>
          <p:cNvSpPr>
            <a:spLocks noChangeShapeType="1"/>
          </p:cNvSpPr>
          <p:nvPr/>
        </p:nvSpPr>
        <p:spPr bwMode="auto">
          <a:xfrm>
            <a:off x="3908860" y="2875555"/>
            <a:ext cx="700041"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4" name="Group 13">
            <a:extLst>
              <a:ext uri="{FF2B5EF4-FFF2-40B4-BE49-F238E27FC236}">
                <a16:creationId xmlns:a16="http://schemas.microsoft.com/office/drawing/2014/main" id="{BF77D345-5DCD-C84A-8957-E4F03648FFCF}"/>
              </a:ext>
            </a:extLst>
          </p:cNvPr>
          <p:cNvGrpSpPr/>
          <p:nvPr/>
        </p:nvGrpSpPr>
        <p:grpSpPr>
          <a:xfrm>
            <a:off x="4204169" y="2959619"/>
            <a:ext cx="1759165" cy="950582"/>
            <a:chOff x="4204169" y="2959619"/>
            <a:chExt cx="1759165" cy="950582"/>
          </a:xfrm>
        </p:grpSpPr>
        <p:sp>
          <p:nvSpPr>
            <p:cNvPr id="199" name="Freeform 69">
              <a:extLst>
                <a:ext uri="{FF2B5EF4-FFF2-40B4-BE49-F238E27FC236}">
                  <a16:creationId xmlns:a16="http://schemas.microsoft.com/office/drawing/2014/main" id="{59B379E2-D8BE-6243-B6FF-8D00B68FA2FC}"/>
                </a:ext>
              </a:extLst>
            </p:cNvPr>
            <p:cNvSpPr>
              <a:spLocks/>
            </p:cNvSpPr>
            <p:nvPr/>
          </p:nvSpPr>
          <p:spPr bwMode="auto">
            <a:xfrm flipH="1">
              <a:off x="4204169" y="2959619"/>
              <a:ext cx="190240" cy="549834"/>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00" name="Text Box 59">
              <a:extLst>
                <a:ext uri="{FF2B5EF4-FFF2-40B4-BE49-F238E27FC236}">
                  <a16:creationId xmlns:a16="http://schemas.microsoft.com/office/drawing/2014/main" id="{D18ACC8C-E30F-2B43-A012-02A119CFD507}"/>
                </a:ext>
              </a:extLst>
            </p:cNvPr>
            <p:cNvSpPr txBox="1">
              <a:spLocks noChangeArrowheads="1"/>
            </p:cNvSpPr>
            <p:nvPr/>
          </p:nvSpPr>
          <p:spPr bwMode="auto">
            <a:xfrm>
              <a:off x="4359485" y="3319270"/>
              <a:ext cx="1603849" cy="5909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available but not used</a:t>
              </a:r>
            </a:p>
          </p:txBody>
        </p:sp>
      </p:grpSp>
      <p:grpSp>
        <p:nvGrpSpPr>
          <p:cNvPr id="22" name="Group 21">
            <a:extLst>
              <a:ext uri="{FF2B5EF4-FFF2-40B4-BE49-F238E27FC236}">
                <a16:creationId xmlns:a16="http://schemas.microsoft.com/office/drawing/2014/main" id="{9DAB0D8A-F035-A446-BFCD-CB14C1FE358B}"/>
              </a:ext>
            </a:extLst>
          </p:cNvPr>
          <p:cNvGrpSpPr/>
          <p:nvPr/>
        </p:nvGrpSpPr>
        <p:grpSpPr>
          <a:xfrm>
            <a:off x="7180262" y="1455737"/>
            <a:ext cx="4592627" cy="2538364"/>
            <a:chOff x="7180262" y="1455737"/>
            <a:chExt cx="4592627" cy="2538364"/>
          </a:xfrm>
        </p:grpSpPr>
        <p:sp>
          <p:nvSpPr>
            <p:cNvPr id="103" name="Rectangle 4">
              <a:extLst>
                <a:ext uri="{FF2B5EF4-FFF2-40B4-BE49-F238E27FC236}">
                  <a16:creationId xmlns:a16="http://schemas.microsoft.com/office/drawing/2014/main" id="{3906FFA2-1D5C-7540-9050-9ADF12840292}"/>
                </a:ext>
              </a:extLst>
            </p:cNvPr>
            <p:cNvSpPr txBox="1">
              <a:spLocks noChangeArrowheads="1"/>
            </p:cNvSpPr>
            <p:nvPr/>
          </p:nvSpPr>
          <p:spPr bwMode="auto">
            <a:xfrm>
              <a:off x="7180262" y="1455737"/>
              <a:ext cx="4592627" cy="2447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sending behavior:</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1"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roughly:</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send </a:t>
              </a:r>
              <a:r>
                <a:rPr kumimoji="0" lang="en-US" sz="28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bytes, wait RTT for ACKS, then send more bytes</a:t>
              </a:r>
            </a:p>
          </p:txBody>
        </p:sp>
        <p:grpSp>
          <p:nvGrpSpPr>
            <p:cNvPr id="20" name="Group 19">
              <a:extLst>
                <a:ext uri="{FF2B5EF4-FFF2-40B4-BE49-F238E27FC236}">
                  <a16:creationId xmlns:a16="http://schemas.microsoft.com/office/drawing/2014/main" id="{57FB518A-5432-5D44-890D-C8AC56EDFDD2}"/>
                </a:ext>
              </a:extLst>
            </p:cNvPr>
            <p:cNvGrpSpPr/>
            <p:nvPr/>
          </p:nvGrpSpPr>
          <p:grpSpPr>
            <a:xfrm>
              <a:off x="7513131" y="3110983"/>
              <a:ext cx="3751561" cy="883118"/>
              <a:chOff x="6839655" y="3035314"/>
              <a:chExt cx="3751561" cy="883118"/>
            </a:xfrm>
          </p:grpSpPr>
          <p:sp>
            <p:nvSpPr>
              <p:cNvPr id="19" name="Rectangle 18">
                <a:extLst>
                  <a:ext uri="{FF2B5EF4-FFF2-40B4-BE49-F238E27FC236}">
                    <a16:creationId xmlns:a16="http://schemas.microsoft.com/office/drawing/2014/main" id="{C803E68F-787C-134C-96B7-EA9979048F4F}"/>
                  </a:ext>
                </a:extLst>
              </p:cNvPr>
              <p:cNvSpPr/>
              <p:nvPr/>
            </p:nvSpPr>
            <p:spPr>
              <a:xfrm>
                <a:off x="6839655" y="3035314"/>
                <a:ext cx="3751561" cy="883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C32ED096-06AB-7A4D-A7B5-17961E51AD24}"/>
                  </a:ext>
                </a:extLst>
              </p:cNvPr>
              <p:cNvGrpSpPr/>
              <p:nvPr/>
            </p:nvGrpSpPr>
            <p:grpSpPr>
              <a:xfrm>
                <a:off x="6869571" y="3107218"/>
                <a:ext cx="3634909" cy="811214"/>
                <a:chOff x="6694950" y="3614743"/>
                <a:chExt cx="3634909" cy="811214"/>
              </a:xfrm>
            </p:grpSpPr>
            <p:sp>
              <p:nvSpPr>
                <p:cNvPr id="188" name="Text Box 79">
                  <a:extLst>
                    <a:ext uri="{FF2B5EF4-FFF2-40B4-BE49-F238E27FC236}">
                      <a16:creationId xmlns:a16="http://schemas.microsoft.com/office/drawing/2014/main" id="{15B5BFBD-DF38-5B40-87E5-F81F37DAA736}"/>
                    </a:ext>
                  </a:extLst>
                </p:cNvPr>
                <p:cNvSpPr txBox="1">
                  <a:spLocks noChangeArrowheads="1"/>
                </p:cNvSpPr>
                <p:nvPr/>
              </p:nvSpPr>
              <p:spPr bwMode="auto">
                <a:xfrm>
                  <a:off x="6694950" y="3723809"/>
                  <a:ext cx="139063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rate</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189" name="Group 82">
                  <a:extLst>
                    <a:ext uri="{FF2B5EF4-FFF2-40B4-BE49-F238E27FC236}">
                      <a16:creationId xmlns:a16="http://schemas.microsoft.com/office/drawing/2014/main" id="{0CAF5E9A-5B2C-B84F-AC89-1EFE7DC4B6AF}"/>
                    </a:ext>
                  </a:extLst>
                </p:cNvPr>
                <p:cNvGrpSpPr>
                  <a:grpSpLocks/>
                </p:cNvGrpSpPr>
                <p:nvPr/>
              </p:nvGrpSpPr>
              <p:grpSpPr bwMode="auto">
                <a:xfrm>
                  <a:off x="7748588" y="3776663"/>
                  <a:ext cx="931863" cy="441325"/>
                  <a:chOff x="4214" y="2517"/>
                  <a:chExt cx="587" cy="278"/>
                </a:xfrm>
              </p:grpSpPr>
              <p:sp>
                <p:nvSpPr>
                  <p:cNvPr id="190" name="Text Box 80">
                    <a:extLst>
                      <a:ext uri="{FF2B5EF4-FFF2-40B4-BE49-F238E27FC236}">
                        <a16:creationId xmlns:a16="http://schemas.microsoft.com/office/drawing/2014/main" id="{36C86FAE-252E-5441-8D9C-64BC30C08F21}"/>
                      </a:ext>
                    </a:extLst>
                  </p:cNvPr>
                  <p:cNvSpPr txBox="1">
                    <a:spLocks noChangeArrowheads="1"/>
                  </p:cNvSpPr>
                  <p:nvPr/>
                </p:nvSpPr>
                <p:spPr bwMode="auto">
                  <a:xfrm>
                    <a:off x="4216" y="2517"/>
                    <a:ext cx="58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a:t>
                    </a:r>
                  </a:p>
                </p:txBody>
              </p:sp>
              <p:sp>
                <p:nvSpPr>
                  <p:cNvPr id="191" name="Text Box 81">
                    <a:extLst>
                      <a:ext uri="{FF2B5EF4-FFF2-40B4-BE49-F238E27FC236}">
                        <a16:creationId xmlns:a16="http://schemas.microsoft.com/office/drawing/2014/main" id="{CFDD21D8-7DD6-9E4E-82CD-89F60D95E895}"/>
                      </a:ext>
                    </a:extLst>
                  </p:cNvPr>
                  <p:cNvSpPr txBox="1">
                    <a:spLocks noChangeArrowheads="1"/>
                  </p:cNvSpPr>
                  <p:nvPr/>
                </p:nvSpPr>
                <p:spPr bwMode="auto">
                  <a:xfrm>
                    <a:off x="4214" y="2564"/>
                    <a:ext cx="58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a:t>
                    </a:r>
                  </a:p>
                </p:txBody>
              </p:sp>
            </p:grpSp>
            <p:grpSp>
              <p:nvGrpSpPr>
                <p:cNvPr id="192" name="Group 86">
                  <a:extLst>
                    <a:ext uri="{FF2B5EF4-FFF2-40B4-BE49-F238E27FC236}">
                      <a16:creationId xmlns:a16="http://schemas.microsoft.com/office/drawing/2014/main" id="{A6A8A6BC-4690-FD46-A7A2-F81368063A97}"/>
                    </a:ext>
                  </a:extLst>
                </p:cNvPr>
                <p:cNvGrpSpPr>
                  <a:grpSpLocks/>
                </p:cNvGrpSpPr>
                <p:nvPr/>
              </p:nvGrpSpPr>
              <p:grpSpPr bwMode="auto">
                <a:xfrm>
                  <a:off x="8320082" y="3614743"/>
                  <a:ext cx="922336" cy="811214"/>
                  <a:chOff x="4335" y="2509"/>
                  <a:chExt cx="581" cy="511"/>
                </a:xfrm>
              </p:grpSpPr>
              <p:sp>
                <p:nvSpPr>
                  <p:cNvPr id="193" name="Text Box 83">
                    <a:extLst>
                      <a:ext uri="{FF2B5EF4-FFF2-40B4-BE49-F238E27FC236}">
                        <a16:creationId xmlns:a16="http://schemas.microsoft.com/office/drawing/2014/main" id="{2EABE0BC-E93A-7840-BC78-8917BD66E877}"/>
                      </a:ext>
                    </a:extLst>
                  </p:cNvPr>
                  <p:cNvSpPr txBox="1">
                    <a:spLocks noChangeArrowheads="1"/>
                  </p:cNvSpPr>
                  <p:nvPr/>
                </p:nvSpPr>
                <p:spPr bwMode="auto">
                  <a:xfrm>
                    <a:off x="4335" y="2509"/>
                    <a:ext cx="581"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a:t>
                    </a:r>
                  </a:p>
                </p:txBody>
              </p:sp>
              <p:sp>
                <p:nvSpPr>
                  <p:cNvPr id="194" name="Text Box 84">
                    <a:extLst>
                      <a:ext uri="{FF2B5EF4-FFF2-40B4-BE49-F238E27FC236}">
                        <a16:creationId xmlns:a16="http://schemas.microsoft.com/office/drawing/2014/main" id="{FC380433-330D-4342-82B3-E71BEB72AF06}"/>
                      </a:ext>
                    </a:extLst>
                  </p:cNvPr>
                  <p:cNvSpPr txBox="1">
                    <a:spLocks noChangeArrowheads="1"/>
                  </p:cNvSpPr>
                  <p:nvPr/>
                </p:nvSpPr>
                <p:spPr bwMode="auto">
                  <a:xfrm>
                    <a:off x="4398" y="2729"/>
                    <a:ext cx="463"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rPr>
                      <a:t>RTT</a:t>
                    </a:r>
                  </a:p>
                </p:txBody>
              </p:sp>
              <p:sp>
                <p:nvSpPr>
                  <p:cNvPr id="195" name="Line 85">
                    <a:extLst>
                      <a:ext uri="{FF2B5EF4-FFF2-40B4-BE49-F238E27FC236}">
                        <a16:creationId xmlns:a16="http://schemas.microsoft.com/office/drawing/2014/main" id="{1B9F9DB8-E2FB-AE45-88BA-CC221F1D6597}"/>
                      </a:ext>
                    </a:extLst>
                  </p:cNvPr>
                  <p:cNvSpPr>
                    <a:spLocks noChangeShapeType="1"/>
                  </p:cNvSpPr>
                  <p:nvPr/>
                </p:nvSpPr>
                <p:spPr bwMode="auto">
                  <a:xfrm>
                    <a:off x="4430" y="2763"/>
                    <a:ext cx="384"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6" name="Text Box 87">
                  <a:extLst>
                    <a:ext uri="{FF2B5EF4-FFF2-40B4-BE49-F238E27FC236}">
                      <a16:creationId xmlns:a16="http://schemas.microsoft.com/office/drawing/2014/main" id="{2A51BBA4-2F14-2F4F-A04D-EFFFF36AF41D}"/>
                    </a:ext>
                  </a:extLst>
                </p:cNvPr>
                <p:cNvSpPr txBox="1">
                  <a:spLocks noChangeArrowheads="1"/>
                </p:cNvSpPr>
                <p:nvPr/>
              </p:nvSpPr>
              <p:spPr bwMode="auto">
                <a:xfrm>
                  <a:off x="9141713" y="3823464"/>
                  <a:ext cx="118814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bytes/sec</a:t>
                  </a:r>
                </a:p>
              </p:txBody>
            </p:sp>
          </p:grpSp>
        </p:grpSp>
      </p:grpSp>
      <p:grpSp>
        <p:nvGrpSpPr>
          <p:cNvPr id="21" name="Group 20">
            <a:extLst>
              <a:ext uri="{FF2B5EF4-FFF2-40B4-BE49-F238E27FC236}">
                <a16:creationId xmlns:a16="http://schemas.microsoft.com/office/drawing/2014/main" id="{0B0449D2-8107-EC4E-BA6E-0B53574C5B7E}"/>
              </a:ext>
            </a:extLst>
          </p:cNvPr>
          <p:cNvGrpSpPr/>
          <p:nvPr/>
        </p:nvGrpSpPr>
        <p:grpSpPr>
          <a:xfrm>
            <a:off x="2327097" y="2874002"/>
            <a:ext cx="1660913" cy="1379180"/>
            <a:chOff x="2327097" y="2874002"/>
            <a:chExt cx="1660913" cy="1379180"/>
          </a:xfrm>
        </p:grpSpPr>
        <p:sp>
          <p:nvSpPr>
            <p:cNvPr id="171" name="Text Box 58">
              <a:extLst>
                <a:ext uri="{FF2B5EF4-FFF2-40B4-BE49-F238E27FC236}">
                  <a16:creationId xmlns:a16="http://schemas.microsoft.com/office/drawing/2014/main" id="{245049EB-D632-CE4C-A587-BA819860D407}"/>
                </a:ext>
              </a:extLst>
            </p:cNvPr>
            <p:cNvSpPr txBox="1">
              <a:spLocks noChangeArrowheads="1"/>
            </p:cNvSpPr>
            <p:nvPr/>
          </p:nvSpPr>
          <p:spPr bwMode="auto">
            <a:xfrm>
              <a:off x="2327097" y="3412952"/>
              <a:ext cx="1660913"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sent, but not-yet ACKed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in-flight”)</a:t>
              </a:r>
              <a:endParaRPr kumimoji="0" lang="en-US" altLang="en-US" sz="16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12" name="Group 11">
              <a:extLst>
                <a:ext uri="{FF2B5EF4-FFF2-40B4-BE49-F238E27FC236}">
                  <a16:creationId xmlns:a16="http://schemas.microsoft.com/office/drawing/2014/main" id="{8036A4AF-C412-6643-BB9E-A6741086FD03}"/>
                </a:ext>
              </a:extLst>
            </p:cNvPr>
            <p:cNvGrpSpPr/>
            <p:nvPr/>
          </p:nvGrpSpPr>
          <p:grpSpPr>
            <a:xfrm>
              <a:off x="2644060" y="2874002"/>
              <a:ext cx="1201888" cy="658131"/>
              <a:chOff x="2644060" y="2874003"/>
              <a:chExt cx="1201888" cy="635450"/>
            </a:xfrm>
          </p:grpSpPr>
          <p:sp>
            <p:nvSpPr>
              <p:cNvPr id="167" name="Line 51">
                <a:extLst>
                  <a:ext uri="{FF2B5EF4-FFF2-40B4-BE49-F238E27FC236}">
                    <a16:creationId xmlns:a16="http://schemas.microsoft.com/office/drawing/2014/main" id="{82259C8B-8E68-3B45-95EF-6297D889F723}"/>
                  </a:ext>
                </a:extLst>
              </p:cNvPr>
              <p:cNvSpPr>
                <a:spLocks noChangeShapeType="1"/>
              </p:cNvSpPr>
              <p:nvPr/>
            </p:nvSpPr>
            <p:spPr bwMode="auto">
              <a:xfrm>
                <a:off x="2644060" y="2874003"/>
                <a:ext cx="1201888"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cxnSp>
            <p:nvCxnSpPr>
              <p:cNvPr id="8" name="Straight Connector 7">
                <a:extLst>
                  <a:ext uri="{FF2B5EF4-FFF2-40B4-BE49-F238E27FC236}">
                    <a16:creationId xmlns:a16="http://schemas.microsoft.com/office/drawing/2014/main" id="{9E977076-799D-1F4B-B884-156CBD02FF8A}"/>
                  </a:ext>
                </a:extLst>
              </p:cNvPr>
              <p:cNvCxnSpPr>
                <a:cxnSpLocks/>
              </p:cNvCxnSpPr>
              <p:nvPr/>
            </p:nvCxnSpPr>
            <p:spPr>
              <a:xfrm>
                <a:off x="2850877" y="2898008"/>
                <a:ext cx="0" cy="61144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88" name="Slide Number Placeholder 2">
            <a:extLst>
              <a:ext uri="{FF2B5EF4-FFF2-40B4-BE49-F238E27FC236}">
                <a16:creationId xmlns:a16="http://schemas.microsoft.com/office/drawing/2014/main" id="{F3E09B12-4970-4049-B7E9-4060B63F1FB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52</a:t>
            </a:fld>
            <a:endParaRPr lang="en-US" dirty="0"/>
          </a:p>
        </p:txBody>
      </p:sp>
    </p:spTree>
    <p:extLst>
      <p:ext uri="{BB962C8B-B14F-4D97-AF65-F5344CB8AC3E}">
        <p14:creationId xmlns:p14="http://schemas.microsoft.com/office/powerpoint/2010/main" val="236382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dissolve">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9719"/>
            <a:ext cx="11393310" cy="894622"/>
          </a:xfrm>
        </p:spPr>
        <p:txBody>
          <a:bodyPr>
            <a:normAutofit/>
          </a:bodyPr>
          <a:lstStyle/>
          <a:p>
            <a:r>
              <a:rPr lang="en-US" sz="4800" dirty="0"/>
              <a:t>TCP slow start </a:t>
            </a:r>
            <a:endParaRPr lang="en-US" sz="4400" b="0" dirty="0"/>
          </a:p>
        </p:txBody>
      </p:sp>
      <p:sp>
        <p:nvSpPr>
          <p:cNvPr id="88" name="Rectangle 3">
            <a:extLst>
              <a:ext uri="{FF2B5EF4-FFF2-40B4-BE49-F238E27FC236}">
                <a16:creationId xmlns:a16="http://schemas.microsoft.com/office/drawing/2014/main" id="{8A57114D-913B-0446-AF23-3E8C1F4B81CA}"/>
              </a:ext>
            </a:extLst>
          </p:cNvPr>
          <p:cNvSpPr txBox="1">
            <a:spLocks noChangeArrowheads="1"/>
          </p:cNvSpPr>
          <p:nvPr/>
        </p:nvSpPr>
        <p:spPr>
          <a:xfrm>
            <a:off x="1143000" y="1384299"/>
            <a:ext cx="5118100" cy="521425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when connection begins, increase rate exponentially until first loss event: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initially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MSS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double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every RTT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done by incrementing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for every ACK received</a:t>
            </a:r>
          </a:p>
        </p:txBody>
      </p:sp>
      <p:sp>
        <p:nvSpPr>
          <p:cNvPr id="224" name="Line 6">
            <a:extLst>
              <a:ext uri="{FF2B5EF4-FFF2-40B4-BE49-F238E27FC236}">
                <a16:creationId xmlns:a16="http://schemas.microsoft.com/office/drawing/2014/main" id="{6A528287-EE91-2148-8BF9-9042AB1CFB64}"/>
              </a:ext>
            </a:extLst>
          </p:cNvPr>
          <p:cNvSpPr>
            <a:spLocks noChangeShapeType="1"/>
          </p:cNvSpPr>
          <p:nvPr/>
        </p:nvSpPr>
        <p:spPr bwMode="auto">
          <a:xfrm>
            <a:off x="7585075" y="2306590"/>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7181850" y="1168352"/>
            <a:ext cx="8699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Host A</a:t>
            </a:r>
          </a:p>
        </p:txBody>
      </p:sp>
      <p:sp>
        <p:nvSpPr>
          <p:cNvPr id="2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8591550" y="2273252"/>
            <a:ext cx="1208088"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one segment</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28"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9618663" y="1154065"/>
            <a:ext cx="8699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Host B</a:t>
            </a:r>
          </a:p>
        </p:txBody>
      </p:sp>
      <p:sp>
        <p:nvSpPr>
          <p:cNvPr id="229" name="Line 13">
            <a:extLst>
              <a:ext uri="{FF2B5EF4-FFF2-40B4-BE49-F238E27FC236}">
                <a16:creationId xmlns:a16="http://schemas.microsoft.com/office/drawing/2014/main" id="{A18AC8EC-DBD1-E34E-B3EA-D3876A530333}"/>
              </a:ext>
            </a:extLst>
          </p:cNvPr>
          <p:cNvSpPr>
            <a:spLocks noChangeShapeType="1"/>
          </p:cNvSpPr>
          <p:nvPr/>
        </p:nvSpPr>
        <p:spPr bwMode="auto">
          <a:xfrm>
            <a:off x="7580313" y="2120852"/>
            <a:ext cx="0" cy="3848100"/>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Line 14">
            <a:extLst>
              <a:ext uri="{FF2B5EF4-FFF2-40B4-BE49-F238E27FC236}">
                <a16:creationId xmlns:a16="http://schemas.microsoft.com/office/drawing/2014/main" id="{77B3310E-1B60-414E-9423-328982307B1D}"/>
              </a:ext>
            </a:extLst>
          </p:cNvPr>
          <p:cNvSpPr>
            <a:spLocks noChangeShapeType="1"/>
          </p:cNvSpPr>
          <p:nvPr/>
        </p:nvSpPr>
        <p:spPr bwMode="auto">
          <a:xfrm>
            <a:off x="10094913" y="2158952"/>
            <a:ext cx="0" cy="3848100"/>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E69B56F2-B7D2-5247-8C5B-11CDFE50D6C7}"/>
              </a:ext>
            </a:extLst>
          </p:cNvPr>
          <p:cNvGrpSpPr/>
          <p:nvPr/>
        </p:nvGrpSpPr>
        <p:grpSpPr>
          <a:xfrm>
            <a:off x="7254875" y="2270077"/>
            <a:ext cx="304800" cy="830263"/>
            <a:chOff x="7254875" y="2270077"/>
            <a:chExt cx="304800" cy="830263"/>
          </a:xfrm>
        </p:grpSpPr>
        <p:sp>
          <p:nvSpPr>
            <p:cNvPr id="22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5400000">
              <a:off x="7142956" y="2510584"/>
              <a:ext cx="528637"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RTT</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231"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3"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7561263" y="2711402"/>
            <a:ext cx="2505075" cy="352425"/>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4" name="Group 18">
            <a:extLst>
              <a:ext uri="{FF2B5EF4-FFF2-40B4-BE49-F238E27FC236}">
                <a16:creationId xmlns:a16="http://schemas.microsoft.com/office/drawing/2014/main" id="{065B59AF-8C8D-9041-B965-0C2B0A5F8CEF}"/>
              </a:ext>
            </a:extLst>
          </p:cNvPr>
          <p:cNvGrpSpPr>
            <a:grpSpLocks/>
          </p:cNvGrpSpPr>
          <p:nvPr/>
        </p:nvGrpSpPr>
        <p:grpSpPr bwMode="auto">
          <a:xfrm>
            <a:off x="9809163" y="5453015"/>
            <a:ext cx="615950" cy="366712"/>
            <a:chOff x="3317" y="3527"/>
            <a:chExt cx="388" cy="231"/>
          </a:xfrm>
        </p:grpSpPr>
        <p:sp>
          <p:nvSpPr>
            <p:cNvPr id="235" name="Rectangle 19">
              <a:extLst>
                <a:ext uri="{FF2B5EF4-FFF2-40B4-BE49-F238E27FC236}">
                  <a16:creationId xmlns:a16="http://schemas.microsoft.com/office/drawing/2014/main" id="{87C76A64-BE9B-B84D-B23B-73554D8DC2C9}"/>
                </a:ext>
              </a:extLst>
            </p:cNvPr>
            <p:cNvSpPr>
              <a:spLocks noChangeArrowheads="1"/>
            </p:cNvSpPr>
            <p:nvPr/>
          </p:nvSpPr>
          <p:spPr bwMode="auto">
            <a:xfrm>
              <a:off x="3342" y="3576"/>
              <a:ext cx="324" cy="15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6" name="Text Box 20">
              <a:extLst>
                <a:ext uri="{FF2B5EF4-FFF2-40B4-BE49-F238E27FC236}">
                  <a16:creationId xmlns:a16="http://schemas.microsoft.com/office/drawing/2014/main" id="{0453126D-C0BC-5F4F-8DBD-30CD1FA8A1CD}"/>
                </a:ext>
              </a:extLst>
            </p:cNvPr>
            <p:cNvSpPr txBox="1">
              <a:spLocks noChangeArrowheads="1"/>
            </p:cNvSpPr>
            <p:nvPr/>
          </p:nvSpPr>
          <p:spPr bwMode="auto">
            <a:xfrm>
              <a:off x="3317" y="3527"/>
              <a:ext cx="388" cy="2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time</a:t>
              </a:r>
              <a:endPar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5" name="Group 4">
            <a:extLst>
              <a:ext uri="{FF2B5EF4-FFF2-40B4-BE49-F238E27FC236}">
                <a16:creationId xmlns:a16="http://schemas.microsoft.com/office/drawing/2014/main" id="{4100408E-3418-754E-97D5-873085045522}"/>
              </a:ext>
            </a:extLst>
          </p:cNvPr>
          <p:cNvGrpSpPr/>
          <p:nvPr/>
        </p:nvGrpSpPr>
        <p:grpSpPr>
          <a:xfrm>
            <a:off x="7585075" y="3087640"/>
            <a:ext cx="2509838" cy="438150"/>
            <a:chOff x="7585075" y="3087640"/>
            <a:chExt cx="2509838" cy="438150"/>
          </a:xfrm>
        </p:grpSpPr>
        <p:sp>
          <p:nvSpPr>
            <p:cNvPr id="237"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8"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C604703D-5DBE-F940-8D53-F844A095856D}"/>
              </a:ext>
            </a:extLst>
          </p:cNvPr>
          <p:cNvGrpSpPr/>
          <p:nvPr/>
        </p:nvGrpSpPr>
        <p:grpSpPr>
          <a:xfrm>
            <a:off x="7558088" y="3697240"/>
            <a:ext cx="2555875" cy="612775"/>
            <a:chOff x="7558088" y="3697240"/>
            <a:chExt cx="2555875" cy="612775"/>
          </a:xfrm>
        </p:grpSpPr>
        <p:sp>
          <p:nvSpPr>
            <p:cNvPr id="239"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957590"/>
              <a:ext cx="2505075" cy="352425"/>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1"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8589963" y="3059065"/>
            <a:ext cx="1277937"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two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42"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8682038" y="4073477"/>
            <a:ext cx="1306512"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four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nvGrpSpPr>
          <p:cNvPr id="243" name="Group 27">
            <a:extLst>
              <a:ext uri="{FF2B5EF4-FFF2-40B4-BE49-F238E27FC236}">
                <a16:creationId xmlns:a16="http://schemas.microsoft.com/office/drawing/2014/main" id="{B634F089-4244-B04A-8749-7ACF0E0264A8}"/>
              </a:ext>
            </a:extLst>
          </p:cNvPr>
          <p:cNvGrpSpPr>
            <a:grpSpLocks/>
          </p:cNvGrpSpPr>
          <p:nvPr/>
        </p:nvGrpSpPr>
        <p:grpSpPr bwMode="auto">
          <a:xfrm>
            <a:off x="7580316" y="4092527"/>
            <a:ext cx="2519363" cy="652463"/>
            <a:chOff x="3954" y="2214"/>
            <a:chExt cx="1587" cy="411"/>
          </a:xfrm>
        </p:grpSpPr>
        <p:sp>
          <p:nvSpPr>
            <p:cNvPr id="244"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5"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48" name="Group 32">
            <a:extLst>
              <a:ext uri="{FF2B5EF4-FFF2-40B4-BE49-F238E27FC236}">
                <a16:creationId xmlns:a16="http://schemas.microsoft.com/office/drawing/2014/main" id="{00C5C000-11E9-BE42-9849-B1B7B9E99FE0}"/>
              </a:ext>
            </a:extLst>
          </p:cNvPr>
          <p:cNvGrpSpPr>
            <a:grpSpLocks/>
          </p:cNvGrpSpPr>
          <p:nvPr/>
        </p:nvGrpSpPr>
        <p:grpSpPr bwMode="auto">
          <a:xfrm flipV="1">
            <a:off x="7866063" y="4473527"/>
            <a:ext cx="2228850" cy="604838"/>
            <a:chOff x="3954" y="2214"/>
            <a:chExt cx="1587" cy="411"/>
          </a:xfrm>
        </p:grpSpPr>
        <p:sp>
          <p:nvSpPr>
            <p:cNvPr id="249"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1"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53" name="Group 43">
            <a:extLst>
              <a:ext uri="{FF2B5EF4-FFF2-40B4-BE49-F238E27FC236}">
                <a16:creationId xmlns:a16="http://schemas.microsoft.com/office/drawing/2014/main" id="{D0982D30-E871-F344-B80E-157861960777}"/>
              </a:ext>
            </a:extLst>
          </p:cNvPr>
          <p:cNvGrpSpPr>
            <a:grpSpLocks/>
          </p:cNvGrpSpPr>
          <p:nvPr/>
        </p:nvGrpSpPr>
        <p:grpSpPr bwMode="auto">
          <a:xfrm>
            <a:off x="7142163" y="1492202"/>
            <a:ext cx="654050" cy="601663"/>
            <a:chOff x="-44" y="1473"/>
            <a:chExt cx="981" cy="1105"/>
          </a:xfrm>
        </p:grpSpPr>
        <p:pic>
          <p:nvPicPr>
            <p:cNvPr id="25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6" name="Group 46">
            <a:extLst>
              <a:ext uri="{FF2B5EF4-FFF2-40B4-BE49-F238E27FC236}">
                <a16:creationId xmlns:a16="http://schemas.microsoft.com/office/drawing/2014/main" id="{514EF769-BED4-DE47-BE55-0913ABFB155D}"/>
              </a:ext>
            </a:extLst>
          </p:cNvPr>
          <p:cNvGrpSpPr>
            <a:grpSpLocks/>
          </p:cNvGrpSpPr>
          <p:nvPr/>
        </p:nvGrpSpPr>
        <p:grpSpPr bwMode="auto">
          <a:xfrm>
            <a:off x="9877425" y="1506490"/>
            <a:ext cx="337727" cy="547687"/>
            <a:chOff x="4140" y="429"/>
            <a:chExt cx="1425" cy="2396"/>
          </a:xfrm>
        </p:grpSpPr>
        <p:sp>
          <p:nvSpPr>
            <p:cNvPr id="257"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0"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1"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2"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8"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3"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4"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6"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5"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6"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7"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4"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8"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9"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2"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70"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1"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2"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4"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5"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7"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8"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79"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0"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1168400" y="4597399"/>
            <a:ext cx="5118100" cy="190500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1" u="none" strike="noStrike" kern="1200" cap="none" spc="0" normalizeH="0" baseline="0" noProof="0" dirty="0">
                <a:ln>
                  <a:noFill/>
                </a:ln>
                <a:solidFill>
                  <a:srgbClr val="CC0000"/>
                </a:solidFill>
                <a:effectLst/>
                <a:uLnTx/>
                <a:uFillTx/>
                <a:latin typeface="Calibri" panose="020F0502020204030204"/>
                <a:ea typeface="+mn-ea"/>
                <a:cs typeface="+mn-cs"/>
              </a:rPr>
              <a:t>summary: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initial rate is slow, but ramps up exponentially fast</a:t>
            </a:r>
          </a:p>
        </p:txBody>
      </p:sp>
      <p:sp>
        <p:nvSpPr>
          <p:cNvPr id="74" name="Slide Number Placeholder 2">
            <a:extLst>
              <a:ext uri="{FF2B5EF4-FFF2-40B4-BE49-F238E27FC236}">
                <a16:creationId xmlns:a16="http://schemas.microsoft.com/office/drawing/2014/main" id="{E6BF77EC-AB9F-944C-99D2-21B2DB400DB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53</a:t>
            </a:fld>
            <a:endParaRPr lang="en-US" dirty="0"/>
          </a:p>
        </p:txBody>
      </p:sp>
    </p:spTree>
    <p:extLst>
      <p:ext uri="{BB962C8B-B14F-4D97-AF65-F5344CB8AC3E}">
        <p14:creationId xmlns:p14="http://schemas.microsoft.com/office/powerpoint/2010/main" val="318527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par>
                          <p:cTn id="38" fill="hold">
                            <p:stCondLst>
                              <p:cond delay="1500"/>
                            </p:stCondLst>
                            <p:childTnLst>
                              <p:par>
                                <p:cTn id="39" presetID="22" presetClass="entr" presetSubtype="2" fill="hold" nodeType="afterEffect">
                                  <p:stCondLst>
                                    <p:cond delay="0"/>
                                  </p:stCondLst>
                                  <p:childTnLst>
                                    <p:set>
                                      <p:cBhvr>
                                        <p:cTn id="40" dur="1" fill="hold">
                                          <p:stCondLst>
                                            <p:cond delay="0"/>
                                          </p:stCondLst>
                                        </p:cTn>
                                        <p:tgtEl>
                                          <p:spTgt spid="248"/>
                                        </p:tgtEl>
                                        <p:attrNameLst>
                                          <p:attrName>style.visibility</p:attrName>
                                        </p:attrNameLst>
                                      </p:cBhvr>
                                      <p:to>
                                        <p:strVal val="visible"/>
                                      </p:to>
                                    </p:set>
                                    <p:animEffect transition="in" filter="wipe(right)">
                                      <p:cBhvr>
                                        <p:cTn id="41" dur="500"/>
                                        <p:tgtEl>
                                          <p:spTgt spid="24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dissolve">
                                      <p:cBhvr>
                                        <p:cTn id="4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46743"/>
            <a:ext cx="11393310" cy="894622"/>
          </a:xfrm>
        </p:spPr>
        <p:txBody>
          <a:bodyPr>
            <a:normAutofit/>
          </a:bodyPr>
          <a:lstStyle/>
          <a:p>
            <a:r>
              <a:rPr lang="en-US" sz="4800" dirty="0"/>
              <a:t>TCP: from slow start to congestion avoidance</a:t>
            </a:r>
            <a:endParaRPr lang="en-US" sz="4400" b="0" dirty="0"/>
          </a:p>
        </p:txBody>
      </p:sp>
      <p:sp>
        <p:nvSpPr>
          <p:cNvPr id="76" name="Rectangle 3">
            <a:extLst>
              <a:ext uri="{FF2B5EF4-FFF2-40B4-BE49-F238E27FC236}">
                <a16:creationId xmlns:a16="http://schemas.microsoft.com/office/drawing/2014/main" id="{2C9AD9FD-A93B-FF4D-B019-6827A14601C2}"/>
              </a:ext>
            </a:extLst>
          </p:cNvPr>
          <p:cNvSpPr txBox="1">
            <a:spLocks noChangeArrowheads="1"/>
          </p:cNvSpPr>
          <p:nvPr/>
        </p:nvSpPr>
        <p:spPr>
          <a:xfrm>
            <a:off x="952500" y="1382665"/>
            <a:ext cx="5054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should the exponential increase switch to linear?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gets to 1/2 of its value before timeout.</a:t>
            </a:r>
          </a:p>
        </p:txBody>
      </p:sp>
      <p:sp>
        <p:nvSpPr>
          <p:cNvPr id="77" name="Rectangle 4">
            <a:extLst>
              <a:ext uri="{FF2B5EF4-FFF2-40B4-BE49-F238E27FC236}">
                <a16:creationId xmlns:a16="http://schemas.microsoft.com/office/drawing/2014/main" id="{38B71F69-39D9-954A-BA33-6A5861B7704D}"/>
              </a:ext>
            </a:extLst>
          </p:cNvPr>
          <p:cNvSpPr txBox="1">
            <a:spLocks noChangeArrowheads="1"/>
          </p:cNvSpPr>
          <p:nvPr/>
        </p:nvSpPr>
        <p:spPr>
          <a:xfrm>
            <a:off x="952500" y="3528965"/>
            <a:ext cx="4927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variable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loss event,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set to 1/2 of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just before loss event</a:t>
            </a:r>
          </a:p>
        </p:txBody>
      </p:sp>
      <p:pic>
        <p:nvPicPr>
          <p:cNvPr id="79" name="Picture 7">
            <a:extLst>
              <a:ext uri="{FF2B5EF4-FFF2-40B4-BE49-F238E27FC236}">
                <a16:creationId xmlns:a16="http://schemas.microsoft.com/office/drawing/2014/main"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387" y="1889345"/>
            <a:ext cx="5536882" cy="31575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0" name="TextBox 1">
            <a:extLst>
              <a:ext uri="{FF2B5EF4-FFF2-40B4-BE49-F238E27FC236}">
                <a16:creationId xmlns:a16="http://schemas.microsoft.com/office/drawing/2014/main" id="{E6044695-E347-A24B-9CB7-78BC77131884}"/>
              </a:ext>
            </a:extLst>
          </p:cNvPr>
          <p:cNvSpPr txBox="1">
            <a:spLocks noChangeArrowheads="1"/>
          </p:cNvSpPr>
          <p:nvPr/>
        </p:nvSpPr>
        <p:spPr bwMode="auto">
          <a:xfrm>
            <a:off x="1143000" y="6135312"/>
            <a:ext cx="97567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h</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ttp://gaia.cs.umass.edu/kurose_ross/interactive/</a:t>
            </a:r>
          </a:p>
        </p:txBody>
      </p:sp>
      <p:sp>
        <p:nvSpPr>
          <p:cNvPr id="7" name="Rectangle 6">
            <a:extLst>
              <a:ext uri="{FF2B5EF4-FFF2-40B4-BE49-F238E27FC236}">
                <a16:creationId xmlns:a16="http://schemas.microsoft.com/office/drawing/2014/main" id="{7E5A3F5F-F42B-F04E-BB6A-D57835C29067}"/>
              </a:ext>
            </a:extLst>
          </p:cNvPr>
          <p:cNvSpPr/>
          <p:nvPr/>
        </p:nvSpPr>
        <p:spPr>
          <a:xfrm>
            <a:off x="7851775" y="3825875"/>
            <a:ext cx="850900"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7677150" y="3924300"/>
            <a:ext cx="8509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4"/>
          <a:stretch>
            <a:fillRect/>
          </a:stretch>
        </p:blipFill>
        <p:spPr>
          <a:xfrm>
            <a:off x="10020300" y="3804496"/>
            <a:ext cx="1003300" cy="234103"/>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9194800" y="1892300"/>
            <a:ext cx="2133600" cy="248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9067800" y="2197100"/>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X</a:t>
            </a:r>
          </a:p>
        </p:txBody>
      </p:sp>
      <p:sp>
        <p:nvSpPr>
          <p:cNvPr id="13" name="Slide Number Placeholder 2">
            <a:extLst>
              <a:ext uri="{FF2B5EF4-FFF2-40B4-BE49-F238E27FC236}">
                <a16:creationId xmlns:a16="http://schemas.microsoft.com/office/drawing/2014/main" id="{632F645E-415D-7B49-B6B8-127E8033C54D}"/>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54</a:t>
            </a:fld>
            <a:endParaRPr lang="en-US" dirty="0"/>
          </a:p>
        </p:txBody>
      </p:sp>
    </p:spTree>
    <p:extLst>
      <p:ext uri="{BB962C8B-B14F-4D97-AF65-F5344CB8AC3E}">
        <p14:creationId xmlns:p14="http://schemas.microsoft.com/office/powerpoint/2010/main" val="272109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dissolve">
                                      <p:cBhvr>
                                        <p:cTn id="1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80" grpId="0"/>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32962"/>
            <a:ext cx="11393310" cy="894622"/>
          </a:xfrm>
        </p:spPr>
        <p:txBody>
          <a:bodyPr>
            <a:normAutofit/>
          </a:bodyPr>
          <a:lstStyle/>
          <a:p>
            <a:r>
              <a:rPr lang="en-US" sz="4800" dirty="0"/>
              <a:t>Summary: TCP congestion control</a:t>
            </a:r>
            <a:endParaRPr lang="en-US" sz="4400" b="0" dirty="0"/>
          </a:p>
        </p:txBody>
      </p:sp>
      <p:grpSp>
        <p:nvGrpSpPr>
          <p:cNvPr id="120" name="Group 240">
            <a:extLst>
              <a:ext uri="{FF2B5EF4-FFF2-40B4-BE49-F238E27FC236}">
                <a16:creationId xmlns:a16="http://schemas.microsoft.com/office/drawing/2014/main" id="{B8318BC0-AA34-2B4C-984C-EDCF98015A80}"/>
              </a:ext>
            </a:extLst>
          </p:cNvPr>
          <p:cNvGrpSpPr>
            <a:grpSpLocks/>
          </p:cNvGrpSpPr>
          <p:nvPr/>
        </p:nvGrpSpPr>
        <p:grpSpPr bwMode="auto">
          <a:xfrm>
            <a:off x="5041900" y="2967944"/>
            <a:ext cx="2133600" cy="814388"/>
            <a:chOff x="2168" y="1727"/>
            <a:chExt cx="1344" cy="513"/>
          </a:xfrm>
        </p:grpSpPr>
        <p:grpSp>
          <p:nvGrpSpPr>
            <p:cNvPr id="121" name="Group 171">
              <a:extLst>
                <a:ext uri="{FF2B5EF4-FFF2-40B4-BE49-F238E27FC236}">
                  <a16:creationId xmlns:a16="http://schemas.microsoft.com/office/drawing/2014/main" id="{D4CA30E0-0C2B-AE49-9354-140DEA72FEEE}"/>
                </a:ext>
              </a:extLst>
            </p:cNvPr>
            <p:cNvGrpSpPr>
              <a:grpSpLocks/>
            </p:cNvGrpSpPr>
            <p:nvPr/>
          </p:nvGrpSpPr>
          <p:grpSpPr bwMode="auto">
            <a:xfrm>
              <a:off x="2280" y="1727"/>
              <a:ext cx="1118" cy="513"/>
              <a:chOff x="2280" y="1727"/>
              <a:chExt cx="1118" cy="513"/>
            </a:xfrm>
          </p:grpSpPr>
          <p:sp>
            <p:nvSpPr>
              <p:cNvPr id="123" name="Text Box 172">
                <a:extLst>
                  <a:ext uri="{FF2B5EF4-FFF2-40B4-BE49-F238E27FC236}">
                    <a16:creationId xmlns:a16="http://schemas.microsoft.com/office/drawing/2014/main" id="{FF8E7E11-C655-8C41-BFE2-A6DA1E48685D}"/>
                  </a:ext>
                </a:extLst>
              </p:cNvPr>
              <p:cNvSpPr txBox="1">
                <a:spLocks noChangeArrowheads="1"/>
              </p:cNvSpPr>
              <p:nvPr/>
            </p:nvSpPr>
            <p:spPr bwMode="auto">
              <a:xfrm>
                <a:off x="2640" y="1727"/>
                <a:ext cx="377"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timeout</a:t>
                </a:r>
              </a:p>
            </p:txBody>
          </p:sp>
          <p:sp>
            <p:nvSpPr>
              <p:cNvPr id="124" name="Text Box 173">
                <a:extLst>
                  <a:ext uri="{FF2B5EF4-FFF2-40B4-BE49-F238E27FC236}">
                    <a16:creationId xmlns:a16="http://schemas.microsoft.com/office/drawing/2014/main" id="{781154BA-9409-094D-BBC4-EE21CE699661}"/>
                  </a:ext>
                </a:extLst>
              </p:cNvPr>
              <p:cNvSpPr txBox="1">
                <a:spLocks noChangeArrowheads="1"/>
              </p:cNvSpPr>
              <p:nvPr/>
            </p:nvSpPr>
            <p:spPr bwMode="auto">
              <a:xfrm>
                <a:off x="2280" y="1838"/>
                <a:ext cx="1118" cy="4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ssthresh = cwnd/2</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0</a:t>
                </a:r>
              </a:p>
              <a:p>
                <a:pPr marL="0" marR="0" lvl="0" indent="0" algn="ctr" defTabSz="914400" rtl="0" eaLnBrk="1" fontAlgn="base" latinLnBrk="0" hangingPunct="1">
                  <a:lnSpc>
                    <a:spcPct val="85000"/>
                  </a:lnSpc>
                  <a:spcBef>
                    <a:spcPct val="0"/>
                  </a:spcBef>
                  <a:spcAft>
                    <a:spcPct val="0"/>
                  </a:spcAft>
                  <a:buClrTx/>
                  <a:buSzTx/>
                  <a:buFontTx/>
                  <a:buNone/>
                  <a:tabLst/>
                  <a:defRPr/>
                </a:pPr>
                <a:r>
                  <a:rPr kumimoji="0" lang="en-US" sz="100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a:t>
                </a:r>
              </a:p>
            </p:txBody>
          </p:sp>
          <p:sp>
            <p:nvSpPr>
              <p:cNvPr id="125" name="Line 174">
                <a:extLst>
                  <a:ext uri="{FF2B5EF4-FFF2-40B4-BE49-F238E27FC236}">
                    <a16:creationId xmlns:a16="http://schemas.microsoft.com/office/drawing/2014/main" id="{23E8607A-0151-5141-A774-0AAB4333ECA7}"/>
                  </a:ext>
                </a:extLst>
              </p:cNvPr>
              <p:cNvSpPr>
                <a:spLocks noChangeShapeType="1"/>
              </p:cNvSpPr>
              <p:nvPr/>
            </p:nvSpPr>
            <p:spPr bwMode="auto">
              <a:xfrm>
                <a:off x="2491" y="1857"/>
                <a:ext cx="697"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2" name="Line 175">
              <a:extLst>
                <a:ext uri="{FF2B5EF4-FFF2-40B4-BE49-F238E27FC236}">
                  <a16:creationId xmlns:a16="http://schemas.microsoft.com/office/drawing/2014/main" id="{480EB5CD-B8F2-AD46-B2D4-50FE6302F915}"/>
                </a:ext>
              </a:extLst>
            </p:cNvPr>
            <p:cNvSpPr>
              <a:spLocks noChangeShapeType="1"/>
            </p:cNvSpPr>
            <p:nvPr/>
          </p:nvSpPr>
          <p:spPr bwMode="auto">
            <a:xfrm flipH="1">
              <a:off x="2168" y="1734"/>
              <a:ext cx="1344"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26" name="Group 239">
            <a:extLst>
              <a:ext uri="{FF2B5EF4-FFF2-40B4-BE49-F238E27FC236}">
                <a16:creationId xmlns:a16="http://schemas.microsoft.com/office/drawing/2014/main" id="{BEAEB11D-18E7-8047-A552-B728B0628FCC}"/>
              </a:ext>
            </a:extLst>
          </p:cNvPr>
          <p:cNvGrpSpPr>
            <a:grpSpLocks/>
          </p:cNvGrpSpPr>
          <p:nvPr/>
        </p:nvGrpSpPr>
        <p:grpSpPr bwMode="auto">
          <a:xfrm>
            <a:off x="5072063" y="2491694"/>
            <a:ext cx="2133600" cy="398463"/>
            <a:chOff x="2187" y="1427"/>
            <a:chExt cx="1344" cy="251"/>
          </a:xfrm>
        </p:grpSpPr>
        <p:sp>
          <p:nvSpPr>
            <p:cNvPr id="127" name="Line 176">
              <a:extLst>
                <a:ext uri="{FF2B5EF4-FFF2-40B4-BE49-F238E27FC236}">
                  <a16:creationId xmlns:a16="http://schemas.microsoft.com/office/drawing/2014/main" id="{D84A4978-7B73-A04D-B0FB-C9ECAA3BFBCF}"/>
                </a:ext>
              </a:extLst>
            </p:cNvPr>
            <p:cNvSpPr>
              <a:spLocks noChangeShapeType="1"/>
            </p:cNvSpPr>
            <p:nvPr/>
          </p:nvSpPr>
          <p:spPr bwMode="auto">
            <a:xfrm flipH="1">
              <a:off x="2187" y="1673"/>
              <a:ext cx="1344" cy="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8" name="Text Box 181">
              <a:extLst>
                <a:ext uri="{FF2B5EF4-FFF2-40B4-BE49-F238E27FC236}">
                  <a16:creationId xmlns:a16="http://schemas.microsoft.com/office/drawing/2014/main" id="{67AF987A-C53D-534B-8C98-26557C3B4EEF}"/>
                </a:ext>
              </a:extLst>
            </p:cNvPr>
            <p:cNvSpPr txBox="1">
              <a:spLocks noChangeArrowheads="1"/>
            </p:cNvSpPr>
            <p:nvPr/>
          </p:nvSpPr>
          <p:spPr bwMode="auto">
            <a:xfrm>
              <a:off x="2740" y="1543"/>
              <a:ext cx="171" cy="1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Symbol" charset="0"/>
                  <a:ea typeface="ＭＳ Ｐゴシック" charset="0"/>
                  <a:cs typeface="+mn-cs"/>
                </a:rPr>
                <a:t>L</a:t>
              </a:r>
              <a:endParaRPr kumimoji="0" lang="en-US" sz="1200" b="0" i="0" u="none" strike="noStrike" kern="0" cap="none" spc="0" normalizeH="0" baseline="0" noProof="0" dirty="0">
                <a:ln>
                  <a:noFill/>
                </a:ln>
                <a:solidFill>
                  <a:srgbClr val="000000"/>
                </a:solidFill>
                <a:effectLst/>
                <a:uLnTx/>
                <a:uFillTx/>
                <a:latin typeface="Symbol" charset="0"/>
                <a:ea typeface="ＭＳ Ｐゴシック" charset="0"/>
                <a:cs typeface="+mn-cs"/>
              </a:endParaRPr>
            </a:p>
          </p:txBody>
        </p:sp>
        <p:sp>
          <p:nvSpPr>
            <p:cNvPr id="129" name="Line 182">
              <a:extLst>
                <a:ext uri="{FF2B5EF4-FFF2-40B4-BE49-F238E27FC236}">
                  <a16:creationId xmlns:a16="http://schemas.microsoft.com/office/drawing/2014/main" id="{0957FCBB-06D0-8E4D-B983-2F2597BDE03A}"/>
                </a:ext>
              </a:extLst>
            </p:cNvPr>
            <p:cNvSpPr>
              <a:spLocks noChangeShapeType="1"/>
            </p:cNvSpPr>
            <p:nvPr/>
          </p:nvSpPr>
          <p:spPr bwMode="auto">
            <a:xfrm>
              <a:off x="2572" y="1554"/>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30" name="Group 183">
              <a:extLst>
                <a:ext uri="{FF2B5EF4-FFF2-40B4-BE49-F238E27FC236}">
                  <a16:creationId xmlns:a16="http://schemas.microsoft.com/office/drawing/2014/main" id="{2A6AF175-C9C0-F044-9ECF-011972294E6E}"/>
                </a:ext>
              </a:extLst>
            </p:cNvPr>
            <p:cNvGrpSpPr>
              <a:grpSpLocks/>
            </p:cNvGrpSpPr>
            <p:nvPr/>
          </p:nvGrpSpPr>
          <p:grpSpPr bwMode="auto">
            <a:xfrm>
              <a:off x="2486" y="1427"/>
              <a:ext cx="694" cy="154"/>
              <a:chOff x="2458" y="1450"/>
              <a:chExt cx="694" cy="154"/>
            </a:xfrm>
          </p:grpSpPr>
          <p:sp>
            <p:nvSpPr>
              <p:cNvPr id="131" name="Text Box 184">
                <a:extLst>
                  <a:ext uri="{FF2B5EF4-FFF2-40B4-BE49-F238E27FC236}">
                    <a16:creationId xmlns:a16="http://schemas.microsoft.com/office/drawing/2014/main" id="{69E43EDF-5B05-364C-B439-379F8E8E5464}"/>
                  </a:ext>
                </a:extLst>
              </p:cNvPr>
              <p:cNvSpPr txBox="1">
                <a:spLocks noChangeArrowheads="1"/>
              </p:cNvSpPr>
              <p:nvPr/>
            </p:nvSpPr>
            <p:spPr bwMode="auto">
              <a:xfrm>
                <a:off x="2458" y="1450"/>
                <a:ext cx="69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rPr>
                  <a:t>cwnd &gt; ssthresh</a:t>
                </a:r>
              </a:p>
            </p:txBody>
          </p:sp>
          <p:sp>
            <p:nvSpPr>
              <p:cNvPr id="132" name="Line 185">
                <a:extLst>
                  <a:ext uri="{FF2B5EF4-FFF2-40B4-BE49-F238E27FC236}">
                    <a16:creationId xmlns:a16="http://schemas.microsoft.com/office/drawing/2014/main" id="{A2D5E496-DCFA-5A4E-A6E2-D2DB456893C6}"/>
                  </a:ext>
                </a:extLst>
              </p:cNvPr>
              <p:cNvSpPr>
                <a:spLocks noChangeShapeType="1"/>
              </p:cNvSpPr>
              <p:nvPr/>
            </p:nvSpPr>
            <p:spPr bwMode="auto">
              <a:xfrm>
                <a:off x="2724" y="1557"/>
                <a:ext cx="47"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33" name="Group 242">
            <a:extLst>
              <a:ext uri="{FF2B5EF4-FFF2-40B4-BE49-F238E27FC236}">
                <a16:creationId xmlns:a16="http://schemas.microsoft.com/office/drawing/2014/main" id="{47D1413D-A42B-8C4D-87CC-5C4E42849EFF}"/>
              </a:ext>
            </a:extLst>
          </p:cNvPr>
          <p:cNvGrpSpPr>
            <a:grpSpLocks/>
          </p:cNvGrpSpPr>
          <p:nvPr/>
        </p:nvGrpSpPr>
        <p:grpSpPr bwMode="auto">
          <a:xfrm>
            <a:off x="7118352" y="1429657"/>
            <a:ext cx="2782888" cy="2398713"/>
            <a:chOff x="3476" y="786"/>
            <a:chExt cx="1753" cy="1511"/>
          </a:xfrm>
        </p:grpSpPr>
        <p:grpSp>
          <p:nvGrpSpPr>
            <p:cNvPr id="134" name="Group 164">
              <a:extLst>
                <a:ext uri="{FF2B5EF4-FFF2-40B4-BE49-F238E27FC236}">
                  <a16:creationId xmlns:a16="http://schemas.microsoft.com/office/drawing/2014/main" id="{13A111CF-BAAF-8E4B-AD25-85FAC5339083}"/>
                </a:ext>
              </a:extLst>
            </p:cNvPr>
            <p:cNvGrpSpPr>
              <a:grpSpLocks/>
            </p:cNvGrpSpPr>
            <p:nvPr/>
          </p:nvGrpSpPr>
          <p:grpSpPr bwMode="auto">
            <a:xfrm>
              <a:off x="3602" y="1330"/>
              <a:ext cx="820" cy="754"/>
              <a:chOff x="2293" y="2021"/>
              <a:chExt cx="820" cy="754"/>
            </a:xfrm>
          </p:grpSpPr>
          <p:sp>
            <p:nvSpPr>
              <p:cNvPr id="146" name="Oval 165">
                <a:extLst>
                  <a:ext uri="{FF2B5EF4-FFF2-40B4-BE49-F238E27FC236}">
                    <a16:creationId xmlns:a16="http://schemas.microsoft.com/office/drawing/2014/main" id="{7F0D89BB-B178-8C49-9E72-934506A1B7F6}"/>
                  </a:ext>
                </a:extLst>
              </p:cNvPr>
              <p:cNvSpPr>
                <a:spLocks noChangeArrowheads="1"/>
              </p:cNvSpPr>
              <p:nvPr/>
            </p:nvSpPr>
            <p:spPr bwMode="auto">
              <a:xfrm>
                <a:off x="2293" y="2021"/>
                <a:ext cx="800" cy="754"/>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7" name="Text Box 166">
                <a:extLst>
                  <a:ext uri="{FF2B5EF4-FFF2-40B4-BE49-F238E27FC236}">
                    <a16:creationId xmlns:a16="http://schemas.microsoft.com/office/drawing/2014/main" id="{F3628968-0539-164C-B861-FF5A02A982C1}"/>
                  </a:ext>
                </a:extLst>
              </p:cNvPr>
              <p:cNvSpPr txBox="1">
                <a:spLocks noChangeArrowheads="1"/>
              </p:cNvSpPr>
              <p:nvPr/>
            </p:nvSpPr>
            <p:spPr bwMode="auto">
              <a:xfrm>
                <a:off x="2294" y="2191"/>
                <a:ext cx="819" cy="5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congestion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avoidance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35" name="Group 190">
              <a:extLst>
                <a:ext uri="{FF2B5EF4-FFF2-40B4-BE49-F238E27FC236}">
                  <a16:creationId xmlns:a16="http://schemas.microsoft.com/office/drawing/2014/main" id="{412FAE5F-D426-1A41-B7BF-9EE3E24BCCB0}"/>
                </a:ext>
              </a:extLst>
            </p:cNvPr>
            <p:cNvGrpSpPr>
              <a:grpSpLocks/>
            </p:cNvGrpSpPr>
            <p:nvPr/>
          </p:nvGrpSpPr>
          <p:grpSpPr bwMode="auto">
            <a:xfrm>
              <a:off x="3476" y="786"/>
              <a:ext cx="1496" cy="575"/>
              <a:chOff x="3499" y="904"/>
              <a:chExt cx="1496" cy="575"/>
            </a:xfrm>
          </p:grpSpPr>
          <p:sp>
            <p:nvSpPr>
              <p:cNvPr id="142" name="Text Box 191">
                <a:extLst>
                  <a:ext uri="{FF2B5EF4-FFF2-40B4-BE49-F238E27FC236}">
                    <a16:creationId xmlns:a16="http://schemas.microsoft.com/office/drawing/2014/main" id="{44318C88-BEF5-7146-AE72-3458C7D49FA3}"/>
                  </a:ext>
                </a:extLst>
              </p:cNvPr>
              <p:cNvSpPr txBox="1">
                <a:spLocks noChangeArrowheads="1"/>
              </p:cNvSpPr>
              <p:nvPr/>
            </p:nvSpPr>
            <p:spPr bwMode="auto">
              <a:xfrm>
                <a:off x="3499" y="1037"/>
                <a:ext cx="1496" cy="4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cwnd + MSS    (MSS/cwnd)</a:t>
                </a:r>
              </a:p>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0</a:t>
                </a:r>
              </a:p>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transmit new segment(s), as allowed</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3" name="Line 192">
                <a:extLst>
                  <a:ext uri="{FF2B5EF4-FFF2-40B4-BE49-F238E27FC236}">
                    <a16:creationId xmlns:a16="http://schemas.microsoft.com/office/drawing/2014/main" id="{EC5DE775-BD59-2247-B940-402844468A0E}"/>
                  </a:ext>
                </a:extLst>
              </p:cNvPr>
              <p:cNvSpPr>
                <a:spLocks noChangeShapeType="1"/>
              </p:cNvSpPr>
              <p:nvPr/>
            </p:nvSpPr>
            <p:spPr bwMode="auto">
              <a:xfrm>
                <a:off x="3976" y="1054"/>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Text Box 193">
                <a:extLst>
                  <a:ext uri="{FF2B5EF4-FFF2-40B4-BE49-F238E27FC236}">
                    <a16:creationId xmlns:a16="http://schemas.microsoft.com/office/drawing/2014/main" id="{1953AC16-16E8-A640-AE22-73DEDE1D319F}"/>
                  </a:ext>
                </a:extLst>
              </p:cNvPr>
              <p:cNvSpPr txBox="1">
                <a:spLocks noChangeArrowheads="1"/>
              </p:cNvSpPr>
              <p:nvPr/>
            </p:nvSpPr>
            <p:spPr bwMode="auto">
              <a:xfrm>
                <a:off x="3974" y="915"/>
                <a:ext cx="471"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new ACK</a:t>
                </a:r>
              </a:p>
            </p:txBody>
          </p:sp>
          <p:sp>
            <p:nvSpPr>
              <p:cNvPr id="145" name="Text Box 194">
                <a:extLst>
                  <a:ext uri="{FF2B5EF4-FFF2-40B4-BE49-F238E27FC236}">
                    <a16:creationId xmlns:a16="http://schemas.microsoft.com/office/drawing/2014/main" id="{6D1C4C5E-4778-AF4F-812A-CF7A44F21F90}"/>
                  </a:ext>
                </a:extLst>
              </p:cNvPr>
              <p:cNvSpPr txBox="1">
                <a:spLocks noChangeArrowheads="1"/>
              </p:cNvSpPr>
              <p:nvPr/>
            </p:nvSpPr>
            <p:spPr bwMode="auto">
              <a:xfrm>
                <a:off x="4311" y="904"/>
                <a:ext cx="173"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Times New Roman" charset="0"/>
                    <a:ea typeface="ＭＳ Ｐゴシック" charset="0"/>
                    <a:cs typeface="+mn-cs"/>
                  </a:rPr>
                  <a:t>.</a:t>
                </a:r>
              </a:p>
            </p:txBody>
          </p:sp>
        </p:grpSp>
        <p:sp>
          <p:nvSpPr>
            <p:cNvPr id="136" name="Freeform 195">
              <a:extLst>
                <a:ext uri="{FF2B5EF4-FFF2-40B4-BE49-F238E27FC236}">
                  <a16:creationId xmlns:a16="http://schemas.microsoft.com/office/drawing/2014/main" id="{4555525A-5282-E944-A402-41F5363AC763}"/>
                </a:ext>
              </a:extLst>
            </p:cNvPr>
            <p:cNvSpPr>
              <a:spLocks/>
            </p:cNvSpPr>
            <p:nvPr/>
          </p:nvSpPr>
          <p:spPr bwMode="auto">
            <a:xfrm rot="9705213">
              <a:off x="4212" y="1145"/>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7" name="Group 196">
              <a:extLst>
                <a:ext uri="{FF2B5EF4-FFF2-40B4-BE49-F238E27FC236}">
                  <a16:creationId xmlns:a16="http://schemas.microsoft.com/office/drawing/2014/main" id="{9CDBEBEA-0E7D-9247-8F24-8B50DDA32181}"/>
                </a:ext>
              </a:extLst>
            </p:cNvPr>
            <p:cNvGrpSpPr>
              <a:grpSpLocks/>
            </p:cNvGrpSpPr>
            <p:nvPr/>
          </p:nvGrpSpPr>
          <p:grpSpPr bwMode="auto">
            <a:xfrm>
              <a:off x="4489" y="1909"/>
              <a:ext cx="740" cy="388"/>
              <a:chOff x="4254" y="2922"/>
              <a:chExt cx="740" cy="388"/>
            </a:xfrm>
          </p:grpSpPr>
          <p:sp>
            <p:nvSpPr>
              <p:cNvPr id="139" name="Text Box 197">
                <a:extLst>
                  <a:ext uri="{FF2B5EF4-FFF2-40B4-BE49-F238E27FC236}">
                    <a16:creationId xmlns:a16="http://schemas.microsoft.com/office/drawing/2014/main" id="{F06A41AE-1F53-A747-A3E3-199BBEDFE503}"/>
                  </a:ext>
                </a:extLst>
              </p:cNvPr>
              <p:cNvSpPr txBox="1">
                <a:spLocks noChangeArrowheads="1"/>
              </p:cNvSpPr>
              <p:nvPr/>
            </p:nvSpPr>
            <p:spPr bwMode="auto">
              <a:xfrm>
                <a:off x="4254" y="3062"/>
                <a:ext cx="740" cy="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40" name="Line 198">
                <a:extLst>
                  <a:ext uri="{FF2B5EF4-FFF2-40B4-BE49-F238E27FC236}">
                    <a16:creationId xmlns:a16="http://schemas.microsoft.com/office/drawing/2014/main" id="{115AC45A-332B-D742-9EEC-EB81F6D52D7E}"/>
                  </a:ext>
                </a:extLst>
              </p:cNvPr>
              <p:cNvSpPr>
                <a:spLocks noChangeShapeType="1"/>
              </p:cNvSpPr>
              <p:nvPr/>
            </p:nvSpPr>
            <p:spPr bwMode="auto">
              <a:xfrm>
                <a:off x="4353" y="3071"/>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1" name="Text Box 199">
                <a:extLst>
                  <a:ext uri="{FF2B5EF4-FFF2-40B4-BE49-F238E27FC236}">
                    <a16:creationId xmlns:a16="http://schemas.microsoft.com/office/drawing/2014/main" id="{6DB70069-D3EA-8747-8535-1CB6F40D1A8C}"/>
                  </a:ext>
                </a:extLst>
              </p:cNvPr>
              <p:cNvSpPr txBox="1">
                <a:spLocks noChangeArrowheads="1"/>
              </p:cNvSpPr>
              <p:nvPr/>
            </p:nvSpPr>
            <p:spPr bwMode="auto">
              <a:xfrm>
                <a:off x="4295" y="2922"/>
                <a:ext cx="656"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duplicate ACK</a:t>
                </a:r>
              </a:p>
            </p:txBody>
          </p:sp>
        </p:grpSp>
        <p:sp>
          <p:nvSpPr>
            <p:cNvPr id="138" name="Freeform 200">
              <a:extLst>
                <a:ext uri="{FF2B5EF4-FFF2-40B4-BE49-F238E27FC236}">
                  <a16:creationId xmlns:a16="http://schemas.microsoft.com/office/drawing/2014/main" id="{0667830A-5A65-8243-809F-9599C40170E1}"/>
                </a:ext>
              </a:extLst>
            </p:cNvPr>
            <p:cNvSpPr>
              <a:spLocks/>
            </p:cNvSpPr>
            <p:nvPr/>
          </p:nvSpPr>
          <p:spPr bwMode="auto">
            <a:xfrm rot="-7516021">
              <a:off x="4290" y="1673"/>
              <a:ext cx="333" cy="452"/>
            </a:xfrm>
            <a:custGeom>
              <a:avLst/>
              <a:gdLst>
                <a:gd name="T0" fmla="*/ 112 w 376"/>
                <a:gd name="T1" fmla="*/ 306 h 452"/>
                <a:gd name="T2" fmla="*/ 24 w 376"/>
                <a:gd name="T3" fmla="*/ 269 h 452"/>
                <a:gd name="T4" fmla="*/ 62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48" name="Group 245">
            <a:extLst>
              <a:ext uri="{FF2B5EF4-FFF2-40B4-BE49-F238E27FC236}">
                <a16:creationId xmlns:a16="http://schemas.microsoft.com/office/drawing/2014/main" id="{A4501140-CDDA-3942-AE4A-E53AAAF4E371}"/>
              </a:ext>
            </a:extLst>
          </p:cNvPr>
          <p:cNvGrpSpPr>
            <a:grpSpLocks/>
          </p:cNvGrpSpPr>
          <p:nvPr/>
        </p:nvGrpSpPr>
        <p:grpSpPr bwMode="auto">
          <a:xfrm>
            <a:off x="5629276" y="4880882"/>
            <a:ext cx="3417888" cy="1758950"/>
            <a:chOff x="2538" y="2960"/>
            <a:chExt cx="2153" cy="1108"/>
          </a:xfrm>
        </p:grpSpPr>
        <p:grpSp>
          <p:nvGrpSpPr>
            <p:cNvPr id="149" name="Group 167">
              <a:extLst>
                <a:ext uri="{FF2B5EF4-FFF2-40B4-BE49-F238E27FC236}">
                  <a16:creationId xmlns:a16="http://schemas.microsoft.com/office/drawing/2014/main" id="{46D8A9BF-D4B3-C644-AE85-4535FBE08039}"/>
                </a:ext>
              </a:extLst>
            </p:cNvPr>
            <p:cNvGrpSpPr>
              <a:grpSpLocks/>
            </p:cNvGrpSpPr>
            <p:nvPr/>
          </p:nvGrpSpPr>
          <p:grpSpPr bwMode="auto">
            <a:xfrm>
              <a:off x="2538" y="2960"/>
              <a:ext cx="800" cy="767"/>
              <a:chOff x="2454" y="3045"/>
              <a:chExt cx="800" cy="767"/>
            </a:xfrm>
          </p:grpSpPr>
          <p:sp>
            <p:nvSpPr>
              <p:cNvPr id="155" name="Oval 168">
                <a:extLst>
                  <a:ext uri="{FF2B5EF4-FFF2-40B4-BE49-F238E27FC236}">
                    <a16:creationId xmlns:a16="http://schemas.microsoft.com/office/drawing/2014/main" id="{273F9850-79CE-154A-9851-2B7886F3C1C7}"/>
                  </a:ext>
                </a:extLst>
              </p:cNvPr>
              <p:cNvSpPr>
                <a:spLocks noChangeArrowheads="1"/>
              </p:cNvSpPr>
              <p:nvPr/>
            </p:nvSpPr>
            <p:spPr bwMode="auto">
              <a:xfrm>
                <a:off x="2454" y="3045"/>
                <a:ext cx="800" cy="754"/>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6" name="Text Box 169">
                <a:extLst>
                  <a:ext uri="{FF2B5EF4-FFF2-40B4-BE49-F238E27FC236}">
                    <a16:creationId xmlns:a16="http://schemas.microsoft.com/office/drawing/2014/main" id="{65FE5AF3-8597-FF4E-9C17-4817547D4F5B}"/>
                  </a:ext>
                </a:extLst>
              </p:cNvPr>
              <p:cNvSpPr txBox="1">
                <a:spLocks noChangeArrowheads="1"/>
              </p:cNvSpPr>
              <p:nvPr/>
            </p:nvSpPr>
            <p:spPr bwMode="auto">
              <a:xfrm>
                <a:off x="2794" y="3212"/>
                <a:ext cx="161" cy="4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57" name="Text Box 170">
                <a:extLst>
                  <a:ext uri="{FF2B5EF4-FFF2-40B4-BE49-F238E27FC236}">
                    <a16:creationId xmlns:a16="http://schemas.microsoft.com/office/drawing/2014/main" id="{8568651A-5DCC-2242-83C4-76AC890933BB}"/>
                  </a:ext>
                </a:extLst>
              </p:cNvPr>
              <p:cNvSpPr txBox="1">
                <a:spLocks noChangeArrowheads="1"/>
              </p:cNvSpPr>
              <p:nvPr/>
            </p:nvSpPr>
            <p:spPr bwMode="auto">
              <a:xfrm>
                <a:off x="2466" y="3172"/>
                <a:ext cx="780" cy="6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fast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recovery </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50" name="Freeform 220">
              <a:extLst>
                <a:ext uri="{FF2B5EF4-FFF2-40B4-BE49-F238E27FC236}">
                  <a16:creationId xmlns:a16="http://schemas.microsoft.com/office/drawing/2014/main" id="{F8DEF746-89F6-DD47-9435-3FA8C98BF657}"/>
                </a:ext>
              </a:extLst>
            </p:cNvPr>
            <p:cNvSpPr>
              <a:spLocks/>
            </p:cNvSpPr>
            <p:nvPr/>
          </p:nvSpPr>
          <p:spPr bwMode="auto">
            <a:xfrm>
              <a:off x="2775" y="3708"/>
              <a:ext cx="384" cy="161"/>
            </a:xfrm>
            <a:custGeom>
              <a:avLst/>
              <a:gdLst>
                <a:gd name="T0" fmla="*/ 317 w 384"/>
                <a:gd name="T1" fmla="*/ 0 h 161"/>
                <a:gd name="T2" fmla="*/ 189 w 384"/>
                <a:gd name="T3" fmla="*/ 155 h 161"/>
                <a:gd name="T4" fmla="*/ 59 w 384"/>
                <a:gd name="T5" fmla="*/ 13 h 161"/>
                <a:gd name="T6" fmla="*/ 0 60000 65536"/>
                <a:gd name="T7" fmla="*/ 0 60000 65536"/>
                <a:gd name="T8" fmla="*/ 0 60000 65536"/>
              </a:gdLst>
              <a:ahLst/>
              <a:cxnLst>
                <a:cxn ang="T6">
                  <a:pos x="T0" y="T1"/>
                </a:cxn>
                <a:cxn ang="T7">
                  <a:pos x="T2" y="T3"/>
                </a:cxn>
                <a:cxn ang="T8">
                  <a:pos x="T4" y="T5"/>
                </a:cxn>
              </a:cxnLst>
              <a:rect l="0" t="0" r="r" b="b"/>
              <a:pathLst>
                <a:path w="384" h="161">
                  <a:moveTo>
                    <a:pt x="317" y="0"/>
                  </a:moveTo>
                  <a:cubicBezTo>
                    <a:pt x="384" y="42"/>
                    <a:pt x="378" y="149"/>
                    <a:pt x="189" y="155"/>
                  </a:cubicBezTo>
                  <a:cubicBezTo>
                    <a:pt x="0" y="161"/>
                    <a:pt x="3" y="87"/>
                    <a:pt x="59" y="13"/>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1" name="Group 221">
              <a:extLst>
                <a:ext uri="{FF2B5EF4-FFF2-40B4-BE49-F238E27FC236}">
                  <a16:creationId xmlns:a16="http://schemas.microsoft.com/office/drawing/2014/main" id="{08A0BDC4-47ED-4A4B-B585-919226219BA9}"/>
                </a:ext>
              </a:extLst>
            </p:cNvPr>
            <p:cNvGrpSpPr>
              <a:grpSpLocks/>
            </p:cNvGrpSpPr>
            <p:nvPr/>
          </p:nvGrpSpPr>
          <p:grpSpPr bwMode="auto">
            <a:xfrm>
              <a:off x="3191" y="3592"/>
              <a:ext cx="1500" cy="476"/>
              <a:chOff x="3542" y="3496"/>
              <a:chExt cx="1500" cy="476"/>
            </a:xfrm>
          </p:grpSpPr>
          <p:sp>
            <p:nvSpPr>
              <p:cNvPr id="152" name="Text Box 222">
                <a:extLst>
                  <a:ext uri="{FF2B5EF4-FFF2-40B4-BE49-F238E27FC236}">
                    <a16:creationId xmlns:a16="http://schemas.microsoft.com/office/drawing/2014/main" id="{762B1387-82BE-254E-BE6D-368525568202}"/>
                  </a:ext>
                </a:extLst>
              </p:cNvPr>
              <p:cNvSpPr txBox="1">
                <a:spLocks noChangeArrowheads="1"/>
              </p:cNvSpPr>
              <p:nvPr/>
            </p:nvSpPr>
            <p:spPr bwMode="auto">
              <a:xfrm>
                <a:off x="3546" y="3632"/>
                <a:ext cx="1496" cy="3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cwnd + MSS</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transmit new segment(s), as allowed</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808080"/>
                  </a:solidFill>
                  <a:effectLst/>
                  <a:uLnTx/>
                  <a:uFillTx/>
                  <a:latin typeface="Arial" charset="0"/>
                  <a:ea typeface="ＭＳ Ｐゴシック" charset="0"/>
                  <a:cs typeface="+mn-cs"/>
                </a:endParaRPr>
              </a:p>
            </p:txBody>
          </p:sp>
          <p:sp>
            <p:nvSpPr>
              <p:cNvPr id="153" name="Line 223">
                <a:extLst>
                  <a:ext uri="{FF2B5EF4-FFF2-40B4-BE49-F238E27FC236}">
                    <a16:creationId xmlns:a16="http://schemas.microsoft.com/office/drawing/2014/main" id="{7058B91F-5545-B546-B726-F5E1D8BF2C19}"/>
                  </a:ext>
                </a:extLst>
              </p:cNvPr>
              <p:cNvSpPr>
                <a:spLocks noChangeShapeType="1"/>
              </p:cNvSpPr>
              <p:nvPr/>
            </p:nvSpPr>
            <p:spPr bwMode="auto">
              <a:xfrm>
                <a:off x="3600" y="3645"/>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4" name="Text Box 224">
                <a:extLst>
                  <a:ext uri="{FF2B5EF4-FFF2-40B4-BE49-F238E27FC236}">
                    <a16:creationId xmlns:a16="http://schemas.microsoft.com/office/drawing/2014/main" id="{873E83D9-4BDC-D54A-8707-136424BDB746}"/>
                  </a:ext>
                </a:extLst>
              </p:cNvPr>
              <p:cNvSpPr txBox="1">
                <a:spLocks noChangeArrowheads="1"/>
              </p:cNvSpPr>
              <p:nvPr/>
            </p:nvSpPr>
            <p:spPr bwMode="auto">
              <a:xfrm>
                <a:off x="3542" y="3496"/>
                <a:ext cx="656"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duplicate ACK</a:t>
                </a:r>
              </a:p>
            </p:txBody>
          </p:sp>
        </p:grpSp>
      </p:grpSp>
      <p:grpSp>
        <p:nvGrpSpPr>
          <p:cNvPr id="158" name="Group 246">
            <a:extLst>
              <a:ext uri="{FF2B5EF4-FFF2-40B4-BE49-F238E27FC236}">
                <a16:creationId xmlns:a16="http://schemas.microsoft.com/office/drawing/2014/main" id="{B8412DA9-2D8B-1C4F-98FE-2059BE8959A7}"/>
              </a:ext>
            </a:extLst>
          </p:cNvPr>
          <p:cNvGrpSpPr>
            <a:grpSpLocks/>
          </p:cNvGrpSpPr>
          <p:nvPr/>
        </p:nvGrpSpPr>
        <p:grpSpPr bwMode="auto">
          <a:xfrm>
            <a:off x="2427288" y="3561671"/>
            <a:ext cx="3935413" cy="1974851"/>
            <a:chOff x="521" y="2129"/>
            <a:chExt cx="2479" cy="1244"/>
          </a:xfrm>
        </p:grpSpPr>
        <p:grpSp>
          <p:nvGrpSpPr>
            <p:cNvPr id="159" name="Group 212">
              <a:extLst>
                <a:ext uri="{FF2B5EF4-FFF2-40B4-BE49-F238E27FC236}">
                  <a16:creationId xmlns:a16="http://schemas.microsoft.com/office/drawing/2014/main" id="{27BF6FD0-68C2-FB4E-A15D-7CB02F36F01F}"/>
                </a:ext>
              </a:extLst>
            </p:cNvPr>
            <p:cNvGrpSpPr>
              <a:grpSpLocks/>
            </p:cNvGrpSpPr>
            <p:nvPr/>
          </p:nvGrpSpPr>
          <p:grpSpPr bwMode="auto">
            <a:xfrm>
              <a:off x="521" y="2818"/>
              <a:ext cx="1205" cy="555"/>
              <a:chOff x="380" y="2768"/>
              <a:chExt cx="1205" cy="555"/>
            </a:xfrm>
          </p:grpSpPr>
          <p:sp>
            <p:nvSpPr>
              <p:cNvPr id="166" name="Text Box 213">
                <a:extLst>
                  <a:ext uri="{FF2B5EF4-FFF2-40B4-BE49-F238E27FC236}">
                    <a16:creationId xmlns:a16="http://schemas.microsoft.com/office/drawing/2014/main" id="{835AEF52-2056-D649-96F2-661A3FFF1842}"/>
                  </a:ext>
                </a:extLst>
              </p:cNvPr>
              <p:cNvSpPr txBox="1">
                <a:spLocks noChangeArrowheads="1"/>
              </p:cNvSpPr>
              <p:nvPr/>
            </p:nvSpPr>
            <p:spPr bwMode="auto">
              <a:xfrm>
                <a:off x="380" y="2912"/>
                <a:ext cx="1155"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ssthresh= cwnd/2</a:t>
                </a: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ssthresh + 3</a:t>
                </a: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808080"/>
                  </a:solidFill>
                  <a:effectLst/>
                  <a:uLnTx/>
                  <a:uFillTx/>
                  <a:latin typeface="Arial" charset="0"/>
                  <a:ea typeface="ＭＳ Ｐゴシック" charset="0"/>
                  <a:cs typeface="+mn-cs"/>
                </a:endParaRPr>
              </a:p>
            </p:txBody>
          </p:sp>
          <p:sp>
            <p:nvSpPr>
              <p:cNvPr id="167" name="Line 214">
                <a:extLst>
                  <a:ext uri="{FF2B5EF4-FFF2-40B4-BE49-F238E27FC236}">
                    <a16:creationId xmlns:a16="http://schemas.microsoft.com/office/drawing/2014/main" id="{B74A6245-A319-3040-A4FD-51070B302938}"/>
                  </a:ext>
                </a:extLst>
              </p:cNvPr>
              <p:cNvSpPr>
                <a:spLocks noChangeShapeType="1"/>
              </p:cNvSpPr>
              <p:nvPr/>
            </p:nvSpPr>
            <p:spPr bwMode="auto">
              <a:xfrm>
                <a:off x="925" y="2913"/>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8" name="Text Box 215">
                <a:extLst>
                  <a:ext uri="{FF2B5EF4-FFF2-40B4-BE49-F238E27FC236}">
                    <a16:creationId xmlns:a16="http://schemas.microsoft.com/office/drawing/2014/main" id="{92605A3F-01AC-204D-8ED2-AD8024A64FEF}"/>
                  </a:ext>
                </a:extLst>
              </p:cNvPr>
              <p:cNvSpPr txBox="1">
                <a:spLocks noChangeArrowheads="1"/>
              </p:cNvSpPr>
              <p:nvPr/>
            </p:nvSpPr>
            <p:spPr bwMode="auto">
              <a:xfrm>
                <a:off x="751" y="2768"/>
                <a:ext cx="834"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3</a:t>
                </a:r>
              </a:p>
            </p:txBody>
          </p:sp>
        </p:grpSp>
        <p:grpSp>
          <p:nvGrpSpPr>
            <p:cNvPr id="160" name="Group 216">
              <a:extLst>
                <a:ext uri="{FF2B5EF4-FFF2-40B4-BE49-F238E27FC236}">
                  <a16:creationId xmlns:a16="http://schemas.microsoft.com/office/drawing/2014/main" id="{88759198-6D7D-C744-9B7A-D82AAED1D6D1}"/>
                </a:ext>
              </a:extLst>
            </p:cNvPr>
            <p:cNvGrpSpPr>
              <a:grpSpLocks/>
            </p:cNvGrpSpPr>
            <p:nvPr/>
          </p:nvGrpSpPr>
          <p:grpSpPr bwMode="auto">
            <a:xfrm>
              <a:off x="1813" y="2454"/>
              <a:ext cx="1187" cy="550"/>
              <a:chOff x="419" y="2872"/>
              <a:chExt cx="1187" cy="550"/>
            </a:xfrm>
          </p:grpSpPr>
          <p:sp>
            <p:nvSpPr>
              <p:cNvPr id="163" name="Text Box 217">
                <a:extLst>
                  <a:ext uri="{FF2B5EF4-FFF2-40B4-BE49-F238E27FC236}">
                    <a16:creationId xmlns:a16="http://schemas.microsoft.com/office/drawing/2014/main" id="{D4ECB2B0-F2B3-8C4C-BF69-C3CF649CE91F}"/>
                  </a:ext>
                </a:extLst>
              </p:cNvPr>
              <p:cNvSpPr txBox="1">
                <a:spLocks noChangeArrowheads="1"/>
              </p:cNvSpPr>
              <p:nvPr/>
            </p:nvSpPr>
            <p:spPr bwMode="auto">
              <a:xfrm>
                <a:off x="439" y="2872"/>
                <a:ext cx="39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timeout</a:t>
                </a:r>
              </a:p>
            </p:txBody>
          </p:sp>
          <p:sp>
            <p:nvSpPr>
              <p:cNvPr id="164" name="Text Box 218">
                <a:extLst>
                  <a:ext uri="{FF2B5EF4-FFF2-40B4-BE49-F238E27FC236}">
                    <a16:creationId xmlns:a16="http://schemas.microsoft.com/office/drawing/2014/main" id="{2E4D69CF-352A-DC44-ABC3-90682BEB8316}"/>
                  </a:ext>
                </a:extLst>
              </p:cNvPr>
              <p:cNvSpPr txBox="1">
                <a:spLocks noChangeArrowheads="1"/>
              </p:cNvSpPr>
              <p:nvPr/>
            </p:nvSpPr>
            <p:spPr bwMode="auto">
              <a:xfrm>
                <a:off x="419" y="2989"/>
                <a:ext cx="1187" cy="4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ssthresh = cwnd/2</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1 </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0</a:t>
                </a:r>
              </a:p>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 </a:t>
                </a:r>
              </a:p>
            </p:txBody>
          </p:sp>
          <p:sp>
            <p:nvSpPr>
              <p:cNvPr id="165" name="Line 219">
                <a:extLst>
                  <a:ext uri="{FF2B5EF4-FFF2-40B4-BE49-F238E27FC236}">
                    <a16:creationId xmlns:a16="http://schemas.microsoft.com/office/drawing/2014/main" id="{87674141-7331-B643-AD17-90663185B00F}"/>
                  </a:ext>
                </a:extLst>
              </p:cNvPr>
              <p:cNvSpPr>
                <a:spLocks noChangeShapeType="1"/>
              </p:cNvSpPr>
              <p:nvPr/>
            </p:nvSpPr>
            <p:spPr bwMode="auto">
              <a:xfrm>
                <a:off x="471" y="3014"/>
                <a:ext cx="697"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61" name="Freeform 225">
              <a:extLst>
                <a:ext uri="{FF2B5EF4-FFF2-40B4-BE49-F238E27FC236}">
                  <a16:creationId xmlns:a16="http://schemas.microsoft.com/office/drawing/2014/main" id="{D0DF1910-CE16-3F4D-82F2-6661A32D1366}"/>
                </a:ext>
              </a:extLst>
            </p:cNvPr>
            <p:cNvSpPr>
              <a:spLocks/>
            </p:cNvSpPr>
            <p:nvPr/>
          </p:nvSpPr>
          <p:spPr bwMode="auto">
            <a:xfrm>
              <a:off x="1722" y="2129"/>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2" name="Freeform 226">
              <a:extLst>
                <a:ext uri="{FF2B5EF4-FFF2-40B4-BE49-F238E27FC236}">
                  <a16:creationId xmlns:a16="http://schemas.microsoft.com/office/drawing/2014/main" id="{C17ADBE8-E774-7744-9627-8EAB27CA498D}"/>
                </a:ext>
              </a:extLst>
            </p:cNvPr>
            <p:cNvSpPr>
              <a:spLocks/>
            </p:cNvSpPr>
            <p:nvPr/>
          </p:nvSpPr>
          <p:spPr bwMode="auto">
            <a:xfrm>
              <a:off x="1791" y="2146"/>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9" name="Group 244">
            <a:extLst>
              <a:ext uri="{FF2B5EF4-FFF2-40B4-BE49-F238E27FC236}">
                <a16:creationId xmlns:a16="http://schemas.microsoft.com/office/drawing/2014/main" id="{E119EB29-C756-884C-BC38-0987621B3623}"/>
              </a:ext>
            </a:extLst>
          </p:cNvPr>
          <p:cNvGrpSpPr>
            <a:grpSpLocks/>
          </p:cNvGrpSpPr>
          <p:nvPr/>
        </p:nvGrpSpPr>
        <p:grpSpPr bwMode="auto">
          <a:xfrm>
            <a:off x="6951663" y="3553730"/>
            <a:ext cx="3022600" cy="1963736"/>
            <a:chOff x="3371" y="2124"/>
            <a:chExt cx="1904" cy="1237"/>
          </a:xfrm>
        </p:grpSpPr>
        <p:grpSp>
          <p:nvGrpSpPr>
            <p:cNvPr id="170" name="Group 201">
              <a:extLst>
                <a:ext uri="{FF2B5EF4-FFF2-40B4-BE49-F238E27FC236}">
                  <a16:creationId xmlns:a16="http://schemas.microsoft.com/office/drawing/2014/main" id="{4F04D146-2950-3743-B95A-4A10EFF81DB8}"/>
                </a:ext>
              </a:extLst>
            </p:cNvPr>
            <p:cNvGrpSpPr>
              <a:grpSpLocks/>
            </p:cNvGrpSpPr>
            <p:nvPr/>
          </p:nvGrpSpPr>
          <p:grpSpPr bwMode="auto">
            <a:xfrm>
              <a:off x="4120" y="2796"/>
              <a:ext cx="1155" cy="565"/>
              <a:chOff x="4142" y="2802"/>
              <a:chExt cx="1155" cy="565"/>
            </a:xfrm>
          </p:grpSpPr>
          <p:sp>
            <p:nvSpPr>
              <p:cNvPr id="172" name="Text Box 202">
                <a:extLst>
                  <a:ext uri="{FF2B5EF4-FFF2-40B4-BE49-F238E27FC236}">
                    <a16:creationId xmlns:a16="http://schemas.microsoft.com/office/drawing/2014/main" id="{9BFA3E4C-9614-6849-975F-C63A42B8182A}"/>
                  </a:ext>
                </a:extLst>
              </p:cNvPr>
              <p:cNvSpPr txBox="1">
                <a:spLocks noChangeArrowheads="1"/>
              </p:cNvSpPr>
              <p:nvPr/>
            </p:nvSpPr>
            <p:spPr bwMode="auto">
              <a:xfrm>
                <a:off x="4142" y="2956"/>
                <a:ext cx="1155"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ssthresh= cwnd/2</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ssthresh + 3</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1"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73" name="Line 203">
                <a:extLst>
                  <a:ext uri="{FF2B5EF4-FFF2-40B4-BE49-F238E27FC236}">
                    <a16:creationId xmlns:a16="http://schemas.microsoft.com/office/drawing/2014/main" id="{0526C70E-8831-7543-9A32-E54939C11F43}"/>
                  </a:ext>
                </a:extLst>
              </p:cNvPr>
              <p:cNvSpPr>
                <a:spLocks noChangeShapeType="1"/>
              </p:cNvSpPr>
              <p:nvPr/>
            </p:nvSpPr>
            <p:spPr bwMode="auto">
              <a:xfrm>
                <a:off x="4211" y="2950"/>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4" name="Text Box 204">
                <a:extLst>
                  <a:ext uri="{FF2B5EF4-FFF2-40B4-BE49-F238E27FC236}">
                    <a16:creationId xmlns:a16="http://schemas.microsoft.com/office/drawing/2014/main" id="{E38A96D7-56D5-4A41-8FD3-090F5E1651F2}"/>
                  </a:ext>
                </a:extLst>
              </p:cNvPr>
              <p:cNvSpPr txBox="1">
                <a:spLocks noChangeArrowheads="1"/>
              </p:cNvSpPr>
              <p:nvPr/>
            </p:nvSpPr>
            <p:spPr bwMode="auto">
              <a:xfrm>
                <a:off x="4154" y="2802"/>
                <a:ext cx="834"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3</a:t>
                </a:r>
              </a:p>
            </p:txBody>
          </p:sp>
        </p:grpSp>
        <p:sp>
          <p:nvSpPr>
            <p:cNvPr id="171" name="Freeform 227">
              <a:extLst>
                <a:ext uri="{FF2B5EF4-FFF2-40B4-BE49-F238E27FC236}">
                  <a16:creationId xmlns:a16="http://schemas.microsoft.com/office/drawing/2014/main" id="{88695EF7-3EC6-874B-9CFA-5F89AE2AD674}"/>
                </a:ext>
              </a:extLst>
            </p:cNvPr>
            <p:cNvSpPr>
              <a:spLocks/>
            </p:cNvSpPr>
            <p:nvPr/>
          </p:nvSpPr>
          <p:spPr bwMode="auto">
            <a:xfrm flipH="1">
              <a:off x="3371" y="2124"/>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75" name="Group 243">
            <a:extLst>
              <a:ext uri="{FF2B5EF4-FFF2-40B4-BE49-F238E27FC236}">
                <a16:creationId xmlns:a16="http://schemas.microsoft.com/office/drawing/2014/main" id="{0C2B747B-2F42-7146-A691-54156D653646}"/>
              </a:ext>
            </a:extLst>
          </p:cNvPr>
          <p:cNvGrpSpPr>
            <a:grpSpLocks/>
          </p:cNvGrpSpPr>
          <p:nvPr/>
        </p:nvGrpSpPr>
        <p:grpSpPr bwMode="auto">
          <a:xfrm>
            <a:off x="6716713" y="3579131"/>
            <a:ext cx="1276350" cy="1689099"/>
            <a:chOff x="3223" y="2140"/>
            <a:chExt cx="804" cy="1064"/>
          </a:xfrm>
        </p:grpSpPr>
        <p:sp>
          <p:nvSpPr>
            <p:cNvPr id="176" name="Freeform 228">
              <a:extLst>
                <a:ext uri="{FF2B5EF4-FFF2-40B4-BE49-F238E27FC236}">
                  <a16:creationId xmlns:a16="http://schemas.microsoft.com/office/drawing/2014/main" id="{BFB3D697-0B16-7148-BB51-FD8EA08C4A4A}"/>
                </a:ext>
              </a:extLst>
            </p:cNvPr>
            <p:cNvSpPr>
              <a:spLocks/>
            </p:cNvSpPr>
            <p:nvPr/>
          </p:nvSpPr>
          <p:spPr bwMode="auto">
            <a:xfrm flipH="1">
              <a:off x="3327" y="2140"/>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7" name="Group 229">
              <a:extLst>
                <a:ext uri="{FF2B5EF4-FFF2-40B4-BE49-F238E27FC236}">
                  <a16:creationId xmlns:a16="http://schemas.microsoft.com/office/drawing/2014/main" id="{93E7F93E-B410-1B4A-BF61-0D2CB5DE5C53}"/>
                </a:ext>
              </a:extLst>
            </p:cNvPr>
            <p:cNvGrpSpPr>
              <a:grpSpLocks/>
            </p:cNvGrpSpPr>
            <p:nvPr/>
          </p:nvGrpSpPr>
          <p:grpSpPr bwMode="auto">
            <a:xfrm>
              <a:off x="3223" y="2649"/>
              <a:ext cx="785" cy="555"/>
              <a:chOff x="1015" y="3496"/>
              <a:chExt cx="785" cy="555"/>
            </a:xfrm>
          </p:grpSpPr>
          <p:sp>
            <p:nvSpPr>
              <p:cNvPr id="178" name="Text Box 230">
                <a:extLst>
                  <a:ext uri="{FF2B5EF4-FFF2-40B4-BE49-F238E27FC236}">
                    <a16:creationId xmlns:a16="http://schemas.microsoft.com/office/drawing/2014/main" id="{FAD437E2-871A-9848-91F5-5E5990E0131E}"/>
                  </a:ext>
                </a:extLst>
              </p:cNvPr>
              <p:cNvSpPr txBox="1">
                <a:spLocks noChangeArrowheads="1"/>
              </p:cNvSpPr>
              <p:nvPr/>
            </p:nvSpPr>
            <p:spPr bwMode="auto">
              <a:xfrm>
                <a:off x="1015" y="3640"/>
                <a:ext cx="785"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ssthresh</a:t>
                </a:r>
              </a:p>
              <a:p>
                <a:pPr marL="0" marR="0" lvl="0" indent="0" algn="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0</a:t>
                </a: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79" name="Group 231">
                <a:extLst>
                  <a:ext uri="{FF2B5EF4-FFF2-40B4-BE49-F238E27FC236}">
                    <a16:creationId xmlns:a16="http://schemas.microsoft.com/office/drawing/2014/main" id="{E00D3831-3686-434C-A9FB-CC62A89C2D35}"/>
                  </a:ext>
                </a:extLst>
              </p:cNvPr>
              <p:cNvGrpSpPr>
                <a:grpSpLocks/>
              </p:cNvGrpSpPr>
              <p:nvPr/>
            </p:nvGrpSpPr>
            <p:grpSpPr bwMode="auto">
              <a:xfrm>
                <a:off x="1190" y="3496"/>
                <a:ext cx="582" cy="160"/>
                <a:chOff x="1190" y="3496"/>
                <a:chExt cx="582" cy="160"/>
              </a:xfrm>
            </p:grpSpPr>
            <p:sp>
              <p:nvSpPr>
                <p:cNvPr id="180" name="Line 232">
                  <a:extLst>
                    <a:ext uri="{FF2B5EF4-FFF2-40B4-BE49-F238E27FC236}">
                      <a16:creationId xmlns:a16="http://schemas.microsoft.com/office/drawing/2014/main" id="{97E85298-2987-D742-8F32-C0FF7A3D4B93}"/>
                    </a:ext>
                  </a:extLst>
                </p:cNvPr>
                <p:cNvSpPr>
                  <a:spLocks noChangeShapeType="1"/>
                </p:cNvSpPr>
                <p:nvPr/>
              </p:nvSpPr>
              <p:spPr bwMode="auto">
                <a:xfrm>
                  <a:off x="1190" y="3641"/>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Text Box 233">
                  <a:extLst>
                    <a:ext uri="{FF2B5EF4-FFF2-40B4-BE49-F238E27FC236}">
                      <a16:creationId xmlns:a16="http://schemas.microsoft.com/office/drawing/2014/main" id="{3BF52C9D-20DA-2242-A28A-394E7476B8A1}"/>
                    </a:ext>
                  </a:extLst>
                </p:cNvPr>
                <p:cNvSpPr txBox="1">
                  <a:spLocks noChangeArrowheads="1"/>
                </p:cNvSpPr>
                <p:nvPr/>
              </p:nvSpPr>
              <p:spPr bwMode="auto">
                <a:xfrm>
                  <a:off x="1287" y="3496"/>
                  <a:ext cx="48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New ACK</a:t>
                  </a:r>
                </a:p>
              </p:txBody>
            </p:sp>
          </p:grpSp>
        </p:grpSp>
      </p:grpSp>
      <p:grpSp>
        <p:nvGrpSpPr>
          <p:cNvPr id="182" name="Group 241">
            <a:extLst>
              <a:ext uri="{FF2B5EF4-FFF2-40B4-BE49-F238E27FC236}">
                <a16:creationId xmlns:a16="http://schemas.microsoft.com/office/drawing/2014/main" id="{CDA92C42-F115-FC40-A5F8-C407673481F7}"/>
              </a:ext>
            </a:extLst>
          </p:cNvPr>
          <p:cNvGrpSpPr>
            <a:grpSpLocks/>
          </p:cNvGrpSpPr>
          <p:nvPr/>
        </p:nvGrpSpPr>
        <p:grpSpPr bwMode="auto">
          <a:xfrm>
            <a:off x="2386012" y="1545544"/>
            <a:ext cx="5038723" cy="2706689"/>
            <a:chOff x="495" y="859"/>
            <a:chExt cx="3174" cy="1705"/>
          </a:xfrm>
        </p:grpSpPr>
        <p:grpSp>
          <p:nvGrpSpPr>
            <p:cNvPr id="183" name="Group 161">
              <a:extLst>
                <a:ext uri="{FF2B5EF4-FFF2-40B4-BE49-F238E27FC236}">
                  <a16:creationId xmlns:a16="http://schemas.microsoft.com/office/drawing/2014/main" id="{7F0341B7-207C-3E40-8EC6-5911313C0608}"/>
                </a:ext>
              </a:extLst>
            </p:cNvPr>
            <p:cNvGrpSpPr>
              <a:grpSpLocks/>
            </p:cNvGrpSpPr>
            <p:nvPr/>
          </p:nvGrpSpPr>
          <p:grpSpPr bwMode="auto">
            <a:xfrm>
              <a:off x="1329" y="1320"/>
              <a:ext cx="800" cy="754"/>
              <a:chOff x="996" y="1773"/>
              <a:chExt cx="800" cy="754"/>
            </a:xfrm>
          </p:grpSpPr>
          <p:sp>
            <p:nvSpPr>
              <p:cNvPr id="204" name="Oval 162">
                <a:extLst>
                  <a:ext uri="{FF2B5EF4-FFF2-40B4-BE49-F238E27FC236}">
                    <a16:creationId xmlns:a16="http://schemas.microsoft.com/office/drawing/2014/main" id="{85E503DF-C6D4-9C4A-947F-F93B4C816434}"/>
                  </a:ext>
                </a:extLst>
              </p:cNvPr>
              <p:cNvSpPr>
                <a:spLocks noChangeArrowheads="1"/>
              </p:cNvSpPr>
              <p:nvPr/>
            </p:nvSpPr>
            <p:spPr bwMode="auto">
              <a:xfrm>
                <a:off x="996" y="1773"/>
                <a:ext cx="800" cy="754"/>
              </a:xfrm>
              <a:prstGeom prst="ellipse">
                <a:avLst/>
              </a:prstGeom>
              <a:solidFill>
                <a:srgbClr val="00CC99"/>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5" name="Text Box 163">
                <a:extLst>
                  <a:ext uri="{FF2B5EF4-FFF2-40B4-BE49-F238E27FC236}">
                    <a16:creationId xmlns:a16="http://schemas.microsoft.com/office/drawing/2014/main" id="{30575E3B-F1CE-CF43-A7C5-219046488BC3}"/>
                  </a:ext>
                </a:extLst>
              </p:cNvPr>
              <p:cNvSpPr txBox="1">
                <a:spLocks noChangeArrowheads="1"/>
              </p:cNvSpPr>
              <p:nvPr/>
            </p:nvSpPr>
            <p:spPr bwMode="auto">
              <a:xfrm>
                <a:off x="1159" y="1946"/>
                <a:ext cx="485" cy="4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slow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charset="0"/>
                    <a:ea typeface="ＭＳ Ｐゴシック" charset="0"/>
                    <a:cs typeface="+mn-cs"/>
                  </a:rPr>
                  <a:t>start</a:t>
                </a:r>
              </a:p>
            </p:txBody>
          </p:sp>
        </p:grpSp>
        <p:grpSp>
          <p:nvGrpSpPr>
            <p:cNvPr id="184" name="Group 177">
              <a:extLst>
                <a:ext uri="{FF2B5EF4-FFF2-40B4-BE49-F238E27FC236}">
                  <a16:creationId xmlns:a16="http://schemas.microsoft.com/office/drawing/2014/main" id="{5836A4F2-D62D-B147-A532-A57E3C2474B2}"/>
                </a:ext>
              </a:extLst>
            </p:cNvPr>
            <p:cNvGrpSpPr>
              <a:grpSpLocks/>
            </p:cNvGrpSpPr>
            <p:nvPr/>
          </p:nvGrpSpPr>
          <p:grpSpPr bwMode="auto">
            <a:xfrm>
              <a:off x="496" y="2026"/>
              <a:ext cx="1187" cy="538"/>
              <a:chOff x="384" y="2713"/>
              <a:chExt cx="1187" cy="538"/>
            </a:xfrm>
          </p:grpSpPr>
          <p:sp>
            <p:nvSpPr>
              <p:cNvPr id="201" name="Text Box 178">
                <a:extLst>
                  <a:ext uri="{FF2B5EF4-FFF2-40B4-BE49-F238E27FC236}">
                    <a16:creationId xmlns:a16="http://schemas.microsoft.com/office/drawing/2014/main" id="{1852AE28-C2EC-5542-A261-91B127FC6EEC}"/>
                  </a:ext>
                </a:extLst>
              </p:cNvPr>
              <p:cNvSpPr txBox="1">
                <a:spLocks noChangeArrowheads="1"/>
              </p:cNvSpPr>
              <p:nvPr/>
            </p:nvSpPr>
            <p:spPr bwMode="auto">
              <a:xfrm>
                <a:off x="777" y="2713"/>
                <a:ext cx="39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timeout</a:t>
                </a:r>
              </a:p>
            </p:txBody>
          </p:sp>
          <p:sp>
            <p:nvSpPr>
              <p:cNvPr id="202" name="Text Box 179">
                <a:extLst>
                  <a:ext uri="{FF2B5EF4-FFF2-40B4-BE49-F238E27FC236}">
                    <a16:creationId xmlns:a16="http://schemas.microsoft.com/office/drawing/2014/main" id="{238E26A7-D428-7446-B0EA-57A95D6A24D0}"/>
                  </a:ext>
                </a:extLst>
              </p:cNvPr>
              <p:cNvSpPr txBox="1">
                <a:spLocks noChangeArrowheads="1"/>
              </p:cNvSpPr>
              <p:nvPr/>
            </p:nvSpPr>
            <p:spPr bwMode="auto">
              <a:xfrm>
                <a:off x="384" y="2840"/>
                <a:ext cx="1187" cy="4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ssthresh = cwnd/2 </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0</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retransmit missing segment</a:t>
                </a: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 </a:t>
                </a:r>
              </a:p>
            </p:txBody>
          </p:sp>
          <p:sp>
            <p:nvSpPr>
              <p:cNvPr id="203" name="Line 180">
                <a:extLst>
                  <a:ext uri="{FF2B5EF4-FFF2-40B4-BE49-F238E27FC236}">
                    <a16:creationId xmlns:a16="http://schemas.microsoft.com/office/drawing/2014/main" id="{4D339203-1563-3844-9642-20DAA4DBE4B3}"/>
                  </a:ext>
                </a:extLst>
              </p:cNvPr>
              <p:cNvSpPr>
                <a:spLocks noChangeShapeType="1"/>
              </p:cNvSpPr>
              <p:nvPr/>
            </p:nvSpPr>
            <p:spPr bwMode="auto">
              <a:xfrm>
                <a:off x="709" y="2855"/>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85" name="Group 186">
              <a:extLst>
                <a:ext uri="{FF2B5EF4-FFF2-40B4-BE49-F238E27FC236}">
                  <a16:creationId xmlns:a16="http://schemas.microsoft.com/office/drawing/2014/main" id="{F5B6412F-86EA-644E-B751-4756A58400F6}"/>
                </a:ext>
              </a:extLst>
            </p:cNvPr>
            <p:cNvGrpSpPr>
              <a:grpSpLocks/>
            </p:cNvGrpSpPr>
            <p:nvPr/>
          </p:nvGrpSpPr>
          <p:grpSpPr bwMode="auto">
            <a:xfrm>
              <a:off x="2173" y="960"/>
              <a:ext cx="1496" cy="561"/>
              <a:chOff x="2683" y="798"/>
              <a:chExt cx="1496" cy="561"/>
            </a:xfrm>
          </p:grpSpPr>
          <p:sp>
            <p:nvSpPr>
              <p:cNvPr id="198" name="Text Box 187">
                <a:extLst>
                  <a:ext uri="{FF2B5EF4-FFF2-40B4-BE49-F238E27FC236}">
                    <a16:creationId xmlns:a16="http://schemas.microsoft.com/office/drawing/2014/main" id="{33745650-56D6-E74A-A07A-E27A58809560}"/>
                  </a:ext>
                </a:extLst>
              </p:cNvPr>
              <p:cNvSpPr txBox="1">
                <a:spLocks noChangeArrowheads="1"/>
              </p:cNvSpPr>
              <p:nvPr/>
            </p:nvSpPr>
            <p:spPr bwMode="auto">
              <a:xfrm>
                <a:off x="2683" y="917"/>
                <a:ext cx="1496" cy="4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cwnd+MSS</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050" b="0" i="1" u="none" strike="noStrike" kern="0" cap="none" spc="0" normalizeH="0" baseline="0" noProof="0" dirty="0">
                    <a:ln>
                      <a:noFill/>
                    </a:ln>
                    <a:solidFill>
                      <a:srgbClr val="000099"/>
                    </a:solidFill>
                    <a:effectLst/>
                    <a:uLnTx/>
                    <a:uFillTx/>
                    <a:latin typeface="Arial" charset="0"/>
                    <a:ea typeface="ＭＳ Ｐゴシック" charset="0"/>
                    <a:cs typeface="+mn-cs"/>
                  </a:rPr>
                  <a:t>transmit new segment(s), as allowed</a:t>
                </a: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9" name="Line 188">
                <a:extLst>
                  <a:ext uri="{FF2B5EF4-FFF2-40B4-BE49-F238E27FC236}">
                    <a16:creationId xmlns:a16="http://schemas.microsoft.com/office/drawing/2014/main" id="{77E99221-132E-174B-8CBE-C1A955C064C2}"/>
                  </a:ext>
                </a:extLst>
              </p:cNvPr>
              <p:cNvSpPr>
                <a:spLocks noChangeShapeType="1"/>
              </p:cNvSpPr>
              <p:nvPr/>
            </p:nvSpPr>
            <p:spPr bwMode="auto">
              <a:xfrm>
                <a:off x="2744" y="934"/>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Text Box 189">
                <a:extLst>
                  <a:ext uri="{FF2B5EF4-FFF2-40B4-BE49-F238E27FC236}">
                    <a16:creationId xmlns:a16="http://schemas.microsoft.com/office/drawing/2014/main" id="{321F9ADE-2971-8D42-964D-F2D594BDE59B}"/>
                  </a:ext>
                </a:extLst>
              </p:cNvPr>
              <p:cNvSpPr txBox="1">
                <a:spLocks noChangeArrowheads="1"/>
              </p:cNvSpPr>
              <p:nvPr/>
            </p:nvSpPr>
            <p:spPr bwMode="auto">
              <a:xfrm>
                <a:off x="2697" y="798"/>
                <a:ext cx="471"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new ACK</a:t>
                </a:r>
              </a:p>
            </p:txBody>
          </p:sp>
        </p:grpSp>
        <p:sp>
          <p:nvSpPr>
            <p:cNvPr id="186" name="Freeform 205">
              <a:extLst>
                <a:ext uri="{FF2B5EF4-FFF2-40B4-BE49-F238E27FC236}">
                  <a16:creationId xmlns:a16="http://schemas.microsoft.com/office/drawing/2014/main" id="{B9844AE8-814B-7A49-BCA7-110579E99E1F}"/>
                </a:ext>
              </a:extLst>
            </p:cNvPr>
            <p:cNvSpPr>
              <a:spLocks/>
            </p:cNvSpPr>
            <p:nvPr/>
          </p:nvSpPr>
          <p:spPr bwMode="auto">
            <a:xfrm>
              <a:off x="1601" y="1129"/>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7" name="Freeform 206">
              <a:extLst>
                <a:ext uri="{FF2B5EF4-FFF2-40B4-BE49-F238E27FC236}">
                  <a16:creationId xmlns:a16="http://schemas.microsoft.com/office/drawing/2014/main" id="{750DB278-39B5-E245-8F7C-23929FAC1479}"/>
                </a:ext>
              </a:extLst>
            </p:cNvPr>
            <p:cNvSpPr>
              <a:spLocks/>
            </p:cNvSpPr>
            <p:nvPr/>
          </p:nvSpPr>
          <p:spPr bwMode="auto">
            <a:xfrm rot="2575893">
              <a:off x="1950" y="1316"/>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8" name="Group 207">
              <a:extLst>
                <a:ext uri="{FF2B5EF4-FFF2-40B4-BE49-F238E27FC236}">
                  <a16:creationId xmlns:a16="http://schemas.microsoft.com/office/drawing/2014/main" id="{4E427184-7EF7-C840-827D-A9660DD49F4A}"/>
                </a:ext>
              </a:extLst>
            </p:cNvPr>
            <p:cNvGrpSpPr>
              <a:grpSpLocks/>
            </p:cNvGrpSpPr>
            <p:nvPr/>
          </p:nvGrpSpPr>
          <p:grpSpPr bwMode="auto">
            <a:xfrm>
              <a:off x="1445" y="859"/>
              <a:ext cx="740" cy="388"/>
              <a:chOff x="4254" y="2922"/>
              <a:chExt cx="740" cy="388"/>
            </a:xfrm>
          </p:grpSpPr>
          <p:sp>
            <p:nvSpPr>
              <p:cNvPr id="195" name="Text Box 208">
                <a:extLst>
                  <a:ext uri="{FF2B5EF4-FFF2-40B4-BE49-F238E27FC236}">
                    <a16:creationId xmlns:a16="http://schemas.microsoft.com/office/drawing/2014/main" id="{7E5221C3-2422-AB42-AB8F-F98DF12DC473}"/>
                  </a:ext>
                </a:extLst>
              </p:cNvPr>
              <p:cNvSpPr txBox="1">
                <a:spLocks noChangeArrowheads="1"/>
              </p:cNvSpPr>
              <p:nvPr/>
            </p:nvSpPr>
            <p:spPr bwMode="auto">
              <a:xfrm>
                <a:off x="4254" y="3062"/>
                <a:ext cx="740" cy="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a:t>
                </a:r>
              </a:p>
              <a:p>
                <a:pPr marL="0" marR="0" lvl="0" indent="0" algn="ctr" defTabSz="914400" rtl="0" eaLnBrk="1" fontAlgn="base" latinLnBrk="0" hangingPunct="1">
                  <a:lnSpc>
                    <a:spcPct val="8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6" name="Line 209">
                <a:extLst>
                  <a:ext uri="{FF2B5EF4-FFF2-40B4-BE49-F238E27FC236}">
                    <a16:creationId xmlns:a16="http://schemas.microsoft.com/office/drawing/2014/main" id="{0ED363ED-03C6-214E-BEF4-679C86095020}"/>
                  </a:ext>
                </a:extLst>
              </p:cNvPr>
              <p:cNvSpPr>
                <a:spLocks noChangeShapeType="1"/>
              </p:cNvSpPr>
              <p:nvPr/>
            </p:nvSpPr>
            <p:spPr bwMode="auto">
              <a:xfrm>
                <a:off x="4353" y="3071"/>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7" name="Text Box 210">
                <a:extLst>
                  <a:ext uri="{FF2B5EF4-FFF2-40B4-BE49-F238E27FC236}">
                    <a16:creationId xmlns:a16="http://schemas.microsoft.com/office/drawing/2014/main" id="{2593DC72-BD77-FC4D-AA2D-CA14FF49E8C6}"/>
                  </a:ext>
                </a:extLst>
              </p:cNvPr>
              <p:cNvSpPr txBox="1">
                <a:spLocks noChangeArrowheads="1"/>
              </p:cNvSpPr>
              <p:nvPr/>
            </p:nvSpPr>
            <p:spPr bwMode="auto">
              <a:xfrm>
                <a:off x="4295" y="2922"/>
                <a:ext cx="656"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duplicate ACK</a:t>
                </a:r>
              </a:p>
            </p:txBody>
          </p:sp>
        </p:grpSp>
        <p:sp>
          <p:nvSpPr>
            <p:cNvPr id="189" name="Freeform 211">
              <a:extLst>
                <a:ext uri="{FF2B5EF4-FFF2-40B4-BE49-F238E27FC236}">
                  <a16:creationId xmlns:a16="http://schemas.microsoft.com/office/drawing/2014/main" id="{3E6B1AA0-4286-9245-837B-6CBC21CE7E5B}"/>
                </a:ext>
              </a:extLst>
            </p:cNvPr>
            <p:cNvSpPr>
              <a:spLocks/>
            </p:cNvSpPr>
            <p:nvPr/>
          </p:nvSpPr>
          <p:spPr bwMode="auto">
            <a:xfrm rot="-8222029">
              <a:off x="1204" y="1903"/>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rgbClr val="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0" name="Line 234">
              <a:extLst>
                <a:ext uri="{FF2B5EF4-FFF2-40B4-BE49-F238E27FC236}">
                  <a16:creationId xmlns:a16="http://schemas.microsoft.com/office/drawing/2014/main" id="{F4D43A0C-EE6E-EC4A-8B33-48E0CE84AD67}"/>
                </a:ext>
              </a:extLst>
            </p:cNvPr>
            <p:cNvSpPr>
              <a:spLocks noChangeShapeType="1"/>
            </p:cNvSpPr>
            <p:nvPr/>
          </p:nvSpPr>
          <p:spPr bwMode="auto">
            <a:xfrm>
              <a:off x="536" y="1649"/>
              <a:ext cx="752" cy="1"/>
            </a:xfrm>
            <a:prstGeom prst="line">
              <a:avLst/>
            </a:prstGeom>
            <a:noFill/>
            <a:ln w="9525">
              <a:solidFill>
                <a:srgbClr val="000000"/>
              </a:solidFill>
              <a:prstDash val="dash"/>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91" name="Group 235">
              <a:extLst>
                <a:ext uri="{FF2B5EF4-FFF2-40B4-BE49-F238E27FC236}">
                  <a16:creationId xmlns:a16="http://schemas.microsoft.com/office/drawing/2014/main" id="{A04F248C-CB56-5341-9121-CD7548EA20D6}"/>
                </a:ext>
              </a:extLst>
            </p:cNvPr>
            <p:cNvGrpSpPr>
              <a:grpSpLocks/>
            </p:cNvGrpSpPr>
            <p:nvPr/>
          </p:nvGrpSpPr>
          <p:grpSpPr bwMode="auto">
            <a:xfrm>
              <a:off x="495" y="1255"/>
              <a:ext cx="785" cy="429"/>
              <a:chOff x="517" y="936"/>
              <a:chExt cx="785" cy="429"/>
            </a:xfrm>
          </p:grpSpPr>
          <p:sp>
            <p:nvSpPr>
              <p:cNvPr id="192" name="Text Box 236">
                <a:extLst>
                  <a:ext uri="{FF2B5EF4-FFF2-40B4-BE49-F238E27FC236}">
                    <a16:creationId xmlns:a16="http://schemas.microsoft.com/office/drawing/2014/main" id="{DFCAD05B-CECB-F74A-83C0-04809C56403D}"/>
                  </a:ext>
                </a:extLst>
              </p:cNvPr>
              <p:cNvSpPr txBox="1">
                <a:spLocks noChangeArrowheads="1"/>
              </p:cNvSpPr>
              <p:nvPr/>
            </p:nvSpPr>
            <p:spPr bwMode="auto">
              <a:xfrm>
                <a:off x="816" y="936"/>
                <a:ext cx="175" cy="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Symbol" charset="0"/>
                    <a:ea typeface="ＭＳ Ｐゴシック" charset="0"/>
                    <a:cs typeface="+mn-cs"/>
                  </a:rPr>
                  <a:t>L</a:t>
                </a:r>
              </a:p>
            </p:txBody>
          </p:sp>
          <p:sp>
            <p:nvSpPr>
              <p:cNvPr id="193" name="Text Box 237">
                <a:extLst>
                  <a:ext uri="{FF2B5EF4-FFF2-40B4-BE49-F238E27FC236}">
                    <a16:creationId xmlns:a16="http://schemas.microsoft.com/office/drawing/2014/main" id="{74E71529-C1EB-3448-B321-63BB937B34FE}"/>
                  </a:ext>
                </a:extLst>
              </p:cNvPr>
              <p:cNvSpPr txBox="1">
                <a:spLocks noChangeArrowheads="1"/>
              </p:cNvSpPr>
              <p:nvPr/>
            </p:nvSpPr>
            <p:spPr bwMode="auto">
              <a:xfrm>
                <a:off x="517" y="1063"/>
                <a:ext cx="785" cy="3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cwnd = 1 MSS</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ssthresh = 64 KB</a:t>
                </a:r>
              </a:p>
              <a:p>
                <a:pPr marL="0" marR="0" lvl="0" indent="0" algn="ctr" defTabSz="914400" rtl="0" eaLnBrk="1" fontAlgn="base" latinLnBrk="0" hangingPunct="1">
                  <a:lnSpc>
                    <a:spcPct val="8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000000"/>
                    </a:solidFill>
                    <a:effectLst/>
                    <a:uLnTx/>
                    <a:uFillTx/>
                    <a:latin typeface="Arial" charset="0"/>
                    <a:ea typeface="ＭＳ Ｐゴシック" charset="0"/>
                    <a:cs typeface="+mn-cs"/>
                  </a:rPr>
                  <a:t>dupACKcount = 0</a:t>
                </a:r>
                <a:endPar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4" name="Line 238">
                <a:extLst>
                  <a:ext uri="{FF2B5EF4-FFF2-40B4-BE49-F238E27FC236}">
                    <a16:creationId xmlns:a16="http://schemas.microsoft.com/office/drawing/2014/main" id="{6EA26674-D5C9-9744-9287-ED272FC85120}"/>
                  </a:ext>
                </a:extLst>
              </p:cNvPr>
              <p:cNvSpPr>
                <a:spLocks noChangeShapeType="1"/>
              </p:cNvSpPr>
              <p:nvPr/>
            </p:nvSpPr>
            <p:spPr bwMode="auto">
              <a:xfrm>
                <a:off x="641" y="1078"/>
                <a:ext cx="53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206" name="Group 255">
            <a:extLst>
              <a:ext uri="{FF2B5EF4-FFF2-40B4-BE49-F238E27FC236}">
                <a16:creationId xmlns:a16="http://schemas.microsoft.com/office/drawing/2014/main" id="{A2B043F7-099D-4D44-B22F-E06E9FF1DB1B}"/>
              </a:ext>
            </a:extLst>
          </p:cNvPr>
          <p:cNvGrpSpPr>
            <a:grpSpLocks/>
          </p:cNvGrpSpPr>
          <p:nvPr/>
        </p:nvGrpSpPr>
        <p:grpSpPr bwMode="auto">
          <a:xfrm>
            <a:off x="2405063" y="2982232"/>
            <a:ext cx="3167062" cy="1312862"/>
            <a:chOff x="509" y="1766"/>
            <a:chExt cx="1995" cy="827"/>
          </a:xfrm>
        </p:grpSpPr>
        <p:pic>
          <p:nvPicPr>
            <p:cNvPr id="207" name="Picture 252">
              <a:extLst>
                <a:ext uri="{FF2B5EF4-FFF2-40B4-BE49-F238E27FC236}">
                  <a16:creationId xmlns:a16="http://schemas.microsoft.com/office/drawing/2014/main" id="{13117D26-6951-3D4A-A5F0-C71B4A0E4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509" y="1992"/>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8" name="Picture 253">
              <a:extLst>
                <a:ext uri="{FF2B5EF4-FFF2-40B4-BE49-F238E27FC236}">
                  <a16:creationId xmlns:a16="http://schemas.microsoft.com/office/drawing/2014/main" id="{DB7493BD-9E6A-CC43-BB12-1EF71B377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242" y="1766"/>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09" name="Picture 254">
              <a:extLst>
                <a:ext uri="{FF2B5EF4-FFF2-40B4-BE49-F238E27FC236}">
                  <a16:creationId xmlns:a16="http://schemas.microsoft.com/office/drawing/2014/main" id="{919A68A3-008C-A945-88F7-16E52DA21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164" y="2348"/>
              <a:ext cx="262" cy="2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210" name="Group 297">
            <a:extLst>
              <a:ext uri="{FF2B5EF4-FFF2-40B4-BE49-F238E27FC236}">
                <a16:creationId xmlns:a16="http://schemas.microsoft.com/office/drawing/2014/main" id="{439C2129-4880-6149-9CCA-EB3347A6F350}"/>
              </a:ext>
            </a:extLst>
          </p:cNvPr>
          <p:cNvGrpSpPr>
            <a:grpSpLocks/>
          </p:cNvGrpSpPr>
          <p:nvPr/>
        </p:nvGrpSpPr>
        <p:grpSpPr bwMode="auto">
          <a:xfrm>
            <a:off x="5102225" y="1208994"/>
            <a:ext cx="4333875" cy="3243263"/>
            <a:chOff x="2205" y="641"/>
            <a:chExt cx="2730" cy="2043"/>
          </a:xfrm>
        </p:grpSpPr>
        <p:grpSp>
          <p:nvGrpSpPr>
            <p:cNvPr id="211" name="Group 282">
              <a:extLst>
                <a:ext uri="{FF2B5EF4-FFF2-40B4-BE49-F238E27FC236}">
                  <a16:creationId xmlns:a16="http://schemas.microsoft.com/office/drawing/2014/main" id="{6BDFE812-AF51-D241-B4AE-BA4F204E8DF8}"/>
                </a:ext>
              </a:extLst>
            </p:cNvPr>
            <p:cNvGrpSpPr>
              <a:grpSpLocks/>
            </p:cNvGrpSpPr>
            <p:nvPr/>
          </p:nvGrpSpPr>
          <p:grpSpPr bwMode="auto">
            <a:xfrm>
              <a:off x="3381" y="2381"/>
              <a:ext cx="583" cy="303"/>
              <a:chOff x="1166" y="3601"/>
              <a:chExt cx="583" cy="303"/>
            </a:xfrm>
          </p:grpSpPr>
          <p:grpSp>
            <p:nvGrpSpPr>
              <p:cNvPr id="222" name="Group 283">
                <a:extLst>
                  <a:ext uri="{FF2B5EF4-FFF2-40B4-BE49-F238E27FC236}">
                    <a16:creationId xmlns:a16="http://schemas.microsoft.com/office/drawing/2014/main" id="{82205633-61E5-A34B-80F4-B06EBB50B0C8}"/>
                  </a:ext>
                </a:extLst>
              </p:cNvPr>
              <p:cNvGrpSpPr>
                <a:grpSpLocks/>
              </p:cNvGrpSpPr>
              <p:nvPr/>
            </p:nvGrpSpPr>
            <p:grpSpPr bwMode="auto">
              <a:xfrm>
                <a:off x="1166" y="3601"/>
                <a:ext cx="583" cy="303"/>
                <a:chOff x="990" y="4570"/>
                <a:chExt cx="597" cy="380"/>
              </a:xfrm>
            </p:grpSpPr>
            <p:pic>
              <p:nvPicPr>
                <p:cNvPr id="224" name="Picture 284">
                  <a:extLst>
                    <a:ext uri="{FF2B5EF4-FFF2-40B4-BE49-F238E27FC236}">
                      <a16:creationId xmlns:a16="http://schemas.microsoft.com/office/drawing/2014/main" id="{123D55D6-C521-5C4A-A99B-9A81EB8858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25" name="Rectangle 285">
                  <a:extLst>
                    <a:ext uri="{FF2B5EF4-FFF2-40B4-BE49-F238E27FC236}">
                      <a16:creationId xmlns:a16="http://schemas.microsoft.com/office/drawing/2014/main" id="{5A2AADA4-95A5-1140-A8E2-F7E1D634D77A}"/>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23" name="Text Box 286">
                <a:extLst>
                  <a:ext uri="{FF2B5EF4-FFF2-40B4-BE49-F238E27FC236}">
                    <a16:creationId xmlns:a16="http://schemas.microsoft.com/office/drawing/2014/main" id="{A04DE5D7-1E27-9345-953B-F2F6817401D2}"/>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3333CC"/>
                    </a:solidFill>
                    <a:effectLst/>
                    <a:uLnTx/>
                    <a:uFillTx/>
                    <a:latin typeface="Comic Sans MS" charset="0"/>
                    <a:ea typeface="ＭＳ Ｐゴシック" charset="0"/>
                    <a:cs typeface="+mn-cs"/>
                  </a:rPr>
                  <a:t>ACK!</a:t>
                </a:r>
              </a:p>
            </p:txBody>
          </p:sp>
        </p:grpSp>
        <p:grpSp>
          <p:nvGrpSpPr>
            <p:cNvPr id="212" name="Group 287">
              <a:extLst>
                <a:ext uri="{FF2B5EF4-FFF2-40B4-BE49-F238E27FC236}">
                  <a16:creationId xmlns:a16="http://schemas.microsoft.com/office/drawing/2014/main" id="{0901017F-3507-C540-B99D-306E862349DB}"/>
                </a:ext>
              </a:extLst>
            </p:cNvPr>
            <p:cNvGrpSpPr>
              <a:grpSpLocks/>
            </p:cNvGrpSpPr>
            <p:nvPr/>
          </p:nvGrpSpPr>
          <p:grpSpPr bwMode="auto">
            <a:xfrm>
              <a:off x="2205" y="700"/>
              <a:ext cx="583" cy="303"/>
              <a:chOff x="1166" y="3601"/>
              <a:chExt cx="583" cy="303"/>
            </a:xfrm>
          </p:grpSpPr>
          <p:grpSp>
            <p:nvGrpSpPr>
              <p:cNvPr id="218" name="Group 288">
                <a:extLst>
                  <a:ext uri="{FF2B5EF4-FFF2-40B4-BE49-F238E27FC236}">
                    <a16:creationId xmlns:a16="http://schemas.microsoft.com/office/drawing/2014/main" id="{6BA56D00-0006-F044-83B1-AAE6B004468E}"/>
                  </a:ext>
                </a:extLst>
              </p:cNvPr>
              <p:cNvGrpSpPr>
                <a:grpSpLocks/>
              </p:cNvGrpSpPr>
              <p:nvPr/>
            </p:nvGrpSpPr>
            <p:grpSpPr bwMode="auto">
              <a:xfrm>
                <a:off x="1166" y="3601"/>
                <a:ext cx="583" cy="303"/>
                <a:chOff x="990" y="4570"/>
                <a:chExt cx="597" cy="380"/>
              </a:xfrm>
            </p:grpSpPr>
            <p:pic>
              <p:nvPicPr>
                <p:cNvPr id="220" name="Picture 289">
                  <a:extLst>
                    <a:ext uri="{FF2B5EF4-FFF2-40B4-BE49-F238E27FC236}">
                      <a16:creationId xmlns:a16="http://schemas.microsoft.com/office/drawing/2014/main" id="{C017D357-3300-D245-BAF6-F1F404699D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21" name="Rectangle 290">
                  <a:extLst>
                    <a:ext uri="{FF2B5EF4-FFF2-40B4-BE49-F238E27FC236}">
                      <a16:creationId xmlns:a16="http://schemas.microsoft.com/office/drawing/2014/main" id="{71EEC757-0CB1-5245-8660-0181A2DC62D4}"/>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9" name="Text Box 291">
                <a:extLst>
                  <a:ext uri="{FF2B5EF4-FFF2-40B4-BE49-F238E27FC236}">
                    <a16:creationId xmlns:a16="http://schemas.microsoft.com/office/drawing/2014/main" id="{FEBEF8FC-A920-4A49-A1BF-3B6F2FA29D39}"/>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3333CC"/>
                    </a:solidFill>
                    <a:effectLst/>
                    <a:uLnTx/>
                    <a:uFillTx/>
                    <a:latin typeface="Comic Sans MS" charset="0"/>
                    <a:ea typeface="ＭＳ Ｐゴシック" charset="0"/>
                    <a:cs typeface="+mn-cs"/>
                  </a:rPr>
                  <a:t>ACK!</a:t>
                </a:r>
              </a:p>
            </p:txBody>
          </p:sp>
        </p:grpSp>
        <p:grpSp>
          <p:nvGrpSpPr>
            <p:cNvPr id="213" name="Group 292">
              <a:extLst>
                <a:ext uri="{FF2B5EF4-FFF2-40B4-BE49-F238E27FC236}">
                  <a16:creationId xmlns:a16="http://schemas.microsoft.com/office/drawing/2014/main" id="{2201CF4D-D367-D544-9B09-D38B651E98BE}"/>
                </a:ext>
              </a:extLst>
            </p:cNvPr>
            <p:cNvGrpSpPr>
              <a:grpSpLocks/>
            </p:cNvGrpSpPr>
            <p:nvPr/>
          </p:nvGrpSpPr>
          <p:grpSpPr bwMode="auto">
            <a:xfrm>
              <a:off x="4352" y="641"/>
              <a:ext cx="583" cy="303"/>
              <a:chOff x="1166" y="3601"/>
              <a:chExt cx="583" cy="303"/>
            </a:xfrm>
          </p:grpSpPr>
          <p:grpSp>
            <p:nvGrpSpPr>
              <p:cNvPr id="214" name="Group 293">
                <a:extLst>
                  <a:ext uri="{FF2B5EF4-FFF2-40B4-BE49-F238E27FC236}">
                    <a16:creationId xmlns:a16="http://schemas.microsoft.com/office/drawing/2014/main" id="{255AC563-CE69-7346-8853-7B52DB2C3916}"/>
                  </a:ext>
                </a:extLst>
              </p:cNvPr>
              <p:cNvGrpSpPr>
                <a:grpSpLocks/>
              </p:cNvGrpSpPr>
              <p:nvPr/>
            </p:nvGrpSpPr>
            <p:grpSpPr bwMode="auto">
              <a:xfrm>
                <a:off x="1166" y="3601"/>
                <a:ext cx="583" cy="303"/>
                <a:chOff x="990" y="4570"/>
                <a:chExt cx="597" cy="380"/>
              </a:xfrm>
            </p:grpSpPr>
            <p:pic>
              <p:nvPicPr>
                <p:cNvPr id="216" name="Picture 294">
                  <a:extLst>
                    <a:ext uri="{FF2B5EF4-FFF2-40B4-BE49-F238E27FC236}">
                      <a16:creationId xmlns:a16="http://schemas.microsoft.com/office/drawing/2014/main" id="{3CFEE67E-B886-8D4D-9258-34C8D95DCD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217" name="Rectangle 295">
                  <a:extLst>
                    <a:ext uri="{FF2B5EF4-FFF2-40B4-BE49-F238E27FC236}">
                      <a16:creationId xmlns:a16="http://schemas.microsoft.com/office/drawing/2014/main" id="{E84E7D88-9214-BA40-BC66-CD8AA28583A0}"/>
                    </a:ext>
                  </a:extLst>
                </p:cNvPr>
                <p:cNvSpPr>
                  <a:spLocks noChangeArrowheads="1"/>
                </p:cNvSpPr>
                <p:nvPr/>
              </p:nvSpPr>
              <p:spPr bwMode="auto">
                <a:xfrm>
                  <a:off x="1124" y="4679"/>
                  <a:ext cx="356" cy="148"/>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5" name="Text Box 296">
                <a:extLst>
                  <a:ext uri="{FF2B5EF4-FFF2-40B4-BE49-F238E27FC236}">
                    <a16:creationId xmlns:a16="http://schemas.microsoft.com/office/drawing/2014/main" id="{C078F33E-5513-B743-BE29-CF96B31ECD31}"/>
                  </a:ext>
                </a:extLst>
              </p:cNvPr>
              <p:cNvSpPr txBox="1">
                <a:spLocks noChangeArrowheads="1"/>
              </p:cNvSpPr>
              <p:nvPr/>
            </p:nvSpPr>
            <p:spPr bwMode="auto">
              <a:xfrm>
                <a:off x="1274" y="3633"/>
                <a:ext cx="397" cy="2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3333CC"/>
                    </a:solidFill>
                    <a:effectLst/>
                    <a:uLnTx/>
                    <a:uFillTx/>
                    <a:latin typeface="Comic Sans MS" charset="0"/>
                    <a:ea typeface="ＭＳ Ｐゴシック" charset="0"/>
                    <a:cs typeface="+mn-cs"/>
                  </a:rPr>
                  <a:t>New</a:t>
                </a:r>
              </a:p>
              <a:p>
                <a:pPr marL="0" marR="0" lvl="0" indent="0" algn="ctr" defTabSz="914400" rtl="0" eaLnBrk="0" fontAlgn="base" latinLnBrk="0" hangingPunct="0">
                  <a:lnSpc>
                    <a:spcPct val="80000"/>
                  </a:lnSpc>
                  <a:spcBef>
                    <a:spcPct val="0"/>
                  </a:spcBef>
                  <a:spcAft>
                    <a:spcPct val="0"/>
                  </a:spcAft>
                  <a:buClrTx/>
                  <a:buSzTx/>
                  <a:buFontTx/>
                  <a:buNone/>
                  <a:tabLst/>
                  <a:defRPr/>
                </a:pPr>
                <a:r>
                  <a:rPr kumimoji="0" lang="en-US" sz="1200" b="1" i="1" u="none" strike="noStrike" kern="1200" cap="none" spc="0" normalizeH="0" baseline="0" noProof="0" dirty="0">
                    <a:ln>
                      <a:noFill/>
                    </a:ln>
                    <a:solidFill>
                      <a:srgbClr val="3333CC"/>
                    </a:solidFill>
                    <a:effectLst/>
                    <a:uLnTx/>
                    <a:uFillTx/>
                    <a:latin typeface="Comic Sans MS" charset="0"/>
                    <a:ea typeface="ＭＳ Ｐゴシック" charset="0"/>
                    <a:cs typeface="+mn-cs"/>
                  </a:rPr>
                  <a:t>ACK!</a:t>
                </a:r>
              </a:p>
            </p:txBody>
          </p:sp>
        </p:grpSp>
      </p:grpSp>
      <p:sp>
        <p:nvSpPr>
          <p:cNvPr id="109" name="Slide Number Placeholder 2">
            <a:extLst>
              <a:ext uri="{FF2B5EF4-FFF2-40B4-BE49-F238E27FC236}">
                <a16:creationId xmlns:a16="http://schemas.microsoft.com/office/drawing/2014/main" id="{C089E069-434F-034B-BDE6-6D2F3D363D0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55</a:t>
            </a:fld>
            <a:endParaRPr lang="en-US" dirty="0"/>
          </a:p>
        </p:txBody>
      </p:sp>
    </p:spTree>
    <p:extLst>
      <p:ext uri="{BB962C8B-B14F-4D97-AF65-F5344CB8AC3E}">
        <p14:creationId xmlns:p14="http://schemas.microsoft.com/office/powerpoint/2010/main" val="345404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dissolv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left)">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dissolve">
                                      <p:cBhvr>
                                        <p:cTn id="17" dur="5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wipe(right)">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69"/>
                                        </p:tgtEl>
                                        <p:attrNameLst>
                                          <p:attrName>style.visibility</p:attrName>
                                        </p:attrNameLst>
                                      </p:cBhvr>
                                      <p:to>
                                        <p:strVal val="visible"/>
                                      </p:to>
                                    </p:set>
                                    <p:animEffect transition="in" filter="wipe(up)">
                                      <p:cBhvr>
                                        <p:cTn id="27" dur="500"/>
                                        <p:tgtEl>
                                          <p:spTgt spid="16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5"/>
                                        </p:tgtEl>
                                        <p:attrNameLst>
                                          <p:attrName>style.visibility</p:attrName>
                                        </p:attrNameLst>
                                      </p:cBhvr>
                                      <p:to>
                                        <p:strVal val="visible"/>
                                      </p:to>
                                    </p:set>
                                    <p:animEffect transition="in" filter="wipe(left)">
                                      <p:cBhvr>
                                        <p:cTn id="36" dur="500"/>
                                        <p:tgtEl>
                                          <p:spTgt spid="17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58"/>
                                        </p:tgtEl>
                                        <p:attrNameLst>
                                          <p:attrName>style.visibility</p:attrName>
                                        </p:attrNameLst>
                                      </p:cBhvr>
                                      <p:to>
                                        <p:strVal val="visible"/>
                                      </p:to>
                                    </p:set>
                                    <p:animEffect transition="in" filter="dissolve">
                                      <p:cBhvr>
                                        <p:cTn id="41" dur="500"/>
                                        <p:tgtEl>
                                          <p:spTgt spid="15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0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10"/>
                                        </p:tgtEl>
                                        <p:attrNameLst>
                                          <p:attrName>style.visibility</p:attrName>
                                        </p:attrNameLst>
                                      </p:cBhvr>
                                      <p:to>
                                        <p:strVal val="visible"/>
                                      </p:to>
                                    </p:set>
                                    <p:animEffect transition="in" filter="dissolve">
                                      <p:cBhvr>
                                        <p:cTn id="50"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76953"/>
            <a:ext cx="11393310" cy="894622"/>
          </a:xfrm>
        </p:spPr>
        <p:txBody>
          <a:bodyPr>
            <a:normAutofit/>
          </a:bodyPr>
          <a:lstStyle/>
          <a:p>
            <a:r>
              <a:rPr lang="en-US" sz="4800" dirty="0"/>
              <a:t>TCP CUBIC</a:t>
            </a:r>
            <a:endParaRPr lang="en-US" sz="4400" b="0" dirty="0"/>
          </a:p>
        </p:txBody>
      </p:sp>
      <p:sp>
        <p:nvSpPr>
          <p:cNvPr id="110" name="Rectangle 3">
            <a:extLst>
              <a:ext uri="{FF2B5EF4-FFF2-40B4-BE49-F238E27FC236}">
                <a16:creationId xmlns:a16="http://schemas.microsoft.com/office/drawing/2014/main" id="{2AE4693F-64D3-B14E-9E64-AAA80AA8953E}"/>
              </a:ext>
            </a:extLst>
          </p:cNvPr>
          <p:cNvSpPr txBox="1">
            <a:spLocks noChangeArrowheads="1"/>
          </p:cNvSpPr>
          <p:nvPr/>
        </p:nvSpPr>
        <p:spPr>
          <a:xfrm>
            <a:off x="798690" y="1308100"/>
            <a:ext cx="11164126"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Is there a better way than AIMD to “probe” for usable bandwidth?</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3" name="Group 35">
            <a:extLst>
              <a:ext uri="{FF2B5EF4-FFF2-40B4-BE49-F238E27FC236}">
                <a16:creationId xmlns:a16="http://schemas.microsoft.com/office/drawing/2014/main" id="{2EE3D2DA-7F9E-9E46-80D1-0D5CDE4F3F61}"/>
              </a:ext>
            </a:extLst>
          </p:cNvPr>
          <p:cNvGrpSpPr>
            <a:grpSpLocks/>
          </p:cNvGrpSpPr>
          <p:nvPr/>
        </p:nvGrpSpPr>
        <p:grpSpPr bwMode="auto">
          <a:xfrm>
            <a:off x="1454066" y="4302985"/>
            <a:ext cx="6081713" cy="1998662"/>
            <a:chOff x="73" y="2432"/>
            <a:chExt cx="3831" cy="1259"/>
          </a:xfrm>
        </p:grpSpPr>
        <p:sp>
          <p:nvSpPr>
            <p:cNvPr id="24" name="Freeform 26">
              <a:extLst>
                <a:ext uri="{FF2B5EF4-FFF2-40B4-BE49-F238E27FC236}">
                  <a16:creationId xmlns:a16="http://schemas.microsoft.com/office/drawing/2014/main" id="{008B621F-0741-614A-8345-244B5DFC93FB}"/>
                </a:ext>
              </a:extLst>
            </p:cNvPr>
            <p:cNvSpPr>
              <a:spLocks/>
            </p:cNvSpPr>
            <p:nvPr/>
          </p:nvSpPr>
          <p:spPr bwMode="auto">
            <a:xfrm>
              <a:off x="678" y="2556"/>
              <a:ext cx="3226" cy="579"/>
            </a:xfrm>
            <a:custGeom>
              <a:avLst/>
              <a:gdLst>
                <a:gd name="T0" fmla="*/ 0 w 2481"/>
                <a:gd name="T1" fmla="*/ 573 h 579"/>
                <a:gd name="T2" fmla="*/ 414 w 2481"/>
                <a:gd name="T3" fmla="*/ 18 h 579"/>
                <a:gd name="T4" fmla="*/ 414 w 2481"/>
                <a:gd name="T5" fmla="*/ 579 h 579"/>
                <a:gd name="T6" fmla="*/ 819 w 2481"/>
                <a:gd name="T7" fmla="*/ 18 h 579"/>
                <a:gd name="T8" fmla="*/ 825 w 2481"/>
                <a:gd name="T9" fmla="*/ 579 h 579"/>
                <a:gd name="T10" fmla="*/ 1245 w 2481"/>
                <a:gd name="T11" fmla="*/ 15 h 579"/>
                <a:gd name="T12" fmla="*/ 1245 w 2481"/>
                <a:gd name="T13" fmla="*/ 576 h 579"/>
                <a:gd name="T14" fmla="*/ 1647 w 2481"/>
                <a:gd name="T15" fmla="*/ 6 h 579"/>
                <a:gd name="T16" fmla="*/ 1647 w 2481"/>
                <a:gd name="T17" fmla="*/ 570 h 579"/>
                <a:gd name="T18" fmla="*/ 2064 w 2481"/>
                <a:gd name="T19" fmla="*/ 6 h 579"/>
                <a:gd name="T20" fmla="*/ 2064 w 2481"/>
                <a:gd name="T21" fmla="*/ 564 h 579"/>
                <a:gd name="T22" fmla="*/ 2481 w 2481"/>
                <a:gd name="T23" fmla="*/ 0 h 5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81" h="579">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28">
              <a:extLst>
                <a:ext uri="{FF2B5EF4-FFF2-40B4-BE49-F238E27FC236}">
                  <a16:creationId xmlns:a16="http://schemas.microsoft.com/office/drawing/2014/main" id="{ED570B43-3E78-854A-8D18-447961831ECA}"/>
                </a:ext>
              </a:extLst>
            </p:cNvPr>
            <p:cNvSpPr>
              <a:spLocks noChangeShapeType="1"/>
            </p:cNvSpPr>
            <p:nvPr/>
          </p:nvSpPr>
          <p:spPr bwMode="auto">
            <a:xfrm>
              <a:off x="675" y="3685"/>
              <a:ext cx="2674"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6" name="Line 29">
              <a:extLst>
                <a:ext uri="{FF2B5EF4-FFF2-40B4-BE49-F238E27FC236}">
                  <a16:creationId xmlns:a16="http://schemas.microsoft.com/office/drawing/2014/main" id="{71D85BF0-E5F9-D942-8A3A-EA9F3DC864F7}"/>
                </a:ext>
              </a:extLst>
            </p:cNvPr>
            <p:cNvSpPr>
              <a:spLocks noChangeShapeType="1"/>
            </p:cNvSpPr>
            <p:nvPr/>
          </p:nvSpPr>
          <p:spPr bwMode="auto">
            <a:xfrm>
              <a:off x="682" y="2432"/>
              <a:ext cx="0" cy="1259"/>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7" name="Line 31">
              <a:extLst>
                <a:ext uri="{FF2B5EF4-FFF2-40B4-BE49-F238E27FC236}">
                  <a16:creationId xmlns:a16="http://schemas.microsoft.com/office/drawing/2014/main" id="{EBA91A7D-5FB0-5C49-9AF7-EE6BBAE60D9D}"/>
                </a:ext>
              </a:extLst>
            </p:cNvPr>
            <p:cNvSpPr>
              <a:spLocks noChangeShapeType="1"/>
            </p:cNvSpPr>
            <p:nvPr/>
          </p:nvSpPr>
          <p:spPr bwMode="auto">
            <a:xfrm>
              <a:off x="606" y="2571"/>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8" name="Line 32">
              <a:extLst>
                <a:ext uri="{FF2B5EF4-FFF2-40B4-BE49-F238E27FC236}">
                  <a16:creationId xmlns:a16="http://schemas.microsoft.com/office/drawing/2014/main" id="{813289F2-8CBC-7A4B-8370-DD758C216957}"/>
                </a:ext>
              </a:extLst>
            </p:cNvPr>
            <p:cNvSpPr>
              <a:spLocks noChangeShapeType="1"/>
            </p:cNvSpPr>
            <p:nvPr/>
          </p:nvSpPr>
          <p:spPr bwMode="auto">
            <a:xfrm>
              <a:off x="606" y="3117"/>
              <a:ext cx="72" cy="0"/>
            </a:xfrm>
            <a:prstGeom prst="line">
              <a:avLst/>
            </a:prstGeom>
            <a:noFill/>
            <a:ln w="1905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29" name="Text Box 33">
              <a:extLst>
                <a:ext uri="{FF2B5EF4-FFF2-40B4-BE49-F238E27FC236}">
                  <a16:creationId xmlns:a16="http://schemas.microsoft.com/office/drawing/2014/main" id="{82E5BF58-0D1F-F545-B808-E4AEA3158300}"/>
                </a:ext>
              </a:extLst>
            </p:cNvPr>
            <p:cNvSpPr txBox="1">
              <a:spLocks noChangeArrowheads="1"/>
            </p:cNvSpPr>
            <p:nvPr/>
          </p:nvSpPr>
          <p:spPr bwMode="auto">
            <a:xfrm>
              <a:off x="171" y="2437"/>
              <a:ext cx="39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ahoma" charset="0"/>
                  <a:ea typeface="ＭＳ Ｐゴシック" charset="0"/>
                  <a:cs typeface="+mn-cs"/>
                </a:rPr>
                <a:t>W</a:t>
              </a:r>
              <a:r>
                <a:rPr kumimoji="0" lang="en-US" sz="1600" b="0" i="0" u="none" strike="noStrike" kern="1200" cap="none" spc="0" normalizeH="0" baseline="-25000" noProof="0" dirty="0">
                  <a:ln>
                    <a:noFill/>
                  </a:ln>
                  <a:solidFill>
                    <a:prstClr val="black"/>
                  </a:solidFill>
                  <a:effectLst/>
                  <a:uLnTx/>
                  <a:uFillTx/>
                  <a:latin typeface="Tahoma" charset="0"/>
                  <a:ea typeface="ＭＳ Ｐゴシック" charset="0"/>
                  <a:cs typeface="+mn-cs"/>
                </a:rPr>
                <a:t>max</a:t>
              </a:r>
            </a:p>
          </p:txBody>
        </p:sp>
        <p:sp>
          <p:nvSpPr>
            <p:cNvPr id="30" name="Text Box 34">
              <a:extLst>
                <a:ext uri="{FF2B5EF4-FFF2-40B4-BE49-F238E27FC236}">
                  <a16:creationId xmlns:a16="http://schemas.microsoft.com/office/drawing/2014/main" id="{75DD065B-3352-E04F-8C6B-CE0E8FB52773}"/>
                </a:ext>
              </a:extLst>
            </p:cNvPr>
            <p:cNvSpPr txBox="1">
              <a:spLocks noChangeArrowheads="1"/>
            </p:cNvSpPr>
            <p:nvPr/>
          </p:nvSpPr>
          <p:spPr bwMode="auto">
            <a:xfrm>
              <a:off x="73" y="2971"/>
              <a:ext cx="51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ahoma" charset="0"/>
                  <a:ea typeface="ＭＳ Ｐゴシック" charset="0"/>
                  <a:cs typeface="+mn-cs"/>
                </a:rPr>
                <a:t>W</a:t>
              </a:r>
              <a:r>
                <a:rPr kumimoji="0" lang="en-US" sz="1600" b="0" i="0" u="none" strike="noStrike" kern="1200" cap="none" spc="0" normalizeH="0" baseline="-25000" noProof="0" dirty="0">
                  <a:ln>
                    <a:noFill/>
                  </a:ln>
                  <a:solidFill>
                    <a:prstClr val="black"/>
                  </a:solidFill>
                  <a:effectLst/>
                  <a:uLnTx/>
                  <a:uFillTx/>
                  <a:latin typeface="Tahoma" charset="0"/>
                  <a:ea typeface="ＭＳ Ｐゴシック" charset="0"/>
                  <a:cs typeface="+mn-cs"/>
                </a:rPr>
                <a:t>max</a:t>
              </a:r>
              <a:r>
                <a:rPr kumimoji="0" lang="en-US" sz="1600" b="0" i="0" u="none" strike="noStrike" kern="1200" cap="none" spc="0" normalizeH="0" baseline="0" noProof="0" dirty="0">
                  <a:ln>
                    <a:noFill/>
                  </a:ln>
                  <a:solidFill>
                    <a:prstClr val="black"/>
                  </a:solidFill>
                  <a:effectLst/>
                  <a:uLnTx/>
                  <a:uFillTx/>
                  <a:latin typeface="Tahoma" charset="0"/>
                  <a:ea typeface="ＭＳ Ｐゴシック" charset="0"/>
                  <a:cs typeface="+mn-cs"/>
                </a:rPr>
                <a:t>/2</a:t>
              </a:r>
            </a:p>
          </p:txBody>
        </p:sp>
      </p:grpSp>
      <p:grpSp>
        <p:nvGrpSpPr>
          <p:cNvPr id="7" name="Group 6">
            <a:extLst>
              <a:ext uri="{FF2B5EF4-FFF2-40B4-BE49-F238E27FC236}">
                <a16:creationId xmlns:a16="http://schemas.microsoft.com/office/drawing/2014/main" id="{2C810967-8AFF-0B44-9DE4-94FCCECFF888}"/>
              </a:ext>
            </a:extLst>
          </p:cNvPr>
          <p:cNvGrpSpPr/>
          <p:nvPr/>
        </p:nvGrpSpPr>
        <p:grpSpPr>
          <a:xfrm>
            <a:off x="2427206" y="4523647"/>
            <a:ext cx="842174" cy="851974"/>
            <a:chOff x="4111628" y="4803047"/>
            <a:chExt cx="842174" cy="851974"/>
          </a:xfrm>
        </p:grpSpPr>
        <p:sp>
          <p:nvSpPr>
            <p:cNvPr id="36" name="Freeform 35">
              <a:extLst>
                <a:ext uri="{FF2B5EF4-FFF2-40B4-BE49-F238E27FC236}">
                  <a16:creationId xmlns:a16="http://schemas.microsoft.com/office/drawing/2014/main" id="{2B00668C-21E8-A34C-BCF7-F1A69DC1ECC3}"/>
                </a:ext>
              </a:extLst>
            </p:cNvPr>
            <p:cNvSpPr/>
            <p:nvPr/>
          </p:nvSpPr>
          <p:spPr>
            <a:xfrm>
              <a:off x="4111628" y="4803047"/>
              <a:ext cx="842174" cy="851974"/>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15981" y="116560"/>
                    <a:pt x="138906" y="965397"/>
                    <a:pt x="0" y="2103931"/>
                  </a:cubicBezTo>
                </a:path>
              </a:pathLst>
            </a:custGeom>
            <a:noFill/>
            <a:ln w="25400" cap="flat" cmpd="sng" algn="ctr">
              <a:solidFill>
                <a:srgbClr val="0000A3"/>
              </a:solidFill>
              <a:prstDash val="sys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5" name="Straight Connector 4">
              <a:extLst>
                <a:ext uri="{FF2B5EF4-FFF2-40B4-BE49-F238E27FC236}">
                  <a16:creationId xmlns:a16="http://schemas.microsoft.com/office/drawing/2014/main" id="{54D3782B-C45F-4C4D-A0C1-5C619374C102}"/>
                </a:ext>
              </a:extLst>
            </p:cNvPr>
            <p:cNvCxnSpPr>
              <a:cxnSpLocks/>
            </p:cNvCxnSpPr>
            <p:nvPr/>
          </p:nvCxnSpPr>
          <p:spPr>
            <a:xfrm>
              <a:off x="4953802" y="4803047"/>
              <a:ext cx="0" cy="798802"/>
            </a:xfrm>
            <a:prstGeom prst="line">
              <a:avLst/>
            </a:prstGeom>
            <a:ln w="28575">
              <a:solidFill>
                <a:srgbClr val="0000A3"/>
              </a:solidFill>
              <a:prstDash val="dash"/>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7D9A4487-C820-ED4F-B12B-B1BCD661A2B6}"/>
              </a:ext>
            </a:extLst>
          </p:cNvPr>
          <p:cNvGrpSpPr/>
          <p:nvPr/>
        </p:nvGrpSpPr>
        <p:grpSpPr>
          <a:xfrm>
            <a:off x="7913115" y="4293106"/>
            <a:ext cx="3050589" cy="1377579"/>
            <a:chOff x="7913115" y="4572506"/>
            <a:chExt cx="3050589" cy="1377579"/>
          </a:xfrm>
        </p:grpSpPr>
        <p:cxnSp>
          <p:nvCxnSpPr>
            <p:cNvPr id="10" name="Straight Connector 9">
              <a:extLst>
                <a:ext uri="{FF2B5EF4-FFF2-40B4-BE49-F238E27FC236}">
                  <a16:creationId xmlns:a16="http://schemas.microsoft.com/office/drawing/2014/main" id="{8E3D1EF1-17F7-B044-80E7-5A8DA0D55C49}"/>
                </a:ext>
              </a:extLst>
            </p:cNvPr>
            <p:cNvCxnSpPr/>
            <p:nvPr/>
          </p:nvCxnSpPr>
          <p:spPr>
            <a:xfrm>
              <a:off x="7913115" y="4779235"/>
              <a:ext cx="86627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F42C75B-407D-DB40-8FEF-4D1FACF6CEC7}"/>
                </a:ext>
              </a:extLst>
            </p:cNvPr>
            <p:cNvCxnSpPr/>
            <p:nvPr/>
          </p:nvCxnSpPr>
          <p:spPr>
            <a:xfrm>
              <a:off x="7913115" y="5243961"/>
              <a:ext cx="866274" cy="0"/>
            </a:xfrm>
            <a:prstGeom prst="line">
              <a:avLst/>
            </a:prstGeom>
            <a:ln w="38100">
              <a:solidFill>
                <a:srgbClr val="0000A3"/>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B84D5C4-4382-0A4A-BF0E-103C112E7062}"/>
                </a:ext>
              </a:extLst>
            </p:cNvPr>
            <p:cNvSpPr txBox="1"/>
            <p:nvPr/>
          </p:nvSpPr>
          <p:spPr>
            <a:xfrm>
              <a:off x="8779389" y="4572506"/>
              <a:ext cx="11785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classic TCP</a:t>
              </a:r>
            </a:p>
          </p:txBody>
        </p:sp>
        <p:sp>
          <p:nvSpPr>
            <p:cNvPr id="61" name="TextBox 60">
              <a:extLst>
                <a:ext uri="{FF2B5EF4-FFF2-40B4-BE49-F238E27FC236}">
                  <a16:creationId xmlns:a16="http://schemas.microsoft.com/office/drawing/2014/main" id="{C78FB066-FD15-2E4D-B3E8-33A0CDF65C20}"/>
                </a:ext>
              </a:extLst>
            </p:cNvPr>
            <p:cNvSpPr txBox="1"/>
            <p:nvPr/>
          </p:nvSpPr>
          <p:spPr>
            <a:xfrm>
              <a:off x="8779390" y="5109855"/>
              <a:ext cx="2184314" cy="840230"/>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TCP CUBIC - higher throughput in this example</a:t>
              </a:r>
            </a:p>
          </p:txBody>
        </p:sp>
      </p:grpSp>
      <p:sp>
        <p:nvSpPr>
          <p:cNvPr id="62" name="Rectangle 3">
            <a:extLst>
              <a:ext uri="{FF2B5EF4-FFF2-40B4-BE49-F238E27FC236}">
                <a16:creationId xmlns:a16="http://schemas.microsoft.com/office/drawing/2014/main" id="{F1B09B2C-5BFF-124C-8873-2D5A5004479A}"/>
              </a:ext>
            </a:extLst>
          </p:cNvPr>
          <p:cNvSpPr txBox="1">
            <a:spLocks noChangeArrowheads="1"/>
          </p:cNvSpPr>
          <p:nvPr/>
        </p:nvSpPr>
        <p:spPr>
          <a:xfrm>
            <a:off x="798690" y="1787378"/>
            <a:ext cx="11164126"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Insight/intuition: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t>
            </a:r>
            <a:r>
              <a:rPr kumimoji="0" lang="en-US" altLang="en-US" sz="2400" b="0" i="0"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max</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sending rate at which congestion loss was detected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congestion state of bottleneck link probably (?) hasn’t changed much</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37" name="Group 36">
            <a:extLst>
              <a:ext uri="{FF2B5EF4-FFF2-40B4-BE49-F238E27FC236}">
                <a16:creationId xmlns:a16="http://schemas.microsoft.com/office/drawing/2014/main" id="{EA8CEDAB-74CD-5045-B220-F3B6A30DE234}"/>
              </a:ext>
            </a:extLst>
          </p:cNvPr>
          <p:cNvGrpSpPr/>
          <p:nvPr/>
        </p:nvGrpSpPr>
        <p:grpSpPr>
          <a:xfrm>
            <a:off x="3268173" y="4514248"/>
            <a:ext cx="4263455" cy="882027"/>
            <a:chOff x="4952595" y="4780948"/>
            <a:chExt cx="4263455" cy="882027"/>
          </a:xfrm>
        </p:grpSpPr>
        <p:grpSp>
          <p:nvGrpSpPr>
            <p:cNvPr id="39" name="Group 38">
              <a:extLst>
                <a:ext uri="{FF2B5EF4-FFF2-40B4-BE49-F238E27FC236}">
                  <a16:creationId xmlns:a16="http://schemas.microsoft.com/office/drawing/2014/main" id="{9998D466-ABA6-9748-B0B7-3CDDC71A2EE6}"/>
                </a:ext>
              </a:extLst>
            </p:cNvPr>
            <p:cNvGrpSpPr/>
            <p:nvPr/>
          </p:nvGrpSpPr>
          <p:grpSpPr>
            <a:xfrm>
              <a:off x="4952595" y="4811001"/>
              <a:ext cx="842174" cy="851974"/>
              <a:chOff x="4111628" y="4803047"/>
              <a:chExt cx="842174" cy="851974"/>
            </a:xfrm>
          </p:grpSpPr>
          <p:sp>
            <p:nvSpPr>
              <p:cNvPr id="66" name="Freeform 65">
                <a:extLst>
                  <a:ext uri="{FF2B5EF4-FFF2-40B4-BE49-F238E27FC236}">
                    <a16:creationId xmlns:a16="http://schemas.microsoft.com/office/drawing/2014/main" id="{B1533BBF-34AE-D045-87C4-BF94B61A8021}"/>
                  </a:ext>
                </a:extLst>
              </p:cNvPr>
              <p:cNvSpPr/>
              <p:nvPr/>
            </p:nvSpPr>
            <p:spPr>
              <a:xfrm>
                <a:off x="4111628" y="4803047"/>
                <a:ext cx="842174" cy="851974"/>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15981" y="116560"/>
                      <a:pt x="138906" y="965397"/>
                      <a:pt x="0" y="2103931"/>
                    </a:cubicBezTo>
                  </a:path>
                </a:pathLst>
              </a:custGeom>
              <a:noFill/>
              <a:ln w="25400" cap="flat" cmpd="sng" algn="ctr">
                <a:solidFill>
                  <a:srgbClr val="0000A3"/>
                </a:solidFill>
                <a:prstDash val="sys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67" name="Straight Connector 66">
                <a:extLst>
                  <a:ext uri="{FF2B5EF4-FFF2-40B4-BE49-F238E27FC236}">
                    <a16:creationId xmlns:a16="http://schemas.microsoft.com/office/drawing/2014/main" id="{1F8A69D2-1AFF-CA43-A164-55CE61810D68}"/>
                  </a:ext>
                </a:extLst>
              </p:cNvPr>
              <p:cNvCxnSpPr>
                <a:cxnSpLocks/>
              </p:cNvCxnSpPr>
              <p:nvPr/>
            </p:nvCxnSpPr>
            <p:spPr>
              <a:xfrm>
                <a:off x="4953802" y="4803047"/>
                <a:ext cx="0" cy="798802"/>
              </a:xfrm>
              <a:prstGeom prst="line">
                <a:avLst/>
              </a:prstGeom>
              <a:ln w="28575">
                <a:solidFill>
                  <a:srgbClr val="0000A3"/>
                </a:solidFill>
                <a:prstDash val="dash"/>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8341D802-81CF-4E46-9220-44B0752C28D7}"/>
                </a:ext>
              </a:extLst>
            </p:cNvPr>
            <p:cNvGrpSpPr/>
            <p:nvPr/>
          </p:nvGrpSpPr>
          <p:grpSpPr>
            <a:xfrm>
              <a:off x="5815757" y="4805638"/>
              <a:ext cx="842174" cy="851974"/>
              <a:chOff x="4111628" y="4803047"/>
              <a:chExt cx="842174" cy="851974"/>
            </a:xfrm>
          </p:grpSpPr>
          <p:sp>
            <p:nvSpPr>
              <p:cNvPr id="64" name="Freeform 63">
                <a:extLst>
                  <a:ext uri="{FF2B5EF4-FFF2-40B4-BE49-F238E27FC236}">
                    <a16:creationId xmlns:a16="http://schemas.microsoft.com/office/drawing/2014/main" id="{70675808-82EA-D149-9841-1BBE3F7DCA2F}"/>
                  </a:ext>
                </a:extLst>
              </p:cNvPr>
              <p:cNvSpPr/>
              <p:nvPr/>
            </p:nvSpPr>
            <p:spPr>
              <a:xfrm>
                <a:off x="4111628" y="4803047"/>
                <a:ext cx="842174" cy="851974"/>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15981" y="116560"/>
                      <a:pt x="138906" y="965397"/>
                      <a:pt x="0" y="2103931"/>
                    </a:cubicBezTo>
                  </a:path>
                </a:pathLst>
              </a:custGeom>
              <a:noFill/>
              <a:ln w="25400" cap="flat" cmpd="sng" algn="ctr">
                <a:solidFill>
                  <a:srgbClr val="0000A3"/>
                </a:solidFill>
                <a:prstDash val="sys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65" name="Straight Connector 64">
                <a:extLst>
                  <a:ext uri="{FF2B5EF4-FFF2-40B4-BE49-F238E27FC236}">
                    <a16:creationId xmlns:a16="http://schemas.microsoft.com/office/drawing/2014/main" id="{8AE68F9E-06F7-1545-8D8D-00902C6D90A3}"/>
                  </a:ext>
                </a:extLst>
              </p:cNvPr>
              <p:cNvCxnSpPr>
                <a:cxnSpLocks/>
              </p:cNvCxnSpPr>
              <p:nvPr/>
            </p:nvCxnSpPr>
            <p:spPr>
              <a:xfrm>
                <a:off x="4953802" y="4803047"/>
                <a:ext cx="0" cy="798802"/>
              </a:xfrm>
              <a:prstGeom prst="line">
                <a:avLst/>
              </a:prstGeom>
              <a:ln w="28575">
                <a:solidFill>
                  <a:srgbClr val="0000A3"/>
                </a:solidFill>
                <a:prstDash val="dash"/>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32EF4543-041D-8B43-8CC4-877142E679F4}"/>
                </a:ext>
              </a:extLst>
            </p:cNvPr>
            <p:cNvGrpSpPr/>
            <p:nvPr/>
          </p:nvGrpSpPr>
          <p:grpSpPr>
            <a:xfrm>
              <a:off x="6678918" y="4793293"/>
              <a:ext cx="828566" cy="851974"/>
              <a:chOff x="4111628" y="4803047"/>
              <a:chExt cx="842174" cy="851974"/>
            </a:xfrm>
          </p:grpSpPr>
          <p:sp>
            <p:nvSpPr>
              <p:cNvPr id="60" name="Freeform 59">
                <a:extLst>
                  <a:ext uri="{FF2B5EF4-FFF2-40B4-BE49-F238E27FC236}">
                    <a16:creationId xmlns:a16="http://schemas.microsoft.com/office/drawing/2014/main" id="{1FC6BAEE-2EA6-9A40-9F2E-9323AD251412}"/>
                  </a:ext>
                </a:extLst>
              </p:cNvPr>
              <p:cNvSpPr/>
              <p:nvPr/>
            </p:nvSpPr>
            <p:spPr>
              <a:xfrm>
                <a:off x="4111628" y="4803047"/>
                <a:ext cx="842174" cy="851974"/>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15981" y="116560"/>
                      <a:pt x="138906" y="965397"/>
                      <a:pt x="0" y="2103931"/>
                    </a:cubicBezTo>
                  </a:path>
                </a:pathLst>
              </a:custGeom>
              <a:noFill/>
              <a:ln w="25400" cap="flat" cmpd="sng" algn="ctr">
                <a:solidFill>
                  <a:srgbClr val="0000A3"/>
                </a:solidFill>
                <a:prstDash val="sys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63" name="Straight Connector 62">
                <a:extLst>
                  <a:ext uri="{FF2B5EF4-FFF2-40B4-BE49-F238E27FC236}">
                    <a16:creationId xmlns:a16="http://schemas.microsoft.com/office/drawing/2014/main" id="{30E9A1B0-7A1F-A64E-A21C-56B80108553A}"/>
                  </a:ext>
                </a:extLst>
              </p:cNvPr>
              <p:cNvCxnSpPr>
                <a:cxnSpLocks/>
              </p:cNvCxnSpPr>
              <p:nvPr/>
            </p:nvCxnSpPr>
            <p:spPr>
              <a:xfrm>
                <a:off x="4953802" y="4803047"/>
                <a:ext cx="0" cy="798802"/>
              </a:xfrm>
              <a:prstGeom prst="line">
                <a:avLst/>
              </a:prstGeom>
              <a:ln w="28575">
                <a:solidFill>
                  <a:srgbClr val="0000A3"/>
                </a:solidFill>
                <a:prstDash val="dash"/>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47C69A79-9B85-7049-BEA1-1E83A975FED9}"/>
                </a:ext>
              </a:extLst>
            </p:cNvPr>
            <p:cNvGrpSpPr/>
            <p:nvPr/>
          </p:nvGrpSpPr>
          <p:grpSpPr>
            <a:xfrm>
              <a:off x="7533201" y="4780948"/>
              <a:ext cx="828566" cy="851974"/>
              <a:chOff x="4111628" y="4803047"/>
              <a:chExt cx="842174" cy="851974"/>
            </a:xfrm>
          </p:grpSpPr>
          <p:sp>
            <p:nvSpPr>
              <p:cNvPr id="57" name="Freeform 56">
                <a:extLst>
                  <a:ext uri="{FF2B5EF4-FFF2-40B4-BE49-F238E27FC236}">
                    <a16:creationId xmlns:a16="http://schemas.microsoft.com/office/drawing/2014/main" id="{10C024C3-43D8-584D-BB47-25DD0DC40555}"/>
                  </a:ext>
                </a:extLst>
              </p:cNvPr>
              <p:cNvSpPr/>
              <p:nvPr/>
            </p:nvSpPr>
            <p:spPr>
              <a:xfrm>
                <a:off x="4111628" y="4803047"/>
                <a:ext cx="842174" cy="851974"/>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15981" y="116560"/>
                      <a:pt x="138906" y="965397"/>
                      <a:pt x="0" y="2103931"/>
                    </a:cubicBezTo>
                  </a:path>
                </a:pathLst>
              </a:custGeom>
              <a:noFill/>
              <a:ln w="25400" cap="flat" cmpd="sng" algn="ctr">
                <a:solidFill>
                  <a:srgbClr val="0000A3"/>
                </a:solidFill>
                <a:prstDash val="sys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58" name="Straight Connector 57">
                <a:extLst>
                  <a:ext uri="{FF2B5EF4-FFF2-40B4-BE49-F238E27FC236}">
                    <a16:creationId xmlns:a16="http://schemas.microsoft.com/office/drawing/2014/main" id="{71DF2745-FBCE-E843-9F7F-31D872B044E6}"/>
                  </a:ext>
                </a:extLst>
              </p:cNvPr>
              <p:cNvCxnSpPr>
                <a:cxnSpLocks/>
              </p:cNvCxnSpPr>
              <p:nvPr/>
            </p:nvCxnSpPr>
            <p:spPr>
              <a:xfrm>
                <a:off x="4953802" y="4803047"/>
                <a:ext cx="0" cy="798802"/>
              </a:xfrm>
              <a:prstGeom prst="line">
                <a:avLst/>
              </a:prstGeom>
              <a:ln w="28575">
                <a:solidFill>
                  <a:srgbClr val="0000A3"/>
                </a:solidFill>
                <a:prstDash val="dash"/>
              </a:ln>
            </p:spPr>
            <p:style>
              <a:lnRef idx="1">
                <a:schemeClr val="accent1"/>
              </a:lnRef>
              <a:fillRef idx="0">
                <a:schemeClr val="accent1"/>
              </a:fillRef>
              <a:effectRef idx="0">
                <a:schemeClr val="accent1"/>
              </a:effectRef>
              <a:fontRef idx="minor">
                <a:schemeClr val="tx1"/>
              </a:fontRef>
            </p:style>
          </p:cxnSp>
        </p:grpSp>
        <p:sp>
          <p:nvSpPr>
            <p:cNvPr id="56" name="Freeform 55">
              <a:extLst>
                <a:ext uri="{FF2B5EF4-FFF2-40B4-BE49-F238E27FC236}">
                  <a16:creationId xmlns:a16="http://schemas.microsoft.com/office/drawing/2014/main" id="{D5B879B8-621B-914A-80D6-C9E50E57B598}"/>
                </a:ext>
              </a:extLst>
            </p:cNvPr>
            <p:cNvSpPr/>
            <p:nvPr/>
          </p:nvSpPr>
          <p:spPr>
            <a:xfrm>
              <a:off x="8387484" y="4790798"/>
              <a:ext cx="828566" cy="851974"/>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15981" y="116560"/>
                    <a:pt x="138906" y="965397"/>
                    <a:pt x="0" y="2103931"/>
                  </a:cubicBezTo>
                </a:path>
              </a:pathLst>
            </a:custGeom>
            <a:noFill/>
            <a:ln w="25400" cap="flat" cmpd="sng" algn="ctr">
              <a:solidFill>
                <a:srgbClr val="0000A3"/>
              </a:solidFill>
              <a:prstDash val="sysDash"/>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sp>
        <p:nvSpPr>
          <p:cNvPr id="70" name="Rectangle 3">
            <a:extLst>
              <a:ext uri="{FF2B5EF4-FFF2-40B4-BE49-F238E27FC236}">
                <a16:creationId xmlns:a16="http://schemas.microsoft.com/office/drawing/2014/main" id="{A7440B74-5491-9045-A31F-52B88A90E26D}"/>
              </a:ext>
            </a:extLst>
          </p:cNvPr>
          <p:cNvSpPr txBox="1">
            <a:spLocks noChangeArrowheads="1"/>
          </p:cNvSpPr>
          <p:nvPr/>
        </p:nvSpPr>
        <p:spPr>
          <a:xfrm>
            <a:off x="785990" y="3009900"/>
            <a:ext cx="11164126" cy="89837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after cutting rate/window in half on loss, initially ramp to to W</a:t>
            </a:r>
            <a:r>
              <a:rPr kumimoji="0" lang="en-US" altLang="en-US" sz="2400" b="0" i="0"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max</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400" b="0" i="1"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mn-cs"/>
              </a:rPr>
              <a:t>faster</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but then approach W</a:t>
            </a:r>
            <a:r>
              <a:rPr kumimoji="0" lang="en-US" altLang="en-US" sz="2400" b="0" i="0"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max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more </a:t>
            </a:r>
            <a:r>
              <a:rPr kumimoji="0" lang="en-US" altLang="en-US" sz="2400" b="0" i="1"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mn-cs"/>
              </a:rPr>
              <a:t>slowly</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38" name="Slide Number Placeholder 2">
            <a:extLst>
              <a:ext uri="{FF2B5EF4-FFF2-40B4-BE49-F238E27FC236}">
                <a16:creationId xmlns:a16="http://schemas.microsoft.com/office/drawing/2014/main" id="{D0F43FDD-DDBC-1047-B2D5-FF3A372F77B0}"/>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56</a:t>
            </a:fld>
            <a:endParaRPr lang="en-US" dirty="0"/>
          </a:p>
        </p:txBody>
      </p:sp>
    </p:spTree>
    <p:extLst>
      <p:ext uri="{BB962C8B-B14F-4D97-AF65-F5344CB8AC3E}">
        <p14:creationId xmlns:p14="http://schemas.microsoft.com/office/powerpoint/2010/main" val="217406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dissolv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dissolve">
                                      <p:cBhvr>
                                        <p:cTn id="12" dur="500"/>
                                        <p:tgtEl>
                                          <p:spTgt spid="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wipe(left)">
                                      <p:cBhvr>
                                        <p:cTn id="26" dur="2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7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76953"/>
            <a:ext cx="11393310" cy="894622"/>
          </a:xfrm>
        </p:spPr>
        <p:txBody>
          <a:bodyPr>
            <a:normAutofit/>
          </a:bodyPr>
          <a:lstStyle/>
          <a:p>
            <a:r>
              <a:rPr lang="en-US" sz="4800" dirty="0"/>
              <a:t>TCP CUBIC</a:t>
            </a:r>
            <a:endParaRPr lang="en-US" sz="4400" b="0" dirty="0"/>
          </a:p>
        </p:txBody>
      </p:sp>
      <p:sp>
        <p:nvSpPr>
          <p:cNvPr id="110" name="Rectangle 3">
            <a:extLst>
              <a:ext uri="{FF2B5EF4-FFF2-40B4-BE49-F238E27FC236}">
                <a16:creationId xmlns:a16="http://schemas.microsoft.com/office/drawing/2014/main" id="{2AE4693F-64D3-B14E-9E64-AAA80AA8953E}"/>
              </a:ext>
            </a:extLst>
          </p:cNvPr>
          <p:cNvSpPr txBox="1">
            <a:spLocks noChangeArrowheads="1"/>
          </p:cNvSpPr>
          <p:nvPr/>
        </p:nvSpPr>
        <p:spPr>
          <a:xfrm>
            <a:off x="798690" y="1308101"/>
            <a:ext cx="11164126" cy="9525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12750" marR="0" lvl="0" indent="-2857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K: point in time when TCP window size will reach W</a:t>
            </a:r>
            <a:r>
              <a:rPr kumimoji="0" lang="en-US" altLang="en-US" sz="2800" b="0" i="0" u="none" strike="noStrike" kern="1200" cap="none" spc="0" normalizeH="0" baseline="-25000" noProof="0" dirty="0">
                <a:ln>
                  <a:noFill/>
                </a:ln>
                <a:solidFill>
                  <a:prstClr val="black"/>
                </a:solidFill>
                <a:effectLst/>
                <a:uLnTx/>
                <a:uFillTx/>
                <a:latin typeface="Calibri" panose="020F0502020204030204"/>
                <a:ea typeface="ＭＳ Ｐゴシック" panose="020B0600070205080204" pitchFamily="34" charset="-128"/>
                <a:cs typeface="+mn-cs"/>
              </a:rPr>
              <a:t>max</a:t>
            </a:r>
          </a:p>
          <a:p>
            <a:pPr marL="803275" marR="0" lvl="1" indent="-2952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K itself is tunable</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2" name="Rectangle 3">
            <a:extLst>
              <a:ext uri="{FF2B5EF4-FFF2-40B4-BE49-F238E27FC236}">
                <a16:creationId xmlns:a16="http://schemas.microsoft.com/office/drawing/2014/main" id="{F1B09B2C-5BFF-124C-8873-2D5A5004479A}"/>
              </a:ext>
            </a:extLst>
          </p:cNvPr>
          <p:cNvSpPr txBox="1">
            <a:spLocks noChangeArrowheads="1"/>
          </p:cNvSpPr>
          <p:nvPr/>
        </p:nvSpPr>
        <p:spPr>
          <a:xfrm>
            <a:off x="952087" y="3043946"/>
            <a:ext cx="10287826" cy="9959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larger increases when further away from 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smaller increases (cautious) when nearer K</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06795CBC-1C6F-B74C-8827-0CEC2A5332FA}"/>
              </a:ext>
            </a:extLst>
          </p:cNvPr>
          <p:cNvGrpSpPr/>
          <p:nvPr/>
        </p:nvGrpSpPr>
        <p:grpSpPr>
          <a:xfrm>
            <a:off x="5030365" y="2893914"/>
            <a:ext cx="5714572" cy="3644759"/>
            <a:chOff x="5030365" y="2893914"/>
            <a:chExt cx="5714572" cy="3644759"/>
          </a:xfrm>
        </p:grpSpPr>
        <p:sp>
          <p:nvSpPr>
            <p:cNvPr id="74" name="TextBox 73">
              <a:extLst>
                <a:ext uri="{FF2B5EF4-FFF2-40B4-BE49-F238E27FC236}">
                  <a16:creationId xmlns:a16="http://schemas.microsoft.com/office/drawing/2014/main" id="{0C00F692-909C-D141-895A-8256B6EEFBF4}"/>
                </a:ext>
              </a:extLst>
            </p:cNvPr>
            <p:cNvSpPr txBox="1"/>
            <p:nvPr/>
          </p:nvSpPr>
          <p:spPr>
            <a:xfrm>
              <a:off x="5030365" y="5185258"/>
              <a:ext cx="808134" cy="887935"/>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TCP</a:t>
              </a:r>
            </a:p>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sending </a:t>
              </a:r>
            </a:p>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7" name="Straight Connector 36">
              <a:extLst>
                <a:ext uri="{FF2B5EF4-FFF2-40B4-BE49-F238E27FC236}">
                  <a16:creationId xmlns:a16="http://schemas.microsoft.com/office/drawing/2014/main" id="{31048FCC-58D4-4840-8FE9-95840FBDF3F7}"/>
                </a:ext>
              </a:extLst>
            </p:cNvPr>
            <p:cNvCxnSpPr/>
            <p:nvPr/>
          </p:nvCxnSpPr>
          <p:spPr>
            <a:xfrm>
              <a:off x="5801903" y="6262085"/>
              <a:ext cx="4597974" cy="0"/>
            </a:xfrm>
            <a:prstGeom prst="line">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59F5CB0B-355B-4E41-BC79-5977C015BC4B}"/>
                </a:ext>
              </a:extLst>
            </p:cNvPr>
            <p:cNvCxnSpPr>
              <a:cxnSpLocks/>
            </p:cNvCxnSpPr>
            <p:nvPr/>
          </p:nvCxnSpPr>
          <p:spPr>
            <a:xfrm flipV="1">
              <a:off x="5801904" y="4039871"/>
              <a:ext cx="0" cy="2222517"/>
            </a:xfrm>
            <a:prstGeom prst="line">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9" name="Freeform 38">
              <a:extLst>
                <a:ext uri="{FF2B5EF4-FFF2-40B4-BE49-F238E27FC236}">
                  <a16:creationId xmlns:a16="http://schemas.microsoft.com/office/drawing/2014/main" id="{364F1AB4-D6D0-A349-B4AA-DF5642C1F53E}"/>
                </a:ext>
              </a:extLst>
            </p:cNvPr>
            <p:cNvSpPr/>
            <p:nvPr/>
          </p:nvSpPr>
          <p:spPr>
            <a:xfrm>
              <a:off x="5815989" y="4445300"/>
              <a:ext cx="480875" cy="1811260"/>
            </a:xfrm>
            <a:custGeom>
              <a:avLst/>
              <a:gdLst>
                <a:gd name="connsiteX0" fmla="*/ 860489 w 860489"/>
                <a:gd name="connsiteY0" fmla="*/ 0 h 3186525"/>
                <a:gd name="connsiteX1" fmla="*/ 777551 w 860489"/>
                <a:gd name="connsiteY1" fmla="*/ 2384490 h 3186525"/>
                <a:gd name="connsiteX2" fmla="*/ 632408 w 860489"/>
                <a:gd name="connsiteY2" fmla="*/ 3084286 h 3186525"/>
                <a:gd name="connsiteX3" fmla="*/ 440612 w 860489"/>
                <a:gd name="connsiteY3" fmla="*/ 3177592 h 3186525"/>
                <a:gd name="connsiteX4" fmla="*/ 0 w 860489"/>
                <a:gd name="connsiteY4" fmla="*/ 3182776 h 3186525"/>
                <a:gd name="connsiteX0" fmla="*/ 860489 w 860489"/>
                <a:gd name="connsiteY0" fmla="*/ 0 h 3186525"/>
                <a:gd name="connsiteX1" fmla="*/ 777551 w 860489"/>
                <a:gd name="connsiteY1" fmla="*/ 2384490 h 3186525"/>
                <a:gd name="connsiteX2" fmla="*/ 632408 w 860489"/>
                <a:gd name="connsiteY2" fmla="*/ 3084286 h 3186525"/>
                <a:gd name="connsiteX3" fmla="*/ 440612 w 860489"/>
                <a:gd name="connsiteY3" fmla="*/ 3177592 h 3186525"/>
                <a:gd name="connsiteX4" fmla="*/ 0 w 860489"/>
                <a:gd name="connsiteY4" fmla="*/ 3182776 h 3186525"/>
                <a:gd name="connsiteX0" fmla="*/ 860489 w 860489"/>
                <a:gd name="connsiteY0" fmla="*/ 0 h 3182776"/>
                <a:gd name="connsiteX1" fmla="*/ 777551 w 860489"/>
                <a:gd name="connsiteY1" fmla="*/ 2384490 h 3182776"/>
                <a:gd name="connsiteX2" fmla="*/ 632408 w 860489"/>
                <a:gd name="connsiteY2" fmla="*/ 3084286 h 3182776"/>
                <a:gd name="connsiteX3" fmla="*/ 0 w 860489"/>
                <a:gd name="connsiteY3" fmla="*/ 3182776 h 3182776"/>
                <a:gd name="connsiteX0" fmla="*/ 860489 w 860489"/>
                <a:gd name="connsiteY0" fmla="*/ 0 h 3183334"/>
                <a:gd name="connsiteX1" fmla="*/ 777551 w 860489"/>
                <a:gd name="connsiteY1" fmla="*/ 2384490 h 3183334"/>
                <a:gd name="connsiteX2" fmla="*/ 632408 w 860489"/>
                <a:gd name="connsiteY2" fmla="*/ 3084286 h 3183334"/>
                <a:gd name="connsiteX3" fmla="*/ 0 w 860489"/>
                <a:gd name="connsiteY3" fmla="*/ 3182776 h 3183334"/>
                <a:gd name="connsiteX0" fmla="*/ 860489 w 860489"/>
                <a:gd name="connsiteY0" fmla="*/ 0 h 3185488"/>
                <a:gd name="connsiteX1" fmla="*/ 777551 w 860489"/>
                <a:gd name="connsiteY1" fmla="*/ 2384490 h 3185488"/>
                <a:gd name="connsiteX2" fmla="*/ 632408 w 860489"/>
                <a:gd name="connsiteY2" fmla="*/ 3084286 h 3185488"/>
                <a:gd name="connsiteX3" fmla="*/ 0 w 860489"/>
                <a:gd name="connsiteY3" fmla="*/ 3182776 h 3185488"/>
                <a:gd name="connsiteX0" fmla="*/ 860489 w 860489"/>
                <a:gd name="connsiteY0" fmla="*/ 0 h 3182776"/>
                <a:gd name="connsiteX1" fmla="*/ 777551 w 860489"/>
                <a:gd name="connsiteY1" fmla="*/ 2384490 h 3182776"/>
                <a:gd name="connsiteX2" fmla="*/ 664158 w 860489"/>
                <a:gd name="connsiteY2" fmla="*/ 3043011 h 3182776"/>
                <a:gd name="connsiteX3" fmla="*/ 0 w 860489"/>
                <a:gd name="connsiteY3" fmla="*/ 3182776 h 3182776"/>
                <a:gd name="connsiteX0" fmla="*/ 860489 w 860489"/>
                <a:gd name="connsiteY0" fmla="*/ 0 h 3184087"/>
                <a:gd name="connsiteX1" fmla="*/ 777551 w 860489"/>
                <a:gd name="connsiteY1" fmla="*/ 2384490 h 3184087"/>
                <a:gd name="connsiteX2" fmla="*/ 664158 w 860489"/>
                <a:gd name="connsiteY2" fmla="*/ 3043011 h 3184087"/>
                <a:gd name="connsiteX3" fmla="*/ 0 w 860489"/>
                <a:gd name="connsiteY3" fmla="*/ 3182776 h 3184087"/>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2776"/>
                <a:gd name="connsiteX1" fmla="*/ 793426 w 860489"/>
                <a:gd name="connsiteY1" fmla="*/ 2378140 h 3182776"/>
                <a:gd name="connsiteX2" fmla="*/ 664158 w 860489"/>
                <a:gd name="connsiteY2" fmla="*/ 3043011 h 3182776"/>
                <a:gd name="connsiteX3" fmla="*/ 0 w 860489"/>
                <a:gd name="connsiteY3" fmla="*/ 3182776 h 3182776"/>
                <a:gd name="connsiteX0" fmla="*/ 860489 w 860489"/>
                <a:gd name="connsiteY0" fmla="*/ 0 h 3186401"/>
                <a:gd name="connsiteX1" fmla="*/ 793426 w 860489"/>
                <a:gd name="connsiteY1" fmla="*/ 2378140 h 3186401"/>
                <a:gd name="connsiteX2" fmla="*/ 664158 w 860489"/>
                <a:gd name="connsiteY2" fmla="*/ 3043011 h 3186401"/>
                <a:gd name="connsiteX3" fmla="*/ 0 w 860489"/>
                <a:gd name="connsiteY3" fmla="*/ 3182776 h 3186401"/>
                <a:gd name="connsiteX0" fmla="*/ 860489 w 860489"/>
                <a:gd name="connsiteY0" fmla="*/ 0 h 3188070"/>
                <a:gd name="connsiteX1" fmla="*/ 793426 w 860489"/>
                <a:gd name="connsiteY1" fmla="*/ 2378140 h 3188070"/>
                <a:gd name="connsiteX2" fmla="*/ 664158 w 860489"/>
                <a:gd name="connsiteY2" fmla="*/ 3043011 h 3188070"/>
                <a:gd name="connsiteX3" fmla="*/ 0 w 860489"/>
                <a:gd name="connsiteY3" fmla="*/ 3182776 h 3188070"/>
                <a:gd name="connsiteX0" fmla="*/ 860489 w 860489"/>
                <a:gd name="connsiteY0" fmla="*/ 0 h 3182776"/>
                <a:gd name="connsiteX1" fmla="*/ 793426 w 860489"/>
                <a:gd name="connsiteY1" fmla="*/ 2378140 h 3182776"/>
                <a:gd name="connsiteX2" fmla="*/ 676858 w 860489"/>
                <a:gd name="connsiteY2" fmla="*/ 2998561 h 3182776"/>
                <a:gd name="connsiteX3" fmla="*/ 0 w 860489"/>
                <a:gd name="connsiteY3" fmla="*/ 3182776 h 3182776"/>
                <a:gd name="connsiteX0" fmla="*/ 860489 w 860489"/>
                <a:gd name="connsiteY0" fmla="*/ 0 h 3192503"/>
                <a:gd name="connsiteX1" fmla="*/ 793426 w 860489"/>
                <a:gd name="connsiteY1" fmla="*/ 2378140 h 3192503"/>
                <a:gd name="connsiteX2" fmla="*/ 676858 w 860489"/>
                <a:gd name="connsiteY2" fmla="*/ 2998561 h 3192503"/>
                <a:gd name="connsiteX3" fmla="*/ 0 w 860489"/>
                <a:gd name="connsiteY3" fmla="*/ 3182776 h 3192503"/>
                <a:gd name="connsiteX0" fmla="*/ 860489 w 860489"/>
                <a:gd name="connsiteY0" fmla="*/ 0 h 3182981"/>
                <a:gd name="connsiteX1" fmla="*/ 793426 w 860489"/>
                <a:gd name="connsiteY1" fmla="*/ 2378140 h 3182981"/>
                <a:gd name="connsiteX2" fmla="*/ 676858 w 860489"/>
                <a:gd name="connsiteY2" fmla="*/ 2998561 h 3182981"/>
                <a:gd name="connsiteX3" fmla="*/ 0 w 860489"/>
                <a:gd name="connsiteY3" fmla="*/ 3182776 h 3182981"/>
                <a:gd name="connsiteX0" fmla="*/ 860489 w 860489"/>
                <a:gd name="connsiteY0" fmla="*/ 0 h 3182981"/>
                <a:gd name="connsiteX1" fmla="*/ 793426 w 860489"/>
                <a:gd name="connsiteY1" fmla="*/ 2378140 h 3182981"/>
                <a:gd name="connsiteX2" fmla="*/ 676858 w 860489"/>
                <a:gd name="connsiteY2" fmla="*/ 2998561 h 3182981"/>
                <a:gd name="connsiteX3" fmla="*/ 0 w 860489"/>
                <a:gd name="connsiteY3" fmla="*/ 3182776 h 3182981"/>
                <a:gd name="connsiteX0" fmla="*/ 892239 w 892239"/>
                <a:gd name="connsiteY0" fmla="*/ 0 h 3160756"/>
                <a:gd name="connsiteX1" fmla="*/ 793426 w 892239"/>
                <a:gd name="connsiteY1" fmla="*/ 2355915 h 3160756"/>
                <a:gd name="connsiteX2" fmla="*/ 676858 w 892239"/>
                <a:gd name="connsiteY2" fmla="*/ 2976336 h 3160756"/>
                <a:gd name="connsiteX3" fmla="*/ 0 w 892239"/>
                <a:gd name="connsiteY3" fmla="*/ 3160551 h 3160756"/>
                <a:gd name="connsiteX0" fmla="*/ 892239 w 892239"/>
                <a:gd name="connsiteY0" fmla="*/ 0 h 3160756"/>
                <a:gd name="connsiteX1" fmla="*/ 793426 w 892239"/>
                <a:gd name="connsiteY1" fmla="*/ 2355915 h 3160756"/>
                <a:gd name="connsiteX2" fmla="*/ 676858 w 892239"/>
                <a:gd name="connsiteY2" fmla="*/ 2976336 h 3160756"/>
                <a:gd name="connsiteX3" fmla="*/ 0 w 892239"/>
                <a:gd name="connsiteY3" fmla="*/ 3160551 h 3160756"/>
              </a:gdLst>
              <a:ahLst/>
              <a:cxnLst>
                <a:cxn ang="0">
                  <a:pos x="connsiteX0" y="connsiteY0"/>
                </a:cxn>
                <a:cxn ang="0">
                  <a:pos x="connsiteX1" y="connsiteY1"/>
                </a:cxn>
                <a:cxn ang="0">
                  <a:pos x="connsiteX2" y="connsiteY2"/>
                </a:cxn>
                <a:cxn ang="0">
                  <a:pos x="connsiteX3" y="connsiteY3"/>
                </a:cxn>
              </a:cxnLst>
              <a:rect l="l" t="t" r="r" b="b"/>
              <a:pathLst>
                <a:path w="892239" h="3160756">
                  <a:moveTo>
                    <a:pt x="892239" y="0"/>
                  </a:moveTo>
                  <a:cubicBezTo>
                    <a:pt x="857076" y="951096"/>
                    <a:pt x="829323" y="1859859"/>
                    <a:pt x="793426" y="2355915"/>
                  </a:cubicBezTo>
                  <a:cubicBezTo>
                    <a:pt x="757529" y="2851971"/>
                    <a:pt x="751946" y="2746980"/>
                    <a:pt x="676858" y="2976336"/>
                  </a:cubicBezTo>
                  <a:cubicBezTo>
                    <a:pt x="601770" y="3205692"/>
                    <a:pt x="160327" y="3152732"/>
                    <a:pt x="0" y="3160551"/>
                  </a:cubicBezTo>
                </a:path>
              </a:pathLst>
            </a:custGeom>
            <a:ln>
              <a:solidFill>
                <a:schemeClr val="accent3">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0" name="Straight Connector 39">
              <a:extLst>
                <a:ext uri="{FF2B5EF4-FFF2-40B4-BE49-F238E27FC236}">
                  <a16:creationId xmlns:a16="http://schemas.microsoft.com/office/drawing/2014/main" id="{4FD05EC6-A68B-5849-8856-938B7C45AE89}"/>
                </a:ext>
              </a:extLst>
            </p:cNvPr>
            <p:cNvCxnSpPr/>
            <p:nvPr/>
          </p:nvCxnSpPr>
          <p:spPr>
            <a:xfrm>
              <a:off x="6296864" y="4404648"/>
              <a:ext cx="2774587" cy="0"/>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grpSp>
          <p:nvGrpSpPr>
            <p:cNvPr id="53" name="Group 52">
              <a:extLst>
                <a:ext uri="{FF2B5EF4-FFF2-40B4-BE49-F238E27FC236}">
                  <a16:creationId xmlns:a16="http://schemas.microsoft.com/office/drawing/2014/main" id="{652EAE58-A2EB-554B-B3B8-3454BFE59DEC}"/>
                </a:ext>
              </a:extLst>
            </p:cNvPr>
            <p:cNvGrpSpPr/>
            <p:nvPr/>
          </p:nvGrpSpPr>
          <p:grpSpPr>
            <a:xfrm>
              <a:off x="6350326" y="4445306"/>
              <a:ext cx="795772" cy="900465"/>
              <a:chOff x="1257299" y="2448186"/>
              <a:chExt cx="919846" cy="1571364"/>
            </a:xfrm>
          </p:grpSpPr>
          <p:cxnSp>
            <p:nvCxnSpPr>
              <p:cNvPr id="55" name="Straight Connector 54">
                <a:extLst>
                  <a:ext uri="{FF2B5EF4-FFF2-40B4-BE49-F238E27FC236}">
                    <a16:creationId xmlns:a16="http://schemas.microsoft.com/office/drawing/2014/main" id="{2DF299DC-3781-6341-8E4F-B2C15D6BF7C2}"/>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56" name="Freeform 55">
                <a:extLst>
                  <a:ext uri="{FF2B5EF4-FFF2-40B4-BE49-F238E27FC236}">
                    <a16:creationId xmlns:a16="http://schemas.microsoft.com/office/drawing/2014/main" id="{A529C10A-08D6-9A4C-9568-A25D96C81B35}"/>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7" name="Group 56">
              <a:extLst>
                <a:ext uri="{FF2B5EF4-FFF2-40B4-BE49-F238E27FC236}">
                  <a16:creationId xmlns:a16="http://schemas.microsoft.com/office/drawing/2014/main" id="{DD4080B1-FADE-D842-AD17-92CA8673682C}"/>
                </a:ext>
              </a:extLst>
            </p:cNvPr>
            <p:cNvGrpSpPr/>
            <p:nvPr/>
          </p:nvGrpSpPr>
          <p:grpSpPr>
            <a:xfrm>
              <a:off x="7112500" y="4441667"/>
              <a:ext cx="795772" cy="900465"/>
              <a:chOff x="1257299" y="2448186"/>
              <a:chExt cx="919846" cy="1571364"/>
            </a:xfrm>
          </p:grpSpPr>
          <p:cxnSp>
            <p:nvCxnSpPr>
              <p:cNvPr id="58" name="Straight Connector 57">
                <a:extLst>
                  <a:ext uri="{FF2B5EF4-FFF2-40B4-BE49-F238E27FC236}">
                    <a16:creationId xmlns:a16="http://schemas.microsoft.com/office/drawing/2014/main" id="{E69763F8-75EA-0E4A-853F-08C23DD4122F}"/>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0" name="Freeform 59">
                <a:extLst>
                  <a:ext uri="{FF2B5EF4-FFF2-40B4-BE49-F238E27FC236}">
                    <a16:creationId xmlns:a16="http://schemas.microsoft.com/office/drawing/2014/main" id="{35886E94-53B2-7946-B709-218428F049FE}"/>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 name="Group 62">
              <a:extLst>
                <a:ext uri="{FF2B5EF4-FFF2-40B4-BE49-F238E27FC236}">
                  <a16:creationId xmlns:a16="http://schemas.microsoft.com/office/drawing/2014/main" id="{0F7884A7-F440-334D-B642-94893B5E3BD9}"/>
                </a:ext>
              </a:extLst>
            </p:cNvPr>
            <p:cNvGrpSpPr/>
            <p:nvPr/>
          </p:nvGrpSpPr>
          <p:grpSpPr>
            <a:xfrm>
              <a:off x="7915954" y="4439699"/>
              <a:ext cx="795772" cy="900465"/>
              <a:chOff x="1257299" y="2448186"/>
              <a:chExt cx="919846" cy="1571364"/>
            </a:xfrm>
          </p:grpSpPr>
          <p:cxnSp>
            <p:nvCxnSpPr>
              <p:cNvPr id="64" name="Straight Connector 63">
                <a:extLst>
                  <a:ext uri="{FF2B5EF4-FFF2-40B4-BE49-F238E27FC236}">
                    <a16:creationId xmlns:a16="http://schemas.microsoft.com/office/drawing/2014/main" id="{DBAB8346-F851-4A4A-94B7-DB13B78B3A1D}"/>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5" name="Freeform 64">
                <a:extLst>
                  <a:ext uri="{FF2B5EF4-FFF2-40B4-BE49-F238E27FC236}">
                    <a16:creationId xmlns:a16="http://schemas.microsoft.com/office/drawing/2014/main" id="{5DE2B57B-8EF4-444E-B851-4E3DDA763568}"/>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6" name="Group 65">
              <a:extLst>
                <a:ext uri="{FF2B5EF4-FFF2-40B4-BE49-F238E27FC236}">
                  <a16:creationId xmlns:a16="http://schemas.microsoft.com/office/drawing/2014/main" id="{360233D6-13BE-BE49-A1A4-3A07A4A60704}"/>
                </a:ext>
              </a:extLst>
            </p:cNvPr>
            <p:cNvGrpSpPr/>
            <p:nvPr/>
          </p:nvGrpSpPr>
          <p:grpSpPr>
            <a:xfrm>
              <a:off x="8750371" y="4432898"/>
              <a:ext cx="795772" cy="900465"/>
              <a:chOff x="1257299" y="2448186"/>
              <a:chExt cx="919846" cy="1571364"/>
            </a:xfrm>
          </p:grpSpPr>
          <p:cxnSp>
            <p:nvCxnSpPr>
              <p:cNvPr id="67" name="Straight Connector 66">
                <a:extLst>
                  <a:ext uri="{FF2B5EF4-FFF2-40B4-BE49-F238E27FC236}">
                    <a16:creationId xmlns:a16="http://schemas.microsoft.com/office/drawing/2014/main" id="{7592834D-6AF8-EC4B-A694-A322F44A9728}"/>
                  </a:ext>
                </a:extLst>
              </p:cNvPr>
              <p:cNvCxnSpPr/>
              <p:nvPr/>
            </p:nvCxnSpPr>
            <p:spPr>
              <a:xfrm flipH="1">
                <a:off x="1294561" y="2448186"/>
                <a:ext cx="882584" cy="1571364"/>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68" name="Freeform 67">
                <a:extLst>
                  <a:ext uri="{FF2B5EF4-FFF2-40B4-BE49-F238E27FC236}">
                    <a16:creationId xmlns:a16="http://schemas.microsoft.com/office/drawing/2014/main" id="{DC312EC2-306B-AB46-9E55-8D70D2C647CA}"/>
                  </a:ext>
                </a:extLst>
              </p:cNvPr>
              <p:cNvSpPr/>
              <p:nvPr/>
            </p:nvSpPr>
            <p:spPr>
              <a:xfrm>
                <a:off x="1257299" y="2450273"/>
                <a:ext cx="854076" cy="1562928"/>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Lst>
                <a:ahLst/>
                <a:cxnLst>
                  <a:cxn ang="0">
                    <a:pos x="connsiteX0" y="connsiteY0"/>
                  </a:cxn>
                  <a:cxn ang="0">
                    <a:pos x="connsiteX1" y="connsiteY1"/>
                  </a:cxn>
                </a:cxnLst>
                <a:rect l="l" t="t" r="r" b="b"/>
                <a:pathLst>
                  <a:path w="1147562" h="2103931">
                    <a:moveTo>
                      <a:pt x="1147562" y="0"/>
                    </a:moveTo>
                    <a:cubicBezTo>
                      <a:pt x="-38197" y="56892"/>
                      <a:pt x="50361" y="547727"/>
                      <a:pt x="0" y="2103931"/>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9" name="Group 68">
              <a:extLst>
                <a:ext uri="{FF2B5EF4-FFF2-40B4-BE49-F238E27FC236}">
                  <a16:creationId xmlns:a16="http://schemas.microsoft.com/office/drawing/2014/main" id="{E51034EA-88C3-9948-BD04-CB0734C3B06B}"/>
                </a:ext>
              </a:extLst>
            </p:cNvPr>
            <p:cNvGrpSpPr/>
            <p:nvPr/>
          </p:nvGrpSpPr>
          <p:grpSpPr>
            <a:xfrm rot="10800000">
              <a:off x="9544542" y="3096950"/>
              <a:ext cx="1128132" cy="1337145"/>
              <a:chOff x="873118" y="2448184"/>
              <a:chExt cx="1304027" cy="2333396"/>
            </a:xfrm>
          </p:grpSpPr>
          <p:cxnSp>
            <p:nvCxnSpPr>
              <p:cNvPr id="70" name="Straight Connector 69">
                <a:extLst>
                  <a:ext uri="{FF2B5EF4-FFF2-40B4-BE49-F238E27FC236}">
                    <a16:creationId xmlns:a16="http://schemas.microsoft.com/office/drawing/2014/main" id="{45185064-8B1C-694D-B7B9-BC34AB781C04}"/>
                  </a:ext>
                </a:extLst>
              </p:cNvPr>
              <p:cNvCxnSpPr/>
              <p:nvPr/>
            </p:nvCxnSpPr>
            <p:spPr>
              <a:xfrm rot="10800000" flipV="1">
                <a:off x="873118" y="2448184"/>
                <a:ext cx="1304027" cy="2333396"/>
              </a:xfrm>
              <a:prstGeom prst="line">
                <a:avLst/>
              </a:prstGeom>
              <a:ln w="25400">
                <a:solidFill>
                  <a:srgbClr val="C00000"/>
                </a:solidFill>
              </a:ln>
              <a:effectLst/>
            </p:spPr>
            <p:style>
              <a:lnRef idx="2">
                <a:schemeClr val="accent1"/>
              </a:lnRef>
              <a:fillRef idx="0">
                <a:schemeClr val="accent1"/>
              </a:fillRef>
              <a:effectRef idx="1">
                <a:schemeClr val="accent1"/>
              </a:effectRef>
              <a:fontRef idx="minor">
                <a:schemeClr val="tx1"/>
              </a:fontRef>
            </p:style>
          </p:cxnSp>
          <p:sp>
            <p:nvSpPr>
              <p:cNvPr id="71" name="Freeform 70">
                <a:extLst>
                  <a:ext uri="{FF2B5EF4-FFF2-40B4-BE49-F238E27FC236}">
                    <a16:creationId xmlns:a16="http://schemas.microsoft.com/office/drawing/2014/main" id="{E1B54475-17A0-F34F-96E0-44994E90BFC9}"/>
                  </a:ext>
                </a:extLst>
              </p:cNvPr>
              <p:cNvSpPr/>
              <p:nvPr/>
            </p:nvSpPr>
            <p:spPr>
              <a:xfrm>
                <a:off x="1252647" y="2450273"/>
                <a:ext cx="858729" cy="1600620"/>
              </a:xfrm>
              <a:custGeom>
                <a:avLst/>
                <a:gdLst>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064381 w 1064381"/>
                  <a:gd name="connsiteY0" fmla="*/ 0 h 2044095"/>
                  <a:gd name="connsiteX1" fmla="*/ 0 w 1064381"/>
                  <a:gd name="connsiteY1" fmla="*/ 2044095 h 204409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29575"/>
                  <a:gd name="connsiteX1" fmla="*/ 0 w 1147562"/>
                  <a:gd name="connsiteY1" fmla="*/ 2129575 h 2129575"/>
                  <a:gd name="connsiteX0" fmla="*/ 1147562 w 1147562"/>
                  <a:gd name="connsiteY0" fmla="*/ 0 h 2103931"/>
                  <a:gd name="connsiteX1" fmla="*/ 0 w 1147562"/>
                  <a:gd name="connsiteY1" fmla="*/ 2103931 h 2103931"/>
                  <a:gd name="connsiteX0" fmla="*/ 1153813 w 1153813"/>
                  <a:gd name="connsiteY0" fmla="*/ 0 h 2154669"/>
                  <a:gd name="connsiteX1" fmla="*/ 0 w 1153813"/>
                  <a:gd name="connsiteY1" fmla="*/ 2154669 h 2154669"/>
                </a:gdLst>
                <a:ahLst/>
                <a:cxnLst>
                  <a:cxn ang="0">
                    <a:pos x="connsiteX0" y="connsiteY0"/>
                  </a:cxn>
                  <a:cxn ang="0">
                    <a:pos x="connsiteX1" y="connsiteY1"/>
                  </a:cxn>
                </a:cxnLst>
                <a:rect l="l" t="t" r="r" b="b"/>
                <a:pathLst>
                  <a:path w="1153813" h="2154669">
                    <a:moveTo>
                      <a:pt x="1153813" y="0"/>
                    </a:moveTo>
                    <a:cubicBezTo>
                      <a:pt x="-31946" y="56892"/>
                      <a:pt x="50361" y="598465"/>
                      <a:pt x="0" y="2154669"/>
                    </a:cubicBezTo>
                  </a:path>
                </a:pathLst>
              </a:cu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72" name="Straight Connector 71">
              <a:extLst>
                <a:ext uri="{FF2B5EF4-FFF2-40B4-BE49-F238E27FC236}">
                  <a16:creationId xmlns:a16="http://schemas.microsoft.com/office/drawing/2014/main" id="{1DFE095F-2D1A-1D4C-9A9A-C62873E0BA38}"/>
                </a:ext>
              </a:extLst>
            </p:cNvPr>
            <p:cNvCxnSpPr/>
            <p:nvPr/>
          </p:nvCxnSpPr>
          <p:spPr>
            <a:xfrm flipH="1">
              <a:off x="10340170" y="2893914"/>
              <a:ext cx="30503" cy="717091"/>
            </a:xfrm>
            <a:prstGeom prst="line">
              <a:avLst/>
            </a:prstGeom>
            <a:ln w="25400">
              <a:solidFill>
                <a:srgbClr val="0000A3"/>
              </a:solidFill>
              <a:prstDash val="dash"/>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44614631-1328-024A-AD9F-B0CFCCFC596B}"/>
                </a:ext>
              </a:extLst>
            </p:cNvPr>
            <p:cNvSpPr txBox="1"/>
            <p:nvPr/>
          </p:nvSpPr>
          <p:spPr>
            <a:xfrm>
              <a:off x="9881790" y="5941210"/>
              <a:ext cx="5180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time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TextBox 74">
              <a:extLst>
                <a:ext uri="{FF2B5EF4-FFF2-40B4-BE49-F238E27FC236}">
                  <a16:creationId xmlns:a16="http://schemas.microsoft.com/office/drawing/2014/main" id="{41BB1097-C057-5147-9BCD-E5C490AEDE69}"/>
                </a:ext>
              </a:extLst>
            </p:cNvPr>
            <p:cNvSpPr txBox="1"/>
            <p:nvPr/>
          </p:nvSpPr>
          <p:spPr>
            <a:xfrm>
              <a:off x="9472281" y="4611687"/>
              <a:ext cx="1272656" cy="938719"/>
            </a:xfrm>
            <a:prstGeom prst="rect">
              <a:avLst/>
            </a:prstGeom>
            <a:noFill/>
          </p:spPr>
          <p:txBody>
            <a:bodyPr wrap="none" rtlCol="0">
              <a:spAutoFit/>
            </a:bodyPr>
            <a:lstStyle/>
            <a:p>
              <a:pPr marL="0" marR="0" lvl="0" indent="0" algn="l" defTabSz="914400" rtl="0" eaLnBrk="1" fontAlgn="auto" latinLnBrk="0" hangingPunct="1">
                <a:lnSpc>
                  <a:spcPct val="85000"/>
                </a:lnSpc>
                <a:spcBef>
                  <a:spcPts val="60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TCP Reno</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85000"/>
                </a:lnSpc>
                <a:spcBef>
                  <a:spcPts val="600"/>
                </a:spcBef>
                <a:spcAft>
                  <a:spcPts val="0"/>
                </a:spcAft>
                <a:buClrTx/>
                <a:buSzTx/>
                <a:buFontTx/>
                <a:buNone/>
                <a:tabLst/>
                <a:defRPr/>
              </a:pPr>
              <a:r>
                <a:rPr kumimoji="0" lang="en-US" sz="2000" b="0" i="0" u="none" strike="noStrike" kern="1200" cap="none" spc="0" normalizeH="0" baseline="0" noProof="0" dirty="0">
                  <a:ln>
                    <a:noFill/>
                  </a:ln>
                  <a:solidFill>
                    <a:srgbClr val="0000A3"/>
                  </a:solidFill>
                  <a:effectLst/>
                  <a:uLnTx/>
                  <a:uFillTx/>
                  <a:latin typeface="Calibri" panose="020F0502020204030204"/>
                  <a:ea typeface="+mn-ea"/>
                  <a:cs typeface="+mn-cs"/>
                </a:rPr>
                <a:t>TCP CUBIC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Box 75">
              <a:extLst>
                <a:ext uri="{FF2B5EF4-FFF2-40B4-BE49-F238E27FC236}">
                  <a16:creationId xmlns:a16="http://schemas.microsoft.com/office/drawing/2014/main" id="{E65F2412-0F58-C149-8867-B61A2C75E6EC}"/>
                </a:ext>
              </a:extLst>
            </p:cNvPr>
            <p:cNvSpPr txBox="1"/>
            <p:nvPr/>
          </p:nvSpPr>
          <p:spPr>
            <a:xfrm>
              <a:off x="5297976" y="4213131"/>
              <a:ext cx="549173"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max</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77" name="TextBox 76">
              <a:extLst>
                <a:ext uri="{FF2B5EF4-FFF2-40B4-BE49-F238E27FC236}">
                  <a16:creationId xmlns:a16="http://schemas.microsoft.com/office/drawing/2014/main" id="{17DBE2E0-494D-FA44-BFFB-683AF749D1D8}"/>
                </a:ext>
              </a:extLst>
            </p:cNvPr>
            <p:cNvSpPr txBox="1"/>
            <p:nvPr/>
          </p:nvSpPr>
          <p:spPr>
            <a:xfrm>
              <a:off x="6180953" y="6255332"/>
              <a:ext cx="312906"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0</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78" name="TextBox 77">
              <a:extLst>
                <a:ext uri="{FF2B5EF4-FFF2-40B4-BE49-F238E27FC236}">
                  <a16:creationId xmlns:a16="http://schemas.microsoft.com/office/drawing/2014/main" id="{3EF3C689-6B08-054B-A295-70385BDFB1E3}"/>
                </a:ext>
              </a:extLst>
            </p:cNvPr>
            <p:cNvSpPr txBox="1"/>
            <p:nvPr/>
          </p:nvSpPr>
          <p:spPr>
            <a:xfrm>
              <a:off x="6997088" y="6257827"/>
              <a:ext cx="305467"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1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79" name="TextBox 78">
              <a:extLst>
                <a:ext uri="{FF2B5EF4-FFF2-40B4-BE49-F238E27FC236}">
                  <a16:creationId xmlns:a16="http://schemas.microsoft.com/office/drawing/2014/main" id="{40A4823D-67A2-DF4C-BA75-8B64BC8EB2AA}"/>
                </a:ext>
              </a:extLst>
            </p:cNvPr>
            <p:cNvSpPr txBox="1"/>
            <p:nvPr/>
          </p:nvSpPr>
          <p:spPr>
            <a:xfrm>
              <a:off x="7796251" y="6257147"/>
              <a:ext cx="312906"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2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80" name="TextBox 79">
              <a:extLst>
                <a:ext uri="{FF2B5EF4-FFF2-40B4-BE49-F238E27FC236}">
                  <a16:creationId xmlns:a16="http://schemas.microsoft.com/office/drawing/2014/main" id="{D8730D84-4B2F-F440-A574-FDFAF6E53A48}"/>
                </a:ext>
              </a:extLst>
            </p:cNvPr>
            <p:cNvSpPr txBox="1"/>
            <p:nvPr/>
          </p:nvSpPr>
          <p:spPr>
            <a:xfrm>
              <a:off x="8625086" y="6256467"/>
              <a:ext cx="305467"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3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81" name="TextBox 80">
              <a:extLst>
                <a:ext uri="{FF2B5EF4-FFF2-40B4-BE49-F238E27FC236}">
                  <a16:creationId xmlns:a16="http://schemas.microsoft.com/office/drawing/2014/main" id="{F758EBF6-5D1E-8E42-BF23-8B6F286B1443}"/>
                </a:ext>
              </a:extLst>
            </p:cNvPr>
            <p:cNvSpPr txBox="1"/>
            <p:nvPr/>
          </p:nvSpPr>
          <p:spPr>
            <a:xfrm>
              <a:off x="9424249" y="6256467"/>
              <a:ext cx="312906" cy="280846"/>
            </a:xfrm>
            <a:prstGeom prst="rect">
              <a:avLst/>
            </a:prstGeom>
            <a:noFill/>
          </p:spPr>
          <p:txBody>
            <a:bodyPr wrap="non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400" b="0" i="0" u="none" strike="noStrike" kern="1200" cap="none" spc="0" normalizeH="0" baseline="-25000" noProof="0" dirty="0">
                  <a:ln>
                    <a:noFill/>
                  </a:ln>
                  <a:solidFill>
                    <a:prstClr val="black"/>
                  </a:solidFill>
                  <a:effectLst/>
                  <a:uLnTx/>
                  <a:uFillTx/>
                  <a:latin typeface="Calibri" panose="020F0502020204030204"/>
                  <a:ea typeface="+mn-ea"/>
                  <a:cs typeface="+mn-cs"/>
                </a:rPr>
                <a:t>4 </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grpSp>
      <p:sp>
        <p:nvSpPr>
          <p:cNvPr id="84" name="Rectangle 3">
            <a:extLst>
              <a:ext uri="{FF2B5EF4-FFF2-40B4-BE49-F238E27FC236}">
                <a16:creationId xmlns:a16="http://schemas.microsoft.com/office/drawing/2014/main" id="{38863743-CAFF-054A-AD43-DD61D083D1B0}"/>
              </a:ext>
            </a:extLst>
          </p:cNvPr>
          <p:cNvSpPr txBox="1">
            <a:spLocks noChangeArrowheads="1"/>
          </p:cNvSpPr>
          <p:nvPr/>
        </p:nvSpPr>
        <p:spPr>
          <a:xfrm>
            <a:off x="797673" y="3980386"/>
            <a:ext cx="3652421" cy="202419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2952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TCP CUBIC default in Linux, most popular TCP for popular Web servers (until ~2024)</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1" name="Rectangle 3">
            <a:extLst>
              <a:ext uri="{FF2B5EF4-FFF2-40B4-BE49-F238E27FC236}">
                <a16:creationId xmlns:a16="http://schemas.microsoft.com/office/drawing/2014/main" id="{C54D7C1F-CA72-B74A-9DE5-9484E6A6EE53}"/>
              </a:ext>
            </a:extLst>
          </p:cNvPr>
          <p:cNvSpPr txBox="1">
            <a:spLocks noChangeArrowheads="1"/>
          </p:cNvSpPr>
          <p:nvPr/>
        </p:nvSpPr>
        <p:spPr>
          <a:xfrm>
            <a:off x="785990" y="2146300"/>
            <a:ext cx="11164126" cy="202419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0375" marR="0" lvl="0" indent="-33020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increase W as a function of the </a:t>
            </a:r>
            <a:r>
              <a:rPr kumimoji="0" lang="en-US" altLang="en-US" sz="2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cube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of the distance between current time  and K</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42" name="Slide Number Placeholder 2">
            <a:extLst>
              <a:ext uri="{FF2B5EF4-FFF2-40B4-BE49-F238E27FC236}">
                <a16:creationId xmlns:a16="http://schemas.microsoft.com/office/drawing/2014/main" id="{6C8A1230-DDC6-A54E-9B81-5573345B76B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57</a:t>
            </a:fld>
            <a:endParaRPr lang="en-US" dirty="0"/>
          </a:p>
        </p:txBody>
      </p:sp>
    </p:spTree>
    <p:extLst>
      <p:ext uri="{BB962C8B-B14F-4D97-AF65-F5344CB8AC3E}">
        <p14:creationId xmlns:p14="http://schemas.microsoft.com/office/powerpoint/2010/main" val="182315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dissolve">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dissolve">
                                      <p:cBhvr>
                                        <p:cTn id="2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84" grpId="0"/>
      <p:bldP spid="4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4E84376-3A6A-7040-9ABB-E96A5030BD6F}"/>
              </a:ext>
            </a:extLst>
          </p:cNvPr>
          <p:cNvGrpSpPr/>
          <p:nvPr/>
        </p:nvGrpSpPr>
        <p:grpSpPr>
          <a:xfrm>
            <a:off x="4094463" y="4663823"/>
            <a:ext cx="2885057" cy="1508681"/>
            <a:chOff x="4094463" y="4663823"/>
            <a:chExt cx="2885057" cy="1508681"/>
          </a:xfrm>
        </p:grpSpPr>
        <p:sp>
          <p:nvSpPr>
            <p:cNvPr id="189" name="Freeform 2">
              <a:extLst>
                <a:ext uri="{FF2B5EF4-FFF2-40B4-BE49-F238E27FC236}">
                  <a16:creationId xmlns:a16="http://schemas.microsoft.com/office/drawing/2014/main" id="{9A546185-6077-2340-8A96-0F02D5D7C779}"/>
                </a:ext>
              </a:extLst>
            </p:cNvPr>
            <p:cNvSpPr>
              <a:spLocks/>
            </p:cNvSpPr>
            <p:nvPr/>
          </p:nvSpPr>
          <p:spPr bwMode="auto">
            <a:xfrm>
              <a:off x="4129957" y="4691367"/>
              <a:ext cx="2849563"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40979929-3895-E541-88C5-08B90173C1D4}"/>
                </a:ext>
              </a:extLst>
            </p:cNvPr>
            <p:cNvGrpSpPr/>
            <p:nvPr/>
          </p:nvGrpSpPr>
          <p:grpSpPr>
            <a:xfrm>
              <a:off x="5035264" y="5554092"/>
              <a:ext cx="496248" cy="260542"/>
              <a:chOff x="7141236" y="6068702"/>
              <a:chExt cx="496248" cy="260542"/>
            </a:xfrm>
          </p:grpSpPr>
          <p:sp>
            <p:nvSpPr>
              <p:cNvPr id="357" name="Freeform 356">
                <a:extLst>
                  <a:ext uri="{FF2B5EF4-FFF2-40B4-BE49-F238E27FC236}">
                    <a16:creationId xmlns:a16="http://schemas.microsoft.com/office/drawing/2014/main" id="{0CA65D85-D056-864E-B0EC-70D8C181B47E}"/>
                  </a:ext>
                </a:extLst>
              </p:cNvPr>
              <p:cNvSpPr/>
              <p:nvPr/>
            </p:nvSpPr>
            <p:spPr>
              <a:xfrm>
                <a:off x="7141236" y="6158887"/>
                <a:ext cx="496248" cy="17035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bg1"/>
                  </a:gs>
                  <a:gs pos="51000">
                    <a:srgbClr val="ED356A"/>
                  </a:gs>
                  <a:gs pos="100000">
                    <a:srgbClr val="E40000"/>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8" name="Oval 357">
                <a:extLst>
                  <a:ext uri="{FF2B5EF4-FFF2-40B4-BE49-F238E27FC236}">
                    <a16:creationId xmlns:a16="http://schemas.microsoft.com/office/drawing/2014/main" id="{09E25CE5-3538-A147-95F2-FE0F002533C9}"/>
                  </a:ext>
                </a:extLst>
              </p:cNvPr>
              <p:cNvSpPr/>
              <p:nvPr/>
            </p:nvSpPr>
            <p:spPr>
              <a:xfrm>
                <a:off x="7141522" y="6068702"/>
                <a:ext cx="495647" cy="168664"/>
              </a:xfrm>
              <a:prstGeom prst="ellipse">
                <a:avLst/>
              </a:prstGeom>
              <a:solidFill>
                <a:srgbClr val="FA37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59" name="Group 358">
                <a:extLst>
                  <a:ext uri="{FF2B5EF4-FFF2-40B4-BE49-F238E27FC236}">
                    <a16:creationId xmlns:a16="http://schemas.microsoft.com/office/drawing/2014/main" id="{B88C1E52-4F13-B54A-A8B3-B882AA5360C7}"/>
                  </a:ext>
                </a:extLst>
              </p:cNvPr>
              <p:cNvGrpSpPr/>
              <p:nvPr/>
            </p:nvGrpSpPr>
            <p:grpSpPr>
              <a:xfrm>
                <a:off x="7214834" y="6090139"/>
                <a:ext cx="348960" cy="123931"/>
                <a:chOff x="7786941" y="2884917"/>
                <a:chExt cx="897649" cy="353919"/>
              </a:xfrm>
            </p:grpSpPr>
            <p:sp>
              <p:nvSpPr>
                <p:cNvPr id="360" name="Freeform 359">
                  <a:extLst>
                    <a:ext uri="{FF2B5EF4-FFF2-40B4-BE49-F238E27FC236}">
                      <a16:creationId xmlns:a16="http://schemas.microsoft.com/office/drawing/2014/main" id="{3EA6F082-8061-C547-AAD1-5C5B1680910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1" name="Freeform 360">
                  <a:extLst>
                    <a:ext uri="{FF2B5EF4-FFF2-40B4-BE49-F238E27FC236}">
                      <a16:creationId xmlns:a16="http://schemas.microsoft.com/office/drawing/2014/main" id="{F527C5CB-65A2-E34A-A65A-93F1139F95B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2" name="Freeform 361">
                  <a:extLst>
                    <a:ext uri="{FF2B5EF4-FFF2-40B4-BE49-F238E27FC236}">
                      <a16:creationId xmlns:a16="http://schemas.microsoft.com/office/drawing/2014/main" id="{6DE3C8BD-23FE-754A-9456-20EB1F93DA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3" name="Freeform 362">
                  <a:extLst>
                    <a:ext uri="{FF2B5EF4-FFF2-40B4-BE49-F238E27FC236}">
                      <a16:creationId xmlns:a16="http://schemas.microsoft.com/office/drawing/2014/main" id="{71C34D50-69A1-0E47-8F12-8F6635D2135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23" name="Group 322">
              <a:extLst>
                <a:ext uri="{FF2B5EF4-FFF2-40B4-BE49-F238E27FC236}">
                  <a16:creationId xmlns:a16="http://schemas.microsoft.com/office/drawing/2014/main" id="{8E9AE0DE-57F1-DA47-841B-AF1526D27381}"/>
                </a:ext>
              </a:extLst>
            </p:cNvPr>
            <p:cNvGrpSpPr/>
            <p:nvPr/>
          </p:nvGrpSpPr>
          <p:grpSpPr>
            <a:xfrm>
              <a:off x="6131364" y="5156690"/>
              <a:ext cx="496248" cy="260542"/>
              <a:chOff x="7493876" y="2774731"/>
              <a:chExt cx="1481958" cy="894622"/>
            </a:xfrm>
          </p:grpSpPr>
          <p:sp>
            <p:nvSpPr>
              <p:cNvPr id="324" name="Freeform 323">
                <a:extLst>
                  <a:ext uri="{FF2B5EF4-FFF2-40B4-BE49-F238E27FC236}">
                    <a16:creationId xmlns:a16="http://schemas.microsoft.com/office/drawing/2014/main" id="{36B5E314-D824-564B-8B99-7428AA61BC7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25" name="Oval 324">
                <a:extLst>
                  <a:ext uri="{FF2B5EF4-FFF2-40B4-BE49-F238E27FC236}">
                    <a16:creationId xmlns:a16="http://schemas.microsoft.com/office/drawing/2014/main" id="{B5687DE2-7AEB-C94F-BD77-B787BED6A85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26" name="Group 325">
                <a:extLst>
                  <a:ext uri="{FF2B5EF4-FFF2-40B4-BE49-F238E27FC236}">
                    <a16:creationId xmlns:a16="http://schemas.microsoft.com/office/drawing/2014/main" id="{3F1D081E-C670-EB42-8157-542B25715236}"/>
                  </a:ext>
                </a:extLst>
              </p:cNvPr>
              <p:cNvGrpSpPr/>
              <p:nvPr/>
            </p:nvGrpSpPr>
            <p:grpSpPr>
              <a:xfrm>
                <a:off x="7713663" y="2848339"/>
                <a:ext cx="1042107" cy="425543"/>
                <a:chOff x="7786941" y="2884917"/>
                <a:chExt cx="897649" cy="353919"/>
              </a:xfrm>
            </p:grpSpPr>
            <p:sp>
              <p:nvSpPr>
                <p:cNvPr id="327" name="Freeform 326">
                  <a:extLst>
                    <a:ext uri="{FF2B5EF4-FFF2-40B4-BE49-F238E27FC236}">
                      <a16:creationId xmlns:a16="http://schemas.microsoft.com/office/drawing/2014/main" id="{76FD901E-7447-6044-941D-D8D53016227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8" name="Freeform 327">
                  <a:extLst>
                    <a:ext uri="{FF2B5EF4-FFF2-40B4-BE49-F238E27FC236}">
                      <a16:creationId xmlns:a16="http://schemas.microsoft.com/office/drawing/2014/main" id="{C65D72F4-D1BF-A743-A4CF-A3061301D2F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9" name="Freeform 328">
                  <a:extLst>
                    <a:ext uri="{FF2B5EF4-FFF2-40B4-BE49-F238E27FC236}">
                      <a16:creationId xmlns:a16="http://schemas.microsoft.com/office/drawing/2014/main" id="{24042695-10E5-4D4B-8766-D9D97DE34F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0" name="Freeform 329">
                  <a:extLst>
                    <a:ext uri="{FF2B5EF4-FFF2-40B4-BE49-F238E27FC236}">
                      <a16:creationId xmlns:a16="http://schemas.microsoft.com/office/drawing/2014/main" id="{C8D82D6B-3965-DC48-A8D4-5025EC499B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32" name="Group 331">
              <a:extLst>
                <a:ext uri="{FF2B5EF4-FFF2-40B4-BE49-F238E27FC236}">
                  <a16:creationId xmlns:a16="http://schemas.microsoft.com/office/drawing/2014/main" id="{0CFE465D-7641-7541-9496-4029B9355B5A}"/>
                </a:ext>
              </a:extLst>
            </p:cNvPr>
            <p:cNvGrpSpPr/>
            <p:nvPr/>
          </p:nvGrpSpPr>
          <p:grpSpPr>
            <a:xfrm>
              <a:off x="5122533" y="4861037"/>
              <a:ext cx="496248" cy="260542"/>
              <a:chOff x="7493876" y="2774731"/>
              <a:chExt cx="1481958" cy="894622"/>
            </a:xfrm>
          </p:grpSpPr>
          <p:sp>
            <p:nvSpPr>
              <p:cNvPr id="333" name="Freeform 332">
                <a:extLst>
                  <a:ext uri="{FF2B5EF4-FFF2-40B4-BE49-F238E27FC236}">
                    <a16:creationId xmlns:a16="http://schemas.microsoft.com/office/drawing/2014/main" id="{3B041F3E-CB88-8F4B-84D4-1214776D36E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34" name="Oval 333">
                <a:extLst>
                  <a:ext uri="{FF2B5EF4-FFF2-40B4-BE49-F238E27FC236}">
                    <a16:creationId xmlns:a16="http://schemas.microsoft.com/office/drawing/2014/main" id="{08136920-F30D-BC4E-A92D-0ABD2EC7437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35" name="Group 334">
                <a:extLst>
                  <a:ext uri="{FF2B5EF4-FFF2-40B4-BE49-F238E27FC236}">
                    <a16:creationId xmlns:a16="http://schemas.microsoft.com/office/drawing/2014/main" id="{2BE80152-BCA5-CA46-9EE7-63649D7FE819}"/>
                  </a:ext>
                </a:extLst>
              </p:cNvPr>
              <p:cNvGrpSpPr/>
              <p:nvPr/>
            </p:nvGrpSpPr>
            <p:grpSpPr>
              <a:xfrm>
                <a:off x="7713663" y="2848339"/>
                <a:ext cx="1042107" cy="425543"/>
                <a:chOff x="7786941" y="2884917"/>
                <a:chExt cx="897649" cy="353919"/>
              </a:xfrm>
            </p:grpSpPr>
            <p:sp>
              <p:nvSpPr>
                <p:cNvPr id="336" name="Freeform 335">
                  <a:extLst>
                    <a:ext uri="{FF2B5EF4-FFF2-40B4-BE49-F238E27FC236}">
                      <a16:creationId xmlns:a16="http://schemas.microsoft.com/office/drawing/2014/main" id="{2518C53F-685F-074F-8F4E-E3A4CB26913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7" name="Freeform 336">
                  <a:extLst>
                    <a:ext uri="{FF2B5EF4-FFF2-40B4-BE49-F238E27FC236}">
                      <a16:creationId xmlns:a16="http://schemas.microsoft.com/office/drawing/2014/main" id="{F1578F2C-5505-EB45-9014-BAD0AFEA429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8" name="Freeform 337">
                  <a:extLst>
                    <a:ext uri="{FF2B5EF4-FFF2-40B4-BE49-F238E27FC236}">
                      <a16:creationId xmlns:a16="http://schemas.microsoft.com/office/drawing/2014/main" id="{DD91E8C8-92AC-E446-ABF1-F7D54921C4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9" name="Freeform 338">
                  <a:extLst>
                    <a:ext uri="{FF2B5EF4-FFF2-40B4-BE49-F238E27FC236}">
                      <a16:creationId xmlns:a16="http://schemas.microsoft.com/office/drawing/2014/main" id="{69F33027-F122-C445-923E-09F2AEB27B0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0" name="Group 339">
              <a:extLst>
                <a:ext uri="{FF2B5EF4-FFF2-40B4-BE49-F238E27FC236}">
                  <a16:creationId xmlns:a16="http://schemas.microsoft.com/office/drawing/2014/main" id="{7D1E5FBB-CD41-884B-831B-682E5F6CE29F}"/>
                </a:ext>
              </a:extLst>
            </p:cNvPr>
            <p:cNvGrpSpPr/>
            <p:nvPr/>
          </p:nvGrpSpPr>
          <p:grpSpPr>
            <a:xfrm>
              <a:off x="4450588" y="5823254"/>
              <a:ext cx="496248" cy="260542"/>
              <a:chOff x="7493876" y="2774731"/>
              <a:chExt cx="1481958" cy="894622"/>
            </a:xfrm>
          </p:grpSpPr>
          <p:sp>
            <p:nvSpPr>
              <p:cNvPr id="341" name="Freeform 340">
                <a:extLst>
                  <a:ext uri="{FF2B5EF4-FFF2-40B4-BE49-F238E27FC236}">
                    <a16:creationId xmlns:a16="http://schemas.microsoft.com/office/drawing/2014/main" id="{F7ED3C1B-77D0-5A4C-B7A4-7B4162888DF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42" name="Oval 341">
                <a:extLst>
                  <a:ext uri="{FF2B5EF4-FFF2-40B4-BE49-F238E27FC236}">
                    <a16:creationId xmlns:a16="http://schemas.microsoft.com/office/drawing/2014/main" id="{C6C36B06-A393-AA49-97E2-CA983E530D4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43" name="Group 342">
                <a:extLst>
                  <a:ext uri="{FF2B5EF4-FFF2-40B4-BE49-F238E27FC236}">
                    <a16:creationId xmlns:a16="http://schemas.microsoft.com/office/drawing/2014/main" id="{55B6028F-C8FE-5347-9982-246E1F0DEC3F}"/>
                  </a:ext>
                </a:extLst>
              </p:cNvPr>
              <p:cNvGrpSpPr/>
              <p:nvPr/>
            </p:nvGrpSpPr>
            <p:grpSpPr>
              <a:xfrm>
                <a:off x="7713663" y="2848339"/>
                <a:ext cx="1042107" cy="425543"/>
                <a:chOff x="7786941" y="2884917"/>
                <a:chExt cx="897649" cy="353919"/>
              </a:xfrm>
            </p:grpSpPr>
            <p:sp>
              <p:nvSpPr>
                <p:cNvPr id="344" name="Freeform 343">
                  <a:extLst>
                    <a:ext uri="{FF2B5EF4-FFF2-40B4-BE49-F238E27FC236}">
                      <a16:creationId xmlns:a16="http://schemas.microsoft.com/office/drawing/2014/main" id="{D9135A62-DBD4-4E48-B166-943E0258FD8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5" name="Freeform 344">
                  <a:extLst>
                    <a:ext uri="{FF2B5EF4-FFF2-40B4-BE49-F238E27FC236}">
                      <a16:creationId xmlns:a16="http://schemas.microsoft.com/office/drawing/2014/main" id="{A6CD8C01-7ACD-9047-AF09-4509FAD01ED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6" name="Freeform 345">
                  <a:extLst>
                    <a:ext uri="{FF2B5EF4-FFF2-40B4-BE49-F238E27FC236}">
                      <a16:creationId xmlns:a16="http://schemas.microsoft.com/office/drawing/2014/main" id="{9834EEC0-E73C-C84D-B165-574B3980957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7" name="Freeform 346">
                  <a:extLst>
                    <a:ext uri="{FF2B5EF4-FFF2-40B4-BE49-F238E27FC236}">
                      <a16:creationId xmlns:a16="http://schemas.microsoft.com/office/drawing/2014/main" id="{2D12A304-34D8-9442-9CED-FBB7F0B8D26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8" name="Group 347">
              <a:extLst>
                <a:ext uri="{FF2B5EF4-FFF2-40B4-BE49-F238E27FC236}">
                  <a16:creationId xmlns:a16="http://schemas.microsoft.com/office/drawing/2014/main" id="{B39672A6-77C4-5F43-BD22-8EBBBB1DACC3}"/>
                </a:ext>
              </a:extLst>
            </p:cNvPr>
            <p:cNvGrpSpPr/>
            <p:nvPr/>
          </p:nvGrpSpPr>
          <p:grpSpPr>
            <a:xfrm>
              <a:off x="4094463" y="5164346"/>
              <a:ext cx="496248" cy="260542"/>
              <a:chOff x="7493876" y="2774731"/>
              <a:chExt cx="1481958" cy="894622"/>
            </a:xfrm>
          </p:grpSpPr>
          <p:sp>
            <p:nvSpPr>
              <p:cNvPr id="349" name="Freeform 348">
                <a:extLst>
                  <a:ext uri="{FF2B5EF4-FFF2-40B4-BE49-F238E27FC236}">
                    <a16:creationId xmlns:a16="http://schemas.microsoft.com/office/drawing/2014/main" id="{6A952387-953F-784E-B4C8-2ED10819E94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0" name="Oval 349">
                <a:extLst>
                  <a:ext uri="{FF2B5EF4-FFF2-40B4-BE49-F238E27FC236}">
                    <a16:creationId xmlns:a16="http://schemas.microsoft.com/office/drawing/2014/main" id="{1758E986-D712-5440-AC7F-0F55B12BDD6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51" name="Group 350">
                <a:extLst>
                  <a:ext uri="{FF2B5EF4-FFF2-40B4-BE49-F238E27FC236}">
                    <a16:creationId xmlns:a16="http://schemas.microsoft.com/office/drawing/2014/main" id="{840B06B0-30F5-7E47-9591-50E2832B6A91}"/>
                  </a:ext>
                </a:extLst>
              </p:cNvPr>
              <p:cNvGrpSpPr/>
              <p:nvPr/>
            </p:nvGrpSpPr>
            <p:grpSpPr>
              <a:xfrm>
                <a:off x="7713663" y="2848339"/>
                <a:ext cx="1042107" cy="425543"/>
                <a:chOff x="7786941" y="2884917"/>
                <a:chExt cx="897649" cy="353919"/>
              </a:xfrm>
            </p:grpSpPr>
            <p:sp>
              <p:nvSpPr>
                <p:cNvPr id="352" name="Freeform 351">
                  <a:extLst>
                    <a:ext uri="{FF2B5EF4-FFF2-40B4-BE49-F238E27FC236}">
                      <a16:creationId xmlns:a16="http://schemas.microsoft.com/office/drawing/2014/main" id="{7CF1DA14-5159-F043-933A-4C22AECDE48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3" name="Freeform 352">
                  <a:extLst>
                    <a:ext uri="{FF2B5EF4-FFF2-40B4-BE49-F238E27FC236}">
                      <a16:creationId xmlns:a16="http://schemas.microsoft.com/office/drawing/2014/main" id="{54AAC614-B4B1-9047-8BBA-FE8D4A25981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4" name="Freeform 353">
                  <a:extLst>
                    <a:ext uri="{FF2B5EF4-FFF2-40B4-BE49-F238E27FC236}">
                      <a16:creationId xmlns:a16="http://schemas.microsoft.com/office/drawing/2014/main" id="{E59BE7CB-C32E-A346-95B4-3992B34807F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5" name="Freeform 354">
                  <a:extLst>
                    <a:ext uri="{FF2B5EF4-FFF2-40B4-BE49-F238E27FC236}">
                      <a16:creationId xmlns:a16="http://schemas.microsoft.com/office/drawing/2014/main" id="{CAEA8866-D7A6-6A49-8FE1-136D7DBEB0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90" name="Freeform 6">
              <a:extLst>
                <a:ext uri="{FF2B5EF4-FFF2-40B4-BE49-F238E27FC236}">
                  <a16:creationId xmlns:a16="http://schemas.microsoft.com/office/drawing/2014/main" id="{812505EE-DEAC-B44A-A839-759F29108CC2}"/>
                </a:ext>
              </a:extLst>
            </p:cNvPr>
            <p:cNvSpPr>
              <a:spLocks/>
            </p:cNvSpPr>
            <p:nvPr/>
          </p:nvSpPr>
          <p:spPr bwMode="auto">
            <a:xfrm>
              <a:off x="4581324" y="4994579"/>
              <a:ext cx="542925" cy="295275"/>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5" name="Freeform 91">
              <a:extLst>
                <a:ext uri="{FF2B5EF4-FFF2-40B4-BE49-F238E27FC236}">
                  <a16:creationId xmlns:a16="http://schemas.microsoft.com/office/drawing/2014/main" id="{76C479BA-ED38-4947-AD35-F635DF9E3E25}"/>
                </a:ext>
              </a:extLst>
            </p:cNvPr>
            <p:cNvSpPr>
              <a:spLocks/>
            </p:cNvSpPr>
            <p:nvPr/>
          </p:nvSpPr>
          <p:spPr bwMode="auto">
            <a:xfrm>
              <a:off x="5622724" y="4988229"/>
              <a:ext cx="506413" cy="30797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6" name="Freeform 92">
              <a:extLst>
                <a:ext uri="{FF2B5EF4-FFF2-40B4-BE49-F238E27FC236}">
                  <a16:creationId xmlns:a16="http://schemas.microsoft.com/office/drawing/2014/main" id="{124CDDC7-679C-D04E-9FD3-5181047829F5}"/>
                </a:ext>
              </a:extLst>
            </p:cNvPr>
            <p:cNvSpPr>
              <a:spLocks/>
            </p:cNvSpPr>
            <p:nvPr/>
          </p:nvSpPr>
          <p:spPr bwMode="auto">
            <a:xfrm>
              <a:off x="4557512" y="5380342"/>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Freeform 93">
              <a:extLst>
                <a:ext uri="{FF2B5EF4-FFF2-40B4-BE49-F238E27FC236}">
                  <a16:creationId xmlns:a16="http://schemas.microsoft.com/office/drawing/2014/main" id="{E2A83ACF-7B20-AC4B-83B1-FE92C60435AC}"/>
                </a:ext>
              </a:extLst>
            </p:cNvPr>
            <p:cNvSpPr>
              <a:spLocks/>
            </p:cNvSpPr>
            <p:nvPr/>
          </p:nvSpPr>
          <p:spPr bwMode="auto">
            <a:xfrm>
              <a:off x="5505249" y="5356529"/>
              <a:ext cx="630238" cy="247650"/>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8" name="Freeform 94">
              <a:extLst>
                <a:ext uri="{FF2B5EF4-FFF2-40B4-BE49-F238E27FC236}">
                  <a16:creationId xmlns:a16="http://schemas.microsoft.com/office/drawing/2014/main" id="{0B9C88EB-CE4C-1E43-BD78-4EA6BB3E66E3}"/>
                </a:ext>
              </a:extLst>
            </p:cNvPr>
            <p:cNvSpPr>
              <a:spLocks/>
            </p:cNvSpPr>
            <p:nvPr/>
          </p:nvSpPr>
          <p:spPr bwMode="auto">
            <a:xfrm>
              <a:off x="6173587" y="5410504"/>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9" name="Freeform 95">
              <a:extLst>
                <a:ext uri="{FF2B5EF4-FFF2-40B4-BE49-F238E27FC236}">
                  <a16:creationId xmlns:a16="http://schemas.microsoft.com/office/drawing/2014/main" id="{CFFC9FF4-E928-074A-8F72-9E180DF7971C}"/>
                </a:ext>
              </a:extLst>
            </p:cNvPr>
            <p:cNvSpPr>
              <a:spLocks/>
            </p:cNvSpPr>
            <p:nvPr/>
          </p:nvSpPr>
          <p:spPr bwMode="auto">
            <a:xfrm>
              <a:off x="4936923" y="5943904"/>
              <a:ext cx="970395" cy="81756"/>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0" name="Freeform 96">
              <a:extLst>
                <a:ext uri="{FF2B5EF4-FFF2-40B4-BE49-F238E27FC236}">
                  <a16:creationId xmlns:a16="http://schemas.microsoft.com/office/drawing/2014/main" id="{FC6453FD-735C-9F4A-B961-B872F0071128}"/>
                </a:ext>
              </a:extLst>
            </p:cNvPr>
            <p:cNvSpPr>
              <a:spLocks/>
            </p:cNvSpPr>
            <p:nvPr/>
          </p:nvSpPr>
          <p:spPr bwMode="auto">
            <a:xfrm>
              <a:off x="4400349" y="5424888"/>
              <a:ext cx="193675" cy="404716"/>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15" name="Group 314">
              <a:extLst>
                <a:ext uri="{FF2B5EF4-FFF2-40B4-BE49-F238E27FC236}">
                  <a16:creationId xmlns:a16="http://schemas.microsoft.com/office/drawing/2014/main" id="{4211C5D7-E98B-7448-9452-57EB36146678}"/>
                </a:ext>
              </a:extLst>
            </p:cNvPr>
            <p:cNvGrpSpPr/>
            <p:nvPr/>
          </p:nvGrpSpPr>
          <p:grpSpPr>
            <a:xfrm>
              <a:off x="5868328" y="5862061"/>
              <a:ext cx="496248" cy="260542"/>
              <a:chOff x="7493876" y="2774731"/>
              <a:chExt cx="1481958" cy="894622"/>
            </a:xfrm>
          </p:grpSpPr>
          <p:sp>
            <p:nvSpPr>
              <p:cNvPr id="316" name="Freeform 315">
                <a:extLst>
                  <a:ext uri="{FF2B5EF4-FFF2-40B4-BE49-F238E27FC236}">
                    <a16:creationId xmlns:a16="http://schemas.microsoft.com/office/drawing/2014/main" id="{8AB7F791-7AD9-F648-B2E0-B6E3683A8D5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17" name="Oval 316">
                <a:extLst>
                  <a:ext uri="{FF2B5EF4-FFF2-40B4-BE49-F238E27FC236}">
                    <a16:creationId xmlns:a16="http://schemas.microsoft.com/office/drawing/2014/main" id="{51E93EA3-17BD-B641-99CE-E84D1493A92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18" name="Group 317">
                <a:extLst>
                  <a:ext uri="{FF2B5EF4-FFF2-40B4-BE49-F238E27FC236}">
                    <a16:creationId xmlns:a16="http://schemas.microsoft.com/office/drawing/2014/main" id="{A5B4FD9C-501E-7F4E-A2DA-4DCEFCE3689E}"/>
                  </a:ext>
                </a:extLst>
              </p:cNvPr>
              <p:cNvGrpSpPr/>
              <p:nvPr/>
            </p:nvGrpSpPr>
            <p:grpSpPr>
              <a:xfrm>
                <a:off x="7713663" y="2848339"/>
                <a:ext cx="1042107" cy="425543"/>
                <a:chOff x="7786941" y="2884917"/>
                <a:chExt cx="897649" cy="353919"/>
              </a:xfrm>
            </p:grpSpPr>
            <p:sp>
              <p:nvSpPr>
                <p:cNvPr id="319" name="Freeform 318">
                  <a:extLst>
                    <a:ext uri="{FF2B5EF4-FFF2-40B4-BE49-F238E27FC236}">
                      <a16:creationId xmlns:a16="http://schemas.microsoft.com/office/drawing/2014/main" id="{1906F39B-C9B6-604F-8758-83430DECEA8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0" name="Freeform 319">
                  <a:extLst>
                    <a:ext uri="{FF2B5EF4-FFF2-40B4-BE49-F238E27FC236}">
                      <a16:creationId xmlns:a16="http://schemas.microsoft.com/office/drawing/2014/main" id="{91751636-4135-394E-B377-29D0624E77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1" name="Freeform 320">
                  <a:extLst>
                    <a:ext uri="{FF2B5EF4-FFF2-40B4-BE49-F238E27FC236}">
                      <a16:creationId xmlns:a16="http://schemas.microsoft.com/office/drawing/2014/main" id="{BB3193D0-B14F-724A-80B1-6F8EDE58A8F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2" name="Freeform 321">
                  <a:extLst>
                    <a:ext uri="{FF2B5EF4-FFF2-40B4-BE49-F238E27FC236}">
                      <a16:creationId xmlns:a16="http://schemas.microsoft.com/office/drawing/2014/main" id="{CF32363E-10AF-1643-8F6B-814910A9D63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96" name="Freeform 91">
              <a:extLst>
                <a:ext uri="{FF2B5EF4-FFF2-40B4-BE49-F238E27FC236}">
                  <a16:creationId xmlns:a16="http://schemas.microsoft.com/office/drawing/2014/main" id="{B2C57ABF-178C-0F48-BF12-F94AEC32D063}"/>
                </a:ext>
              </a:extLst>
            </p:cNvPr>
            <p:cNvSpPr>
              <a:spLocks/>
            </p:cNvSpPr>
            <p:nvPr/>
          </p:nvSpPr>
          <p:spPr bwMode="auto">
            <a:xfrm flipV="1">
              <a:off x="4860724" y="5735086"/>
              <a:ext cx="178041" cy="104043"/>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Freeform 91">
              <a:extLst>
                <a:ext uri="{FF2B5EF4-FFF2-40B4-BE49-F238E27FC236}">
                  <a16:creationId xmlns:a16="http://schemas.microsoft.com/office/drawing/2014/main" id="{4D868815-1055-9D47-99AB-5BB4F56217F9}"/>
                </a:ext>
              </a:extLst>
            </p:cNvPr>
            <p:cNvSpPr>
              <a:spLocks/>
            </p:cNvSpPr>
            <p:nvPr/>
          </p:nvSpPr>
          <p:spPr bwMode="auto">
            <a:xfrm flipV="1">
              <a:off x="5445456" y="4663823"/>
              <a:ext cx="45719" cy="202880"/>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60590" y="272143"/>
            <a:ext cx="11393310" cy="894622"/>
          </a:xfrm>
        </p:spPr>
        <p:txBody>
          <a:bodyPr>
            <a:normAutofit/>
          </a:bodyPr>
          <a:lstStyle/>
          <a:p>
            <a:r>
              <a:rPr lang="en-US" sz="4800" dirty="0"/>
              <a:t>TCP and the congested “bottleneck link”</a:t>
            </a:r>
            <a:endParaRPr lang="en-US" sz="4400" b="0" dirty="0"/>
          </a:p>
        </p:txBody>
      </p:sp>
      <p:sp>
        <p:nvSpPr>
          <p:cNvPr id="6" name="Rectangle 4">
            <a:extLst>
              <a:ext uri="{FF2B5EF4-FFF2-40B4-BE49-F238E27FC236}">
                <a16:creationId xmlns:a16="http://schemas.microsoft.com/office/drawing/2014/main" id="{A22F5639-C13F-8347-B6CF-B5A700C7EA84}"/>
              </a:ext>
            </a:extLst>
          </p:cNvPr>
          <p:cNvSpPr txBox="1">
            <a:spLocks noChangeArrowheads="1"/>
          </p:cNvSpPr>
          <p:nvPr/>
        </p:nvSpPr>
        <p:spPr>
          <a:xfrm>
            <a:off x="667043" y="1366203"/>
            <a:ext cx="11177587" cy="21907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159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TCP (classic, CUBIC) increase TCP’s sending rate until packet loss occurs at some router’s output: the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bottleneck link</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3" name="Text Box 8">
            <a:extLst>
              <a:ext uri="{FF2B5EF4-FFF2-40B4-BE49-F238E27FC236}">
                <a16:creationId xmlns:a16="http://schemas.microsoft.com/office/drawing/2014/main" id="{E65C3147-B6A2-674F-B175-C4411782BB14}"/>
              </a:ext>
            </a:extLst>
          </p:cNvPr>
          <p:cNvSpPr txBox="1">
            <a:spLocks noChangeArrowheads="1"/>
          </p:cNvSpPr>
          <p:nvPr/>
        </p:nvSpPr>
        <p:spPr bwMode="auto">
          <a:xfrm>
            <a:off x="3019425" y="3594045"/>
            <a:ext cx="711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source</a:t>
            </a:r>
            <a:endParaRPr kumimoji="0" lang="en-US" altLang="en-US" sz="2000" b="0" i="1"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endParaRPr>
          </a:p>
        </p:txBody>
      </p:sp>
      <p:sp>
        <p:nvSpPr>
          <p:cNvPr id="164" name="Freeform 10">
            <a:extLst>
              <a:ext uri="{FF2B5EF4-FFF2-40B4-BE49-F238E27FC236}">
                <a16:creationId xmlns:a16="http://schemas.microsoft.com/office/drawing/2014/main" id="{51065C6F-5BFC-8741-9747-71CCD0CC01B5}"/>
              </a:ext>
            </a:extLst>
          </p:cNvPr>
          <p:cNvSpPr>
            <a:spLocks/>
          </p:cNvSpPr>
          <p:nvPr/>
        </p:nvSpPr>
        <p:spPr bwMode="auto">
          <a:xfrm flipH="1">
            <a:off x="2481263" y="3925832"/>
            <a:ext cx="326408" cy="1262816"/>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5" name="Rectangle 23">
            <a:extLst>
              <a:ext uri="{FF2B5EF4-FFF2-40B4-BE49-F238E27FC236}">
                <a16:creationId xmlns:a16="http://schemas.microsoft.com/office/drawing/2014/main" id="{245AE889-4FF1-5D41-B0C9-6E1D7DFE6C7D}"/>
              </a:ext>
            </a:extLst>
          </p:cNvPr>
          <p:cNvSpPr>
            <a:spLocks noChangeArrowheads="1"/>
          </p:cNvSpPr>
          <p:nvPr/>
        </p:nvSpPr>
        <p:spPr bwMode="auto">
          <a:xfrm>
            <a:off x="2854326" y="3909956"/>
            <a:ext cx="1062368" cy="129063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6" name="Rectangle 24">
            <a:extLst>
              <a:ext uri="{FF2B5EF4-FFF2-40B4-BE49-F238E27FC236}">
                <a16:creationId xmlns:a16="http://schemas.microsoft.com/office/drawing/2014/main" id="{726B5B54-D786-344E-93B0-A2521F3FB4A3}"/>
              </a:ext>
            </a:extLst>
          </p:cNvPr>
          <p:cNvSpPr>
            <a:spLocks noChangeArrowheads="1"/>
          </p:cNvSpPr>
          <p:nvPr/>
        </p:nvSpPr>
        <p:spPr bwMode="auto">
          <a:xfrm>
            <a:off x="2814638" y="3949645"/>
            <a:ext cx="1066800" cy="123190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7" name="Line 25">
            <a:extLst>
              <a:ext uri="{FF2B5EF4-FFF2-40B4-BE49-F238E27FC236}">
                <a16:creationId xmlns:a16="http://schemas.microsoft.com/office/drawing/2014/main" id="{ED6C96DE-045A-4845-BE61-A830E126E677}"/>
              </a:ext>
            </a:extLst>
          </p:cNvPr>
          <p:cNvSpPr>
            <a:spLocks noChangeShapeType="1"/>
          </p:cNvSpPr>
          <p:nvPr/>
        </p:nvSpPr>
        <p:spPr bwMode="auto">
          <a:xfrm>
            <a:off x="2814638" y="422745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Text Box 26">
            <a:extLst>
              <a:ext uri="{FF2B5EF4-FFF2-40B4-BE49-F238E27FC236}">
                <a16:creationId xmlns:a16="http://schemas.microsoft.com/office/drawing/2014/main" id="{84D02891-4DB6-A74C-B473-DDD899D44383}"/>
              </a:ext>
            </a:extLst>
          </p:cNvPr>
          <p:cNvSpPr txBox="1">
            <a:spLocks noChangeArrowheads="1"/>
          </p:cNvSpPr>
          <p:nvPr/>
        </p:nvSpPr>
        <p:spPr bwMode="auto">
          <a:xfrm>
            <a:off x="2773604" y="3957054"/>
            <a:ext cx="1104900" cy="1274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169" name="Group 190">
            <a:extLst>
              <a:ext uri="{FF2B5EF4-FFF2-40B4-BE49-F238E27FC236}">
                <a16:creationId xmlns:a16="http://schemas.microsoft.com/office/drawing/2014/main" id="{04290ECE-716C-A647-B2EC-8AA922EFC2AD}"/>
              </a:ext>
            </a:extLst>
          </p:cNvPr>
          <p:cNvGrpSpPr>
            <a:grpSpLocks/>
          </p:cNvGrpSpPr>
          <p:nvPr/>
        </p:nvGrpSpPr>
        <p:grpSpPr bwMode="auto">
          <a:xfrm flipH="1">
            <a:off x="2151063" y="4424307"/>
            <a:ext cx="673100" cy="701675"/>
            <a:chOff x="-44" y="1473"/>
            <a:chExt cx="981" cy="1105"/>
          </a:xfrm>
        </p:grpSpPr>
        <p:pic>
          <p:nvPicPr>
            <p:cNvPr id="170" name="Picture 191" descr="desktop_computer_stylized_medium">
              <a:extLst>
                <a:ext uri="{FF2B5EF4-FFF2-40B4-BE49-F238E27FC236}">
                  <a16:creationId xmlns:a16="http://schemas.microsoft.com/office/drawing/2014/main" id="{19B47375-0826-C44B-8E48-9D677E4039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 name="Freeform 192">
              <a:extLst>
                <a:ext uri="{FF2B5EF4-FFF2-40B4-BE49-F238E27FC236}">
                  <a16:creationId xmlns:a16="http://schemas.microsoft.com/office/drawing/2014/main" id="{FEA1C998-C605-D84B-8547-D97F2BC8D4EE}"/>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2" name="Line 25">
            <a:extLst>
              <a:ext uri="{FF2B5EF4-FFF2-40B4-BE49-F238E27FC236}">
                <a16:creationId xmlns:a16="http://schemas.microsoft.com/office/drawing/2014/main" id="{DA5446CC-C771-F441-9E97-037B17ED4482}"/>
              </a:ext>
            </a:extLst>
          </p:cNvPr>
          <p:cNvSpPr>
            <a:spLocks noChangeShapeType="1"/>
          </p:cNvSpPr>
          <p:nvPr/>
        </p:nvSpPr>
        <p:spPr bwMode="auto">
          <a:xfrm>
            <a:off x="2819400" y="4456057"/>
            <a:ext cx="1058863"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Line 25">
            <a:extLst>
              <a:ext uri="{FF2B5EF4-FFF2-40B4-BE49-F238E27FC236}">
                <a16:creationId xmlns:a16="http://schemas.microsoft.com/office/drawing/2014/main" id="{264D9FFE-774A-7F4D-BEE4-B3B44B1FAC0A}"/>
              </a:ext>
            </a:extLst>
          </p:cNvPr>
          <p:cNvSpPr>
            <a:spLocks noChangeShapeType="1"/>
          </p:cNvSpPr>
          <p:nvPr/>
        </p:nvSpPr>
        <p:spPr bwMode="auto">
          <a:xfrm>
            <a:off x="2824163" y="468465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4" name="Line 25">
            <a:extLst>
              <a:ext uri="{FF2B5EF4-FFF2-40B4-BE49-F238E27FC236}">
                <a16:creationId xmlns:a16="http://schemas.microsoft.com/office/drawing/2014/main" id="{84D59C24-ECF9-B64A-9F2F-66C689C1F7AC}"/>
              </a:ext>
            </a:extLst>
          </p:cNvPr>
          <p:cNvSpPr>
            <a:spLocks noChangeShapeType="1"/>
          </p:cNvSpPr>
          <p:nvPr/>
        </p:nvSpPr>
        <p:spPr bwMode="auto">
          <a:xfrm>
            <a:off x="2827338" y="4924370"/>
            <a:ext cx="1060450"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5" name="Group 3">
            <a:extLst>
              <a:ext uri="{FF2B5EF4-FFF2-40B4-BE49-F238E27FC236}">
                <a16:creationId xmlns:a16="http://schemas.microsoft.com/office/drawing/2014/main" id="{7651D039-1E34-A144-8FED-AAC44F023F2C}"/>
              </a:ext>
            </a:extLst>
          </p:cNvPr>
          <p:cNvGrpSpPr>
            <a:grpSpLocks/>
          </p:cNvGrpSpPr>
          <p:nvPr/>
        </p:nvGrpSpPr>
        <p:grpSpPr bwMode="auto">
          <a:xfrm>
            <a:off x="7794625" y="3673978"/>
            <a:ext cx="2047875" cy="1620287"/>
            <a:chOff x="4882752" y="4007261"/>
            <a:chExt cx="2046816" cy="1619544"/>
          </a:xfrm>
        </p:grpSpPr>
        <p:sp>
          <p:nvSpPr>
            <p:cNvPr id="176" name="Text Box 54">
              <a:extLst>
                <a:ext uri="{FF2B5EF4-FFF2-40B4-BE49-F238E27FC236}">
                  <a16:creationId xmlns:a16="http://schemas.microsoft.com/office/drawing/2014/main" id="{82FCAF5C-7EF8-BB47-BF30-CF3EA1FE682F}"/>
                </a:ext>
              </a:extLst>
            </p:cNvPr>
            <p:cNvSpPr txBox="1">
              <a:spLocks noChangeArrowheads="1"/>
            </p:cNvSpPr>
            <p:nvPr/>
          </p:nvSpPr>
          <p:spPr bwMode="auto">
            <a:xfrm>
              <a:off x="4882752" y="4007261"/>
              <a:ext cx="12260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destination</a:t>
              </a:r>
              <a:endParaRPr kumimoji="0" lang="en-US" altLang="en-US" sz="20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endParaRPr>
            </a:p>
          </p:txBody>
        </p:sp>
        <p:grpSp>
          <p:nvGrpSpPr>
            <p:cNvPr id="177" name="Group 2">
              <a:extLst>
                <a:ext uri="{FF2B5EF4-FFF2-40B4-BE49-F238E27FC236}">
                  <a16:creationId xmlns:a16="http://schemas.microsoft.com/office/drawing/2014/main" id="{43D7F412-7232-F444-9D55-13FAD759A4F6}"/>
                </a:ext>
              </a:extLst>
            </p:cNvPr>
            <p:cNvGrpSpPr>
              <a:grpSpLocks/>
            </p:cNvGrpSpPr>
            <p:nvPr/>
          </p:nvGrpSpPr>
          <p:grpSpPr bwMode="auto">
            <a:xfrm>
              <a:off x="4927179" y="4319856"/>
              <a:ext cx="2002389" cy="1306949"/>
              <a:chOff x="1305623" y="4714561"/>
              <a:chExt cx="2002389" cy="1306949"/>
            </a:xfrm>
          </p:grpSpPr>
          <p:sp>
            <p:nvSpPr>
              <p:cNvPr id="178" name="Freeform 10">
                <a:extLst>
                  <a:ext uri="{FF2B5EF4-FFF2-40B4-BE49-F238E27FC236}">
                    <a16:creationId xmlns:a16="http://schemas.microsoft.com/office/drawing/2014/main" id="{2BBCCDF2-BD61-D243-80E3-FC38B43747BF}"/>
                  </a:ext>
                </a:extLst>
              </p:cNvPr>
              <p:cNvSpPr>
                <a:spLocks/>
              </p:cNvSpPr>
              <p:nvPr/>
            </p:nvSpPr>
            <p:spPr bwMode="auto">
              <a:xfrm>
                <a:off x="2426569" y="4714561"/>
                <a:ext cx="288261" cy="1290044"/>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9" name="Rectangle 23">
                <a:extLst>
                  <a:ext uri="{FF2B5EF4-FFF2-40B4-BE49-F238E27FC236}">
                    <a16:creationId xmlns:a16="http://schemas.microsoft.com/office/drawing/2014/main" id="{0FF740DF-A766-DA47-941D-9BB75289FE9F}"/>
                  </a:ext>
                </a:extLst>
              </p:cNvPr>
              <p:cNvSpPr>
                <a:spLocks noChangeArrowheads="1"/>
              </p:cNvSpPr>
              <p:nvPr/>
            </p:nvSpPr>
            <p:spPr bwMode="auto">
              <a:xfrm>
                <a:off x="1398616" y="4722494"/>
                <a:ext cx="1045433" cy="127129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Rectangle 24">
                <a:extLst>
                  <a:ext uri="{FF2B5EF4-FFF2-40B4-BE49-F238E27FC236}">
                    <a16:creationId xmlns:a16="http://schemas.microsoft.com/office/drawing/2014/main" id="{30976AB5-5CF3-9649-AE10-0D8834A36AA4}"/>
                  </a:ext>
                </a:extLst>
              </p:cNvPr>
              <p:cNvSpPr>
                <a:spLocks noChangeArrowheads="1"/>
              </p:cNvSpPr>
              <p:nvPr/>
            </p:nvSpPr>
            <p:spPr bwMode="auto">
              <a:xfrm>
                <a:off x="1341249" y="4752754"/>
                <a:ext cx="1067215" cy="1231976"/>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25">
                <a:extLst>
                  <a:ext uri="{FF2B5EF4-FFF2-40B4-BE49-F238E27FC236}">
                    <a16:creationId xmlns:a16="http://schemas.microsoft.com/office/drawing/2014/main" id="{C40254F3-8EF1-1946-BD3D-FCE2C1EC496D}"/>
                  </a:ext>
                </a:extLst>
              </p:cNvPr>
              <p:cNvSpPr>
                <a:spLocks noChangeShapeType="1"/>
              </p:cNvSpPr>
              <p:nvPr/>
            </p:nvSpPr>
            <p:spPr bwMode="auto">
              <a:xfrm>
                <a:off x="1341249" y="50313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3E76F59F-6FAE-6949-AACB-C12FB9352449}"/>
                  </a:ext>
                </a:extLst>
              </p:cNvPr>
              <p:cNvSpPr txBox="1">
                <a:spLocks noChangeArrowheads="1"/>
              </p:cNvSpPr>
              <p:nvPr/>
            </p:nvSpPr>
            <p:spPr bwMode="auto">
              <a:xfrm>
                <a:off x="1305623" y="4747333"/>
                <a:ext cx="1104329" cy="12741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183" name="Group 190">
                <a:extLst>
                  <a:ext uri="{FF2B5EF4-FFF2-40B4-BE49-F238E27FC236}">
                    <a16:creationId xmlns:a16="http://schemas.microsoft.com/office/drawing/2014/main" id="{3142986E-25B2-C545-A505-7FEFEE4617F3}"/>
                  </a:ext>
                </a:extLst>
              </p:cNvPr>
              <p:cNvGrpSpPr>
                <a:grpSpLocks/>
              </p:cNvGrpSpPr>
              <p:nvPr/>
            </p:nvGrpSpPr>
            <p:grpSpPr bwMode="auto">
              <a:xfrm flipH="1">
                <a:off x="2634682" y="5076164"/>
                <a:ext cx="673330" cy="701684"/>
                <a:chOff x="-44" y="1473"/>
                <a:chExt cx="981" cy="1105"/>
              </a:xfrm>
            </p:grpSpPr>
            <p:pic>
              <p:nvPicPr>
                <p:cNvPr id="187" name="Picture 191" descr="desktop_computer_stylized_medium">
                  <a:extLst>
                    <a:ext uri="{FF2B5EF4-FFF2-40B4-BE49-F238E27FC236}">
                      <a16:creationId xmlns:a16="http://schemas.microsoft.com/office/drawing/2014/main" id="{8E397E43-AA92-9540-8502-E3F47CEB4A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192">
                  <a:extLst>
                    <a:ext uri="{FF2B5EF4-FFF2-40B4-BE49-F238E27FC236}">
                      <a16:creationId xmlns:a16="http://schemas.microsoft.com/office/drawing/2014/main" id="{B94C52D7-1672-CE46-B256-90805C41A69F}"/>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84" name="Line 25">
                <a:extLst>
                  <a:ext uri="{FF2B5EF4-FFF2-40B4-BE49-F238E27FC236}">
                    <a16:creationId xmlns:a16="http://schemas.microsoft.com/office/drawing/2014/main" id="{3660A651-E6C2-464D-9AE5-A39238D21C2D}"/>
                  </a:ext>
                </a:extLst>
              </p:cNvPr>
              <p:cNvSpPr>
                <a:spLocks noChangeShapeType="1"/>
              </p:cNvSpPr>
              <p:nvPr/>
            </p:nvSpPr>
            <p:spPr bwMode="auto">
              <a:xfrm>
                <a:off x="1345720" y="5260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Line 25">
                <a:extLst>
                  <a:ext uri="{FF2B5EF4-FFF2-40B4-BE49-F238E27FC236}">
                    <a16:creationId xmlns:a16="http://schemas.microsoft.com/office/drawing/2014/main" id="{CB18A03E-7135-A648-8BDC-9FD0E1B822D5}"/>
                  </a:ext>
                </a:extLst>
              </p:cNvPr>
              <p:cNvSpPr>
                <a:spLocks noChangeShapeType="1"/>
              </p:cNvSpPr>
              <p:nvPr/>
            </p:nvSpPr>
            <p:spPr bwMode="auto">
              <a:xfrm>
                <a:off x="1350191" y="54891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8A81FD3E-2BEE-A04B-99BC-5B54B8C0D72A}"/>
                  </a:ext>
                </a:extLst>
              </p:cNvPr>
              <p:cNvSpPr>
                <a:spLocks noChangeShapeType="1"/>
              </p:cNvSpPr>
              <p:nvPr/>
            </p:nvSpPr>
            <p:spPr bwMode="auto">
              <a:xfrm>
                <a:off x="1354662" y="5728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sp>
        <p:nvSpPr>
          <p:cNvPr id="281" name="Freeform 7">
            <a:extLst>
              <a:ext uri="{FF2B5EF4-FFF2-40B4-BE49-F238E27FC236}">
                <a16:creationId xmlns:a16="http://schemas.microsoft.com/office/drawing/2014/main" id="{4FE322CD-EE19-1D4A-A4A3-471CD5B424FF}"/>
              </a:ext>
            </a:extLst>
          </p:cNvPr>
          <p:cNvSpPr>
            <a:spLocks/>
          </p:cNvSpPr>
          <p:nvPr/>
        </p:nvSpPr>
        <p:spPr bwMode="auto">
          <a:xfrm>
            <a:off x="3329610" y="4423976"/>
            <a:ext cx="5073926" cy="1202035"/>
          </a:xfrm>
          <a:custGeom>
            <a:avLst/>
            <a:gdLst>
              <a:gd name="T0" fmla="*/ 0 w 5156094"/>
              <a:gd name="T1" fmla="*/ 0 h 1509215"/>
              <a:gd name="T2" fmla="*/ 6961 w 5156094"/>
              <a:gd name="T3" fmla="*/ 1168047 h 1509215"/>
              <a:gd name="T4" fmla="*/ 1131015 w 5156094"/>
              <a:gd name="T5" fmla="*/ 1170389 h 1509215"/>
              <a:gd name="T6" fmla="*/ 1755021 w 5156094"/>
              <a:gd name="T7" fmla="*/ 1490285 h 1509215"/>
              <a:gd name="T8" fmla="*/ 2207298 w 5156094"/>
              <a:gd name="T9" fmla="*/ 1510706 h 1509215"/>
              <a:gd name="T10" fmla="*/ 2988945 w 5156094"/>
              <a:gd name="T11" fmla="*/ 1198737 h 1509215"/>
              <a:gd name="T12" fmla="*/ 3391674 w 5156094"/>
              <a:gd name="T13" fmla="*/ 1210330 h 1509215"/>
              <a:gd name="T14" fmla="*/ 5156412 w 5156094"/>
              <a:gd name="T15" fmla="*/ 1199641 h 1509215"/>
              <a:gd name="T16" fmla="*/ 5126696 w 5156094"/>
              <a:gd name="T17" fmla="*/ 64147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207163 w 5156094"/>
              <a:gd name="connsiteY4" fmla="*/ 1509215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5156094 w 5156094"/>
              <a:gd name="connsiteY6" fmla="*/ 1198456 h 1559667"/>
              <a:gd name="connsiteX7" fmla="*/ 5126381 w 5156094"/>
              <a:gd name="connsiteY7" fmla="*/ 64084 h 1559667"/>
              <a:gd name="connsiteX0" fmla="*/ 0 w 5156094"/>
              <a:gd name="connsiteY0" fmla="*/ 0 h 1559667"/>
              <a:gd name="connsiteX1" fmla="*/ 6961 w 5156094"/>
              <a:gd name="connsiteY1" fmla="*/ 1166894 h 1559667"/>
              <a:gd name="connsiteX2" fmla="*/ 1387547 w 5156094"/>
              <a:gd name="connsiteY2" fmla="*/ 115085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5156094 w 5156094"/>
              <a:gd name="connsiteY6" fmla="*/ 1198456 h 1559667"/>
              <a:gd name="connsiteX7" fmla="*/ 5126381 w 5156094"/>
              <a:gd name="connsiteY7" fmla="*/ 64084 h 1559667"/>
              <a:gd name="connsiteX0" fmla="*/ 0 w 5156094"/>
              <a:gd name="connsiteY0" fmla="*/ 0 h 1553959"/>
              <a:gd name="connsiteX1" fmla="*/ 6961 w 5156094"/>
              <a:gd name="connsiteY1" fmla="*/ 1166894 h 1553959"/>
              <a:gd name="connsiteX2" fmla="*/ 1387547 w 5156094"/>
              <a:gd name="connsiteY2" fmla="*/ 1150854 h 1553959"/>
              <a:gd name="connsiteX3" fmla="*/ 1824854 w 5156094"/>
              <a:gd name="connsiteY3" fmla="*/ 1458577 h 1553959"/>
              <a:gd name="connsiteX4" fmla="*/ 2145216 w 5156094"/>
              <a:gd name="connsiteY4" fmla="*/ 1553959 h 1553959"/>
              <a:gd name="connsiteX5" fmla="*/ 2930257 w 5156094"/>
              <a:gd name="connsiteY5" fmla="*/ 1152811 h 1553959"/>
              <a:gd name="connsiteX6" fmla="*/ 5156094 w 5156094"/>
              <a:gd name="connsiteY6" fmla="*/ 1198456 h 1553959"/>
              <a:gd name="connsiteX7" fmla="*/ 5126381 w 5156094"/>
              <a:gd name="connsiteY7" fmla="*/ 64084 h 1553959"/>
              <a:gd name="connsiteX0" fmla="*/ 0 w 5156094"/>
              <a:gd name="connsiteY0" fmla="*/ 0 h 1458577"/>
              <a:gd name="connsiteX1" fmla="*/ 6961 w 5156094"/>
              <a:gd name="connsiteY1" fmla="*/ 1166894 h 1458577"/>
              <a:gd name="connsiteX2" fmla="*/ 1387547 w 5156094"/>
              <a:gd name="connsiteY2" fmla="*/ 1150854 h 1458577"/>
              <a:gd name="connsiteX3" fmla="*/ 1824854 w 5156094"/>
              <a:gd name="connsiteY3" fmla="*/ 1458577 h 1458577"/>
              <a:gd name="connsiteX4" fmla="*/ 2145216 w 5156094"/>
              <a:gd name="connsiteY4" fmla="*/ 1434487 h 1458577"/>
              <a:gd name="connsiteX5" fmla="*/ 2930257 w 5156094"/>
              <a:gd name="connsiteY5" fmla="*/ 1152811 h 1458577"/>
              <a:gd name="connsiteX6" fmla="*/ 5156094 w 5156094"/>
              <a:gd name="connsiteY6" fmla="*/ 1198456 h 1458577"/>
              <a:gd name="connsiteX7" fmla="*/ 5126381 w 5156094"/>
              <a:gd name="connsiteY7" fmla="*/ 64084 h 1458577"/>
              <a:gd name="connsiteX0" fmla="*/ 0 w 5156094"/>
              <a:gd name="connsiteY0" fmla="*/ 0 h 1458577"/>
              <a:gd name="connsiteX1" fmla="*/ 6961 w 5156094"/>
              <a:gd name="connsiteY1" fmla="*/ 1166894 h 1458577"/>
              <a:gd name="connsiteX2" fmla="*/ 1387547 w 5156094"/>
              <a:gd name="connsiteY2" fmla="*/ 1150854 h 1458577"/>
              <a:gd name="connsiteX3" fmla="*/ 1824854 w 5156094"/>
              <a:gd name="connsiteY3" fmla="*/ 1458577 h 1458577"/>
              <a:gd name="connsiteX4" fmla="*/ 2145216 w 5156094"/>
              <a:gd name="connsiteY4" fmla="*/ 1434487 h 1458577"/>
              <a:gd name="connsiteX5" fmla="*/ 2809732 w 5156094"/>
              <a:gd name="connsiteY5" fmla="*/ 1093074 h 1458577"/>
              <a:gd name="connsiteX6" fmla="*/ 5156094 w 5156094"/>
              <a:gd name="connsiteY6" fmla="*/ 1198456 h 1458577"/>
              <a:gd name="connsiteX7" fmla="*/ 5126381 w 5156094"/>
              <a:gd name="connsiteY7" fmla="*/ 64084 h 1458577"/>
              <a:gd name="connsiteX0" fmla="*/ 0 w 5156094"/>
              <a:gd name="connsiteY0" fmla="*/ 0 h 1458577"/>
              <a:gd name="connsiteX1" fmla="*/ 6961 w 5156094"/>
              <a:gd name="connsiteY1" fmla="*/ 1166894 h 1458577"/>
              <a:gd name="connsiteX2" fmla="*/ 1387547 w 5156094"/>
              <a:gd name="connsiteY2" fmla="*/ 1150854 h 1458577"/>
              <a:gd name="connsiteX3" fmla="*/ 1824854 w 5156094"/>
              <a:gd name="connsiteY3" fmla="*/ 1458577 h 1458577"/>
              <a:gd name="connsiteX4" fmla="*/ 2063570 w 5156094"/>
              <a:gd name="connsiteY4" fmla="*/ 1443677 h 1458577"/>
              <a:gd name="connsiteX5" fmla="*/ 2809732 w 5156094"/>
              <a:gd name="connsiteY5" fmla="*/ 1093074 h 1458577"/>
              <a:gd name="connsiteX6" fmla="*/ 5156094 w 5156094"/>
              <a:gd name="connsiteY6" fmla="*/ 1198456 h 1458577"/>
              <a:gd name="connsiteX7" fmla="*/ 5126381 w 5156094"/>
              <a:gd name="connsiteY7" fmla="*/ 64084 h 1458577"/>
              <a:gd name="connsiteX0" fmla="*/ 0 w 5156094"/>
              <a:gd name="connsiteY0" fmla="*/ 0 h 1443677"/>
              <a:gd name="connsiteX1" fmla="*/ 6961 w 5156094"/>
              <a:gd name="connsiteY1" fmla="*/ 1166894 h 1443677"/>
              <a:gd name="connsiteX2" fmla="*/ 1387547 w 5156094"/>
              <a:gd name="connsiteY2" fmla="*/ 1150854 h 1443677"/>
              <a:gd name="connsiteX3" fmla="*/ 1832629 w 5156094"/>
              <a:gd name="connsiteY3" fmla="*/ 1440196 h 1443677"/>
              <a:gd name="connsiteX4" fmla="*/ 2063570 w 5156094"/>
              <a:gd name="connsiteY4" fmla="*/ 1443677 h 1443677"/>
              <a:gd name="connsiteX5" fmla="*/ 2809732 w 5156094"/>
              <a:gd name="connsiteY5" fmla="*/ 1093074 h 1443677"/>
              <a:gd name="connsiteX6" fmla="*/ 5156094 w 5156094"/>
              <a:gd name="connsiteY6" fmla="*/ 1198456 h 1443677"/>
              <a:gd name="connsiteX7" fmla="*/ 5126381 w 5156094"/>
              <a:gd name="connsiteY7" fmla="*/ 64084 h 144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56094" h="1443677">
                <a:moveTo>
                  <a:pt x="0" y="0"/>
                </a:moveTo>
                <a:cubicBezTo>
                  <a:pt x="2320" y="388965"/>
                  <a:pt x="4641" y="777929"/>
                  <a:pt x="6961" y="1166894"/>
                </a:cubicBezTo>
                <a:lnTo>
                  <a:pt x="1387547" y="1150854"/>
                </a:lnTo>
                <a:lnTo>
                  <a:pt x="1832629" y="1440196"/>
                </a:lnTo>
                <a:lnTo>
                  <a:pt x="2063570" y="1443677"/>
                </a:lnTo>
                <a:lnTo>
                  <a:pt x="2809732" y="1093074"/>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24" name="TextBox 123">
            <a:extLst>
              <a:ext uri="{FF2B5EF4-FFF2-40B4-BE49-F238E27FC236}">
                <a16:creationId xmlns:a16="http://schemas.microsoft.com/office/drawing/2014/main" id="{02FCACC2-D909-7B41-AC13-34D894243B2B}"/>
              </a:ext>
            </a:extLst>
          </p:cNvPr>
          <p:cNvSpPr txBox="1"/>
          <p:nvPr/>
        </p:nvSpPr>
        <p:spPr>
          <a:xfrm>
            <a:off x="4692557" y="6277338"/>
            <a:ext cx="318138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panose="020F0502020204030204"/>
                <a:ea typeface="+mn-ea"/>
                <a:cs typeface="+mn-cs"/>
              </a:rPr>
              <a:t>bottleneck link (almost always busy)</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E3284F9A-6893-1E4D-8B94-17F64D75D82E}"/>
              </a:ext>
            </a:extLst>
          </p:cNvPr>
          <p:cNvCxnSpPr>
            <a:cxnSpLocks/>
          </p:cNvCxnSpPr>
          <p:nvPr/>
        </p:nvCxnSpPr>
        <p:spPr>
          <a:xfrm>
            <a:off x="5609507" y="5767851"/>
            <a:ext cx="0" cy="5662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4DEBF33-EEFE-AC4E-A6EE-FBEFE3D21B68}"/>
              </a:ext>
            </a:extLst>
          </p:cNvPr>
          <p:cNvGrpSpPr/>
          <p:nvPr/>
        </p:nvGrpSpPr>
        <p:grpSpPr>
          <a:xfrm>
            <a:off x="860107" y="5151058"/>
            <a:ext cx="4764459" cy="830997"/>
            <a:chOff x="703842" y="5262044"/>
            <a:chExt cx="4764459" cy="830997"/>
          </a:xfrm>
        </p:grpSpPr>
        <p:sp>
          <p:nvSpPr>
            <p:cNvPr id="135" name="TextBox 134">
              <a:extLst>
                <a:ext uri="{FF2B5EF4-FFF2-40B4-BE49-F238E27FC236}">
                  <a16:creationId xmlns:a16="http://schemas.microsoft.com/office/drawing/2014/main" id="{7C56DC91-6524-264F-BD66-68BD34152AAA}"/>
                </a:ext>
              </a:extLst>
            </p:cNvPr>
            <p:cNvSpPr txBox="1"/>
            <p:nvPr/>
          </p:nvSpPr>
          <p:spPr>
            <a:xfrm>
              <a:off x="703842" y="5262044"/>
              <a:ext cx="2330267" cy="83099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panose="020F0502020204030204"/>
                  <a:ea typeface="+mn-ea"/>
                  <a:cs typeface="+mn-cs"/>
                </a:rPr>
                <a:t>packet queue almost never empty, sometimes overflows packet (loss)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grpSp>
          <p:nvGrpSpPr>
            <p:cNvPr id="19" name="Group 18">
              <a:extLst>
                <a:ext uri="{FF2B5EF4-FFF2-40B4-BE49-F238E27FC236}">
                  <a16:creationId xmlns:a16="http://schemas.microsoft.com/office/drawing/2014/main" id="{03C26690-6ACA-ED46-8053-4773384B91BB}"/>
                </a:ext>
              </a:extLst>
            </p:cNvPr>
            <p:cNvGrpSpPr/>
            <p:nvPr/>
          </p:nvGrpSpPr>
          <p:grpSpPr>
            <a:xfrm>
              <a:off x="4921820" y="5505951"/>
              <a:ext cx="546481" cy="386071"/>
              <a:chOff x="4621648" y="3046041"/>
              <a:chExt cx="1120964" cy="769030"/>
            </a:xfrm>
          </p:grpSpPr>
          <p:grpSp>
            <p:nvGrpSpPr>
              <p:cNvPr id="199" name="Group 58">
                <a:extLst>
                  <a:ext uri="{FF2B5EF4-FFF2-40B4-BE49-F238E27FC236}">
                    <a16:creationId xmlns:a16="http://schemas.microsoft.com/office/drawing/2014/main" id="{9C8DCF2E-441E-E74C-B545-52E572FFE3EF}"/>
                  </a:ext>
                </a:extLst>
              </p:cNvPr>
              <p:cNvGrpSpPr>
                <a:grpSpLocks/>
              </p:cNvGrpSpPr>
              <p:nvPr/>
            </p:nvGrpSpPr>
            <p:grpSpPr bwMode="auto">
              <a:xfrm>
                <a:off x="5247312" y="3046041"/>
                <a:ext cx="495300" cy="760413"/>
                <a:chOff x="333961" y="4406169"/>
                <a:chExt cx="1255305" cy="2136353"/>
              </a:xfrm>
            </p:grpSpPr>
            <p:sp>
              <p:nvSpPr>
                <p:cNvPr id="200" name="Freeform 199">
                  <a:extLst>
                    <a:ext uri="{FF2B5EF4-FFF2-40B4-BE49-F238E27FC236}">
                      <a16:creationId xmlns:a16="http://schemas.microsoft.com/office/drawing/2014/main" id="{4B041975-A7A0-664F-80BD-680D4E755238}"/>
                    </a:ext>
                  </a:extLst>
                </p:cNvPr>
                <p:cNvSpPr/>
                <p:nvPr/>
              </p:nvSpPr>
              <p:spPr>
                <a:xfrm>
                  <a:off x="333961" y="4406169"/>
                  <a:ext cx="969641" cy="213635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201" name="Freeform 200">
                  <a:extLst>
                    <a:ext uri="{FF2B5EF4-FFF2-40B4-BE49-F238E27FC236}">
                      <a16:creationId xmlns:a16="http://schemas.microsoft.com/office/drawing/2014/main" id="{1FFD2B64-546C-2643-AD7C-08944962BECA}"/>
                    </a:ext>
                  </a:extLst>
                </p:cNvPr>
                <p:cNvSpPr/>
                <p:nvPr/>
              </p:nvSpPr>
              <p:spPr>
                <a:xfrm>
                  <a:off x="350055" y="4410631"/>
                  <a:ext cx="1239211" cy="77158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202" name="Rectangle 68">
                  <a:extLst>
                    <a:ext uri="{FF2B5EF4-FFF2-40B4-BE49-F238E27FC236}">
                      <a16:creationId xmlns:a16="http://schemas.microsoft.com/office/drawing/2014/main" id="{4B96C577-1D41-C041-9B20-7071CF6D3F91}"/>
                    </a:ext>
                  </a:extLst>
                </p:cNvPr>
                <p:cNvSpPr>
                  <a:spLocks noChangeArrowheads="1"/>
                </p:cNvSpPr>
                <p:nvPr/>
              </p:nvSpPr>
              <p:spPr bwMode="auto">
                <a:xfrm>
                  <a:off x="1289719" y="5166823"/>
                  <a:ext cx="289686" cy="1351386"/>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ＭＳ Ｐゴシック" panose="020B0600070205080204" pitchFamily="34" charset="-128"/>
                    <a:cs typeface="+mn-cs"/>
                  </a:endParaRPr>
                </a:p>
              </p:txBody>
            </p:sp>
          </p:grpSp>
          <p:grpSp>
            <p:nvGrpSpPr>
              <p:cNvPr id="144" name="Group 58">
                <a:extLst>
                  <a:ext uri="{FF2B5EF4-FFF2-40B4-BE49-F238E27FC236}">
                    <a16:creationId xmlns:a16="http://schemas.microsoft.com/office/drawing/2014/main" id="{28D67BA5-B51E-1F4B-9F91-6C8CB9B77825}"/>
                  </a:ext>
                </a:extLst>
              </p:cNvPr>
              <p:cNvGrpSpPr>
                <a:grpSpLocks/>
              </p:cNvGrpSpPr>
              <p:nvPr/>
            </p:nvGrpSpPr>
            <p:grpSpPr bwMode="auto">
              <a:xfrm>
                <a:off x="5041006" y="3051076"/>
                <a:ext cx="495300" cy="760413"/>
                <a:chOff x="333961" y="4406169"/>
                <a:chExt cx="1255305" cy="2136353"/>
              </a:xfrm>
            </p:grpSpPr>
            <p:sp>
              <p:nvSpPr>
                <p:cNvPr id="152" name="Freeform 151">
                  <a:extLst>
                    <a:ext uri="{FF2B5EF4-FFF2-40B4-BE49-F238E27FC236}">
                      <a16:creationId xmlns:a16="http://schemas.microsoft.com/office/drawing/2014/main" id="{56F3A370-4056-4D4B-9032-355AAB97EFC1}"/>
                    </a:ext>
                  </a:extLst>
                </p:cNvPr>
                <p:cNvSpPr/>
                <p:nvPr/>
              </p:nvSpPr>
              <p:spPr>
                <a:xfrm>
                  <a:off x="333961" y="4406169"/>
                  <a:ext cx="969641" cy="213635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3" name="Freeform 152">
                  <a:extLst>
                    <a:ext uri="{FF2B5EF4-FFF2-40B4-BE49-F238E27FC236}">
                      <a16:creationId xmlns:a16="http://schemas.microsoft.com/office/drawing/2014/main" id="{FC9A9D04-FD70-E345-8B40-8B52B4895FD3}"/>
                    </a:ext>
                  </a:extLst>
                </p:cNvPr>
                <p:cNvSpPr/>
                <p:nvPr/>
              </p:nvSpPr>
              <p:spPr>
                <a:xfrm>
                  <a:off x="350055" y="4410631"/>
                  <a:ext cx="1239211" cy="771583"/>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4" name="Rectangle 68">
                  <a:extLst>
                    <a:ext uri="{FF2B5EF4-FFF2-40B4-BE49-F238E27FC236}">
                      <a16:creationId xmlns:a16="http://schemas.microsoft.com/office/drawing/2014/main" id="{DB9F22EB-34DD-B44E-B8F0-F93A80887B1A}"/>
                    </a:ext>
                  </a:extLst>
                </p:cNvPr>
                <p:cNvSpPr>
                  <a:spLocks noChangeArrowheads="1"/>
                </p:cNvSpPr>
                <p:nvPr/>
              </p:nvSpPr>
              <p:spPr bwMode="auto">
                <a:xfrm>
                  <a:off x="1289719" y="5166823"/>
                  <a:ext cx="289686" cy="1351386"/>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ＭＳ Ｐゴシック" panose="020B0600070205080204" pitchFamily="34" charset="-128"/>
                    <a:cs typeface="+mn-cs"/>
                  </a:endParaRPr>
                </a:p>
              </p:txBody>
            </p:sp>
          </p:grpSp>
          <p:grpSp>
            <p:nvGrpSpPr>
              <p:cNvPr id="147" name="Group 61">
                <a:extLst>
                  <a:ext uri="{FF2B5EF4-FFF2-40B4-BE49-F238E27FC236}">
                    <a16:creationId xmlns:a16="http://schemas.microsoft.com/office/drawing/2014/main" id="{8EBA6A47-608B-5949-888D-EE10ACCBFCAC}"/>
                  </a:ext>
                </a:extLst>
              </p:cNvPr>
              <p:cNvGrpSpPr>
                <a:grpSpLocks/>
              </p:cNvGrpSpPr>
              <p:nvPr/>
            </p:nvGrpSpPr>
            <p:grpSpPr bwMode="auto">
              <a:xfrm>
                <a:off x="4816091" y="3049780"/>
                <a:ext cx="494208" cy="761128"/>
                <a:chOff x="335231" y="4405745"/>
                <a:chExt cx="1252537" cy="2138362"/>
              </a:xfrm>
            </p:grpSpPr>
            <p:sp>
              <p:nvSpPr>
                <p:cNvPr id="149" name="Freeform 148">
                  <a:extLst>
                    <a:ext uri="{FF2B5EF4-FFF2-40B4-BE49-F238E27FC236}">
                      <a16:creationId xmlns:a16="http://schemas.microsoft.com/office/drawing/2014/main" id="{8B0E7BF7-08BC-9E4B-BA69-36C0B14D8D1C}"/>
                    </a:ext>
                  </a:extLst>
                </p:cNvPr>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0" name="Freeform 149">
                  <a:extLst>
                    <a:ext uri="{FF2B5EF4-FFF2-40B4-BE49-F238E27FC236}">
                      <a16:creationId xmlns:a16="http://schemas.microsoft.com/office/drawing/2014/main" id="{671F6074-CF54-2643-81D7-12EC582C9E91}"/>
                    </a:ext>
                  </a:extLst>
                </p:cNvPr>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151" name="Rectangle 65">
                  <a:extLst>
                    <a:ext uri="{FF2B5EF4-FFF2-40B4-BE49-F238E27FC236}">
                      <a16:creationId xmlns:a16="http://schemas.microsoft.com/office/drawing/2014/main" id="{24B1948E-031B-0E41-806A-4FBC399FCA5C}"/>
                    </a:ext>
                  </a:extLst>
                </p:cNvPr>
                <p:cNvSpPr>
                  <a:spLocks noChangeArrowheads="1"/>
                </p:cNvSpPr>
                <p:nvPr/>
              </p:nvSpPr>
              <p:spPr bwMode="auto">
                <a:xfrm>
                  <a:off x="1296825" y="5178575"/>
                  <a:ext cx="289686" cy="1351389"/>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ＭＳ Ｐゴシック" panose="020B0600070205080204" pitchFamily="34" charset="-128"/>
                    <a:cs typeface="+mn-cs"/>
                  </a:endParaRPr>
                </a:p>
              </p:txBody>
            </p:sp>
          </p:grpSp>
          <p:grpSp>
            <p:nvGrpSpPr>
              <p:cNvPr id="203" name="Group 61">
                <a:extLst>
                  <a:ext uri="{FF2B5EF4-FFF2-40B4-BE49-F238E27FC236}">
                    <a16:creationId xmlns:a16="http://schemas.microsoft.com/office/drawing/2014/main" id="{A84018EA-3016-6944-815C-BDA0454861B8}"/>
                  </a:ext>
                </a:extLst>
              </p:cNvPr>
              <p:cNvGrpSpPr>
                <a:grpSpLocks/>
              </p:cNvGrpSpPr>
              <p:nvPr/>
            </p:nvGrpSpPr>
            <p:grpSpPr bwMode="auto">
              <a:xfrm>
                <a:off x="4621648" y="3053943"/>
                <a:ext cx="494208" cy="761128"/>
                <a:chOff x="335231" y="4405745"/>
                <a:chExt cx="1252537" cy="2138362"/>
              </a:xfrm>
            </p:grpSpPr>
            <p:sp>
              <p:nvSpPr>
                <p:cNvPr id="204" name="Freeform 203">
                  <a:extLst>
                    <a:ext uri="{FF2B5EF4-FFF2-40B4-BE49-F238E27FC236}">
                      <a16:creationId xmlns:a16="http://schemas.microsoft.com/office/drawing/2014/main" id="{A877B87A-03DB-5F4A-A8C2-6E39BA84A122}"/>
                    </a:ext>
                  </a:extLst>
                </p:cNvPr>
                <p:cNvSpPr/>
                <p:nvPr/>
              </p:nvSpPr>
              <p:spPr>
                <a:xfrm>
                  <a:off x="335231" y="4406992"/>
                  <a:ext cx="965619" cy="2136350"/>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C00000"/>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205" name="Freeform 204">
                  <a:extLst>
                    <a:ext uri="{FF2B5EF4-FFF2-40B4-BE49-F238E27FC236}">
                      <a16:creationId xmlns:a16="http://schemas.microsoft.com/office/drawing/2014/main" id="{D4629751-292C-9C46-8380-46F69573297B}"/>
                    </a:ext>
                  </a:extLst>
                </p:cNvPr>
                <p:cNvSpPr/>
                <p:nvPr/>
              </p:nvSpPr>
              <p:spPr>
                <a:xfrm>
                  <a:off x="351325" y="4411451"/>
                  <a:ext cx="1235186" cy="771586"/>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250" h="757496">
                      <a:moveTo>
                        <a:pt x="233363" y="0"/>
                      </a:moveTo>
                      <a:lnTo>
                        <a:pt x="0" y="9439"/>
                      </a:lnTo>
                      <a:lnTo>
                        <a:pt x="952500" y="752735"/>
                      </a:lnTo>
                      <a:cubicBezTo>
                        <a:pt x="1060450" y="744798"/>
                        <a:pt x="1035049" y="751145"/>
                        <a:pt x="1238250" y="757496"/>
                      </a:cubicBezTo>
                      <a:lnTo>
                        <a:pt x="233363" y="0"/>
                      </a:lnTo>
                      <a:close/>
                    </a:path>
                  </a:pathLst>
                </a:custGeom>
                <a:solidFill>
                  <a:srgbClr val="ED356A"/>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 lastClr="FFFFFF"/>
                    </a:solidFill>
                    <a:effectLst/>
                    <a:uLnTx/>
                    <a:uFillTx/>
                    <a:latin typeface="Calibri"/>
                    <a:ea typeface="+mn-ea"/>
                    <a:cs typeface="+mn-cs"/>
                  </a:endParaRPr>
                </a:p>
              </p:txBody>
            </p:sp>
            <p:sp>
              <p:nvSpPr>
                <p:cNvPr id="206" name="Rectangle 65">
                  <a:extLst>
                    <a:ext uri="{FF2B5EF4-FFF2-40B4-BE49-F238E27FC236}">
                      <a16:creationId xmlns:a16="http://schemas.microsoft.com/office/drawing/2014/main" id="{549A4DDD-F461-2345-B6CC-E7011D8916B0}"/>
                    </a:ext>
                  </a:extLst>
                </p:cNvPr>
                <p:cNvSpPr>
                  <a:spLocks noChangeArrowheads="1"/>
                </p:cNvSpPr>
                <p:nvPr/>
              </p:nvSpPr>
              <p:spPr bwMode="auto">
                <a:xfrm>
                  <a:off x="1296825" y="5178575"/>
                  <a:ext cx="289686" cy="1351389"/>
                </a:xfrm>
                <a:prstGeom prst="rect">
                  <a:avLst/>
                </a:prstGeom>
                <a:solidFill>
                  <a:srgbClr val="E40000"/>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srgbClr val="FFFFFF"/>
                    </a:solidFill>
                    <a:effectLst/>
                    <a:uLnTx/>
                    <a:uFillTx/>
                    <a:latin typeface="Calibri" panose="020F0502020204030204" pitchFamily="34" charset="0"/>
                    <a:ea typeface="ＭＳ Ｐゴシック" panose="020B0600070205080204" pitchFamily="34" charset="-128"/>
                    <a:cs typeface="+mn-cs"/>
                  </a:endParaRPr>
                </a:p>
              </p:txBody>
            </p:sp>
          </p:grpSp>
        </p:grpSp>
        <p:cxnSp>
          <p:nvCxnSpPr>
            <p:cNvPr id="17" name="Straight Connector 16">
              <a:extLst>
                <a:ext uri="{FF2B5EF4-FFF2-40B4-BE49-F238E27FC236}">
                  <a16:creationId xmlns:a16="http://schemas.microsoft.com/office/drawing/2014/main" id="{E9EDF9F3-6222-AB41-A132-50D0D344E84F}"/>
                </a:ext>
              </a:extLst>
            </p:cNvPr>
            <p:cNvCxnSpPr>
              <a:cxnSpLocks/>
            </p:cNvCxnSpPr>
            <p:nvPr/>
          </p:nvCxnSpPr>
          <p:spPr>
            <a:xfrm flipH="1">
              <a:off x="2972773" y="5696183"/>
              <a:ext cx="193163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8CF8F38F-0026-3541-8248-4367CE19639B}"/>
              </a:ext>
            </a:extLst>
          </p:cNvPr>
          <p:cNvGrpSpPr/>
          <p:nvPr/>
        </p:nvGrpSpPr>
        <p:grpSpPr>
          <a:xfrm>
            <a:off x="5397500" y="4063641"/>
            <a:ext cx="609600" cy="628987"/>
            <a:chOff x="5486400" y="4101741"/>
            <a:chExt cx="609600" cy="628987"/>
          </a:xfrm>
        </p:grpSpPr>
        <p:sp>
          <p:nvSpPr>
            <p:cNvPr id="112" name="Freeform 10">
              <a:extLst>
                <a:ext uri="{FF2B5EF4-FFF2-40B4-BE49-F238E27FC236}">
                  <a16:creationId xmlns:a16="http://schemas.microsoft.com/office/drawing/2014/main" id="{7793E5EB-2CBF-704E-8E72-9F0A5CB5A075}"/>
                </a:ext>
              </a:extLst>
            </p:cNvPr>
            <p:cNvSpPr>
              <a:spLocks/>
            </p:cNvSpPr>
            <p:nvPr/>
          </p:nvSpPr>
          <p:spPr bwMode="auto">
            <a:xfrm flipH="1">
              <a:off x="5658360" y="4102100"/>
              <a:ext cx="176916" cy="454025"/>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 name="connsiteX0" fmla="*/ 12224 w 12711"/>
                <a:gd name="connsiteY0" fmla="*/ 4661 h 7743"/>
                <a:gd name="connsiteX1" fmla="*/ 498 w 12711"/>
                <a:gd name="connsiteY1" fmla="*/ 0 h 7743"/>
                <a:gd name="connsiteX2" fmla="*/ 0 w 12711"/>
                <a:gd name="connsiteY2" fmla="*/ 7743 h 7743"/>
                <a:gd name="connsiteX3" fmla="*/ 12711 w 12711"/>
                <a:gd name="connsiteY3" fmla="*/ 6473 h 7743"/>
                <a:gd name="connsiteX4" fmla="*/ 12224 w 12711"/>
                <a:gd name="connsiteY4" fmla="*/ 4661 h 7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 h="7743">
                  <a:moveTo>
                    <a:pt x="12224" y="4661"/>
                  </a:moveTo>
                  <a:lnTo>
                    <a:pt x="498" y="0"/>
                  </a:lnTo>
                  <a:lnTo>
                    <a:pt x="0" y="7743"/>
                  </a:lnTo>
                  <a:lnTo>
                    <a:pt x="12711" y="6473"/>
                  </a:lnTo>
                  <a:lnTo>
                    <a:pt x="12224"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17" name="Group 190">
              <a:extLst>
                <a:ext uri="{FF2B5EF4-FFF2-40B4-BE49-F238E27FC236}">
                  <a16:creationId xmlns:a16="http://schemas.microsoft.com/office/drawing/2014/main" id="{AC979BFC-E642-744F-9DC1-BADB697791A8}"/>
                </a:ext>
              </a:extLst>
            </p:cNvPr>
            <p:cNvGrpSpPr>
              <a:grpSpLocks/>
            </p:cNvGrpSpPr>
            <p:nvPr/>
          </p:nvGrpSpPr>
          <p:grpSpPr bwMode="auto">
            <a:xfrm flipH="1">
              <a:off x="5486400" y="4355542"/>
              <a:ext cx="350533" cy="375186"/>
              <a:chOff x="-44" y="1473"/>
              <a:chExt cx="981" cy="1105"/>
            </a:xfrm>
          </p:grpSpPr>
          <p:pic>
            <p:nvPicPr>
              <p:cNvPr id="118" name="Picture 191" descr="desktop_computer_stylized_medium">
                <a:extLst>
                  <a:ext uri="{FF2B5EF4-FFF2-40B4-BE49-F238E27FC236}">
                    <a16:creationId xmlns:a16="http://schemas.microsoft.com/office/drawing/2014/main" id="{736C455F-8687-0644-9BAB-D641A51B10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 name="Freeform 192">
                <a:extLst>
                  <a:ext uri="{FF2B5EF4-FFF2-40B4-BE49-F238E27FC236}">
                    <a16:creationId xmlns:a16="http://schemas.microsoft.com/office/drawing/2014/main" id="{2F5B8C3C-D867-384D-B512-9A636B471BA5}"/>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 name="Group 22">
              <a:extLst>
                <a:ext uri="{FF2B5EF4-FFF2-40B4-BE49-F238E27FC236}">
                  <a16:creationId xmlns:a16="http://schemas.microsoft.com/office/drawing/2014/main" id="{353C0199-62D3-6F48-8939-D9C39B61FAF4}"/>
                </a:ext>
              </a:extLst>
            </p:cNvPr>
            <p:cNvGrpSpPr/>
            <p:nvPr/>
          </p:nvGrpSpPr>
          <p:grpSpPr>
            <a:xfrm>
              <a:off x="5831973" y="4101741"/>
              <a:ext cx="264027" cy="451210"/>
              <a:chOff x="5831973" y="4101740"/>
              <a:chExt cx="295777" cy="502587"/>
            </a:xfrm>
          </p:grpSpPr>
          <p:sp>
            <p:nvSpPr>
              <p:cNvPr id="114" name="Rectangle 24">
                <a:extLst>
                  <a:ext uri="{FF2B5EF4-FFF2-40B4-BE49-F238E27FC236}">
                    <a16:creationId xmlns:a16="http://schemas.microsoft.com/office/drawing/2014/main" id="{429B5AEE-1F47-7F43-9636-D936822F588A}"/>
                  </a:ext>
                </a:extLst>
              </p:cNvPr>
              <p:cNvSpPr>
                <a:spLocks noChangeArrowheads="1"/>
              </p:cNvSpPr>
              <p:nvPr/>
            </p:nvSpPr>
            <p:spPr bwMode="auto">
              <a:xfrm>
                <a:off x="5831973" y="4101740"/>
                <a:ext cx="295777" cy="502587"/>
              </a:xfrm>
              <a:prstGeom prst="rect">
                <a:avLst/>
              </a:prstGeom>
              <a:solidFill>
                <a:srgbClr val="FFFFFF"/>
              </a:solidFill>
              <a:ln w="9525">
                <a:solidFill>
                  <a:srgbClr val="000000"/>
                </a:solidFill>
                <a:miter lim="800000"/>
                <a:headEnd/>
                <a:tailEnd/>
              </a:ln>
              <a:effectLst>
                <a:outerShdw blurRad="50800" dist="38100" dir="2700000" algn="tl" rotWithShape="0">
                  <a:prstClr val="black">
                    <a:alpha val="40000"/>
                  </a:prstClr>
                </a:outerShdw>
              </a:effec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2" name="Group 21">
                <a:extLst>
                  <a:ext uri="{FF2B5EF4-FFF2-40B4-BE49-F238E27FC236}">
                    <a16:creationId xmlns:a16="http://schemas.microsoft.com/office/drawing/2014/main" id="{E5D92F00-ABB5-E44E-A2E6-C8C218DD732B}"/>
                  </a:ext>
                </a:extLst>
              </p:cNvPr>
              <p:cNvGrpSpPr/>
              <p:nvPr/>
            </p:nvGrpSpPr>
            <p:grpSpPr>
              <a:xfrm>
                <a:off x="5832475" y="4197350"/>
                <a:ext cx="295275" cy="307975"/>
                <a:chOff x="5832475" y="4197350"/>
                <a:chExt cx="295275" cy="307975"/>
              </a:xfrm>
            </p:grpSpPr>
            <p:cxnSp>
              <p:nvCxnSpPr>
                <p:cNvPr id="11" name="Straight Connector 10">
                  <a:extLst>
                    <a:ext uri="{FF2B5EF4-FFF2-40B4-BE49-F238E27FC236}">
                      <a16:creationId xmlns:a16="http://schemas.microsoft.com/office/drawing/2014/main" id="{8C633B10-A8EE-F749-A263-B00982789560}"/>
                    </a:ext>
                  </a:extLst>
                </p:cNvPr>
                <p:cNvCxnSpPr>
                  <a:cxnSpLocks/>
                </p:cNvCxnSpPr>
                <p:nvPr/>
              </p:nvCxnSpPr>
              <p:spPr>
                <a:xfrm>
                  <a:off x="5835650" y="430530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585E959-0F41-AC45-8ACF-4B548946D1F2}"/>
                    </a:ext>
                  </a:extLst>
                </p:cNvPr>
                <p:cNvCxnSpPr>
                  <a:cxnSpLocks/>
                </p:cNvCxnSpPr>
                <p:nvPr/>
              </p:nvCxnSpPr>
              <p:spPr>
                <a:xfrm>
                  <a:off x="5835650" y="41973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7F4A0E50-9EDE-554A-A2C3-B6C198AF3E55}"/>
                    </a:ext>
                  </a:extLst>
                </p:cNvPr>
                <p:cNvCxnSpPr>
                  <a:cxnSpLocks/>
                </p:cNvCxnSpPr>
                <p:nvPr/>
              </p:nvCxnSpPr>
              <p:spPr>
                <a:xfrm>
                  <a:off x="5832475" y="44132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F1EFFB3B-ABD3-F54B-AC79-99F2EC5F3CBA}"/>
                    </a:ext>
                  </a:extLst>
                </p:cNvPr>
                <p:cNvCxnSpPr>
                  <a:cxnSpLocks/>
                </p:cNvCxnSpPr>
                <p:nvPr/>
              </p:nvCxnSpPr>
              <p:spPr>
                <a:xfrm>
                  <a:off x="5832475" y="4505325"/>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5" name="Group 24">
            <a:extLst>
              <a:ext uri="{FF2B5EF4-FFF2-40B4-BE49-F238E27FC236}">
                <a16:creationId xmlns:a16="http://schemas.microsoft.com/office/drawing/2014/main" id="{E2F18F8F-3DE9-9D40-A6F4-642CE6C034E9}"/>
              </a:ext>
            </a:extLst>
          </p:cNvPr>
          <p:cNvGrpSpPr/>
          <p:nvPr/>
        </p:nvGrpSpPr>
        <p:grpSpPr>
          <a:xfrm>
            <a:off x="3630569" y="5751891"/>
            <a:ext cx="719335" cy="546078"/>
            <a:chOff x="6454273" y="3133725"/>
            <a:chExt cx="719335" cy="546078"/>
          </a:xfrm>
        </p:grpSpPr>
        <p:sp>
          <p:nvSpPr>
            <p:cNvPr id="157" name="Freeform 10">
              <a:extLst>
                <a:ext uri="{FF2B5EF4-FFF2-40B4-BE49-F238E27FC236}">
                  <a16:creationId xmlns:a16="http://schemas.microsoft.com/office/drawing/2014/main" id="{A3E08F8A-79F3-664D-94EC-D6F2A56013FD}"/>
                </a:ext>
              </a:extLst>
            </p:cNvPr>
            <p:cNvSpPr>
              <a:spLocks/>
            </p:cNvSpPr>
            <p:nvPr/>
          </p:nvSpPr>
          <p:spPr bwMode="auto">
            <a:xfrm>
              <a:off x="6709285" y="3133725"/>
              <a:ext cx="176916" cy="454025"/>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 name="connsiteX0" fmla="*/ 12224 w 12711"/>
                <a:gd name="connsiteY0" fmla="*/ 4661 h 7743"/>
                <a:gd name="connsiteX1" fmla="*/ 498 w 12711"/>
                <a:gd name="connsiteY1" fmla="*/ 0 h 7743"/>
                <a:gd name="connsiteX2" fmla="*/ 0 w 12711"/>
                <a:gd name="connsiteY2" fmla="*/ 7743 h 7743"/>
                <a:gd name="connsiteX3" fmla="*/ 12711 w 12711"/>
                <a:gd name="connsiteY3" fmla="*/ 6473 h 7743"/>
                <a:gd name="connsiteX4" fmla="*/ 12224 w 12711"/>
                <a:gd name="connsiteY4" fmla="*/ 4661 h 7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 h="7743">
                  <a:moveTo>
                    <a:pt x="12224" y="4661"/>
                  </a:moveTo>
                  <a:lnTo>
                    <a:pt x="498" y="0"/>
                  </a:lnTo>
                  <a:lnTo>
                    <a:pt x="0" y="7743"/>
                  </a:lnTo>
                  <a:lnTo>
                    <a:pt x="12711" y="6473"/>
                  </a:lnTo>
                  <a:lnTo>
                    <a:pt x="12224"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58" name="Group 190">
              <a:extLst>
                <a:ext uri="{FF2B5EF4-FFF2-40B4-BE49-F238E27FC236}">
                  <a16:creationId xmlns:a16="http://schemas.microsoft.com/office/drawing/2014/main" id="{F12EFD77-1ED9-6B45-9162-440ED30B8E2D}"/>
                </a:ext>
              </a:extLst>
            </p:cNvPr>
            <p:cNvGrpSpPr>
              <a:grpSpLocks/>
            </p:cNvGrpSpPr>
            <p:nvPr/>
          </p:nvGrpSpPr>
          <p:grpSpPr bwMode="auto">
            <a:xfrm flipH="1">
              <a:off x="6823075" y="3304617"/>
              <a:ext cx="350533" cy="375186"/>
              <a:chOff x="-44" y="1473"/>
              <a:chExt cx="981" cy="1105"/>
            </a:xfrm>
          </p:grpSpPr>
          <p:pic>
            <p:nvPicPr>
              <p:cNvPr id="194" name="Picture 191" descr="desktop_computer_stylized_medium">
                <a:extLst>
                  <a:ext uri="{FF2B5EF4-FFF2-40B4-BE49-F238E27FC236}">
                    <a16:creationId xmlns:a16="http://schemas.microsoft.com/office/drawing/2014/main" id="{86973CCF-C1DF-0841-9018-188BE9D90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 name="Freeform 192">
                <a:extLst>
                  <a:ext uri="{FF2B5EF4-FFF2-40B4-BE49-F238E27FC236}">
                    <a16:creationId xmlns:a16="http://schemas.microsoft.com/office/drawing/2014/main" id="{1BA2C98A-B2E0-1342-9C53-DFB6BA77407C}"/>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59" name="Group 158">
              <a:extLst>
                <a:ext uri="{FF2B5EF4-FFF2-40B4-BE49-F238E27FC236}">
                  <a16:creationId xmlns:a16="http://schemas.microsoft.com/office/drawing/2014/main" id="{B7C3CAC9-57A9-1945-80E8-09659DEFBF5A}"/>
                </a:ext>
              </a:extLst>
            </p:cNvPr>
            <p:cNvGrpSpPr/>
            <p:nvPr/>
          </p:nvGrpSpPr>
          <p:grpSpPr>
            <a:xfrm>
              <a:off x="6454273" y="3142891"/>
              <a:ext cx="264027" cy="451210"/>
              <a:chOff x="5831973" y="4101740"/>
              <a:chExt cx="295777" cy="502587"/>
            </a:xfrm>
          </p:grpSpPr>
          <p:sp>
            <p:nvSpPr>
              <p:cNvPr id="160" name="Rectangle 24">
                <a:extLst>
                  <a:ext uri="{FF2B5EF4-FFF2-40B4-BE49-F238E27FC236}">
                    <a16:creationId xmlns:a16="http://schemas.microsoft.com/office/drawing/2014/main" id="{9BCBF979-1AB3-4D4C-B901-DF34754E95CA}"/>
                  </a:ext>
                </a:extLst>
              </p:cNvPr>
              <p:cNvSpPr>
                <a:spLocks noChangeArrowheads="1"/>
              </p:cNvSpPr>
              <p:nvPr/>
            </p:nvSpPr>
            <p:spPr bwMode="auto">
              <a:xfrm>
                <a:off x="5831973" y="4101740"/>
                <a:ext cx="295777" cy="502587"/>
              </a:xfrm>
              <a:prstGeom prst="rect">
                <a:avLst/>
              </a:prstGeom>
              <a:solidFill>
                <a:srgbClr val="FFFFFF"/>
              </a:solidFill>
              <a:ln w="9525">
                <a:solidFill>
                  <a:srgbClr val="000000"/>
                </a:solidFill>
                <a:miter lim="800000"/>
                <a:headEnd/>
                <a:tailEnd/>
              </a:ln>
              <a:effectLst>
                <a:outerShdw blurRad="50800" dist="38100" dir="2700000" algn="tl" rotWithShape="0">
                  <a:prstClr val="black">
                    <a:alpha val="40000"/>
                  </a:prstClr>
                </a:outerShdw>
              </a:effec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61" name="Group 160">
                <a:extLst>
                  <a:ext uri="{FF2B5EF4-FFF2-40B4-BE49-F238E27FC236}">
                    <a16:creationId xmlns:a16="http://schemas.microsoft.com/office/drawing/2014/main" id="{20089A24-B476-774D-9E8B-49EF82FD4800}"/>
                  </a:ext>
                </a:extLst>
              </p:cNvPr>
              <p:cNvGrpSpPr/>
              <p:nvPr/>
            </p:nvGrpSpPr>
            <p:grpSpPr>
              <a:xfrm>
                <a:off x="5832475" y="4197350"/>
                <a:ext cx="295275" cy="307975"/>
                <a:chOff x="5832475" y="4197350"/>
                <a:chExt cx="295275" cy="307975"/>
              </a:xfrm>
            </p:grpSpPr>
            <p:cxnSp>
              <p:nvCxnSpPr>
                <p:cNvPr id="162" name="Straight Connector 161">
                  <a:extLst>
                    <a:ext uri="{FF2B5EF4-FFF2-40B4-BE49-F238E27FC236}">
                      <a16:creationId xmlns:a16="http://schemas.microsoft.com/office/drawing/2014/main" id="{5F09FA03-D6E3-7A4D-8049-92D0A194764C}"/>
                    </a:ext>
                  </a:extLst>
                </p:cNvPr>
                <p:cNvCxnSpPr>
                  <a:cxnSpLocks/>
                </p:cNvCxnSpPr>
                <p:nvPr/>
              </p:nvCxnSpPr>
              <p:spPr>
                <a:xfrm>
                  <a:off x="5835650" y="430530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EA0EBC5D-D027-824C-A722-68415C4F414C}"/>
                    </a:ext>
                  </a:extLst>
                </p:cNvPr>
                <p:cNvCxnSpPr>
                  <a:cxnSpLocks/>
                </p:cNvCxnSpPr>
                <p:nvPr/>
              </p:nvCxnSpPr>
              <p:spPr>
                <a:xfrm>
                  <a:off x="5835650" y="41973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05A996D-CE7D-CE46-9EA4-5FC548A3380F}"/>
                    </a:ext>
                  </a:extLst>
                </p:cNvPr>
                <p:cNvCxnSpPr>
                  <a:cxnSpLocks/>
                </p:cNvCxnSpPr>
                <p:nvPr/>
              </p:nvCxnSpPr>
              <p:spPr>
                <a:xfrm>
                  <a:off x="5832475" y="4413250"/>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5C053301-7047-704A-A52B-F49445AABC22}"/>
                    </a:ext>
                  </a:extLst>
                </p:cNvPr>
                <p:cNvCxnSpPr>
                  <a:cxnSpLocks/>
                </p:cNvCxnSpPr>
                <p:nvPr/>
              </p:nvCxnSpPr>
              <p:spPr>
                <a:xfrm>
                  <a:off x="5832475" y="4505325"/>
                  <a:ext cx="29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27" name="Freeform 26">
            <a:extLst>
              <a:ext uri="{FF2B5EF4-FFF2-40B4-BE49-F238E27FC236}">
                <a16:creationId xmlns:a16="http://schemas.microsoft.com/office/drawing/2014/main" id="{F36AC441-14B9-214A-9BCB-978EA6F915F7}"/>
              </a:ext>
            </a:extLst>
          </p:cNvPr>
          <p:cNvSpPr/>
          <p:nvPr/>
        </p:nvSpPr>
        <p:spPr>
          <a:xfrm>
            <a:off x="4223838" y="4617911"/>
            <a:ext cx="1958882" cy="1476814"/>
          </a:xfrm>
          <a:custGeom>
            <a:avLst/>
            <a:gdLst>
              <a:gd name="connsiteX0" fmla="*/ 0 w 1809670"/>
              <a:gd name="connsiteY0" fmla="*/ 1560984 h 1560984"/>
              <a:gd name="connsiteX1" fmla="*/ 0 w 1809670"/>
              <a:gd name="connsiteY1" fmla="*/ 1560984 h 1560984"/>
              <a:gd name="connsiteX2" fmla="*/ 765188 w 1809670"/>
              <a:gd name="connsiteY2" fmla="*/ 1059786 h 1560984"/>
              <a:gd name="connsiteX3" fmla="*/ 1086567 w 1809670"/>
              <a:gd name="connsiteY3" fmla="*/ 1055960 h 1560984"/>
              <a:gd name="connsiteX4" fmla="*/ 1798193 w 1809670"/>
              <a:gd name="connsiteY4" fmla="*/ 780492 h 1560984"/>
              <a:gd name="connsiteX5" fmla="*/ 1809670 w 1809670"/>
              <a:gd name="connsiteY5" fmla="*/ 623629 h 1560984"/>
              <a:gd name="connsiteX6" fmla="*/ 1136305 w 1809670"/>
              <a:gd name="connsiteY6" fmla="*/ 218079 h 1560984"/>
              <a:gd name="connsiteX7" fmla="*/ 1178390 w 1809670"/>
              <a:gd name="connsiteY7" fmla="*/ 0 h 1560984"/>
              <a:gd name="connsiteX0" fmla="*/ 3826 w 1813496"/>
              <a:gd name="connsiteY0" fmla="*/ 1560984 h 1560984"/>
              <a:gd name="connsiteX1" fmla="*/ 0 w 1813496"/>
              <a:gd name="connsiteY1" fmla="*/ 1358209 h 1560984"/>
              <a:gd name="connsiteX2" fmla="*/ 769014 w 1813496"/>
              <a:gd name="connsiteY2" fmla="*/ 1059786 h 1560984"/>
              <a:gd name="connsiteX3" fmla="*/ 1090393 w 1813496"/>
              <a:gd name="connsiteY3" fmla="*/ 1055960 h 1560984"/>
              <a:gd name="connsiteX4" fmla="*/ 1802019 w 1813496"/>
              <a:gd name="connsiteY4" fmla="*/ 780492 h 1560984"/>
              <a:gd name="connsiteX5" fmla="*/ 1813496 w 1813496"/>
              <a:gd name="connsiteY5" fmla="*/ 623629 h 1560984"/>
              <a:gd name="connsiteX6" fmla="*/ 1140131 w 1813496"/>
              <a:gd name="connsiteY6" fmla="*/ 218079 h 1560984"/>
              <a:gd name="connsiteX7" fmla="*/ 1182216 w 1813496"/>
              <a:gd name="connsiteY7" fmla="*/ 0 h 1560984"/>
              <a:gd name="connsiteX0" fmla="*/ 57824 w 1867494"/>
              <a:gd name="connsiteY0" fmla="*/ 1560984 h 1560984"/>
              <a:gd name="connsiteX1" fmla="*/ 53998 w 1867494"/>
              <a:gd name="connsiteY1" fmla="*/ 1358209 h 1560984"/>
              <a:gd name="connsiteX2" fmla="*/ 796231 w 1867494"/>
              <a:gd name="connsiteY2" fmla="*/ 1048308 h 1560984"/>
              <a:gd name="connsiteX3" fmla="*/ 1144391 w 1867494"/>
              <a:gd name="connsiteY3" fmla="*/ 1055960 h 1560984"/>
              <a:gd name="connsiteX4" fmla="*/ 1856017 w 1867494"/>
              <a:gd name="connsiteY4" fmla="*/ 780492 h 1560984"/>
              <a:gd name="connsiteX5" fmla="*/ 1867494 w 1867494"/>
              <a:gd name="connsiteY5" fmla="*/ 623629 h 1560984"/>
              <a:gd name="connsiteX6" fmla="*/ 1194129 w 1867494"/>
              <a:gd name="connsiteY6" fmla="*/ 218079 h 1560984"/>
              <a:gd name="connsiteX7" fmla="*/ 1236214 w 1867494"/>
              <a:gd name="connsiteY7" fmla="*/ 0 h 1560984"/>
              <a:gd name="connsiteX0" fmla="*/ 0 w 1809670"/>
              <a:gd name="connsiteY0" fmla="*/ 1560984 h 1560984"/>
              <a:gd name="connsiteX1" fmla="*/ 738407 w 1809670"/>
              <a:gd name="connsiteY1" fmla="*/ 1048308 h 1560984"/>
              <a:gd name="connsiteX2" fmla="*/ 1086567 w 1809670"/>
              <a:gd name="connsiteY2" fmla="*/ 1055960 h 1560984"/>
              <a:gd name="connsiteX3" fmla="*/ 1798193 w 1809670"/>
              <a:gd name="connsiteY3" fmla="*/ 780492 h 1560984"/>
              <a:gd name="connsiteX4" fmla="*/ 1809670 w 1809670"/>
              <a:gd name="connsiteY4" fmla="*/ 623629 h 1560984"/>
              <a:gd name="connsiteX5" fmla="*/ 1136305 w 1809670"/>
              <a:gd name="connsiteY5" fmla="*/ 218079 h 1560984"/>
              <a:gd name="connsiteX6" fmla="*/ 1178390 w 1809670"/>
              <a:gd name="connsiteY6" fmla="*/ 0 h 1560984"/>
              <a:gd name="connsiteX0" fmla="*/ 0 w 1882363"/>
              <a:gd name="connsiteY0" fmla="*/ 1476814 h 1476814"/>
              <a:gd name="connsiteX1" fmla="*/ 811100 w 1882363"/>
              <a:gd name="connsiteY1" fmla="*/ 1048308 h 1476814"/>
              <a:gd name="connsiteX2" fmla="*/ 1159260 w 1882363"/>
              <a:gd name="connsiteY2" fmla="*/ 1055960 h 1476814"/>
              <a:gd name="connsiteX3" fmla="*/ 1870886 w 1882363"/>
              <a:gd name="connsiteY3" fmla="*/ 780492 h 1476814"/>
              <a:gd name="connsiteX4" fmla="*/ 1882363 w 1882363"/>
              <a:gd name="connsiteY4" fmla="*/ 623629 h 1476814"/>
              <a:gd name="connsiteX5" fmla="*/ 1208998 w 1882363"/>
              <a:gd name="connsiteY5" fmla="*/ 218079 h 1476814"/>
              <a:gd name="connsiteX6" fmla="*/ 1251083 w 1882363"/>
              <a:gd name="connsiteY6" fmla="*/ 0 h 1476814"/>
              <a:gd name="connsiteX0" fmla="*/ 0 w 1958882"/>
              <a:gd name="connsiteY0" fmla="*/ 1476814 h 1476814"/>
              <a:gd name="connsiteX1" fmla="*/ 887619 w 1958882"/>
              <a:gd name="connsiteY1" fmla="*/ 1048308 h 1476814"/>
              <a:gd name="connsiteX2" fmla="*/ 1235779 w 1958882"/>
              <a:gd name="connsiteY2" fmla="*/ 1055960 h 1476814"/>
              <a:gd name="connsiteX3" fmla="*/ 1947405 w 1958882"/>
              <a:gd name="connsiteY3" fmla="*/ 780492 h 1476814"/>
              <a:gd name="connsiteX4" fmla="*/ 1958882 w 1958882"/>
              <a:gd name="connsiteY4" fmla="*/ 623629 h 1476814"/>
              <a:gd name="connsiteX5" fmla="*/ 1285517 w 1958882"/>
              <a:gd name="connsiteY5" fmla="*/ 218079 h 1476814"/>
              <a:gd name="connsiteX6" fmla="*/ 1327602 w 1958882"/>
              <a:gd name="connsiteY6" fmla="*/ 0 h 1476814"/>
              <a:gd name="connsiteX0" fmla="*/ 0 w 1958882"/>
              <a:gd name="connsiteY0" fmla="*/ 1476814 h 1476814"/>
              <a:gd name="connsiteX1" fmla="*/ 887619 w 1958882"/>
              <a:gd name="connsiteY1" fmla="*/ 1048308 h 1476814"/>
              <a:gd name="connsiteX2" fmla="*/ 1235779 w 1958882"/>
              <a:gd name="connsiteY2" fmla="*/ 1055960 h 1476814"/>
              <a:gd name="connsiteX3" fmla="*/ 1947405 w 1958882"/>
              <a:gd name="connsiteY3" fmla="*/ 780492 h 1476814"/>
              <a:gd name="connsiteX4" fmla="*/ 1958882 w 1958882"/>
              <a:gd name="connsiteY4" fmla="*/ 623629 h 1476814"/>
              <a:gd name="connsiteX5" fmla="*/ 1285517 w 1958882"/>
              <a:gd name="connsiteY5" fmla="*/ 218079 h 1476814"/>
              <a:gd name="connsiteX6" fmla="*/ 1327602 w 1958882"/>
              <a:gd name="connsiteY6" fmla="*/ 0 h 147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882" h="1476814">
                <a:moveTo>
                  <a:pt x="0" y="1476814"/>
                </a:moveTo>
                <a:cubicBezTo>
                  <a:pt x="192094" y="1377658"/>
                  <a:pt x="706525" y="1132479"/>
                  <a:pt x="887619" y="1048308"/>
                </a:cubicBezTo>
                <a:lnTo>
                  <a:pt x="1235779" y="1055960"/>
                </a:lnTo>
                <a:lnTo>
                  <a:pt x="1947405" y="780492"/>
                </a:lnTo>
                <a:lnTo>
                  <a:pt x="1958882" y="623629"/>
                </a:lnTo>
                <a:lnTo>
                  <a:pt x="1285517" y="218079"/>
                </a:lnTo>
                <a:lnTo>
                  <a:pt x="1327602" y="0"/>
                </a:lnTo>
              </a:path>
            </a:pathLst>
          </a:cu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 name="Oval 27">
            <a:extLst>
              <a:ext uri="{FF2B5EF4-FFF2-40B4-BE49-F238E27FC236}">
                <a16:creationId xmlns:a16="http://schemas.microsoft.com/office/drawing/2014/main" id="{47B171D8-935D-0F43-9FDB-7A32B04E971D}"/>
              </a:ext>
            </a:extLst>
          </p:cNvPr>
          <p:cNvSpPr/>
          <p:nvPr/>
        </p:nvSpPr>
        <p:spPr>
          <a:xfrm>
            <a:off x="5543550" y="5391150"/>
            <a:ext cx="133350" cy="371475"/>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9" name="Slide Number Placeholder 2">
            <a:extLst>
              <a:ext uri="{FF2B5EF4-FFF2-40B4-BE49-F238E27FC236}">
                <a16:creationId xmlns:a16="http://schemas.microsoft.com/office/drawing/2014/main" id="{CE78A417-FD79-B646-BFE4-E2CED177C180}"/>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58</a:t>
            </a:fld>
            <a:endParaRPr lang="en-US" dirty="0"/>
          </a:p>
        </p:txBody>
      </p:sp>
    </p:spTree>
    <p:extLst>
      <p:ext uri="{BB962C8B-B14F-4D97-AF65-F5344CB8AC3E}">
        <p14:creationId xmlns:p14="http://schemas.microsoft.com/office/powerpoint/2010/main" val="226618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EBE03E1-A40C-1E40-BB55-6DDFE64A0442}"/>
              </a:ext>
            </a:extLst>
          </p:cNvPr>
          <p:cNvGrpSpPr/>
          <p:nvPr/>
        </p:nvGrpSpPr>
        <p:grpSpPr>
          <a:xfrm>
            <a:off x="4094463" y="4691367"/>
            <a:ext cx="2885057" cy="1481137"/>
            <a:chOff x="4094463" y="4691367"/>
            <a:chExt cx="2885057" cy="1481137"/>
          </a:xfrm>
        </p:grpSpPr>
        <p:sp>
          <p:nvSpPr>
            <p:cNvPr id="189" name="Freeform 2">
              <a:extLst>
                <a:ext uri="{FF2B5EF4-FFF2-40B4-BE49-F238E27FC236}">
                  <a16:creationId xmlns:a16="http://schemas.microsoft.com/office/drawing/2014/main" id="{9A546185-6077-2340-8A96-0F02D5D7C779}"/>
                </a:ext>
              </a:extLst>
            </p:cNvPr>
            <p:cNvSpPr>
              <a:spLocks/>
            </p:cNvSpPr>
            <p:nvPr/>
          </p:nvSpPr>
          <p:spPr bwMode="auto">
            <a:xfrm>
              <a:off x="4129957" y="4691367"/>
              <a:ext cx="2849563"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40979929-3895-E541-88C5-08B90173C1D4}"/>
                </a:ext>
              </a:extLst>
            </p:cNvPr>
            <p:cNvGrpSpPr/>
            <p:nvPr/>
          </p:nvGrpSpPr>
          <p:grpSpPr>
            <a:xfrm>
              <a:off x="5035264" y="5554092"/>
              <a:ext cx="496248" cy="260542"/>
              <a:chOff x="7141236" y="6068702"/>
              <a:chExt cx="496248" cy="260542"/>
            </a:xfrm>
          </p:grpSpPr>
          <p:sp>
            <p:nvSpPr>
              <p:cNvPr id="357" name="Freeform 356">
                <a:extLst>
                  <a:ext uri="{FF2B5EF4-FFF2-40B4-BE49-F238E27FC236}">
                    <a16:creationId xmlns:a16="http://schemas.microsoft.com/office/drawing/2014/main" id="{0CA65D85-D056-864E-B0EC-70D8C181B47E}"/>
                  </a:ext>
                </a:extLst>
              </p:cNvPr>
              <p:cNvSpPr/>
              <p:nvPr/>
            </p:nvSpPr>
            <p:spPr>
              <a:xfrm>
                <a:off x="7141236" y="6158887"/>
                <a:ext cx="496248" cy="17035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bg1"/>
                  </a:gs>
                  <a:gs pos="51000">
                    <a:srgbClr val="ED356A"/>
                  </a:gs>
                  <a:gs pos="100000">
                    <a:srgbClr val="E40000"/>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8" name="Oval 357">
                <a:extLst>
                  <a:ext uri="{FF2B5EF4-FFF2-40B4-BE49-F238E27FC236}">
                    <a16:creationId xmlns:a16="http://schemas.microsoft.com/office/drawing/2014/main" id="{09E25CE5-3538-A147-95F2-FE0F002533C9}"/>
                  </a:ext>
                </a:extLst>
              </p:cNvPr>
              <p:cNvSpPr/>
              <p:nvPr/>
            </p:nvSpPr>
            <p:spPr>
              <a:xfrm>
                <a:off x="7141522" y="6068702"/>
                <a:ext cx="495647" cy="168664"/>
              </a:xfrm>
              <a:prstGeom prst="ellipse">
                <a:avLst/>
              </a:prstGeom>
              <a:solidFill>
                <a:srgbClr val="FA37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59" name="Group 358">
                <a:extLst>
                  <a:ext uri="{FF2B5EF4-FFF2-40B4-BE49-F238E27FC236}">
                    <a16:creationId xmlns:a16="http://schemas.microsoft.com/office/drawing/2014/main" id="{B88C1E52-4F13-B54A-A8B3-B882AA5360C7}"/>
                  </a:ext>
                </a:extLst>
              </p:cNvPr>
              <p:cNvGrpSpPr/>
              <p:nvPr/>
            </p:nvGrpSpPr>
            <p:grpSpPr>
              <a:xfrm>
                <a:off x="7214834" y="6090139"/>
                <a:ext cx="348960" cy="123931"/>
                <a:chOff x="7786941" y="2884917"/>
                <a:chExt cx="897649" cy="353919"/>
              </a:xfrm>
            </p:grpSpPr>
            <p:sp>
              <p:nvSpPr>
                <p:cNvPr id="360" name="Freeform 359">
                  <a:extLst>
                    <a:ext uri="{FF2B5EF4-FFF2-40B4-BE49-F238E27FC236}">
                      <a16:creationId xmlns:a16="http://schemas.microsoft.com/office/drawing/2014/main" id="{3EA6F082-8061-C547-AAD1-5C5B1680910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1" name="Freeform 360">
                  <a:extLst>
                    <a:ext uri="{FF2B5EF4-FFF2-40B4-BE49-F238E27FC236}">
                      <a16:creationId xmlns:a16="http://schemas.microsoft.com/office/drawing/2014/main" id="{F527C5CB-65A2-E34A-A65A-93F1139F95B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2" name="Freeform 361">
                  <a:extLst>
                    <a:ext uri="{FF2B5EF4-FFF2-40B4-BE49-F238E27FC236}">
                      <a16:creationId xmlns:a16="http://schemas.microsoft.com/office/drawing/2014/main" id="{6DE3C8BD-23FE-754A-9456-20EB1F93DA1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3" name="Freeform 362">
                  <a:extLst>
                    <a:ext uri="{FF2B5EF4-FFF2-40B4-BE49-F238E27FC236}">
                      <a16:creationId xmlns:a16="http://schemas.microsoft.com/office/drawing/2014/main" id="{71C34D50-69A1-0E47-8F12-8F6635D2135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23" name="Group 322">
              <a:extLst>
                <a:ext uri="{FF2B5EF4-FFF2-40B4-BE49-F238E27FC236}">
                  <a16:creationId xmlns:a16="http://schemas.microsoft.com/office/drawing/2014/main" id="{8E9AE0DE-57F1-DA47-841B-AF1526D27381}"/>
                </a:ext>
              </a:extLst>
            </p:cNvPr>
            <p:cNvGrpSpPr/>
            <p:nvPr/>
          </p:nvGrpSpPr>
          <p:grpSpPr>
            <a:xfrm>
              <a:off x="6131364" y="5156690"/>
              <a:ext cx="496248" cy="260542"/>
              <a:chOff x="7493876" y="2774731"/>
              <a:chExt cx="1481958" cy="894622"/>
            </a:xfrm>
          </p:grpSpPr>
          <p:sp>
            <p:nvSpPr>
              <p:cNvPr id="324" name="Freeform 323">
                <a:extLst>
                  <a:ext uri="{FF2B5EF4-FFF2-40B4-BE49-F238E27FC236}">
                    <a16:creationId xmlns:a16="http://schemas.microsoft.com/office/drawing/2014/main" id="{36B5E314-D824-564B-8B99-7428AA61BC7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25" name="Oval 324">
                <a:extLst>
                  <a:ext uri="{FF2B5EF4-FFF2-40B4-BE49-F238E27FC236}">
                    <a16:creationId xmlns:a16="http://schemas.microsoft.com/office/drawing/2014/main" id="{B5687DE2-7AEB-C94F-BD77-B787BED6A85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26" name="Group 325">
                <a:extLst>
                  <a:ext uri="{FF2B5EF4-FFF2-40B4-BE49-F238E27FC236}">
                    <a16:creationId xmlns:a16="http://schemas.microsoft.com/office/drawing/2014/main" id="{3F1D081E-C670-EB42-8157-542B25715236}"/>
                  </a:ext>
                </a:extLst>
              </p:cNvPr>
              <p:cNvGrpSpPr/>
              <p:nvPr/>
            </p:nvGrpSpPr>
            <p:grpSpPr>
              <a:xfrm>
                <a:off x="7713663" y="2848339"/>
                <a:ext cx="1042107" cy="425543"/>
                <a:chOff x="7786941" y="2884917"/>
                <a:chExt cx="897649" cy="353919"/>
              </a:xfrm>
            </p:grpSpPr>
            <p:sp>
              <p:nvSpPr>
                <p:cNvPr id="327" name="Freeform 326">
                  <a:extLst>
                    <a:ext uri="{FF2B5EF4-FFF2-40B4-BE49-F238E27FC236}">
                      <a16:creationId xmlns:a16="http://schemas.microsoft.com/office/drawing/2014/main" id="{76FD901E-7447-6044-941D-D8D53016227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8" name="Freeform 327">
                  <a:extLst>
                    <a:ext uri="{FF2B5EF4-FFF2-40B4-BE49-F238E27FC236}">
                      <a16:creationId xmlns:a16="http://schemas.microsoft.com/office/drawing/2014/main" id="{C65D72F4-D1BF-A743-A4CF-A3061301D2F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9" name="Freeform 328">
                  <a:extLst>
                    <a:ext uri="{FF2B5EF4-FFF2-40B4-BE49-F238E27FC236}">
                      <a16:creationId xmlns:a16="http://schemas.microsoft.com/office/drawing/2014/main" id="{24042695-10E5-4D4B-8766-D9D97DE34F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0" name="Freeform 329">
                  <a:extLst>
                    <a:ext uri="{FF2B5EF4-FFF2-40B4-BE49-F238E27FC236}">
                      <a16:creationId xmlns:a16="http://schemas.microsoft.com/office/drawing/2014/main" id="{C8D82D6B-3965-DC48-A8D4-5025EC499BC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32" name="Group 331">
              <a:extLst>
                <a:ext uri="{FF2B5EF4-FFF2-40B4-BE49-F238E27FC236}">
                  <a16:creationId xmlns:a16="http://schemas.microsoft.com/office/drawing/2014/main" id="{0CFE465D-7641-7541-9496-4029B9355B5A}"/>
                </a:ext>
              </a:extLst>
            </p:cNvPr>
            <p:cNvGrpSpPr/>
            <p:nvPr/>
          </p:nvGrpSpPr>
          <p:grpSpPr>
            <a:xfrm>
              <a:off x="5122533" y="4861037"/>
              <a:ext cx="496248" cy="260542"/>
              <a:chOff x="7493876" y="2774731"/>
              <a:chExt cx="1481958" cy="894622"/>
            </a:xfrm>
          </p:grpSpPr>
          <p:sp>
            <p:nvSpPr>
              <p:cNvPr id="333" name="Freeform 332">
                <a:extLst>
                  <a:ext uri="{FF2B5EF4-FFF2-40B4-BE49-F238E27FC236}">
                    <a16:creationId xmlns:a16="http://schemas.microsoft.com/office/drawing/2014/main" id="{3B041F3E-CB88-8F4B-84D4-1214776D36E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34" name="Oval 333">
                <a:extLst>
                  <a:ext uri="{FF2B5EF4-FFF2-40B4-BE49-F238E27FC236}">
                    <a16:creationId xmlns:a16="http://schemas.microsoft.com/office/drawing/2014/main" id="{08136920-F30D-BC4E-A92D-0ABD2EC7437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35" name="Group 334">
                <a:extLst>
                  <a:ext uri="{FF2B5EF4-FFF2-40B4-BE49-F238E27FC236}">
                    <a16:creationId xmlns:a16="http://schemas.microsoft.com/office/drawing/2014/main" id="{2BE80152-BCA5-CA46-9EE7-63649D7FE819}"/>
                  </a:ext>
                </a:extLst>
              </p:cNvPr>
              <p:cNvGrpSpPr/>
              <p:nvPr/>
            </p:nvGrpSpPr>
            <p:grpSpPr>
              <a:xfrm>
                <a:off x="7713663" y="2848339"/>
                <a:ext cx="1042107" cy="425543"/>
                <a:chOff x="7786941" y="2884917"/>
                <a:chExt cx="897649" cy="353919"/>
              </a:xfrm>
            </p:grpSpPr>
            <p:sp>
              <p:nvSpPr>
                <p:cNvPr id="336" name="Freeform 335">
                  <a:extLst>
                    <a:ext uri="{FF2B5EF4-FFF2-40B4-BE49-F238E27FC236}">
                      <a16:creationId xmlns:a16="http://schemas.microsoft.com/office/drawing/2014/main" id="{2518C53F-685F-074F-8F4E-E3A4CB26913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7" name="Freeform 336">
                  <a:extLst>
                    <a:ext uri="{FF2B5EF4-FFF2-40B4-BE49-F238E27FC236}">
                      <a16:creationId xmlns:a16="http://schemas.microsoft.com/office/drawing/2014/main" id="{F1578F2C-5505-EB45-9014-BAD0AFEA429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8" name="Freeform 337">
                  <a:extLst>
                    <a:ext uri="{FF2B5EF4-FFF2-40B4-BE49-F238E27FC236}">
                      <a16:creationId xmlns:a16="http://schemas.microsoft.com/office/drawing/2014/main" id="{DD91E8C8-92AC-E446-ABF1-F7D54921C4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9" name="Freeform 338">
                  <a:extLst>
                    <a:ext uri="{FF2B5EF4-FFF2-40B4-BE49-F238E27FC236}">
                      <a16:creationId xmlns:a16="http://schemas.microsoft.com/office/drawing/2014/main" id="{69F33027-F122-C445-923E-09F2AEB27B0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0" name="Group 339">
              <a:extLst>
                <a:ext uri="{FF2B5EF4-FFF2-40B4-BE49-F238E27FC236}">
                  <a16:creationId xmlns:a16="http://schemas.microsoft.com/office/drawing/2014/main" id="{7D1E5FBB-CD41-884B-831B-682E5F6CE29F}"/>
                </a:ext>
              </a:extLst>
            </p:cNvPr>
            <p:cNvGrpSpPr/>
            <p:nvPr/>
          </p:nvGrpSpPr>
          <p:grpSpPr>
            <a:xfrm>
              <a:off x="4450588" y="5823254"/>
              <a:ext cx="496248" cy="260542"/>
              <a:chOff x="7493876" y="2774731"/>
              <a:chExt cx="1481958" cy="894622"/>
            </a:xfrm>
          </p:grpSpPr>
          <p:sp>
            <p:nvSpPr>
              <p:cNvPr id="341" name="Freeform 340">
                <a:extLst>
                  <a:ext uri="{FF2B5EF4-FFF2-40B4-BE49-F238E27FC236}">
                    <a16:creationId xmlns:a16="http://schemas.microsoft.com/office/drawing/2014/main" id="{F7ED3C1B-77D0-5A4C-B7A4-7B4162888DF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42" name="Oval 341">
                <a:extLst>
                  <a:ext uri="{FF2B5EF4-FFF2-40B4-BE49-F238E27FC236}">
                    <a16:creationId xmlns:a16="http://schemas.microsoft.com/office/drawing/2014/main" id="{C6C36B06-A393-AA49-97E2-CA983E530D4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43" name="Group 342">
                <a:extLst>
                  <a:ext uri="{FF2B5EF4-FFF2-40B4-BE49-F238E27FC236}">
                    <a16:creationId xmlns:a16="http://schemas.microsoft.com/office/drawing/2014/main" id="{55B6028F-C8FE-5347-9982-246E1F0DEC3F}"/>
                  </a:ext>
                </a:extLst>
              </p:cNvPr>
              <p:cNvGrpSpPr/>
              <p:nvPr/>
            </p:nvGrpSpPr>
            <p:grpSpPr>
              <a:xfrm>
                <a:off x="7713663" y="2848339"/>
                <a:ext cx="1042107" cy="425543"/>
                <a:chOff x="7786941" y="2884917"/>
                <a:chExt cx="897649" cy="353919"/>
              </a:xfrm>
            </p:grpSpPr>
            <p:sp>
              <p:nvSpPr>
                <p:cNvPr id="344" name="Freeform 343">
                  <a:extLst>
                    <a:ext uri="{FF2B5EF4-FFF2-40B4-BE49-F238E27FC236}">
                      <a16:creationId xmlns:a16="http://schemas.microsoft.com/office/drawing/2014/main" id="{D9135A62-DBD4-4E48-B166-943E0258FD8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5" name="Freeform 344">
                  <a:extLst>
                    <a:ext uri="{FF2B5EF4-FFF2-40B4-BE49-F238E27FC236}">
                      <a16:creationId xmlns:a16="http://schemas.microsoft.com/office/drawing/2014/main" id="{A6CD8C01-7ACD-9047-AF09-4509FAD01ED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6" name="Freeform 345">
                  <a:extLst>
                    <a:ext uri="{FF2B5EF4-FFF2-40B4-BE49-F238E27FC236}">
                      <a16:creationId xmlns:a16="http://schemas.microsoft.com/office/drawing/2014/main" id="{9834EEC0-E73C-C84D-B165-574B3980957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7" name="Freeform 346">
                  <a:extLst>
                    <a:ext uri="{FF2B5EF4-FFF2-40B4-BE49-F238E27FC236}">
                      <a16:creationId xmlns:a16="http://schemas.microsoft.com/office/drawing/2014/main" id="{2D12A304-34D8-9442-9CED-FBB7F0B8D26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8" name="Group 347">
              <a:extLst>
                <a:ext uri="{FF2B5EF4-FFF2-40B4-BE49-F238E27FC236}">
                  <a16:creationId xmlns:a16="http://schemas.microsoft.com/office/drawing/2014/main" id="{B39672A6-77C4-5F43-BD22-8EBBBB1DACC3}"/>
                </a:ext>
              </a:extLst>
            </p:cNvPr>
            <p:cNvGrpSpPr/>
            <p:nvPr/>
          </p:nvGrpSpPr>
          <p:grpSpPr>
            <a:xfrm>
              <a:off x="4094463" y="5164346"/>
              <a:ext cx="496248" cy="260542"/>
              <a:chOff x="7493876" y="2774731"/>
              <a:chExt cx="1481958" cy="894622"/>
            </a:xfrm>
          </p:grpSpPr>
          <p:sp>
            <p:nvSpPr>
              <p:cNvPr id="349" name="Freeform 348">
                <a:extLst>
                  <a:ext uri="{FF2B5EF4-FFF2-40B4-BE49-F238E27FC236}">
                    <a16:creationId xmlns:a16="http://schemas.microsoft.com/office/drawing/2014/main" id="{6A952387-953F-784E-B4C8-2ED10819E94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0" name="Oval 349">
                <a:extLst>
                  <a:ext uri="{FF2B5EF4-FFF2-40B4-BE49-F238E27FC236}">
                    <a16:creationId xmlns:a16="http://schemas.microsoft.com/office/drawing/2014/main" id="{1758E986-D712-5440-AC7F-0F55B12BDD6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51" name="Group 350">
                <a:extLst>
                  <a:ext uri="{FF2B5EF4-FFF2-40B4-BE49-F238E27FC236}">
                    <a16:creationId xmlns:a16="http://schemas.microsoft.com/office/drawing/2014/main" id="{840B06B0-30F5-7E47-9591-50E2832B6A91}"/>
                  </a:ext>
                </a:extLst>
              </p:cNvPr>
              <p:cNvGrpSpPr/>
              <p:nvPr/>
            </p:nvGrpSpPr>
            <p:grpSpPr>
              <a:xfrm>
                <a:off x="7713663" y="2848339"/>
                <a:ext cx="1042107" cy="425543"/>
                <a:chOff x="7786941" y="2884917"/>
                <a:chExt cx="897649" cy="353919"/>
              </a:xfrm>
            </p:grpSpPr>
            <p:sp>
              <p:nvSpPr>
                <p:cNvPr id="352" name="Freeform 351">
                  <a:extLst>
                    <a:ext uri="{FF2B5EF4-FFF2-40B4-BE49-F238E27FC236}">
                      <a16:creationId xmlns:a16="http://schemas.microsoft.com/office/drawing/2014/main" id="{7CF1DA14-5159-F043-933A-4C22AECDE48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3" name="Freeform 352">
                  <a:extLst>
                    <a:ext uri="{FF2B5EF4-FFF2-40B4-BE49-F238E27FC236}">
                      <a16:creationId xmlns:a16="http://schemas.microsoft.com/office/drawing/2014/main" id="{54AAC614-B4B1-9047-8BBA-FE8D4A25981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4" name="Freeform 353">
                  <a:extLst>
                    <a:ext uri="{FF2B5EF4-FFF2-40B4-BE49-F238E27FC236}">
                      <a16:creationId xmlns:a16="http://schemas.microsoft.com/office/drawing/2014/main" id="{E59BE7CB-C32E-A346-95B4-3992B34807F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5" name="Freeform 354">
                  <a:extLst>
                    <a:ext uri="{FF2B5EF4-FFF2-40B4-BE49-F238E27FC236}">
                      <a16:creationId xmlns:a16="http://schemas.microsoft.com/office/drawing/2014/main" id="{CAEA8866-D7A6-6A49-8FE1-136D7DBEB0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90" name="Freeform 6">
              <a:extLst>
                <a:ext uri="{FF2B5EF4-FFF2-40B4-BE49-F238E27FC236}">
                  <a16:creationId xmlns:a16="http://schemas.microsoft.com/office/drawing/2014/main" id="{812505EE-DEAC-B44A-A839-759F29108CC2}"/>
                </a:ext>
              </a:extLst>
            </p:cNvPr>
            <p:cNvSpPr>
              <a:spLocks/>
            </p:cNvSpPr>
            <p:nvPr/>
          </p:nvSpPr>
          <p:spPr bwMode="auto">
            <a:xfrm>
              <a:off x="4581324" y="4994579"/>
              <a:ext cx="542925" cy="295275"/>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5" name="Freeform 91">
              <a:extLst>
                <a:ext uri="{FF2B5EF4-FFF2-40B4-BE49-F238E27FC236}">
                  <a16:creationId xmlns:a16="http://schemas.microsoft.com/office/drawing/2014/main" id="{76C479BA-ED38-4947-AD35-F635DF9E3E25}"/>
                </a:ext>
              </a:extLst>
            </p:cNvPr>
            <p:cNvSpPr>
              <a:spLocks/>
            </p:cNvSpPr>
            <p:nvPr/>
          </p:nvSpPr>
          <p:spPr bwMode="auto">
            <a:xfrm>
              <a:off x="5622724" y="4988229"/>
              <a:ext cx="506413" cy="30797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6" name="Freeform 92">
              <a:extLst>
                <a:ext uri="{FF2B5EF4-FFF2-40B4-BE49-F238E27FC236}">
                  <a16:creationId xmlns:a16="http://schemas.microsoft.com/office/drawing/2014/main" id="{124CDDC7-679C-D04E-9FD3-5181047829F5}"/>
                </a:ext>
              </a:extLst>
            </p:cNvPr>
            <p:cNvSpPr>
              <a:spLocks/>
            </p:cNvSpPr>
            <p:nvPr/>
          </p:nvSpPr>
          <p:spPr bwMode="auto">
            <a:xfrm>
              <a:off x="4557512" y="5380342"/>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Freeform 93">
              <a:extLst>
                <a:ext uri="{FF2B5EF4-FFF2-40B4-BE49-F238E27FC236}">
                  <a16:creationId xmlns:a16="http://schemas.microsoft.com/office/drawing/2014/main" id="{E2A83ACF-7B20-AC4B-83B1-FE92C60435AC}"/>
                </a:ext>
              </a:extLst>
            </p:cNvPr>
            <p:cNvSpPr>
              <a:spLocks/>
            </p:cNvSpPr>
            <p:nvPr/>
          </p:nvSpPr>
          <p:spPr bwMode="auto">
            <a:xfrm>
              <a:off x="5505249" y="5356529"/>
              <a:ext cx="630238" cy="247650"/>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8" name="Freeform 94">
              <a:extLst>
                <a:ext uri="{FF2B5EF4-FFF2-40B4-BE49-F238E27FC236}">
                  <a16:creationId xmlns:a16="http://schemas.microsoft.com/office/drawing/2014/main" id="{0B9C88EB-CE4C-1E43-BD78-4EA6BB3E66E3}"/>
                </a:ext>
              </a:extLst>
            </p:cNvPr>
            <p:cNvSpPr>
              <a:spLocks/>
            </p:cNvSpPr>
            <p:nvPr/>
          </p:nvSpPr>
          <p:spPr bwMode="auto">
            <a:xfrm>
              <a:off x="6173587" y="5410504"/>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9" name="Freeform 95">
              <a:extLst>
                <a:ext uri="{FF2B5EF4-FFF2-40B4-BE49-F238E27FC236}">
                  <a16:creationId xmlns:a16="http://schemas.microsoft.com/office/drawing/2014/main" id="{CFFC9FF4-E928-074A-8F72-9E180DF7971C}"/>
                </a:ext>
              </a:extLst>
            </p:cNvPr>
            <p:cNvSpPr>
              <a:spLocks/>
            </p:cNvSpPr>
            <p:nvPr/>
          </p:nvSpPr>
          <p:spPr bwMode="auto">
            <a:xfrm>
              <a:off x="4936923" y="5943904"/>
              <a:ext cx="970395" cy="81756"/>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0" name="Freeform 96">
              <a:extLst>
                <a:ext uri="{FF2B5EF4-FFF2-40B4-BE49-F238E27FC236}">
                  <a16:creationId xmlns:a16="http://schemas.microsoft.com/office/drawing/2014/main" id="{FC6453FD-735C-9F4A-B961-B872F0071128}"/>
                </a:ext>
              </a:extLst>
            </p:cNvPr>
            <p:cNvSpPr>
              <a:spLocks/>
            </p:cNvSpPr>
            <p:nvPr/>
          </p:nvSpPr>
          <p:spPr bwMode="auto">
            <a:xfrm>
              <a:off x="4400349" y="5424888"/>
              <a:ext cx="193675" cy="404716"/>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15" name="Group 314">
              <a:extLst>
                <a:ext uri="{FF2B5EF4-FFF2-40B4-BE49-F238E27FC236}">
                  <a16:creationId xmlns:a16="http://schemas.microsoft.com/office/drawing/2014/main" id="{4211C5D7-E98B-7448-9452-57EB36146678}"/>
                </a:ext>
              </a:extLst>
            </p:cNvPr>
            <p:cNvGrpSpPr/>
            <p:nvPr/>
          </p:nvGrpSpPr>
          <p:grpSpPr>
            <a:xfrm>
              <a:off x="5868328" y="5862061"/>
              <a:ext cx="496248" cy="260542"/>
              <a:chOff x="7493876" y="2774731"/>
              <a:chExt cx="1481958" cy="894622"/>
            </a:xfrm>
          </p:grpSpPr>
          <p:sp>
            <p:nvSpPr>
              <p:cNvPr id="316" name="Freeform 315">
                <a:extLst>
                  <a:ext uri="{FF2B5EF4-FFF2-40B4-BE49-F238E27FC236}">
                    <a16:creationId xmlns:a16="http://schemas.microsoft.com/office/drawing/2014/main" id="{8AB7F791-7AD9-F648-B2E0-B6E3683A8D5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17" name="Oval 316">
                <a:extLst>
                  <a:ext uri="{FF2B5EF4-FFF2-40B4-BE49-F238E27FC236}">
                    <a16:creationId xmlns:a16="http://schemas.microsoft.com/office/drawing/2014/main" id="{51E93EA3-17BD-B641-99CE-E84D1493A92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18" name="Group 317">
                <a:extLst>
                  <a:ext uri="{FF2B5EF4-FFF2-40B4-BE49-F238E27FC236}">
                    <a16:creationId xmlns:a16="http://schemas.microsoft.com/office/drawing/2014/main" id="{A5B4FD9C-501E-7F4E-A2DA-4DCEFCE3689E}"/>
                  </a:ext>
                </a:extLst>
              </p:cNvPr>
              <p:cNvGrpSpPr/>
              <p:nvPr/>
            </p:nvGrpSpPr>
            <p:grpSpPr>
              <a:xfrm>
                <a:off x="7713663" y="2848339"/>
                <a:ext cx="1042107" cy="425543"/>
                <a:chOff x="7786941" y="2884917"/>
                <a:chExt cx="897649" cy="353919"/>
              </a:xfrm>
            </p:grpSpPr>
            <p:sp>
              <p:nvSpPr>
                <p:cNvPr id="319" name="Freeform 318">
                  <a:extLst>
                    <a:ext uri="{FF2B5EF4-FFF2-40B4-BE49-F238E27FC236}">
                      <a16:creationId xmlns:a16="http://schemas.microsoft.com/office/drawing/2014/main" id="{1906F39B-C9B6-604F-8758-83430DECEA8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0" name="Freeform 319">
                  <a:extLst>
                    <a:ext uri="{FF2B5EF4-FFF2-40B4-BE49-F238E27FC236}">
                      <a16:creationId xmlns:a16="http://schemas.microsoft.com/office/drawing/2014/main" id="{91751636-4135-394E-B377-29D0624E77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1" name="Freeform 320">
                  <a:extLst>
                    <a:ext uri="{FF2B5EF4-FFF2-40B4-BE49-F238E27FC236}">
                      <a16:creationId xmlns:a16="http://schemas.microsoft.com/office/drawing/2014/main" id="{BB3193D0-B14F-724A-80B1-6F8EDE58A8F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2" name="Freeform 321">
                  <a:extLst>
                    <a:ext uri="{FF2B5EF4-FFF2-40B4-BE49-F238E27FC236}">
                      <a16:creationId xmlns:a16="http://schemas.microsoft.com/office/drawing/2014/main" id="{CF32363E-10AF-1643-8F6B-814910A9D63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60590" y="272143"/>
            <a:ext cx="11393310" cy="894622"/>
          </a:xfrm>
        </p:spPr>
        <p:txBody>
          <a:bodyPr>
            <a:normAutofit/>
          </a:bodyPr>
          <a:lstStyle/>
          <a:p>
            <a:r>
              <a:rPr lang="en-US" sz="4800" dirty="0"/>
              <a:t>TCP and the congested “bottleneck link”</a:t>
            </a:r>
            <a:endParaRPr lang="en-US" sz="4400" b="0" dirty="0"/>
          </a:p>
        </p:txBody>
      </p:sp>
      <p:sp>
        <p:nvSpPr>
          <p:cNvPr id="6" name="Rectangle 4">
            <a:extLst>
              <a:ext uri="{FF2B5EF4-FFF2-40B4-BE49-F238E27FC236}">
                <a16:creationId xmlns:a16="http://schemas.microsoft.com/office/drawing/2014/main" id="{A22F5639-C13F-8347-B6CF-B5A700C7EA84}"/>
              </a:ext>
            </a:extLst>
          </p:cNvPr>
          <p:cNvSpPr txBox="1">
            <a:spLocks noChangeArrowheads="1"/>
          </p:cNvSpPr>
          <p:nvPr/>
        </p:nvSpPr>
        <p:spPr>
          <a:xfrm>
            <a:off x="667043" y="1366203"/>
            <a:ext cx="11177587" cy="91517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159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TCP (classic, CUBIC) increase TCP’s sending rate until packet loss occurs at some router’s output: the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bottleneck link</a:t>
            </a:r>
          </a:p>
        </p:txBody>
      </p:sp>
      <p:sp>
        <p:nvSpPr>
          <p:cNvPr id="163" name="Text Box 8">
            <a:extLst>
              <a:ext uri="{FF2B5EF4-FFF2-40B4-BE49-F238E27FC236}">
                <a16:creationId xmlns:a16="http://schemas.microsoft.com/office/drawing/2014/main" id="{E65C3147-B6A2-674F-B175-C4411782BB14}"/>
              </a:ext>
            </a:extLst>
          </p:cNvPr>
          <p:cNvSpPr txBox="1">
            <a:spLocks noChangeArrowheads="1"/>
          </p:cNvSpPr>
          <p:nvPr/>
        </p:nvSpPr>
        <p:spPr bwMode="auto">
          <a:xfrm>
            <a:off x="3019425" y="3594045"/>
            <a:ext cx="711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source</a:t>
            </a:r>
            <a:endParaRPr kumimoji="0" lang="en-US" altLang="en-US" sz="2000" b="0" i="1"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endParaRPr>
          </a:p>
        </p:txBody>
      </p:sp>
      <p:sp>
        <p:nvSpPr>
          <p:cNvPr id="164" name="Freeform 10">
            <a:extLst>
              <a:ext uri="{FF2B5EF4-FFF2-40B4-BE49-F238E27FC236}">
                <a16:creationId xmlns:a16="http://schemas.microsoft.com/office/drawing/2014/main" id="{51065C6F-5BFC-8741-9747-71CCD0CC01B5}"/>
              </a:ext>
            </a:extLst>
          </p:cNvPr>
          <p:cNvSpPr>
            <a:spLocks/>
          </p:cNvSpPr>
          <p:nvPr/>
        </p:nvSpPr>
        <p:spPr bwMode="auto">
          <a:xfrm flipH="1">
            <a:off x="2481263" y="3925832"/>
            <a:ext cx="326408" cy="1262816"/>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5" name="Rectangle 23">
            <a:extLst>
              <a:ext uri="{FF2B5EF4-FFF2-40B4-BE49-F238E27FC236}">
                <a16:creationId xmlns:a16="http://schemas.microsoft.com/office/drawing/2014/main" id="{245AE889-4FF1-5D41-B0C9-6E1D7DFE6C7D}"/>
              </a:ext>
            </a:extLst>
          </p:cNvPr>
          <p:cNvSpPr>
            <a:spLocks noChangeArrowheads="1"/>
          </p:cNvSpPr>
          <p:nvPr/>
        </p:nvSpPr>
        <p:spPr bwMode="auto">
          <a:xfrm>
            <a:off x="2854326" y="3909956"/>
            <a:ext cx="1062368" cy="129063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6" name="Rectangle 24">
            <a:extLst>
              <a:ext uri="{FF2B5EF4-FFF2-40B4-BE49-F238E27FC236}">
                <a16:creationId xmlns:a16="http://schemas.microsoft.com/office/drawing/2014/main" id="{726B5B54-D786-344E-93B0-A2521F3FB4A3}"/>
              </a:ext>
            </a:extLst>
          </p:cNvPr>
          <p:cNvSpPr>
            <a:spLocks noChangeArrowheads="1"/>
          </p:cNvSpPr>
          <p:nvPr/>
        </p:nvSpPr>
        <p:spPr bwMode="auto">
          <a:xfrm>
            <a:off x="2814638" y="3949645"/>
            <a:ext cx="1066800" cy="123190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7" name="Line 25">
            <a:extLst>
              <a:ext uri="{FF2B5EF4-FFF2-40B4-BE49-F238E27FC236}">
                <a16:creationId xmlns:a16="http://schemas.microsoft.com/office/drawing/2014/main" id="{ED6C96DE-045A-4845-BE61-A830E126E677}"/>
              </a:ext>
            </a:extLst>
          </p:cNvPr>
          <p:cNvSpPr>
            <a:spLocks noChangeShapeType="1"/>
          </p:cNvSpPr>
          <p:nvPr/>
        </p:nvSpPr>
        <p:spPr bwMode="auto">
          <a:xfrm>
            <a:off x="2814638" y="422745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Text Box 26">
            <a:extLst>
              <a:ext uri="{FF2B5EF4-FFF2-40B4-BE49-F238E27FC236}">
                <a16:creationId xmlns:a16="http://schemas.microsoft.com/office/drawing/2014/main" id="{84D02891-4DB6-A74C-B473-DDD899D44383}"/>
              </a:ext>
            </a:extLst>
          </p:cNvPr>
          <p:cNvSpPr txBox="1">
            <a:spLocks noChangeArrowheads="1"/>
          </p:cNvSpPr>
          <p:nvPr/>
        </p:nvSpPr>
        <p:spPr bwMode="auto">
          <a:xfrm>
            <a:off x="2773604" y="3957054"/>
            <a:ext cx="1104900" cy="1274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169" name="Group 190">
            <a:extLst>
              <a:ext uri="{FF2B5EF4-FFF2-40B4-BE49-F238E27FC236}">
                <a16:creationId xmlns:a16="http://schemas.microsoft.com/office/drawing/2014/main" id="{04290ECE-716C-A647-B2EC-8AA922EFC2AD}"/>
              </a:ext>
            </a:extLst>
          </p:cNvPr>
          <p:cNvGrpSpPr>
            <a:grpSpLocks/>
          </p:cNvGrpSpPr>
          <p:nvPr/>
        </p:nvGrpSpPr>
        <p:grpSpPr bwMode="auto">
          <a:xfrm flipH="1">
            <a:off x="2151063" y="4424307"/>
            <a:ext cx="673100" cy="701675"/>
            <a:chOff x="-44" y="1473"/>
            <a:chExt cx="981" cy="1105"/>
          </a:xfrm>
        </p:grpSpPr>
        <p:pic>
          <p:nvPicPr>
            <p:cNvPr id="170" name="Picture 191" descr="desktop_computer_stylized_medium">
              <a:extLst>
                <a:ext uri="{FF2B5EF4-FFF2-40B4-BE49-F238E27FC236}">
                  <a16:creationId xmlns:a16="http://schemas.microsoft.com/office/drawing/2014/main" id="{19B47375-0826-C44B-8E48-9D677E4039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 name="Freeform 192">
              <a:extLst>
                <a:ext uri="{FF2B5EF4-FFF2-40B4-BE49-F238E27FC236}">
                  <a16:creationId xmlns:a16="http://schemas.microsoft.com/office/drawing/2014/main" id="{FEA1C998-C605-D84B-8547-D97F2BC8D4EE}"/>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72" name="Line 25">
            <a:extLst>
              <a:ext uri="{FF2B5EF4-FFF2-40B4-BE49-F238E27FC236}">
                <a16:creationId xmlns:a16="http://schemas.microsoft.com/office/drawing/2014/main" id="{DA5446CC-C771-F441-9E97-037B17ED4482}"/>
              </a:ext>
            </a:extLst>
          </p:cNvPr>
          <p:cNvSpPr>
            <a:spLocks noChangeShapeType="1"/>
          </p:cNvSpPr>
          <p:nvPr/>
        </p:nvSpPr>
        <p:spPr bwMode="auto">
          <a:xfrm>
            <a:off x="2819400" y="4456057"/>
            <a:ext cx="1058863"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3" name="Line 25">
            <a:extLst>
              <a:ext uri="{FF2B5EF4-FFF2-40B4-BE49-F238E27FC236}">
                <a16:creationId xmlns:a16="http://schemas.microsoft.com/office/drawing/2014/main" id="{264D9FFE-774A-7F4D-BEE4-B3B44B1FAC0A}"/>
              </a:ext>
            </a:extLst>
          </p:cNvPr>
          <p:cNvSpPr>
            <a:spLocks noChangeShapeType="1"/>
          </p:cNvSpPr>
          <p:nvPr/>
        </p:nvSpPr>
        <p:spPr bwMode="auto">
          <a:xfrm>
            <a:off x="2824163" y="468465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4" name="Line 25">
            <a:extLst>
              <a:ext uri="{FF2B5EF4-FFF2-40B4-BE49-F238E27FC236}">
                <a16:creationId xmlns:a16="http://schemas.microsoft.com/office/drawing/2014/main" id="{84D59C24-ECF9-B64A-9F2F-66C689C1F7AC}"/>
              </a:ext>
            </a:extLst>
          </p:cNvPr>
          <p:cNvSpPr>
            <a:spLocks noChangeShapeType="1"/>
          </p:cNvSpPr>
          <p:nvPr/>
        </p:nvSpPr>
        <p:spPr bwMode="auto">
          <a:xfrm>
            <a:off x="2827338" y="4924370"/>
            <a:ext cx="1060450"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5" name="Group 3">
            <a:extLst>
              <a:ext uri="{FF2B5EF4-FFF2-40B4-BE49-F238E27FC236}">
                <a16:creationId xmlns:a16="http://schemas.microsoft.com/office/drawing/2014/main" id="{7651D039-1E34-A144-8FED-AAC44F023F2C}"/>
              </a:ext>
            </a:extLst>
          </p:cNvPr>
          <p:cNvGrpSpPr>
            <a:grpSpLocks/>
          </p:cNvGrpSpPr>
          <p:nvPr/>
        </p:nvGrpSpPr>
        <p:grpSpPr bwMode="auto">
          <a:xfrm>
            <a:off x="7794625" y="3673978"/>
            <a:ext cx="2047875" cy="1620287"/>
            <a:chOff x="4882752" y="4007261"/>
            <a:chExt cx="2046816" cy="1619544"/>
          </a:xfrm>
        </p:grpSpPr>
        <p:sp>
          <p:nvSpPr>
            <p:cNvPr id="176" name="Text Box 54">
              <a:extLst>
                <a:ext uri="{FF2B5EF4-FFF2-40B4-BE49-F238E27FC236}">
                  <a16:creationId xmlns:a16="http://schemas.microsoft.com/office/drawing/2014/main" id="{82FCAF5C-7EF8-BB47-BF30-CF3EA1FE682F}"/>
                </a:ext>
              </a:extLst>
            </p:cNvPr>
            <p:cNvSpPr txBox="1">
              <a:spLocks noChangeArrowheads="1"/>
            </p:cNvSpPr>
            <p:nvPr/>
          </p:nvSpPr>
          <p:spPr bwMode="auto">
            <a:xfrm>
              <a:off x="4882752" y="4007261"/>
              <a:ext cx="12260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destination</a:t>
              </a:r>
              <a:endParaRPr kumimoji="0" lang="en-US" altLang="en-US" sz="20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endParaRPr>
            </a:p>
          </p:txBody>
        </p:sp>
        <p:grpSp>
          <p:nvGrpSpPr>
            <p:cNvPr id="177" name="Group 2">
              <a:extLst>
                <a:ext uri="{FF2B5EF4-FFF2-40B4-BE49-F238E27FC236}">
                  <a16:creationId xmlns:a16="http://schemas.microsoft.com/office/drawing/2014/main" id="{43D7F412-7232-F444-9D55-13FAD759A4F6}"/>
                </a:ext>
              </a:extLst>
            </p:cNvPr>
            <p:cNvGrpSpPr>
              <a:grpSpLocks/>
            </p:cNvGrpSpPr>
            <p:nvPr/>
          </p:nvGrpSpPr>
          <p:grpSpPr bwMode="auto">
            <a:xfrm>
              <a:off x="4927179" y="4319856"/>
              <a:ext cx="2002389" cy="1306949"/>
              <a:chOff x="1305623" y="4714561"/>
              <a:chExt cx="2002389" cy="1306949"/>
            </a:xfrm>
          </p:grpSpPr>
          <p:sp>
            <p:nvSpPr>
              <p:cNvPr id="178" name="Freeform 10">
                <a:extLst>
                  <a:ext uri="{FF2B5EF4-FFF2-40B4-BE49-F238E27FC236}">
                    <a16:creationId xmlns:a16="http://schemas.microsoft.com/office/drawing/2014/main" id="{2BBCCDF2-BD61-D243-80E3-FC38B43747BF}"/>
                  </a:ext>
                </a:extLst>
              </p:cNvPr>
              <p:cNvSpPr>
                <a:spLocks/>
              </p:cNvSpPr>
              <p:nvPr/>
            </p:nvSpPr>
            <p:spPr bwMode="auto">
              <a:xfrm>
                <a:off x="2426569" y="4714561"/>
                <a:ext cx="288261" cy="1290044"/>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9" name="Rectangle 23">
                <a:extLst>
                  <a:ext uri="{FF2B5EF4-FFF2-40B4-BE49-F238E27FC236}">
                    <a16:creationId xmlns:a16="http://schemas.microsoft.com/office/drawing/2014/main" id="{0FF740DF-A766-DA47-941D-9BB75289FE9F}"/>
                  </a:ext>
                </a:extLst>
              </p:cNvPr>
              <p:cNvSpPr>
                <a:spLocks noChangeArrowheads="1"/>
              </p:cNvSpPr>
              <p:nvPr/>
            </p:nvSpPr>
            <p:spPr bwMode="auto">
              <a:xfrm>
                <a:off x="1398616" y="4722494"/>
                <a:ext cx="1045433" cy="127129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0" name="Rectangle 24">
                <a:extLst>
                  <a:ext uri="{FF2B5EF4-FFF2-40B4-BE49-F238E27FC236}">
                    <a16:creationId xmlns:a16="http://schemas.microsoft.com/office/drawing/2014/main" id="{30976AB5-5CF3-9649-AE10-0D8834A36AA4}"/>
                  </a:ext>
                </a:extLst>
              </p:cNvPr>
              <p:cNvSpPr>
                <a:spLocks noChangeArrowheads="1"/>
              </p:cNvSpPr>
              <p:nvPr/>
            </p:nvSpPr>
            <p:spPr bwMode="auto">
              <a:xfrm>
                <a:off x="1341249" y="4752754"/>
                <a:ext cx="1067215" cy="1231976"/>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25">
                <a:extLst>
                  <a:ext uri="{FF2B5EF4-FFF2-40B4-BE49-F238E27FC236}">
                    <a16:creationId xmlns:a16="http://schemas.microsoft.com/office/drawing/2014/main" id="{C40254F3-8EF1-1946-BD3D-FCE2C1EC496D}"/>
                  </a:ext>
                </a:extLst>
              </p:cNvPr>
              <p:cNvSpPr>
                <a:spLocks noChangeShapeType="1"/>
              </p:cNvSpPr>
              <p:nvPr/>
            </p:nvSpPr>
            <p:spPr bwMode="auto">
              <a:xfrm>
                <a:off x="1341249" y="50313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Text Box 26">
                <a:extLst>
                  <a:ext uri="{FF2B5EF4-FFF2-40B4-BE49-F238E27FC236}">
                    <a16:creationId xmlns:a16="http://schemas.microsoft.com/office/drawing/2014/main" id="{3E76F59F-6FAE-6949-AACB-C12FB9352449}"/>
                  </a:ext>
                </a:extLst>
              </p:cNvPr>
              <p:cNvSpPr txBox="1">
                <a:spLocks noChangeArrowheads="1"/>
              </p:cNvSpPr>
              <p:nvPr/>
            </p:nvSpPr>
            <p:spPr bwMode="auto">
              <a:xfrm>
                <a:off x="1305623" y="4747333"/>
                <a:ext cx="1104329" cy="12741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183" name="Group 190">
                <a:extLst>
                  <a:ext uri="{FF2B5EF4-FFF2-40B4-BE49-F238E27FC236}">
                    <a16:creationId xmlns:a16="http://schemas.microsoft.com/office/drawing/2014/main" id="{3142986E-25B2-C545-A505-7FEFEE4617F3}"/>
                  </a:ext>
                </a:extLst>
              </p:cNvPr>
              <p:cNvGrpSpPr>
                <a:grpSpLocks/>
              </p:cNvGrpSpPr>
              <p:nvPr/>
            </p:nvGrpSpPr>
            <p:grpSpPr bwMode="auto">
              <a:xfrm flipH="1">
                <a:off x="2634682" y="5076164"/>
                <a:ext cx="673330" cy="701684"/>
                <a:chOff x="-44" y="1473"/>
                <a:chExt cx="981" cy="1105"/>
              </a:xfrm>
            </p:grpSpPr>
            <p:pic>
              <p:nvPicPr>
                <p:cNvPr id="187" name="Picture 191" descr="desktop_computer_stylized_medium">
                  <a:extLst>
                    <a:ext uri="{FF2B5EF4-FFF2-40B4-BE49-F238E27FC236}">
                      <a16:creationId xmlns:a16="http://schemas.microsoft.com/office/drawing/2014/main" id="{8E397E43-AA92-9540-8502-E3F47CEB4A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192">
                  <a:extLst>
                    <a:ext uri="{FF2B5EF4-FFF2-40B4-BE49-F238E27FC236}">
                      <a16:creationId xmlns:a16="http://schemas.microsoft.com/office/drawing/2014/main" id="{B94C52D7-1672-CE46-B256-90805C41A69F}"/>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84" name="Line 25">
                <a:extLst>
                  <a:ext uri="{FF2B5EF4-FFF2-40B4-BE49-F238E27FC236}">
                    <a16:creationId xmlns:a16="http://schemas.microsoft.com/office/drawing/2014/main" id="{3660A651-E6C2-464D-9AE5-A39238D21C2D}"/>
                  </a:ext>
                </a:extLst>
              </p:cNvPr>
              <p:cNvSpPr>
                <a:spLocks noChangeShapeType="1"/>
              </p:cNvSpPr>
              <p:nvPr/>
            </p:nvSpPr>
            <p:spPr bwMode="auto">
              <a:xfrm>
                <a:off x="1345720" y="5260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Line 25">
                <a:extLst>
                  <a:ext uri="{FF2B5EF4-FFF2-40B4-BE49-F238E27FC236}">
                    <a16:creationId xmlns:a16="http://schemas.microsoft.com/office/drawing/2014/main" id="{CB18A03E-7135-A648-8BDC-9FD0E1B822D5}"/>
                  </a:ext>
                </a:extLst>
              </p:cNvPr>
              <p:cNvSpPr>
                <a:spLocks noChangeShapeType="1"/>
              </p:cNvSpPr>
              <p:nvPr/>
            </p:nvSpPr>
            <p:spPr bwMode="auto">
              <a:xfrm>
                <a:off x="1350191" y="54891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6" name="Line 25">
                <a:extLst>
                  <a:ext uri="{FF2B5EF4-FFF2-40B4-BE49-F238E27FC236}">
                    <a16:creationId xmlns:a16="http://schemas.microsoft.com/office/drawing/2014/main" id="{8A81FD3E-2BEE-A04B-99BC-5B54B8C0D72A}"/>
                  </a:ext>
                </a:extLst>
              </p:cNvPr>
              <p:cNvSpPr>
                <a:spLocks noChangeShapeType="1"/>
              </p:cNvSpPr>
              <p:nvPr/>
            </p:nvSpPr>
            <p:spPr bwMode="auto">
              <a:xfrm>
                <a:off x="1354662" y="5728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sp>
        <p:nvSpPr>
          <p:cNvPr id="281" name="Freeform 7">
            <a:extLst>
              <a:ext uri="{FF2B5EF4-FFF2-40B4-BE49-F238E27FC236}">
                <a16:creationId xmlns:a16="http://schemas.microsoft.com/office/drawing/2014/main" id="{4FE322CD-EE19-1D4A-A4A3-471CD5B424FF}"/>
              </a:ext>
            </a:extLst>
          </p:cNvPr>
          <p:cNvSpPr>
            <a:spLocks/>
          </p:cNvSpPr>
          <p:nvPr/>
        </p:nvSpPr>
        <p:spPr bwMode="auto">
          <a:xfrm>
            <a:off x="3329610" y="4423977"/>
            <a:ext cx="5073926" cy="1298611"/>
          </a:xfrm>
          <a:custGeom>
            <a:avLst/>
            <a:gdLst>
              <a:gd name="T0" fmla="*/ 0 w 5156094"/>
              <a:gd name="T1" fmla="*/ 0 h 1509215"/>
              <a:gd name="T2" fmla="*/ 6961 w 5156094"/>
              <a:gd name="T3" fmla="*/ 1168047 h 1509215"/>
              <a:gd name="T4" fmla="*/ 1131015 w 5156094"/>
              <a:gd name="T5" fmla="*/ 1170389 h 1509215"/>
              <a:gd name="T6" fmla="*/ 1755021 w 5156094"/>
              <a:gd name="T7" fmla="*/ 1490285 h 1509215"/>
              <a:gd name="T8" fmla="*/ 2207298 w 5156094"/>
              <a:gd name="T9" fmla="*/ 1510706 h 1509215"/>
              <a:gd name="T10" fmla="*/ 2988945 w 5156094"/>
              <a:gd name="T11" fmla="*/ 1198737 h 1509215"/>
              <a:gd name="T12" fmla="*/ 3391674 w 5156094"/>
              <a:gd name="T13" fmla="*/ 1210330 h 1509215"/>
              <a:gd name="T14" fmla="*/ 5156412 w 5156094"/>
              <a:gd name="T15" fmla="*/ 1199641 h 1509215"/>
              <a:gd name="T16" fmla="*/ 5126696 w 5156094"/>
              <a:gd name="T17" fmla="*/ 64147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207163 w 5156094"/>
              <a:gd name="connsiteY4" fmla="*/ 1509215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5156094 w 5156094"/>
              <a:gd name="connsiteY6" fmla="*/ 1198456 h 1559667"/>
              <a:gd name="connsiteX7" fmla="*/ 5126381 w 5156094"/>
              <a:gd name="connsiteY7" fmla="*/ 64084 h 15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56094" h="1559667">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9" name="Rectangle 4">
            <a:extLst>
              <a:ext uri="{FF2B5EF4-FFF2-40B4-BE49-F238E27FC236}">
                <a16:creationId xmlns:a16="http://schemas.microsoft.com/office/drawing/2014/main" id="{0B86E12D-57F9-004F-9A98-0E80FDFD03ED}"/>
              </a:ext>
            </a:extLst>
          </p:cNvPr>
          <p:cNvSpPr txBox="1">
            <a:spLocks noChangeArrowheads="1"/>
          </p:cNvSpPr>
          <p:nvPr/>
        </p:nvSpPr>
        <p:spPr>
          <a:xfrm>
            <a:off x="640467" y="2288196"/>
            <a:ext cx="11177587" cy="91517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159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understanding congestion: useful to focus on congested bottleneck link</a:t>
            </a:r>
          </a:p>
        </p:txBody>
      </p:sp>
      <p:grpSp>
        <p:nvGrpSpPr>
          <p:cNvPr id="16" name="Group 15">
            <a:extLst>
              <a:ext uri="{FF2B5EF4-FFF2-40B4-BE49-F238E27FC236}">
                <a16:creationId xmlns:a16="http://schemas.microsoft.com/office/drawing/2014/main" id="{9F054DCB-F0FC-6040-B6B9-B0434AA6A860}"/>
              </a:ext>
            </a:extLst>
          </p:cNvPr>
          <p:cNvGrpSpPr/>
          <p:nvPr/>
        </p:nvGrpSpPr>
        <p:grpSpPr>
          <a:xfrm>
            <a:off x="4839045" y="5517878"/>
            <a:ext cx="876995" cy="403711"/>
            <a:chOff x="5033182" y="4091488"/>
            <a:chExt cx="876995" cy="403711"/>
          </a:xfrm>
        </p:grpSpPr>
        <p:cxnSp>
          <p:nvCxnSpPr>
            <p:cNvPr id="15" name="Straight Connector 14">
              <a:extLst>
                <a:ext uri="{FF2B5EF4-FFF2-40B4-BE49-F238E27FC236}">
                  <a16:creationId xmlns:a16="http://schemas.microsoft.com/office/drawing/2014/main" id="{D3004F00-B27A-6543-B345-6627D1137679}"/>
                </a:ext>
              </a:extLst>
            </p:cNvPr>
            <p:cNvCxnSpPr/>
            <p:nvPr/>
          </p:nvCxnSpPr>
          <p:spPr>
            <a:xfrm>
              <a:off x="5518407" y="4289261"/>
              <a:ext cx="869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689B243-A85D-9243-A088-8DCC1C93FE82}"/>
                </a:ext>
              </a:extLst>
            </p:cNvPr>
            <p:cNvSpPr/>
            <p:nvPr/>
          </p:nvSpPr>
          <p:spPr>
            <a:xfrm>
              <a:off x="5150875" y="4091488"/>
              <a:ext cx="382771" cy="403711"/>
            </a:xfrm>
            <a:prstGeom prst="rect">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68C9EE21-A866-EF40-B74B-25BD15BDB166}"/>
                </a:ext>
              </a:extLst>
            </p:cNvPr>
            <p:cNvSpPr/>
            <p:nvPr/>
          </p:nvSpPr>
          <p:spPr>
            <a:xfrm>
              <a:off x="5565439" y="4115310"/>
              <a:ext cx="344738" cy="344738"/>
            </a:xfrm>
            <a:prstGeom prst="ellipse">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6E71FDDD-28C2-D944-937D-A37D3B73085B}"/>
                </a:ext>
              </a:extLst>
            </p:cNvPr>
            <p:cNvCxnSpPr/>
            <p:nvPr/>
          </p:nvCxnSpPr>
          <p:spPr>
            <a:xfrm>
              <a:off x="5427947"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9709E3FA-52FC-C645-9DA2-F11001152074}"/>
                </a:ext>
              </a:extLst>
            </p:cNvPr>
            <p:cNvCxnSpPr/>
            <p:nvPr/>
          </p:nvCxnSpPr>
          <p:spPr>
            <a:xfrm>
              <a:off x="5330094"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A377D666-34E2-244E-B3D8-6FE1A4596746}"/>
                </a:ext>
              </a:extLst>
            </p:cNvPr>
            <p:cNvCxnSpPr/>
            <p:nvPr/>
          </p:nvCxnSpPr>
          <p:spPr>
            <a:xfrm>
              <a:off x="5238591"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16E7784A-7CF2-DB4E-B801-AE25BE617B3D}"/>
                </a:ext>
              </a:extLst>
            </p:cNvPr>
            <p:cNvSpPr/>
            <p:nvPr/>
          </p:nvSpPr>
          <p:spPr>
            <a:xfrm>
              <a:off x="5033182" y="4091488"/>
              <a:ext cx="112907" cy="4037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2" name="Group 21">
            <a:extLst>
              <a:ext uri="{FF2B5EF4-FFF2-40B4-BE49-F238E27FC236}">
                <a16:creationId xmlns:a16="http://schemas.microsoft.com/office/drawing/2014/main" id="{3F5A847F-7DB0-4448-866C-A04E3D418E75}"/>
              </a:ext>
            </a:extLst>
          </p:cNvPr>
          <p:cNvGrpSpPr/>
          <p:nvPr/>
        </p:nvGrpSpPr>
        <p:grpSpPr>
          <a:xfrm>
            <a:off x="3613959" y="3147358"/>
            <a:ext cx="4265234" cy="1221464"/>
            <a:chOff x="3613959" y="3147358"/>
            <a:chExt cx="4265234" cy="1221464"/>
          </a:xfrm>
        </p:grpSpPr>
        <p:sp>
          <p:nvSpPr>
            <p:cNvPr id="18" name="TextBox 17">
              <a:extLst>
                <a:ext uri="{FF2B5EF4-FFF2-40B4-BE49-F238E27FC236}">
                  <a16:creationId xmlns:a16="http://schemas.microsoft.com/office/drawing/2014/main" id="{72BF638B-27BF-9A44-BC9B-E5A7126F9971}"/>
                </a:ext>
              </a:extLst>
            </p:cNvPr>
            <p:cNvSpPr txBox="1"/>
            <p:nvPr/>
          </p:nvSpPr>
          <p:spPr>
            <a:xfrm>
              <a:off x="3909241" y="3147358"/>
              <a:ext cx="3969952" cy="1089529"/>
            </a:xfrm>
            <a:prstGeom prst="rect">
              <a:avLst/>
            </a:prstGeom>
            <a:noFill/>
          </p:spPr>
          <p:txBody>
            <a:bodyPr wrap="square" rtlCol="0">
              <a:spAutoFit/>
            </a:bodyPr>
            <a:lstStyle/>
            <a:p>
              <a:pPr marL="460375" marR="0" lvl="0" indent="-460375" algn="l" defTabSz="914400" rtl="0" eaLnBrk="1" fontAlgn="auto" latinLnBrk="0" hangingPunct="1">
                <a:lnSpc>
                  <a:spcPct val="9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A3"/>
                  </a:solidFill>
                  <a:effectLst/>
                  <a:uLnTx/>
                  <a:uFillTx/>
                  <a:latin typeface="Calibri" panose="020F0502020204030204"/>
                  <a:ea typeface="+mn-ea"/>
                  <a:cs typeface="+mn-cs"/>
                </a:rPr>
                <a:t>insight: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increasing TCP sending rate will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increase end-end throughout at congested bottleneck, which is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already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transmitting at full rate, R</a:t>
              </a:r>
            </a:p>
          </p:txBody>
        </p:sp>
        <p:cxnSp>
          <p:nvCxnSpPr>
            <p:cNvPr id="20" name="Straight Connector 19">
              <a:extLst>
                <a:ext uri="{FF2B5EF4-FFF2-40B4-BE49-F238E27FC236}">
                  <a16:creationId xmlns:a16="http://schemas.microsoft.com/office/drawing/2014/main" id="{61879EEE-DD1C-214C-8FBA-E99A26753318}"/>
                </a:ext>
              </a:extLst>
            </p:cNvPr>
            <p:cNvCxnSpPr>
              <a:cxnSpLocks/>
            </p:cNvCxnSpPr>
            <p:nvPr/>
          </p:nvCxnSpPr>
          <p:spPr>
            <a:xfrm flipH="1">
              <a:off x="3613959" y="3751185"/>
              <a:ext cx="738967" cy="6176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8C456841-AE6B-A44B-9596-8457DAC42D7B}"/>
              </a:ext>
            </a:extLst>
          </p:cNvPr>
          <p:cNvGrpSpPr/>
          <p:nvPr/>
        </p:nvGrpSpPr>
        <p:grpSpPr>
          <a:xfrm>
            <a:off x="0" y="5329279"/>
            <a:ext cx="4721129" cy="1089529"/>
            <a:chOff x="0" y="5329279"/>
            <a:chExt cx="4721129" cy="1089529"/>
          </a:xfrm>
        </p:grpSpPr>
        <p:sp>
          <p:nvSpPr>
            <p:cNvPr id="110" name="TextBox 109">
              <a:extLst>
                <a:ext uri="{FF2B5EF4-FFF2-40B4-BE49-F238E27FC236}">
                  <a16:creationId xmlns:a16="http://schemas.microsoft.com/office/drawing/2014/main" id="{67AC24E6-353D-7641-8425-F6A26F20ABC7}"/>
                </a:ext>
              </a:extLst>
            </p:cNvPr>
            <p:cNvSpPr txBox="1"/>
            <p:nvPr/>
          </p:nvSpPr>
          <p:spPr>
            <a:xfrm>
              <a:off x="0" y="5329279"/>
              <a:ext cx="3295851" cy="1089529"/>
            </a:xfrm>
            <a:prstGeom prst="rect">
              <a:avLst/>
            </a:prstGeom>
            <a:noFill/>
          </p:spPr>
          <p:txBody>
            <a:bodyPr wrap="square" rtlCol="0">
              <a:spAutoFit/>
            </a:bodyPr>
            <a:lstStyle/>
            <a:p>
              <a:pPr marL="460375" marR="0" lvl="0" indent="-460375" algn="r" defTabSz="914400" rtl="0" eaLnBrk="1" fontAlgn="auto" latinLnBrk="0" hangingPunct="1">
                <a:lnSpc>
                  <a:spcPct val="9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A3"/>
                  </a:solidFill>
                  <a:effectLst/>
                  <a:uLnTx/>
                  <a:uFillTx/>
                  <a:latin typeface="Calibri" panose="020F0502020204030204"/>
                  <a:ea typeface="+mn-ea"/>
                  <a:cs typeface="+mn-cs"/>
                </a:rPr>
                <a:t>insight: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increasing TCP sending rate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will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increase measured RTT (increased queueing delay at bottleneck link)</a:t>
              </a:r>
            </a:p>
          </p:txBody>
        </p:sp>
        <p:cxnSp>
          <p:nvCxnSpPr>
            <p:cNvPr id="25" name="Straight Connector 24">
              <a:extLst>
                <a:ext uri="{FF2B5EF4-FFF2-40B4-BE49-F238E27FC236}">
                  <a16:creationId xmlns:a16="http://schemas.microsoft.com/office/drawing/2014/main" id="{AFA3AC7C-9D37-4246-A57A-7A9F9DD69A66}"/>
                </a:ext>
              </a:extLst>
            </p:cNvPr>
            <p:cNvCxnSpPr/>
            <p:nvPr/>
          </p:nvCxnSpPr>
          <p:spPr>
            <a:xfrm>
              <a:off x="3375025" y="5714069"/>
              <a:ext cx="13461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84B2883-3648-6DC4-6A03-8BA7B1C7601B}"/>
              </a:ext>
            </a:extLst>
          </p:cNvPr>
          <p:cNvGrpSpPr/>
          <p:nvPr/>
        </p:nvGrpSpPr>
        <p:grpSpPr>
          <a:xfrm>
            <a:off x="3983442" y="4212118"/>
            <a:ext cx="3811183" cy="369332"/>
            <a:chOff x="3375025" y="6269341"/>
            <a:chExt cx="3811183" cy="369332"/>
          </a:xfrm>
        </p:grpSpPr>
        <p:cxnSp>
          <p:nvCxnSpPr>
            <p:cNvPr id="28" name="Straight Connector 27">
              <a:extLst>
                <a:ext uri="{FF2B5EF4-FFF2-40B4-BE49-F238E27FC236}">
                  <a16:creationId xmlns:a16="http://schemas.microsoft.com/office/drawing/2014/main" id="{D625C25C-416C-5C4E-AFF1-F6889ED15803}"/>
                </a:ext>
              </a:extLst>
            </p:cNvPr>
            <p:cNvCxnSpPr>
              <a:cxnSpLocks/>
            </p:cNvCxnSpPr>
            <p:nvPr/>
          </p:nvCxnSpPr>
          <p:spPr>
            <a:xfrm>
              <a:off x="3375025" y="6443089"/>
              <a:ext cx="3811183" cy="10918"/>
            </a:xfrm>
            <a:prstGeom prst="line">
              <a:avLst/>
            </a:prstGeom>
            <a:ln w="15875">
              <a:solidFill>
                <a:schemeClr val="tx1"/>
              </a:solidFill>
              <a:headEnd type="triangle"/>
              <a:tailEnd type="triangle" w="lg"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205F52A-5790-B345-9AB7-858A5F8D4937}"/>
                </a:ext>
              </a:extLst>
            </p:cNvPr>
            <p:cNvSpPr txBox="1"/>
            <p:nvPr/>
          </p:nvSpPr>
          <p:spPr>
            <a:xfrm>
              <a:off x="4970635" y="6269341"/>
              <a:ext cx="535018"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RTT</a:t>
              </a:r>
            </a:p>
          </p:txBody>
        </p:sp>
      </p:grpSp>
      <p:sp>
        <p:nvSpPr>
          <p:cNvPr id="31" name="TextBox 30">
            <a:extLst>
              <a:ext uri="{FF2B5EF4-FFF2-40B4-BE49-F238E27FC236}">
                <a16:creationId xmlns:a16="http://schemas.microsoft.com/office/drawing/2014/main" id="{AB18F1EA-ED80-CE47-9C3C-647F034AB95E}"/>
              </a:ext>
            </a:extLst>
          </p:cNvPr>
          <p:cNvSpPr txBox="1"/>
          <p:nvPr/>
        </p:nvSpPr>
        <p:spPr>
          <a:xfrm>
            <a:off x="3613959" y="6286002"/>
            <a:ext cx="7584409" cy="424732"/>
          </a:xfrm>
          <a:prstGeom prst="rect">
            <a:avLst/>
          </a:prstGeom>
          <a:noFill/>
        </p:spPr>
        <p:txBody>
          <a:bodyPr wrap="square" rtlCol="0">
            <a:spAutoFit/>
          </a:bodyPr>
          <a:lstStyle/>
          <a:p>
            <a:pPr marL="587375" marR="0" lvl="0" indent="-587375" algn="l" defTabSz="914400" rtl="0" eaLnBrk="1" fontAlgn="auto" latinLnBrk="0" hangingPunct="1">
              <a:lnSpc>
                <a:spcPct val="9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00A3"/>
                </a:solidFill>
                <a:effectLst/>
                <a:uLnTx/>
                <a:uFillTx/>
                <a:latin typeface="Calibri" panose="020F0502020204030204"/>
                <a:ea typeface="+mn-ea"/>
                <a:cs typeface="+mn-cs"/>
              </a:rPr>
              <a:t>Goal: </a:t>
            </a:r>
            <a:r>
              <a:rPr kumimoji="0" lang="en-US" sz="2200" b="0" i="1" u="none" strike="noStrike" kern="1200" cap="none" spc="0" normalizeH="0" baseline="0" noProof="0" dirty="0">
                <a:ln>
                  <a:noFill/>
                </a:ln>
                <a:solidFill>
                  <a:prstClr val="black"/>
                </a:solidFill>
                <a:effectLst/>
                <a:uLnTx/>
                <a:uFillTx/>
                <a:latin typeface="Calibri" panose="020F0502020204030204"/>
                <a:ea typeface="+mn-ea"/>
                <a:cs typeface="+mn-cs"/>
              </a:rPr>
              <a:t>“keep the end-end pipe just full, but not fuller”</a:t>
            </a:r>
          </a:p>
        </p:txBody>
      </p:sp>
      <p:sp>
        <p:nvSpPr>
          <p:cNvPr id="106" name="Slide Number Placeholder 2">
            <a:extLst>
              <a:ext uri="{FF2B5EF4-FFF2-40B4-BE49-F238E27FC236}">
                <a16:creationId xmlns:a16="http://schemas.microsoft.com/office/drawing/2014/main" id="{C4CCE602-07A6-B94E-8022-E968DB6C613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59</a:t>
            </a:fld>
            <a:endParaRPr lang="en-US" dirty="0"/>
          </a:p>
        </p:txBody>
      </p:sp>
      <p:sp>
        <p:nvSpPr>
          <p:cNvPr id="10" name="TextBox 9">
            <a:extLst>
              <a:ext uri="{FF2B5EF4-FFF2-40B4-BE49-F238E27FC236}">
                <a16:creationId xmlns:a16="http://schemas.microsoft.com/office/drawing/2014/main" id="{1203CE27-FB62-C8C9-D4DA-A725B6C16D8C}"/>
              </a:ext>
            </a:extLst>
          </p:cNvPr>
          <p:cNvSpPr txBox="1"/>
          <p:nvPr/>
        </p:nvSpPr>
        <p:spPr>
          <a:xfrm>
            <a:off x="5386039" y="5509414"/>
            <a:ext cx="328936" cy="400110"/>
          </a:xfrm>
          <a:prstGeom prst="rect">
            <a:avLst/>
          </a:prstGeom>
          <a:noFill/>
        </p:spPr>
        <p:txBody>
          <a:bodyPr wrap="none" rtlCol="0">
            <a:spAutoFit/>
          </a:bodyPr>
          <a:lstStyle/>
          <a:p>
            <a:r>
              <a:rPr lang="en-US" sz="2000" dirty="0">
                <a:solidFill>
                  <a:schemeClr val="bg1"/>
                </a:solidFill>
              </a:rPr>
              <a:t>R</a:t>
            </a:r>
          </a:p>
        </p:txBody>
      </p:sp>
    </p:spTree>
    <p:extLst>
      <p:ext uri="{BB962C8B-B14F-4D97-AF65-F5344CB8AC3E}">
        <p14:creationId xmlns:p14="http://schemas.microsoft.com/office/powerpoint/2010/main" val="392805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dissolve">
                                      <p:cBhvr>
                                        <p:cTn id="7" dur="500"/>
                                        <p:tgtEl>
                                          <p:spTgt spid="89"/>
                                        </p:tgtEl>
                                      </p:cBhvr>
                                    </p:animEffect>
                                  </p:childTnLst>
                                </p:cTn>
                              </p:par>
                              <p:par>
                                <p:cTn id="8" presetID="9" presetClass="exit" presetSubtype="0" fill="hold" nodeType="withEffect">
                                  <p:stCondLst>
                                    <p:cond delay="0"/>
                                  </p:stCondLst>
                                  <p:childTnLst>
                                    <p:animEffect transition="out" filter="dissolv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dissolve">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dissolv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dissolve">
                                      <p:cBhvr>
                                        <p:cTn id="2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3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70840-002A-65E7-397F-AA85723E8DBD}"/>
            </a:ext>
          </a:extLst>
        </p:cNvPr>
        <p:cNvGrpSpPr/>
        <p:nvPr/>
      </p:nvGrpSpPr>
      <p:grpSpPr>
        <a:xfrm>
          <a:off x="0" y="0"/>
          <a:ext cx="0" cy="0"/>
          <a:chOff x="0" y="0"/>
          <a:chExt cx="0" cy="0"/>
        </a:xfrm>
      </p:grpSpPr>
      <p:sp>
        <p:nvSpPr>
          <p:cNvPr id="189" name="Freeform 2">
            <a:extLst>
              <a:ext uri="{FF2B5EF4-FFF2-40B4-BE49-F238E27FC236}">
                <a16:creationId xmlns:a16="http://schemas.microsoft.com/office/drawing/2014/main" id="{9856E51F-AFF4-CEF8-0A54-0A11FEB20C63}"/>
              </a:ext>
            </a:extLst>
          </p:cNvPr>
          <p:cNvSpPr>
            <a:spLocks/>
          </p:cNvSpPr>
          <p:nvPr/>
        </p:nvSpPr>
        <p:spPr bwMode="auto">
          <a:xfrm>
            <a:off x="4129957" y="4691367"/>
            <a:ext cx="2849563"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23" name="Group 322">
            <a:extLst>
              <a:ext uri="{FF2B5EF4-FFF2-40B4-BE49-F238E27FC236}">
                <a16:creationId xmlns:a16="http://schemas.microsoft.com/office/drawing/2014/main" id="{E31FCCB9-68FA-BD91-1CC1-A450E5DD8716}"/>
              </a:ext>
            </a:extLst>
          </p:cNvPr>
          <p:cNvGrpSpPr/>
          <p:nvPr/>
        </p:nvGrpSpPr>
        <p:grpSpPr>
          <a:xfrm>
            <a:off x="6131364" y="5156690"/>
            <a:ext cx="496248" cy="260542"/>
            <a:chOff x="7493876" y="2774731"/>
            <a:chExt cx="1481958" cy="894622"/>
          </a:xfrm>
        </p:grpSpPr>
        <p:sp>
          <p:nvSpPr>
            <p:cNvPr id="324" name="Freeform 323">
              <a:extLst>
                <a:ext uri="{FF2B5EF4-FFF2-40B4-BE49-F238E27FC236}">
                  <a16:creationId xmlns:a16="http://schemas.microsoft.com/office/drawing/2014/main" id="{118E0BEF-9D46-D766-1FDE-0FC2279226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25" name="Oval 324">
              <a:extLst>
                <a:ext uri="{FF2B5EF4-FFF2-40B4-BE49-F238E27FC236}">
                  <a16:creationId xmlns:a16="http://schemas.microsoft.com/office/drawing/2014/main" id="{46B43209-17AD-1CC7-41B5-EDBEAF0BB00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26" name="Group 325">
              <a:extLst>
                <a:ext uri="{FF2B5EF4-FFF2-40B4-BE49-F238E27FC236}">
                  <a16:creationId xmlns:a16="http://schemas.microsoft.com/office/drawing/2014/main" id="{414BDAE6-8D1C-427D-6C9D-226C9EC7DE1F}"/>
                </a:ext>
              </a:extLst>
            </p:cNvPr>
            <p:cNvGrpSpPr/>
            <p:nvPr/>
          </p:nvGrpSpPr>
          <p:grpSpPr>
            <a:xfrm>
              <a:off x="7713663" y="2848339"/>
              <a:ext cx="1042107" cy="425543"/>
              <a:chOff x="7786941" y="2884917"/>
              <a:chExt cx="897649" cy="353919"/>
            </a:xfrm>
          </p:grpSpPr>
          <p:sp>
            <p:nvSpPr>
              <p:cNvPr id="327" name="Freeform 326">
                <a:extLst>
                  <a:ext uri="{FF2B5EF4-FFF2-40B4-BE49-F238E27FC236}">
                    <a16:creationId xmlns:a16="http://schemas.microsoft.com/office/drawing/2014/main" id="{3A6F4156-E274-FA6B-631F-DC21CB5D4FD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8" name="Freeform 327">
                <a:extLst>
                  <a:ext uri="{FF2B5EF4-FFF2-40B4-BE49-F238E27FC236}">
                    <a16:creationId xmlns:a16="http://schemas.microsoft.com/office/drawing/2014/main" id="{A21982C4-D5EB-4602-57A0-51401CD2BA0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9" name="Freeform 328">
                <a:extLst>
                  <a:ext uri="{FF2B5EF4-FFF2-40B4-BE49-F238E27FC236}">
                    <a16:creationId xmlns:a16="http://schemas.microsoft.com/office/drawing/2014/main" id="{BBBD3C7E-0B44-23FB-06FA-CE6428141E4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0" name="Freeform 329">
                <a:extLst>
                  <a:ext uri="{FF2B5EF4-FFF2-40B4-BE49-F238E27FC236}">
                    <a16:creationId xmlns:a16="http://schemas.microsoft.com/office/drawing/2014/main" id="{29EA68B3-408A-CA80-6A36-CBEFA1BEBB6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32" name="Group 331">
            <a:extLst>
              <a:ext uri="{FF2B5EF4-FFF2-40B4-BE49-F238E27FC236}">
                <a16:creationId xmlns:a16="http://schemas.microsoft.com/office/drawing/2014/main" id="{9AA3017C-CD97-E14C-E94D-13F71745282D}"/>
              </a:ext>
            </a:extLst>
          </p:cNvPr>
          <p:cNvGrpSpPr/>
          <p:nvPr/>
        </p:nvGrpSpPr>
        <p:grpSpPr>
          <a:xfrm>
            <a:off x="5122533" y="4861037"/>
            <a:ext cx="496248" cy="260542"/>
            <a:chOff x="7493876" y="2774731"/>
            <a:chExt cx="1481958" cy="894622"/>
          </a:xfrm>
        </p:grpSpPr>
        <p:sp>
          <p:nvSpPr>
            <p:cNvPr id="333" name="Freeform 332">
              <a:extLst>
                <a:ext uri="{FF2B5EF4-FFF2-40B4-BE49-F238E27FC236}">
                  <a16:creationId xmlns:a16="http://schemas.microsoft.com/office/drawing/2014/main" id="{7732AB86-B47C-A12A-48DA-2C4A07309E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34" name="Oval 333">
              <a:extLst>
                <a:ext uri="{FF2B5EF4-FFF2-40B4-BE49-F238E27FC236}">
                  <a16:creationId xmlns:a16="http://schemas.microsoft.com/office/drawing/2014/main" id="{AF4E23C9-0772-298A-E284-FE73399FC2E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35" name="Group 334">
              <a:extLst>
                <a:ext uri="{FF2B5EF4-FFF2-40B4-BE49-F238E27FC236}">
                  <a16:creationId xmlns:a16="http://schemas.microsoft.com/office/drawing/2014/main" id="{36DB8665-E966-57E6-CC0D-C64D55DD0D78}"/>
                </a:ext>
              </a:extLst>
            </p:cNvPr>
            <p:cNvGrpSpPr/>
            <p:nvPr/>
          </p:nvGrpSpPr>
          <p:grpSpPr>
            <a:xfrm>
              <a:off x="7713663" y="2848339"/>
              <a:ext cx="1042107" cy="425543"/>
              <a:chOff x="7786941" y="2884917"/>
              <a:chExt cx="897649" cy="353919"/>
            </a:xfrm>
          </p:grpSpPr>
          <p:sp>
            <p:nvSpPr>
              <p:cNvPr id="336" name="Freeform 335">
                <a:extLst>
                  <a:ext uri="{FF2B5EF4-FFF2-40B4-BE49-F238E27FC236}">
                    <a16:creationId xmlns:a16="http://schemas.microsoft.com/office/drawing/2014/main" id="{54851C97-C075-2993-D020-0DF2D3D1BF7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7" name="Freeform 336">
                <a:extLst>
                  <a:ext uri="{FF2B5EF4-FFF2-40B4-BE49-F238E27FC236}">
                    <a16:creationId xmlns:a16="http://schemas.microsoft.com/office/drawing/2014/main" id="{B9BEBCB4-19E3-3716-DEFB-17FF0857FA3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8" name="Freeform 337">
                <a:extLst>
                  <a:ext uri="{FF2B5EF4-FFF2-40B4-BE49-F238E27FC236}">
                    <a16:creationId xmlns:a16="http://schemas.microsoft.com/office/drawing/2014/main" id="{846368C0-A140-8B2B-1B43-AC66E3C94E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9" name="Freeform 338">
                <a:extLst>
                  <a:ext uri="{FF2B5EF4-FFF2-40B4-BE49-F238E27FC236}">
                    <a16:creationId xmlns:a16="http://schemas.microsoft.com/office/drawing/2014/main" id="{946B246D-0FED-7BEE-936A-BD60BDECFF1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0" name="Group 339">
            <a:extLst>
              <a:ext uri="{FF2B5EF4-FFF2-40B4-BE49-F238E27FC236}">
                <a16:creationId xmlns:a16="http://schemas.microsoft.com/office/drawing/2014/main" id="{B5B83DFD-D3F4-CFEF-E6D4-EA0D45E792AA}"/>
              </a:ext>
            </a:extLst>
          </p:cNvPr>
          <p:cNvGrpSpPr/>
          <p:nvPr/>
        </p:nvGrpSpPr>
        <p:grpSpPr>
          <a:xfrm>
            <a:off x="4450588" y="5823254"/>
            <a:ext cx="496248" cy="260542"/>
            <a:chOff x="7493876" y="2774731"/>
            <a:chExt cx="1481958" cy="894622"/>
          </a:xfrm>
        </p:grpSpPr>
        <p:sp>
          <p:nvSpPr>
            <p:cNvPr id="341" name="Freeform 340">
              <a:extLst>
                <a:ext uri="{FF2B5EF4-FFF2-40B4-BE49-F238E27FC236}">
                  <a16:creationId xmlns:a16="http://schemas.microsoft.com/office/drawing/2014/main" id="{97C3D4C2-D98A-C41D-FEE4-5E3051A81C8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42" name="Oval 341">
              <a:extLst>
                <a:ext uri="{FF2B5EF4-FFF2-40B4-BE49-F238E27FC236}">
                  <a16:creationId xmlns:a16="http://schemas.microsoft.com/office/drawing/2014/main" id="{9BA9DBDD-8D53-6230-CAFD-7319EFAB7D3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43" name="Group 342">
              <a:extLst>
                <a:ext uri="{FF2B5EF4-FFF2-40B4-BE49-F238E27FC236}">
                  <a16:creationId xmlns:a16="http://schemas.microsoft.com/office/drawing/2014/main" id="{A547BBB9-919C-93CD-B93F-E6FA44E9E8C0}"/>
                </a:ext>
              </a:extLst>
            </p:cNvPr>
            <p:cNvGrpSpPr/>
            <p:nvPr/>
          </p:nvGrpSpPr>
          <p:grpSpPr>
            <a:xfrm>
              <a:off x="7713663" y="2848339"/>
              <a:ext cx="1042107" cy="425543"/>
              <a:chOff x="7786941" y="2884917"/>
              <a:chExt cx="897649" cy="353919"/>
            </a:xfrm>
          </p:grpSpPr>
          <p:sp>
            <p:nvSpPr>
              <p:cNvPr id="344" name="Freeform 343">
                <a:extLst>
                  <a:ext uri="{FF2B5EF4-FFF2-40B4-BE49-F238E27FC236}">
                    <a16:creationId xmlns:a16="http://schemas.microsoft.com/office/drawing/2014/main" id="{3A5BA550-AC47-14F5-9E0A-E75295FB267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5" name="Freeform 344">
                <a:extLst>
                  <a:ext uri="{FF2B5EF4-FFF2-40B4-BE49-F238E27FC236}">
                    <a16:creationId xmlns:a16="http://schemas.microsoft.com/office/drawing/2014/main" id="{527A0236-8818-4014-B590-101D6F6FD5D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6" name="Freeform 345">
                <a:extLst>
                  <a:ext uri="{FF2B5EF4-FFF2-40B4-BE49-F238E27FC236}">
                    <a16:creationId xmlns:a16="http://schemas.microsoft.com/office/drawing/2014/main" id="{187238BF-2B3A-43BD-ABA9-72073F1EA38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7" name="Freeform 346">
                <a:extLst>
                  <a:ext uri="{FF2B5EF4-FFF2-40B4-BE49-F238E27FC236}">
                    <a16:creationId xmlns:a16="http://schemas.microsoft.com/office/drawing/2014/main" id="{E278D606-F517-B790-D306-52FB50CE5AD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8" name="Group 347">
            <a:extLst>
              <a:ext uri="{FF2B5EF4-FFF2-40B4-BE49-F238E27FC236}">
                <a16:creationId xmlns:a16="http://schemas.microsoft.com/office/drawing/2014/main" id="{84F48542-E45A-A4AB-8F8A-B0610ECD0918}"/>
              </a:ext>
            </a:extLst>
          </p:cNvPr>
          <p:cNvGrpSpPr/>
          <p:nvPr/>
        </p:nvGrpSpPr>
        <p:grpSpPr>
          <a:xfrm>
            <a:off x="4094463" y="5164346"/>
            <a:ext cx="496248" cy="260542"/>
            <a:chOff x="7493876" y="2774731"/>
            <a:chExt cx="1481958" cy="894622"/>
          </a:xfrm>
        </p:grpSpPr>
        <p:sp>
          <p:nvSpPr>
            <p:cNvPr id="349" name="Freeform 348">
              <a:extLst>
                <a:ext uri="{FF2B5EF4-FFF2-40B4-BE49-F238E27FC236}">
                  <a16:creationId xmlns:a16="http://schemas.microsoft.com/office/drawing/2014/main" id="{6320A0F2-2D70-F041-57E3-21D8D2BE7CA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50" name="Oval 349">
              <a:extLst>
                <a:ext uri="{FF2B5EF4-FFF2-40B4-BE49-F238E27FC236}">
                  <a16:creationId xmlns:a16="http://schemas.microsoft.com/office/drawing/2014/main" id="{FC6E5532-6C25-9D32-8423-9491C6215A3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51" name="Group 350">
              <a:extLst>
                <a:ext uri="{FF2B5EF4-FFF2-40B4-BE49-F238E27FC236}">
                  <a16:creationId xmlns:a16="http://schemas.microsoft.com/office/drawing/2014/main" id="{20CE577B-3F5A-260F-9C0D-280D56DACACC}"/>
                </a:ext>
              </a:extLst>
            </p:cNvPr>
            <p:cNvGrpSpPr/>
            <p:nvPr/>
          </p:nvGrpSpPr>
          <p:grpSpPr>
            <a:xfrm>
              <a:off x="7713663" y="2848339"/>
              <a:ext cx="1042107" cy="425543"/>
              <a:chOff x="7786941" y="2884917"/>
              <a:chExt cx="897649" cy="353919"/>
            </a:xfrm>
          </p:grpSpPr>
          <p:sp>
            <p:nvSpPr>
              <p:cNvPr id="352" name="Freeform 351">
                <a:extLst>
                  <a:ext uri="{FF2B5EF4-FFF2-40B4-BE49-F238E27FC236}">
                    <a16:creationId xmlns:a16="http://schemas.microsoft.com/office/drawing/2014/main" id="{7EF669FD-3D93-F60A-B880-0CE8396CEC8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3" name="Freeform 352">
                <a:extLst>
                  <a:ext uri="{FF2B5EF4-FFF2-40B4-BE49-F238E27FC236}">
                    <a16:creationId xmlns:a16="http://schemas.microsoft.com/office/drawing/2014/main" id="{64690180-BE5A-D4B4-882B-6711DF533C1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4" name="Freeform 353">
                <a:extLst>
                  <a:ext uri="{FF2B5EF4-FFF2-40B4-BE49-F238E27FC236}">
                    <a16:creationId xmlns:a16="http://schemas.microsoft.com/office/drawing/2014/main" id="{DA937A96-B59A-9FC9-3BDE-D656DA809BC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5" name="Freeform 354">
                <a:extLst>
                  <a:ext uri="{FF2B5EF4-FFF2-40B4-BE49-F238E27FC236}">
                    <a16:creationId xmlns:a16="http://schemas.microsoft.com/office/drawing/2014/main" id="{E3CFCA56-6A96-BEEC-FDE7-3742D644068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90" name="Freeform 6">
            <a:extLst>
              <a:ext uri="{FF2B5EF4-FFF2-40B4-BE49-F238E27FC236}">
                <a16:creationId xmlns:a16="http://schemas.microsoft.com/office/drawing/2014/main" id="{CAD13C47-0E87-9C8B-21BA-5F7A579A86E9}"/>
              </a:ext>
            </a:extLst>
          </p:cNvPr>
          <p:cNvSpPr>
            <a:spLocks/>
          </p:cNvSpPr>
          <p:nvPr/>
        </p:nvSpPr>
        <p:spPr bwMode="auto">
          <a:xfrm>
            <a:off x="4581324" y="4994579"/>
            <a:ext cx="542925" cy="295275"/>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5" name="Freeform 91">
            <a:extLst>
              <a:ext uri="{FF2B5EF4-FFF2-40B4-BE49-F238E27FC236}">
                <a16:creationId xmlns:a16="http://schemas.microsoft.com/office/drawing/2014/main" id="{4CEF3197-3BEB-8294-835A-7838D78A59C8}"/>
              </a:ext>
            </a:extLst>
          </p:cNvPr>
          <p:cNvSpPr>
            <a:spLocks/>
          </p:cNvSpPr>
          <p:nvPr/>
        </p:nvSpPr>
        <p:spPr bwMode="auto">
          <a:xfrm>
            <a:off x="5622724" y="4988229"/>
            <a:ext cx="506413" cy="30797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6" name="Freeform 92">
            <a:extLst>
              <a:ext uri="{FF2B5EF4-FFF2-40B4-BE49-F238E27FC236}">
                <a16:creationId xmlns:a16="http://schemas.microsoft.com/office/drawing/2014/main" id="{233C4567-2137-3EA9-5141-7B9276F6CEF8}"/>
              </a:ext>
            </a:extLst>
          </p:cNvPr>
          <p:cNvSpPr>
            <a:spLocks/>
          </p:cNvSpPr>
          <p:nvPr/>
        </p:nvSpPr>
        <p:spPr bwMode="auto">
          <a:xfrm>
            <a:off x="4557512" y="5380342"/>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7" name="Freeform 93">
            <a:extLst>
              <a:ext uri="{FF2B5EF4-FFF2-40B4-BE49-F238E27FC236}">
                <a16:creationId xmlns:a16="http://schemas.microsoft.com/office/drawing/2014/main" id="{CAF1A00E-187D-B164-1597-960354AB72DF}"/>
              </a:ext>
            </a:extLst>
          </p:cNvPr>
          <p:cNvSpPr>
            <a:spLocks/>
          </p:cNvSpPr>
          <p:nvPr/>
        </p:nvSpPr>
        <p:spPr bwMode="auto">
          <a:xfrm>
            <a:off x="5505249" y="5356529"/>
            <a:ext cx="630238" cy="247650"/>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8" name="Freeform 94">
            <a:extLst>
              <a:ext uri="{FF2B5EF4-FFF2-40B4-BE49-F238E27FC236}">
                <a16:creationId xmlns:a16="http://schemas.microsoft.com/office/drawing/2014/main" id="{1027419E-69C2-04F4-DC26-5C8746B563CF}"/>
              </a:ext>
            </a:extLst>
          </p:cNvPr>
          <p:cNvSpPr>
            <a:spLocks/>
          </p:cNvSpPr>
          <p:nvPr/>
        </p:nvSpPr>
        <p:spPr bwMode="auto">
          <a:xfrm>
            <a:off x="6173587" y="5410504"/>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9" name="Freeform 95">
            <a:extLst>
              <a:ext uri="{FF2B5EF4-FFF2-40B4-BE49-F238E27FC236}">
                <a16:creationId xmlns:a16="http://schemas.microsoft.com/office/drawing/2014/main" id="{515BFBB3-964F-38B7-ED43-845120CCC7C0}"/>
              </a:ext>
            </a:extLst>
          </p:cNvPr>
          <p:cNvSpPr>
            <a:spLocks/>
          </p:cNvSpPr>
          <p:nvPr/>
        </p:nvSpPr>
        <p:spPr bwMode="auto">
          <a:xfrm>
            <a:off x="4936923" y="5943904"/>
            <a:ext cx="970395" cy="81756"/>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80" name="Freeform 96">
            <a:extLst>
              <a:ext uri="{FF2B5EF4-FFF2-40B4-BE49-F238E27FC236}">
                <a16:creationId xmlns:a16="http://schemas.microsoft.com/office/drawing/2014/main" id="{103DC549-A9AF-F82C-8B37-6B0B2385D7AB}"/>
              </a:ext>
            </a:extLst>
          </p:cNvPr>
          <p:cNvSpPr>
            <a:spLocks/>
          </p:cNvSpPr>
          <p:nvPr/>
        </p:nvSpPr>
        <p:spPr bwMode="auto">
          <a:xfrm>
            <a:off x="4400349" y="5424888"/>
            <a:ext cx="193675" cy="404716"/>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15" name="Group 314">
            <a:extLst>
              <a:ext uri="{FF2B5EF4-FFF2-40B4-BE49-F238E27FC236}">
                <a16:creationId xmlns:a16="http://schemas.microsoft.com/office/drawing/2014/main" id="{61D4761E-A031-CA2E-6073-2E35F841CE41}"/>
              </a:ext>
            </a:extLst>
          </p:cNvPr>
          <p:cNvGrpSpPr/>
          <p:nvPr/>
        </p:nvGrpSpPr>
        <p:grpSpPr>
          <a:xfrm>
            <a:off x="5868328" y="5862061"/>
            <a:ext cx="496248" cy="260542"/>
            <a:chOff x="7493876" y="2774731"/>
            <a:chExt cx="1481958" cy="894622"/>
          </a:xfrm>
        </p:grpSpPr>
        <p:sp>
          <p:nvSpPr>
            <p:cNvPr id="316" name="Freeform 315">
              <a:extLst>
                <a:ext uri="{FF2B5EF4-FFF2-40B4-BE49-F238E27FC236}">
                  <a16:creationId xmlns:a16="http://schemas.microsoft.com/office/drawing/2014/main" id="{98CE59A6-35A0-CBB0-2EC9-BBC79BDC121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17" name="Oval 316">
              <a:extLst>
                <a:ext uri="{FF2B5EF4-FFF2-40B4-BE49-F238E27FC236}">
                  <a16:creationId xmlns:a16="http://schemas.microsoft.com/office/drawing/2014/main" id="{6169441E-3E91-0854-5B83-727AA04E783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18" name="Group 317">
              <a:extLst>
                <a:ext uri="{FF2B5EF4-FFF2-40B4-BE49-F238E27FC236}">
                  <a16:creationId xmlns:a16="http://schemas.microsoft.com/office/drawing/2014/main" id="{009685CE-53A0-7F41-AA8B-ECEBDC7CFAD0}"/>
                </a:ext>
              </a:extLst>
            </p:cNvPr>
            <p:cNvGrpSpPr/>
            <p:nvPr/>
          </p:nvGrpSpPr>
          <p:grpSpPr>
            <a:xfrm>
              <a:off x="7713663" y="2848339"/>
              <a:ext cx="1042107" cy="425543"/>
              <a:chOff x="7786941" y="2884917"/>
              <a:chExt cx="897649" cy="353919"/>
            </a:xfrm>
          </p:grpSpPr>
          <p:sp>
            <p:nvSpPr>
              <p:cNvPr id="319" name="Freeform 318">
                <a:extLst>
                  <a:ext uri="{FF2B5EF4-FFF2-40B4-BE49-F238E27FC236}">
                    <a16:creationId xmlns:a16="http://schemas.microsoft.com/office/drawing/2014/main" id="{28505CF5-A124-EB2E-D48A-00D74E70D52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0" name="Freeform 319">
                <a:extLst>
                  <a:ext uri="{FF2B5EF4-FFF2-40B4-BE49-F238E27FC236}">
                    <a16:creationId xmlns:a16="http://schemas.microsoft.com/office/drawing/2014/main" id="{24EB6E06-E2B1-4A01-8D89-0CB56418C09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1" name="Freeform 320">
                <a:extLst>
                  <a:ext uri="{FF2B5EF4-FFF2-40B4-BE49-F238E27FC236}">
                    <a16:creationId xmlns:a16="http://schemas.microsoft.com/office/drawing/2014/main" id="{0C3BC699-2EDF-C87C-DEAB-EE38585E985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2" name="Freeform 321">
                <a:extLst>
                  <a:ext uri="{FF2B5EF4-FFF2-40B4-BE49-F238E27FC236}">
                    <a16:creationId xmlns:a16="http://schemas.microsoft.com/office/drawing/2014/main" id="{9E122143-051C-705C-0EB3-BE8D200B392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6D0CCE03-3FB5-A057-2744-69143DEDEEBE}"/>
              </a:ext>
            </a:extLst>
          </p:cNvPr>
          <p:cNvSpPr>
            <a:spLocks noGrp="1"/>
          </p:cNvSpPr>
          <p:nvPr>
            <p:ph type="title"/>
          </p:nvPr>
        </p:nvSpPr>
        <p:spPr>
          <a:xfrm>
            <a:off x="760590" y="272143"/>
            <a:ext cx="11393310" cy="894622"/>
          </a:xfrm>
        </p:spPr>
        <p:txBody>
          <a:bodyPr>
            <a:normAutofit/>
          </a:bodyPr>
          <a:lstStyle/>
          <a:p>
            <a:r>
              <a:rPr lang="en-US" sz="4800" dirty="0"/>
              <a:t>TCP and the congested “bottleneck link”</a:t>
            </a:r>
            <a:endParaRPr lang="en-US" sz="4400" b="0" dirty="0"/>
          </a:p>
        </p:txBody>
      </p:sp>
      <p:sp>
        <p:nvSpPr>
          <p:cNvPr id="6" name="Rectangle 4">
            <a:extLst>
              <a:ext uri="{FF2B5EF4-FFF2-40B4-BE49-F238E27FC236}">
                <a16:creationId xmlns:a16="http://schemas.microsoft.com/office/drawing/2014/main" id="{F6E60047-AE23-338E-0954-259516FB0050}"/>
              </a:ext>
            </a:extLst>
          </p:cNvPr>
          <p:cNvSpPr txBox="1">
            <a:spLocks noChangeArrowheads="1"/>
          </p:cNvSpPr>
          <p:nvPr/>
        </p:nvSpPr>
        <p:spPr>
          <a:xfrm>
            <a:off x="667043" y="1366203"/>
            <a:ext cx="11177587" cy="160838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0" indent="-2159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lang="en-US" dirty="0">
                <a:solidFill>
                  <a:prstClr val="black"/>
                </a:solidFill>
                <a:latin typeface="Calibri" panose="020F0502020204030204"/>
              </a:rPr>
              <a:t>multiple flows collectively congest bottleneck link:</a:t>
            </a:r>
          </a:p>
          <a:p>
            <a:pPr marL="690563" lvl="1" indent="-227013">
              <a:spcBef>
                <a:spcPts val="400"/>
              </a:spcBef>
              <a:buClr>
                <a:srgbClr val="0000A3"/>
              </a:buClr>
              <a:defRPr/>
            </a:pPr>
            <a:r>
              <a:rPr lang="en-US" sz="2800" dirty="0">
                <a:solidFill>
                  <a:prstClr val="black"/>
                </a:solidFill>
                <a:latin typeface="Calibri" panose="020F0502020204030204"/>
              </a:rPr>
              <a:t>each executing</a:t>
            </a:r>
            <a:r>
              <a:rPr lang="en-US" sz="2800" dirty="0">
                <a:solidFill>
                  <a:prstClr val="black"/>
                </a:solidFill>
              </a:rPr>
              <a:t> their</a:t>
            </a:r>
            <a:r>
              <a:rPr lang="en-US" sz="2800" dirty="0">
                <a:solidFill>
                  <a:prstClr val="black"/>
                </a:solidFill>
                <a:latin typeface="Calibri" panose="020F0502020204030204"/>
              </a:rPr>
              <a:t> own TCP congestion control</a:t>
            </a:r>
          </a:p>
          <a:p>
            <a:pPr marL="690563" lvl="1" indent="-227013">
              <a:spcBef>
                <a:spcPts val="400"/>
              </a:spcBef>
              <a:buClr>
                <a:srgbClr val="0000A3"/>
              </a:buClr>
              <a:defRPr/>
            </a:pPr>
            <a:r>
              <a:rPr lang="en-US" sz="2800" noProof="0" dirty="0">
                <a:solidFill>
                  <a:prstClr val="black"/>
                </a:solidFill>
                <a:latin typeface="Calibri" panose="020F0502020204030204"/>
              </a:rPr>
              <a:t>each of </a:t>
            </a:r>
            <a:r>
              <a:rPr lang="en-US" sz="2800" i="1" noProof="0" dirty="0">
                <a:solidFill>
                  <a:prstClr val="black"/>
                </a:solidFill>
                <a:latin typeface="Calibri" panose="020F0502020204030204"/>
              </a:rPr>
              <a:t>N</a:t>
            </a:r>
            <a:r>
              <a:rPr lang="en-US" sz="2800" noProof="0" dirty="0">
                <a:solidFill>
                  <a:prstClr val="black"/>
                </a:solidFill>
                <a:latin typeface="Calibri" panose="020F0502020204030204"/>
              </a:rPr>
              <a:t> flows should ideally </a:t>
            </a:r>
            <a:r>
              <a:rPr lang="en-US" sz="2800" dirty="0">
                <a:solidFill>
                  <a:prstClr val="black"/>
                </a:solidFill>
                <a:latin typeface="Calibri" panose="020F0502020204030204"/>
              </a:rPr>
              <a:t>receive throughput of </a:t>
            </a:r>
            <a:r>
              <a:rPr lang="en-US" sz="2800" i="1" noProof="0" dirty="0">
                <a:solidFill>
                  <a:prstClr val="black"/>
                </a:solidFill>
                <a:latin typeface="Calibri" panose="020F0502020204030204"/>
              </a:rPr>
              <a:t>R/N </a:t>
            </a:r>
            <a:endPar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lvl="1" indent="-215900">
              <a:spcBef>
                <a:spcPts val="1000"/>
              </a:spcBef>
              <a:buClr>
                <a:srgbClr val="0000A3"/>
              </a:buClr>
              <a:buFont typeface="Wingdings" charset="2"/>
              <a:buChar char="§"/>
              <a:defRPr/>
            </a:pP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Slide Number Placeholder 2">
            <a:extLst>
              <a:ext uri="{FF2B5EF4-FFF2-40B4-BE49-F238E27FC236}">
                <a16:creationId xmlns:a16="http://schemas.microsoft.com/office/drawing/2014/main" id="{B635E8D0-C0E4-F8AE-90C3-4D7FFDB6497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60</a:t>
            </a:fld>
            <a:endParaRPr lang="en-US" dirty="0"/>
          </a:p>
        </p:txBody>
      </p:sp>
      <p:grpSp>
        <p:nvGrpSpPr>
          <p:cNvPr id="37" name="Group 36">
            <a:extLst>
              <a:ext uri="{FF2B5EF4-FFF2-40B4-BE49-F238E27FC236}">
                <a16:creationId xmlns:a16="http://schemas.microsoft.com/office/drawing/2014/main" id="{5BF05370-6623-FF5B-3C75-AF392D11EA74}"/>
              </a:ext>
            </a:extLst>
          </p:cNvPr>
          <p:cNvGrpSpPr/>
          <p:nvPr/>
        </p:nvGrpSpPr>
        <p:grpSpPr>
          <a:xfrm>
            <a:off x="4932769" y="5194220"/>
            <a:ext cx="768768" cy="634581"/>
            <a:chOff x="8692732" y="3768846"/>
            <a:chExt cx="887337" cy="733973"/>
          </a:xfrm>
        </p:grpSpPr>
        <p:sp>
          <p:nvSpPr>
            <p:cNvPr id="36" name="Freeform 35">
              <a:extLst>
                <a:ext uri="{FF2B5EF4-FFF2-40B4-BE49-F238E27FC236}">
                  <a16:creationId xmlns:a16="http://schemas.microsoft.com/office/drawing/2014/main" id="{FFD190DF-835E-E1D1-2BFA-B2EE45F8F479}"/>
                </a:ext>
              </a:extLst>
            </p:cNvPr>
            <p:cNvSpPr/>
            <p:nvPr/>
          </p:nvSpPr>
          <p:spPr>
            <a:xfrm>
              <a:off x="8692732" y="3842979"/>
              <a:ext cx="757595" cy="178863"/>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bg1"/>
                </a:gs>
                <a:gs pos="51000">
                  <a:srgbClr val="ED356A"/>
                </a:gs>
                <a:gs pos="100000">
                  <a:srgbClr val="E40000"/>
                </a:gs>
              </a:gsLst>
              <a:lin ang="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 name="Freeform 13">
              <a:extLst>
                <a:ext uri="{FF2B5EF4-FFF2-40B4-BE49-F238E27FC236}">
                  <a16:creationId xmlns:a16="http://schemas.microsoft.com/office/drawing/2014/main" id="{250785A7-8C18-868F-F36A-FB30F795C965}"/>
                </a:ext>
              </a:extLst>
            </p:cNvPr>
            <p:cNvSpPr/>
            <p:nvPr/>
          </p:nvSpPr>
          <p:spPr>
            <a:xfrm>
              <a:off x="8694412" y="4310142"/>
              <a:ext cx="757595" cy="19267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bg1"/>
                </a:gs>
                <a:gs pos="51000">
                  <a:srgbClr val="ED356A"/>
                </a:gs>
                <a:gs pos="100000">
                  <a:srgbClr val="E40000"/>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0" name="Oval 29">
              <a:extLst>
                <a:ext uri="{FF2B5EF4-FFF2-40B4-BE49-F238E27FC236}">
                  <a16:creationId xmlns:a16="http://schemas.microsoft.com/office/drawing/2014/main" id="{41F39742-5052-803A-BF8C-C42BAD6F909D}"/>
                </a:ext>
              </a:extLst>
            </p:cNvPr>
            <p:cNvSpPr/>
            <p:nvPr/>
          </p:nvSpPr>
          <p:spPr>
            <a:xfrm>
              <a:off x="8698808" y="4225810"/>
              <a:ext cx="755069" cy="168664"/>
            </a:xfrm>
            <a:prstGeom prst="ellipse">
              <a:avLst/>
            </a:prstGeom>
            <a:solidFill>
              <a:srgbClr val="FA37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 name="Oval 16">
              <a:extLst>
                <a:ext uri="{FF2B5EF4-FFF2-40B4-BE49-F238E27FC236}">
                  <a16:creationId xmlns:a16="http://schemas.microsoft.com/office/drawing/2014/main" id="{445C9901-29FD-F284-0EAD-3277E3F45A2D}"/>
                </a:ext>
              </a:extLst>
            </p:cNvPr>
            <p:cNvSpPr/>
            <p:nvPr/>
          </p:nvSpPr>
          <p:spPr>
            <a:xfrm>
              <a:off x="8696938" y="3768846"/>
              <a:ext cx="755069" cy="168664"/>
            </a:xfrm>
            <a:prstGeom prst="ellipse">
              <a:avLst/>
            </a:prstGeom>
            <a:solidFill>
              <a:srgbClr val="FA37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 name="Group 18">
              <a:extLst>
                <a:ext uri="{FF2B5EF4-FFF2-40B4-BE49-F238E27FC236}">
                  <a16:creationId xmlns:a16="http://schemas.microsoft.com/office/drawing/2014/main" id="{23AD7AA2-B45E-CEED-21E6-6AD1C7FBD3A2}"/>
                </a:ext>
              </a:extLst>
            </p:cNvPr>
            <p:cNvGrpSpPr/>
            <p:nvPr/>
          </p:nvGrpSpPr>
          <p:grpSpPr>
            <a:xfrm>
              <a:off x="8897947" y="3782018"/>
              <a:ext cx="348960" cy="123931"/>
              <a:chOff x="7786941" y="2884917"/>
              <a:chExt cx="897649" cy="353919"/>
            </a:xfrm>
          </p:grpSpPr>
          <p:sp>
            <p:nvSpPr>
              <p:cNvPr id="21" name="Freeform 20">
                <a:extLst>
                  <a:ext uri="{FF2B5EF4-FFF2-40B4-BE49-F238E27FC236}">
                    <a16:creationId xmlns:a16="http://schemas.microsoft.com/office/drawing/2014/main" id="{1D6B95E5-F5AE-97C1-9034-95690277C8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BD1A2EAA-8AC5-180F-3387-854F0FADF8B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1CC5E81A-6925-D465-D05B-5DE2404326F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Freeform 26">
                <a:extLst>
                  <a:ext uri="{FF2B5EF4-FFF2-40B4-BE49-F238E27FC236}">
                    <a16:creationId xmlns:a16="http://schemas.microsoft.com/office/drawing/2014/main" id="{80787448-CB6E-E43B-DA1E-398CDFFBA4A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34" name="Straight Connector 33">
              <a:extLst>
                <a:ext uri="{FF2B5EF4-FFF2-40B4-BE49-F238E27FC236}">
                  <a16:creationId xmlns:a16="http://schemas.microsoft.com/office/drawing/2014/main" id="{CCA06453-B111-A7ED-9C4E-5F471D159B93}"/>
                </a:ext>
              </a:extLst>
            </p:cNvPr>
            <p:cNvCxnSpPr>
              <a:stCxn id="30" idx="2"/>
            </p:cNvCxnSpPr>
            <p:nvPr/>
          </p:nvCxnSpPr>
          <p:spPr>
            <a:xfrm flipH="1" flipV="1">
              <a:off x="8694412" y="3851391"/>
              <a:ext cx="4396" cy="458751"/>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4DB4073-158A-9C29-1A2E-C14AB480711F}"/>
                </a:ext>
              </a:extLst>
            </p:cNvPr>
            <p:cNvCxnSpPr/>
            <p:nvPr/>
          </p:nvCxnSpPr>
          <p:spPr>
            <a:xfrm flipH="1" flipV="1">
              <a:off x="9453877" y="3842979"/>
              <a:ext cx="4396" cy="458751"/>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pic>
          <p:nvPicPr>
            <p:cNvPr id="11" name="Picture 10" descr="A row of colorful rectangular objects&#10;&#10;Description automatically generated">
              <a:extLst>
                <a:ext uri="{FF2B5EF4-FFF2-40B4-BE49-F238E27FC236}">
                  <a16:creationId xmlns:a16="http://schemas.microsoft.com/office/drawing/2014/main" id="{0031780E-3965-ADCA-7733-EE6AC49B2461}"/>
                </a:ext>
              </a:extLst>
            </p:cNvPr>
            <p:cNvPicPr>
              <a:picLocks noChangeAspect="1"/>
            </p:cNvPicPr>
            <p:nvPr/>
          </p:nvPicPr>
          <p:blipFill>
            <a:blip r:embed="rId3"/>
            <a:stretch>
              <a:fillRect/>
            </a:stretch>
          </p:blipFill>
          <p:spPr>
            <a:xfrm>
              <a:off x="8897947" y="3957329"/>
              <a:ext cx="682122" cy="390314"/>
            </a:xfrm>
            <a:prstGeom prst="rect">
              <a:avLst/>
            </a:prstGeom>
          </p:spPr>
        </p:pic>
      </p:grpSp>
      <p:grpSp>
        <p:nvGrpSpPr>
          <p:cNvPr id="38" name="Group 37">
            <a:extLst>
              <a:ext uri="{FF2B5EF4-FFF2-40B4-BE49-F238E27FC236}">
                <a16:creationId xmlns:a16="http://schemas.microsoft.com/office/drawing/2014/main" id="{E3816AD1-B3E1-BA51-5128-02522C010DC7}"/>
              </a:ext>
            </a:extLst>
          </p:cNvPr>
          <p:cNvGrpSpPr/>
          <p:nvPr/>
        </p:nvGrpSpPr>
        <p:grpSpPr>
          <a:xfrm>
            <a:off x="1916841" y="3261962"/>
            <a:ext cx="1322364" cy="3338489"/>
            <a:chOff x="2187427" y="1018200"/>
            <a:chExt cx="1149383" cy="2958858"/>
          </a:xfrm>
        </p:grpSpPr>
        <p:sp>
          <p:nvSpPr>
            <p:cNvPr id="39" name="Freeform 417">
              <a:extLst>
                <a:ext uri="{FF2B5EF4-FFF2-40B4-BE49-F238E27FC236}">
                  <a16:creationId xmlns:a16="http://schemas.microsoft.com/office/drawing/2014/main" id="{D6D39DD7-3E34-3972-B0B8-16CC618E9504}"/>
                </a:ext>
              </a:extLst>
            </p:cNvPr>
            <p:cNvSpPr>
              <a:spLocks/>
            </p:cNvSpPr>
            <p:nvPr/>
          </p:nvSpPr>
          <p:spPr bwMode="auto">
            <a:xfrm>
              <a:off x="2193296" y="1226167"/>
              <a:ext cx="1143514" cy="68053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dirty="0"/>
            </a:p>
          </p:txBody>
        </p:sp>
        <p:pic>
          <p:nvPicPr>
            <p:cNvPr id="40" name="Picture 39" descr="A computer with a green screen&#10;&#10;Description automatically generated">
              <a:extLst>
                <a:ext uri="{FF2B5EF4-FFF2-40B4-BE49-F238E27FC236}">
                  <a16:creationId xmlns:a16="http://schemas.microsoft.com/office/drawing/2014/main" id="{5A4B6895-6225-B4EF-43D7-AE6E682D7BD5}"/>
                </a:ext>
              </a:extLst>
            </p:cNvPr>
            <p:cNvPicPr>
              <a:picLocks noChangeAspect="1"/>
            </p:cNvPicPr>
            <p:nvPr/>
          </p:nvPicPr>
          <p:blipFill>
            <a:blip r:embed="rId4"/>
            <a:stretch>
              <a:fillRect/>
            </a:stretch>
          </p:blipFill>
          <p:spPr>
            <a:xfrm>
              <a:off x="2193295" y="1018200"/>
              <a:ext cx="571757" cy="566742"/>
            </a:xfrm>
            <a:prstGeom prst="rect">
              <a:avLst/>
            </a:prstGeom>
          </p:spPr>
        </p:pic>
        <p:sp>
          <p:nvSpPr>
            <p:cNvPr id="41" name="Freeform 417">
              <a:extLst>
                <a:ext uri="{FF2B5EF4-FFF2-40B4-BE49-F238E27FC236}">
                  <a16:creationId xmlns:a16="http://schemas.microsoft.com/office/drawing/2014/main" id="{8F5E38F6-154B-371A-39CB-58D964595628}"/>
                </a:ext>
              </a:extLst>
            </p:cNvPr>
            <p:cNvSpPr>
              <a:spLocks/>
            </p:cNvSpPr>
            <p:nvPr/>
          </p:nvSpPr>
          <p:spPr bwMode="auto">
            <a:xfrm>
              <a:off x="2193296" y="1961034"/>
              <a:ext cx="1143514" cy="68053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dirty="0"/>
            </a:p>
          </p:txBody>
        </p:sp>
        <p:sp>
          <p:nvSpPr>
            <p:cNvPr id="42" name="Freeform 417">
              <a:extLst>
                <a:ext uri="{FF2B5EF4-FFF2-40B4-BE49-F238E27FC236}">
                  <a16:creationId xmlns:a16="http://schemas.microsoft.com/office/drawing/2014/main" id="{39B16BFE-724E-0361-2472-E808A228AAEE}"/>
                </a:ext>
              </a:extLst>
            </p:cNvPr>
            <p:cNvSpPr>
              <a:spLocks/>
            </p:cNvSpPr>
            <p:nvPr/>
          </p:nvSpPr>
          <p:spPr bwMode="auto">
            <a:xfrm>
              <a:off x="2187427" y="3296525"/>
              <a:ext cx="1143514" cy="68053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dirty="0"/>
            </a:p>
          </p:txBody>
        </p:sp>
        <p:grpSp>
          <p:nvGrpSpPr>
            <p:cNvPr id="43" name="Group 42">
              <a:extLst>
                <a:ext uri="{FF2B5EF4-FFF2-40B4-BE49-F238E27FC236}">
                  <a16:creationId xmlns:a16="http://schemas.microsoft.com/office/drawing/2014/main" id="{1B17814E-E26F-F7D3-F39A-7C696B9E06DF}"/>
                </a:ext>
              </a:extLst>
            </p:cNvPr>
            <p:cNvGrpSpPr/>
            <p:nvPr/>
          </p:nvGrpSpPr>
          <p:grpSpPr>
            <a:xfrm>
              <a:off x="2221530" y="1863658"/>
              <a:ext cx="571757" cy="566742"/>
              <a:chOff x="5973704" y="2562470"/>
              <a:chExt cx="2172970" cy="2153910"/>
            </a:xfrm>
          </p:grpSpPr>
          <p:pic>
            <p:nvPicPr>
              <p:cNvPr id="48" name="Picture 47" descr="A computer with a green screen&#10;&#10;Description automatically generated">
                <a:extLst>
                  <a:ext uri="{FF2B5EF4-FFF2-40B4-BE49-F238E27FC236}">
                    <a16:creationId xmlns:a16="http://schemas.microsoft.com/office/drawing/2014/main" id="{8915B6BB-099C-2960-6462-B49DD2819B8F}"/>
                  </a:ext>
                </a:extLst>
              </p:cNvPr>
              <p:cNvPicPr>
                <a:picLocks noChangeAspect="1"/>
              </p:cNvPicPr>
              <p:nvPr/>
            </p:nvPicPr>
            <p:blipFill>
              <a:blip r:embed="rId4"/>
              <a:stretch>
                <a:fillRect/>
              </a:stretch>
            </p:blipFill>
            <p:spPr>
              <a:xfrm>
                <a:off x="5973704" y="2562470"/>
                <a:ext cx="2172970" cy="2153910"/>
              </a:xfrm>
              <a:prstGeom prst="rect">
                <a:avLst/>
              </a:prstGeom>
            </p:spPr>
          </p:pic>
          <p:sp>
            <p:nvSpPr>
              <p:cNvPr id="49" name="Freeform 48">
                <a:extLst>
                  <a:ext uri="{FF2B5EF4-FFF2-40B4-BE49-F238E27FC236}">
                    <a16:creationId xmlns:a16="http://schemas.microsoft.com/office/drawing/2014/main" id="{D4A37CC1-8261-EFA2-B388-29B27B7F04BC}"/>
                  </a:ext>
                </a:extLst>
              </p:cNvPr>
              <p:cNvSpPr/>
              <p:nvPr/>
            </p:nvSpPr>
            <p:spPr>
              <a:xfrm>
                <a:off x="6378038" y="3006418"/>
                <a:ext cx="1037815" cy="904875"/>
              </a:xfrm>
              <a:custGeom>
                <a:avLst/>
                <a:gdLst>
                  <a:gd name="connsiteX0" fmla="*/ 0 w 1002890"/>
                  <a:gd name="connsiteY0" fmla="*/ 29496 h 914400"/>
                  <a:gd name="connsiteX1" fmla="*/ 1002890 w 1002890"/>
                  <a:gd name="connsiteY1" fmla="*/ 0 h 914400"/>
                  <a:gd name="connsiteX2" fmla="*/ 1002890 w 1002890"/>
                  <a:gd name="connsiteY2" fmla="*/ 811161 h 914400"/>
                  <a:gd name="connsiteX3" fmla="*/ 88490 w 1002890"/>
                  <a:gd name="connsiteY3" fmla="*/ 914400 h 914400"/>
                  <a:gd name="connsiteX4" fmla="*/ 0 w 1002890"/>
                  <a:gd name="connsiteY4" fmla="*/ 29496 h 914400"/>
                  <a:gd name="connsiteX0" fmla="*/ 0 w 1009240"/>
                  <a:gd name="connsiteY0" fmla="*/ 48546 h 914400"/>
                  <a:gd name="connsiteX1" fmla="*/ 1009240 w 1009240"/>
                  <a:gd name="connsiteY1" fmla="*/ 0 h 914400"/>
                  <a:gd name="connsiteX2" fmla="*/ 1009240 w 1009240"/>
                  <a:gd name="connsiteY2" fmla="*/ 811161 h 914400"/>
                  <a:gd name="connsiteX3" fmla="*/ 94840 w 1009240"/>
                  <a:gd name="connsiteY3" fmla="*/ 914400 h 914400"/>
                  <a:gd name="connsiteX4" fmla="*/ 0 w 1009240"/>
                  <a:gd name="connsiteY4" fmla="*/ 48546 h 914400"/>
                  <a:gd name="connsiteX0" fmla="*/ 0 w 999715"/>
                  <a:gd name="connsiteY0" fmla="*/ 35846 h 914400"/>
                  <a:gd name="connsiteX1" fmla="*/ 999715 w 999715"/>
                  <a:gd name="connsiteY1" fmla="*/ 0 h 914400"/>
                  <a:gd name="connsiteX2" fmla="*/ 999715 w 999715"/>
                  <a:gd name="connsiteY2" fmla="*/ 811161 h 914400"/>
                  <a:gd name="connsiteX3" fmla="*/ 85315 w 999715"/>
                  <a:gd name="connsiteY3" fmla="*/ 914400 h 914400"/>
                  <a:gd name="connsiteX4" fmla="*/ 0 w 999715"/>
                  <a:gd name="connsiteY4" fmla="*/ 35846 h 914400"/>
                  <a:gd name="connsiteX0" fmla="*/ 0 w 999715"/>
                  <a:gd name="connsiteY0" fmla="*/ 35846 h 882650"/>
                  <a:gd name="connsiteX1" fmla="*/ 999715 w 999715"/>
                  <a:gd name="connsiteY1" fmla="*/ 0 h 882650"/>
                  <a:gd name="connsiteX2" fmla="*/ 999715 w 999715"/>
                  <a:gd name="connsiteY2" fmla="*/ 811161 h 882650"/>
                  <a:gd name="connsiteX3" fmla="*/ 69440 w 999715"/>
                  <a:gd name="connsiteY3" fmla="*/ 882650 h 882650"/>
                  <a:gd name="connsiteX4" fmla="*/ 0 w 999715"/>
                  <a:gd name="connsiteY4" fmla="*/ 35846 h 882650"/>
                  <a:gd name="connsiteX0" fmla="*/ 0 w 1018765"/>
                  <a:gd name="connsiteY0" fmla="*/ 35846 h 882650"/>
                  <a:gd name="connsiteX1" fmla="*/ 999715 w 1018765"/>
                  <a:gd name="connsiteY1" fmla="*/ 0 h 882650"/>
                  <a:gd name="connsiteX2" fmla="*/ 1018765 w 1018765"/>
                  <a:gd name="connsiteY2" fmla="*/ 827036 h 882650"/>
                  <a:gd name="connsiteX3" fmla="*/ 69440 w 1018765"/>
                  <a:gd name="connsiteY3" fmla="*/ 882650 h 882650"/>
                  <a:gd name="connsiteX4" fmla="*/ 0 w 1018765"/>
                  <a:gd name="connsiteY4" fmla="*/ 35846 h 882650"/>
                  <a:gd name="connsiteX0" fmla="*/ 0 w 1018765"/>
                  <a:gd name="connsiteY0" fmla="*/ 32671 h 879475"/>
                  <a:gd name="connsiteX1" fmla="*/ 971140 w 1018765"/>
                  <a:gd name="connsiteY1" fmla="*/ 0 h 879475"/>
                  <a:gd name="connsiteX2" fmla="*/ 1018765 w 1018765"/>
                  <a:gd name="connsiteY2" fmla="*/ 823861 h 879475"/>
                  <a:gd name="connsiteX3" fmla="*/ 69440 w 1018765"/>
                  <a:gd name="connsiteY3" fmla="*/ 879475 h 879475"/>
                  <a:gd name="connsiteX4" fmla="*/ 0 w 1018765"/>
                  <a:gd name="connsiteY4" fmla="*/ 32671 h 879475"/>
                  <a:gd name="connsiteX0" fmla="*/ 0 w 1018765"/>
                  <a:gd name="connsiteY0" fmla="*/ 29496 h 876300"/>
                  <a:gd name="connsiteX1" fmla="*/ 987015 w 1018765"/>
                  <a:gd name="connsiteY1" fmla="*/ 0 h 876300"/>
                  <a:gd name="connsiteX2" fmla="*/ 1018765 w 1018765"/>
                  <a:gd name="connsiteY2" fmla="*/ 820686 h 876300"/>
                  <a:gd name="connsiteX3" fmla="*/ 69440 w 1018765"/>
                  <a:gd name="connsiteY3" fmla="*/ 876300 h 876300"/>
                  <a:gd name="connsiteX4" fmla="*/ 0 w 1018765"/>
                  <a:gd name="connsiteY4" fmla="*/ 29496 h 876300"/>
                  <a:gd name="connsiteX0" fmla="*/ 0 w 1002890"/>
                  <a:gd name="connsiteY0" fmla="*/ 26321 h 876300"/>
                  <a:gd name="connsiteX1" fmla="*/ 971140 w 1002890"/>
                  <a:gd name="connsiteY1" fmla="*/ 0 h 876300"/>
                  <a:gd name="connsiteX2" fmla="*/ 1002890 w 1002890"/>
                  <a:gd name="connsiteY2" fmla="*/ 820686 h 876300"/>
                  <a:gd name="connsiteX3" fmla="*/ 53565 w 1002890"/>
                  <a:gd name="connsiteY3" fmla="*/ 876300 h 876300"/>
                  <a:gd name="connsiteX4" fmla="*/ 0 w 1002890"/>
                  <a:gd name="connsiteY4" fmla="*/ 26321 h 876300"/>
                  <a:gd name="connsiteX0" fmla="*/ 0 w 1021940"/>
                  <a:gd name="connsiteY0" fmla="*/ 2949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9496 h 876300"/>
                  <a:gd name="connsiteX0" fmla="*/ 0 w 1021940"/>
                  <a:gd name="connsiteY0" fmla="*/ 2314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3146 h 876300"/>
                  <a:gd name="connsiteX0" fmla="*/ 0 w 1021940"/>
                  <a:gd name="connsiteY0" fmla="*/ 23146 h 911225"/>
                  <a:gd name="connsiteX1" fmla="*/ 990190 w 1021940"/>
                  <a:gd name="connsiteY1" fmla="*/ 0 h 911225"/>
                  <a:gd name="connsiteX2" fmla="*/ 1021940 w 1021940"/>
                  <a:gd name="connsiteY2" fmla="*/ 820686 h 911225"/>
                  <a:gd name="connsiteX3" fmla="*/ 75790 w 1021940"/>
                  <a:gd name="connsiteY3" fmla="*/ 911225 h 911225"/>
                  <a:gd name="connsiteX4" fmla="*/ 0 w 1021940"/>
                  <a:gd name="connsiteY4" fmla="*/ 23146 h 911225"/>
                  <a:gd name="connsiteX0" fmla="*/ 0 w 1040990"/>
                  <a:gd name="connsiteY0" fmla="*/ 23146 h 911225"/>
                  <a:gd name="connsiteX1" fmla="*/ 990190 w 1040990"/>
                  <a:gd name="connsiteY1" fmla="*/ 0 h 911225"/>
                  <a:gd name="connsiteX2" fmla="*/ 1040990 w 1040990"/>
                  <a:gd name="connsiteY2" fmla="*/ 846086 h 911225"/>
                  <a:gd name="connsiteX3" fmla="*/ 75790 w 1040990"/>
                  <a:gd name="connsiteY3" fmla="*/ 911225 h 911225"/>
                  <a:gd name="connsiteX4" fmla="*/ 0 w 1040990"/>
                  <a:gd name="connsiteY4" fmla="*/ 23146 h 911225"/>
                  <a:gd name="connsiteX0" fmla="*/ 0 w 1040990"/>
                  <a:gd name="connsiteY0" fmla="*/ 16796 h 904875"/>
                  <a:gd name="connsiteX1" fmla="*/ 1002890 w 1040990"/>
                  <a:gd name="connsiteY1" fmla="*/ 0 h 904875"/>
                  <a:gd name="connsiteX2" fmla="*/ 1040990 w 1040990"/>
                  <a:gd name="connsiteY2" fmla="*/ 839736 h 904875"/>
                  <a:gd name="connsiteX3" fmla="*/ 75790 w 1040990"/>
                  <a:gd name="connsiteY3" fmla="*/ 904875 h 904875"/>
                  <a:gd name="connsiteX4" fmla="*/ 0 w 1040990"/>
                  <a:gd name="connsiteY4" fmla="*/ 16796 h 904875"/>
                  <a:gd name="connsiteX0" fmla="*/ 0 w 1037815"/>
                  <a:gd name="connsiteY0" fmla="*/ 13621 h 904875"/>
                  <a:gd name="connsiteX1" fmla="*/ 999715 w 1037815"/>
                  <a:gd name="connsiteY1" fmla="*/ 0 h 904875"/>
                  <a:gd name="connsiteX2" fmla="*/ 1037815 w 1037815"/>
                  <a:gd name="connsiteY2" fmla="*/ 839736 h 904875"/>
                  <a:gd name="connsiteX3" fmla="*/ 72615 w 1037815"/>
                  <a:gd name="connsiteY3" fmla="*/ 904875 h 904875"/>
                  <a:gd name="connsiteX4" fmla="*/ 0 w 1037815"/>
                  <a:gd name="connsiteY4" fmla="*/ 13621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815" h="904875">
                    <a:moveTo>
                      <a:pt x="0" y="13621"/>
                    </a:moveTo>
                    <a:lnTo>
                      <a:pt x="999715" y="0"/>
                    </a:lnTo>
                    <a:lnTo>
                      <a:pt x="1037815" y="839736"/>
                    </a:lnTo>
                    <a:lnTo>
                      <a:pt x="72615" y="904875"/>
                    </a:lnTo>
                    <a:lnTo>
                      <a:pt x="0" y="13621"/>
                    </a:lnTo>
                    <a:close/>
                  </a:path>
                </a:pathLst>
              </a:custGeom>
              <a:gradFill>
                <a:gsLst>
                  <a:gs pos="0">
                    <a:srgbClr val="FCBA92"/>
                  </a:gs>
                  <a:gs pos="53000">
                    <a:srgbClr val="FEE3D0"/>
                  </a:gs>
                  <a:gs pos="99000">
                    <a:srgbClr val="FCBA92"/>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D7D57FB6-98ED-8F22-1100-1C6194FA4582}"/>
                  </a:ext>
                </a:extLst>
              </p:cNvPr>
              <p:cNvCxnSpPr>
                <a:cxnSpLocks/>
              </p:cNvCxnSpPr>
              <p:nvPr/>
            </p:nvCxnSpPr>
            <p:spPr>
              <a:xfrm flipV="1">
                <a:off x="6878781" y="4400550"/>
                <a:ext cx="944419" cy="120650"/>
              </a:xfrm>
              <a:prstGeom prst="line">
                <a:avLst/>
              </a:prstGeom>
              <a:ln w="31750" cap="rnd">
                <a:solidFill>
                  <a:srgbClr val="FCBA92"/>
                </a:solidFill>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417D3647-ACDB-BF56-7619-6025EDD07B75}"/>
                </a:ext>
              </a:extLst>
            </p:cNvPr>
            <p:cNvGrpSpPr/>
            <p:nvPr/>
          </p:nvGrpSpPr>
          <p:grpSpPr>
            <a:xfrm>
              <a:off x="2211440" y="3041647"/>
              <a:ext cx="571757" cy="566742"/>
              <a:chOff x="5973704" y="2562470"/>
              <a:chExt cx="2172970" cy="2153910"/>
            </a:xfrm>
          </p:grpSpPr>
          <p:pic>
            <p:nvPicPr>
              <p:cNvPr id="45" name="Picture 44" descr="A computer with a green screen&#10;&#10;Description automatically generated">
                <a:extLst>
                  <a:ext uri="{FF2B5EF4-FFF2-40B4-BE49-F238E27FC236}">
                    <a16:creationId xmlns:a16="http://schemas.microsoft.com/office/drawing/2014/main" id="{16CE30C8-7C7D-541E-DD6D-1FEABD8D6C56}"/>
                  </a:ext>
                </a:extLst>
              </p:cNvPr>
              <p:cNvPicPr>
                <a:picLocks noChangeAspect="1"/>
              </p:cNvPicPr>
              <p:nvPr/>
            </p:nvPicPr>
            <p:blipFill>
              <a:blip r:embed="rId4"/>
              <a:stretch>
                <a:fillRect/>
              </a:stretch>
            </p:blipFill>
            <p:spPr>
              <a:xfrm>
                <a:off x="5973704" y="2562470"/>
                <a:ext cx="2172970" cy="2153910"/>
              </a:xfrm>
              <a:prstGeom prst="rect">
                <a:avLst/>
              </a:prstGeom>
            </p:spPr>
          </p:pic>
          <p:sp>
            <p:nvSpPr>
              <p:cNvPr id="46" name="Freeform 45">
                <a:extLst>
                  <a:ext uri="{FF2B5EF4-FFF2-40B4-BE49-F238E27FC236}">
                    <a16:creationId xmlns:a16="http://schemas.microsoft.com/office/drawing/2014/main" id="{05661C77-73B4-749A-FAC2-833F1B2B3DE4}"/>
                  </a:ext>
                </a:extLst>
              </p:cNvPr>
              <p:cNvSpPr/>
              <p:nvPr/>
            </p:nvSpPr>
            <p:spPr>
              <a:xfrm>
                <a:off x="6378038" y="3006418"/>
                <a:ext cx="1037815" cy="904875"/>
              </a:xfrm>
              <a:custGeom>
                <a:avLst/>
                <a:gdLst>
                  <a:gd name="connsiteX0" fmla="*/ 0 w 1002890"/>
                  <a:gd name="connsiteY0" fmla="*/ 29496 h 914400"/>
                  <a:gd name="connsiteX1" fmla="*/ 1002890 w 1002890"/>
                  <a:gd name="connsiteY1" fmla="*/ 0 h 914400"/>
                  <a:gd name="connsiteX2" fmla="*/ 1002890 w 1002890"/>
                  <a:gd name="connsiteY2" fmla="*/ 811161 h 914400"/>
                  <a:gd name="connsiteX3" fmla="*/ 88490 w 1002890"/>
                  <a:gd name="connsiteY3" fmla="*/ 914400 h 914400"/>
                  <a:gd name="connsiteX4" fmla="*/ 0 w 1002890"/>
                  <a:gd name="connsiteY4" fmla="*/ 29496 h 914400"/>
                  <a:gd name="connsiteX0" fmla="*/ 0 w 1009240"/>
                  <a:gd name="connsiteY0" fmla="*/ 48546 h 914400"/>
                  <a:gd name="connsiteX1" fmla="*/ 1009240 w 1009240"/>
                  <a:gd name="connsiteY1" fmla="*/ 0 h 914400"/>
                  <a:gd name="connsiteX2" fmla="*/ 1009240 w 1009240"/>
                  <a:gd name="connsiteY2" fmla="*/ 811161 h 914400"/>
                  <a:gd name="connsiteX3" fmla="*/ 94840 w 1009240"/>
                  <a:gd name="connsiteY3" fmla="*/ 914400 h 914400"/>
                  <a:gd name="connsiteX4" fmla="*/ 0 w 1009240"/>
                  <a:gd name="connsiteY4" fmla="*/ 48546 h 914400"/>
                  <a:gd name="connsiteX0" fmla="*/ 0 w 999715"/>
                  <a:gd name="connsiteY0" fmla="*/ 35846 h 914400"/>
                  <a:gd name="connsiteX1" fmla="*/ 999715 w 999715"/>
                  <a:gd name="connsiteY1" fmla="*/ 0 h 914400"/>
                  <a:gd name="connsiteX2" fmla="*/ 999715 w 999715"/>
                  <a:gd name="connsiteY2" fmla="*/ 811161 h 914400"/>
                  <a:gd name="connsiteX3" fmla="*/ 85315 w 999715"/>
                  <a:gd name="connsiteY3" fmla="*/ 914400 h 914400"/>
                  <a:gd name="connsiteX4" fmla="*/ 0 w 999715"/>
                  <a:gd name="connsiteY4" fmla="*/ 35846 h 914400"/>
                  <a:gd name="connsiteX0" fmla="*/ 0 w 999715"/>
                  <a:gd name="connsiteY0" fmla="*/ 35846 h 882650"/>
                  <a:gd name="connsiteX1" fmla="*/ 999715 w 999715"/>
                  <a:gd name="connsiteY1" fmla="*/ 0 h 882650"/>
                  <a:gd name="connsiteX2" fmla="*/ 999715 w 999715"/>
                  <a:gd name="connsiteY2" fmla="*/ 811161 h 882650"/>
                  <a:gd name="connsiteX3" fmla="*/ 69440 w 999715"/>
                  <a:gd name="connsiteY3" fmla="*/ 882650 h 882650"/>
                  <a:gd name="connsiteX4" fmla="*/ 0 w 999715"/>
                  <a:gd name="connsiteY4" fmla="*/ 35846 h 882650"/>
                  <a:gd name="connsiteX0" fmla="*/ 0 w 1018765"/>
                  <a:gd name="connsiteY0" fmla="*/ 35846 h 882650"/>
                  <a:gd name="connsiteX1" fmla="*/ 999715 w 1018765"/>
                  <a:gd name="connsiteY1" fmla="*/ 0 h 882650"/>
                  <a:gd name="connsiteX2" fmla="*/ 1018765 w 1018765"/>
                  <a:gd name="connsiteY2" fmla="*/ 827036 h 882650"/>
                  <a:gd name="connsiteX3" fmla="*/ 69440 w 1018765"/>
                  <a:gd name="connsiteY3" fmla="*/ 882650 h 882650"/>
                  <a:gd name="connsiteX4" fmla="*/ 0 w 1018765"/>
                  <a:gd name="connsiteY4" fmla="*/ 35846 h 882650"/>
                  <a:gd name="connsiteX0" fmla="*/ 0 w 1018765"/>
                  <a:gd name="connsiteY0" fmla="*/ 32671 h 879475"/>
                  <a:gd name="connsiteX1" fmla="*/ 971140 w 1018765"/>
                  <a:gd name="connsiteY1" fmla="*/ 0 h 879475"/>
                  <a:gd name="connsiteX2" fmla="*/ 1018765 w 1018765"/>
                  <a:gd name="connsiteY2" fmla="*/ 823861 h 879475"/>
                  <a:gd name="connsiteX3" fmla="*/ 69440 w 1018765"/>
                  <a:gd name="connsiteY3" fmla="*/ 879475 h 879475"/>
                  <a:gd name="connsiteX4" fmla="*/ 0 w 1018765"/>
                  <a:gd name="connsiteY4" fmla="*/ 32671 h 879475"/>
                  <a:gd name="connsiteX0" fmla="*/ 0 w 1018765"/>
                  <a:gd name="connsiteY0" fmla="*/ 29496 h 876300"/>
                  <a:gd name="connsiteX1" fmla="*/ 987015 w 1018765"/>
                  <a:gd name="connsiteY1" fmla="*/ 0 h 876300"/>
                  <a:gd name="connsiteX2" fmla="*/ 1018765 w 1018765"/>
                  <a:gd name="connsiteY2" fmla="*/ 820686 h 876300"/>
                  <a:gd name="connsiteX3" fmla="*/ 69440 w 1018765"/>
                  <a:gd name="connsiteY3" fmla="*/ 876300 h 876300"/>
                  <a:gd name="connsiteX4" fmla="*/ 0 w 1018765"/>
                  <a:gd name="connsiteY4" fmla="*/ 29496 h 876300"/>
                  <a:gd name="connsiteX0" fmla="*/ 0 w 1002890"/>
                  <a:gd name="connsiteY0" fmla="*/ 26321 h 876300"/>
                  <a:gd name="connsiteX1" fmla="*/ 971140 w 1002890"/>
                  <a:gd name="connsiteY1" fmla="*/ 0 h 876300"/>
                  <a:gd name="connsiteX2" fmla="*/ 1002890 w 1002890"/>
                  <a:gd name="connsiteY2" fmla="*/ 820686 h 876300"/>
                  <a:gd name="connsiteX3" fmla="*/ 53565 w 1002890"/>
                  <a:gd name="connsiteY3" fmla="*/ 876300 h 876300"/>
                  <a:gd name="connsiteX4" fmla="*/ 0 w 1002890"/>
                  <a:gd name="connsiteY4" fmla="*/ 26321 h 876300"/>
                  <a:gd name="connsiteX0" fmla="*/ 0 w 1021940"/>
                  <a:gd name="connsiteY0" fmla="*/ 2949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9496 h 876300"/>
                  <a:gd name="connsiteX0" fmla="*/ 0 w 1021940"/>
                  <a:gd name="connsiteY0" fmla="*/ 2314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3146 h 876300"/>
                  <a:gd name="connsiteX0" fmla="*/ 0 w 1021940"/>
                  <a:gd name="connsiteY0" fmla="*/ 23146 h 911225"/>
                  <a:gd name="connsiteX1" fmla="*/ 990190 w 1021940"/>
                  <a:gd name="connsiteY1" fmla="*/ 0 h 911225"/>
                  <a:gd name="connsiteX2" fmla="*/ 1021940 w 1021940"/>
                  <a:gd name="connsiteY2" fmla="*/ 820686 h 911225"/>
                  <a:gd name="connsiteX3" fmla="*/ 75790 w 1021940"/>
                  <a:gd name="connsiteY3" fmla="*/ 911225 h 911225"/>
                  <a:gd name="connsiteX4" fmla="*/ 0 w 1021940"/>
                  <a:gd name="connsiteY4" fmla="*/ 23146 h 911225"/>
                  <a:gd name="connsiteX0" fmla="*/ 0 w 1040990"/>
                  <a:gd name="connsiteY0" fmla="*/ 23146 h 911225"/>
                  <a:gd name="connsiteX1" fmla="*/ 990190 w 1040990"/>
                  <a:gd name="connsiteY1" fmla="*/ 0 h 911225"/>
                  <a:gd name="connsiteX2" fmla="*/ 1040990 w 1040990"/>
                  <a:gd name="connsiteY2" fmla="*/ 846086 h 911225"/>
                  <a:gd name="connsiteX3" fmla="*/ 75790 w 1040990"/>
                  <a:gd name="connsiteY3" fmla="*/ 911225 h 911225"/>
                  <a:gd name="connsiteX4" fmla="*/ 0 w 1040990"/>
                  <a:gd name="connsiteY4" fmla="*/ 23146 h 911225"/>
                  <a:gd name="connsiteX0" fmla="*/ 0 w 1040990"/>
                  <a:gd name="connsiteY0" fmla="*/ 16796 h 904875"/>
                  <a:gd name="connsiteX1" fmla="*/ 1002890 w 1040990"/>
                  <a:gd name="connsiteY1" fmla="*/ 0 h 904875"/>
                  <a:gd name="connsiteX2" fmla="*/ 1040990 w 1040990"/>
                  <a:gd name="connsiteY2" fmla="*/ 839736 h 904875"/>
                  <a:gd name="connsiteX3" fmla="*/ 75790 w 1040990"/>
                  <a:gd name="connsiteY3" fmla="*/ 904875 h 904875"/>
                  <a:gd name="connsiteX4" fmla="*/ 0 w 1040990"/>
                  <a:gd name="connsiteY4" fmla="*/ 16796 h 904875"/>
                  <a:gd name="connsiteX0" fmla="*/ 0 w 1037815"/>
                  <a:gd name="connsiteY0" fmla="*/ 13621 h 904875"/>
                  <a:gd name="connsiteX1" fmla="*/ 999715 w 1037815"/>
                  <a:gd name="connsiteY1" fmla="*/ 0 h 904875"/>
                  <a:gd name="connsiteX2" fmla="*/ 1037815 w 1037815"/>
                  <a:gd name="connsiteY2" fmla="*/ 839736 h 904875"/>
                  <a:gd name="connsiteX3" fmla="*/ 72615 w 1037815"/>
                  <a:gd name="connsiteY3" fmla="*/ 904875 h 904875"/>
                  <a:gd name="connsiteX4" fmla="*/ 0 w 1037815"/>
                  <a:gd name="connsiteY4" fmla="*/ 13621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815" h="904875">
                    <a:moveTo>
                      <a:pt x="0" y="13621"/>
                    </a:moveTo>
                    <a:lnTo>
                      <a:pt x="999715" y="0"/>
                    </a:lnTo>
                    <a:lnTo>
                      <a:pt x="1037815" y="839736"/>
                    </a:lnTo>
                    <a:lnTo>
                      <a:pt x="72615" y="904875"/>
                    </a:lnTo>
                    <a:lnTo>
                      <a:pt x="0" y="13621"/>
                    </a:lnTo>
                    <a:close/>
                  </a:path>
                </a:pathLst>
              </a:custGeom>
              <a:gradFill>
                <a:gsLst>
                  <a:gs pos="0">
                    <a:srgbClr val="5F57A0"/>
                  </a:gs>
                  <a:gs pos="53000">
                    <a:srgbClr val="8477E4"/>
                  </a:gs>
                  <a:gs pos="99000">
                    <a:srgbClr val="5F57A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6FC4AB24-3DBD-2968-6545-BA2A4B675A22}"/>
                  </a:ext>
                </a:extLst>
              </p:cNvPr>
              <p:cNvCxnSpPr>
                <a:cxnSpLocks/>
              </p:cNvCxnSpPr>
              <p:nvPr/>
            </p:nvCxnSpPr>
            <p:spPr>
              <a:xfrm flipV="1">
                <a:off x="6878781" y="4400550"/>
                <a:ext cx="944419" cy="120650"/>
              </a:xfrm>
              <a:prstGeom prst="line">
                <a:avLst/>
              </a:prstGeom>
              <a:ln w="31750" cap="rnd">
                <a:solidFill>
                  <a:srgbClr val="5F57A0"/>
                </a:solidFill>
              </a:ln>
            </p:spPr>
            <p:style>
              <a:lnRef idx="2">
                <a:schemeClr val="accent1"/>
              </a:lnRef>
              <a:fillRef idx="0">
                <a:schemeClr val="accent1"/>
              </a:fillRef>
              <a:effectRef idx="1">
                <a:schemeClr val="accent1"/>
              </a:effectRef>
              <a:fontRef idx="minor">
                <a:schemeClr val="tx1"/>
              </a:fontRef>
            </p:style>
          </p:cxnSp>
        </p:grpSp>
      </p:grpSp>
      <p:grpSp>
        <p:nvGrpSpPr>
          <p:cNvPr id="51" name="Group 50">
            <a:extLst>
              <a:ext uri="{FF2B5EF4-FFF2-40B4-BE49-F238E27FC236}">
                <a16:creationId xmlns:a16="http://schemas.microsoft.com/office/drawing/2014/main" id="{59780823-5CFA-EA55-3FD6-B0E5837767F4}"/>
              </a:ext>
            </a:extLst>
          </p:cNvPr>
          <p:cNvGrpSpPr/>
          <p:nvPr/>
        </p:nvGrpSpPr>
        <p:grpSpPr>
          <a:xfrm>
            <a:off x="7529914" y="3535921"/>
            <a:ext cx="1529705" cy="3153047"/>
            <a:chOff x="8489331" y="2314488"/>
            <a:chExt cx="1529705" cy="3153047"/>
          </a:xfrm>
        </p:grpSpPr>
        <p:grpSp>
          <p:nvGrpSpPr>
            <p:cNvPr id="52" name="Group 51">
              <a:extLst>
                <a:ext uri="{FF2B5EF4-FFF2-40B4-BE49-F238E27FC236}">
                  <a16:creationId xmlns:a16="http://schemas.microsoft.com/office/drawing/2014/main" id="{ED06E003-043D-1E26-AA85-CDC01C00E953}"/>
                </a:ext>
              </a:extLst>
            </p:cNvPr>
            <p:cNvGrpSpPr/>
            <p:nvPr/>
          </p:nvGrpSpPr>
          <p:grpSpPr>
            <a:xfrm flipH="1">
              <a:off x="8489331" y="2318781"/>
              <a:ext cx="1322364" cy="3148754"/>
              <a:chOff x="2187427" y="1018200"/>
              <a:chExt cx="1149383" cy="2790698"/>
            </a:xfrm>
          </p:grpSpPr>
          <p:sp>
            <p:nvSpPr>
              <p:cNvPr id="58" name="Freeform 417">
                <a:extLst>
                  <a:ext uri="{FF2B5EF4-FFF2-40B4-BE49-F238E27FC236}">
                    <a16:creationId xmlns:a16="http://schemas.microsoft.com/office/drawing/2014/main" id="{B4F08912-AFC8-599A-2E8B-9544E20DE29E}"/>
                  </a:ext>
                </a:extLst>
              </p:cNvPr>
              <p:cNvSpPr>
                <a:spLocks/>
              </p:cNvSpPr>
              <p:nvPr/>
            </p:nvSpPr>
            <p:spPr bwMode="auto">
              <a:xfrm>
                <a:off x="2193296" y="1226167"/>
                <a:ext cx="1143514" cy="68053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dirty="0"/>
              </a:p>
            </p:txBody>
          </p:sp>
          <p:pic>
            <p:nvPicPr>
              <p:cNvPr id="59" name="Picture 58" descr="A computer with a green screen&#10;&#10;Description automatically generated">
                <a:extLst>
                  <a:ext uri="{FF2B5EF4-FFF2-40B4-BE49-F238E27FC236}">
                    <a16:creationId xmlns:a16="http://schemas.microsoft.com/office/drawing/2014/main" id="{7E07C5DE-CB97-38DD-9F76-C7886FC72038}"/>
                  </a:ext>
                </a:extLst>
              </p:cNvPr>
              <p:cNvPicPr>
                <a:picLocks noChangeAspect="1"/>
              </p:cNvPicPr>
              <p:nvPr/>
            </p:nvPicPr>
            <p:blipFill>
              <a:blip r:embed="rId4"/>
              <a:stretch>
                <a:fillRect/>
              </a:stretch>
            </p:blipFill>
            <p:spPr>
              <a:xfrm>
                <a:off x="2193295" y="1018200"/>
                <a:ext cx="571757" cy="566742"/>
              </a:xfrm>
              <a:prstGeom prst="rect">
                <a:avLst/>
              </a:prstGeom>
            </p:spPr>
          </p:pic>
          <p:sp>
            <p:nvSpPr>
              <p:cNvPr id="60" name="Freeform 417">
                <a:extLst>
                  <a:ext uri="{FF2B5EF4-FFF2-40B4-BE49-F238E27FC236}">
                    <a16:creationId xmlns:a16="http://schemas.microsoft.com/office/drawing/2014/main" id="{A44A115A-FD6D-1648-6928-8A97F2743FB6}"/>
                  </a:ext>
                </a:extLst>
              </p:cNvPr>
              <p:cNvSpPr>
                <a:spLocks/>
              </p:cNvSpPr>
              <p:nvPr/>
            </p:nvSpPr>
            <p:spPr bwMode="auto">
              <a:xfrm>
                <a:off x="2193296" y="1961034"/>
                <a:ext cx="1143514" cy="68053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dirty="0"/>
              </a:p>
            </p:txBody>
          </p:sp>
          <p:sp>
            <p:nvSpPr>
              <p:cNvPr id="61" name="Freeform 417">
                <a:extLst>
                  <a:ext uri="{FF2B5EF4-FFF2-40B4-BE49-F238E27FC236}">
                    <a16:creationId xmlns:a16="http://schemas.microsoft.com/office/drawing/2014/main" id="{EB73D587-6397-FF55-5A45-C595A7AC488D}"/>
                  </a:ext>
                </a:extLst>
              </p:cNvPr>
              <p:cNvSpPr>
                <a:spLocks/>
              </p:cNvSpPr>
              <p:nvPr/>
            </p:nvSpPr>
            <p:spPr bwMode="auto">
              <a:xfrm>
                <a:off x="2187427" y="3128365"/>
                <a:ext cx="1143514" cy="68053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dirty="0"/>
              </a:p>
            </p:txBody>
          </p:sp>
          <p:grpSp>
            <p:nvGrpSpPr>
              <p:cNvPr id="62" name="Group 61">
                <a:extLst>
                  <a:ext uri="{FF2B5EF4-FFF2-40B4-BE49-F238E27FC236}">
                    <a16:creationId xmlns:a16="http://schemas.microsoft.com/office/drawing/2014/main" id="{4FD14474-CA87-E041-CCB2-4ED67DEE9DD9}"/>
                  </a:ext>
                </a:extLst>
              </p:cNvPr>
              <p:cNvGrpSpPr/>
              <p:nvPr/>
            </p:nvGrpSpPr>
            <p:grpSpPr>
              <a:xfrm>
                <a:off x="2221530" y="1863658"/>
                <a:ext cx="571757" cy="566742"/>
                <a:chOff x="5973704" y="2562470"/>
                <a:chExt cx="2172970" cy="2153910"/>
              </a:xfrm>
            </p:grpSpPr>
            <p:pic>
              <p:nvPicPr>
                <p:cNvPr id="67" name="Picture 66" descr="A computer with a green screen&#10;&#10;Description automatically generated">
                  <a:extLst>
                    <a:ext uri="{FF2B5EF4-FFF2-40B4-BE49-F238E27FC236}">
                      <a16:creationId xmlns:a16="http://schemas.microsoft.com/office/drawing/2014/main" id="{093E91E0-B617-6A39-74D2-4722D187AF5E}"/>
                    </a:ext>
                  </a:extLst>
                </p:cNvPr>
                <p:cNvPicPr>
                  <a:picLocks noChangeAspect="1"/>
                </p:cNvPicPr>
                <p:nvPr/>
              </p:nvPicPr>
              <p:blipFill>
                <a:blip r:embed="rId4"/>
                <a:stretch>
                  <a:fillRect/>
                </a:stretch>
              </p:blipFill>
              <p:spPr>
                <a:xfrm>
                  <a:off x="5973704" y="2562470"/>
                  <a:ext cx="2172970" cy="2153910"/>
                </a:xfrm>
                <a:prstGeom prst="rect">
                  <a:avLst/>
                </a:prstGeom>
              </p:spPr>
            </p:pic>
            <p:sp>
              <p:nvSpPr>
                <p:cNvPr id="68" name="Freeform 67">
                  <a:extLst>
                    <a:ext uri="{FF2B5EF4-FFF2-40B4-BE49-F238E27FC236}">
                      <a16:creationId xmlns:a16="http://schemas.microsoft.com/office/drawing/2014/main" id="{7653AB30-4DC8-6AFF-C46B-99C30C3CE9EC}"/>
                    </a:ext>
                  </a:extLst>
                </p:cNvPr>
                <p:cNvSpPr/>
                <p:nvPr/>
              </p:nvSpPr>
              <p:spPr>
                <a:xfrm>
                  <a:off x="6378038" y="3006418"/>
                  <a:ext cx="1037815" cy="904875"/>
                </a:xfrm>
                <a:custGeom>
                  <a:avLst/>
                  <a:gdLst>
                    <a:gd name="connsiteX0" fmla="*/ 0 w 1002890"/>
                    <a:gd name="connsiteY0" fmla="*/ 29496 h 914400"/>
                    <a:gd name="connsiteX1" fmla="*/ 1002890 w 1002890"/>
                    <a:gd name="connsiteY1" fmla="*/ 0 h 914400"/>
                    <a:gd name="connsiteX2" fmla="*/ 1002890 w 1002890"/>
                    <a:gd name="connsiteY2" fmla="*/ 811161 h 914400"/>
                    <a:gd name="connsiteX3" fmla="*/ 88490 w 1002890"/>
                    <a:gd name="connsiteY3" fmla="*/ 914400 h 914400"/>
                    <a:gd name="connsiteX4" fmla="*/ 0 w 1002890"/>
                    <a:gd name="connsiteY4" fmla="*/ 29496 h 914400"/>
                    <a:gd name="connsiteX0" fmla="*/ 0 w 1009240"/>
                    <a:gd name="connsiteY0" fmla="*/ 48546 h 914400"/>
                    <a:gd name="connsiteX1" fmla="*/ 1009240 w 1009240"/>
                    <a:gd name="connsiteY1" fmla="*/ 0 h 914400"/>
                    <a:gd name="connsiteX2" fmla="*/ 1009240 w 1009240"/>
                    <a:gd name="connsiteY2" fmla="*/ 811161 h 914400"/>
                    <a:gd name="connsiteX3" fmla="*/ 94840 w 1009240"/>
                    <a:gd name="connsiteY3" fmla="*/ 914400 h 914400"/>
                    <a:gd name="connsiteX4" fmla="*/ 0 w 1009240"/>
                    <a:gd name="connsiteY4" fmla="*/ 48546 h 914400"/>
                    <a:gd name="connsiteX0" fmla="*/ 0 w 999715"/>
                    <a:gd name="connsiteY0" fmla="*/ 35846 h 914400"/>
                    <a:gd name="connsiteX1" fmla="*/ 999715 w 999715"/>
                    <a:gd name="connsiteY1" fmla="*/ 0 h 914400"/>
                    <a:gd name="connsiteX2" fmla="*/ 999715 w 999715"/>
                    <a:gd name="connsiteY2" fmla="*/ 811161 h 914400"/>
                    <a:gd name="connsiteX3" fmla="*/ 85315 w 999715"/>
                    <a:gd name="connsiteY3" fmla="*/ 914400 h 914400"/>
                    <a:gd name="connsiteX4" fmla="*/ 0 w 999715"/>
                    <a:gd name="connsiteY4" fmla="*/ 35846 h 914400"/>
                    <a:gd name="connsiteX0" fmla="*/ 0 w 999715"/>
                    <a:gd name="connsiteY0" fmla="*/ 35846 h 882650"/>
                    <a:gd name="connsiteX1" fmla="*/ 999715 w 999715"/>
                    <a:gd name="connsiteY1" fmla="*/ 0 h 882650"/>
                    <a:gd name="connsiteX2" fmla="*/ 999715 w 999715"/>
                    <a:gd name="connsiteY2" fmla="*/ 811161 h 882650"/>
                    <a:gd name="connsiteX3" fmla="*/ 69440 w 999715"/>
                    <a:gd name="connsiteY3" fmla="*/ 882650 h 882650"/>
                    <a:gd name="connsiteX4" fmla="*/ 0 w 999715"/>
                    <a:gd name="connsiteY4" fmla="*/ 35846 h 882650"/>
                    <a:gd name="connsiteX0" fmla="*/ 0 w 1018765"/>
                    <a:gd name="connsiteY0" fmla="*/ 35846 h 882650"/>
                    <a:gd name="connsiteX1" fmla="*/ 999715 w 1018765"/>
                    <a:gd name="connsiteY1" fmla="*/ 0 h 882650"/>
                    <a:gd name="connsiteX2" fmla="*/ 1018765 w 1018765"/>
                    <a:gd name="connsiteY2" fmla="*/ 827036 h 882650"/>
                    <a:gd name="connsiteX3" fmla="*/ 69440 w 1018765"/>
                    <a:gd name="connsiteY3" fmla="*/ 882650 h 882650"/>
                    <a:gd name="connsiteX4" fmla="*/ 0 w 1018765"/>
                    <a:gd name="connsiteY4" fmla="*/ 35846 h 882650"/>
                    <a:gd name="connsiteX0" fmla="*/ 0 w 1018765"/>
                    <a:gd name="connsiteY0" fmla="*/ 32671 h 879475"/>
                    <a:gd name="connsiteX1" fmla="*/ 971140 w 1018765"/>
                    <a:gd name="connsiteY1" fmla="*/ 0 h 879475"/>
                    <a:gd name="connsiteX2" fmla="*/ 1018765 w 1018765"/>
                    <a:gd name="connsiteY2" fmla="*/ 823861 h 879475"/>
                    <a:gd name="connsiteX3" fmla="*/ 69440 w 1018765"/>
                    <a:gd name="connsiteY3" fmla="*/ 879475 h 879475"/>
                    <a:gd name="connsiteX4" fmla="*/ 0 w 1018765"/>
                    <a:gd name="connsiteY4" fmla="*/ 32671 h 879475"/>
                    <a:gd name="connsiteX0" fmla="*/ 0 w 1018765"/>
                    <a:gd name="connsiteY0" fmla="*/ 29496 h 876300"/>
                    <a:gd name="connsiteX1" fmla="*/ 987015 w 1018765"/>
                    <a:gd name="connsiteY1" fmla="*/ 0 h 876300"/>
                    <a:gd name="connsiteX2" fmla="*/ 1018765 w 1018765"/>
                    <a:gd name="connsiteY2" fmla="*/ 820686 h 876300"/>
                    <a:gd name="connsiteX3" fmla="*/ 69440 w 1018765"/>
                    <a:gd name="connsiteY3" fmla="*/ 876300 h 876300"/>
                    <a:gd name="connsiteX4" fmla="*/ 0 w 1018765"/>
                    <a:gd name="connsiteY4" fmla="*/ 29496 h 876300"/>
                    <a:gd name="connsiteX0" fmla="*/ 0 w 1002890"/>
                    <a:gd name="connsiteY0" fmla="*/ 26321 h 876300"/>
                    <a:gd name="connsiteX1" fmla="*/ 971140 w 1002890"/>
                    <a:gd name="connsiteY1" fmla="*/ 0 h 876300"/>
                    <a:gd name="connsiteX2" fmla="*/ 1002890 w 1002890"/>
                    <a:gd name="connsiteY2" fmla="*/ 820686 h 876300"/>
                    <a:gd name="connsiteX3" fmla="*/ 53565 w 1002890"/>
                    <a:gd name="connsiteY3" fmla="*/ 876300 h 876300"/>
                    <a:gd name="connsiteX4" fmla="*/ 0 w 1002890"/>
                    <a:gd name="connsiteY4" fmla="*/ 26321 h 876300"/>
                    <a:gd name="connsiteX0" fmla="*/ 0 w 1021940"/>
                    <a:gd name="connsiteY0" fmla="*/ 2949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9496 h 876300"/>
                    <a:gd name="connsiteX0" fmla="*/ 0 w 1021940"/>
                    <a:gd name="connsiteY0" fmla="*/ 2314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3146 h 876300"/>
                    <a:gd name="connsiteX0" fmla="*/ 0 w 1021940"/>
                    <a:gd name="connsiteY0" fmla="*/ 23146 h 911225"/>
                    <a:gd name="connsiteX1" fmla="*/ 990190 w 1021940"/>
                    <a:gd name="connsiteY1" fmla="*/ 0 h 911225"/>
                    <a:gd name="connsiteX2" fmla="*/ 1021940 w 1021940"/>
                    <a:gd name="connsiteY2" fmla="*/ 820686 h 911225"/>
                    <a:gd name="connsiteX3" fmla="*/ 75790 w 1021940"/>
                    <a:gd name="connsiteY3" fmla="*/ 911225 h 911225"/>
                    <a:gd name="connsiteX4" fmla="*/ 0 w 1021940"/>
                    <a:gd name="connsiteY4" fmla="*/ 23146 h 911225"/>
                    <a:gd name="connsiteX0" fmla="*/ 0 w 1040990"/>
                    <a:gd name="connsiteY0" fmla="*/ 23146 h 911225"/>
                    <a:gd name="connsiteX1" fmla="*/ 990190 w 1040990"/>
                    <a:gd name="connsiteY1" fmla="*/ 0 h 911225"/>
                    <a:gd name="connsiteX2" fmla="*/ 1040990 w 1040990"/>
                    <a:gd name="connsiteY2" fmla="*/ 846086 h 911225"/>
                    <a:gd name="connsiteX3" fmla="*/ 75790 w 1040990"/>
                    <a:gd name="connsiteY3" fmla="*/ 911225 h 911225"/>
                    <a:gd name="connsiteX4" fmla="*/ 0 w 1040990"/>
                    <a:gd name="connsiteY4" fmla="*/ 23146 h 911225"/>
                    <a:gd name="connsiteX0" fmla="*/ 0 w 1040990"/>
                    <a:gd name="connsiteY0" fmla="*/ 16796 h 904875"/>
                    <a:gd name="connsiteX1" fmla="*/ 1002890 w 1040990"/>
                    <a:gd name="connsiteY1" fmla="*/ 0 h 904875"/>
                    <a:gd name="connsiteX2" fmla="*/ 1040990 w 1040990"/>
                    <a:gd name="connsiteY2" fmla="*/ 839736 h 904875"/>
                    <a:gd name="connsiteX3" fmla="*/ 75790 w 1040990"/>
                    <a:gd name="connsiteY3" fmla="*/ 904875 h 904875"/>
                    <a:gd name="connsiteX4" fmla="*/ 0 w 1040990"/>
                    <a:gd name="connsiteY4" fmla="*/ 16796 h 904875"/>
                    <a:gd name="connsiteX0" fmla="*/ 0 w 1037815"/>
                    <a:gd name="connsiteY0" fmla="*/ 13621 h 904875"/>
                    <a:gd name="connsiteX1" fmla="*/ 999715 w 1037815"/>
                    <a:gd name="connsiteY1" fmla="*/ 0 h 904875"/>
                    <a:gd name="connsiteX2" fmla="*/ 1037815 w 1037815"/>
                    <a:gd name="connsiteY2" fmla="*/ 839736 h 904875"/>
                    <a:gd name="connsiteX3" fmla="*/ 72615 w 1037815"/>
                    <a:gd name="connsiteY3" fmla="*/ 904875 h 904875"/>
                    <a:gd name="connsiteX4" fmla="*/ 0 w 1037815"/>
                    <a:gd name="connsiteY4" fmla="*/ 13621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815" h="904875">
                      <a:moveTo>
                        <a:pt x="0" y="13621"/>
                      </a:moveTo>
                      <a:lnTo>
                        <a:pt x="999715" y="0"/>
                      </a:lnTo>
                      <a:lnTo>
                        <a:pt x="1037815" y="839736"/>
                      </a:lnTo>
                      <a:lnTo>
                        <a:pt x="72615" y="904875"/>
                      </a:lnTo>
                      <a:lnTo>
                        <a:pt x="0" y="13621"/>
                      </a:lnTo>
                      <a:close/>
                    </a:path>
                  </a:pathLst>
                </a:custGeom>
                <a:gradFill>
                  <a:gsLst>
                    <a:gs pos="0">
                      <a:srgbClr val="FCBA92"/>
                    </a:gs>
                    <a:gs pos="53000">
                      <a:srgbClr val="FEE3D0"/>
                    </a:gs>
                    <a:gs pos="99000">
                      <a:srgbClr val="FCBA92"/>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C41E9251-DF24-7176-9914-5F24A07D4616}"/>
                    </a:ext>
                  </a:extLst>
                </p:cNvPr>
                <p:cNvCxnSpPr>
                  <a:cxnSpLocks/>
                </p:cNvCxnSpPr>
                <p:nvPr/>
              </p:nvCxnSpPr>
              <p:spPr>
                <a:xfrm flipV="1">
                  <a:off x="6878781" y="4400550"/>
                  <a:ext cx="944419" cy="120650"/>
                </a:xfrm>
                <a:prstGeom prst="line">
                  <a:avLst/>
                </a:prstGeom>
                <a:ln w="31750" cap="rnd">
                  <a:solidFill>
                    <a:srgbClr val="FCBA92"/>
                  </a:solidFill>
                </a:ln>
              </p:spPr>
              <p:style>
                <a:lnRef idx="2">
                  <a:schemeClr val="accent1"/>
                </a:lnRef>
                <a:fillRef idx="0">
                  <a:schemeClr val="accent1"/>
                </a:fillRef>
                <a:effectRef idx="1">
                  <a:schemeClr val="accent1"/>
                </a:effectRef>
                <a:fontRef idx="minor">
                  <a:schemeClr val="tx1"/>
                </a:fontRef>
              </p:style>
            </p:cxnSp>
          </p:grpSp>
          <p:grpSp>
            <p:nvGrpSpPr>
              <p:cNvPr id="63" name="Group 62">
                <a:extLst>
                  <a:ext uri="{FF2B5EF4-FFF2-40B4-BE49-F238E27FC236}">
                    <a16:creationId xmlns:a16="http://schemas.microsoft.com/office/drawing/2014/main" id="{B03C4FD9-5096-32F3-80F4-6BF41B1DB099}"/>
                  </a:ext>
                </a:extLst>
              </p:cNvPr>
              <p:cNvGrpSpPr/>
              <p:nvPr/>
            </p:nvGrpSpPr>
            <p:grpSpPr>
              <a:xfrm>
                <a:off x="2211440" y="3041647"/>
                <a:ext cx="571757" cy="566742"/>
                <a:chOff x="5973704" y="2562470"/>
                <a:chExt cx="2172970" cy="2153910"/>
              </a:xfrm>
            </p:grpSpPr>
            <p:pic>
              <p:nvPicPr>
                <p:cNvPr id="64" name="Picture 63" descr="A computer with a green screen&#10;&#10;Description automatically generated">
                  <a:extLst>
                    <a:ext uri="{FF2B5EF4-FFF2-40B4-BE49-F238E27FC236}">
                      <a16:creationId xmlns:a16="http://schemas.microsoft.com/office/drawing/2014/main" id="{9FCDA57F-8223-7504-8881-C0A46B3CDD57}"/>
                    </a:ext>
                  </a:extLst>
                </p:cNvPr>
                <p:cNvPicPr>
                  <a:picLocks noChangeAspect="1"/>
                </p:cNvPicPr>
                <p:nvPr/>
              </p:nvPicPr>
              <p:blipFill>
                <a:blip r:embed="rId4"/>
                <a:stretch>
                  <a:fillRect/>
                </a:stretch>
              </p:blipFill>
              <p:spPr>
                <a:xfrm>
                  <a:off x="5973704" y="2562470"/>
                  <a:ext cx="2172970" cy="2153910"/>
                </a:xfrm>
                <a:prstGeom prst="rect">
                  <a:avLst/>
                </a:prstGeom>
              </p:spPr>
            </p:pic>
            <p:sp>
              <p:nvSpPr>
                <p:cNvPr id="65" name="Freeform 64">
                  <a:extLst>
                    <a:ext uri="{FF2B5EF4-FFF2-40B4-BE49-F238E27FC236}">
                      <a16:creationId xmlns:a16="http://schemas.microsoft.com/office/drawing/2014/main" id="{E332C14C-BED9-E7F8-FFD6-32590CBB6840}"/>
                    </a:ext>
                  </a:extLst>
                </p:cNvPr>
                <p:cNvSpPr/>
                <p:nvPr/>
              </p:nvSpPr>
              <p:spPr>
                <a:xfrm>
                  <a:off x="6378038" y="3006418"/>
                  <a:ext cx="1037815" cy="904875"/>
                </a:xfrm>
                <a:custGeom>
                  <a:avLst/>
                  <a:gdLst>
                    <a:gd name="connsiteX0" fmla="*/ 0 w 1002890"/>
                    <a:gd name="connsiteY0" fmla="*/ 29496 h 914400"/>
                    <a:gd name="connsiteX1" fmla="*/ 1002890 w 1002890"/>
                    <a:gd name="connsiteY1" fmla="*/ 0 h 914400"/>
                    <a:gd name="connsiteX2" fmla="*/ 1002890 w 1002890"/>
                    <a:gd name="connsiteY2" fmla="*/ 811161 h 914400"/>
                    <a:gd name="connsiteX3" fmla="*/ 88490 w 1002890"/>
                    <a:gd name="connsiteY3" fmla="*/ 914400 h 914400"/>
                    <a:gd name="connsiteX4" fmla="*/ 0 w 1002890"/>
                    <a:gd name="connsiteY4" fmla="*/ 29496 h 914400"/>
                    <a:gd name="connsiteX0" fmla="*/ 0 w 1009240"/>
                    <a:gd name="connsiteY0" fmla="*/ 48546 h 914400"/>
                    <a:gd name="connsiteX1" fmla="*/ 1009240 w 1009240"/>
                    <a:gd name="connsiteY1" fmla="*/ 0 h 914400"/>
                    <a:gd name="connsiteX2" fmla="*/ 1009240 w 1009240"/>
                    <a:gd name="connsiteY2" fmla="*/ 811161 h 914400"/>
                    <a:gd name="connsiteX3" fmla="*/ 94840 w 1009240"/>
                    <a:gd name="connsiteY3" fmla="*/ 914400 h 914400"/>
                    <a:gd name="connsiteX4" fmla="*/ 0 w 1009240"/>
                    <a:gd name="connsiteY4" fmla="*/ 48546 h 914400"/>
                    <a:gd name="connsiteX0" fmla="*/ 0 w 999715"/>
                    <a:gd name="connsiteY0" fmla="*/ 35846 h 914400"/>
                    <a:gd name="connsiteX1" fmla="*/ 999715 w 999715"/>
                    <a:gd name="connsiteY1" fmla="*/ 0 h 914400"/>
                    <a:gd name="connsiteX2" fmla="*/ 999715 w 999715"/>
                    <a:gd name="connsiteY2" fmla="*/ 811161 h 914400"/>
                    <a:gd name="connsiteX3" fmla="*/ 85315 w 999715"/>
                    <a:gd name="connsiteY3" fmla="*/ 914400 h 914400"/>
                    <a:gd name="connsiteX4" fmla="*/ 0 w 999715"/>
                    <a:gd name="connsiteY4" fmla="*/ 35846 h 914400"/>
                    <a:gd name="connsiteX0" fmla="*/ 0 w 999715"/>
                    <a:gd name="connsiteY0" fmla="*/ 35846 h 882650"/>
                    <a:gd name="connsiteX1" fmla="*/ 999715 w 999715"/>
                    <a:gd name="connsiteY1" fmla="*/ 0 h 882650"/>
                    <a:gd name="connsiteX2" fmla="*/ 999715 w 999715"/>
                    <a:gd name="connsiteY2" fmla="*/ 811161 h 882650"/>
                    <a:gd name="connsiteX3" fmla="*/ 69440 w 999715"/>
                    <a:gd name="connsiteY3" fmla="*/ 882650 h 882650"/>
                    <a:gd name="connsiteX4" fmla="*/ 0 w 999715"/>
                    <a:gd name="connsiteY4" fmla="*/ 35846 h 882650"/>
                    <a:gd name="connsiteX0" fmla="*/ 0 w 1018765"/>
                    <a:gd name="connsiteY0" fmla="*/ 35846 h 882650"/>
                    <a:gd name="connsiteX1" fmla="*/ 999715 w 1018765"/>
                    <a:gd name="connsiteY1" fmla="*/ 0 h 882650"/>
                    <a:gd name="connsiteX2" fmla="*/ 1018765 w 1018765"/>
                    <a:gd name="connsiteY2" fmla="*/ 827036 h 882650"/>
                    <a:gd name="connsiteX3" fmla="*/ 69440 w 1018765"/>
                    <a:gd name="connsiteY3" fmla="*/ 882650 h 882650"/>
                    <a:gd name="connsiteX4" fmla="*/ 0 w 1018765"/>
                    <a:gd name="connsiteY4" fmla="*/ 35846 h 882650"/>
                    <a:gd name="connsiteX0" fmla="*/ 0 w 1018765"/>
                    <a:gd name="connsiteY0" fmla="*/ 32671 h 879475"/>
                    <a:gd name="connsiteX1" fmla="*/ 971140 w 1018765"/>
                    <a:gd name="connsiteY1" fmla="*/ 0 h 879475"/>
                    <a:gd name="connsiteX2" fmla="*/ 1018765 w 1018765"/>
                    <a:gd name="connsiteY2" fmla="*/ 823861 h 879475"/>
                    <a:gd name="connsiteX3" fmla="*/ 69440 w 1018765"/>
                    <a:gd name="connsiteY3" fmla="*/ 879475 h 879475"/>
                    <a:gd name="connsiteX4" fmla="*/ 0 w 1018765"/>
                    <a:gd name="connsiteY4" fmla="*/ 32671 h 879475"/>
                    <a:gd name="connsiteX0" fmla="*/ 0 w 1018765"/>
                    <a:gd name="connsiteY0" fmla="*/ 29496 h 876300"/>
                    <a:gd name="connsiteX1" fmla="*/ 987015 w 1018765"/>
                    <a:gd name="connsiteY1" fmla="*/ 0 h 876300"/>
                    <a:gd name="connsiteX2" fmla="*/ 1018765 w 1018765"/>
                    <a:gd name="connsiteY2" fmla="*/ 820686 h 876300"/>
                    <a:gd name="connsiteX3" fmla="*/ 69440 w 1018765"/>
                    <a:gd name="connsiteY3" fmla="*/ 876300 h 876300"/>
                    <a:gd name="connsiteX4" fmla="*/ 0 w 1018765"/>
                    <a:gd name="connsiteY4" fmla="*/ 29496 h 876300"/>
                    <a:gd name="connsiteX0" fmla="*/ 0 w 1002890"/>
                    <a:gd name="connsiteY0" fmla="*/ 26321 h 876300"/>
                    <a:gd name="connsiteX1" fmla="*/ 971140 w 1002890"/>
                    <a:gd name="connsiteY1" fmla="*/ 0 h 876300"/>
                    <a:gd name="connsiteX2" fmla="*/ 1002890 w 1002890"/>
                    <a:gd name="connsiteY2" fmla="*/ 820686 h 876300"/>
                    <a:gd name="connsiteX3" fmla="*/ 53565 w 1002890"/>
                    <a:gd name="connsiteY3" fmla="*/ 876300 h 876300"/>
                    <a:gd name="connsiteX4" fmla="*/ 0 w 1002890"/>
                    <a:gd name="connsiteY4" fmla="*/ 26321 h 876300"/>
                    <a:gd name="connsiteX0" fmla="*/ 0 w 1021940"/>
                    <a:gd name="connsiteY0" fmla="*/ 2949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9496 h 876300"/>
                    <a:gd name="connsiteX0" fmla="*/ 0 w 1021940"/>
                    <a:gd name="connsiteY0" fmla="*/ 23146 h 876300"/>
                    <a:gd name="connsiteX1" fmla="*/ 990190 w 1021940"/>
                    <a:gd name="connsiteY1" fmla="*/ 0 h 876300"/>
                    <a:gd name="connsiteX2" fmla="*/ 1021940 w 1021940"/>
                    <a:gd name="connsiteY2" fmla="*/ 820686 h 876300"/>
                    <a:gd name="connsiteX3" fmla="*/ 72615 w 1021940"/>
                    <a:gd name="connsiteY3" fmla="*/ 876300 h 876300"/>
                    <a:gd name="connsiteX4" fmla="*/ 0 w 1021940"/>
                    <a:gd name="connsiteY4" fmla="*/ 23146 h 876300"/>
                    <a:gd name="connsiteX0" fmla="*/ 0 w 1021940"/>
                    <a:gd name="connsiteY0" fmla="*/ 23146 h 911225"/>
                    <a:gd name="connsiteX1" fmla="*/ 990190 w 1021940"/>
                    <a:gd name="connsiteY1" fmla="*/ 0 h 911225"/>
                    <a:gd name="connsiteX2" fmla="*/ 1021940 w 1021940"/>
                    <a:gd name="connsiteY2" fmla="*/ 820686 h 911225"/>
                    <a:gd name="connsiteX3" fmla="*/ 75790 w 1021940"/>
                    <a:gd name="connsiteY3" fmla="*/ 911225 h 911225"/>
                    <a:gd name="connsiteX4" fmla="*/ 0 w 1021940"/>
                    <a:gd name="connsiteY4" fmla="*/ 23146 h 911225"/>
                    <a:gd name="connsiteX0" fmla="*/ 0 w 1040990"/>
                    <a:gd name="connsiteY0" fmla="*/ 23146 h 911225"/>
                    <a:gd name="connsiteX1" fmla="*/ 990190 w 1040990"/>
                    <a:gd name="connsiteY1" fmla="*/ 0 h 911225"/>
                    <a:gd name="connsiteX2" fmla="*/ 1040990 w 1040990"/>
                    <a:gd name="connsiteY2" fmla="*/ 846086 h 911225"/>
                    <a:gd name="connsiteX3" fmla="*/ 75790 w 1040990"/>
                    <a:gd name="connsiteY3" fmla="*/ 911225 h 911225"/>
                    <a:gd name="connsiteX4" fmla="*/ 0 w 1040990"/>
                    <a:gd name="connsiteY4" fmla="*/ 23146 h 911225"/>
                    <a:gd name="connsiteX0" fmla="*/ 0 w 1040990"/>
                    <a:gd name="connsiteY0" fmla="*/ 16796 h 904875"/>
                    <a:gd name="connsiteX1" fmla="*/ 1002890 w 1040990"/>
                    <a:gd name="connsiteY1" fmla="*/ 0 h 904875"/>
                    <a:gd name="connsiteX2" fmla="*/ 1040990 w 1040990"/>
                    <a:gd name="connsiteY2" fmla="*/ 839736 h 904875"/>
                    <a:gd name="connsiteX3" fmla="*/ 75790 w 1040990"/>
                    <a:gd name="connsiteY3" fmla="*/ 904875 h 904875"/>
                    <a:gd name="connsiteX4" fmla="*/ 0 w 1040990"/>
                    <a:gd name="connsiteY4" fmla="*/ 16796 h 904875"/>
                    <a:gd name="connsiteX0" fmla="*/ 0 w 1037815"/>
                    <a:gd name="connsiteY0" fmla="*/ 13621 h 904875"/>
                    <a:gd name="connsiteX1" fmla="*/ 999715 w 1037815"/>
                    <a:gd name="connsiteY1" fmla="*/ 0 h 904875"/>
                    <a:gd name="connsiteX2" fmla="*/ 1037815 w 1037815"/>
                    <a:gd name="connsiteY2" fmla="*/ 839736 h 904875"/>
                    <a:gd name="connsiteX3" fmla="*/ 72615 w 1037815"/>
                    <a:gd name="connsiteY3" fmla="*/ 904875 h 904875"/>
                    <a:gd name="connsiteX4" fmla="*/ 0 w 1037815"/>
                    <a:gd name="connsiteY4" fmla="*/ 13621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815" h="904875">
                      <a:moveTo>
                        <a:pt x="0" y="13621"/>
                      </a:moveTo>
                      <a:lnTo>
                        <a:pt x="999715" y="0"/>
                      </a:lnTo>
                      <a:lnTo>
                        <a:pt x="1037815" y="839736"/>
                      </a:lnTo>
                      <a:lnTo>
                        <a:pt x="72615" y="904875"/>
                      </a:lnTo>
                      <a:lnTo>
                        <a:pt x="0" y="13621"/>
                      </a:lnTo>
                      <a:close/>
                    </a:path>
                  </a:pathLst>
                </a:custGeom>
                <a:gradFill>
                  <a:gsLst>
                    <a:gs pos="0">
                      <a:srgbClr val="5F57A0"/>
                    </a:gs>
                    <a:gs pos="53000">
                      <a:srgbClr val="8477E4"/>
                    </a:gs>
                    <a:gs pos="99000">
                      <a:srgbClr val="5F57A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1F6F5DE3-D4EF-9ACB-EBFB-E87E95D7D4A6}"/>
                    </a:ext>
                  </a:extLst>
                </p:cNvPr>
                <p:cNvCxnSpPr>
                  <a:cxnSpLocks/>
                </p:cNvCxnSpPr>
                <p:nvPr/>
              </p:nvCxnSpPr>
              <p:spPr>
                <a:xfrm flipV="1">
                  <a:off x="6878781" y="4400550"/>
                  <a:ext cx="944419" cy="120650"/>
                </a:xfrm>
                <a:prstGeom prst="line">
                  <a:avLst/>
                </a:prstGeom>
                <a:ln w="31750" cap="rnd">
                  <a:solidFill>
                    <a:srgbClr val="5F57A0"/>
                  </a:solidFill>
                </a:ln>
              </p:spPr>
              <p:style>
                <a:lnRef idx="2">
                  <a:schemeClr val="accent1"/>
                </a:lnRef>
                <a:fillRef idx="0">
                  <a:schemeClr val="accent1"/>
                </a:fillRef>
                <a:effectRef idx="1">
                  <a:schemeClr val="accent1"/>
                </a:effectRef>
                <a:fontRef idx="minor">
                  <a:schemeClr val="tx1"/>
                </a:fontRef>
              </p:style>
            </p:cxnSp>
          </p:grpSp>
        </p:grpSp>
        <p:sp>
          <p:nvSpPr>
            <p:cNvPr id="53" name="TextBox 52">
              <a:extLst>
                <a:ext uri="{FF2B5EF4-FFF2-40B4-BE49-F238E27FC236}">
                  <a16:creationId xmlns:a16="http://schemas.microsoft.com/office/drawing/2014/main" id="{36822FA0-2770-B189-0686-1AAE7AADDD70}"/>
                </a:ext>
              </a:extLst>
            </p:cNvPr>
            <p:cNvSpPr txBox="1"/>
            <p:nvPr/>
          </p:nvSpPr>
          <p:spPr>
            <a:xfrm>
              <a:off x="9666340" y="2314488"/>
              <a:ext cx="337867" cy="381992"/>
            </a:xfrm>
            <a:prstGeom prst="rect">
              <a:avLst/>
            </a:prstGeom>
            <a:noFill/>
          </p:spPr>
          <p:txBody>
            <a:bodyPr wrap="none" rtlCol="0">
              <a:spAutoFit/>
            </a:bodyPr>
            <a:lstStyle/>
            <a:p>
              <a:r>
                <a:rPr lang="en-US" sz="1600" i="1" dirty="0"/>
                <a:t>1</a:t>
              </a:r>
            </a:p>
          </p:txBody>
        </p:sp>
        <p:sp>
          <p:nvSpPr>
            <p:cNvPr id="54" name="TextBox 53">
              <a:extLst>
                <a:ext uri="{FF2B5EF4-FFF2-40B4-BE49-F238E27FC236}">
                  <a16:creationId xmlns:a16="http://schemas.microsoft.com/office/drawing/2014/main" id="{AF442C4D-D77B-0978-207B-A87DD10A777B}"/>
                </a:ext>
              </a:extLst>
            </p:cNvPr>
            <p:cNvSpPr txBox="1"/>
            <p:nvPr/>
          </p:nvSpPr>
          <p:spPr>
            <a:xfrm>
              <a:off x="9670935" y="3331755"/>
              <a:ext cx="337867" cy="381992"/>
            </a:xfrm>
            <a:prstGeom prst="rect">
              <a:avLst/>
            </a:prstGeom>
            <a:noFill/>
          </p:spPr>
          <p:txBody>
            <a:bodyPr wrap="none" rtlCol="0">
              <a:spAutoFit/>
            </a:bodyPr>
            <a:lstStyle/>
            <a:p>
              <a:r>
                <a:rPr lang="en-US" sz="1600" i="1" dirty="0"/>
                <a:t>2</a:t>
              </a:r>
            </a:p>
          </p:txBody>
        </p:sp>
        <p:sp>
          <p:nvSpPr>
            <p:cNvPr id="55" name="TextBox 54">
              <a:extLst>
                <a:ext uri="{FF2B5EF4-FFF2-40B4-BE49-F238E27FC236}">
                  <a16:creationId xmlns:a16="http://schemas.microsoft.com/office/drawing/2014/main" id="{50875458-65E8-D8ED-3FE7-996899327219}"/>
                </a:ext>
              </a:extLst>
            </p:cNvPr>
            <p:cNvSpPr txBox="1"/>
            <p:nvPr/>
          </p:nvSpPr>
          <p:spPr>
            <a:xfrm>
              <a:off x="9640595" y="4663272"/>
              <a:ext cx="378441" cy="381992"/>
            </a:xfrm>
            <a:prstGeom prst="rect">
              <a:avLst/>
            </a:prstGeom>
            <a:noFill/>
          </p:spPr>
          <p:txBody>
            <a:bodyPr wrap="none" rtlCol="0">
              <a:spAutoFit/>
            </a:bodyPr>
            <a:lstStyle/>
            <a:p>
              <a:r>
                <a:rPr lang="en-US" sz="1600" i="1" dirty="0"/>
                <a:t>N</a:t>
              </a:r>
            </a:p>
          </p:txBody>
        </p:sp>
        <p:sp>
          <p:nvSpPr>
            <p:cNvPr id="57" name="TextBox 56">
              <a:extLst>
                <a:ext uri="{FF2B5EF4-FFF2-40B4-BE49-F238E27FC236}">
                  <a16:creationId xmlns:a16="http://schemas.microsoft.com/office/drawing/2014/main" id="{B06A3419-1DB3-EDE7-5600-1AF918593E7D}"/>
                </a:ext>
              </a:extLst>
            </p:cNvPr>
            <p:cNvSpPr txBox="1"/>
            <p:nvPr/>
          </p:nvSpPr>
          <p:spPr>
            <a:xfrm>
              <a:off x="9326599" y="3961965"/>
              <a:ext cx="330490" cy="751179"/>
            </a:xfrm>
            <a:prstGeom prst="rect">
              <a:avLst/>
            </a:prstGeom>
            <a:noFill/>
          </p:spPr>
          <p:txBody>
            <a:bodyPr wrap="none" rtlCol="0">
              <a:spAutoFit/>
            </a:bodyPr>
            <a:lstStyle/>
            <a:p>
              <a:pPr>
                <a:lnSpc>
                  <a:spcPct val="40000"/>
                </a:lnSpc>
              </a:pPr>
              <a:r>
                <a:rPr lang="en-US" sz="2800" dirty="0"/>
                <a:t>.</a:t>
              </a:r>
            </a:p>
            <a:p>
              <a:pPr>
                <a:lnSpc>
                  <a:spcPct val="40000"/>
                </a:lnSpc>
              </a:pPr>
              <a:r>
                <a:rPr lang="en-US" sz="2800" dirty="0"/>
                <a:t>.</a:t>
              </a:r>
            </a:p>
            <a:p>
              <a:pPr>
                <a:lnSpc>
                  <a:spcPct val="40000"/>
                </a:lnSpc>
              </a:pPr>
              <a:r>
                <a:rPr lang="en-US" sz="2800" dirty="0"/>
                <a:t>.</a:t>
              </a:r>
            </a:p>
          </p:txBody>
        </p:sp>
      </p:grpSp>
      <p:sp>
        <p:nvSpPr>
          <p:cNvPr id="70" name="Freeform 69">
            <a:extLst>
              <a:ext uri="{FF2B5EF4-FFF2-40B4-BE49-F238E27FC236}">
                <a16:creationId xmlns:a16="http://schemas.microsoft.com/office/drawing/2014/main" id="{C1E90886-9D66-A8DF-A7CC-2E8A1A88415A}"/>
              </a:ext>
            </a:extLst>
          </p:cNvPr>
          <p:cNvSpPr/>
          <p:nvPr/>
        </p:nvSpPr>
        <p:spPr>
          <a:xfrm>
            <a:off x="2452086" y="3570139"/>
            <a:ext cx="2456227" cy="2084803"/>
          </a:xfrm>
          <a:custGeom>
            <a:avLst/>
            <a:gdLst>
              <a:gd name="connsiteX0" fmla="*/ 0 w 2260600"/>
              <a:gd name="connsiteY0" fmla="*/ 0 h 1397000"/>
              <a:gd name="connsiteX1" fmla="*/ 1143000 w 2260600"/>
              <a:gd name="connsiteY1" fmla="*/ 203200 h 1397000"/>
              <a:gd name="connsiteX2" fmla="*/ 1714500 w 2260600"/>
              <a:gd name="connsiteY2" fmla="*/ 1117600 h 1397000"/>
              <a:gd name="connsiteX3" fmla="*/ 2260600 w 2260600"/>
              <a:gd name="connsiteY3" fmla="*/ 1397000 h 1397000"/>
              <a:gd name="connsiteX0" fmla="*/ 0 w 2619375"/>
              <a:gd name="connsiteY0" fmla="*/ 0 h 1387475"/>
              <a:gd name="connsiteX1" fmla="*/ 1143000 w 2619375"/>
              <a:gd name="connsiteY1" fmla="*/ 203200 h 1387475"/>
              <a:gd name="connsiteX2" fmla="*/ 1714500 w 2619375"/>
              <a:gd name="connsiteY2" fmla="*/ 1117600 h 1387475"/>
              <a:gd name="connsiteX3" fmla="*/ 2619375 w 2619375"/>
              <a:gd name="connsiteY3" fmla="*/ 1387475 h 1387475"/>
              <a:gd name="connsiteX0" fmla="*/ 0 w 2619375"/>
              <a:gd name="connsiteY0" fmla="*/ 0 h 1391742"/>
              <a:gd name="connsiteX1" fmla="*/ 1143000 w 2619375"/>
              <a:gd name="connsiteY1" fmla="*/ 203200 h 1391742"/>
              <a:gd name="connsiteX2" fmla="*/ 1714500 w 2619375"/>
              <a:gd name="connsiteY2" fmla="*/ 1117600 h 1391742"/>
              <a:gd name="connsiteX3" fmla="*/ 2619375 w 2619375"/>
              <a:gd name="connsiteY3" fmla="*/ 1387475 h 1391742"/>
              <a:gd name="connsiteX0" fmla="*/ 0 w 2565400"/>
              <a:gd name="connsiteY0" fmla="*/ 0 h 1391742"/>
              <a:gd name="connsiteX1" fmla="*/ 1143000 w 2565400"/>
              <a:gd name="connsiteY1" fmla="*/ 203200 h 1391742"/>
              <a:gd name="connsiteX2" fmla="*/ 1714500 w 2565400"/>
              <a:gd name="connsiteY2" fmla="*/ 1117600 h 1391742"/>
              <a:gd name="connsiteX3" fmla="*/ 2565400 w 2565400"/>
              <a:gd name="connsiteY3" fmla="*/ 1387475 h 1391742"/>
              <a:gd name="connsiteX0" fmla="*/ 0 w 2565400"/>
              <a:gd name="connsiteY0" fmla="*/ 0 h 1387475"/>
              <a:gd name="connsiteX1" fmla="*/ 1143000 w 2565400"/>
              <a:gd name="connsiteY1" fmla="*/ 203200 h 1387475"/>
              <a:gd name="connsiteX2" fmla="*/ 1714500 w 2565400"/>
              <a:gd name="connsiteY2" fmla="*/ 1117600 h 1387475"/>
              <a:gd name="connsiteX3" fmla="*/ 2565400 w 2565400"/>
              <a:gd name="connsiteY3" fmla="*/ 1387475 h 1387475"/>
              <a:gd name="connsiteX0" fmla="*/ 0 w 2613025"/>
              <a:gd name="connsiteY0" fmla="*/ 0 h 1368425"/>
              <a:gd name="connsiteX1" fmla="*/ 1143000 w 2613025"/>
              <a:gd name="connsiteY1" fmla="*/ 203200 h 1368425"/>
              <a:gd name="connsiteX2" fmla="*/ 1714500 w 2613025"/>
              <a:gd name="connsiteY2" fmla="*/ 1117600 h 1368425"/>
              <a:gd name="connsiteX3" fmla="*/ 2613025 w 2613025"/>
              <a:gd name="connsiteY3" fmla="*/ 1368425 h 1368425"/>
              <a:gd name="connsiteX0" fmla="*/ 0 w 2613025"/>
              <a:gd name="connsiteY0" fmla="*/ 0 h 1368644"/>
              <a:gd name="connsiteX1" fmla="*/ 1143000 w 2613025"/>
              <a:gd name="connsiteY1" fmla="*/ 203200 h 1368644"/>
              <a:gd name="connsiteX2" fmla="*/ 1714500 w 2613025"/>
              <a:gd name="connsiteY2" fmla="*/ 1117600 h 1368644"/>
              <a:gd name="connsiteX3" fmla="*/ 2613025 w 2613025"/>
              <a:gd name="connsiteY3" fmla="*/ 1368425 h 1368644"/>
              <a:gd name="connsiteX0" fmla="*/ 0 w 2654300"/>
              <a:gd name="connsiteY0" fmla="*/ 0 h 1368644"/>
              <a:gd name="connsiteX1" fmla="*/ 1143000 w 2654300"/>
              <a:gd name="connsiteY1" fmla="*/ 203200 h 1368644"/>
              <a:gd name="connsiteX2" fmla="*/ 1714500 w 2654300"/>
              <a:gd name="connsiteY2" fmla="*/ 1117600 h 1368644"/>
              <a:gd name="connsiteX3" fmla="*/ 2654300 w 2654300"/>
              <a:gd name="connsiteY3" fmla="*/ 1368425 h 1368644"/>
              <a:gd name="connsiteX0" fmla="*/ 0 w 2666747"/>
              <a:gd name="connsiteY0" fmla="*/ 0 h 1329049"/>
              <a:gd name="connsiteX1" fmla="*/ 1143000 w 2666747"/>
              <a:gd name="connsiteY1" fmla="*/ 203200 h 1329049"/>
              <a:gd name="connsiteX2" fmla="*/ 1714500 w 2666747"/>
              <a:gd name="connsiteY2" fmla="*/ 1117600 h 1329049"/>
              <a:gd name="connsiteX3" fmla="*/ 2666747 w 2666747"/>
              <a:gd name="connsiteY3" fmla="*/ 1328508 h 1329049"/>
              <a:gd name="connsiteX0" fmla="*/ 0 w 2699940"/>
              <a:gd name="connsiteY0" fmla="*/ 0 h 1426196"/>
              <a:gd name="connsiteX1" fmla="*/ 1143000 w 2699940"/>
              <a:gd name="connsiteY1" fmla="*/ 203200 h 1426196"/>
              <a:gd name="connsiteX2" fmla="*/ 1714500 w 2699940"/>
              <a:gd name="connsiteY2" fmla="*/ 1117600 h 1426196"/>
              <a:gd name="connsiteX3" fmla="*/ 2699940 w 2699940"/>
              <a:gd name="connsiteY3" fmla="*/ 1426082 h 1426196"/>
              <a:gd name="connsiteX0" fmla="*/ 0 w 2699940"/>
              <a:gd name="connsiteY0" fmla="*/ 0 h 1426182"/>
              <a:gd name="connsiteX1" fmla="*/ 1143000 w 2699940"/>
              <a:gd name="connsiteY1" fmla="*/ 203200 h 1426182"/>
              <a:gd name="connsiteX2" fmla="*/ 1992486 w 2699940"/>
              <a:gd name="connsiteY2" fmla="*/ 1102076 h 1426182"/>
              <a:gd name="connsiteX3" fmla="*/ 2699940 w 2699940"/>
              <a:gd name="connsiteY3" fmla="*/ 1426082 h 1426182"/>
              <a:gd name="connsiteX0" fmla="*/ 0 w 2699940"/>
              <a:gd name="connsiteY0" fmla="*/ 0 h 1426403"/>
              <a:gd name="connsiteX1" fmla="*/ 1143000 w 2699940"/>
              <a:gd name="connsiteY1" fmla="*/ 203200 h 1426403"/>
              <a:gd name="connsiteX2" fmla="*/ 1992486 w 2699940"/>
              <a:gd name="connsiteY2" fmla="*/ 1102076 h 1426403"/>
              <a:gd name="connsiteX3" fmla="*/ 2699940 w 2699940"/>
              <a:gd name="connsiteY3" fmla="*/ 1426082 h 1426403"/>
              <a:gd name="connsiteX0" fmla="*/ 0 w 2708238"/>
              <a:gd name="connsiteY0" fmla="*/ 0 h 1342310"/>
              <a:gd name="connsiteX1" fmla="*/ 1143000 w 2708238"/>
              <a:gd name="connsiteY1" fmla="*/ 203200 h 1342310"/>
              <a:gd name="connsiteX2" fmla="*/ 1992486 w 2708238"/>
              <a:gd name="connsiteY2" fmla="*/ 1102076 h 1342310"/>
              <a:gd name="connsiteX3" fmla="*/ 2708238 w 2708238"/>
              <a:gd name="connsiteY3" fmla="*/ 1335160 h 1342310"/>
              <a:gd name="connsiteX0" fmla="*/ 0 w 2708238"/>
              <a:gd name="connsiteY0" fmla="*/ 0 h 1343597"/>
              <a:gd name="connsiteX1" fmla="*/ 1143000 w 2708238"/>
              <a:gd name="connsiteY1" fmla="*/ 203200 h 1343597"/>
              <a:gd name="connsiteX2" fmla="*/ 1992486 w 2708238"/>
              <a:gd name="connsiteY2" fmla="*/ 1102076 h 1343597"/>
              <a:gd name="connsiteX3" fmla="*/ 2708238 w 2708238"/>
              <a:gd name="connsiteY3" fmla="*/ 1335160 h 1343597"/>
              <a:gd name="connsiteX0" fmla="*/ 0 w 2708238"/>
              <a:gd name="connsiteY0" fmla="*/ 0 h 1343597"/>
              <a:gd name="connsiteX1" fmla="*/ 1143000 w 2708238"/>
              <a:gd name="connsiteY1" fmla="*/ 203200 h 1343597"/>
              <a:gd name="connsiteX2" fmla="*/ 1992486 w 2708238"/>
              <a:gd name="connsiteY2" fmla="*/ 1102076 h 1343597"/>
              <a:gd name="connsiteX3" fmla="*/ 2708238 w 2708238"/>
              <a:gd name="connsiteY3" fmla="*/ 1335160 h 1343597"/>
            </a:gdLst>
            <a:ahLst/>
            <a:cxnLst>
              <a:cxn ang="0">
                <a:pos x="connsiteX0" y="connsiteY0"/>
              </a:cxn>
              <a:cxn ang="0">
                <a:pos x="connsiteX1" y="connsiteY1"/>
              </a:cxn>
              <a:cxn ang="0">
                <a:pos x="connsiteX2" y="connsiteY2"/>
              </a:cxn>
              <a:cxn ang="0">
                <a:pos x="connsiteX3" y="connsiteY3"/>
              </a:cxn>
            </a:cxnLst>
            <a:rect l="l" t="t" r="r" b="b"/>
            <a:pathLst>
              <a:path w="2708238" h="1343597">
                <a:moveTo>
                  <a:pt x="0" y="0"/>
                </a:moveTo>
                <a:cubicBezTo>
                  <a:pt x="428625" y="8466"/>
                  <a:pt x="810919" y="19521"/>
                  <a:pt x="1143000" y="203200"/>
                </a:cubicBezTo>
                <a:cubicBezTo>
                  <a:pt x="1475081" y="386879"/>
                  <a:pt x="1918243" y="929720"/>
                  <a:pt x="1992486" y="1102076"/>
                </a:cubicBezTo>
                <a:cubicBezTo>
                  <a:pt x="2079176" y="1403052"/>
                  <a:pt x="2414021" y="1339393"/>
                  <a:pt x="2708238" y="1335160"/>
                </a:cubicBezTo>
              </a:path>
            </a:pathLst>
          </a:custGeom>
          <a:noFill/>
          <a:ln>
            <a:solidFill>
              <a:schemeClr val="accent6">
                <a:lumMod val="75000"/>
              </a:schemeClr>
            </a:solidFill>
            <a:prstDash val="dash"/>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Freeform 70">
            <a:extLst>
              <a:ext uri="{FF2B5EF4-FFF2-40B4-BE49-F238E27FC236}">
                <a16:creationId xmlns:a16="http://schemas.microsoft.com/office/drawing/2014/main" id="{25CA6443-5FC0-52ED-12D4-4B64EA0A2E63}"/>
              </a:ext>
            </a:extLst>
          </p:cNvPr>
          <p:cNvSpPr/>
          <p:nvPr/>
        </p:nvSpPr>
        <p:spPr>
          <a:xfrm flipV="1">
            <a:off x="2387048" y="5772697"/>
            <a:ext cx="2513404" cy="58601"/>
          </a:xfrm>
          <a:custGeom>
            <a:avLst/>
            <a:gdLst>
              <a:gd name="connsiteX0" fmla="*/ 0 w 2260600"/>
              <a:gd name="connsiteY0" fmla="*/ 0 h 1397000"/>
              <a:gd name="connsiteX1" fmla="*/ 1143000 w 2260600"/>
              <a:gd name="connsiteY1" fmla="*/ 203200 h 1397000"/>
              <a:gd name="connsiteX2" fmla="*/ 1714500 w 2260600"/>
              <a:gd name="connsiteY2" fmla="*/ 1117600 h 1397000"/>
              <a:gd name="connsiteX3" fmla="*/ 2260600 w 2260600"/>
              <a:gd name="connsiteY3" fmla="*/ 1397000 h 1397000"/>
              <a:gd name="connsiteX0" fmla="*/ 0 w 2619375"/>
              <a:gd name="connsiteY0" fmla="*/ 0 h 1387475"/>
              <a:gd name="connsiteX1" fmla="*/ 1143000 w 2619375"/>
              <a:gd name="connsiteY1" fmla="*/ 203200 h 1387475"/>
              <a:gd name="connsiteX2" fmla="*/ 1714500 w 2619375"/>
              <a:gd name="connsiteY2" fmla="*/ 1117600 h 1387475"/>
              <a:gd name="connsiteX3" fmla="*/ 2619375 w 2619375"/>
              <a:gd name="connsiteY3" fmla="*/ 1387475 h 1387475"/>
              <a:gd name="connsiteX0" fmla="*/ 0 w 2619375"/>
              <a:gd name="connsiteY0" fmla="*/ 0 h 1391742"/>
              <a:gd name="connsiteX1" fmla="*/ 1143000 w 2619375"/>
              <a:gd name="connsiteY1" fmla="*/ 203200 h 1391742"/>
              <a:gd name="connsiteX2" fmla="*/ 1714500 w 2619375"/>
              <a:gd name="connsiteY2" fmla="*/ 1117600 h 1391742"/>
              <a:gd name="connsiteX3" fmla="*/ 2619375 w 2619375"/>
              <a:gd name="connsiteY3" fmla="*/ 1387475 h 1391742"/>
              <a:gd name="connsiteX0" fmla="*/ 0 w 2565400"/>
              <a:gd name="connsiteY0" fmla="*/ 0 h 1391742"/>
              <a:gd name="connsiteX1" fmla="*/ 1143000 w 2565400"/>
              <a:gd name="connsiteY1" fmla="*/ 203200 h 1391742"/>
              <a:gd name="connsiteX2" fmla="*/ 1714500 w 2565400"/>
              <a:gd name="connsiteY2" fmla="*/ 1117600 h 1391742"/>
              <a:gd name="connsiteX3" fmla="*/ 2565400 w 2565400"/>
              <a:gd name="connsiteY3" fmla="*/ 1387475 h 1391742"/>
              <a:gd name="connsiteX0" fmla="*/ 0 w 2565400"/>
              <a:gd name="connsiteY0" fmla="*/ 0 h 1387475"/>
              <a:gd name="connsiteX1" fmla="*/ 1143000 w 2565400"/>
              <a:gd name="connsiteY1" fmla="*/ 203200 h 1387475"/>
              <a:gd name="connsiteX2" fmla="*/ 1714500 w 2565400"/>
              <a:gd name="connsiteY2" fmla="*/ 1117600 h 1387475"/>
              <a:gd name="connsiteX3" fmla="*/ 2565400 w 2565400"/>
              <a:gd name="connsiteY3" fmla="*/ 1387475 h 1387475"/>
              <a:gd name="connsiteX0" fmla="*/ 0 w 2613025"/>
              <a:gd name="connsiteY0" fmla="*/ 0 h 1368425"/>
              <a:gd name="connsiteX1" fmla="*/ 1143000 w 2613025"/>
              <a:gd name="connsiteY1" fmla="*/ 203200 h 1368425"/>
              <a:gd name="connsiteX2" fmla="*/ 1714500 w 2613025"/>
              <a:gd name="connsiteY2" fmla="*/ 1117600 h 1368425"/>
              <a:gd name="connsiteX3" fmla="*/ 2613025 w 2613025"/>
              <a:gd name="connsiteY3" fmla="*/ 1368425 h 1368425"/>
              <a:gd name="connsiteX0" fmla="*/ 0 w 2613025"/>
              <a:gd name="connsiteY0" fmla="*/ 0 h 1368644"/>
              <a:gd name="connsiteX1" fmla="*/ 1143000 w 2613025"/>
              <a:gd name="connsiteY1" fmla="*/ 203200 h 1368644"/>
              <a:gd name="connsiteX2" fmla="*/ 1714500 w 2613025"/>
              <a:gd name="connsiteY2" fmla="*/ 1117600 h 1368644"/>
              <a:gd name="connsiteX3" fmla="*/ 2613025 w 2613025"/>
              <a:gd name="connsiteY3" fmla="*/ 1368425 h 1368644"/>
              <a:gd name="connsiteX0" fmla="*/ 0 w 2654300"/>
              <a:gd name="connsiteY0" fmla="*/ 0 h 1368644"/>
              <a:gd name="connsiteX1" fmla="*/ 1143000 w 2654300"/>
              <a:gd name="connsiteY1" fmla="*/ 203200 h 1368644"/>
              <a:gd name="connsiteX2" fmla="*/ 1714500 w 2654300"/>
              <a:gd name="connsiteY2" fmla="*/ 1117600 h 1368644"/>
              <a:gd name="connsiteX3" fmla="*/ 2654300 w 2654300"/>
              <a:gd name="connsiteY3" fmla="*/ 1368425 h 1368644"/>
              <a:gd name="connsiteX0" fmla="*/ 0 w 2654300"/>
              <a:gd name="connsiteY0" fmla="*/ 0 h 1368441"/>
              <a:gd name="connsiteX1" fmla="*/ 1143000 w 2654300"/>
              <a:gd name="connsiteY1" fmla="*/ 203200 h 1368441"/>
              <a:gd name="connsiteX2" fmla="*/ 1831975 w 2654300"/>
              <a:gd name="connsiteY2" fmla="*/ 397882 h 1368441"/>
              <a:gd name="connsiteX3" fmla="*/ 2654300 w 2654300"/>
              <a:gd name="connsiteY3" fmla="*/ 1368425 h 1368441"/>
              <a:gd name="connsiteX0" fmla="*/ 0 w 2654300"/>
              <a:gd name="connsiteY0" fmla="*/ 0 h 1368452"/>
              <a:gd name="connsiteX1" fmla="*/ 1143000 w 2654300"/>
              <a:gd name="connsiteY1" fmla="*/ 203200 h 1368452"/>
              <a:gd name="connsiteX2" fmla="*/ 1831975 w 2654300"/>
              <a:gd name="connsiteY2" fmla="*/ 397882 h 1368452"/>
              <a:gd name="connsiteX3" fmla="*/ 2654300 w 2654300"/>
              <a:gd name="connsiteY3" fmla="*/ 1368425 h 1368452"/>
              <a:gd name="connsiteX0" fmla="*/ 0 w 2654300"/>
              <a:gd name="connsiteY0" fmla="*/ 0 h 1368452"/>
              <a:gd name="connsiteX1" fmla="*/ 1143000 w 2654300"/>
              <a:gd name="connsiteY1" fmla="*/ 203200 h 1368452"/>
              <a:gd name="connsiteX2" fmla="*/ 1831975 w 2654300"/>
              <a:gd name="connsiteY2" fmla="*/ 397882 h 1368452"/>
              <a:gd name="connsiteX3" fmla="*/ 2654300 w 2654300"/>
              <a:gd name="connsiteY3" fmla="*/ 1368425 h 1368452"/>
              <a:gd name="connsiteX0" fmla="*/ 0 w 2654300"/>
              <a:gd name="connsiteY0" fmla="*/ 0 h 1368497"/>
              <a:gd name="connsiteX1" fmla="*/ 1143000 w 2654300"/>
              <a:gd name="connsiteY1" fmla="*/ 203200 h 1368497"/>
              <a:gd name="connsiteX2" fmla="*/ 1831975 w 2654300"/>
              <a:gd name="connsiteY2" fmla="*/ 397882 h 1368497"/>
              <a:gd name="connsiteX3" fmla="*/ 2654300 w 2654300"/>
              <a:gd name="connsiteY3" fmla="*/ 1368425 h 1368497"/>
              <a:gd name="connsiteX0" fmla="*/ 0 w 2654300"/>
              <a:gd name="connsiteY0" fmla="*/ 3796 h 1372293"/>
              <a:gd name="connsiteX1" fmla="*/ 1041400 w 2654300"/>
              <a:gd name="connsiteY1" fmla="*/ 39620 h 1372293"/>
              <a:gd name="connsiteX2" fmla="*/ 1831975 w 2654300"/>
              <a:gd name="connsiteY2" fmla="*/ 401678 h 1372293"/>
              <a:gd name="connsiteX3" fmla="*/ 2654300 w 2654300"/>
              <a:gd name="connsiteY3" fmla="*/ 1372221 h 1372293"/>
              <a:gd name="connsiteX0" fmla="*/ 0 w 2654300"/>
              <a:gd name="connsiteY0" fmla="*/ 0 h 1368497"/>
              <a:gd name="connsiteX1" fmla="*/ 1041400 w 2654300"/>
              <a:gd name="connsiteY1" fmla="*/ 35824 h 1368497"/>
              <a:gd name="connsiteX2" fmla="*/ 1831975 w 2654300"/>
              <a:gd name="connsiteY2" fmla="*/ 397882 h 1368497"/>
              <a:gd name="connsiteX3" fmla="*/ 2654300 w 2654300"/>
              <a:gd name="connsiteY3" fmla="*/ 1368425 h 1368497"/>
              <a:gd name="connsiteX0" fmla="*/ 0 w 2654300"/>
              <a:gd name="connsiteY0" fmla="*/ 0 h 1368447"/>
              <a:gd name="connsiteX1" fmla="*/ 1041400 w 2654300"/>
              <a:gd name="connsiteY1" fmla="*/ 35824 h 1368447"/>
              <a:gd name="connsiteX2" fmla="*/ 1831975 w 2654300"/>
              <a:gd name="connsiteY2" fmla="*/ 397882 h 1368447"/>
              <a:gd name="connsiteX3" fmla="*/ 2654300 w 2654300"/>
              <a:gd name="connsiteY3" fmla="*/ 1368425 h 1368447"/>
              <a:gd name="connsiteX0" fmla="*/ 0 w 2654300"/>
              <a:gd name="connsiteY0" fmla="*/ 23905 h 1392349"/>
              <a:gd name="connsiteX1" fmla="*/ 1041400 w 2654300"/>
              <a:gd name="connsiteY1" fmla="*/ 59729 h 1392349"/>
              <a:gd name="connsiteX2" fmla="*/ 1778605 w 2654300"/>
              <a:gd name="connsiteY2" fmla="*/ 318625 h 1392349"/>
              <a:gd name="connsiteX3" fmla="*/ 2654300 w 2654300"/>
              <a:gd name="connsiteY3" fmla="*/ 1392330 h 1392349"/>
              <a:gd name="connsiteX0" fmla="*/ 0 w 2654300"/>
              <a:gd name="connsiteY0" fmla="*/ 23905 h 1392349"/>
              <a:gd name="connsiteX1" fmla="*/ 1041400 w 2654300"/>
              <a:gd name="connsiteY1" fmla="*/ 59729 h 1392349"/>
              <a:gd name="connsiteX2" fmla="*/ 1778605 w 2654300"/>
              <a:gd name="connsiteY2" fmla="*/ 318625 h 1392349"/>
              <a:gd name="connsiteX3" fmla="*/ 2654300 w 2654300"/>
              <a:gd name="connsiteY3" fmla="*/ 1392330 h 1392349"/>
              <a:gd name="connsiteX0" fmla="*/ 0 w 2654300"/>
              <a:gd name="connsiteY0" fmla="*/ 0 h 1368444"/>
              <a:gd name="connsiteX1" fmla="*/ 1041400 w 2654300"/>
              <a:gd name="connsiteY1" fmla="*/ 35824 h 1368444"/>
              <a:gd name="connsiteX2" fmla="*/ 1778605 w 2654300"/>
              <a:gd name="connsiteY2" fmla="*/ 294720 h 1368444"/>
              <a:gd name="connsiteX3" fmla="*/ 2654300 w 2654300"/>
              <a:gd name="connsiteY3" fmla="*/ 1368425 h 1368444"/>
            </a:gdLst>
            <a:ahLst/>
            <a:cxnLst>
              <a:cxn ang="0">
                <a:pos x="connsiteX0" y="connsiteY0"/>
              </a:cxn>
              <a:cxn ang="0">
                <a:pos x="connsiteX1" y="connsiteY1"/>
              </a:cxn>
              <a:cxn ang="0">
                <a:pos x="connsiteX2" y="connsiteY2"/>
              </a:cxn>
              <a:cxn ang="0">
                <a:pos x="connsiteX3" y="connsiteY3"/>
              </a:cxn>
            </a:cxnLst>
            <a:rect l="l" t="t" r="r" b="b"/>
            <a:pathLst>
              <a:path w="2654300" h="1368444">
                <a:moveTo>
                  <a:pt x="0" y="0"/>
                </a:moveTo>
                <a:cubicBezTo>
                  <a:pt x="428625" y="8466"/>
                  <a:pt x="744966" y="-13296"/>
                  <a:pt x="1041400" y="35824"/>
                </a:cubicBezTo>
                <a:cubicBezTo>
                  <a:pt x="1337834" y="84944"/>
                  <a:pt x="1617293" y="-49415"/>
                  <a:pt x="1778605" y="294720"/>
                </a:cubicBezTo>
                <a:cubicBezTo>
                  <a:pt x="1913961" y="637715"/>
                  <a:pt x="2360083" y="1372658"/>
                  <a:pt x="2654300" y="1368425"/>
                </a:cubicBezTo>
              </a:path>
            </a:pathLst>
          </a:custGeom>
          <a:noFill/>
          <a:ln>
            <a:solidFill>
              <a:srgbClr val="5F57A0"/>
            </a:solidFill>
            <a:prstDash val="dash"/>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a:extLst>
              <a:ext uri="{FF2B5EF4-FFF2-40B4-BE49-F238E27FC236}">
                <a16:creationId xmlns:a16="http://schemas.microsoft.com/office/drawing/2014/main" id="{9B51ABAF-DF6B-5F61-A024-283CDB762904}"/>
              </a:ext>
            </a:extLst>
          </p:cNvPr>
          <p:cNvSpPr/>
          <p:nvPr/>
        </p:nvSpPr>
        <p:spPr>
          <a:xfrm>
            <a:off x="2494937" y="4492133"/>
            <a:ext cx="2398084" cy="1231874"/>
          </a:xfrm>
          <a:custGeom>
            <a:avLst/>
            <a:gdLst>
              <a:gd name="connsiteX0" fmla="*/ 0 w 2260600"/>
              <a:gd name="connsiteY0" fmla="*/ 0 h 1397000"/>
              <a:gd name="connsiteX1" fmla="*/ 1143000 w 2260600"/>
              <a:gd name="connsiteY1" fmla="*/ 203200 h 1397000"/>
              <a:gd name="connsiteX2" fmla="*/ 1714500 w 2260600"/>
              <a:gd name="connsiteY2" fmla="*/ 1117600 h 1397000"/>
              <a:gd name="connsiteX3" fmla="*/ 2260600 w 2260600"/>
              <a:gd name="connsiteY3" fmla="*/ 1397000 h 1397000"/>
              <a:gd name="connsiteX0" fmla="*/ 0 w 2619375"/>
              <a:gd name="connsiteY0" fmla="*/ 0 h 1387475"/>
              <a:gd name="connsiteX1" fmla="*/ 1143000 w 2619375"/>
              <a:gd name="connsiteY1" fmla="*/ 203200 h 1387475"/>
              <a:gd name="connsiteX2" fmla="*/ 1714500 w 2619375"/>
              <a:gd name="connsiteY2" fmla="*/ 1117600 h 1387475"/>
              <a:gd name="connsiteX3" fmla="*/ 2619375 w 2619375"/>
              <a:gd name="connsiteY3" fmla="*/ 1387475 h 1387475"/>
              <a:gd name="connsiteX0" fmla="*/ 0 w 2619375"/>
              <a:gd name="connsiteY0" fmla="*/ 0 h 1391742"/>
              <a:gd name="connsiteX1" fmla="*/ 1143000 w 2619375"/>
              <a:gd name="connsiteY1" fmla="*/ 203200 h 1391742"/>
              <a:gd name="connsiteX2" fmla="*/ 1714500 w 2619375"/>
              <a:gd name="connsiteY2" fmla="*/ 1117600 h 1391742"/>
              <a:gd name="connsiteX3" fmla="*/ 2619375 w 2619375"/>
              <a:gd name="connsiteY3" fmla="*/ 1387475 h 1391742"/>
              <a:gd name="connsiteX0" fmla="*/ 0 w 2565400"/>
              <a:gd name="connsiteY0" fmla="*/ 0 h 1391742"/>
              <a:gd name="connsiteX1" fmla="*/ 1143000 w 2565400"/>
              <a:gd name="connsiteY1" fmla="*/ 203200 h 1391742"/>
              <a:gd name="connsiteX2" fmla="*/ 1714500 w 2565400"/>
              <a:gd name="connsiteY2" fmla="*/ 1117600 h 1391742"/>
              <a:gd name="connsiteX3" fmla="*/ 2565400 w 2565400"/>
              <a:gd name="connsiteY3" fmla="*/ 1387475 h 1391742"/>
              <a:gd name="connsiteX0" fmla="*/ 0 w 2565400"/>
              <a:gd name="connsiteY0" fmla="*/ 0 h 1387475"/>
              <a:gd name="connsiteX1" fmla="*/ 1143000 w 2565400"/>
              <a:gd name="connsiteY1" fmla="*/ 203200 h 1387475"/>
              <a:gd name="connsiteX2" fmla="*/ 1714500 w 2565400"/>
              <a:gd name="connsiteY2" fmla="*/ 1117600 h 1387475"/>
              <a:gd name="connsiteX3" fmla="*/ 2565400 w 2565400"/>
              <a:gd name="connsiteY3" fmla="*/ 1387475 h 1387475"/>
              <a:gd name="connsiteX0" fmla="*/ 0 w 2613025"/>
              <a:gd name="connsiteY0" fmla="*/ 0 h 1368425"/>
              <a:gd name="connsiteX1" fmla="*/ 1143000 w 2613025"/>
              <a:gd name="connsiteY1" fmla="*/ 203200 h 1368425"/>
              <a:gd name="connsiteX2" fmla="*/ 1714500 w 2613025"/>
              <a:gd name="connsiteY2" fmla="*/ 1117600 h 1368425"/>
              <a:gd name="connsiteX3" fmla="*/ 2613025 w 2613025"/>
              <a:gd name="connsiteY3" fmla="*/ 1368425 h 1368425"/>
              <a:gd name="connsiteX0" fmla="*/ 0 w 2613025"/>
              <a:gd name="connsiteY0" fmla="*/ 0 h 1368644"/>
              <a:gd name="connsiteX1" fmla="*/ 1143000 w 2613025"/>
              <a:gd name="connsiteY1" fmla="*/ 203200 h 1368644"/>
              <a:gd name="connsiteX2" fmla="*/ 1714500 w 2613025"/>
              <a:gd name="connsiteY2" fmla="*/ 1117600 h 1368644"/>
              <a:gd name="connsiteX3" fmla="*/ 2613025 w 2613025"/>
              <a:gd name="connsiteY3" fmla="*/ 1368425 h 1368644"/>
              <a:gd name="connsiteX0" fmla="*/ 0 w 2654300"/>
              <a:gd name="connsiteY0" fmla="*/ 0 h 1368644"/>
              <a:gd name="connsiteX1" fmla="*/ 1143000 w 2654300"/>
              <a:gd name="connsiteY1" fmla="*/ 203200 h 1368644"/>
              <a:gd name="connsiteX2" fmla="*/ 1714500 w 2654300"/>
              <a:gd name="connsiteY2" fmla="*/ 1117600 h 1368644"/>
              <a:gd name="connsiteX3" fmla="*/ 2654300 w 2654300"/>
              <a:gd name="connsiteY3" fmla="*/ 1368425 h 1368644"/>
              <a:gd name="connsiteX0" fmla="*/ 0 w 2465727"/>
              <a:gd name="connsiteY0" fmla="*/ 0 h 1293253"/>
              <a:gd name="connsiteX1" fmla="*/ 1143000 w 2465727"/>
              <a:gd name="connsiteY1" fmla="*/ 203200 h 1293253"/>
              <a:gd name="connsiteX2" fmla="*/ 1714500 w 2465727"/>
              <a:gd name="connsiteY2" fmla="*/ 1117600 h 1293253"/>
              <a:gd name="connsiteX3" fmla="*/ 2465727 w 2465727"/>
              <a:gd name="connsiteY3" fmla="*/ 1290429 h 1293253"/>
              <a:gd name="connsiteX0" fmla="*/ 0 w 2504865"/>
              <a:gd name="connsiteY0" fmla="*/ 0 h 1265835"/>
              <a:gd name="connsiteX1" fmla="*/ 1143000 w 2504865"/>
              <a:gd name="connsiteY1" fmla="*/ 203200 h 1265835"/>
              <a:gd name="connsiteX2" fmla="*/ 1714500 w 2504865"/>
              <a:gd name="connsiteY2" fmla="*/ 1117600 h 1265835"/>
              <a:gd name="connsiteX3" fmla="*/ 2504865 w 2504865"/>
              <a:gd name="connsiteY3" fmla="*/ 1254976 h 1265835"/>
              <a:gd name="connsiteX0" fmla="*/ 0 w 2504865"/>
              <a:gd name="connsiteY0" fmla="*/ 0 h 1265835"/>
              <a:gd name="connsiteX1" fmla="*/ 951614 w 2504865"/>
              <a:gd name="connsiteY1" fmla="*/ 732925 h 1265835"/>
              <a:gd name="connsiteX2" fmla="*/ 1714500 w 2504865"/>
              <a:gd name="connsiteY2" fmla="*/ 1117600 h 1265835"/>
              <a:gd name="connsiteX3" fmla="*/ 2504865 w 2504865"/>
              <a:gd name="connsiteY3" fmla="*/ 1254976 h 1265835"/>
              <a:gd name="connsiteX0" fmla="*/ 0 w 2504865"/>
              <a:gd name="connsiteY0" fmla="*/ 0 h 1265835"/>
              <a:gd name="connsiteX1" fmla="*/ 951614 w 2504865"/>
              <a:gd name="connsiteY1" fmla="*/ 732925 h 1265835"/>
              <a:gd name="connsiteX2" fmla="*/ 1714500 w 2504865"/>
              <a:gd name="connsiteY2" fmla="*/ 1117600 h 1265835"/>
              <a:gd name="connsiteX3" fmla="*/ 2504865 w 2504865"/>
              <a:gd name="connsiteY3" fmla="*/ 1254976 h 1265835"/>
              <a:gd name="connsiteX0" fmla="*/ 0 w 2504865"/>
              <a:gd name="connsiteY0" fmla="*/ 0 h 1254976"/>
              <a:gd name="connsiteX1" fmla="*/ 951614 w 2504865"/>
              <a:gd name="connsiteY1" fmla="*/ 732925 h 1254976"/>
              <a:gd name="connsiteX2" fmla="*/ 2504865 w 2504865"/>
              <a:gd name="connsiteY2" fmla="*/ 1254976 h 1254976"/>
              <a:gd name="connsiteX0" fmla="*/ 0 w 2504865"/>
              <a:gd name="connsiteY0" fmla="*/ 0 h 1254976"/>
              <a:gd name="connsiteX1" fmla="*/ 951614 w 2504865"/>
              <a:gd name="connsiteY1" fmla="*/ 732925 h 1254976"/>
              <a:gd name="connsiteX2" fmla="*/ 2504865 w 2504865"/>
              <a:gd name="connsiteY2" fmla="*/ 1254976 h 1254976"/>
              <a:gd name="connsiteX0" fmla="*/ 0 w 2653721"/>
              <a:gd name="connsiteY0" fmla="*/ 0 h 1254976"/>
              <a:gd name="connsiteX1" fmla="*/ 1100470 w 2653721"/>
              <a:gd name="connsiteY1" fmla="*/ 732925 h 1254976"/>
              <a:gd name="connsiteX2" fmla="*/ 2653721 w 2653721"/>
              <a:gd name="connsiteY2" fmla="*/ 1254976 h 1254976"/>
              <a:gd name="connsiteX0" fmla="*/ 0 w 2653721"/>
              <a:gd name="connsiteY0" fmla="*/ 3679 h 1258655"/>
              <a:gd name="connsiteX1" fmla="*/ 1100470 w 2653721"/>
              <a:gd name="connsiteY1" fmla="*/ 736604 h 1258655"/>
              <a:gd name="connsiteX2" fmla="*/ 2653721 w 2653721"/>
              <a:gd name="connsiteY2" fmla="*/ 1258655 h 1258655"/>
              <a:gd name="connsiteX0" fmla="*/ 0 w 2653721"/>
              <a:gd name="connsiteY0" fmla="*/ 7709 h 1262685"/>
              <a:gd name="connsiteX1" fmla="*/ 1100470 w 2653721"/>
              <a:gd name="connsiteY1" fmla="*/ 740634 h 1262685"/>
              <a:gd name="connsiteX2" fmla="*/ 2653721 w 2653721"/>
              <a:gd name="connsiteY2" fmla="*/ 1262685 h 1262685"/>
              <a:gd name="connsiteX0" fmla="*/ 0 w 2653721"/>
              <a:gd name="connsiteY0" fmla="*/ 14688 h 1269664"/>
              <a:gd name="connsiteX1" fmla="*/ 1100470 w 2653721"/>
              <a:gd name="connsiteY1" fmla="*/ 747613 h 1269664"/>
              <a:gd name="connsiteX2" fmla="*/ 2653721 w 2653721"/>
              <a:gd name="connsiteY2" fmla="*/ 1269664 h 1269664"/>
              <a:gd name="connsiteX0" fmla="*/ 0 w 2653721"/>
              <a:gd name="connsiteY0" fmla="*/ 8318 h 1301365"/>
              <a:gd name="connsiteX1" fmla="*/ 1795579 w 2653721"/>
              <a:gd name="connsiteY1" fmla="*/ 881564 h 1301365"/>
              <a:gd name="connsiteX2" fmla="*/ 2653721 w 2653721"/>
              <a:gd name="connsiteY2" fmla="*/ 1263294 h 1301365"/>
              <a:gd name="connsiteX0" fmla="*/ 0 w 2653721"/>
              <a:gd name="connsiteY0" fmla="*/ 7282 h 1323999"/>
              <a:gd name="connsiteX1" fmla="*/ 2081298 w 2653721"/>
              <a:gd name="connsiteY1" fmla="*/ 922951 h 1323999"/>
              <a:gd name="connsiteX2" fmla="*/ 2653721 w 2653721"/>
              <a:gd name="connsiteY2" fmla="*/ 1262258 h 1323999"/>
              <a:gd name="connsiteX0" fmla="*/ 0 w 2653721"/>
              <a:gd name="connsiteY0" fmla="*/ 2260 h 1318978"/>
              <a:gd name="connsiteX1" fmla="*/ 2081298 w 2653721"/>
              <a:gd name="connsiteY1" fmla="*/ 917929 h 1318978"/>
              <a:gd name="connsiteX2" fmla="*/ 2653721 w 2653721"/>
              <a:gd name="connsiteY2" fmla="*/ 1257236 h 1318978"/>
              <a:gd name="connsiteX0" fmla="*/ 0 w 2653721"/>
              <a:gd name="connsiteY0" fmla="*/ 2260 h 1347104"/>
              <a:gd name="connsiteX1" fmla="*/ 2081298 w 2653721"/>
              <a:gd name="connsiteY1" fmla="*/ 917929 h 1347104"/>
              <a:gd name="connsiteX2" fmla="*/ 2653721 w 2653721"/>
              <a:gd name="connsiteY2" fmla="*/ 1257236 h 1347104"/>
              <a:gd name="connsiteX0" fmla="*/ 0 w 2687837"/>
              <a:gd name="connsiteY0" fmla="*/ 2260 h 1329587"/>
              <a:gd name="connsiteX1" fmla="*/ 2081298 w 2687837"/>
              <a:gd name="connsiteY1" fmla="*/ 917929 h 1329587"/>
              <a:gd name="connsiteX2" fmla="*/ 2687837 w 2687837"/>
              <a:gd name="connsiteY2" fmla="*/ 1218076 h 1329587"/>
              <a:gd name="connsiteX0" fmla="*/ 0 w 2687837"/>
              <a:gd name="connsiteY0" fmla="*/ 2260 h 1220433"/>
              <a:gd name="connsiteX1" fmla="*/ 2081298 w 2687837"/>
              <a:gd name="connsiteY1" fmla="*/ 917929 h 1220433"/>
              <a:gd name="connsiteX2" fmla="*/ 2687837 w 2687837"/>
              <a:gd name="connsiteY2" fmla="*/ 1218076 h 1220433"/>
              <a:gd name="connsiteX0" fmla="*/ 0 w 2687837"/>
              <a:gd name="connsiteY0" fmla="*/ 2110 h 1248944"/>
              <a:gd name="connsiteX1" fmla="*/ 2017331 w 2687837"/>
              <a:gd name="connsiteY1" fmla="*/ 989571 h 1248944"/>
              <a:gd name="connsiteX2" fmla="*/ 2687837 w 2687837"/>
              <a:gd name="connsiteY2" fmla="*/ 1217926 h 1248944"/>
              <a:gd name="connsiteX0" fmla="*/ 0 w 2687837"/>
              <a:gd name="connsiteY0" fmla="*/ 2110 h 1223519"/>
              <a:gd name="connsiteX1" fmla="*/ 2017331 w 2687837"/>
              <a:gd name="connsiteY1" fmla="*/ 989571 h 1223519"/>
              <a:gd name="connsiteX2" fmla="*/ 2687837 w 2687837"/>
              <a:gd name="connsiteY2" fmla="*/ 1217926 h 1223519"/>
              <a:gd name="connsiteX0" fmla="*/ 0 w 2687837"/>
              <a:gd name="connsiteY0" fmla="*/ 2121 h 1223530"/>
              <a:gd name="connsiteX1" fmla="*/ 2017331 w 2687837"/>
              <a:gd name="connsiteY1" fmla="*/ 989582 h 1223530"/>
              <a:gd name="connsiteX2" fmla="*/ 2687837 w 2687837"/>
              <a:gd name="connsiteY2" fmla="*/ 1217937 h 1223530"/>
              <a:gd name="connsiteX0" fmla="*/ 0 w 2687837"/>
              <a:gd name="connsiteY0" fmla="*/ 2060 h 1237203"/>
              <a:gd name="connsiteX1" fmla="*/ 2158059 w 2687837"/>
              <a:gd name="connsiteY1" fmla="*/ 1022154 h 1237203"/>
              <a:gd name="connsiteX2" fmla="*/ 2687837 w 2687837"/>
              <a:gd name="connsiteY2" fmla="*/ 1217876 h 1237203"/>
              <a:gd name="connsiteX0" fmla="*/ 0 w 2717689"/>
              <a:gd name="connsiteY0" fmla="*/ 2060 h 1286406"/>
              <a:gd name="connsiteX1" fmla="*/ 2158059 w 2717689"/>
              <a:gd name="connsiteY1" fmla="*/ 1022154 h 1286406"/>
              <a:gd name="connsiteX2" fmla="*/ 2717689 w 2717689"/>
              <a:gd name="connsiteY2" fmla="*/ 1286406 h 1286406"/>
              <a:gd name="connsiteX0" fmla="*/ 0 w 2717689"/>
              <a:gd name="connsiteY0" fmla="*/ 2060 h 1291521"/>
              <a:gd name="connsiteX1" fmla="*/ 2158059 w 2717689"/>
              <a:gd name="connsiteY1" fmla="*/ 1022154 h 1291521"/>
              <a:gd name="connsiteX2" fmla="*/ 2717689 w 2717689"/>
              <a:gd name="connsiteY2" fmla="*/ 1286406 h 1291521"/>
              <a:gd name="connsiteX0" fmla="*/ 0 w 2717689"/>
              <a:gd name="connsiteY0" fmla="*/ 2154 h 1286500"/>
              <a:gd name="connsiteX1" fmla="*/ 1936307 w 2717689"/>
              <a:gd name="connsiteY1" fmla="*/ 973298 h 1286500"/>
              <a:gd name="connsiteX2" fmla="*/ 2717689 w 2717689"/>
              <a:gd name="connsiteY2" fmla="*/ 1286500 h 1286500"/>
              <a:gd name="connsiteX0" fmla="*/ 0 w 2717689"/>
              <a:gd name="connsiteY0" fmla="*/ 4730 h 1289076"/>
              <a:gd name="connsiteX1" fmla="*/ 1936307 w 2717689"/>
              <a:gd name="connsiteY1" fmla="*/ 975874 h 1289076"/>
              <a:gd name="connsiteX2" fmla="*/ 2717689 w 2717689"/>
              <a:gd name="connsiteY2" fmla="*/ 1289076 h 1289076"/>
              <a:gd name="connsiteX0" fmla="*/ 0 w 2717689"/>
              <a:gd name="connsiteY0" fmla="*/ 4730 h 1289913"/>
              <a:gd name="connsiteX1" fmla="*/ 1936307 w 2717689"/>
              <a:gd name="connsiteY1" fmla="*/ 975874 h 1289913"/>
              <a:gd name="connsiteX2" fmla="*/ 2717689 w 2717689"/>
              <a:gd name="connsiteY2" fmla="*/ 1289076 h 1289913"/>
            </a:gdLst>
            <a:ahLst/>
            <a:cxnLst>
              <a:cxn ang="0">
                <a:pos x="connsiteX0" y="connsiteY0"/>
              </a:cxn>
              <a:cxn ang="0">
                <a:pos x="connsiteX1" y="connsiteY1"/>
              </a:cxn>
              <a:cxn ang="0">
                <a:pos x="connsiteX2" y="connsiteY2"/>
              </a:cxn>
            </a:cxnLst>
            <a:rect l="l" t="t" r="r" b="b"/>
            <a:pathLst>
              <a:path w="2717689" h="1289913">
                <a:moveTo>
                  <a:pt x="0" y="4730"/>
                </a:moveTo>
                <a:cubicBezTo>
                  <a:pt x="875193" y="-50372"/>
                  <a:pt x="1427205" y="382180"/>
                  <a:pt x="1936307" y="975874"/>
                </a:cubicBezTo>
                <a:cubicBezTo>
                  <a:pt x="2027490" y="1341138"/>
                  <a:pt x="2364244" y="1284743"/>
                  <a:pt x="2717689" y="1289076"/>
                </a:cubicBezTo>
              </a:path>
            </a:pathLst>
          </a:custGeom>
          <a:noFill/>
          <a:ln>
            <a:solidFill>
              <a:schemeClr val="accent2">
                <a:lumMod val="75000"/>
              </a:schemeClr>
            </a:solidFill>
            <a:prstDash val="dash"/>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72">
            <a:extLst>
              <a:ext uri="{FF2B5EF4-FFF2-40B4-BE49-F238E27FC236}">
                <a16:creationId xmlns:a16="http://schemas.microsoft.com/office/drawing/2014/main" id="{267FC1F1-0D2A-8FA6-2F2B-9A5F1218B3EB}"/>
              </a:ext>
            </a:extLst>
          </p:cNvPr>
          <p:cNvSpPr/>
          <p:nvPr/>
        </p:nvSpPr>
        <p:spPr>
          <a:xfrm flipV="1">
            <a:off x="5650982" y="3901418"/>
            <a:ext cx="2680481" cy="1733253"/>
          </a:xfrm>
          <a:custGeom>
            <a:avLst/>
            <a:gdLst>
              <a:gd name="connsiteX0" fmla="*/ 0 w 2260600"/>
              <a:gd name="connsiteY0" fmla="*/ 0 h 1397000"/>
              <a:gd name="connsiteX1" fmla="*/ 1143000 w 2260600"/>
              <a:gd name="connsiteY1" fmla="*/ 203200 h 1397000"/>
              <a:gd name="connsiteX2" fmla="*/ 1714500 w 2260600"/>
              <a:gd name="connsiteY2" fmla="*/ 1117600 h 1397000"/>
              <a:gd name="connsiteX3" fmla="*/ 2260600 w 2260600"/>
              <a:gd name="connsiteY3" fmla="*/ 1397000 h 1397000"/>
              <a:gd name="connsiteX0" fmla="*/ 0 w 2619375"/>
              <a:gd name="connsiteY0" fmla="*/ 0 h 1387475"/>
              <a:gd name="connsiteX1" fmla="*/ 1143000 w 2619375"/>
              <a:gd name="connsiteY1" fmla="*/ 203200 h 1387475"/>
              <a:gd name="connsiteX2" fmla="*/ 1714500 w 2619375"/>
              <a:gd name="connsiteY2" fmla="*/ 1117600 h 1387475"/>
              <a:gd name="connsiteX3" fmla="*/ 2619375 w 2619375"/>
              <a:gd name="connsiteY3" fmla="*/ 1387475 h 1387475"/>
              <a:gd name="connsiteX0" fmla="*/ 0 w 2619375"/>
              <a:gd name="connsiteY0" fmla="*/ 0 h 1391742"/>
              <a:gd name="connsiteX1" fmla="*/ 1143000 w 2619375"/>
              <a:gd name="connsiteY1" fmla="*/ 203200 h 1391742"/>
              <a:gd name="connsiteX2" fmla="*/ 1714500 w 2619375"/>
              <a:gd name="connsiteY2" fmla="*/ 1117600 h 1391742"/>
              <a:gd name="connsiteX3" fmla="*/ 2619375 w 2619375"/>
              <a:gd name="connsiteY3" fmla="*/ 1387475 h 1391742"/>
              <a:gd name="connsiteX0" fmla="*/ 0 w 2565400"/>
              <a:gd name="connsiteY0" fmla="*/ 0 h 1391742"/>
              <a:gd name="connsiteX1" fmla="*/ 1143000 w 2565400"/>
              <a:gd name="connsiteY1" fmla="*/ 203200 h 1391742"/>
              <a:gd name="connsiteX2" fmla="*/ 1714500 w 2565400"/>
              <a:gd name="connsiteY2" fmla="*/ 1117600 h 1391742"/>
              <a:gd name="connsiteX3" fmla="*/ 2565400 w 2565400"/>
              <a:gd name="connsiteY3" fmla="*/ 1387475 h 1391742"/>
              <a:gd name="connsiteX0" fmla="*/ 0 w 2565400"/>
              <a:gd name="connsiteY0" fmla="*/ 0 h 1387475"/>
              <a:gd name="connsiteX1" fmla="*/ 1143000 w 2565400"/>
              <a:gd name="connsiteY1" fmla="*/ 203200 h 1387475"/>
              <a:gd name="connsiteX2" fmla="*/ 1714500 w 2565400"/>
              <a:gd name="connsiteY2" fmla="*/ 1117600 h 1387475"/>
              <a:gd name="connsiteX3" fmla="*/ 2565400 w 2565400"/>
              <a:gd name="connsiteY3" fmla="*/ 1387475 h 1387475"/>
              <a:gd name="connsiteX0" fmla="*/ 0 w 2613025"/>
              <a:gd name="connsiteY0" fmla="*/ 0 h 1368425"/>
              <a:gd name="connsiteX1" fmla="*/ 1143000 w 2613025"/>
              <a:gd name="connsiteY1" fmla="*/ 203200 h 1368425"/>
              <a:gd name="connsiteX2" fmla="*/ 1714500 w 2613025"/>
              <a:gd name="connsiteY2" fmla="*/ 1117600 h 1368425"/>
              <a:gd name="connsiteX3" fmla="*/ 2613025 w 2613025"/>
              <a:gd name="connsiteY3" fmla="*/ 1368425 h 1368425"/>
              <a:gd name="connsiteX0" fmla="*/ 0 w 2613025"/>
              <a:gd name="connsiteY0" fmla="*/ 0 h 1368644"/>
              <a:gd name="connsiteX1" fmla="*/ 1143000 w 2613025"/>
              <a:gd name="connsiteY1" fmla="*/ 203200 h 1368644"/>
              <a:gd name="connsiteX2" fmla="*/ 1714500 w 2613025"/>
              <a:gd name="connsiteY2" fmla="*/ 1117600 h 1368644"/>
              <a:gd name="connsiteX3" fmla="*/ 2613025 w 2613025"/>
              <a:gd name="connsiteY3" fmla="*/ 1368425 h 1368644"/>
              <a:gd name="connsiteX0" fmla="*/ 0 w 2654300"/>
              <a:gd name="connsiteY0" fmla="*/ 0 h 1368644"/>
              <a:gd name="connsiteX1" fmla="*/ 1143000 w 2654300"/>
              <a:gd name="connsiteY1" fmla="*/ 203200 h 1368644"/>
              <a:gd name="connsiteX2" fmla="*/ 1714500 w 2654300"/>
              <a:gd name="connsiteY2" fmla="*/ 1117600 h 1368644"/>
              <a:gd name="connsiteX3" fmla="*/ 2654300 w 2654300"/>
              <a:gd name="connsiteY3" fmla="*/ 1368425 h 1368644"/>
              <a:gd name="connsiteX0" fmla="*/ 0 w 2654300"/>
              <a:gd name="connsiteY0" fmla="*/ 0 h 1368931"/>
              <a:gd name="connsiteX1" fmla="*/ 1143000 w 2654300"/>
              <a:gd name="connsiteY1" fmla="*/ 203200 h 1368931"/>
              <a:gd name="connsiteX2" fmla="*/ 1057532 w 2654300"/>
              <a:gd name="connsiteY2" fmla="*/ 1155455 h 1368931"/>
              <a:gd name="connsiteX3" fmla="*/ 2654300 w 2654300"/>
              <a:gd name="connsiteY3" fmla="*/ 1368425 h 1368931"/>
              <a:gd name="connsiteX0" fmla="*/ 0 w 2654300"/>
              <a:gd name="connsiteY0" fmla="*/ 0 h 1368931"/>
              <a:gd name="connsiteX1" fmla="*/ 646062 w 2654300"/>
              <a:gd name="connsiteY1" fmla="*/ 172228 h 1368931"/>
              <a:gd name="connsiteX2" fmla="*/ 1057532 w 2654300"/>
              <a:gd name="connsiteY2" fmla="*/ 1155455 h 1368931"/>
              <a:gd name="connsiteX3" fmla="*/ 2654300 w 2654300"/>
              <a:gd name="connsiteY3" fmla="*/ 1368425 h 1368931"/>
              <a:gd name="connsiteX0" fmla="*/ 0 w 2654300"/>
              <a:gd name="connsiteY0" fmla="*/ 0 h 1372468"/>
              <a:gd name="connsiteX1" fmla="*/ 646062 w 2654300"/>
              <a:gd name="connsiteY1" fmla="*/ 172228 h 1372468"/>
              <a:gd name="connsiteX2" fmla="*/ 998572 w 2654300"/>
              <a:gd name="connsiteY2" fmla="*/ 1203634 h 1372468"/>
              <a:gd name="connsiteX3" fmla="*/ 2654300 w 2654300"/>
              <a:gd name="connsiteY3" fmla="*/ 1368425 h 1372468"/>
              <a:gd name="connsiteX0" fmla="*/ 0 w 2721680"/>
              <a:gd name="connsiteY0" fmla="*/ 0 h 1375909"/>
              <a:gd name="connsiteX1" fmla="*/ 713442 w 2721680"/>
              <a:gd name="connsiteY1" fmla="*/ 175669 h 1375909"/>
              <a:gd name="connsiteX2" fmla="*/ 1065952 w 2721680"/>
              <a:gd name="connsiteY2" fmla="*/ 1207075 h 1375909"/>
              <a:gd name="connsiteX3" fmla="*/ 2721680 w 2721680"/>
              <a:gd name="connsiteY3" fmla="*/ 1371866 h 1375909"/>
              <a:gd name="connsiteX0" fmla="*/ 0 w 3337713"/>
              <a:gd name="connsiteY0" fmla="*/ 0 h 1411845"/>
              <a:gd name="connsiteX1" fmla="*/ 1329475 w 3337713"/>
              <a:gd name="connsiteY1" fmla="*/ 211605 h 1411845"/>
              <a:gd name="connsiteX2" fmla="*/ 1681985 w 3337713"/>
              <a:gd name="connsiteY2" fmla="*/ 1243011 h 1411845"/>
              <a:gd name="connsiteX3" fmla="*/ 3337713 w 3337713"/>
              <a:gd name="connsiteY3" fmla="*/ 1407802 h 1411845"/>
              <a:gd name="connsiteX0" fmla="*/ 0 w 3784506"/>
              <a:gd name="connsiteY0" fmla="*/ 0 h 1408578"/>
              <a:gd name="connsiteX1" fmla="*/ 1776268 w 3784506"/>
              <a:gd name="connsiteY1" fmla="*/ 208338 h 1408578"/>
              <a:gd name="connsiteX2" fmla="*/ 2128778 w 3784506"/>
              <a:gd name="connsiteY2" fmla="*/ 1239744 h 1408578"/>
              <a:gd name="connsiteX3" fmla="*/ 3784506 w 3784506"/>
              <a:gd name="connsiteY3" fmla="*/ 1404535 h 1408578"/>
              <a:gd name="connsiteX0" fmla="*/ 0 w 3919898"/>
              <a:gd name="connsiteY0" fmla="*/ 0 h 1392243"/>
              <a:gd name="connsiteX1" fmla="*/ 1911660 w 3919898"/>
              <a:gd name="connsiteY1" fmla="*/ 192003 h 1392243"/>
              <a:gd name="connsiteX2" fmla="*/ 2264170 w 3919898"/>
              <a:gd name="connsiteY2" fmla="*/ 1223409 h 1392243"/>
              <a:gd name="connsiteX3" fmla="*/ 3919898 w 3919898"/>
              <a:gd name="connsiteY3" fmla="*/ 1388200 h 1392243"/>
              <a:gd name="connsiteX0" fmla="*/ 0 w 3919898"/>
              <a:gd name="connsiteY0" fmla="*/ 496 h 1392739"/>
              <a:gd name="connsiteX1" fmla="*/ 1911660 w 3919898"/>
              <a:gd name="connsiteY1" fmla="*/ 192499 h 1392739"/>
              <a:gd name="connsiteX2" fmla="*/ 2264170 w 3919898"/>
              <a:gd name="connsiteY2" fmla="*/ 1223905 h 1392739"/>
              <a:gd name="connsiteX3" fmla="*/ 3919898 w 3919898"/>
              <a:gd name="connsiteY3" fmla="*/ 1388696 h 1392739"/>
            </a:gdLst>
            <a:ahLst/>
            <a:cxnLst>
              <a:cxn ang="0">
                <a:pos x="connsiteX0" y="connsiteY0"/>
              </a:cxn>
              <a:cxn ang="0">
                <a:pos x="connsiteX1" y="connsiteY1"/>
              </a:cxn>
              <a:cxn ang="0">
                <a:pos x="connsiteX2" y="connsiteY2"/>
              </a:cxn>
              <a:cxn ang="0">
                <a:pos x="connsiteX3" y="connsiteY3"/>
              </a:cxn>
            </a:cxnLst>
            <a:rect l="l" t="t" r="r" b="b"/>
            <a:pathLst>
              <a:path w="3919898" h="1392739">
                <a:moveTo>
                  <a:pt x="0" y="496"/>
                </a:moveTo>
                <a:cubicBezTo>
                  <a:pt x="503091" y="-838"/>
                  <a:pt x="1534298" y="-11402"/>
                  <a:pt x="1911660" y="192499"/>
                </a:cubicBezTo>
                <a:cubicBezTo>
                  <a:pt x="2289022" y="396400"/>
                  <a:pt x="2077903" y="1024938"/>
                  <a:pt x="2264170" y="1223905"/>
                </a:cubicBezTo>
                <a:cubicBezTo>
                  <a:pt x="2450437" y="1422872"/>
                  <a:pt x="3625681" y="1392929"/>
                  <a:pt x="3919898" y="1388696"/>
                </a:cubicBezTo>
              </a:path>
            </a:pathLst>
          </a:custGeom>
          <a:noFill/>
          <a:ln>
            <a:solidFill>
              <a:schemeClr val="accent6">
                <a:lumMod val="75000"/>
              </a:schemeClr>
            </a:solidFill>
            <a:prstDash val="dash"/>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73">
            <a:extLst>
              <a:ext uri="{FF2B5EF4-FFF2-40B4-BE49-F238E27FC236}">
                <a16:creationId xmlns:a16="http://schemas.microsoft.com/office/drawing/2014/main" id="{101BE629-B7EA-DACC-5ED3-05C0510DE416}"/>
              </a:ext>
            </a:extLst>
          </p:cNvPr>
          <p:cNvSpPr/>
          <p:nvPr/>
        </p:nvSpPr>
        <p:spPr>
          <a:xfrm>
            <a:off x="5642728" y="5730077"/>
            <a:ext cx="2622040" cy="415971"/>
          </a:xfrm>
          <a:custGeom>
            <a:avLst/>
            <a:gdLst>
              <a:gd name="connsiteX0" fmla="*/ 0 w 2260600"/>
              <a:gd name="connsiteY0" fmla="*/ 0 h 1397000"/>
              <a:gd name="connsiteX1" fmla="*/ 1143000 w 2260600"/>
              <a:gd name="connsiteY1" fmla="*/ 203200 h 1397000"/>
              <a:gd name="connsiteX2" fmla="*/ 1714500 w 2260600"/>
              <a:gd name="connsiteY2" fmla="*/ 1117600 h 1397000"/>
              <a:gd name="connsiteX3" fmla="*/ 2260600 w 2260600"/>
              <a:gd name="connsiteY3" fmla="*/ 1397000 h 1397000"/>
              <a:gd name="connsiteX0" fmla="*/ 0 w 2619375"/>
              <a:gd name="connsiteY0" fmla="*/ 0 h 1387475"/>
              <a:gd name="connsiteX1" fmla="*/ 1143000 w 2619375"/>
              <a:gd name="connsiteY1" fmla="*/ 203200 h 1387475"/>
              <a:gd name="connsiteX2" fmla="*/ 1714500 w 2619375"/>
              <a:gd name="connsiteY2" fmla="*/ 1117600 h 1387475"/>
              <a:gd name="connsiteX3" fmla="*/ 2619375 w 2619375"/>
              <a:gd name="connsiteY3" fmla="*/ 1387475 h 1387475"/>
              <a:gd name="connsiteX0" fmla="*/ 0 w 2619375"/>
              <a:gd name="connsiteY0" fmla="*/ 0 h 1391742"/>
              <a:gd name="connsiteX1" fmla="*/ 1143000 w 2619375"/>
              <a:gd name="connsiteY1" fmla="*/ 203200 h 1391742"/>
              <a:gd name="connsiteX2" fmla="*/ 1714500 w 2619375"/>
              <a:gd name="connsiteY2" fmla="*/ 1117600 h 1391742"/>
              <a:gd name="connsiteX3" fmla="*/ 2619375 w 2619375"/>
              <a:gd name="connsiteY3" fmla="*/ 1387475 h 1391742"/>
              <a:gd name="connsiteX0" fmla="*/ 0 w 2565400"/>
              <a:gd name="connsiteY0" fmla="*/ 0 h 1391742"/>
              <a:gd name="connsiteX1" fmla="*/ 1143000 w 2565400"/>
              <a:gd name="connsiteY1" fmla="*/ 203200 h 1391742"/>
              <a:gd name="connsiteX2" fmla="*/ 1714500 w 2565400"/>
              <a:gd name="connsiteY2" fmla="*/ 1117600 h 1391742"/>
              <a:gd name="connsiteX3" fmla="*/ 2565400 w 2565400"/>
              <a:gd name="connsiteY3" fmla="*/ 1387475 h 1391742"/>
              <a:gd name="connsiteX0" fmla="*/ 0 w 2565400"/>
              <a:gd name="connsiteY0" fmla="*/ 0 h 1387475"/>
              <a:gd name="connsiteX1" fmla="*/ 1143000 w 2565400"/>
              <a:gd name="connsiteY1" fmla="*/ 203200 h 1387475"/>
              <a:gd name="connsiteX2" fmla="*/ 1714500 w 2565400"/>
              <a:gd name="connsiteY2" fmla="*/ 1117600 h 1387475"/>
              <a:gd name="connsiteX3" fmla="*/ 2565400 w 2565400"/>
              <a:gd name="connsiteY3" fmla="*/ 1387475 h 1387475"/>
              <a:gd name="connsiteX0" fmla="*/ 0 w 2613025"/>
              <a:gd name="connsiteY0" fmla="*/ 0 h 1368425"/>
              <a:gd name="connsiteX1" fmla="*/ 1143000 w 2613025"/>
              <a:gd name="connsiteY1" fmla="*/ 203200 h 1368425"/>
              <a:gd name="connsiteX2" fmla="*/ 1714500 w 2613025"/>
              <a:gd name="connsiteY2" fmla="*/ 1117600 h 1368425"/>
              <a:gd name="connsiteX3" fmla="*/ 2613025 w 2613025"/>
              <a:gd name="connsiteY3" fmla="*/ 1368425 h 1368425"/>
              <a:gd name="connsiteX0" fmla="*/ 0 w 2613025"/>
              <a:gd name="connsiteY0" fmla="*/ 0 h 1368644"/>
              <a:gd name="connsiteX1" fmla="*/ 1143000 w 2613025"/>
              <a:gd name="connsiteY1" fmla="*/ 203200 h 1368644"/>
              <a:gd name="connsiteX2" fmla="*/ 1714500 w 2613025"/>
              <a:gd name="connsiteY2" fmla="*/ 1117600 h 1368644"/>
              <a:gd name="connsiteX3" fmla="*/ 2613025 w 2613025"/>
              <a:gd name="connsiteY3" fmla="*/ 1368425 h 1368644"/>
              <a:gd name="connsiteX0" fmla="*/ 0 w 2654300"/>
              <a:gd name="connsiteY0" fmla="*/ 0 h 1368644"/>
              <a:gd name="connsiteX1" fmla="*/ 1143000 w 2654300"/>
              <a:gd name="connsiteY1" fmla="*/ 203200 h 1368644"/>
              <a:gd name="connsiteX2" fmla="*/ 1714500 w 2654300"/>
              <a:gd name="connsiteY2" fmla="*/ 1117600 h 1368644"/>
              <a:gd name="connsiteX3" fmla="*/ 2654300 w 2654300"/>
              <a:gd name="connsiteY3" fmla="*/ 1368425 h 1368644"/>
              <a:gd name="connsiteX0" fmla="*/ 0 w 2654300"/>
              <a:gd name="connsiteY0" fmla="*/ 0 h 1368441"/>
              <a:gd name="connsiteX1" fmla="*/ 1143000 w 2654300"/>
              <a:gd name="connsiteY1" fmla="*/ 203200 h 1368441"/>
              <a:gd name="connsiteX2" fmla="*/ 1831975 w 2654300"/>
              <a:gd name="connsiteY2" fmla="*/ 397882 h 1368441"/>
              <a:gd name="connsiteX3" fmla="*/ 2654300 w 2654300"/>
              <a:gd name="connsiteY3" fmla="*/ 1368425 h 1368441"/>
              <a:gd name="connsiteX0" fmla="*/ 0 w 2654300"/>
              <a:gd name="connsiteY0" fmla="*/ 0 h 1368452"/>
              <a:gd name="connsiteX1" fmla="*/ 1143000 w 2654300"/>
              <a:gd name="connsiteY1" fmla="*/ 203200 h 1368452"/>
              <a:gd name="connsiteX2" fmla="*/ 1831975 w 2654300"/>
              <a:gd name="connsiteY2" fmla="*/ 397882 h 1368452"/>
              <a:gd name="connsiteX3" fmla="*/ 2654300 w 2654300"/>
              <a:gd name="connsiteY3" fmla="*/ 1368425 h 1368452"/>
              <a:gd name="connsiteX0" fmla="*/ 0 w 2654300"/>
              <a:gd name="connsiteY0" fmla="*/ 0 h 1368452"/>
              <a:gd name="connsiteX1" fmla="*/ 1143000 w 2654300"/>
              <a:gd name="connsiteY1" fmla="*/ 203200 h 1368452"/>
              <a:gd name="connsiteX2" fmla="*/ 1831975 w 2654300"/>
              <a:gd name="connsiteY2" fmla="*/ 397882 h 1368452"/>
              <a:gd name="connsiteX3" fmla="*/ 2654300 w 2654300"/>
              <a:gd name="connsiteY3" fmla="*/ 1368425 h 1368452"/>
              <a:gd name="connsiteX0" fmla="*/ 0 w 2654300"/>
              <a:gd name="connsiteY0" fmla="*/ 0 h 1368497"/>
              <a:gd name="connsiteX1" fmla="*/ 1143000 w 2654300"/>
              <a:gd name="connsiteY1" fmla="*/ 203200 h 1368497"/>
              <a:gd name="connsiteX2" fmla="*/ 1831975 w 2654300"/>
              <a:gd name="connsiteY2" fmla="*/ 397882 h 1368497"/>
              <a:gd name="connsiteX3" fmla="*/ 2654300 w 2654300"/>
              <a:gd name="connsiteY3" fmla="*/ 1368425 h 1368497"/>
              <a:gd name="connsiteX0" fmla="*/ 0 w 2654300"/>
              <a:gd name="connsiteY0" fmla="*/ 3796 h 1372293"/>
              <a:gd name="connsiteX1" fmla="*/ 1041400 w 2654300"/>
              <a:gd name="connsiteY1" fmla="*/ 39620 h 1372293"/>
              <a:gd name="connsiteX2" fmla="*/ 1831975 w 2654300"/>
              <a:gd name="connsiteY2" fmla="*/ 401678 h 1372293"/>
              <a:gd name="connsiteX3" fmla="*/ 2654300 w 2654300"/>
              <a:gd name="connsiteY3" fmla="*/ 1372221 h 1372293"/>
              <a:gd name="connsiteX0" fmla="*/ 0 w 2654300"/>
              <a:gd name="connsiteY0" fmla="*/ 0 h 1368497"/>
              <a:gd name="connsiteX1" fmla="*/ 1041400 w 2654300"/>
              <a:gd name="connsiteY1" fmla="*/ 35824 h 1368497"/>
              <a:gd name="connsiteX2" fmla="*/ 1831975 w 2654300"/>
              <a:gd name="connsiteY2" fmla="*/ 397882 h 1368497"/>
              <a:gd name="connsiteX3" fmla="*/ 2654300 w 2654300"/>
              <a:gd name="connsiteY3" fmla="*/ 1368425 h 1368497"/>
              <a:gd name="connsiteX0" fmla="*/ 0 w 2654300"/>
              <a:gd name="connsiteY0" fmla="*/ 0 h 1368447"/>
              <a:gd name="connsiteX1" fmla="*/ 1041400 w 2654300"/>
              <a:gd name="connsiteY1" fmla="*/ 35824 h 1368447"/>
              <a:gd name="connsiteX2" fmla="*/ 1831975 w 2654300"/>
              <a:gd name="connsiteY2" fmla="*/ 397882 h 1368447"/>
              <a:gd name="connsiteX3" fmla="*/ 2654300 w 2654300"/>
              <a:gd name="connsiteY3" fmla="*/ 1368425 h 1368447"/>
              <a:gd name="connsiteX0" fmla="*/ 0 w 2654300"/>
              <a:gd name="connsiteY0" fmla="*/ 23905 h 1392349"/>
              <a:gd name="connsiteX1" fmla="*/ 1041400 w 2654300"/>
              <a:gd name="connsiteY1" fmla="*/ 59729 h 1392349"/>
              <a:gd name="connsiteX2" fmla="*/ 1778605 w 2654300"/>
              <a:gd name="connsiteY2" fmla="*/ 318625 h 1392349"/>
              <a:gd name="connsiteX3" fmla="*/ 2654300 w 2654300"/>
              <a:gd name="connsiteY3" fmla="*/ 1392330 h 1392349"/>
              <a:gd name="connsiteX0" fmla="*/ 0 w 2654300"/>
              <a:gd name="connsiteY0" fmla="*/ 23905 h 1392349"/>
              <a:gd name="connsiteX1" fmla="*/ 1041400 w 2654300"/>
              <a:gd name="connsiteY1" fmla="*/ 59729 h 1392349"/>
              <a:gd name="connsiteX2" fmla="*/ 1778605 w 2654300"/>
              <a:gd name="connsiteY2" fmla="*/ 318625 h 1392349"/>
              <a:gd name="connsiteX3" fmla="*/ 2654300 w 2654300"/>
              <a:gd name="connsiteY3" fmla="*/ 1392330 h 1392349"/>
              <a:gd name="connsiteX0" fmla="*/ 0 w 2654300"/>
              <a:gd name="connsiteY0" fmla="*/ 0 h 1368444"/>
              <a:gd name="connsiteX1" fmla="*/ 1041400 w 2654300"/>
              <a:gd name="connsiteY1" fmla="*/ 35824 h 1368444"/>
              <a:gd name="connsiteX2" fmla="*/ 1778605 w 2654300"/>
              <a:gd name="connsiteY2" fmla="*/ 294720 h 1368444"/>
              <a:gd name="connsiteX3" fmla="*/ 2654300 w 2654300"/>
              <a:gd name="connsiteY3" fmla="*/ 1368425 h 1368444"/>
              <a:gd name="connsiteX0" fmla="*/ 0 w 2654300"/>
              <a:gd name="connsiteY0" fmla="*/ 0 h 1368471"/>
              <a:gd name="connsiteX1" fmla="*/ 1041400 w 2654300"/>
              <a:gd name="connsiteY1" fmla="*/ 35824 h 1368471"/>
              <a:gd name="connsiteX2" fmla="*/ 1778605 w 2654300"/>
              <a:gd name="connsiteY2" fmla="*/ 294720 h 1368471"/>
              <a:gd name="connsiteX3" fmla="*/ 2654300 w 2654300"/>
              <a:gd name="connsiteY3" fmla="*/ 1368425 h 1368471"/>
              <a:gd name="connsiteX0" fmla="*/ 0 w 2654300"/>
              <a:gd name="connsiteY0" fmla="*/ 0 h 1368471"/>
              <a:gd name="connsiteX1" fmla="*/ 1041400 w 2654300"/>
              <a:gd name="connsiteY1" fmla="*/ 35824 h 1368471"/>
              <a:gd name="connsiteX2" fmla="*/ 1778605 w 2654300"/>
              <a:gd name="connsiteY2" fmla="*/ 294720 h 1368471"/>
              <a:gd name="connsiteX3" fmla="*/ 2654300 w 2654300"/>
              <a:gd name="connsiteY3" fmla="*/ 1368425 h 1368471"/>
              <a:gd name="connsiteX0" fmla="*/ 0 w 2654300"/>
              <a:gd name="connsiteY0" fmla="*/ 0 h 1368471"/>
              <a:gd name="connsiteX1" fmla="*/ 1778605 w 2654300"/>
              <a:gd name="connsiteY1" fmla="*/ 294720 h 1368471"/>
              <a:gd name="connsiteX2" fmla="*/ 2654300 w 2654300"/>
              <a:gd name="connsiteY2" fmla="*/ 1368425 h 1368471"/>
              <a:gd name="connsiteX0" fmla="*/ 0 w 2654300"/>
              <a:gd name="connsiteY0" fmla="*/ 132258 h 1500729"/>
              <a:gd name="connsiteX1" fmla="*/ 1778605 w 2654300"/>
              <a:gd name="connsiteY1" fmla="*/ 426978 h 1500729"/>
              <a:gd name="connsiteX2" fmla="*/ 2654300 w 2654300"/>
              <a:gd name="connsiteY2" fmla="*/ 1500683 h 1500729"/>
              <a:gd name="connsiteX0" fmla="*/ 0 w 2654300"/>
              <a:gd name="connsiteY0" fmla="*/ 15639 h 1384088"/>
              <a:gd name="connsiteX1" fmla="*/ 1778605 w 2654300"/>
              <a:gd name="connsiteY1" fmla="*/ 310359 h 1384088"/>
              <a:gd name="connsiteX2" fmla="*/ 2654300 w 2654300"/>
              <a:gd name="connsiteY2" fmla="*/ 1384064 h 1384088"/>
              <a:gd name="connsiteX0" fmla="*/ 0 w 2876587"/>
              <a:gd name="connsiteY0" fmla="*/ -1 h 1368441"/>
              <a:gd name="connsiteX1" fmla="*/ 1778605 w 2876587"/>
              <a:gd name="connsiteY1" fmla="*/ 294719 h 1368441"/>
              <a:gd name="connsiteX2" fmla="*/ 2876587 w 2876587"/>
              <a:gd name="connsiteY2" fmla="*/ 1368425 h 1368441"/>
              <a:gd name="connsiteX0" fmla="*/ 0 w 2876587"/>
              <a:gd name="connsiteY0" fmla="*/ -1 h 1368449"/>
              <a:gd name="connsiteX1" fmla="*/ 1778605 w 2876587"/>
              <a:gd name="connsiteY1" fmla="*/ 294719 h 1368449"/>
              <a:gd name="connsiteX2" fmla="*/ 2876587 w 2876587"/>
              <a:gd name="connsiteY2" fmla="*/ 1368425 h 1368449"/>
              <a:gd name="connsiteX0" fmla="*/ 0 w 2851889"/>
              <a:gd name="connsiteY0" fmla="*/ 0 h 1355200"/>
              <a:gd name="connsiteX1" fmla="*/ 1753907 w 2851889"/>
              <a:gd name="connsiteY1" fmla="*/ 281477 h 1355200"/>
              <a:gd name="connsiteX2" fmla="*/ 2851889 w 2851889"/>
              <a:gd name="connsiteY2" fmla="*/ 1355183 h 1355200"/>
              <a:gd name="connsiteX0" fmla="*/ 0 w 2851889"/>
              <a:gd name="connsiteY0" fmla="*/ 1343 h 1356539"/>
              <a:gd name="connsiteX1" fmla="*/ 1753907 w 2851889"/>
              <a:gd name="connsiteY1" fmla="*/ 282820 h 1356539"/>
              <a:gd name="connsiteX2" fmla="*/ 2851889 w 2851889"/>
              <a:gd name="connsiteY2" fmla="*/ 1356526 h 1356539"/>
              <a:gd name="connsiteX0" fmla="*/ 0 w 2851889"/>
              <a:gd name="connsiteY0" fmla="*/ 67852 h 1423059"/>
              <a:gd name="connsiteX1" fmla="*/ 1753907 w 2851889"/>
              <a:gd name="connsiteY1" fmla="*/ 349329 h 1423059"/>
              <a:gd name="connsiteX2" fmla="*/ 2851889 w 2851889"/>
              <a:gd name="connsiteY2" fmla="*/ 1423035 h 1423059"/>
              <a:gd name="connsiteX0" fmla="*/ 0 w 2851889"/>
              <a:gd name="connsiteY0" fmla="*/ 67852 h 1423036"/>
              <a:gd name="connsiteX1" fmla="*/ 1753907 w 2851889"/>
              <a:gd name="connsiteY1" fmla="*/ 349329 h 1423036"/>
              <a:gd name="connsiteX2" fmla="*/ 2171227 w 2851889"/>
              <a:gd name="connsiteY2" fmla="*/ 877854 h 1423036"/>
              <a:gd name="connsiteX3" fmla="*/ 2851889 w 2851889"/>
              <a:gd name="connsiteY3" fmla="*/ 1423035 h 1423036"/>
              <a:gd name="connsiteX0" fmla="*/ 0 w 2851889"/>
              <a:gd name="connsiteY0" fmla="*/ 994 h 1356178"/>
              <a:gd name="connsiteX1" fmla="*/ 1753907 w 2851889"/>
              <a:gd name="connsiteY1" fmla="*/ 282471 h 1356178"/>
              <a:gd name="connsiteX2" fmla="*/ 2212391 w 2851889"/>
              <a:gd name="connsiteY2" fmla="*/ 1168532 h 1356178"/>
              <a:gd name="connsiteX3" fmla="*/ 2851889 w 2851889"/>
              <a:gd name="connsiteY3" fmla="*/ 1356177 h 1356178"/>
              <a:gd name="connsiteX0" fmla="*/ 0 w 2851889"/>
              <a:gd name="connsiteY0" fmla="*/ 5152 h 1360336"/>
              <a:gd name="connsiteX1" fmla="*/ 1770373 w 2851889"/>
              <a:gd name="connsiteY1" fmla="*/ 180691 h 1360336"/>
              <a:gd name="connsiteX2" fmla="*/ 2212391 w 2851889"/>
              <a:gd name="connsiteY2" fmla="*/ 1172690 h 1360336"/>
              <a:gd name="connsiteX3" fmla="*/ 2851889 w 2851889"/>
              <a:gd name="connsiteY3" fmla="*/ 1360335 h 1360336"/>
              <a:gd name="connsiteX0" fmla="*/ 0 w 3476340"/>
              <a:gd name="connsiteY0" fmla="*/ 3991 h 1371745"/>
              <a:gd name="connsiteX1" fmla="*/ 2394824 w 3476340"/>
              <a:gd name="connsiteY1" fmla="*/ 192100 h 1371745"/>
              <a:gd name="connsiteX2" fmla="*/ 2836842 w 3476340"/>
              <a:gd name="connsiteY2" fmla="*/ 1184099 h 1371745"/>
              <a:gd name="connsiteX3" fmla="*/ 3476340 w 3476340"/>
              <a:gd name="connsiteY3" fmla="*/ 1371744 h 1371745"/>
              <a:gd name="connsiteX0" fmla="*/ 0 w 3953071"/>
              <a:gd name="connsiteY0" fmla="*/ 5153 h 1360336"/>
              <a:gd name="connsiteX1" fmla="*/ 2871555 w 3953071"/>
              <a:gd name="connsiteY1" fmla="*/ 180691 h 1360336"/>
              <a:gd name="connsiteX2" fmla="*/ 3313573 w 3953071"/>
              <a:gd name="connsiteY2" fmla="*/ 1172690 h 1360336"/>
              <a:gd name="connsiteX3" fmla="*/ 3953071 w 3953071"/>
              <a:gd name="connsiteY3" fmla="*/ 1360335 h 1360336"/>
              <a:gd name="connsiteX0" fmla="*/ 0 w 3953071"/>
              <a:gd name="connsiteY0" fmla="*/ 21092 h 1376275"/>
              <a:gd name="connsiteX1" fmla="*/ 2871555 w 3953071"/>
              <a:gd name="connsiteY1" fmla="*/ 196630 h 1376275"/>
              <a:gd name="connsiteX2" fmla="*/ 3313573 w 3953071"/>
              <a:gd name="connsiteY2" fmla="*/ 1188629 h 1376275"/>
              <a:gd name="connsiteX3" fmla="*/ 3953071 w 3953071"/>
              <a:gd name="connsiteY3" fmla="*/ 1376274 h 1376275"/>
              <a:gd name="connsiteX0" fmla="*/ 0 w 3953071"/>
              <a:gd name="connsiteY0" fmla="*/ 245345 h 1600528"/>
              <a:gd name="connsiteX1" fmla="*/ 2871555 w 3953071"/>
              <a:gd name="connsiteY1" fmla="*/ 420883 h 1600528"/>
              <a:gd name="connsiteX2" fmla="*/ 3313573 w 3953071"/>
              <a:gd name="connsiteY2" fmla="*/ 1412882 h 1600528"/>
              <a:gd name="connsiteX3" fmla="*/ 3953071 w 3953071"/>
              <a:gd name="connsiteY3" fmla="*/ 1600527 h 1600528"/>
              <a:gd name="connsiteX0" fmla="*/ 0 w 3953071"/>
              <a:gd name="connsiteY0" fmla="*/ 177501 h 1532684"/>
              <a:gd name="connsiteX1" fmla="*/ 1661022 w 3953071"/>
              <a:gd name="connsiteY1" fmla="*/ 3297 h 1532684"/>
              <a:gd name="connsiteX2" fmla="*/ 2871555 w 3953071"/>
              <a:gd name="connsiteY2" fmla="*/ 353039 h 1532684"/>
              <a:gd name="connsiteX3" fmla="*/ 3313573 w 3953071"/>
              <a:gd name="connsiteY3" fmla="*/ 1345038 h 1532684"/>
              <a:gd name="connsiteX4" fmla="*/ 3953071 w 3953071"/>
              <a:gd name="connsiteY4" fmla="*/ 1532683 h 1532684"/>
              <a:gd name="connsiteX0" fmla="*/ 0 w 3953071"/>
              <a:gd name="connsiteY0" fmla="*/ 43232 h 1398415"/>
              <a:gd name="connsiteX1" fmla="*/ 1737181 w 3953071"/>
              <a:gd name="connsiteY1" fmla="*/ 11607 h 1398415"/>
              <a:gd name="connsiteX2" fmla="*/ 2871555 w 3953071"/>
              <a:gd name="connsiteY2" fmla="*/ 218770 h 1398415"/>
              <a:gd name="connsiteX3" fmla="*/ 3313573 w 3953071"/>
              <a:gd name="connsiteY3" fmla="*/ 1210769 h 1398415"/>
              <a:gd name="connsiteX4" fmla="*/ 3953071 w 3953071"/>
              <a:gd name="connsiteY4" fmla="*/ 1398414 h 1398415"/>
              <a:gd name="connsiteX0" fmla="*/ 0 w 3953071"/>
              <a:gd name="connsiteY0" fmla="*/ 43232 h 1398415"/>
              <a:gd name="connsiteX1" fmla="*/ 1737181 w 3953071"/>
              <a:gd name="connsiteY1" fmla="*/ 11607 h 1398415"/>
              <a:gd name="connsiteX2" fmla="*/ 2803858 w 3953071"/>
              <a:gd name="connsiteY2" fmla="*/ 440560 h 1398415"/>
              <a:gd name="connsiteX3" fmla="*/ 3313573 w 3953071"/>
              <a:gd name="connsiteY3" fmla="*/ 1210769 h 1398415"/>
              <a:gd name="connsiteX4" fmla="*/ 3953071 w 3953071"/>
              <a:gd name="connsiteY4" fmla="*/ 1398414 h 1398415"/>
              <a:gd name="connsiteX0" fmla="*/ 0 w 3953071"/>
              <a:gd name="connsiteY0" fmla="*/ 43232 h 1398415"/>
              <a:gd name="connsiteX1" fmla="*/ 1737181 w 3953071"/>
              <a:gd name="connsiteY1" fmla="*/ 11607 h 1398415"/>
              <a:gd name="connsiteX2" fmla="*/ 2803858 w 3953071"/>
              <a:gd name="connsiteY2" fmla="*/ 440560 h 1398415"/>
              <a:gd name="connsiteX3" fmla="*/ 3313573 w 3953071"/>
              <a:gd name="connsiteY3" fmla="*/ 1210769 h 1398415"/>
              <a:gd name="connsiteX4" fmla="*/ 3953071 w 3953071"/>
              <a:gd name="connsiteY4" fmla="*/ 1398414 h 1398415"/>
              <a:gd name="connsiteX0" fmla="*/ 0 w 4012307"/>
              <a:gd name="connsiteY0" fmla="*/ 11527 h 1430078"/>
              <a:gd name="connsiteX1" fmla="*/ 1796417 w 4012307"/>
              <a:gd name="connsiteY1" fmla="*/ 43270 h 1430078"/>
              <a:gd name="connsiteX2" fmla="*/ 2863094 w 4012307"/>
              <a:gd name="connsiteY2" fmla="*/ 472223 h 1430078"/>
              <a:gd name="connsiteX3" fmla="*/ 3372809 w 4012307"/>
              <a:gd name="connsiteY3" fmla="*/ 1242432 h 1430078"/>
              <a:gd name="connsiteX4" fmla="*/ 4012307 w 4012307"/>
              <a:gd name="connsiteY4" fmla="*/ 1430077 h 1430078"/>
              <a:gd name="connsiteX0" fmla="*/ 0 w 4012307"/>
              <a:gd name="connsiteY0" fmla="*/ 0 h 1418551"/>
              <a:gd name="connsiteX1" fmla="*/ 1796417 w 4012307"/>
              <a:gd name="connsiteY1" fmla="*/ 31743 h 1418551"/>
              <a:gd name="connsiteX2" fmla="*/ 2863094 w 4012307"/>
              <a:gd name="connsiteY2" fmla="*/ 460696 h 1418551"/>
              <a:gd name="connsiteX3" fmla="*/ 3372809 w 4012307"/>
              <a:gd name="connsiteY3" fmla="*/ 1230905 h 1418551"/>
              <a:gd name="connsiteX4" fmla="*/ 4012307 w 4012307"/>
              <a:gd name="connsiteY4" fmla="*/ 1418550 h 1418551"/>
              <a:gd name="connsiteX0" fmla="*/ 0 w 4012307"/>
              <a:gd name="connsiteY0" fmla="*/ 12384 h 1430935"/>
              <a:gd name="connsiteX1" fmla="*/ 1830265 w 4012307"/>
              <a:gd name="connsiteY1" fmla="*/ 12445 h 1430935"/>
              <a:gd name="connsiteX2" fmla="*/ 2863094 w 4012307"/>
              <a:gd name="connsiteY2" fmla="*/ 473080 h 1430935"/>
              <a:gd name="connsiteX3" fmla="*/ 3372809 w 4012307"/>
              <a:gd name="connsiteY3" fmla="*/ 1243289 h 1430935"/>
              <a:gd name="connsiteX4" fmla="*/ 4012307 w 4012307"/>
              <a:gd name="connsiteY4" fmla="*/ 1430934 h 1430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2307" h="1430935">
                <a:moveTo>
                  <a:pt x="0" y="12384"/>
                </a:moveTo>
                <a:cubicBezTo>
                  <a:pt x="1182284" y="15036"/>
                  <a:pt x="1351673" y="-16811"/>
                  <a:pt x="1830265" y="12445"/>
                </a:cubicBezTo>
                <a:cubicBezTo>
                  <a:pt x="2308857" y="41701"/>
                  <a:pt x="2606003" y="267939"/>
                  <a:pt x="2863094" y="473080"/>
                </a:cubicBezTo>
                <a:cubicBezTo>
                  <a:pt x="3120185" y="678221"/>
                  <a:pt x="3189812" y="1064338"/>
                  <a:pt x="3372809" y="1243289"/>
                </a:cubicBezTo>
                <a:cubicBezTo>
                  <a:pt x="3555806" y="1422240"/>
                  <a:pt x="3898863" y="1340071"/>
                  <a:pt x="4012307" y="1430934"/>
                </a:cubicBezTo>
              </a:path>
            </a:pathLst>
          </a:custGeom>
          <a:noFill/>
          <a:ln>
            <a:solidFill>
              <a:srgbClr val="5F57A0"/>
            </a:solidFill>
            <a:prstDash val="dash"/>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a:extLst>
              <a:ext uri="{FF2B5EF4-FFF2-40B4-BE49-F238E27FC236}">
                <a16:creationId xmlns:a16="http://schemas.microsoft.com/office/drawing/2014/main" id="{7C078DEE-19F4-0ED1-E36A-AF660B9AAB2C}"/>
              </a:ext>
            </a:extLst>
          </p:cNvPr>
          <p:cNvSpPr/>
          <p:nvPr/>
        </p:nvSpPr>
        <p:spPr>
          <a:xfrm flipV="1">
            <a:off x="5644041" y="4850076"/>
            <a:ext cx="2716382" cy="836969"/>
          </a:xfrm>
          <a:custGeom>
            <a:avLst/>
            <a:gdLst>
              <a:gd name="connsiteX0" fmla="*/ 0 w 2260600"/>
              <a:gd name="connsiteY0" fmla="*/ 0 h 1397000"/>
              <a:gd name="connsiteX1" fmla="*/ 1143000 w 2260600"/>
              <a:gd name="connsiteY1" fmla="*/ 203200 h 1397000"/>
              <a:gd name="connsiteX2" fmla="*/ 1714500 w 2260600"/>
              <a:gd name="connsiteY2" fmla="*/ 1117600 h 1397000"/>
              <a:gd name="connsiteX3" fmla="*/ 2260600 w 2260600"/>
              <a:gd name="connsiteY3" fmla="*/ 1397000 h 1397000"/>
              <a:gd name="connsiteX0" fmla="*/ 0 w 2619375"/>
              <a:gd name="connsiteY0" fmla="*/ 0 h 1387475"/>
              <a:gd name="connsiteX1" fmla="*/ 1143000 w 2619375"/>
              <a:gd name="connsiteY1" fmla="*/ 203200 h 1387475"/>
              <a:gd name="connsiteX2" fmla="*/ 1714500 w 2619375"/>
              <a:gd name="connsiteY2" fmla="*/ 1117600 h 1387475"/>
              <a:gd name="connsiteX3" fmla="*/ 2619375 w 2619375"/>
              <a:gd name="connsiteY3" fmla="*/ 1387475 h 1387475"/>
              <a:gd name="connsiteX0" fmla="*/ 0 w 2619375"/>
              <a:gd name="connsiteY0" fmla="*/ 0 h 1391742"/>
              <a:gd name="connsiteX1" fmla="*/ 1143000 w 2619375"/>
              <a:gd name="connsiteY1" fmla="*/ 203200 h 1391742"/>
              <a:gd name="connsiteX2" fmla="*/ 1714500 w 2619375"/>
              <a:gd name="connsiteY2" fmla="*/ 1117600 h 1391742"/>
              <a:gd name="connsiteX3" fmla="*/ 2619375 w 2619375"/>
              <a:gd name="connsiteY3" fmla="*/ 1387475 h 1391742"/>
              <a:gd name="connsiteX0" fmla="*/ 0 w 2565400"/>
              <a:gd name="connsiteY0" fmla="*/ 0 h 1391742"/>
              <a:gd name="connsiteX1" fmla="*/ 1143000 w 2565400"/>
              <a:gd name="connsiteY1" fmla="*/ 203200 h 1391742"/>
              <a:gd name="connsiteX2" fmla="*/ 1714500 w 2565400"/>
              <a:gd name="connsiteY2" fmla="*/ 1117600 h 1391742"/>
              <a:gd name="connsiteX3" fmla="*/ 2565400 w 2565400"/>
              <a:gd name="connsiteY3" fmla="*/ 1387475 h 1391742"/>
              <a:gd name="connsiteX0" fmla="*/ 0 w 2565400"/>
              <a:gd name="connsiteY0" fmla="*/ 0 h 1387475"/>
              <a:gd name="connsiteX1" fmla="*/ 1143000 w 2565400"/>
              <a:gd name="connsiteY1" fmla="*/ 203200 h 1387475"/>
              <a:gd name="connsiteX2" fmla="*/ 1714500 w 2565400"/>
              <a:gd name="connsiteY2" fmla="*/ 1117600 h 1387475"/>
              <a:gd name="connsiteX3" fmla="*/ 2565400 w 2565400"/>
              <a:gd name="connsiteY3" fmla="*/ 1387475 h 1387475"/>
              <a:gd name="connsiteX0" fmla="*/ 0 w 2613025"/>
              <a:gd name="connsiteY0" fmla="*/ 0 h 1368425"/>
              <a:gd name="connsiteX1" fmla="*/ 1143000 w 2613025"/>
              <a:gd name="connsiteY1" fmla="*/ 203200 h 1368425"/>
              <a:gd name="connsiteX2" fmla="*/ 1714500 w 2613025"/>
              <a:gd name="connsiteY2" fmla="*/ 1117600 h 1368425"/>
              <a:gd name="connsiteX3" fmla="*/ 2613025 w 2613025"/>
              <a:gd name="connsiteY3" fmla="*/ 1368425 h 1368425"/>
              <a:gd name="connsiteX0" fmla="*/ 0 w 2613025"/>
              <a:gd name="connsiteY0" fmla="*/ 0 h 1368644"/>
              <a:gd name="connsiteX1" fmla="*/ 1143000 w 2613025"/>
              <a:gd name="connsiteY1" fmla="*/ 203200 h 1368644"/>
              <a:gd name="connsiteX2" fmla="*/ 1714500 w 2613025"/>
              <a:gd name="connsiteY2" fmla="*/ 1117600 h 1368644"/>
              <a:gd name="connsiteX3" fmla="*/ 2613025 w 2613025"/>
              <a:gd name="connsiteY3" fmla="*/ 1368425 h 1368644"/>
              <a:gd name="connsiteX0" fmla="*/ 0 w 2654300"/>
              <a:gd name="connsiteY0" fmla="*/ 0 h 1368644"/>
              <a:gd name="connsiteX1" fmla="*/ 1143000 w 2654300"/>
              <a:gd name="connsiteY1" fmla="*/ 203200 h 1368644"/>
              <a:gd name="connsiteX2" fmla="*/ 1714500 w 2654300"/>
              <a:gd name="connsiteY2" fmla="*/ 1117600 h 1368644"/>
              <a:gd name="connsiteX3" fmla="*/ 2654300 w 2654300"/>
              <a:gd name="connsiteY3" fmla="*/ 1368425 h 1368644"/>
              <a:gd name="connsiteX0" fmla="*/ 0 w 2465727"/>
              <a:gd name="connsiteY0" fmla="*/ 0 h 1293253"/>
              <a:gd name="connsiteX1" fmla="*/ 1143000 w 2465727"/>
              <a:gd name="connsiteY1" fmla="*/ 203200 h 1293253"/>
              <a:gd name="connsiteX2" fmla="*/ 1714500 w 2465727"/>
              <a:gd name="connsiteY2" fmla="*/ 1117600 h 1293253"/>
              <a:gd name="connsiteX3" fmla="*/ 2465727 w 2465727"/>
              <a:gd name="connsiteY3" fmla="*/ 1290429 h 1293253"/>
              <a:gd name="connsiteX0" fmla="*/ 0 w 2504865"/>
              <a:gd name="connsiteY0" fmla="*/ 0 h 1265835"/>
              <a:gd name="connsiteX1" fmla="*/ 1143000 w 2504865"/>
              <a:gd name="connsiteY1" fmla="*/ 203200 h 1265835"/>
              <a:gd name="connsiteX2" fmla="*/ 1714500 w 2504865"/>
              <a:gd name="connsiteY2" fmla="*/ 1117600 h 1265835"/>
              <a:gd name="connsiteX3" fmla="*/ 2504865 w 2504865"/>
              <a:gd name="connsiteY3" fmla="*/ 1254976 h 1265835"/>
              <a:gd name="connsiteX0" fmla="*/ 0 w 2504865"/>
              <a:gd name="connsiteY0" fmla="*/ 0 h 1265835"/>
              <a:gd name="connsiteX1" fmla="*/ 951614 w 2504865"/>
              <a:gd name="connsiteY1" fmla="*/ 732925 h 1265835"/>
              <a:gd name="connsiteX2" fmla="*/ 1714500 w 2504865"/>
              <a:gd name="connsiteY2" fmla="*/ 1117600 h 1265835"/>
              <a:gd name="connsiteX3" fmla="*/ 2504865 w 2504865"/>
              <a:gd name="connsiteY3" fmla="*/ 1254976 h 1265835"/>
              <a:gd name="connsiteX0" fmla="*/ 0 w 2504865"/>
              <a:gd name="connsiteY0" fmla="*/ 0 h 1265835"/>
              <a:gd name="connsiteX1" fmla="*/ 951614 w 2504865"/>
              <a:gd name="connsiteY1" fmla="*/ 732925 h 1265835"/>
              <a:gd name="connsiteX2" fmla="*/ 1714500 w 2504865"/>
              <a:gd name="connsiteY2" fmla="*/ 1117600 h 1265835"/>
              <a:gd name="connsiteX3" fmla="*/ 2504865 w 2504865"/>
              <a:gd name="connsiteY3" fmla="*/ 1254976 h 1265835"/>
              <a:gd name="connsiteX0" fmla="*/ 0 w 2504865"/>
              <a:gd name="connsiteY0" fmla="*/ 0 h 1254976"/>
              <a:gd name="connsiteX1" fmla="*/ 951614 w 2504865"/>
              <a:gd name="connsiteY1" fmla="*/ 732925 h 1254976"/>
              <a:gd name="connsiteX2" fmla="*/ 2504865 w 2504865"/>
              <a:gd name="connsiteY2" fmla="*/ 1254976 h 1254976"/>
              <a:gd name="connsiteX0" fmla="*/ 0 w 2504865"/>
              <a:gd name="connsiteY0" fmla="*/ 0 h 1254976"/>
              <a:gd name="connsiteX1" fmla="*/ 951614 w 2504865"/>
              <a:gd name="connsiteY1" fmla="*/ 732925 h 1254976"/>
              <a:gd name="connsiteX2" fmla="*/ 2504865 w 2504865"/>
              <a:gd name="connsiteY2" fmla="*/ 1254976 h 1254976"/>
              <a:gd name="connsiteX0" fmla="*/ 0 w 2653721"/>
              <a:gd name="connsiteY0" fmla="*/ 0 h 1254976"/>
              <a:gd name="connsiteX1" fmla="*/ 1100470 w 2653721"/>
              <a:gd name="connsiteY1" fmla="*/ 732925 h 1254976"/>
              <a:gd name="connsiteX2" fmla="*/ 2653721 w 2653721"/>
              <a:gd name="connsiteY2" fmla="*/ 1254976 h 1254976"/>
              <a:gd name="connsiteX0" fmla="*/ 0 w 2653721"/>
              <a:gd name="connsiteY0" fmla="*/ 3679 h 1258655"/>
              <a:gd name="connsiteX1" fmla="*/ 1100470 w 2653721"/>
              <a:gd name="connsiteY1" fmla="*/ 736604 h 1258655"/>
              <a:gd name="connsiteX2" fmla="*/ 2653721 w 2653721"/>
              <a:gd name="connsiteY2" fmla="*/ 1258655 h 1258655"/>
              <a:gd name="connsiteX0" fmla="*/ 0 w 2653721"/>
              <a:gd name="connsiteY0" fmla="*/ 7709 h 1262685"/>
              <a:gd name="connsiteX1" fmla="*/ 1100470 w 2653721"/>
              <a:gd name="connsiteY1" fmla="*/ 740634 h 1262685"/>
              <a:gd name="connsiteX2" fmla="*/ 2653721 w 2653721"/>
              <a:gd name="connsiteY2" fmla="*/ 1262685 h 1262685"/>
              <a:gd name="connsiteX0" fmla="*/ 0 w 2653721"/>
              <a:gd name="connsiteY0" fmla="*/ 14688 h 1269664"/>
              <a:gd name="connsiteX1" fmla="*/ 1100470 w 2653721"/>
              <a:gd name="connsiteY1" fmla="*/ 747613 h 1269664"/>
              <a:gd name="connsiteX2" fmla="*/ 2653721 w 2653721"/>
              <a:gd name="connsiteY2" fmla="*/ 1269664 h 1269664"/>
              <a:gd name="connsiteX0" fmla="*/ 0 w 2546872"/>
              <a:gd name="connsiteY0" fmla="*/ 3593 h 1276339"/>
              <a:gd name="connsiteX1" fmla="*/ 993621 w 2546872"/>
              <a:gd name="connsiteY1" fmla="*/ 754288 h 1276339"/>
              <a:gd name="connsiteX2" fmla="*/ 2546872 w 2546872"/>
              <a:gd name="connsiteY2" fmla="*/ 1276339 h 1276339"/>
              <a:gd name="connsiteX0" fmla="*/ 0 w 2546872"/>
              <a:gd name="connsiteY0" fmla="*/ 0 h 1272746"/>
              <a:gd name="connsiteX1" fmla="*/ 993621 w 2546872"/>
              <a:gd name="connsiteY1" fmla="*/ 750695 h 1272746"/>
              <a:gd name="connsiteX2" fmla="*/ 2546872 w 2546872"/>
              <a:gd name="connsiteY2" fmla="*/ 1272746 h 1272746"/>
              <a:gd name="connsiteX0" fmla="*/ 0 w 2546872"/>
              <a:gd name="connsiteY0" fmla="*/ 0 h 1272746"/>
              <a:gd name="connsiteX1" fmla="*/ 993621 w 2546872"/>
              <a:gd name="connsiteY1" fmla="*/ 750695 h 1272746"/>
              <a:gd name="connsiteX2" fmla="*/ 2546872 w 2546872"/>
              <a:gd name="connsiteY2" fmla="*/ 1272746 h 1272746"/>
              <a:gd name="connsiteX0" fmla="*/ 0 w 2546872"/>
              <a:gd name="connsiteY0" fmla="*/ 0 h 1272746"/>
              <a:gd name="connsiteX1" fmla="*/ 993621 w 2546872"/>
              <a:gd name="connsiteY1" fmla="*/ 750695 h 1272746"/>
              <a:gd name="connsiteX2" fmla="*/ 1886003 w 2546872"/>
              <a:gd name="connsiteY2" fmla="*/ 1172031 h 1272746"/>
              <a:gd name="connsiteX3" fmla="*/ 2546872 w 2546872"/>
              <a:gd name="connsiteY3" fmla="*/ 1272746 h 1272746"/>
              <a:gd name="connsiteX0" fmla="*/ 0 w 2546872"/>
              <a:gd name="connsiteY0" fmla="*/ 0 h 1312605"/>
              <a:gd name="connsiteX1" fmla="*/ 993621 w 2546872"/>
              <a:gd name="connsiteY1" fmla="*/ 750695 h 1312605"/>
              <a:gd name="connsiteX2" fmla="*/ 1872647 w 2546872"/>
              <a:gd name="connsiteY2" fmla="*/ 1278655 h 1312605"/>
              <a:gd name="connsiteX3" fmla="*/ 2546872 w 2546872"/>
              <a:gd name="connsiteY3" fmla="*/ 1272746 h 1312605"/>
              <a:gd name="connsiteX0" fmla="*/ 0 w 2533516"/>
              <a:gd name="connsiteY0" fmla="*/ 0 h 1326238"/>
              <a:gd name="connsiteX1" fmla="*/ 993621 w 2533516"/>
              <a:gd name="connsiteY1" fmla="*/ 750695 h 1326238"/>
              <a:gd name="connsiteX2" fmla="*/ 1872647 w 2533516"/>
              <a:gd name="connsiteY2" fmla="*/ 1278655 h 1326238"/>
              <a:gd name="connsiteX3" fmla="*/ 2533516 w 2533516"/>
              <a:gd name="connsiteY3" fmla="*/ 1320135 h 1326238"/>
              <a:gd name="connsiteX0" fmla="*/ 0 w 2533516"/>
              <a:gd name="connsiteY0" fmla="*/ 0 h 1326236"/>
              <a:gd name="connsiteX1" fmla="*/ 993621 w 2533516"/>
              <a:gd name="connsiteY1" fmla="*/ 750695 h 1326236"/>
              <a:gd name="connsiteX2" fmla="*/ 1872647 w 2533516"/>
              <a:gd name="connsiteY2" fmla="*/ 1278655 h 1326236"/>
              <a:gd name="connsiteX3" fmla="*/ 2533516 w 2533516"/>
              <a:gd name="connsiteY3" fmla="*/ 1320135 h 1326236"/>
              <a:gd name="connsiteX0" fmla="*/ 0 w 2533516"/>
              <a:gd name="connsiteY0" fmla="*/ 0 h 1326238"/>
              <a:gd name="connsiteX1" fmla="*/ 993621 w 2533516"/>
              <a:gd name="connsiteY1" fmla="*/ 750695 h 1326238"/>
              <a:gd name="connsiteX2" fmla="*/ 1872647 w 2533516"/>
              <a:gd name="connsiteY2" fmla="*/ 1278655 h 1326238"/>
              <a:gd name="connsiteX3" fmla="*/ 2533516 w 2533516"/>
              <a:gd name="connsiteY3" fmla="*/ 1320135 h 1326238"/>
              <a:gd name="connsiteX0" fmla="*/ 0 w 2533516"/>
              <a:gd name="connsiteY0" fmla="*/ 0 h 1364750"/>
              <a:gd name="connsiteX1" fmla="*/ 993621 w 2533516"/>
              <a:gd name="connsiteY1" fmla="*/ 750695 h 1364750"/>
              <a:gd name="connsiteX2" fmla="*/ 1865969 w 2533516"/>
              <a:gd name="connsiteY2" fmla="*/ 1331968 h 1364750"/>
              <a:gd name="connsiteX3" fmla="*/ 2533516 w 2533516"/>
              <a:gd name="connsiteY3" fmla="*/ 1320135 h 1364750"/>
              <a:gd name="connsiteX0" fmla="*/ 0 w 2533516"/>
              <a:gd name="connsiteY0" fmla="*/ 0 h 1332322"/>
              <a:gd name="connsiteX1" fmla="*/ 993621 w 2533516"/>
              <a:gd name="connsiteY1" fmla="*/ 750695 h 1332322"/>
              <a:gd name="connsiteX2" fmla="*/ 1865969 w 2533516"/>
              <a:gd name="connsiteY2" fmla="*/ 1331968 h 1332322"/>
              <a:gd name="connsiteX3" fmla="*/ 2533516 w 2533516"/>
              <a:gd name="connsiteY3" fmla="*/ 1320135 h 1332322"/>
              <a:gd name="connsiteX0" fmla="*/ 0 w 2533516"/>
              <a:gd name="connsiteY0" fmla="*/ 0 h 1332324"/>
              <a:gd name="connsiteX1" fmla="*/ 993621 w 2533516"/>
              <a:gd name="connsiteY1" fmla="*/ 750695 h 1332324"/>
              <a:gd name="connsiteX2" fmla="*/ 1865969 w 2533516"/>
              <a:gd name="connsiteY2" fmla="*/ 1331968 h 1332324"/>
              <a:gd name="connsiteX3" fmla="*/ 2533516 w 2533516"/>
              <a:gd name="connsiteY3" fmla="*/ 1320135 h 1332324"/>
              <a:gd name="connsiteX0" fmla="*/ 0 w 2533516"/>
              <a:gd name="connsiteY0" fmla="*/ 0 h 1332322"/>
              <a:gd name="connsiteX1" fmla="*/ 993621 w 2533516"/>
              <a:gd name="connsiteY1" fmla="*/ 750695 h 1332322"/>
              <a:gd name="connsiteX2" fmla="*/ 1865969 w 2533516"/>
              <a:gd name="connsiteY2" fmla="*/ 1331968 h 1332322"/>
              <a:gd name="connsiteX3" fmla="*/ 2533516 w 2533516"/>
              <a:gd name="connsiteY3" fmla="*/ 1320135 h 1332322"/>
              <a:gd name="connsiteX0" fmla="*/ 0 w 3081754"/>
              <a:gd name="connsiteY0" fmla="*/ 0 h 1357050"/>
              <a:gd name="connsiteX1" fmla="*/ 1541859 w 3081754"/>
              <a:gd name="connsiteY1" fmla="*/ 775421 h 1357050"/>
              <a:gd name="connsiteX2" fmla="*/ 2414207 w 3081754"/>
              <a:gd name="connsiteY2" fmla="*/ 1356694 h 1357050"/>
              <a:gd name="connsiteX3" fmla="*/ 3081754 w 3081754"/>
              <a:gd name="connsiteY3" fmla="*/ 1344861 h 1357050"/>
              <a:gd name="connsiteX0" fmla="*/ 0 w 3081754"/>
              <a:gd name="connsiteY0" fmla="*/ 0 h 1357048"/>
              <a:gd name="connsiteX1" fmla="*/ 1541859 w 3081754"/>
              <a:gd name="connsiteY1" fmla="*/ 775421 h 1357048"/>
              <a:gd name="connsiteX2" fmla="*/ 2414207 w 3081754"/>
              <a:gd name="connsiteY2" fmla="*/ 1356694 h 1357048"/>
              <a:gd name="connsiteX3" fmla="*/ 3081754 w 3081754"/>
              <a:gd name="connsiteY3" fmla="*/ 1344861 h 1357048"/>
              <a:gd name="connsiteX0" fmla="*/ 0 w 3081754"/>
              <a:gd name="connsiteY0" fmla="*/ 22 h 1357072"/>
              <a:gd name="connsiteX1" fmla="*/ 1541859 w 3081754"/>
              <a:gd name="connsiteY1" fmla="*/ 775443 h 1357072"/>
              <a:gd name="connsiteX2" fmla="*/ 2414207 w 3081754"/>
              <a:gd name="connsiteY2" fmla="*/ 1356716 h 1357072"/>
              <a:gd name="connsiteX3" fmla="*/ 3081754 w 3081754"/>
              <a:gd name="connsiteY3" fmla="*/ 1344883 h 1357072"/>
              <a:gd name="connsiteX0" fmla="*/ 0 w 3523881"/>
              <a:gd name="connsiteY0" fmla="*/ 13 h 1326154"/>
              <a:gd name="connsiteX1" fmla="*/ 1983986 w 3523881"/>
              <a:gd name="connsiteY1" fmla="*/ 744527 h 1326154"/>
              <a:gd name="connsiteX2" fmla="*/ 2856334 w 3523881"/>
              <a:gd name="connsiteY2" fmla="*/ 1325800 h 1326154"/>
              <a:gd name="connsiteX3" fmla="*/ 3523881 w 3523881"/>
              <a:gd name="connsiteY3" fmla="*/ 1313967 h 1326154"/>
              <a:gd name="connsiteX0" fmla="*/ 0 w 3523881"/>
              <a:gd name="connsiteY0" fmla="*/ 50 h 1326193"/>
              <a:gd name="connsiteX1" fmla="*/ 1983986 w 3523881"/>
              <a:gd name="connsiteY1" fmla="*/ 744564 h 1326193"/>
              <a:gd name="connsiteX2" fmla="*/ 2856334 w 3523881"/>
              <a:gd name="connsiteY2" fmla="*/ 1325837 h 1326193"/>
              <a:gd name="connsiteX3" fmla="*/ 3523881 w 3523881"/>
              <a:gd name="connsiteY3" fmla="*/ 1314004 h 1326193"/>
            </a:gdLst>
            <a:ahLst/>
            <a:cxnLst>
              <a:cxn ang="0">
                <a:pos x="connsiteX0" y="connsiteY0"/>
              </a:cxn>
              <a:cxn ang="0">
                <a:pos x="connsiteX1" y="connsiteY1"/>
              </a:cxn>
              <a:cxn ang="0">
                <a:pos x="connsiteX2" y="connsiteY2"/>
              </a:cxn>
              <a:cxn ang="0">
                <a:pos x="connsiteX3" y="connsiteY3"/>
              </a:cxn>
            </a:cxnLst>
            <a:rect l="l" t="t" r="r" b="b"/>
            <a:pathLst>
              <a:path w="3523881" h="1326193">
                <a:moveTo>
                  <a:pt x="0" y="50"/>
                </a:moveTo>
                <a:cubicBezTo>
                  <a:pt x="1314694" y="-2773"/>
                  <a:pt x="1808576" y="109467"/>
                  <a:pt x="1983986" y="744564"/>
                </a:cubicBezTo>
                <a:cubicBezTo>
                  <a:pt x="2159396" y="1379661"/>
                  <a:pt x="2697630" y="1303989"/>
                  <a:pt x="2856334" y="1325837"/>
                </a:cubicBezTo>
                <a:cubicBezTo>
                  <a:pt x="3168632" y="1329915"/>
                  <a:pt x="3413736" y="1297218"/>
                  <a:pt x="3523881" y="1314004"/>
                </a:cubicBezTo>
              </a:path>
            </a:pathLst>
          </a:custGeom>
          <a:noFill/>
          <a:ln>
            <a:solidFill>
              <a:schemeClr val="accent2">
                <a:lumMod val="75000"/>
              </a:schemeClr>
            </a:solidFill>
            <a:prstDash val="dash"/>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extBox 76">
            <a:extLst>
              <a:ext uri="{FF2B5EF4-FFF2-40B4-BE49-F238E27FC236}">
                <a16:creationId xmlns:a16="http://schemas.microsoft.com/office/drawing/2014/main" id="{59814B73-EEB1-6600-82F0-0D6AC2D2C832}"/>
              </a:ext>
            </a:extLst>
          </p:cNvPr>
          <p:cNvSpPr txBox="1"/>
          <p:nvPr/>
        </p:nvSpPr>
        <p:spPr>
          <a:xfrm>
            <a:off x="2083639" y="4899007"/>
            <a:ext cx="330490" cy="751179"/>
          </a:xfrm>
          <a:prstGeom prst="rect">
            <a:avLst/>
          </a:prstGeom>
          <a:noFill/>
        </p:spPr>
        <p:txBody>
          <a:bodyPr wrap="none" rtlCol="0">
            <a:spAutoFit/>
          </a:bodyPr>
          <a:lstStyle/>
          <a:p>
            <a:pPr>
              <a:lnSpc>
                <a:spcPct val="40000"/>
              </a:lnSpc>
            </a:pPr>
            <a:r>
              <a:rPr lang="en-US" sz="2800" dirty="0"/>
              <a:t>.</a:t>
            </a:r>
          </a:p>
          <a:p>
            <a:pPr>
              <a:lnSpc>
                <a:spcPct val="40000"/>
              </a:lnSpc>
            </a:pPr>
            <a:r>
              <a:rPr lang="en-US" sz="2800" dirty="0"/>
              <a:t>.</a:t>
            </a:r>
          </a:p>
          <a:p>
            <a:pPr>
              <a:lnSpc>
                <a:spcPct val="40000"/>
              </a:lnSpc>
            </a:pPr>
            <a:r>
              <a:rPr lang="en-US" sz="2800" dirty="0"/>
              <a:t>.</a:t>
            </a:r>
          </a:p>
        </p:txBody>
      </p:sp>
    </p:spTree>
    <p:extLst>
      <p:ext uri="{BB962C8B-B14F-4D97-AF65-F5344CB8AC3E}">
        <p14:creationId xmlns:p14="http://schemas.microsoft.com/office/powerpoint/2010/main" val="7453837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A22F5639-C13F-8347-B6CF-B5A700C7EA84}"/>
              </a:ext>
            </a:extLst>
          </p:cNvPr>
          <p:cNvSpPr txBox="1">
            <a:spLocks noChangeArrowheads="1"/>
          </p:cNvSpPr>
          <p:nvPr/>
        </p:nvSpPr>
        <p:spPr>
          <a:xfrm>
            <a:off x="630271" y="1334752"/>
            <a:ext cx="11639957" cy="21907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1300" marR="0" lvl="0" indent="0" algn="l" defTabSz="914400" rtl="0" eaLnBrk="1" fontAlgn="auto" latinLnBrk="0" hangingPunct="1">
              <a:lnSpc>
                <a:spcPct val="10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Keeping pipe “just full enough, but no fuller”: keep bottleneck link busy transmitting, but avoid high delays/buffering</a:t>
            </a:r>
          </a:p>
        </p:txBody>
      </p:sp>
      <p:grpSp>
        <p:nvGrpSpPr>
          <p:cNvPr id="24" name="Group 23">
            <a:extLst>
              <a:ext uri="{FF2B5EF4-FFF2-40B4-BE49-F238E27FC236}">
                <a16:creationId xmlns:a16="http://schemas.microsoft.com/office/drawing/2014/main" id="{C2C7C675-E90D-E541-926D-0B3366A93379}"/>
              </a:ext>
            </a:extLst>
          </p:cNvPr>
          <p:cNvGrpSpPr/>
          <p:nvPr/>
        </p:nvGrpSpPr>
        <p:grpSpPr>
          <a:xfrm>
            <a:off x="8173918" y="2208052"/>
            <a:ext cx="3844938" cy="1091225"/>
            <a:chOff x="7481866" y="2334966"/>
            <a:chExt cx="3844938" cy="1091225"/>
          </a:xfrm>
        </p:grpSpPr>
        <p:sp>
          <p:nvSpPr>
            <p:cNvPr id="250" name="TextBox 249">
              <a:extLst>
                <a:ext uri="{FF2B5EF4-FFF2-40B4-BE49-F238E27FC236}">
                  <a16:creationId xmlns:a16="http://schemas.microsoft.com/office/drawing/2014/main" id="{762B06AF-6E17-B749-AF47-CA83D0FA5E18}"/>
                </a:ext>
              </a:extLst>
            </p:cNvPr>
            <p:cNvSpPr txBox="1"/>
            <p:nvPr/>
          </p:nvSpPr>
          <p:spPr>
            <a:xfrm>
              <a:off x="9608909" y="2964526"/>
              <a:ext cx="653962"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RTT</a:t>
              </a:r>
              <a:endParaRPr kumimoji="0" lang="en-US"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grpSp>
          <p:nvGrpSpPr>
            <p:cNvPr id="22" name="Group 21">
              <a:extLst>
                <a:ext uri="{FF2B5EF4-FFF2-40B4-BE49-F238E27FC236}">
                  <a16:creationId xmlns:a16="http://schemas.microsoft.com/office/drawing/2014/main" id="{AE435EA1-68BC-6A43-9BBF-6B0256C5B6AB}"/>
                </a:ext>
              </a:extLst>
            </p:cNvPr>
            <p:cNvGrpSpPr/>
            <p:nvPr/>
          </p:nvGrpSpPr>
          <p:grpSpPr>
            <a:xfrm>
              <a:off x="7481866" y="2334966"/>
              <a:ext cx="3844938" cy="939885"/>
              <a:chOff x="7519640" y="2438082"/>
              <a:chExt cx="3844938" cy="939885"/>
            </a:xfrm>
          </p:grpSpPr>
          <p:sp>
            <p:nvSpPr>
              <p:cNvPr id="15" name="TextBox 14">
                <a:extLst>
                  <a:ext uri="{FF2B5EF4-FFF2-40B4-BE49-F238E27FC236}">
                    <a16:creationId xmlns:a16="http://schemas.microsoft.com/office/drawing/2014/main" id="{A8DCC063-E112-F040-9122-97D83F370C02}"/>
                  </a:ext>
                </a:extLst>
              </p:cNvPr>
              <p:cNvSpPr txBox="1"/>
              <p:nvPr/>
            </p:nvSpPr>
            <p:spPr>
              <a:xfrm>
                <a:off x="7519640" y="2731636"/>
                <a:ext cx="1371594" cy="646331"/>
              </a:xfrm>
              <a:prstGeom prst="rect">
                <a:avLst/>
              </a:prstGeom>
              <a:noFill/>
            </p:spPr>
            <p:txBody>
              <a:bodyPr wrap="none" rtlCol="0">
                <a:spAutoFit/>
              </a:bodyPr>
              <a:lstStyle/>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measured </a:t>
                </a:r>
              </a:p>
              <a:p>
                <a:pPr marL="0" marR="0" lvl="0" indent="0" algn="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throughput</a:t>
                </a:r>
              </a:p>
            </p:txBody>
          </p:sp>
          <p:cxnSp>
            <p:nvCxnSpPr>
              <p:cNvPr id="20" name="Straight Connector 19">
                <a:extLst>
                  <a:ext uri="{FF2B5EF4-FFF2-40B4-BE49-F238E27FC236}">
                    <a16:creationId xmlns:a16="http://schemas.microsoft.com/office/drawing/2014/main" id="{501FADCE-D52D-A546-A51C-7C5C0F44A9F9}"/>
                  </a:ext>
                </a:extLst>
              </p:cNvPr>
              <p:cNvCxnSpPr>
                <a:cxnSpLocks/>
              </p:cNvCxnSpPr>
              <p:nvPr/>
            </p:nvCxnSpPr>
            <p:spPr>
              <a:xfrm>
                <a:off x="9284574" y="3075516"/>
                <a:ext cx="160092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7B4D3BB6-3CFB-6C45-940A-E4E94F854B53}"/>
                  </a:ext>
                </a:extLst>
              </p:cNvPr>
              <p:cNvSpPr txBox="1"/>
              <p:nvPr/>
            </p:nvSpPr>
            <p:spPr>
              <a:xfrm>
                <a:off x="8852626" y="2855966"/>
                <a:ext cx="31290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52" name="TextBox 251">
                <a:extLst>
                  <a:ext uri="{FF2B5EF4-FFF2-40B4-BE49-F238E27FC236}">
                    <a16:creationId xmlns:a16="http://schemas.microsoft.com/office/drawing/2014/main" id="{5FFFB67C-3E95-CC4C-A770-35AB56ED6EDF}"/>
                  </a:ext>
                </a:extLst>
              </p:cNvPr>
              <p:cNvSpPr txBox="1"/>
              <p:nvPr/>
            </p:nvSpPr>
            <p:spPr>
              <a:xfrm>
                <a:off x="8875558" y="2438082"/>
                <a:ext cx="2489020" cy="646331"/>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bytes sent (inflight) in RTT interval</a:t>
                </a:r>
              </a:p>
            </p:txBody>
          </p:sp>
        </p:grpSp>
      </p:grpSp>
      <p:sp>
        <p:nvSpPr>
          <p:cNvPr id="33" name="Slide Number Placeholder 2">
            <a:extLst>
              <a:ext uri="{FF2B5EF4-FFF2-40B4-BE49-F238E27FC236}">
                <a16:creationId xmlns:a16="http://schemas.microsoft.com/office/drawing/2014/main" id="{B15398F9-10A7-C54A-90AA-7094BBDF225A}"/>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61</a:t>
            </a:fld>
            <a:endParaRPr lang="en-US" dirty="0"/>
          </a:p>
        </p:txBody>
      </p:sp>
      <p:sp>
        <p:nvSpPr>
          <p:cNvPr id="50" name="Title 1">
            <a:extLst>
              <a:ext uri="{FF2B5EF4-FFF2-40B4-BE49-F238E27FC236}">
                <a16:creationId xmlns:a16="http://schemas.microsoft.com/office/drawing/2014/main" id="{64AF8610-BBDF-DD0A-5D5D-00A69D745BA1}"/>
              </a:ext>
            </a:extLst>
          </p:cNvPr>
          <p:cNvSpPr txBox="1">
            <a:spLocks/>
          </p:cNvSpPr>
          <p:nvPr/>
        </p:nvSpPr>
        <p:spPr>
          <a:xfrm>
            <a:off x="635876" y="387544"/>
            <a:ext cx="11393310"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sz="4800" dirty="0"/>
              <a:t>Keeping the pipe just full enough</a:t>
            </a:r>
            <a:endParaRPr lang="en-US" dirty="0"/>
          </a:p>
        </p:txBody>
      </p:sp>
      <p:grpSp>
        <p:nvGrpSpPr>
          <p:cNvPr id="52" name="Group 51">
            <a:extLst>
              <a:ext uri="{FF2B5EF4-FFF2-40B4-BE49-F238E27FC236}">
                <a16:creationId xmlns:a16="http://schemas.microsoft.com/office/drawing/2014/main" id="{4B18BD6C-9590-C4BE-D22B-9F3A6BE363CC}"/>
              </a:ext>
            </a:extLst>
          </p:cNvPr>
          <p:cNvGrpSpPr/>
          <p:nvPr/>
        </p:nvGrpSpPr>
        <p:grpSpPr>
          <a:xfrm>
            <a:off x="1065261" y="2483867"/>
            <a:ext cx="6796244" cy="721354"/>
            <a:chOff x="2352370" y="1605969"/>
            <a:chExt cx="6796244" cy="721354"/>
          </a:xfrm>
        </p:grpSpPr>
        <p:cxnSp>
          <p:nvCxnSpPr>
            <p:cNvPr id="53" name="Straight Connector 52">
              <a:extLst>
                <a:ext uri="{FF2B5EF4-FFF2-40B4-BE49-F238E27FC236}">
                  <a16:creationId xmlns:a16="http://schemas.microsoft.com/office/drawing/2014/main" id="{E63A82C3-2391-FB91-2F14-D5EFA8DBADBF}"/>
                </a:ext>
              </a:extLst>
            </p:cNvPr>
            <p:cNvCxnSpPr>
              <a:cxnSpLocks/>
            </p:cNvCxnSpPr>
            <p:nvPr/>
          </p:nvCxnSpPr>
          <p:spPr>
            <a:xfrm>
              <a:off x="3025470" y="1788399"/>
              <a:ext cx="5712130" cy="0"/>
            </a:xfrm>
            <a:prstGeom prst="line">
              <a:avLst/>
            </a:prstGeom>
            <a:ln w="15875">
              <a:solidFill>
                <a:srgbClr val="0000A3"/>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319AE78-2F2C-79FF-B6C9-591A02D0EC08}"/>
                </a:ext>
              </a:extLst>
            </p:cNvPr>
            <p:cNvCxnSpPr/>
            <p:nvPr/>
          </p:nvCxnSpPr>
          <p:spPr>
            <a:xfrm flipH="1">
              <a:off x="3025470" y="2038574"/>
              <a:ext cx="5712130" cy="0"/>
            </a:xfrm>
            <a:prstGeom prst="straightConnector1">
              <a:avLst/>
            </a:prstGeom>
            <a:ln w="15875">
              <a:solidFill>
                <a:srgbClr val="0000A3"/>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554BD54-046D-9FB8-D72D-DF4BE3F1945D}"/>
                </a:ext>
              </a:extLst>
            </p:cNvPr>
            <p:cNvSpPr txBox="1"/>
            <p:nvPr/>
          </p:nvSpPr>
          <p:spPr>
            <a:xfrm>
              <a:off x="3811970" y="1801002"/>
              <a:ext cx="1251176"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RTT</a:t>
              </a:r>
              <a:r>
                <a:rPr kumimoji="0" lang="en-US" sz="2000" b="0" i="0" u="none" strike="noStrike" kern="1200" cap="none" spc="0" normalizeH="0" baseline="-25000" noProof="0" dirty="0">
                  <a:ln>
                    <a:noFill/>
                  </a:ln>
                  <a:solidFill>
                    <a:prstClr val="black"/>
                  </a:solidFill>
                  <a:effectLst/>
                  <a:uLnTx/>
                  <a:uFillTx/>
                  <a:latin typeface="Calibri" panose="020F0502020204030204"/>
                  <a:ea typeface="+mn-ea"/>
                  <a:cs typeface="+mn-cs"/>
                </a:rPr>
                <a:t>measured</a:t>
              </a:r>
              <a:endParaRPr kumimoji="0" lang="en-US" sz="1600" b="0"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grpSp>
          <p:nvGrpSpPr>
            <p:cNvPr id="56" name="Group 190">
              <a:extLst>
                <a:ext uri="{FF2B5EF4-FFF2-40B4-BE49-F238E27FC236}">
                  <a16:creationId xmlns:a16="http://schemas.microsoft.com/office/drawing/2014/main" id="{289DA915-5A71-67D2-2F22-77CBFC6336C9}"/>
                </a:ext>
              </a:extLst>
            </p:cNvPr>
            <p:cNvGrpSpPr>
              <a:grpSpLocks/>
            </p:cNvGrpSpPr>
            <p:nvPr/>
          </p:nvGrpSpPr>
          <p:grpSpPr bwMode="auto">
            <a:xfrm flipH="1">
              <a:off x="2352370" y="1625648"/>
              <a:ext cx="673100" cy="701675"/>
              <a:chOff x="-44" y="1473"/>
              <a:chExt cx="981" cy="1105"/>
            </a:xfrm>
          </p:grpSpPr>
          <p:pic>
            <p:nvPicPr>
              <p:cNvPr id="244" name="Picture 191" descr="desktop_computer_stylized_medium">
                <a:extLst>
                  <a:ext uri="{FF2B5EF4-FFF2-40B4-BE49-F238E27FC236}">
                    <a16:creationId xmlns:a16="http://schemas.microsoft.com/office/drawing/2014/main" id="{B9CC9CFA-C026-AAB9-04BC-F39924E7E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 name="Freeform 192">
                <a:extLst>
                  <a:ext uri="{FF2B5EF4-FFF2-40B4-BE49-F238E27FC236}">
                    <a16:creationId xmlns:a16="http://schemas.microsoft.com/office/drawing/2014/main" id="{7CD2966F-6B63-0D1C-54B0-EBD16A460969}"/>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57" name="Group 56">
              <a:extLst>
                <a:ext uri="{FF2B5EF4-FFF2-40B4-BE49-F238E27FC236}">
                  <a16:creationId xmlns:a16="http://schemas.microsoft.com/office/drawing/2014/main" id="{A0932650-DA45-D324-E0B6-2812779E24A6}"/>
                </a:ext>
              </a:extLst>
            </p:cNvPr>
            <p:cNvGrpSpPr/>
            <p:nvPr/>
          </p:nvGrpSpPr>
          <p:grpSpPr>
            <a:xfrm>
              <a:off x="5704084" y="1644098"/>
              <a:ext cx="787268" cy="297296"/>
              <a:chOff x="5033182" y="4091488"/>
              <a:chExt cx="787268" cy="403711"/>
            </a:xfrm>
          </p:grpSpPr>
          <p:cxnSp>
            <p:nvCxnSpPr>
              <p:cNvPr id="229" name="Straight Connector 228">
                <a:extLst>
                  <a:ext uri="{FF2B5EF4-FFF2-40B4-BE49-F238E27FC236}">
                    <a16:creationId xmlns:a16="http://schemas.microsoft.com/office/drawing/2014/main" id="{38BC6383-8999-6EF6-A783-51730E7813D2}"/>
                  </a:ext>
                </a:extLst>
              </p:cNvPr>
              <p:cNvCxnSpPr/>
              <p:nvPr/>
            </p:nvCxnSpPr>
            <p:spPr>
              <a:xfrm>
                <a:off x="5518407" y="4289261"/>
                <a:ext cx="869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0" name="Rectangle 229">
                <a:extLst>
                  <a:ext uri="{FF2B5EF4-FFF2-40B4-BE49-F238E27FC236}">
                    <a16:creationId xmlns:a16="http://schemas.microsoft.com/office/drawing/2014/main" id="{A6EB5E12-65DC-0905-6C41-0421EFDAEEE0}"/>
                  </a:ext>
                </a:extLst>
              </p:cNvPr>
              <p:cNvSpPr/>
              <p:nvPr/>
            </p:nvSpPr>
            <p:spPr>
              <a:xfrm>
                <a:off x="5150875" y="4091488"/>
                <a:ext cx="382771" cy="403711"/>
              </a:xfrm>
              <a:prstGeom prst="rect">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Oval 230">
                <a:extLst>
                  <a:ext uri="{FF2B5EF4-FFF2-40B4-BE49-F238E27FC236}">
                    <a16:creationId xmlns:a16="http://schemas.microsoft.com/office/drawing/2014/main" id="{8C3D4AE0-AD37-AA92-DF85-397903112DC7}"/>
                  </a:ext>
                </a:extLst>
              </p:cNvPr>
              <p:cNvSpPr/>
              <p:nvPr/>
            </p:nvSpPr>
            <p:spPr>
              <a:xfrm>
                <a:off x="5565439" y="4115310"/>
                <a:ext cx="255011" cy="344738"/>
              </a:xfrm>
              <a:prstGeom prst="ellipse">
                <a:avLst/>
              </a:prstGeom>
              <a:solidFill>
                <a:srgbClr val="E4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32" name="Straight Connector 231">
                <a:extLst>
                  <a:ext uri="{FF2B5EF4-FFF2-40B4-BE49-F238E27FC236}">
                    <a16:creationId xmlns:a16="http://schemas.microsoft.com/office/drawing/2014/main" id="{FE54701F-1AB8-A403-3EDE-B16731047880}"/>
                  </a:ext>
                </a:extLst>
              </p:cNvPr>
              <p:cNvCxnSpPr/>
              <p:nvPr/>
            </p:nvCxnSpPr>
            <p:spPr>
              <a:xfrm>
                <a:off x="5427947"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B5AD93C1-4924-896D-A8A2-DC919456F986}"/>
                  </a:ext>
                </a:extLst>
              </p:cNvPr>
              <p:cNvCxnSpPr/>
              <p:nvPr/>
            </p:nvCxnSpPr>
            <p:spPr>
              <a:xfrm>
                <a:off x="5330094"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C016CD09-9795-29BC-3A1E-D035330203E8}"/>
                  </a:ext>
                </a:extLst>
              </p:cNvPr>
              <p:cNvCxnSpPr/>
              <p:nvPr/>
            </p:nvCxnSpPr>
            <p:spPr>
              <a:xfrm>
                <a:off x="5238591" y="4125482"/>
                <a:ext cx="0" cy="32855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Rectangle 242">
                <a:extLst>
                  <a:ext uri="{FF2B5EF4-FFF2-40B4-BE49-F238E27FC236}">
                    <a16:creationId xmlns:a16="http://schemas.microsoft.com/office/drawing/2014/main" id="{1E31B717-C18B-D225-6E28-25DA05F7EBC3}"/>
                  </a:ext>
                </a:extLst>
              </p:cNvPr>
              <p:cNvSpPr/>
              <p:nvPr/>
            </p:nvSpPr>
            <p:spPr>
              <a:xfrm>
                <a:off x="5033182" y="4091488"/>
                <a:ext cx="112907" cy="4037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58" name="Straight Connector 57">
              <a:extLst>
                <a:ext uri="{FF2B5EF4-FFF2-40B4-BE49-F238E27FC236}">
                  <a16:creationId xmlns:a16="http://schemas.microsoft.com/office/drawing/2014/main" id="{F1BFCE37-01E4-6050-5583-C9659E94C388}"/>
                </a:ext>
              </a:extLst>
            </p:cNvPr>
            <p:cNvCxnSpPr>
              <a:cxnSpLocks/>
            </p:cNvCxnSpPr>
            <p:nvPr/>
          </p:nvCxnSpPr>
          <p:spPr>
            <a:xfrm>
              <a:off x="8734213" y="1784602"/>
              <a:ext cx="0" cy="258224"/>
            </a:xfrm>
            <a:prstGeom prst="line">
              <a:avLst/>
            </a:prstGeom>
            <a:ln w="15875">
              <a:solidFill>
                <a:srgbClr val="0000A3"/>
              </a:solidFill>
            </a:ln>
          </p:spPr>
          <p:style>
            <a:lnRef idx="1">
              <a:schemeClr val="accent1"/>
            </a:lnRef>
            <a:fillRef idx="0">
              <a:schemeClr val="accent1"/>
            </a:fillRef>
            <a:effectRef idx="0">
              <a:schemeClr val="accent1"/>
            </a:effectRef>
            <a:fontRef idx="minor">
              <a:schemeClr val="tx1"/>
            </a:fontRef>
          </p:style>
        </p:cxnSp>
        <p:grpSp>
          <p:nvGrpSpPr>
            <p:cNvPr id="59" name="Group 46">
              <a:extLst>
                <a:ext uri="{FF2B5EF4-FFF2-40B4-BE49-F238E27FC236}">
                  <a16:creationId xmlns:a16="http://schemas.microsoft.com/office/drawing/2014/main" id="{AADABFE0-3BC1-CDA0-4D4A-8CD35522E8C3}"/>
                </a:ext>
              </a:extLst>
            </p:cNvPr>
            <p:cNvGrpSpPr>
              <a:grpSpLocks/>
            </p:cNvGrpSpPr>
            <p:nvPr/>
          </p:nvGrpSpPr>
          <p:grpSpPr bwMode="auto">
            <a:xfrm>
              <a:off x="8883162" y="1702641"/>
              <a:ext cx="265452" cy="547687"/>
              <a:chOff x="4140" y="429"/>
              <a:chExt cx="1425" cy="2396"/>
            </a:xfrm>
          </p:grpSpPr>
          <p:sp>
            <p:nvSpPr>
              <p:cNvPr id="194" name="Freeform 47">
                <a:extLst>
                  <a:ext uri="{FF2B5EF4-FFF2-40B4-BE49-F238E27FC236}">
                    <a16:creationId xmlns:a16="http://schemas.microsoft.com/office/drawing/2014/main" id="{E6311AA1-7CE7-39FE-AA73-67037F0778DD}"/>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5" name="Rectangle 48">
                <a:extLst>
                  <a:ext uri="{FF2B5EF4-FFF2-40B4-BE49-F238E27FC236}">
                    <a16:creationId xmlns:a16="http://schemas.microsoft.com/office/drawing/2014/main" id="{695CAACA-B97A-1A41-A27E-BCDCDBD95600}"/>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6" name="Freeform 49">
                <a:extLst>
                  <a:ext uri="{FF2B5EF4-FFF2-40B4-BE49-F238E27FC236}">
                    <a16:creationId xmlns:a16="http://schemas.microsoft.com/office/drawing/2014/main" id="{621D3DE4-67AB-43C6-BDBC-117C92946671}"/>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7" name="Freeform 50">
                <a:extLst>
                  <a:ext uri="{FF2B5EF4-FFF2-40B4-BE49-F238E27FC236}">
                    <a16:creationId xmlns:a16="http://schemas.microsoft.com/office/drawing/2014/main" id="{8D730981-7A25-1EBE-4A7B-13DF37B3AA2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8" name="Rectangle 51">
                <a:extLst>
                  <a:ext uri="{FF2B5EF4-FFF2-40B4-BE49-F238E27FC236}">
                    <a16:creationId xmlns:a16="http://schemas.microsoft.com/office/drawing/2014/main" id="{00202BA6-BCCE-61F5-36AE-0FBC1F63C72E}"/>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99" name="Group 52">
                <a:extLst>
                  <a:ext uri="{FF2B5EF4-FFF2-40B4-BE49-F238E27FC236}">
                    <a16:creationId xmlns:a16="http://schemas.microsoft.com/office/drawing/2014/main" id="{AB2AECB9-C5F0-23C3-5CA9-09481EBF112D}"/>
                  </a:ext>
                </a:extLst>
              </p:cNvPr>
              <p:cNvGrpSpPr>
                <a:grpSpLocks/>
              </p:cNvGrpSpPr>
              <p:nvPr/>
            </p:nvGrpSpPr>
            <p:grpSpPr bwMode="auto">
              <a:xfrm>
                <a:off x="4749" y="668"/>
                <a:ext cx="581" cy="145"/>
                <a:chOff x="614" y="2568"/>
                <a:chExt cx="725" cy="139"/>
              </a:xfrm>
            </p:grpSpPr>
            <p:sp>
              <p:nvSpPr>
                <p:cNvPr id="227" name="AutoShape 53">
                  <a:extLst>
                    <a:ext uri="{FF2B5EF4-FFF2-40B4-BE49-F238E27FC236}">
                      <a16:creationId xmlns:a16="http://schemas.microsoft.com/office/drawing/2014/main" id="{3CD9F654-3733-ECD6-5245-6BF97AEEEEBD}"/>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8" name="AutoShape 54">
                  <a:extLst>
                    <a:ext uri="{FF2B5EF4-FFF2-40B4-BE49-F238E27FC236}">
                      <a16:creationId xmlns:a16="http://schemas.microsoft.com/office/drawing/2014/main" id="{198636EE-9D8B-4945-9D5C-123B927E17E5}"/>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0" name="Rectangle 55">
                <a:extLst>
                  <a:ext uri="{FF2B5EF4-FFF2-40B4-BE49-F238E27FC236}">
                    <a16:creationId xmlns:a16="http://schemas.microsoft.com/office/drawing/2014/main" id="{B078ADE8-F091-4F05-0FBE-D4B87C774CD9}"/>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1" name="Group 56">
                <a:extLst>
                  <a:ext uri="{FF2B5EF4-FFF2-40B4-BE49-F238E27FC236}">
                    <a16:creationId xmlns:a16="http://schemas.microsoft.com/office/drawing/2014/main" id="{460EC1EF-F487-3672-0C6A-BC2E05ED516F}"/>
                  </a:ext>
                </a:extLst>
              </p:cNvPr>
              <p:cNvGrpSpPr>
                <a:grpSpLocks/>
              </p:cNvGrpSpPr>
              <p:nvPr/>
            </p:nvGrpSpPr>
            <p:grpSpPr bwMode="auto">
              <a:xfrm>
                <a:off x="4747" y="994"/>
                <a:ext cx="581" cy="134"/>
                <a:chOff x="614" y="2568"/>
                <a:chExt cx="725" cy="139"/>
              </a:xfrm>
            </p:grpSpPr>
            <p:sp>
              <p:nvSpPr>
                <p:cNvPr id="225" name="AutoShape 57">
                  <a:extLst>
                    <a:ext uri="{FF2B5EF4-FFF2-40B4-BE49-F238E27FC236}">
                      <a16:creationId xmlns:a16="http://schemas.microsoft.com/office/drawing/2014/main" id="{53275707-1695-7C70-AA85-80D3B5B37D77}"/>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AutoShape 58">
                  <a:extLst>
                    <a:ext uri="{FF2B5EF4-FFF2-40B4-BE49-F238E27FC236}">
                      <a16:creationId xmlns:a16="http://schemas.microsoft.com/office/drawing/2014/main" id="{287F6D1D-12A4-B7DF-DAA6-7F37345B2FB8}"/>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2" name="Rectangle 59">
                <a:extLst>
                  <a:ext uri="{FF2B5EF4-FFF2-40B4-BE49-F238E27FC236}">
                    <a16:creationId xmlns:a16="http://schemas.microsoft.com/office/drawing/2014/main" id="{679291FF-E995-9755-5604-4C6EB48657BD}"/>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3" name="Rectangle 60">
                <a:extLst>
                  <a:ext uri="{FF2B5EF4-FFF2-40B4-BE49-F238E27FC236}">
                    <a16:creationId xmlns:a16="http://schemas.microsoft.com/office/drawing/2014/main" id="{CB1FB84D-FF97-E7AA-5C01-D8B12934F864}"/>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4" name="Group 61">
                <a:extLst>
                  <a:ext uri="{FF2B5EF4-FFF2-40B4-BE49-F238E27FC236}">
                    <a16:creationId xmlns:a16="http://schemas.microsoft.com/office/drawing/2014/main" id="{3D18CB82-F643-6710-E746-A8BDEF1A6093}"/>
                  </a:ext>
                </a:extLst>
              </p:cNvPr>
              <p:cNvGrpSpPr>
                <a:grpSpLocks/>
              </p:cNvGrpSpPr>
              <p:nvPr/>
            </p:nvGrpSpPr>
            <p:grpSpPr bwMode="auto">
              <a:xfrm>
                <a:off x="4735" y="1627"/>
                <a:ext cx="582" cy="151"/>
                <a:chOff x="614" y="2568"/>
                <a:chExt cx="725" cy="139"/>
              </a:xfrm>
            </p:grpSpPr>
            <p:sp>
              <p:nvSpPr>
                <p:cNvPr id="223" name="AutoShape 62">
                  <a:extLst>
                    <a:ext uri="{FF2B5EF4-FFF2-40B4-BE49-F238E27FC236}">
                      <a16:creationId xmlns:a16="http://schemas.microsoft.com/office/drawing/2014/main" id="{AD219CED-06E6-E579-65C5-237609B8A7FA}"/>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4" name="AutoShape 63">
                  <a:extLst>
                    <a:ext uri="{FF2B5EF4-FFF2-40B4-BE49-F238E27FC236}">
                      <a16:creationId xmlns:a16="http://schemas.microsoft.com/office/drawing/2014/main" id="{089842A7-2E62-71F0-254F-CE25CB210816}"/>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5" name="Freeform 64">
                <a:extLst>
                  <a:ext uri="{FF2B5EF4-FFF2-40B4-BE49-F238E27FC236}">
                    <a16:creationId xmlns:a16="http://schemas.microsoft.com/office/drawing/2014/main" id="{331264B0-6BAE-9F3C-0799-592CAA887B2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06" name="Group 65">
                <a:extLst>
                  <a:ext uri="{FF2B5EF4-FFF2-40B4-BE49-F238E27FC236}">
                    <a16:creationId xmlns:a16="http://schemas.microsoft.com/office/drawing/2014/main" id="{3D0DDDC2-02F8-DBBB-A17B-B08B46ACA91A}"/>
                  </a:ext>
                </a:extLst>
              </p:cNvPr>
              <p:cNvGrpSpPr>
                <a:grpSpLocks/>
              </p:cNvGrpSpPr>
              <p:nvPr/>
            </p:nvGrpSpPr>
            <p:grpSpPr bwMode="auto">
              <a:xfrm>
                <a:off x="4739" y="1327"/>
                <a:ext cx="582" cy="139"/>
                <a:chOff x="614" y="2568"/>
                <a:chExt cx="725" cy="139"/>
              </a:xfrm>
            </p:grpSpPr>
            <p:sp>
              <p:nvSpPr>
                <p:cNvPr id="221" name="AutoShape 66">
                  <a:extLst>
                    <a:ext uri="{FF2B5EF4-FFF2-40B4-BE49-F238E27FC236}">
                      <a16:creationId xmlns:a16="http://schemas.microsoft.com/office/drawing/2014/main" id="{0B369A33-E513-B81C-4323-F9DFBBA35443}"/>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AutoShape 67">
                  <a:extLst>
                    <a:ext uri="{FF2B5EF4-FFF2-40B4-BE49-F238E27FC236}">
                      <a16:creationId xmlns:a16="http://schemas.microsoft.com/office/drawing/2014/main" id="{B7142670-7F7A-E6B9-10A6-92513995D1B2}"/>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7" name="Rectangle 68">
                <a:extLst>
                  <a:ext uri="{FF2B5EF4-FFF2-40B4-BE49-F238E27FC236}">
                    <a16:creationId xmlns:a16="http://schemas.microsoft.com/office/drawing/2014/main" id="{C88CE4D3-8BF8-A09E-BFE7-448810B39536}"/>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Freeform 69">
                <a:extLst>
                  <a:ext uri="{FF2B5EF4-FFF2-40B4-BE49-F238E27FC236}">
                    <a16:creationId xmlns:a16="http://schemas.microsoft.com/office/drawing/2014/main" id="{6501715B-09D9-D3D3-C0AB-EC73FAE15AD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09" name="Freeform 70">
                <a:extLst>
                  <a:ext uri="{FF2B5EF4-FFF2-40B4-BE49-F238E27FC236}">
                    <a16:creationId xmlns:a16="http://schemas.microsoft.com/office/drawing/2014/main" id="{77BF15F7-01BC-87FE-483E-13977A1BCF88}"/>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0" name="Oval 71">
                <a:extLst>
                  <a:ext uri="{FF2B5EF4-FFF2-40B4-BE49-F238E27FC236}">
                    <a16:creationId xmlns:a16="http://schemas.microsoft.com/office/drawing/2014/main" id="{3032FA73-4D94-D9DB-E61D-629E231CFFA4}"/>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1" name="Freeform 72">
                <a:extLst>
                  <a:ext uri="{FF2B5EF4-FFF2-40B4-BE49-F238E27FC236}">
                    <a16:creationId xmlns:a16="http://schemas.microsoft.com/office/drawing/2014/main" id="{580DD1CA-2767-C8AC-AF41-724BAD6816C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5" name="AutoShape 73">
                <a:extLst>
                  <a:ext uri="{FF2B5EF4-FFF2-40B4-BE49-F238E27FC236}">
                    <a16:creationId xmlns:a16="http://schemas.microsoft.com/office/drawing/2014/main" id="{9980DCCA-303F-58E1-6AEC-1A2E5C39607D}"/>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6" name="AutoShape 74">
                <a:extLst>
                  <a:ext uri="{FF2B5EF4-FFF2-40B4-BE49-F238E27FC236}">
                    <a16:creationId xmlns:a16="http://schemas.microsoft.com/office/drawing/2014/main" id="{71D07AE6-395D-B72F-20FC-E36F084478AE}"/>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7" name="Oval 75">
                <a:extLst>
                  <a:ext uri="{FF2B5EF4-FFF2-40B4-BE49-F238E27FC236}">
                    <a16:creationId xmlns:a16="http://schemas.microsoft.com/office/drawing/2014/main" id="{7F3402D6-1C23-E890-AD3F-5B9C9A73C2BC}"/>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Oval 76">
                <a:extLst>
                  <a:ext uri="{FF2B5EF4-FFF2-40B4-BE49-F238E27FC236}">
                    <a16:creationId xmlns:a16="http://schemas.microsoft.com/office/drawing/2014/main" id="{9FF7275B-04E3-6608-9F55-1256383009BA}"/>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19" name="Oval 77">
                <a:extLst>
                  <a:ext uri="{FF2B5EF4-FFF2-40B4-BE49-F238E27FC236}">
                    <a16:creationId xmlns:a16="http://schemas.microsoft.com/office/drawing/2014/main" id="{1EFC9A8B-8B00-CDD7-2F17-74BD6704A9CF}"/>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0" name="Rectangle 78">
                <a:extLst>
                  <a:ext uri="{FF2B5EF4-FFF2-40B4-BE49-F238E27FC236}">
                    <a16:creationId xmlns:a16="http://schemas.microsoft.com/office/drawing/2014/main" id="{B83A2A7B-CFA4-5E57-BE29-6BC5C5711ECA}"/>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60" name="Oval 59">
              <a:extLst>
                <a:ext uri="{FF2B5EF4-FFF2-40B4-BE49-F238E27FC236}">
                  <a16:creationId xmlns:a16="http://schemas.microsoft.com/office/drawing/2014/main" id="{031D82BC-83C2-57FD-5B01-D1ED2D4977DD}"/>
                </a:ext>
              </a:extLst>
            </p:cNvPr>
            <p:cNvSpPr/>
            <p:nvPr/>
          </p:nvSpPr>
          <p:spPr>
            <a:xfrm>
              <a:off x="3233530" y="1625648"/>
              <a:ext cx="172279" cy="554962"/>
            </a:xfrm>
            <a:prstGeom prst="ellipse">
              <a:avLst/>
            </a:prstGeom>
            <a:solidFill>
              <a:schemeClr val="bg1">
                <a:alpha val="56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7CD41E8A-F45B-D4C3-A9DC-8E5CDDDF1F5C}"/>
                </a:ext>
              </a:extLst>
            </p:cNvPr>
            <p:cNvSpPr/>
            <p:nvPr/>
          </p:nvSpPr>
          <p:spPr>
            <a:xfrm>
              <a:off x="8275429" y="1605969"/>
              <a:ext cx="172279" cy="554962"/>
            </a:xfrm>
            <a:prstGeom prst="ellipse">
              <a:avLst/>
            </a:prstGeom>
            <a:solidFill>
              <a:schemeClr val="bg1">
                <a:alpha val="67788"/>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34AA3F03-0C00-E9FF-EA64-2932173D731D}"/>
                </a:ext>
              </a:extLst>
            </p:cNvPr>
            <p:cNvSpPr/>
            <p:nvPr/>
          </p:nvSpPr>
          <p:spPr>
            <a:xfrm>
              <a:off x="3414571" y="1644098"/>
              <a:ext cx="4856574" cy="470888"/>
            </a:xfrm>
            <a:prstGeom prst="rect">
              <a:avLst/>
            </a:prstGeom>
            <a:solidFill>
              <a:schemeClr val="bg1">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A29A93E-C18C-8748-10AB-310624DEC7F2}"/>
                </a:ext>
              </a:extLst>
            </p:cNvPr>
            <p:cNvSpPr/>
            <p:nvPr/>
          </p:nvSpPr>
          <p:spPr>
            <a:xfrm>
              <a:off x="8264066" y="1605969"/>
              <a:ext cx="99452" cy="610986"/>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2" name="Straight Connector 191">
              <a:extLst>
                <a:ext uri="{FF2B5EF4-FFF2-40B4-BE49-F238E27FC236}">
                  <a16:creationId xmlns:a16="http://schemas.microsoft.com/office/drawing/2014/main" id="{F4AEBDB0-B31E-9065-2D5F-1B3BD06F558A}"/>
                </a:ext>
              </a:extLst>
            </p:cNvPr>
            <p:cNvCxnSpPr>
              <a:stCxn id="60" idx="0"/>
              <a:endCxn id="61" idx="0"/>
            </p:cNvCxnSpPr>
            <p:nvPr/>
          </p:nvCxnSpPr>
          <p:spPr>
            <a:xfrm flipV="1">
              <a:off x="3319670" y="1605969"/>
              <a:ext cx="5041899" cy="19679"/>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4503200B-4D4D-C89D-0656-BB24C88D0101}"/>
                </a:ext>
              </a:extLst>
            </p:cNvPr>
            <p:cNvCxnSpPr/>
            <p:nvPr/>
          </p:nvCxnSpPr>
          <p:spPr>
            <a:xfrm flipV="1">
              <a:off x="3311369" y="2160558"/>
              <a:ext cx="5041899" cy="19679"/>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62" name="Group 261">
            <a:extLst>
              <a:ext uri="{FF2B5EF4-FFF2-40B4-BE49-F238E27FC236}">
                <a16:creationId xmlns:a16="http://schemas.microsoft.com/office/drawing/2014/main" id="{46EDE1CA-1FCC-DC3E-C200-72EF853FD77F}"/>
              </a:ext>
            </a:extLst>
          </p:cNvPr>
          <p:cNvGrpSpPr/>
          <p:nvPr/>
        </p:nvGrpSpPr>
        <p:grpSpPr>
          <a:xfrm>
            <a:off x="488992" y="3688253"/>
            <a:ext cx="11139604" cy="3119961"/>
            <a:chOff x="488992" y="3688253"/>
            <a:chExt cx="11139604" cy="3119961"/>
          </a:xfrm>
        </p:grpSpPr>
        <p:sp>
          <p:nvSpPr>
            <p:cNvPr id="253" name="TextBox 252">
              <a:extLst>
                <a:ext uri="{FF2B5EF4-FFF2-40B4-BE49-F238E27FC236}">
                  <a16:creationId xmlns:a16="http://schemas.microsoft.com/office/drawing/2014/main" id="{1839CE9C-698F-A3A7-12AA-40D1DD248C5D}"/>
                </a:ext>
              </a:extLst>
            </p:cNvPr>
            <p:cNvSpPr txBox="1"/>
            <p:nvPr/>
          </p:nvSpPr>
          <p:spPr>
            <a:xfrm>
              <a:off x="840769" y="3688253"/>
              <a:ext cx="1527854" cy="523220"/>
            </a:xfrm>
            <a:prstGeom prst="rect">
              <a:avLst/>
            </a:prstGeom>
            <a:noFill/>
          </p:spPr>
          <p:txBody>
            <a:bodyPr wrap="none" rtlCol="0">
              <a:spAutoFit/>
            </a:bodyPr>
            <a:lstStyle/>
            <a:p>
              <a:r>
                <a:rPr lang="en-US" sz="2800" dirty="0"/>
                <a:t>Intuition:</a:t>
              </a:r>
            </a:p>
          </p:txBody>
        </p:sp>
        <p:sp>
          <p:nvSpPr>
            <p:cNvPr id="255" name="Rectangle 4">
              <a:extLst>
                <a:ext uri="{FF2B5EF4-FFF2-40B4-BE49-F238E27FC236}">
                  <a16:creationId xmlns:a16="http://schemas.microsoft.com/office/drawing/2014/main" id="{B527F085-2745-5293-15BF-D0075F8B504A}"/>
                </a:ext>
              </a:extLst>
            </p:cNvPr>
            <p:cNvSpPr txBox="1">
              <a:spLocks noChangeArrowheads="1"/>
            </p:cNvSpPr>
            <p:nvPr/>
          </p:nvSpPr>
          <p:spPr>
            <a:xfrm>
              <a:off x="3701171" y="4783157"/>
              <a:ext cx="7927425" cy="62552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1300" indent="0">
                <a:spcBef>
                  <a:spcPts val="400"/>
                </a:spcBef>
                <a:buNone/>
                <a:defRPr/>
              </a:pPr>
              <a:r>
                <a:rPr lang="en-US" sz="2400" i="1" dirty="0">
                  <a:solidFill>
                    <a:srgbClr val="C00000"/>
                  </a:solidFill>
                  <a:ea typeface="Aptos" panose="020B0004020202020204" pitchFamily="34" charset="0"/>
                  <a:cs typeface="Times New Roman" panose="02020603050405020304" pitchFamily="18" charset="0"/>
                </a:rPr>
                <a:t>connection’s share of </a:t>
              </a:r>
              <a:r>
                <a:rPr lang="en-US" sz="2400" i="1" dirty="0" err="1">
                  <a:solidFill>
                    <a:srgbClr val="C00000"/>
                  </a:solidFill>
                  <a:ea typeface="Aptos" panose="020B0004020202020204" pitchFamily="34" charset="0"/>
                  <a:cs typeface="Times New Roman" panose="02020603050405020304" pitchFamily="18" charset="0"/>
                </a:rPr>
                <a:t>bottleneck_</a:t>
              </a:r>
              <a:r>
                <a:rPr lang="en-US" sz="2400" i="1" dirty="0" err="1">
                  <a:solidFill>
                    <a:srgbClr val="C00000"/>
                  </a:solidFill>
                  <a:effectLst/>
                  <a:ea typeface="Aptos" panose="020B0004020202020204" pitchFamily="34" charset="0"/>
                  <a:cs typeface="Times New Roman" panose="02020603050405020304" pitchFamily="18" charset="0"/>
                </a:rPr>
                <a:t>bandwidth</a:t>
              </a:r>
              <a:r>
                <a:rPr lang="en-US" sz="2400" i="1" dirty="0">
                  <a:solidFill>
                    <a:srgbClr val="C00000"/>
                  </a:solidFill>
                  <a:effectLst/>
                  <a:ea typeface="Aptos" panose="020B0004020202020204" pitchFamily="34" charset="0"/>
                  <a:cs typeface="Times New Roman" panose="02020603050405020304" pitchFamily="18" charset="0"/>
                </a:rPr>
                <a:t> • </a:t>
              </a:r>
              <a:r>
                <a:rPr lang="en-US" sz="2400" i="1" dirty="0" err="1">
                  <a:solidFill>
                    <a:srgbClr val="C00000"/>
                  </a:solidFill>
                  <a:effectLst/>
                  <a:ea typeface="Aptos" panose="020B0004020202020204" pitchFamily="34" charset="0"/>
                  <a:cs typeface="Times New Roman" panose="02020603050405020304" pitchFamily="18" charset="0"/>
                </a:rPr>
                <a:t>min_RTT</a:t>
              </a:r>
              <a:r>
                <a:rPr lang="en-US" sz="2400" i="1" dirty="0">
                  <a:solidFill>
                    <a:srgbClr val="C00000"/>
                  </a:solidFill>
                  <a:effectLst/>
                  <a:ea typeface="Aptos" panose="020B0004020202020204" pitchFamily="34" charset="0"/>
                  <a:cs typeface="Times New Roman" panose="02020603050405020304" pitchFamily="18" charset="0"/>
                </a:rPr>
                <a:t>  </a:t>
              </a:r>
            </a:p>
            <a:p>
              <a:pPr marL="523875" indent="-282575">
                <a:spcBef>
                  <a:spcPts val="400"/>
                </a:spcBef>
                <a:buFont typeface="Wingdings" charset="2"/>
                <a:buChar char="§"/>
                <a:defRPr/>
              </a:pPr>
              <a:endParaRPr lang="en-US" sz="2400" dirty="0"/>
            </a:p>
            <a:p>
              <a:pPr marL="523875" indent="-282575">
                <a:spcBef>
                  <a:spcPts val="400"/>
                </a:spcBef>
                <a:buFont typeface="Wingdings" charset="2"/>
                <a:buChar char="§"/>
                <a:defRPr/>
              </a:pPr>
              <a:endParaRPr lang="en-US" sz="2400" dirty="0"/>
            </a:p>
            <a:p>
              <a:pPr marL="241300" marR="0" lvl="0" indent="0" algn="l" defTabSz="914400" rtl="0" eaLnBrk="1" fontAlgn="auto" latinLnBrk="0" hangingPunct="1">
                <a:lnSpc>
                  <a:spcPct val="90000"/>
                </a:lnSpc>
                <a:spcBef>
                  <a:spcPts val="400"/>
                </a:spcBef>
                <a:spcAft>
                  <a:spcPts val="0"/>
                </a:spcAft>
                <a:buClr>
                  <a:srgbClr val="0000A3"/>
                </a:buClr>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ndParaRPr>
            </a:p>
          </p:txBody>
        </p:sp>
        <p:sp>
          <p:nvSpPr>
            <p:cNvPr id="257" name="Rectangle 4">
              <a:extLst>
                <a:ext uri="{FF2B5EF4-FFF2-40B4-BE49-F238E27FC236}">
                  <a16:creationId xmlns:a16="http://schemas.microsoft.com/office/drawing/2014/main" id="{2DC3856B-7814-FD93-6B15-4538E3CE3183}"/>
                </a:ext>
              </a:extLst>
            </p:cNvPr>
            <p:cNvSpPr txBox="1">
              <a:spLocks noChangeArrowheads="1"/>
            </p:cNvSpPr>
            <p:nvPr/>
          </p:nvSpPr>
          <p:spPr>
            <a:xfrm>
              <a:off x="488992" y="4462710"/>
              <a:ext cx="2914858" cy="234550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41300" indent="0" algn="r">
                <a:spcBef>
                  <a:spcPts val="400"/>
                </a:spcBef>
                <a:buNone/>
                <a:defRPr/>
              </a:pPr>
              <a:r>
                <a:rPr lang="en-US" sz="2400" dirty="0">
                  <a:ea typeface="Aptos" panose="020B0004020202020204" pitchFamily="34" charset="0"/>
                  <a:cs typeface="Times New Roman" panose="02020603050405020304" pitchFamily="18" charset="0"/>
                </a:rPr>
                <a:t>ideal amount of inflight data for a connection</a:t>
              </a:r>
              <a:endParaRPr lang="en-US" sz="2400" i="1" dirty="0">
                <a:solidFill>
                  <a:srgbClr val="C00000"/>
                </a:solidFill>
                <a:effectLst/>
                <a:ea typeface="Aptos" panose="020B0004020202020204" pitchFamily="34" charset="0"/>
                <a:cs typeface="Times New Roman" panose="02020603050405020304" pitchFamily="18" charset="0"/>
              </a:endParaRPr>
            </a:p>
            <a:p>
              <a:pPr marL="241300" indent="0" algn="r">
                <a:spcBef>
                  <a:spcPts val="400"/>
                </a:spcBef>
                <a:buNone/>
                <a:defRPr/>
              </a:pPr>
              <a:endParaRPr lang="en-US" sz="2600" dirty="0"/>
            </a:p>
            <a:p>
              <a:pPr marL="241300" indent="0" algn="r">
                <a:spcBef>
                  <a:spcPts val="400"/>
                </a:spcBef>
                <a:buNone/>
                <a:defRPr/>
              </a:pPr>
              <a:endParaRPr lang="en-US" sz="2600" dirty="0"/>
            </a:p>
            <a:p>
              <a:pPr marL="241300" indent="0" algn="r">
                <a:spcBef>
                  <a:spcPts val="400"/>
                </a:spcBef>
                <a:buNone/>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8" name="TextBox 257">
              <a:extLst>
                <a:ext uri="{FF2B5EF4-FFF2-40B4-BE49-F238E27FC236}">
                  <a16:creationId xmlns:a16="http://schemas.microsoft.com/office/drawing/2014/main" id="{7CBC9181-FBFE-88DD-9EFB-4490980AEB7B}"/>
                </a:ext>
              </a:extLst>
            </p:cNvPr>
            <p:cNvSpPr txBox="1"/>
            <p:nvPr/>
          </p:nvSpPr>
          <p:spPr>
            <a:xfrm>
              <a:off x="3524695" y="4674617"/>
              <a:ext cx="389850" cy="584775"/>
            </a:xfrm>
            <a:prstGeom prst="rect">
              <a:avLst/>
            </a:prstGeom>
            <a:noFill/>
          </p:spPr>
          <p:txBody>
            <a:bodyPr wrap="none" rtlCol="0">
              <a:spAutoFit/>
            </a:bodyPr>
            <a:lstStyle/>
            <a:p>
              <a:r>
                <a:rPr lang="en-US" sz="3200" dirty="0"/>
                <a:t>=</a:t>
              </a:r>
            </a:p>
          </p:txBody>
        </p:sp>
      </p:grpSp>
      <p:grpSp>
        <p:nvGrpSpPr>
          <p:cNvPr id="263" name="Group 262">
            <a:extLst>
              <a:ext uri="{FF2B5EF4-FFF2-40B4-BE49-F238E27FC236}">
                <a16:creationId xmlns:a16="http://schemas.microsoft.com/office/drawing/2014/main" id="{0D1A07B5-B680-1D12-AAD5-9F0E9FF832C3}"/>
              </a:ext>
            </a:extLst>
          </p:cNvPr>
          <p:cNvGrpSpPr/>
          <p:nvPr/>
        </p:nvGrpSpPr>
        <p:grpSpPr>
          <a:xfrm>
            <a:off x="4013503" y="5340539"/>
            <a:ext cx="6941420" cy="817303"/>
            <a:chOff x="4013503" y="5340539"/>
            <a:chExt cx="6941420" cy="817303"/>
          </a:xfrm>
        </p:grpSpPr>
        <p:sp>
          <p:nvSpPr>
            <p:cNvPr id="259" name="Right Brace 258">
              <a:extLst>
                <a:ext uri="{FF2B5EF4-FFF2-40B4-BE49-F238E27FC236}">
                  <a16:creationId xmlns:a16="http://schemas.microsoft.com/office/drawing/2014/main" id="{AC5F4B84-5975-1ADD-B1A6-A103DD903D43}"/>
                </a:ext>
              </a:extLst>
            </p:cNvPr>
            <p:cNvSpPr/>
            <p:nvPr/>
          </p:nvSpPr>
          <p:spPr>
            <a:xfrm rot="5400000">
              <a:off x="7369646" y="1984396"/>
              <a:ext cx="229134" cy="6941420"/>
            </a:xfrm>
            <a:prstGeom prst="righ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0" name="TextBox 259">
              <a:extLst>
                <a:ext uri="{FF2B5EF4-FFF2-40B4-BE49-F238E27FC236}">
                  <a16:creationId xmlns:a16="http://schemas.microsoft.com/office/drawing/2014/main" id="{9B7D11CA-6AED-4360-9CCA-9CED364A258C}"/>
                </a:ext>
              </a:extLst>
            </p:cNvPr>
            <p:cNvSpPr txBox="1"/>
            <p:nvPr/>
          </p:nvSpPr>
          <p:spPr>
            <a:xfrm>
              <a:off x="4945675" y="5696177"/>
              <a:ext cx="5256054" cy="461665"/>
            </a:xfrm>
            <a:prstGeom prst="rect">
              <a:avLst/>
            </a:prstGeom>
            <a:noFill/>
          </p:spPr>
          <p:txBody>
            <a:bodyPr wrap="none" rtlCol="0">
              <a:spAutoFit/>
            </a:bodyPr>
            <a:lstStyle/>
            <a:p>
              <a:r>
                <a:rPr lang="en-US" sz="2400" dirty="0"/>
                <a:t>connection’s “</a:t>
              </a:r>
              <a:r>
                <a:rPr lang="en-US" sz="2400" i="1" dirty="0"/>
                <a:t>bandwidth-delay product</a:t>
              </a:r>
              <a:r>
                <a:rPr lang="en-US" sz="2400" dirty="0"/>
                <a:t>”</a:t>
              </a:r>
            </a:p>
          </p:txBody>
        </p:sp>
      </p:grpSp>
      <p:grpSp>
        <p:nvGrpSpPr>
          <p:cNvPr id="266" name="Group 265">
            <a:extLst>
              <a:ext uri="{FF2B5EF4-FFF2-40B4-BE49-F238E27FC236}">
                <a16:creationId xmlns:a16="http://schemas.microsoft.com/office/drawing/2014/main" id="{C3F10834-7C31-DFC0-20EF-ECC5C662903D}"/>
              </a:ext>
            </a:extLst>
          </p:cNvPr>
          <p:cNvGrpSpPr/>
          <p:nvPr/>
        </p:nvGrpSpPr>
        <p:grpSpPr>
          <a:xfrm>
            <a:off x="1343421" y="5572116"/>
            <a:ext cx="2050404" cy="565633"/>
            <a:chOff x="1343421" y="5572116"/>
            <a:chExt cx="2050404" cy="565633"/>
          </a:xfrm>
        </p:grpSpPr>
        <p:sp>
          <p:nvSpPr>
            <p:cNvPr id="264" name="TextBox 263">
              <a:extLst>
                <a:ext uri="{FF2B5EF4-FFF2-40B4-BE49-F238E27FC236}">
                  <a16:creationId xmlns:a16="http://schemas.microsoft.com/office/drawing/2014/main" id="{A89CD06B-1CD6-65D5-247A-B941790F25BD}"/>
                </a:ext>
              </a:extLst>
            </p:cNvPr>
            <p:cNvSpPr txBox="1"/>
            <p:nvPr/>
          </p:nvSpPr>
          <p:spPr>
            <a:xfrm>
              <a:off x="1990271" y="5676084"/>
              <a:ext cx="929678" cy="461665"/>
            </a:xfrm>
            <a:prstGeom prst="rect">
              <a:avLst/>
            </a:prstGeom>
            <a:noFill/>
          </p:spPr>
          <p:txBody>
            <a:bodyPr wrap="none" rtlCol="0">
              <a:spAutoFit/>
            </a:bodyPr>
            <a:lstStyle/>
            <a:p>
              <a:r>
                <a:rPr lang="en-US" sz="2400" i="1" dirty="0"/>
                <a:t>n</a:t>
              </a:r>
              <a:r>
                <a:rPr lang="en-US" sz="2400" i="1" baseline="-25000" dirty="0"/>
                <a:t>inflight</a:t>
              </a:r>
              <a:endParaRPr lang="en-US" sz="2400" dirty="0"/>
            </a:p>
          </p:txBody>
        </p:sp>
        <p:sp>
          <p:nvSpPr>
            <p:cNvPr id="265" name="Right Brace 264">
              <a:extLst>
                <a:ext uri="{FF2B5EF4-FFF2-40B4-BE49-F238E27FC236}">
                  <a16:creationId xmlns:a16="http://schemas.microsoft.com/office/drawing/2014/main" id="{11265D8F-19B9-E208-AB0A-07E197366460}"/>
                </a:ext>
              </a:extLst>
            </p:cNvPr>
            <p:cNvSpPr/>
            <p:nvPr/>
          </p:nvSpPr>
          <p:spPr>
            <a:xfrm rot="5400000">
              <a:off x="2284855" y="4630682"/>
              <a:ext cx="167535" cy="2050404"/>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37408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2"/>
                                        </p:tgtEl>
                                        <p:attrNameLst>
                                          <p:attrName>style.visibility</p:attrName>
                                        </p:attrNameLst>
                                      </p:cBhvr>
                                      <p:to>
                                        <p:strVal val="visible"/>
                                      </p:to>
                                    </p:set>
                                    <p:animEffect transition="in" filter="dissolve">
                                      <p:cBhvr>
                                        <p:cTn id="7" dur="500"/>
                                        <p:tgtEl>
                                          <p:spTgt spid="26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3"/>
                                        </p:tgtEl>
                                        <p:attrNameLst>
                                          <p:attrName>style.visibility</p:attrName>
                                        </p:attrNameLst>
                                      </p:cBhvr>
                                      <p:to>
                                        <p:strVal val="visible"/>
                                      </p:to>
                                    </p:set>
                                    <p:animEffect transition="in" filter="dissolve">
                                      <p:cBhvr>
                                        <p:cTn id="12" dur="500"/>
                                        <p:tgtEl>
                                          <p:spTgt spid="26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6"/>
                                        </p:tgtEl>
                                        <p:attrNameLst>
                                          <p:attrName>style.visibility</p:attrName>
                                        </p:attrNameLst>
                                      </p:cBhvr>
                                      <p:to>
                                        <p:strVal val="visible"/>
                                      </p:to>
                                    </p:set>
                                    <p:animEffect transition="in" filter="dissolve">
                                      <p:cBhvr>
                                        <p:cTn id="17" dur="5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BF24C-0382-8E6E-F67A-E78B57BC6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398B5-85B1-CCDE-4898-C727789D1513}"/>
              </a:ext>
            </a:extLst>
          </p:cNvPr>
          <p:cNvSpPr>
            <a:spLocks noGrp="1"/>
          </p:cNvSpPr>
          <p:nvPr>
            <p:ph type="title"/>
          </p:nvPr>
        </p:nvSpPr>
        <p:spPr>
          <a:xfrm>
            <a:off x="760590" y="272143"/>
            <a:ext cx="11393310" cy="894622"/>
          </a:xfrm>
        </p:spPr>
        <p:txBody>
          <a:bodyPr>
            <a:normAutofit/>
          </a:bodyPr>
          <a:lstStyle/>
          <a:p>
            <a:r>
              <a:rPr lang="en-US" sz="4800" dirty="0"/>
              <a:t>Keeping the pipe just full, but no fuller</a:t>
            </a:r>
            <a:endParaRPr lang="en-US" sz="4400" b="0" dirty="0"/>
          </a:p>
        </p:txBody>
      </p:sp>
      <p:sp>
        <p:nvSpPr>
          <p:cNvPr id="6" name="Slide Number Placeholder 2">
            <a:extLst>
              <a:ext uri="{FF2B5EF4-FFF2-40B4-BE49-F238E27FC236}">
                <a16:creationId xmlns:a16="http://schemas.microsoft.com/office/drawing/2014/main" id="{29EA8EB9-7808-3A65-7A20-75BADBE4AC6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62</a:t>
            </a:fld>
            <a:endParaRPr lang="en-US" dirty="0"/>
          </a:p>
        </p:txBody>
      </p:sp>
      <p:grpSp>
        <p:nvGrpSpPr>
          <p:cNvPr id="45" name="Group 44">
            <a:extLst>
              <a:ext uri="{FF2B5EF4-FFF2-40B4-BE49-F238E27FC236}">
                <a16:creationId xmlns:a16="http://schemas.microsoft.com/office/drawing/2014/main" id="{1AA58533-DE50-878A-480C-E827C414947C}"/>
              </a:ext>
            </a:extLst>
          </p:cNvPr>
          <p:cNvGrpSpPr/>
          <p:nvPr/>
        </p:nvGrpSpPr>
        <p:grpSpPr>
          <a:xfrm>
            <a:off x="2376464" y="1864579"/>
            <a:ext cx="5075163" cy="1194954"/>
            <a:chOff x="3440693" y="945573"/>
            <a:chExt cx="3368589" cy="1194954"/>
          </a:xfrm>
        </p:grpSpPr>
        <p:cxnSp>
          <p:nvCxnSpPr>
            <p:cNvPr id="46" name="Straight Connector 45">
              <a:extLst>
                <a:ext uri="{FF2B5EF4-FFF2-40B4-BE49-F238E27FC236}">
                  <a16:creationId xmlns:a16="http://schemas.microsoft.com/office/drawing/2014/main" id="{D8254107-4D64-18EA-372B-98E75073D300}"/>
                </a:ext>
              </a:extLst>
            </p:cNvPr>
            <p:cNvCxnSpPr/>
            <p:nvPr/>
          </p:nvCxnSpPr>
          <p:spPr>
            <a:xfrm>
              <a:off x="3440693" y="945573"/>
              <a:ext cx="0" cy="1194954"/>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C7F9D9CB-DEE5-1622-0000-68F174853578}"/>
                </a:ext>
              </a:extLst>
            </p:cNvPr>
            <p:cNvCxnSpPr>
              <a:cxnSpLocks/>
            </p:cNvCxnSpPr>
            <p:nvPr/>
          </p:nvCxnSpPr>
          <p:spPr>
            <a:xfrm>
              <a:off x="3440693" y="2130136"/>
              <a:ext cx="336858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9" name="TextBox 48">
            <a:extLst>
              <a:ext uri="{FF2B5EF4-FFF2-40B4-BE49-F238E27FC236}">
                <a16:creationId xmlns:a16="http://schemas.microsoft.com/office/drawing/2014/main" id="{540F00B5-3AA7-FDB4-C2BB-D71D8DBCF635}"/>
              </a:ext>
            </a:extLst>
          </p:cNvPr>
          <p:cNvSpPr txBox="1"/>
          <p:nvPr/>
        </p:nvSpPr>
        <p:spPr>
          <a:xfrm>
            <a:off x="4162316" y="1761081"/>
            <a:ext cx="1906195" cy="393441"/>
          </a:xfrm>
          <a:prstGeom prst="rect">
            <a:avLst/>
          </a:prstGeom>
          <a:noFill/>
        </p:spPr>
        <p:txBody>
          <a:bodyPr wrap="none" rtlCol="0">
            <a:spAutoFit/>
          </a:bodyPr>
          <a:lstStyle/>
          <a:p>
            <a:pPr algn="ctr">
              <a:lnSpc>
                <a:spcPct val="80000"/>
              </a:lnSpc>
            </a:pPr>
            <a:r>
              <a:rPr lang="en-US" sz="1200" i="1" dirty="0">
                <a:solidFill>
                  <a:srgbClr val="C00000"/>
                </a:solidFill>
              </a:rPr>
              <a:t>bandwith</a:t>
            </a:r>
            <a:r>
              <a:rPr lang="en-US" sz="1050" dirty="0">
                <a:solidFill>
                  <a:srgbClr val="C00000"/>
                </a:solidFill>
              </a:rPr>
              <a:t>•</a:t>
            </a:r>
            <a:r>
              <a:rPr lang="en-US" sz="1200" i="1" dirty="0">
                <a:solidFill>
                  <a:srgbClr val="C00000"/>
                </a:solidFill>
              </a:rPr>
              <a:t>delay </a:t>
            </a:r>
          </a:p>
          <a:p>
            <a:pPr algn="ctr">
              <a:lnSpc>
                <a:spcPct val="80000"/>
              </a:lnSpc>
            </a:pPr>
            <a:r>
              <a:rPr lang="en-US" sz="1200" i="1" dirty="0">
                <a:solidFill>
                  <a:srgbClr val="C00000"/>
                </a:solidFill>
              </a:rPr>
              <a:t>product</a:t>
            </a:r>
            <a:endParaRPr lang="en-US" sz="1200" dirty="0">
              <a:solidFill>
                <a:srgbClr val="C00000"/>
              </a:solidFill>
            </a:endParaRPr>
          </a:p>
        </p:txBody>
      </p:sp>
      <p:sp>
        <p:nvSpPr>
          <p:cNvPr id="50" name="TextBox 49">
            <a:extLst>
              <a:ext uri="{FF2B5EF4-FFF2-40B4-BE49-F238E27FC236}">
                <a16:creationId xmlns:a16="http://schemas.microsoft.com/office/drawing/2014/main" id="{E5EEC1A7-5C96-1808-6DFB-7F250973ED84}"/>
              </a:ext>
            </a:extLst>
          </p:cNvPr>
          <p:cNvSpPr txBox="1"/>
          <p:nvPr/>
        </p:nvSpPr>
        <p:spPr>
          <a:xfrm rot="19803616">
            <a:off x="4526141" y="2389617"/>
            <a:ext cx="2466307" cy="220188"/>
          </a:xfrm>
          <a:prstGeom prst="rect">
            <a:avLst/>
          </a:prstGeom>
          <a:noFill/>
        </p:spPr>
        <p:txBody>
          <a:bodyPr wrap="none" rtlCol="0">
            <a:spAutoFit/>
          </a:bodyPr>
          <a:lstStyle/>
          <a:p>
            <a:pPr algn="ctr">
              <a:lnSpc>
                <a:spcPct val="80000"/>
              </a:lnSpc>
            </a:pPr>
            <a:r>
              <a:rPr lang="en-US" sz="1000" i="1" dirty="0">
                <a:solidFill>
                  <a:srgbClr val="C00000"/>
                </a:solidFill>
              </a:rPr>
              <a:t>bottleneck link congestion</a:t>
            </a:r>
            <a:endParaRPr lang="en-US" sz="1000" dirty="0">
              <a:solidFill>
                <a:srgbClr val="C00000"/>
              </a:solidFill>
            </a:endParaRPr>
          </a:p>
        </p:txBody>
      </p:sp>
      <p:sp>
        <p:nvSpPr>
          <p:cNvPr id="52" name="TextBox 51">
            <a:extLst>
              <a:ext uri="{FF2B5EF4-FFF2-40B4-BE49-F238E27FC236}">
                <a16:creationId xmlns:a16="http://schemas.microsoft.com/office/drawing/2014/main" id="{057E20AD-C893-4557-F5D5-C4BD681778EA}"/>
              </a:ext>
            </a:extLst>
          </p:cNvPr>
          <p:cNvSpPr txBox="1"/>
          <p:nvPr/>
        </p:nvSpPr>
        <p:spPr>
          <a:xfrm>
            <a:off x="2099387" y="3049141"/>
            <a:ext cx="3083023" cy="369332"/>
          </a:xfrm>
          <a:prstGeom prst="rect">
            <a:avLst/>
          </a:prstGeom>
          <a:noFill/>
        </p:spPr>
        <p:txBody>
          <a:bodyPr wrap="none" rtlCol="0">
            <a:spAutoFit/>
          </a:bodyPr>
          <a:lstStyle/>
          <a:p>
            <a:r>
              <a:rPr lang="en-US" i="1" dirty="0"/>
              <a:t>n</a:t>
            </a:r>
            <a:r>
              <a:rPr lang="en-US" i="1" baseline="-25000" dirty="0"/>
              <a:t>inflight</a:t>
            </a:r>
            <a:r>
              <a:rPr lang="en-US" dirty="0"/>
              <a:t>: amount of in-flight data</a:t>
            </a:r>
          </a:p>
        </p:txBody>
      </p:sp>
      <p:sp>
        <p:nvSpPr>
          <p:cNvPr id="53" name="TextBox 52">
            <a:extLst>
              <a:ext uri="{FF2B5EF4-FFF2-40B4-BE49-F238E27FC236}">
                <a16:creationId xmlns:a16="http://schemas.microsoft.com/office/drawing/2014/main" id="{D40A0C74-1B5E-06BB-373D-6EAF43EC249D}"/>
              </a:ext>
            </a:extLst>
          </p:cNvPr>
          <p:cNvSpPr txBox="1"/>
          <p:nvPr/>
        </p:nvSpPr>
        <p:spPr>
          <a:xfrm>
            <a:off x="5363675" y="1294396"/>
            <a:ext cx="1992598" cy="541174"/>
          </a:xfrm>
          <a:prstGeom prst="rect">
            <a:avLst/>
          </a:prstGeom>
          <a:noFill/>
        </p:spPr>
        <p:txBody>
          <a:bodyPr wrap="square" rtlCol="0">
            <a:spAutoFit/>
          </a:bodyPr>
          <a:lstStyle/>
          <a:p>
            <a:pPr algn="ctr">
              <a:lnSpc>
                <a:spcPct val="80000"/>
              </a:lnSpc>
            </a:pPr>
            <a:r>
              <a:rPr lang="en-US" sz="1200" i="1" dirty="0">
                <a:solidFill>
                  <a:srgbClr val="C00000"/>
                </a:solidFill>
              </a:rPr>
              <a:t>bandwith</a:t>
            </a:r>
            <a:r>
              <a:rPr lang="en-US" sz="1050" dirty="0">
                <a:solidFill>
                  <a:srgbClr val="C00000"/>
                </a:solidFill>
              </a:rPr>
              <a:t>•</a:t>
            </a:r>
            <a:r>
              <a:rPr lang="en-US" sz="1200" i="1" dirty="0">
                <a:solidFill>
                  <a:srgbClr val="C00000"/>
                </a:solidFill>
              </a:rPr>
              <a:t>delay </a:t>
            </a:r>
          </a:p>
          <a:p>
            <a:pPr algn="ctr">
              <a:lnSpc>
                <a:spcPct val="80000"/>
              </a:lnSpc>
            </a:pPr>
            <a:r>
              <a:rPr lang="en-US" sz="1200" i="1" dirty="0">
                <a:solidFill>
                  <a:srgbClr val="C00000"/>
                </a:solidFill>
              </a:rPr>
              <a:t>product + queueing delay in full bottleneck buffer </a:t>
            </a:r>
            <a:endParaRPr lang="en-US" sz="1200" dirty="0">
              <a:solidFill>
                <a:srgbClr val="C00000"/>
              </a:solidFill>
            </a:endParaRPr>
          </a:p>
        </p:txBody>
      </p:sp>
      <p:cxnSp>
        <p:nvCxnSpPr>
          <p:cNvPr id="56" name="Straight Connector 55">
            <a:extLst>
              <a:ext uri="{FF2B5EF4-FFF2-40B4-BE49-F238E27FC236}">
                <a16:creationId xmlns:a16="http://schemas.microsoft.com/office/drawing/2014/main" id="{448D5FF5-DB37-6368-7316-F64FC2C9C6B0}"/>
              </a:ext>
            </a:extLst>
          </p:cNvPr>
          <p:cNvCxnSpPr/>
          <p:nvPr/>
        </p:nvCxnSpPr>
        <p:spPr>
          <a:xfrm flipV="1">
            <a:off x="5082830" y="2164912"/>
            <a:ext cx="0" cy="894621"/>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5AFAEB-480E-53C0-76EE-EB34326C59CB}"/>
              </a:ext>
            </a:extLst>
          </p:cNvPr>
          <p:cNvCxnSpPr>
            <a:cxnSpLocks/>
          </p:cNvCxnSpPr>
          <p:nvPr/>
        </p:nvCxnSpPr>
        <p:spPr>
          <a:xfrm flipV="1">
            <a:off x="5081166" y="2018780"/>
            <a:ext cx="1267983" cy="753650"/>
          </a:xfrm>
          <a:prstGeom prst="line">
            <a:avLst/>
          </a:prstGeom>
          <a:ln w="19050">
            <a:solidFill>
              <a:srgbClr val="0000A3"/>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12AD2E3-4314-5549-43CD-F06956793EBF}"/>
              </a:ext>
            </a:extLst>
          </p:cNvPr>
          <p:cNvCxnSpPr>
            <a:cxnSpLocks/>
          </p:cNvCxnSpPr>
          <p:nvPr/>
        </p:nvCxnSpPr>
        <p:spPr>
          <a:xfrm flipV="1">
            <a:off x="6349149" y="1788855"/>
            <a:ext cx="0" cy="1260288"/>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B9A6AEB-5890-1179-BC8A-DDBC6DF65757}"/>
              </a:ext>
            </a:extLst>
          </p:cNvPr>
          <p:cNvCxnSpPr>
            <a:cxnSpLocks/>
          </p:cNvCxnSpPr>
          <p:nvPr/>
        </p:nvCxnSpPr>
        <p:spPr>
          <a:xfrm>
            <a:off x="2376465" y="2772430"/>
            <a:ext cx="2704701" cy="0"/>
          </a:xfrm>
          <a:prstGeom prst="line">
            <a:avLst/>
          </a:prstGeom>
          <a:ln w="19050">
            <a:solidFill>
              <a:srgbClr val="0000A3"/>
            </a:solidFill>
          </a:ln>
        </p:spPr>
        <p:style>
          <a:lnRef idx="1">
            <a:schemeClr val="accent1"/>
          </a:lnRef>
          <a:fillRef idx="0">
            <a:schemeClr val="accent1"/>
          </a:fillRef>
          <a:effectRef idx="0">
            <a:schemeClr val="accent1"/>
          </a:effectRef>
          <a:fontRef idx="minor">
            <a:schemeClr val="tx1"/>
          </a:fontRef>
        </p:style>
      </p:cxnSp>
      <p:grpSp>
        <p:nvGrpSpPr>
          <p:cNvPr id="209" name="Group 208">
            <a:extLst>
              <a:ext uri="{FF2B5EF4-FFF2-40B4-BE49-F238E27FC236}">
                <a16:creationId xmlns:a16="http://schemas.microsoft.com/office/drawing/2014/main" id="{015C67DD-A1A8-2B55-77AA-2DDE79D46A63}"/>
              </a:ext>
            </a:extLst>
          </p:cNvPr>
          <p:cNvGrpSpPr/>
          <p:nvPr/>
        </p:nvGrpSpPr>
        <p:grpSpPr>
          <a:xfrm>
            <a:off x="636978" y="2816302"/>
            <a:ext cx="3083023" cy="2704524"/>
            <a:chOff x="636978" y="2816302"/>
            <a:chExt cx="3083023" cy="2704524"/>
          </a:xfrm>
        </p:grpSpPr>
        <p:grpSp>
          <p:nvGrpSpPr>
            <p:cNvPr id="201" name="Group 200">
              <a:extLst>
                <a:ext uri="{FF2B5EF4-FFF2-40B4-BE49-F238E27FC236}">
                  <a16:creationId xmlns:a16="http://schemas.microsoft.com/office/drawing/2014/main" id="{936D166A-E204-7992-7FDC-B89BD5EE57E7}"/>
                </a:ext>
              </a:extLst>
            </p:cNvPr>
            <p:cNvGrpSpPr/>
            <p:nvPr/>
          </p:nvGrpSpPr>
          <p:grpSpPr>
            <a:xfrm>
              <a:off x="636978" y="3788788"/>
              <a:ext cx="3083023" cy="1732038"/>
              <a:chOff x="636978" y="3788788"/>
              <a:chExt cx="3083023" cy="1732038"/>
            </a:xfrm>
          </p:grpSpPr>
          <p:sp>
            <p:nvSpPr>
              <p:cNvPr id="63" name="Rectangle 62">
                <a:extLst>
                  <a:ext uri="{FF2B5EF4-FFF2-40B4-BE49-F238E27FC236}">
                    <a16:creationId xmlns:a16="http://schemas.microsoft.com/office/drawing/2014/main" id="{9320D5AC-FA58-7540-450D-A72FCAAB53A9}"/>
                  </a:ext>
                </a:extLst>
              </p:cNvPr>
              <p:cNvSpPr/>
              <p:nvPr/>
            </p:nvSpPr>
            <p:spPr>
              <a:xfrm>
                <a:off x="636978" y="3788788"/>
                <a:ext cx="3083023" cy="173203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AF4E82F-3D21-D107-2049-673F14619D9E}"/>
                  </a:ext>
                </a:extLst>
              </p:cNvPr>
              <p:cNvSpPr txBox="1"/>
              <p:nvPr/>
            </p:nvSpPr>
            <p:spPr>
              <a:xfrm>
                <a:off x="680519" y="3832659"/>
                <a:ext cx="3039481" cy="1631216"/>
              </a:xfrm>
              <a:prstGeom prst="rect">
                <a:avLst/>
              </a:prstGeom>
              <a:noFill/>
            </p:spPr>
            <p:txBody>
              <a:bodyPr wrap="square" rtlCol="0">
                <a:spAutoFit/>
              </a:bodyPr>
              <a:lstStyle/>
              <a:p>
                <a:pPr algn="r"/>
                <a:r>
                  <a:rPr lang="en-US" sz="2000" dirty="0"/>
                  <a:t>increasing </a:t>
                </a:r>
                <a:r>
                  <a:rPr lang="en-US" sz="2000" i="1" dirty="0"/>
                  <a:t>n</a:t>
                </a:r>
                <a:r>
                  <a:rPr lang="en-US" sz="2000" i="1" baseline="-25000" dirty="0"/>
                  <a:t>inflight </a:t>
                </a:r>
                <a:r>
                  <a:rPr lang="en-US" sz="2000" dirty="0"/>
                  <a:t>in this region will not increase RTT, since arrival rate of packet data to queue is less than transmission rate</a:t>
                </a:r>
              </a:p>
            </p:txBody>
          </p:sp>
        </p:grpSp>
        <p:cxnSp>
          <p:nvCxnSpPr>
            <p:cNvPr id="193" name="Straight Connector 192">
              <a:extLst>
                <a:ext uri="{FF2B5EF4-FFF2-40B4-BE49-F238E27FC236}">
                  <a16:creationId xmlns:a16="http://schemas.microsoft.com/office/drawing/2014/main" id="{F05F5315-E1C5-6AFB-A5D8-DBE5C6628B03}"/>
                </a:ext>
              </a:extLst>
            </p:cNvPr>
            <p:cNvCxnSpPr>
              <a:cxnSpLocks/>
              <a:stCxn id="63" idx="0"/>
            </p:cNvCxnSpPr>
            <p:nvPr/>
          </p:nvCxnSpPr>
          <p:spPr>
            <a:xfrm flipV="1">
              <a:off x="2178490" y="2816302"/>
              <a:ext cx="931336" cy="972486"/>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8" name="TextBox 197">
            <a:extLst>
              <a:ext uri="{FF2B5EF4-FFF2-40B4-BE49-F238E27FC236}">
                <a16:creationId xmlns:a16="http://schemas.microsoft.com/office/drawing/2014/main" id="{6B3B4839-8616-2BB7-CE15-9009F0237E66}"/>
              </a:ext>
            </a:extLst>
          </p:cNvPr>
          <p:cNvSpPr txBox="1"/>
          <p:nvPr/>
        </p:nvSpPr>
        <p:spPr>
          <a:xfrm>
            <a:off x="4354286" y="6125029"/>
            <a:ext cx="184731" cy="369332"/>
          </a:xfrm>
          <a:prstGeom prst="rect">
            <a:avLst/>
          </a:prstGeom>
          <a:noFill/>
        </p:spPr>
        <p:txBody>
          <a:bodyPr wrap="none" rtlCol="0">
            <a:spAutoFit/>
          </a:bodyPr>
          <a:lstStyle/>
          <a:p>
            <a:endParaRPr lang="en-US" dirty="0"/>
          </a:p>
        </p:txBody>
      </p:sp>
      <p:grpSp>
        <p:nvGrpSpPr>
          <p:cNvPr id="211" name="Group 210">
            <a:extLst>
              <a:ext uri="{FF2B5EF4-FFF2-40B4-BE49-F238E27FC236}">
                <a16:creationId xmlns:a16="http://schemas.microsoft.com/office/drawing/2014/main" id="{DFEE2A32-5E55-878E-1B7C-BDD0D555C245}"/>
              </a:ext>
            </a:extLst>
          </p:cNvPr>
          <p:cNvGrpSpPr/>
          <p:nvPr/>
        </p:nvGrpSpPr>
        <p:grpSpPr>
          <a:xfrm>
            <a:off x="5929120" y="2337732"/>
            <a:ext cx="3745647" cy="3186229"/>
            <a:chOff x="5929120" y="2337732"/>
            <a:chExt cx="3745647" cy="3186229"/>
          </a:xfrm>
        </p:grpSpPr>
        <p:grpSp>
          <p:nvGrpSpPr>
            <p:cNvPr id="203" name="Group 202">
              <a:extLst>
                <a:ext uri="{FF2B5EF4-FFF2-40B4-BE49-F238E27FC236}">
                  <a16:creationId xmlns:a16="http://schemas.microsoft.com/office/drawing/2014/main" id="{42EC51C6-ED34-283E-EABB-588BA6F8D5D3}"/>
                </a:ext>
              </a:extLst>
            </p:cNvPr>
            <p:cNvGrpSpPr/>
            <p:nvPr/>
          </p:nvGrpSpPr>
          <p:grpSpPr>
            <a:xfrm>
              <a:off x="6519174" y="3791923"/>
              <a:ext cx="3155593" cy="1732038"/>
              <a:chOff x="6519174" y="3791923"/>
              <a:chExt cx="3155593" cy="1732038"/>
            </a:xfrm>
          </p:grpSpPr>
          <p:sp>
            <p:nvSpPr>
              <p:cNvPr id="200" name="Rectangle 199">
                <a:extLst>
                  <a:ext uri="{FF2B5EF4-FFF2-40B4-BE49-F238E27FC236}">
                    <a16:creationId xmlns:a16="http://schemas.microsoft.com/office/drawing/2014/main" id="{A715A159-8F37-8440-B845-79E1ACB38EA2}"/>
                  </a:ext>
                </a:extLst>
              </p:cNvPr>
              <p:cNvSpPr/>
              <p:nvPr/>
            </p:nvSpPr>
            <p:spPr>
              <a:xfrm>
                <a:off x="6519174" y="3791923"/>
                <a:ext cx="3083023" cy="173203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0CD843C-7545-B102-85F6-006D9D1B0D6A}"/>
                  </a:ext>
                </a:extLst>
              </p:cNvPr>
              <p:cNvSpPr txBox="1"/>
              <p:nvPr/>
            </p:nvSpPr>
            <p:spPr>
              <a:xfrm>
                <a:off x="6591744" y="3828036"/>
                <a:ext cx="3083023" cy="1631216"/>
              </a:xfrm>
              <a:prstGeom prst="rect">
                <a:avLst/>
              </a:prstGeom>
              <a:noFill/>
            </p:spPr>
            <p:txBody>
              <a:bodyPr wrap="square" rtlCol="0">
                <a:spAutoFit/>
              </a:bodyPr>
              <a:lstStyle/>
              <a:p>
                <a:r>
                  <a:rPr lang="en-US" sz="2000" dirty="0"/>
                  <a:t>Increasing </a:t>
                </a:r>
                <a:r>
                  <a:rPr lang="en-US" sz="2000" i="1" dirty="0"/>
                  <a:t>n</a:t>
                </a:r>
                <a:r>
                  <a:rPr lang="en-US" sz="2000" i="1" baseline="-25000" dirty="0"/>
                  <a:t>inflight </a:t>
                </a:r>
                <a:r>
                  <a:rPr lang="en-US" sz="2000" dirty="0"/>
                  <a:t>in this region increases RTT since arrival rate of packet data to bottleneck link exceeds link transmission rate</a:t>
                </a:r>
              </a:p>
            </p:txBody>
          </p:sp>
        </p:grpSp>
        <p:cxnSp>
          <p:nvCxnSpPr>
            <p:cNvPr id="204" name="Straight Connector 203">
              <a:extLst>
                <a:ext uri="{FF2B5EF4-FFF2-40B4-BE49-F238E27FC236}">
                  <a16:creationId xmlns:a16="http://schemas.microsoft.com/office/drawing/2014/main" id="{5E661397-35C4-8367-8BA1-BAFC1B33397E}"/>
                </a:ext>
              </a:extLst>
            </p:cNvPr>
            <p:cNvCxnSpPr>
              <a:cxnSpLocks/>
            </p:cNvCxnSpPr>
            <p:nvPr/>
          </p:nvCxnSpPr>
          <p:spPr>
            <a:xfrm flipH="1" flipV="1">
              <a:off x="5929120" y="2337732"/>
              <a:ext cx="1325248" cy="1383803"/>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10" name="Group 209">
            <a:extLst>
              <a:ext uri="{FF2B5EF4-FFF2-40B4-BE49-F238E27FC236}">
                <a16:creationId xmlns:a16="http://schemas.microsoft.com/office/drawing/2014/main" id="{73EB1B2C-FCB3-46DB-3312-5EEC87A46F38}"/>
              </a:ext>
            </a:extLst>
          </p:cNvPr>
          <p:cNvGrpSpPr/>
          <p:nvPr/>
        </p:nvGrpSpPr>
        <p:grpSpPr>
          <a:xfrm>
            <a:off x="4061722" y="3089580"/>
            <a:ext cx="2179421" cy="2431246"/>
            <a:chOff x="4061722" y="3089580"/>
            <a:chExt cx="2179421" cy="2431246"/>
          </a:xfrm>
        </p:grpSpPr>
        <p:grpSp>
          <p:nvGrpSpPr>
            <p:cNvPr id="202" name="Group 201">
              <a:extLst>
                <a:ext uri="{FF2B5EF4-FFF2-40B4-BE49-F238E27FC236}">
                  <a16:creationId xmlns:a16="http://schemas.microsoft.com/office/drawing/2014/main" id="{32FCED18-B48A-8DD1-62DF-ACB5D7586972}"/>
                </a:ext>
              </a:extLst>
            </p:cNvPr>
            <p:cNvGrpSpPr/>
            <p:nvPr/>
          </p:nvGrpSpPr>
          <p:grpSpPr>
            <a:xfrm>
              <a:off x="4061722" y="3782248"/>
              <a:ext cx="2179421" cy="1738578"/>
              <a:chOff x="4061722" y="3782248"/>
              <a:chExt cx="2179421" cy="1738578"/>
            </a:xfrm>
          </p:grpSpPr>
          <p:sp>
            <p:nvSpPr>
              <p:cNvPr id="196" name="Rectangle 195">
                <a:extLst>
                  <a:ext uri="{FF2B5EF4-FFF2-40B4-BE49-F238E27FC236}">
                    <a16:creationId xmlns:a16="http://schemas.microsoft.com/office/drawing/2014/main" id="{5F6CC53E-F1EF-DD08-E1F0-487352B8C10E}"/>
                  </a:ext>
                </a:extLst>
              </p:cNvPr>
              <p:cNvSpPr/>
              <p:nvPr/>
            </p:nvSpPr>
            <p:spPr>
              <a:xfrm>
                <a:off x="4125412" y="3782248"/>
                <a:ext cx="2115731" cy="173857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862846FA-AEB2-5994-0FF8-8F6B0D055C9C}"/>
                  </a:ext>
                </a:extLst>
              </p:cNvPr>
              <p:cNvSpPr txBox="1"/>
              <p:nvPr/>
            </p:nvSpPr>
            <p:spPr>
              <a:xfrm>
                <a:off x="4061722" y="3828475"/>
                <a:ext cx="2115731" cy="1631216"/>
              </a:xfrm>
              <a:prstGeom prst="rect">
                <a:avLst/>
              </a:prstGeom>
              <a:noFill/>
            </p:spPr>
            <p:txBody>
              <a:bodyPr wrap="square" rtlCol="0">
                <a:spAutoFit/>
              </a:bodyPr>
              <a:lstStyle/>
              <a:p>
                <a:pPr algn="ctr"/>
                <a:r>
                  <a:rPr lang="en-US" sz="2000" dirty="0"/>
                  <a:t>Here, arrival rate of packet data to bottleneck link is equals link transmission rate</a:t>
                </a:r>
              </a:p>
            </p:txBody>
          </p:sp>
        </p:grpSp>
        <p:cxnSp>
          <p:nvCxnSpPr>
            <p:cNvPr id="206" name="Straight Connector 205">
              <a:extLst>
                <a:ext uri="{FF2B5EF4-FFF2-40B4-BE49-F238E27FC236}">
                  <a16:creationId xmlns:a16="http://schemas.microsoft.com/office/drawing/2014/main" id="{8B190863-D76C-AB12-5B58-CD3C8873665D}"/>
                </a:ext>
              </a:extLst>
            </p:cNvPr>
            <p:cNvCxnSpPr>
              <a:cxnSpLocks/>
            </p:cNvCxnSpPr>
            <p:nvPr/>
          </p:nvCxnSpPr>
          <p:spPr>
            <a:xfrm flipV="1">
              <a:off x="5081166" y="3089580"/>
              <a:ext cx="0" cy="699208"/>
            </a:xfrm>
            <a:prstGeom prst="line">
              <a:avLst/>
            </a:prstGeom>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832DC709-ADC9-8431-01D3-F9FABC74809D}"/>
              </a:ext>
            </a:extLst>
          </p:cNvPr>
          <p:cNvSpPr txBox="1"/>
          <p:nvPr/>
        </p:nvSpPr>
        <p:spPr>
          <a:xfrm rot="16200000">
            <a:off x="1878839" y="2298545"/>
            <a:ext cx="575222" cy="400110"/>
          </a:xfrm>
          <a:prstGeom prst="rect">
            <a:avLst/>
          </a:prstGeom>
          <a:noFill/>
        </p:spPr>
        <p:txBody>
          <a:bodyPr wrap="none" rtlCol="0">
            <a:spAutoFit/>
          </a:bodyPr>
          <a:lstStyle/>
          <a:p>
            <a:r>
              <a:rPr lang="en-US" sz="2000" dirty="0"/>
              <a:t>RTT</a:t>
            </a:r>
            <a:endParaRPr lang="en-US" sz="1400" dirty="0"/>
          </a:p>
        </p:txBody>
      </p:sp>
    </p:spTree>
    <p:extLst>
      <p:ext uri="{BB962C8B-B14F-4D97-AF65-F5344CB8AC3E}">
        <p14:creationId xmlns:p14="http://schemas.microsoft.com/office/powerpoint/2010/main" val="301472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dissolve">
                                      <p:cBhvr>
                                        <p:cTn id="7" dur="500"/>
                                        <p:tgtEl>
                                          <p:spTgt spid="58"/>
                                        </p:tgtEl>
                                      </p:cBhvr>
                                    </p:animEffect>
                                  </p:childTnLst>
                                </p:cTn>
                              </p:par>
                              <p:par>
                                <p:cTn id="8" presetID="9" presetClass="entr" presetSubtype="0" fill="hold" nodeType="withEffect">
                                  <p:stCondLst>
                                    <p:cond delay="0"/>
                                  </p:stCondLst>
                                  <p:childTnLst>
                                    <p:set>
                                      <p:cBhvr>
                                        <p:cTn id="9" dur="1" fill="hold">
                                          <p:stCondLst>
                                            <p:cond delay="0"/>
                                          </p:stCondLst>
                                        </p:cTn>
                                        <p:tgtEl>
                                          <p:spTgt spid="209"/>
                                        </p:tgtEl>
                                        <p:attrNameLst>
                                          <p:attrName>style.visibility</p:attrName>
                                        </p:attrNameLst>
                                      </p:cBhvr>
                                      <p:to>
                                        <p:strVal val="visible"/>
                                      </p:to>
                                    </p:set>
                                    <p:animEffect transition="in" filter="dissolve">
                                      <p:cBhvr>
                                        <p:cTn id="10" dur="500"/>
                                        <p:tgtEl>
                                          <p:spTgt spid="20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dissolve">
                                      <p:cBhvr>
                                        <p:cTn id="15" dur="500"/>
                                        <p:tgtEl>
                                          <p:spTgt spid="49"/>
                                        </p:tgtEl>
                                      </p:cBhvr>
                                    </p:animEffect>
                                  </p:childTnLst>
                                </p:cTn>
                              </p:par>
                              <p:par>
                                <p:cTn id="16" presetID="9" presetClass="entr" presetSubtype="0" fill="hold" nodeType="with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dissolve">
                                      <p:cBhvr>
                                        <p:cTn id="18" dur="500"/>
                                        <p:tgtEl>
                                          <p:spTgt spid="56"/>
                                        </p:tgtEl>
                                      </p:cBhvr>
                                    </p:animEffect>
                                  </p:childTnLst>
                                </p:cTn>
                              </p:par>
                              <p:par>
                                <p:cTn id="19" presetID="9" presetClass="entr" presetSubtype="0" fill="hold" nodeType="withEffect">
                                  <p:stCondLst>
                                    <p:cond delay="0"/>
                                  </p:stCondLst>
                                  <p:childTnLst>
                                    <p:set>
                                      <p:cBhvr>
                                        <p:cTn id="20" dur="1" fill="hold">
                                          <p:stCondLst>
                                            <p:cond delay="0"/>
                                          </p:stCondLst>
                                        </p:cTn>
                                        <p:tgtEl>
                                          <p:spTgt spid="210"/>
                                        </p:tgtEl>
                                        <p:attrNameLst>
                                          <p:attrName>style.visibility</p:attrName>
                                        </p:attrNameLst>
                                      </p:cBhvr>
                                      <p:to>
                                        <p:strVal val="visible"/>
                                      </p:to>
                                    </p:set>
                                    <p:animEffect transition="in" filter="dissolve">
                                      <p:cBhvr>
                                        <p:cTn id="21" dur="500"/>
                                        <p:tgtEl>
                                          <p:spTgt spid="21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dissolve">
                                      <p:cBhvr>
                                        <p:cTn id="26" dur="500"/>
                                        <p:tgtEl>
                                          <p:spTgt spid="5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dissolve">
                                      <p:cBhvr>
                                        <p:cTn id="29" dur="500"/>
                                        <p:tgtEl>
                                          <p:spTgt spid="5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dissolve">
                                      <p:cBhvr>
                                        <p:cTn id="32" dur="500"/>
                                        <p:tgtEl>
                                          <p:spTgt spid="53"/>
                                        </p:tgtEl>
                                      </p:cBhvr>
                                    </p:animEffect>
                                  </p:childTnLst>
                                </p:cTn>
                              </p:par>
                              <p:par>
                                <p:cTn id="33" presetID="9" presetClass="entr" presetSubtype="0" fill="hold" nodeType="with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dissolve">
                                      <p:cBhvr>
                                        <p:cTn id="35" dur="500"/>
                                        <p:tgtEl>
                                          <p:spTgt spid="61"/>
                                        </p:tgtEl>
                                      </p:cBhvr>
                                    </p:animEffect>
                                  </p:childTnLst>
                                </p:cTn>
                              </p:par>
                              <p:par>
                                <p:cTn id="36" presetID="9" presetClass="entr" presetSubtype="0" fill="hold" nodeType="withEffect">
                                  <p:stCondLst>
                                    <p:cond delay="0"/>
                                  </p:stCondLst>
                                  <p:childTnLst>
                                    <p:set>
                                      <p:cBhvr>
                                        <p:cTn id="37" dur="1" fill="hold">
                                          <p:stCondLst>
                                            <p:cond delay="0"/>
                                          </p:stCondLst>
                                        </p:cTn>
                                        <p:tgtEl>
                                          <p:spTgt spid="211"/>
                                        </p:tgtEl>
                                        <p:attrNameLst>
                                          <p:attrName>style.visibility</p:attrName>
                                        </p:attrNameLst>
                                      </p:cBhvr>
                                      <p:to>
                                        <p:strVal val="visible"/>
                                      </p:to>
                                    </p:set>
                                    <p:animEffect transition="in" filter="dissolve">
                                      <p:cBhvr>
                                        <p:cTn id="38"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6C702-F0C6-0DFD-E8B5-920993B38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F964B-16E5-98E8-9FE5-BC8D2EEBFBC5}"/>
              </a:ext>
            </a:extLst>
          </p:cNvPr>
          <p:cNvSpPr>
            <a:spLocks noGrp="1"/>
          </p:cNvSpPr>
          <p:nvPr>
            <p:ph type="title"/>
          </p:nvPr>
        </p:nvSpPr>
        <p:spPr>
          <a:xfrm>
            <a:off x="760590" y="272143"/>
            <a:ext cx="11393310" cy="894622"/>
          </a:xfrm>
        </p:spPr>
        <p:txBody>
          <a:bodyPr>
            <a:normAutofit/>
          </a:bodyPr>
          <a:lstStyle/>
          <a:p>
            <a:r>
              <a:rPr lang="en-US" sz="4800" dirty="0"/>
              <a:t>Keeping the pipe just full, but no fuller</a:t>
            </a:r>
            <a:endParaRPr lang="en-US" sz="4400" b="0" dirty="0"/>
          </a:p>
        </p:txBody>
      </p:sp>
      <p:sp>
        <p:nvSpPr>
          <p:cNvPr id="6" name="Slide Number Placeholder 2">
            <a:extLst>
              <a:ext uri="{FF2B5EF4-FFF2-40B4-BE49-F238E27FC236}">
                <a16:creationId xmlns:a16="http://schemas.microsoft.com/office/drawing/2014/main" id="{0832DBE5-8B66-AF49-9327-3897374CB04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63</a:t>
            </a:fld>
            <a:endParaRPr lang="en-US" dirty="0"/>
          </a:p>
        </p:txBody>
      </p:sp>
      <p:cxnSp>
        <p:nvCxnSpPr>
          <p:cNvPr id="47" name="Straight Connector 46">
            <a:extLst>
              <a:ext uri="{FF2B5EF4-FFF2-40B4-BE49-F238E27FC236}">
                <a16:creationId xmlns:a16="http://schemas.microsoft.com/office/drawing/2014/main" id="{5E4B1579-CBD0-5401-CA0E-A4FAB6690AD8}"/>
              </a:ext>
            </a:extLst>
          </p:cNvPr>
          <p:cNvCxnSpPr>
            <a:cxnSpLocks/>
          </p:cNvCxnSpPr>
          <p:nvPr/>
        </p:nvCxnSpPr>
        <p:spPr>
          <a:xfrm>
            <a:off x="2202297" y="3049142"/>
            <a:ext cx="5249331" cy="0"/>
          </a:xfrm>
          <a:prstGeom prst="line">
            <a:avLst/>
          </a:prstGeom>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D7CD2608-BC98-F6DE-E721-4BCD336E8EEB}"/>
              </a:ext>
            </a:extLst>
          </p:cNvPr>
          <p:cNvSpPr txBox="1"/>
          <p:nvPr/>
        </p:nvSpPr>
        <p:spPr>
          <a:xfrm>
            <a:off x="4162316" y="1761081"/>
            <a:ext cx="1906195" cy="393441"/>
          </a:xfrm>
          <a:prstGeom prst="rect">
            <a:avLst/>
          </a:prstGeom>
          <a:noFill/>
        </p:spPr>
        <p:txBody>
          <a:bodyPr wrap="none" rtlCol="0">
            <a:spAutoFit/>
          </a:bodyPr>
          <a:lstStyle/>
          <a:p>
            <a:pPr algn="ctr">
              <a:lnSpc>
                <a:spcPct val="80000"/>
              </a:lnSpc>
            </a:pPr>
            <a:r>
              <a:rPr lang="en-US" sz="1200" i="1" dirty="0">
                <a:solidFill>
                  <a:srgbClr val="C00000"/>
                </a:solidFill>
              </a:rPr>
              <a:t>bandwith</a:t>
            </a:r>
            <a:r>
              <a:rPr lang="en-US" sz="1050" dirty="0">
                <a:solidFill>
                  <a:srgbClr val="C00000"/>
                </a:solidFill>
              </a:rPr>
              <a:t>•</a:t>
            </a:r>
            <a:r>
              <a:rPr lang="en-US" sz="1200" i="1" dirty="0">
                <a:solidFill>
                  <a:srgbClr val="C00000"/>
                </a:solidFill>
              </a:rPr>
              <a:t>delay </a:t>
            </a:r>
          </a:p>
          <a:p>
            <a:pPr algn="ctr">
              <a:lnSpc>
                <a:spcPct val="80000"/>
              </a:lnSpc>
            </a:pPr>
            <a:r>
              <a:rPr lang="en-US" sz="1200" i="1" dirty="0">
                <a:solidFill>
                  <a:srgbClr val="C00000"/>
                </a:solidFill>
              </a:rPr>
              <a:t>product</a:t>
            </a:r>
            <a:endParaRPr lang="en-US" sz="1200" dirty="0">
              <a:solidFill>
                <a:srgbClr val="C00000"/>
              </a:solidFill>
            </a:endParaRPr>
          </a:p>
        </p:txBody>
      </p:sp>
      <p:sp>
        <p:nvSpPr>
          <p:cNvPr id="50" name="TextBox 49">
            <a:extLst>
              <a:ext uri="{FF2B5EF4-FFF2-40B4-BE49-F238E27FC236}">
                <a16:creationId xmlns:a16="http://schemas.microsoft.com/office/drawing/2014/main" id="{5B14C332-F7B1-726D-7C6F-03C25E03E542}"/>
              </a:ext>
            </a:extLst>
          </p:cNvPr>
          <p:cNvSpPr txBox="1"/>
          <p:nvPr/>
        </p:nvSpPr>
        <p:spPr>
          <a:xfrm rot="19803616">
            <a:off x="4526141" y="2389617"/>
            <a:ext cx="2466307" cy="220188"/>
          </a:xfrm>
          <a:prstGeom prst="rect">
            <a:avLst/>
          </a:prstGeom>
          <a:noFill/>
        </p:spPr>
        <p:txBody>
          <a:bodyPr wrap="none" rtlCol="0">
            <a:spAutoFit/>
          </a:bodyPr>
          <a:lstStyle/>
          <a:p>
            <a:pPr algn="ctr">
              <a:lnSpc>
                <a:spcPct val="80000"/>
              </a:lnSpc>
            </a:pPr>
            <a:r>
              <a:rPr lang="en-US" sz="1000" i="1" dirty="0">
                <a:solidFill>
                  <a:srgbClr val="C00000"/>
                </a:solidFill>
              </a:rPr>
              <a:t>bottleneck link congestion</a:t>
            </a:r>
            <a:endParaRPr lang="en-US" sz="1000" dirty="0">
              <a:solidFill>
                <a:srgbClr val="C00000"/>
              </a:solidFill>
            </a:endParaRPr>
          </a:p>
        </p:txBody>
      </p:sp>
      <p:sp>
        <p:nvSpPr>
          <p:cNvPr id="53" name="TextBox 52">
            <a:extLst>
              <a:ext uri="{FF2B5EF4-FFF2-40B4-BE49-F238E27FC236}">
                <a16:creationId xmlns:a16="http://schemas.microsoft.com/office/drawing/2014/main" id="{963A45E7-86D1-3B2D-2AFC-FB2CB9E7A97B}"/>
              </a:ext>
            </a:extLst>
          </p:cNvPr>
          <p:cNvSpPr txBox="1"/>
          <p:nvPr/>
        </p:nvSpPr>
        <p:spPr>
          <a:xfrm>
            <a:off x="5363675" y="1294396"/>
            <a:ext cx="1992598" cy="541174"/>
          </a:xfrm>
          <a:prstGeom prst="rect">
            <a:avLst/>
          </a:prstGeom>
          <a:noFill/>
        </p:spPr>
        <p:txBody>
          <a:bodyPr wrap="square" rtlCol="0">
            <a:spAutoFit/>
          </a:bodyPr>
          <a:lstStyle/>
          <a:p>
            <a:pPr algn="ctr">
              <a:lnSpc>
                <a:spcPct val="80000"/>
              </a:lnSpc>
            </a:pPr>
            <a:r>
              <a:rPr lang="en-US" sz="1200" i="1" dirty="0">
                <a:solidFill>
                  <a:srgbClr val="C00000"/>
                </a:solidFill>
              </a:rPr>
              <a:t>bandwith</a:t>
            </a:r>
            <a:r>
              <a:rPr lang="en-US" sz="1050" dirty="0">
                <a:solidFill>
                  <a:srgbClr val="C00000"/>
                </a:solidFill>
              </a:rPr>
              <a:t>•</a:t>
            </a:r>
            <a:r>
              <a:rPr lang="en-US" sz="1200" i="1" dirty="0">
                <a:solidFill>
                  <a:srgbClr val="C00000"/>
                </a:solidFill>
              </a:rPr>
              <a:t>delay </a:t>
            </a:r>
          </a:p>
          <a:p>
            <a:pPr algn="ctr">
              <a:lnSpc>
                <a:spcPct val="80000"/>
              </a:lnSpc>
            </a:pPr>
            <a:r>
              <a:rPr lang="en-US" sz="1200" i="1" dirty="0">
                <a:solidFill>
                  <a:srgbClr val="C00000"/>
                </a:solidFill>
              </a:rPr>
              <a:t>product + queueing delay in full bottleneck buffer </a:t>
            </a:r>
            <a:endParaRPr lang="en-US" sz="1200" dirty="0">
              <a:solidFill>
                <a:srgbClr val="C00000"/>
              </a:solidFill>
            </a:endParaRPr>
          </a:p>
        </p:txBody>
      </p:sp>
      <p:cxnSp>
        <p:nvCxnSpPr>
          <p:cNvPr id="59" name="Straight Connector 58">
            <a:extLst>
              <a:ext uri="{FF2B5EF4-FFF2-40B4-BE49-F238E27FC236}">
                <a16:creationId xmlns:a16="http://schemas.microsoft.com/office/drawing/2014/main" id="{27A195F8-1ACA-2A8E-4568-D8C15993FB1A}"/>
              </a:ext>
            </a:extLst>
          </p:cNvPr>
          <p:cNvCxnSpPr>
            <a:cxnSpLocks/>
          </p:cNvCxnSpPr>
          <p:nvPr/>
        </p:nvCxnSpPr>
        <p:spPr>
          <a:xfrm flipV="1">
            <a:off x="5081166" y="2018780"/>
            <a:ext cx="1267983" cy="753650"/>
          </a:xfrm>
          <a:prstGeom prst="line">
            <a:avLst/>
          </a:prstGeom>
          <a:ln w="19050">
            <a:solidFill>
              <a:srgbClr val="0000A3"/>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21CBBB3-3B27-22CB-9170-2AF03677D91B}"/>
              </a:ext>
            </a:extLst>
          </p:cNvPr>
          <p:cNvCxnSpPr>
            <a:cxnSpLocks/>
          </p:cNvCxnSpPr>
          <p:nvPr/>
        </p:nvCxnSpPr>
        <p:spPr>
          <a:xfrm>
            <a:off x="2376465" y="2772430"/>
            <a:ext cx="2704701" cy="0"/>
          </a:xfrm>
          <a:prstGeom prst="line">
            <a:avLst/>
          </a:prstGeom>
          <a:ln w="19050">
            <a:solidFill>
              <a:srgbClr val="0000A3"/>
            </a:solidFill>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121BC22E-688E-1216-6B94-41F0DEA494F0}"/>
              </a:ext>
            </a:extLst>
          </p:cNvPr>
          <p:cNvSpPr txBox="1"/>
          <p:nvPr/>
        </p:nvSpPr>
        <p:spPr>
          <a:xfrm>
            <a:off x="4354286" y="6125029"/>
            <a:ext cx="184731" cy="369332"/>
          </a:xfrm>
          <a:prstGeom prst="rect">
            <a:avLst/>
          </a:prstGeom>
          <a:noFill/>
        </p:spPr>
        <p:txBody>
          <a:bodyPr wrap="none" rtlCol="0">
            <a:spAutoFit/>
          </a:bodyPr>
          <a:lstStyle/>
          <a:p>
            <a:endParaRPr lang="en-US" dirty="0"/>
          </a:p>
        </p:txBody>
      </p:sp>
      <p:cxnSp>
        <p:nvCxnSpPr>
          <p:cNvPr id="26" name="Straight Connector 25">
            <a:extLst>
              <a:ext uri="{FF2B5EF4-FFF2-40B4-BE49-F238E27FC236}">
                <a16:creationId xmlns:a16="http://schemas.microsoft.com/office/drawing/2014/main" id="{5FBE5273-D1B7-FF2C-C61E-CF018E2F38CB}"/>
              </a:ext>
            </a:extLst>
          </p:cNvPr>
          <p:cNvCxnSpPr/>
          <p:nvPr/>
        </p:nvCxnSpPr>
        <p:spPr>
          <a:xfrm>
            <a:off x="2376465" y="1864579"/>
            <a:ext cx="0" cy="1194954"/>
          </a:xfrm>
          <a:prstGeom prst="line">
            <a:avLst/>
          </a:prstGeom>
        </p:spPr>
        <p:style>
          <a:lnRef idx="2">
            <a:schemeClr val="dk1"/>
          </a:lnRef>
          <a:fillRef idx="0">
            <a:schemeClr val="dk1"/>
          </a:fillRef>
          <a:effectRef idx="1">
            <a:schemeClr val="dk1"/>
          </a:effectRef>
          <a:fontRef idx="minor">
            <a:schemeClr val="tx1"/>
          </a:fontRef>
        </p:style>
      </p:cxnSp>
      <p:grpSp>
        <p:nvGrpSpPr>
          <p:cNvPr id="199" name="Group 198">
            <a:extLst>
              <a:ext uri="{FF2B5EF4-FFF2-40B4-BE49-F238E27FC236}">
                <a16:creationId xmlns:a16="http://schemas.microsoft.com/office/drawing/2014/main" id="{9F6F6A9B-5712-342E-4360-80CFB3028C1D}"/>
              </a:ext>
            </a:extLst>
          </p:cNvPr>
          <p:cNvGrpSpPr/>
          <p:nvPr/>
        </p:nvGrpSpPr>
        <p:grpSpPr>
          <a:xfrm>
            <a:off x="1978920" y="1788855"/>
            <a:ext cx="5499203" cy="3600843"/>
            <a:chOff x="1978920" y="1788855"/>
            <a:chExt cx="5499203" cy="3600843"/>
          </a:xfrm>
        </p:grpSpPr>
        <p:cxnSp>
          <p:nvCxnSpPr>
            <p:cNvPr id="56" name="Straight Connector 55">
              <a:extLst>
                <a:ext uri="{FF2B5EF4-FFF2-40B4-BE49-F238E27FC236}">
                  <a16:creationId xmlns:a16="http://schemas.microsoft.com/office/drawing/2014/main" id="{CEDCFB5E-8B29-CA3D-7D2D-D78CA81A9B65}"/>
                </a:ext>
              </a:extLst>
            </p:cNvPr>
            <p:cNvCxnSpPr>
              <a:cxnSpLocks/>
            </p:cNvCxnSpPr>
            <p:nvPr/>
          </p:nvCxnSpPr>
          <p:spPr>
            <a:xfrm flipV="1">
              <a:off x="5082830" y="2164912"/>
              <a:ext cx="0" cy="2808507"/>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4EF5126-180A-DA8A-40F2-CD08A529BDC2}"/>
                </a:ext>
              </a:extLst>
            </p:cNvPr>
            <p:cNvCxnSpPr>
              <a:cxnSpLocks/>
            </p:cNvCxnSpPr>
            <p:nvPr/>
          </p:nvCxnSpPr>
          <p:spPr>
            <a:xfrm flipV="1">
              <a:off x="6349149" y="1788855"/>
              <a:ext cx="0" cy="3184564"/>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606396F-82A5-FFC0-891A-F49EC0FEFA62}"/>
                </a:ext>
              </a:extLst>
            </p:cNvPr>
            <p:cNvCxnSpPr>
              <a:cxnSpLocks/>
            </p:cNvCxnSpPr>
            <p:nvPr/>
          </p:nvCxnSpPr>
          <p:spPr>
            <a:xfrm>
              <a:off x="2390979" y="4987099"/>
              <a:ext cx="508714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20E33B1-CEFA-0FDC-0C27-FF79B8A62983}"/>
                </a:ext>
              </a:extLst>
            </p:cNvPr>
            <p:cNvSpPr txBox="1"/>
            <p:nvPr/>
          </p:nvSpPr>
          <p:spPr>
            <a:xfrm rot="16200000">
              <a:off x="1493178" y="4134514"/>
              <a:ext cx="1371594" cy="400110"/>
            </a:xfrm>
            <a:prstGeom prst="rect">
              <a:avLst/>
            </a:prstGeom>
            <a:noFill/>
          </p:spPr>
          <p:txBody>
            <a:bodyPr wrap="none" rtlCol="0">
              <a:spAutoFit/>
            </a:bodyPr>
            <a:lstStyle/>
            <a:p>
              <a:r>
                <a:rPr lang="en-US" sz="2000" dirty="0"/>
                <a:t>throughput</a:t>
              </a:r>
              <a:endParaRPr lang="en-US" sz="1400" dirty="0"/>
            </a:p>
          </p:txBody>
        </p:sp>
        <p:sp>
          <p:nvSpPr>
            <p:cNvPr id="10" name="TextBox 9">
              <a:extLst>
                <a:ext uri="{FF2B5EF4-FFF2-40B4-BE49-F238E27FC236}">
                  <a16:creationId xmlns:a16="http://schemas.microsoft.com/office/drawing/2014/main" id="{C739F2FC-9792-B605-F1BE-9257FB6646EC}"/>
                </a:ext>
              </a:extLst>
            </p:cNvPr>
            <p:cNvSpPr txBox="1"/>
            <p:nvPr/>
          </p:nvSpPr>
          <p:spPr>
            <a:xfrm>
              <a:off x="2280652" y="5020366"/>
              <a:ext cx="3083023" cy="369332"/>
            </a:xfrm>
            <a:prstGeom prst="rect">
              <a:avLst/>
            </a:prstGeom>
            <a:noFill/>
          </p:spPr>
          <p:txBody>
            <a:bodyPr wrap="none" rtlCol="0">
              <a:spAutoFit/>
            </a:bodyPr>
            <a:lstStyle/>
            <a:p>
              <a:r>
                <a:rPr lang="en-US" i="1" dirty="0"/>
                <a:t>n</a:t>
              </a:r>
              <a:r>
                <a:rPr lang="en-US" i="1" baseline="-25000" dirty="0"/>
                <a:t>inflight</a:t>
              </a:r>
              <a:r>
                <a:rPr lang="en-US" dirty="0"/>
                <a:t>: amount of in-flight data</a:t>
              </a:r>
            </a:p>
          </p:txBody>
        </p:sp>
        <p:cxnSp>
          <p:nvCxnSpPr>
            <p:cNvPr id="13" name="Straight Connector 12">
              <a:extLst>
                <a:ext uri="{FF2B5EF4-FFF2-40B4-BE49-F238E27FC236}">
                  <a16:creationId xmlns:a16="http://schemas.microsoft.com/office/drawing/2014/main" id="{942AB3C6-67CD-781B-08A9-3260AE500ECA}"/>
                </a:ext>
              </a:extLst>
            </p:cNvPr>
            <p:cNvCxnSpPr>
              <a:cxnSpLocks/>
            </p:cNvCxnSpPr>
            <p:nvPr/>
          </p:nvCxnSpPr>
          <p:spPr>
            <a:xfrm>
              <a:off x="5094409" y="3541486"/>
              <a:ext cx="1241488" cy="0"/>
            </a:xfrm>
            <a:prstGeom prst="line">
              <a:avLst/>
            </a:prstGeom>
            <a:ln w="19050">
              <a:solidFill>
                <a:srgbClr val="0000A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11D6FEA-E54E-BF24-223A-C0DEC5C6BF36}"/>
                </a:ext>
              </a:extLst>
            </p:cNvPr>
            <p:cNvCxnSpPr>
              <a:cxnSpLocks/>
            </p:cNvCxnSpPr>
            <p:nvPr/>
          </p:nvCxnSpPr>
          <p:spPr>
            <a:xfrm flipV="1">
              <a:off x="2390978" y="3541486"/>
              <a:ext cx="2690188" cy="1453227"/>
            </a:xfrm>
            <a:prstGeom prst="line">
              <a:avLst/>
            </a:prstGeom>
            <a:ln w="19050">
              <a:solidFill>
                <a:srgbClr val="0000A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7DD9CDE-2638-BC36-3F0D-562F403A7635}"/>
                </a:ext>
              </a:extLst>
            </p:cNvPr>
            <p:cNvCxnSpPr/>
            <p:nvPr/>
          </p:nvCxnSpPr>
          <p:spPr>
            <a:xfrm>
              <a:off x="2390979" y="3799759"/>
              <a:ext cx="0" cy="1194954"/>
            </a:xfrm>
            <a:prstGeom prst="line">
              <a:avLst/>
            </a:prstGeom>
          </p:spPr>
          <p:style>
            <a:lnRef idx="2">
              <a:schemeClr val="dk1"/>
            </a:lnRef>
            <a:fillRef idx="0">
              <a:schemeClr val="dk1"/>
            </a:fillRef>
            <a:effectRef idx="1">
              <a:schemeClr val="dk1"/>
            </a:effectRef>
            <a:fontRef idx="minor">
              <a:schemeClr val="tx1"/>
            </a:fontRef>
          </p:style>
        </p:cxnSp>
      </p:grpSp>
      <p:sp>
        <p:nvSpPr>
          <p:cNvPr id="32" name="TextBox 31">
            <a:extLst>
              <a:ext uri="{FF2B5EF4-FFF2-40B4-BE49-F238E27FC236}">
                <a16:creationId xmlns:a16="http://schemas.microsoft.com/office/drawing/2014/main" id="{D0870482-8C61-1712-E9FF-635DE5AD3CD4}"/>
              </a:ext>
            </a:extLst>
          </p:cNvPr>
          <p:cNvSpPr txBox="1"/>
          <p:nvPr/>
        </p:nvSpPr>
        <p:spPr>
          <a:xfrm rot="16200000">
            <a:off x="1878839" y="2298545"/>
            <a:ext cx="575222" cy="400110"/>
          </a:xfrm>
          <a:prstGeom prst="rect">
            <a:avLst/>
          </a:prstGeom>
          <a:noFill/>
        </p:spPr>
        <p:txBody>
          <a:bodyPr wrap="none" rtlCol="0">
            <a:spAutoFit/>
          </a:bodyPr>
          <a:lstStyle/>
          <a:p>
            <a:r>
              <a:rPr lang="en-US" sz="2000" dirty="0"/>
              <a:t>RTT</a:t>
            </a:r>
            <a:endParaRPr lang="en-US" sz="1400" dirty="0"/>
          </a:p>
        </p:txBody>
      </p:sp>
      <p:grpSp>
        <p:nvGrpSpPr>
          <p:cNvPr id="33" name="Group 32">
            <a:extLst>
              <a:ext uri="{FF2B5EF4-FFF2-40B4-BE49-F238E27FC236}">
                <a16:creationId xmlns:a16="http://schemas.microsoft.com/office/drawing/2014/main" id="{9B1E7EA8-6DE5-302E-3185-BC6302FDE422}"/>
              </a:ext>
            </a:extLst>
          </p:cNvPr>
          <p:cNvGrpSpPr/>
          <p:nvPr/>
        </p:nvGrpSpPr>
        <p:grpSpPr>
          <a:xfrm>
            <a:off x="3379309" y="4973419"/>
            <a:ext cx="3485322" cy="1605666"/>
            <a:chOff x="3340808" y="3273579"/>
            <a:chExt cx="3485322" cy="1605666"/>
          </a:xfrm>
        </p:grpSpPr>
        <p:grpSp>
          <p:nvGrpSpPr>
            <p:cNvPr id="34" name="Group 33">
              <a:extLst>
                <a:ext uri="{FF2B5EF4-FFF2-40B4-BE49-F238E27FC236}">
                  <a16:creationId xmlns:a16="http://schemas.microsoft.com/office/drawing/2014/main" id="{1D4865BB-3246-8CB9-C199-355290AF9F3B}"/>
                </a:ext>
              </a:extLst>
            </p:cNvPr>
            <p:cNvGrpSpPr/>
            <p:nvPr/>
          </p:nvGrpSpPr>
          <p:grpSpPr>
            <a:xfrm>
              <a:off x="3340808" y="3782249"/>
              <a:ext cx="3485322" cy="1096996"/>
              <a:chOff x="3340808" y="3782249"/>
              <a:chExt cx="3485322" cy="1096996"/>
            </a:xfrm>
          </p:grpSpPr>
          <p:sp>
            <p:nvSpPr>
              <p:cNvPr id="36" name="Rectangle 35">
                <a:extLst>
                  <a:ext uri="{FF2B5EF4-FFF2-40B4-BE49-F238E27FC236}">
                    <a16:creationId xmlns:a16="http://schemas.microsoft.com/office/drawing/2014/main" id="{6AC7E265-841F-092F-C95E-FD656014C57B}"/>
                  </a:ext>
                </a:extLst>
              </p:cNvPr>
              <p:cNvSpPr/>
              <p:nvPr/>
            </p:nvSpPr>
            <p:spPr>
              <a:xfrm>
                <a:off x="3340808" y="3782249"/>
                <a:ext cx="3485322" cy="109699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53E53AA-F180-115F-FA63-F3D372362A4B}"/>
                  </a:ext>
                </a:extLst>
              </p:cNvPr>
              <p:cNvSpPr txBox="1"/>
              <p:nvPr/>
            </p:nvSpPr>
            <p:spPr>
              <a:xfrm>
                <a:off x="3390348" y="3836170"/>
                <a:ext cx="3361219" cy="1015663"/>
              </a:xfrm>
              <a:prstGeom prst="rect">
                <a:avLst/>
              </a:prstGeom>
              <a:noFill/>
            </p:spPr>
            <p:txBody>
              <a:bodyPr wrap="square" rtlCol="0">
                <a:spAutoFit/>
              </a:bodyPr>
              <a:lstStyle/>
              <a:p>
                <a:pPr algn="ctr"/>
                <a:r>
                  <a:rPr lang="en-US" sz="2000" dirty="0"/>
                  <a:t>Here, arrival rate of packet data to bottleneck link is equals link transmission rate</a:t>
                </a:r>
              </a:p>
            </p:txBody>
          </p:sp>
        </p:grpSp>
        <p:cxnSp>
          <p:nvCxnSpPr>
            <p:cNvPr id="35" name="Straight Connector 34">
              <a:extLst>
                <a:ext uri="{FF2B5EF4-FFF2-40B4-BE49-F238E27FC236}">
                  <a16:creationId xmlns:a16="http://schemas.microsoft.com/office/drawing/2014/main" id="{43D67B94-781C-DE60-F0B0-765DD24889EF}"/>
                </a:ext>
              </a:extLst>
            </p:cNvPr>
            <p:cNvCxnSpPr>
              <a:cxnSpLocks/>
            </p:cNvCxnSpPr>
            <p:nvPr/>
          </p:nvCxnSpPr>
          <p:spPr>
            <a:xfrm flipV="1">
              <a:off x="5054662" y="3273579"/>
              <a:ext cx="1246" cy="51520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95" name="Group 194">
            <a:extLst>
              <a:ext uri="{FF2B5EF4-FFF2-40B4-BE49-F238E27FC236}">
                <a16:creationId xmlns:a16="http://schemas.microsoft.com/office/drawing/2014/main" id="{D132B77B-BB3A-42AD-F55B-91B39A546A29}"/>
              </a:ext>
            </a:extLst>
          </p:cNvPr>
          <p:cNvGrpSpPr/>
          <p:nvPr/>
        </p:nvGrpSpPr>
        <p:grpSpPr>
          <a:xfrm>
            <a:off x="6362401" y="3595669"/>
            <a:ext cx="4127078" cy="668624"/>
            <a:chOff x="6362401" y="3595669"/>
            <a:chExt cx="4127078" cy="668624"/>
          </a:xfrm>
        </p:grpSpPr>
        <p:sp>
          <p:nvSpPr>
            <p:cNvPr id="39" name="TextBox 38">
              <a:extLst>
                <a:ext uri="{FF2B5EF4-FFF2-40B4-BE49-F238E27FC236}">
                  <a16:creationId xmlns:a16="http://schemas.microsoft.com/office/drawing/2014/main" id="{E7662354-4322-5E42-43B0-0AC914489542}"/>
                </a:ext>
              </a:extLst>
            </p:cNvPr>
            <p:cNvSpPr txBox="1"/>
            <p:nvPr/>
          </p:nvSpPr>
          <p:spPr>
            <a:xfrm>
              <a:off x="6790068" y="3894961"/>
              <a:ext cx="3699411" cy="369332"/>
            </a:xfrm>
            <a:prstGeom prst="rect">
              <a:avLst/>
            </a:prstGeom>
            <a:noFill/>
          </p:spPr>
          <p:txBody>
            <a:bodyPr wrap="none" rtlCol="0">
              <a:spAutoFit/>
            </a:bodyPr>
            <a:lstStyle/>
            <a:p>
              <a:r>
                <a:rPr lang="en-US" dirty="0">
                  <a:solidFill>
                    <a:srgbClr val="C00000"/>
                  </a:solidFill>
                </a:rPr>
                <a:t>loss-based TCP seeks to operate here</a:t>
              </a:r>
            </a:p>
          </p:txBody>
        </p:sp>
        <p:cxnSp>
          <p:nvCxnSpPr>
            <p:cNvPr id="62" name="Straight Connector 61">
              <a:extLst>
                <a:ext uri="{FF2B5EF4-FFF2-40B4-BE49-F238E27FC236}">
                  <a16:creationId xmlns:a16="http://schemas.microsoft.com/office/drawing/2014/main" id="{96DEAF03-B812-1951-D5C5-9E1EB5A0C900}"/>
                </a:ext>
              </a:extLst>
            </p:cNvPr>
            <p:cNvCxnSpPr>
              <a:cxnSpLocks/>
            </p:cNvCxnSpPr>
            <p:nvPr/>
          </p:nvCxnSpPr>
          <p:spPr>
            <a:xfrm flipH="1" flipV="1">
              <a:off x="6362401" y="3595669"/>
              <a:ext cx="440919" cy="51046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97" name="Group 196">
            <a:extLst>
              <a:ext uri="{FF2B5EF4-FFF2-40B4-BE49-F238E27FC236}">
                <a16:creationId xmlns:a16="http://schemas.microsoft.com/office/drawing/2014/main" id="{0E014AF6-27BE-3B43-220D-E404F18599F8}"/>
              </a:ext>
            </a:extLst>
          </p:cNvPr>
          <p:cNvGrpSpPr/>
          <p:nvPr/>
        </p:nvGrpSpPr>
        <p:grpSpPr>
          <a:xfrm>
            <a:off x="5129212" y="3632890"/>
            <a:ext cx="5360263" cy="1311054"/>
            <a:chOff x="5129212" y="3632890"/>
            <a:chExt cx="5360263" cy="1311054"/>
          </a:xfrm>
        </p:grpSpPr>
        <p:sp>
          <p:nvSpPr>
            <p:cNvPr id="57" name="TextBox 56">
              <a:extLst>
                <a:ext uri="{FF2B5EF4-FFF2-40B4-BE49-F238E27FC236}">
                  <a16:creationId xmlns:a16="http://schemas.microsoft.com/office/drawing/2014/main" id="{AC1943E9-109C-1DFC-8BE6-9DAEF6C9B618}"/>
                </a:ext>
              </a:extLst>
            </p:cNvPr>
            <p:cNvSpPr txBox="1"/>
            <p:nvPr/>
          </p:nvSpPr>
          <p:spPr>
            <a:xfrm>
              <a:off x="6812039" y="4297613"/>
              <a:ext cx="3677436" cy="646331"/>
            </a:xfrm>
            <a:prstGeom prst="rect">
              <a:avLst/>
            </a:prstGeom>
            <a:noFill/>
          </p:spPr>
          <p:txBody>
            <a:bodyPr wrap="square" rtlCol="0">
              <a:spAutoFit/>
            </a:bodyPr>
            <a:lstStyle/>
            <a:p>
              <a:r>
                <a:rPr lang="en-US" dirty="0">
                  <a:solidFill>
                    <a:srgbClr val="C00000"/>
                  </a:solidFill>
                </a:rPr>
                <a:t>BBR TCP seeks to operate here - </a:t>
              </a:r>
              <a:r>
                <a:rPr lang="en-US" dirty="0"/>
                <a:t>the pipe is kept just full, but no fuller </a:t>
              </a:r>
              <a:endParaRPr lang="en-US" dirty="0">
                <a:solidFill>
                  <a:srgbClr val="C00000"/>
                </a:solidFill>
              </a:endParaRPr>
            </a:p>
          </p:txBody>
        </p:sp>
        <p:cxnSp>
          <p:nvCxnSpPr>
            <p:cNvPr id="192" name="Straight Connector 191">
              <a:extLst>
                <a:ext uri="{FF2B5EF4-FFF2-40B4-BE49-F238E27FC236}">
                  <a16:creationId xmlns:a16="http://schemas.microsoft.com/office/drawing/2014/main" id="{F9B7B6BA-0AF0-3A0E-5274-1A7920350BA9}"/>
                </a:ext>
              </a:extLst>
            </p:cNvPr>
            <p:cNvCxnSpPr>
              <a:cxnSpLocks/>
            </p:cNvCxnSpPr>
            <p:nvPr/>
          </p:nvCxnSpPr>
          <p:spPr>
            <a:xfrm flipH="1" flipV="1">
              <a:off x="5129212" y="3632890"/>
              <a:ext cx="1707238" cy="85164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446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dissolve">
                                      <p:cBhvr>
                                        <p:cTn id="7" dur="500"/>
                                        <p:tgtEl>
                                          <p:spTgt spid="19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dissolve">
                                      <p:cBhvr>
                                        <p:cTn id="17" dur="500"/>
                                        <p:tgtEl>
                                          <p:spTgt spid="19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7"/>
                                        </p:tgtEl>
                                        <p:attrNameLst>
                                          <p:attrName>style.visibility</p:attrName>
                                        </p:attrNameLst>
                                      </p:cBhvr>
                                      <p:to>
                                        <p:strVal val="visible"/>
                                      </p:to>
                                    </p:set>
                                    <p:animEffect transition="in" filter="dissolve">
                                      <p:cBhvr>
                                        <p:cTn id="22"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0CE51E1-EA01-A1EC-69D0-FC71E00A0048}"/>
              </a:ext>
            </a:extLst>
          </p:cNvPr>
          <p:cNvSpPr>
            <a:spLocks noGrp="1"/>
          </p:cNvSpPr>
          <p:nvPr>
            <p:ph idx="1"/>
          </p:nvPr>
        </p:nvSpPr>
        <p:spPr>
          <a:xfrm>
            <a:off x="812074" y="1577870"/>
            <a:ext cx="10515600" cy="2038076"/>
          </a:xfrm>
        </p:spPr>
        <p:txBody>
          <a:bodyPr/>
          <a:lstStyle/>
          <a:p>
            <a:r>
              <a:rPr lang="en-US" dirty="0"/>
              <a:t>regulates </a:t>
            </a:r>
            <a:r>
              <a:rPr lang="en-US" i="1" dirty="0">
                <a:effectLst/>
              </a:rPr>
              <a:t>n</a:t>
            </a:r>
            <a:r>
              <a:rPr lang="en-US" i="1" baseline="-25000" dirty="0">
                <a:effectLst/>
              </a:rPr>
              <a:t>inflight</a:t>
            </a:r>
            <a:endParaRPr lang="en-US" i="1" dirty="0"/>
          </a:p>
          <a:p>
            <a:r>
              <a:rPr lang="en-US" dirty="0"/>
              <a:t>a</a:t>
            </a:r>
            <a:r>
              <a:rPr lang="en-US" dirty="0">
                <a:effectLst/>
              </a:rPr>
              <a:t>t longer time intervals:</a:t>
            </a:r>
          </a:p>
          <a:p>
            <a:pPr lvl="1"/>
            <a:r>
              <a:rPr lang="en-US" sz="2600" dirty="0">
                <a:effectLst/>
              </a:rPr>
              <a:t>reduces </a:t>
            </a:r>
            <a:r>
              <a:rPr lang="en-US" sz="2600" i="1" dirty="0">
                <a:effectLst/>
              </a:rPr>
              <a:t>n</a:t>
            </a:r>
            <a:r>
              <a:rPr lang="en-US" sz="2600" i="1" baseline="-25000" dirty="0">
                <a:effectLst/>
              </a:rPr>
              <a:t>inflight</a:t>
            </a:r>
            <a:r>
              <a:rPr lang="en-US" sz="2600" dirty="0">
                <a:effectLst/>
              </a:rPr>
              <a:t> to drain pipe, measure new </a:t>
            </a:r>
            <a:r>
              <a:rPr lang="en-US" sz="2600" i="1" dirty="0" err="1">
                <a:effectLst/>
              </a:rPr>
              <a:t>min_RTT</a:t>
            </a:r>
            <a:endParaRPr lang="en-US" sz="2600" i="1" dirty="0">
              <a:effectLst/>
            </a:endParaRPr>
          </a:p>
          <a:p>
            <a:r>
              <a:rPr lang="en-US" dirty="0"/>
              <a:t>at shorter time intervals:</a:t>
            </a:r>
          </a:p>
          <a:p>
            <a:endParaRPr lang="en-US" dirty="0">
              <a:effectLst/>
            </a:endParaRPr>
          </a:p>
          <a:p>
            <a:endParaRPr lang="en-US" dirty="0"/>
          </a:p>
        </p:txBody>
      </p:sp>
      <p:sp>
        <p:nvSpPr>
          <p:cNvPr id="6" name="Title 5">
            <a:extLst>
              <a:ext uri="{FF2B5EF4-FFF2-40B4-BE49-F238E27FC236}">
                <a16:creationId xmlns:a16="http://schemas.microsoft.com/office/drawing/2014/main" id="{0BCA1BA9-619E-731F-C453-AECCC5773870}"/>
              </a:ext>
            </a:extLst>
          </p:cNvPr>
          <p:cNvSpPr>
            <a:spLocks noGrp="1"/>
          </p:cNvSpPr>
          <p:nvPr>
            <p:ph type="title"/>
          </p:nvPr>
        </p:nvSpPr>
        <p:spPr/>
        <p:txBody>
          <a:bodyPr/>
          <a:lstStyle/>
          <a:p>
            <a:r>
              <a:rPr lang="en-US" dirty="0"/>
              <a:t>BBR (Bottleneck Bandwidth and RTT) </a:t>
            </a:r>
          </a:p>
        </p:txBody>
      </p:sp>
      <p:sp>
        <p:nvSpPr>
          <p:cNvPr id="5" name="Slide Number Placeholder 4">
            <a:extLst>
              <a:ext uri="{FF2B5EF4-FFF2-40B4-BE49-F238E27FC236}">
                <a16:creationId xmlns:a16="http://schemas.microsoft.com/office/drawing/2014/main" id="{C603FD0D-0A79-2647-8A94-4AB98F75266F}"/>
              </a:ext>
            </a:extLst>
          </p:cNvPr>
          <p:cNvSpPr>
            <a:spLocks noGrp="1"/>
          </p:cNvSpPr>
          <p:nvPr>
            <p:ph type="sldNum" sz="quarter" idx="4"/>
          </p:nvPr>
        </p:nvSpPr>
        <p:spPr/>
        <p:txBody>
          <a:bodyPr/>
          <a:lstStyle/>
          <a:p>
            <a:r>
              <a:rPr lang="en-US"/>
              <a:t>Transport Layer: 3-</a:t>
            </a:r>
            <a:fld id="{C4204591-24BD-A542-B9D5-F8D8A88D2FEE}" type="slidenum">
              <a:rPr lang="en-US" smtClean="0"/>
              <a:pPr/>
              <a:t>64</a:t>
            </a:fld>
            <a:endParaRPr lang="en-US" dirty="0"/>
          </a:p>
        </p:txBody>
      </p:sp>
      <p:sp>
        <p:nvSpPr>
          <p:cNvPr id="2" name="Content Placeholder 6">
            <a:extLst>
              <a:ext uri="{FF2B5EF4-FFF2-40B4-BE49-F238E27FC236}">
                <a16:creationId xmlns:a16="http://schemas.microsoft.com/office/drawing/2014/main" id="{A1FA5765-E304-9826-AB10-040D554666E4}"/>
              </a:ext>
            </a:extLst>
          </p:cNvPr>
          <p:cNvSpPr txBox="1">
            <a:spLocks/>
          </p:cNvSpPr>
          <p:nvPr/>
        </p:nvSpPr>
        <p:spPr>
          <a:xfrm>
            <a:off x="1157152" y="3615946"/>
            <a:ext cx="9982200" cy="289995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600" i="1" dirty="0">
                <a:solidFill>
                  <a:srgbClr val="0000A3"/>
                </a:solidFill>
              </a:rPr>
              <a:t>a</a:t>
            </a:r>
            <a:r>
              <a:rPr lang="en-US" sz="2600" i="1" dirty="0">
                <a:solidFill>
                  <a:srgbClr val="0000A3"/>
                </a:solidFill>
                <a:effectLst/>
              </a:rPr>
              <a:t>cceleration</a:t>
            </a:r>
            <a:r>
              <a:rPr lang="en-US" sz="2600" i="1" dirty="0">
                <a:solidFill>
                  <a:srgbClr val="0000A3"/>
                </a:solidFill>
              </a:rPr>
              <a:t>:</a:t>
            </a:r>
            <a:r>
              <a:rPr lang="en-US" sz="2600" i="1" dirty="0">
                <a:solidFill>
                  <a:srgbClr val="0000A3"/>
                </a:solidFill>
                <a:effectLst/>
              </a:rPr>
              <a:t> </a:t>
            </a:r>
            <a:r>
              <a:rPr lang="en-US" sz="2600" dirty="0">
                <a:effectLst/>
              </a:rPr>
              <a:t>increases  sending rate, n</a:t>
            </a:r>
            <a:r>
              <a:rPr lang="en-US" sz="2600" baseline="-25000" dirty="0">
                <a:effectLst/>
              </a:rPr>
              <a:t>inflight</a:t>
            </a:r>
            <a:r>
              <a:rPr lang="en-US" sz="2600" dirty="0">
                <a:effectLst/>
              </a:rPr>
              <a:t>, until</a:t>
            </a:r>
            <a:r>
              <a:rPr lang="en-US" sz="2600" dirty="0"/>
              <a:t> </a:t>
            </a:r>
            <a:r>
              <a:rPr lang="en-US" sz="2600" dirty="0">
                <a:effectLst/>
              </a:rPr>
              <a:t>reaches throughput plateau, </a:t>
            </a:r>
            <a:r>
              <a:rPr lang="en-US" sz="2600" dirty="0"/>
              <a:t>(</a:t>
            </a:r>
            <a:r>
              <a:rPr lang="en-US" sz="2600" dirty="0">
                <a:effectLst/>
              </a:rPr>
              <a:t>saturating available per-flow link capacity)</a:t>
            </a:r>
          </a:p>
          <a:p>
            <a:pPr>
              <a:buFont typeface="Arial" panose="020B0604020202020204" pitchFamily="34" charset="0"/>
              <a:buChar char="•"/>
            </a:pPr>
            <a:r>
              <a:rPr lang="en-US" sz="2600" i="1" dirty="0">
                <a:solidFill>
                  <a:srgbClr val="0000A3"/>
                </a:solidFill>
              </a:rPr>
              <a:t>c</a:t>
            </a:r>
            <a:r>
              <a:rPr lang="en-US" sz="2600" i="1" dirty="0">
                <a:solidFill>
                  <a:srgbClr val="0000A3"/>
                </a:solidFill>
                <a:effectLst/>
              </a:rPr>
              <a:t>ruising: </a:t>
            </a:r>
            <a:r>
              <a:rPr lang="en-US" sz="2600" dirty="0">
                <a:effectLst/>
              </a:rPr>
              <a:t>sends at the rate that network is delivering data, as evidenced through received ACKs.</a:t>
            </a:r>
          </a:p>
          <a:p>
            <a:pPr>
              <a:buFont typeface="Arial" panose="020B0604020202020204" pitchFamily="34" charset="0"/>
              <a:buChar char="•"/>
            </a:pPr>
            <a:r>
              <a:rPr lang="en-US" sz="2600" i="1" dirty="0">
                <a:solidFill>
                  <a:srgbClr val="0000A3"/>
                </a:solidFill>
                <a:effectLst/>
              </a:rPr>
              <a:t>deceleration: </a:t>
            </a:r>
            <a:r>
              <a:rPr lang="en-US" sz="2600" dirty="0">
                <a:effectLst/>
              </a:rPr>
              <a:t>purposefully reduces n</a:t>
            </a:r>
            <a:r>
              <a:rPr lang="en-US" sz="2600" baseline="-25000" dirty="0">
                <a:effectLst/>
              </a:rPr>
              <a:t>inflight</a:t>
            </a:r>
            <a:r>
              <a:rPr lang="en-US" sz="2600" dirty="0">
                <a:effectLst/>
              </a:rPr>
              <a:t>, decreasing queue pressure, looking for lower </a:t>
            </a:r>
            <a:r>
              <a:rPr lang="en-US" sz="2600" i="1" dirty="0" err="1">
                <a:effectLst/>
              </a:rPr>
              <a:t>min_RTT</a:t>
            </a:r>
            <a:endParaRPr lang="en-US" sz="2600" i="1" dirty="0">
              <a:effectLst/>
            </a:endParaRPr>
          </a:p>
          <a:p>
            <a:endParaRPr lang="en-US" dirty="0"/>
          </a:p>
          <a:p>
            <a:endParaRPr lang="en-US" dirty="0"/>
          </a:p>
          <a:p>
            <a:endParaRPr lang="en-US" dirty="0"/>
          </a:p>
        </p:txBody>
      </p:sp>
    </p:spTree>
    <p:extLst>
      <p:ext uri="{BB962C8B-B14F-4D97-AF65-F5344CB8AC3E}">
        <p14:creationId xmlns:p14="http://schemas.microsoft.com/office/powerpoint/2010/main" val="43570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dissolve">
                                      <p:cBhvr>
                                        <p:cTn id="7" dur="500"/>
                                        <p:tgtEl>
                                          <p:spTgt spid="7">
                                            <p:txEl>
                                              <p:pRg st="3" end="3"/>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60590" y="272143"/>
            <a:ext cx="11393310" cy="894622"/>
          </a:xfrm>
        </p:spPr>
        <p:txBody>
          <a:bodyPr>
            <a:normAutofit/>
          </a:bodyPr>
          <a:lstStyle/>
          <a:p>
            <a:r>
              <a:rPr lang="en-US" sz="4800" dirty="0"/>
              <a:t>Delay-based TCP </a:t>
            </a:r>
            <a:r>
              <a:rPr lang="en-US" dirty="0"/>
              <a:t>c</a:t>
            </a:r>
            <a:r>
              <a:rPr lang="en-US" sz="4400" dirty="0"/>
              <a:t>ongestion </a:t>
            </a:r>
            <a:r>
              <a:rPr lang="en-US" dirty="0"/>
              <a:t>c</a:t>
            </a:r>
            <a:r>
              <a:rPr lang="en-US" sz="4400" dirty="0"/>
              <a:t>ontrol</a:t>
            </a:r>
            <a:endParaRPr lang="en-US" sz="4400" b="0" dirty="0"/>
          </a:p>
        </p:txBody>
      </p:sp>
      <p:sp>
        <p:nvSpPr>
          <p:cNvPr id="249" name="Rectangle 4">
            <a:extLst>
              <a:ext uri="{FF2B5EF4-FFF2-40B4-BE49-F238E27FC236}">
                <a16:creationId xmlns:a16="http://schemas.microsoft.com/office/drawing/2014/main" id="{985D8E1D-0F80-2441-BBBC-06CCE2583918}"/>
              </a:ext>
            </a:extLst>
          </p:cNvPr>
          <p:cNvSpPr txBox="1">
            <a:spLocks noChangeArrowheads="1"/>
          </p:cNvSpPr>
          <p:nvPr/>
        </p:nvSpPr>
        <p:spPr>
          <a:xfrm>
            <a:off x="574392" y="1614177"/>
            <a:ext cx="11388423" cy="21907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3875" marR="0" lvl="0" indent="-28257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congestion control without inducing/forcing loss</a:t>
            </a:r>
          </a:p>
          <a:p>
            <a:pPr marL="523875" marR="0" lvl="0" indent="-28257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maximizing throughout (“keeping the pipe just full… ”) while keeping delay low (“…but not fuller”)</a:t>
            </a:r>
          </a:p>
        </p:txBody>
      </p:sp>
      <p:sp>
        <p:nvSpPr>
          <p:cNvPr id="5" name="Rectangle 4">
            <a:extLst>
              <a:ext uri="{FF2B5EF4-FFF2-40B4-BE49-F238E27FC236}">
                <a16:creationId xmlns:a16="http://schemas.microsoft.com/office/drawing/2014/main" id="{F758D649-2F31-494F-B74A-CEF30A4B3B0E}"/>
              </a:ext>
            </a:extLst>
          </p:cNvPr>
          <p:cNvSpPr txBox="1">
            <a:spLocks noChangeArrowheads="1"/>
          </p:cNvSpPr>
          <p:nvPr/>
        </p:nvSpPr>
        <p:spPr>
          <a:xfrm>
            <a:off x="561692" y="2960377"/>
            <a:ext cx="11388423" cy="219075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3875" marR="0" lvl="0" indent="-28257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 number of deployed TCPs take a delay-based approach</a:t>
            </a:r>
          </a:p>
          <a:p>
            <a:pPr marL="866775" marR="0" lvl="1" indent="-282575"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BBR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deployed on Google’s (internal) backbone network</a:t>
            </a:r>
          </a:p>
        </p:txBody>
      </p:sp>
      <p:sp>
        <p:nvSpPr>
          <p:cNvPr id="6" name="Slide Number Placeholder 2">
            <a:extLst>
              <a:ext uri="{FF2B5EF4-FFF2-40B4-BE49-F238E27FC236}">
                <a16:creationId xmlns:a16="http://schemas.microsoft.com/office/drawing/2014/main" id="{5CA7437E-E0FF-0640-BE1C-5EF5D43C1DD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65</a:t>
            </a:fld>
            <a:endParaRPr lang="en-US" dirty="0"/>
          </a:p>
        </p:txBody>
      </p:sp>
    </p:spTree>
    <p:extLst>
      <p:ext uri="{BB962C8B-B14F-4D97-AF65-F5344CB8AC3E}">
        <p14:creationId xmlns:p14="http://schemas.microsoft.com/office/powerpoint/2010/main" val="417127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3" name="Group 232">
            <a:extLst>
              <a:ext uri="{FF2B5EF4-FFF2-40B4-BE49-F238E27FC236}">
                <a16:creationId xmlns:a16="http://schemas.microsoft.com/office/drawing/2014/main" id="{6307814C-A578-6844-80F3-3EBEBD46801B}"/>
              </a:ext>
            </a:extLst>
          </p:cNvPr>
          <p:cNvGrpSpPr/>
          <p:nvPr/>
        </p:nvGrpSpPr>
        <p:grpSpPr>
          <a:xfrm>
            <a:off x="2250281" y="3864630"/>
            <a:ext cx="7691437" cy="2578459"/>
            <a:chOff x="2151063" y="3594045"/>
            <a:chExt cx="7691437" cy="2578459"/>
          </a:xfrm>
        </p:grpSpPr>
        <p:sp>
          <p:nvSpPr>
            <p:cNvPr id="234" name="Freeform 2">
              <a:extLst>
                <a:ext uri="{FF2B5EF4-FFF2-40B4-BE49-F238E27FC236}">
                  <a16:creationId xmlns:a16="http://schemas.microsoft.com/office/drawing/2014/main" id="{90AEE0A7-8DFE-E54C-9D65-202740436377}"/>
                </a:ext>
              </a:extLst>
            </p:cNvPr>
            <p:cNvSpPr>
              <a:spLocks/>
            </p:cNvSpPr>
            <p:nvPr/>
          </p:nvSpPr>
          <p:spPr bwMode="auto">
            <a:xfrm>
              <a:off x="4129957" y="4691367"/>
              <a:ext cx="2849563" cy="1481137"/>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9CDFF9"/>
            </a:solidFill>
            <a:ln>
              <a:noFill/>
            </a:ln>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35" name="Group 234">
              <a:extLst>
                <a:ext uri="{FF2B5EF4-FFF2-40B4-BE49-F238E27FC236}">
                  <a16:creationId xmlns:a16="http://schemas.microsoft.com/office/drawing/2014/main" id="{DE5C1FE8-8C99-9941-8BE3-939EFFCAAAB0}"/>
                </a:ext>
              </a:extLst>
            </p:cNvPr>
            <p:cNvGrpSpPr/>
            <p:nvPr/>
          </p:nvGrpSpPr>
          <p:grpSpPr>
            <a:xfrm>
              <a:off x="5035264" y="5554092"/>
              <a:ext cx="496248" cy="260542"/>
              <a:chOff x="7141236" y="6068702"/>
              <a:chExt cx="496248" cy="260542"/>
            </a:xfrm>
          </p:grpSpPr>
          <p:sp>
            <p:nvSpPr>
              <p:cNvPr id="397" name="Freeform 396">
                <a:extLst>
                  <a:ext uri="{FF2B5EF4-FFF2-40B4-BE49-F238E27FC236}">
                    <a16:creationId xmlns:a16="http://schemas.microsoft.com/office/drawing/2014/main" id="{39D330E3-C044-054C-869F-09C6BD03FF36}"/>
                  </a:ext>
                </a:extLst>
              </p:cNvPr>
              <p:cNvSpPr/>
              <p:nvPr/>
            </p:nvSpPr>
            <p:spPr>
              <a:xfrm>
                <a:off x="7141236" y="6158887"/>
                <a:ext cx="496248" cy="170357"/>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E40000"/>
                  </a:gs>
                  <a:gs pos="21000">
                    <a:schemeClr val="bg1"/>
                  </a:gs>
                  <a:gs pos="51000">
                    <a:srgbClr val="ED356A"/>
                  </a:gs>
                  <a:gs pos="100000">
                    <a:srgbClr val="E40000"/>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98" name="Oval 397">
                <a:extLst>
                  <a:ext uri="{FF2B5EF4-FFF2-40B4-BE49-F238E27FC236}">
                    <a16:creationId xmlns:a16="http://schemas.microsoft.com/office/drawing/2014/main" id="{34A677DD-14B8-B54F-8E7D-FB60B9C560A6}"/>
                  </a:ext>
                </a:extLst>
              </p:cNvPr>
              <p:cNvSpPr/>
              <p:nvPr/>
            </p:nvSpPr>
            <p:spPr>
              <a:xfrm>
                <a:off x="7141522" y="6068702"/>
                <a:ext cx="495647" cy="168664"/>
              </a:xfrm>
              <a:prstGeom prst="ellipse">
                <a:avLst/>
              </a:prstGeom>
              <a:solidFill>
                <a:srgbClr val="FA37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99" name="Group 398">
                <a:extLst>
                  <a:ext uri="{FF2B5EF4-FFF2-40B4-BE49-F238E27FC236}">
                    <a16:creationId xmlns:a16="http://schemas.microsoft.com/office/drawing/2014/main" id="{4E85C207-060D-3D49-8660-980FC224A927}"/>
                  </a:ext>
                </a:extLst>
              </p:cNvPr>
              <p:cNvGrpSpPr/>
              <p:nvPr/>
            </p:nvGrpSpPr>
            <p:grpSpPr>
              <a:xfrm>
                <a:off x="7214834" y="6090139"/>
                <a:ext cx="348960" cy="123931"/>
                <a:chOff x="7786941" y="2884917"/>
                <a:chExt cx="897649" cy="353919"/>
              </a:xfrm>
            </p:grpSpPr>
            <p:sp>
              <p:nvSpPr>
                <p:cNvPr id="400" name="Freeform 399">
                  <a:extLst>
                    <a:ext uri="{FF2B5EF4-FFF2-40B4-BE49-F238E27FC236}">
                      <a16:creationId xmlns:a16="http://schemas.microsoft.com/office/drawing/2014/main" id="{5219831F-5533-2C48-AC8A-F1612725666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1" name="Freeform 400">
                  <a:extLst>
                    <a:ext uri="{FF2B5EF4-FFF2-40B4-BE49-F238E27FC236}">
                      <a16:creationId xmlns:a16="http://schemas.microsoft.com/office/drawing/2014/main" id="{3FA22E6E-25E2-8444-A94B-B9F8F9AED72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2" name="Freeform 401">
                  <a:extLst>
                    <a:ext uri="{FF2B5EF4-FFF2-40B4-BE49-F238E27FC236}">
                      <a16:creationId xmlns:a16="http://schemas.microsoft.com/office/drawing/2014/main" id="{F7747A7C-8EA9-6C48-8F13-A0694FF961E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E4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3" name="Freeform 402">
                  <a:extLst>
                    <a:ext uri="{FF2B5EF4-FFF2-40B4-BE49-F238E27FC236}">
                      <a16:creationId xmlns:a16="http://schemas.microsoft.com/office/drawing/2014/main" id="{AE551E9F-7776-7F4E-AA8D-EB09AE1181A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6" name="Group 235">
              <a:extLst>
                <a:ext uri="{FF2B5EF4-FFF2-40B4-BE49-F238E27FC236}">
                  <a16:creationId xmlns:a16="http://schemas.microsoft.com/office/drawing/2014/main" id="{6E5418A9-37BD-EC47-B574-97E826D7250C}"/>
                </a:ext>
              </a:extLst>
            </p:cNvPr>
            <p:cNvGrpSpPr/>
            <p:nvPr/>
          </p:nvGrpSpPr>
          <p:grpSpPr>
            <a:xfrm>
              <a:off x="6131364" y="5156690"/>
              <a:ext cx="496248" cy="260542"/>
              <a:chOff x="7493876" y="2774731"/>
              <a:chExt cx="1481958" cy="894622"/>
            </a:xfrm>
          </p:grpSpPr>
          <p:sp>
            <p:nvSpPr>
              <p:cNvPr id="390" name="Freeform 389">
                <a:extLst>
                  <a:ext uri="{FF2B5EF4-FFF2-40B4-BE49-F238E27FC236}">
                    <a16:creationId xmlns:a16="http://schemas.microsoft.com/office/drawing/2014/main" id="{F5B5A25A-2C95-5B4C-8FB7-F605783EFA4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91" name="Oval 390">
                <a:extLst>
                  <a:ext uri="{FF2B5EF4-FFF2-40B4-BE49-F238E27FC236}">
                    <a16:creationId xmlns:a16="http://schemas.microsoft.com/office/drawing/2014/main" id="{2CA4169C-067D-4A49-A081-369DAD0C224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92" name="Group 391">
                <a:extLst>
                  <a:ext uri="{FF2B5EF4-FFF2-40B4-BE49-F238E27FC236}">
                    <a16:creationId xmlns:a16="http://schemas.microsoft.com/office/drawing/2014/main" id="{50519048-C46F-D546-9050-61CEAF77017E}"/>
                  </a:ext>
                </a:extLst>
              </p:cNvPr>
              <p:cNvGrpSpPr/>
              <p:nvPr/>
            </p:nvGrpSpPr>
            <p:grpSpPr>
              <a:xfrm>
                <a:off x="7713663" y="2848339"/>
                <a:ext cx="1042107" cy="425543"/>
                <a:chOff x="7786941" y="2884917"/>
                <a:chExt cx="897649" cy="353919"/>
              </a:xfrm>
            </p:grpSpPr>
            <p:sp>
              <p:nvSpPr>
                <p:cNvPr id="393" name="Freeform 392">
                  <a:extLst>
                    <a:ext uri="{FF2B5EF4-FFF2-40B4-BE49-F238E27FC236}">
                      <a16:creationId xmlns:a16="http://schemas.microsoft.com/office/drawing/2014/main" id="{49DCBD6C-E987-154F-AD91-DB2A356012F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4" name="Freeform 393">
                  <a:extLst>
                    <a:ext uri="{FF2B5EF4-FFF2-40B4-BE49-F238E27FC236}">
                      <a16:creationId xmlns:a16="http://schemas.microsoft.com/office/drawing/2014/main" id="{14404909-E9A6-8C4B-9B51-D2EE4A4B84F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5" name="Freeform 394">
                  <a:extLst>
                    <a:ext uri="{FF2B5EF4-FFF2-40B4-BE49-F238E27FC236}">
                      <a16:creationId xmlns:a16="http://schemas.microsoft.com/office/drawing/2014/main" id="{292519AF-5EB3-DF4F-982E-EC0AA7D01C2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6" name="Freeform 395">
                  <a:extLst>
                    <a:ext uri="{FF2B5EF4-FFF2-40B4-BE49-F238E27FC236}">
                      <a16:creationId xmlns:a16="http://schemas.microsoft.com/office/drawing/2014/main" id="{EB30AB85-DF1C-CD4E-AD52-9098D09C7CE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7" name="Group 236">
              <a:extLst>
                <a:ext uri="{FF2B5EF4-FFF2-40B4-BE49-F238E27FC236}">
                  <a16:creationId xmlns:a16="http://schemas.microsoft.com/office/drawing/2014/main" id="{98728E54-1D17-4D45-A363-F346E81E05F7}"/>
                </a:ext>
              </a:extLst>
            </p:cNvPr>
            <p:cNvGrpSpPr/>
            <p:nvPr/>
          </p:nvGrpSpPr>
          <p:grpSpPr>
            <a:xfrm>
              <a:off x="5122533" y="4861037"/>
              <a:ext cx="496248" cy="260542"/>
              <a:chOff x="7493876" y="2774731"/>
              <a:chExt cx="1481958" cy="894622"/>
            </a:xfrm>
          </p:grpSpPr>
          <p:sp>
            <p:nvSpPr>
              <p:cNvPr id="383" name="Freeform 382">
                <a:extLst>
                  <a:ext uri="{FF2B5EF4-FFF2-40B4-BE49-F238E27FC236}">
                    <a16:creationId xmlns:a16="http://schemas.microsoft.com/office/drawing/2014/main" id="{CE4775B1-C508-CF42-AEA5-07A2A815F68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84" name="Oval 383">
                <a:extLst>
                  <a:ext uri="{FF2B5EF4-FFF2-40B4-BE49-F238E27FC236}">
                    <a16:creationId xmlns:a16="http://schemas.microsoft.com/office/drawing/2014/main" id="{92C69B4D-7678-184E-A724-7AD76CCE85E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85" name="Group 384">
                <a:extLst>
                  <a:ext uri="{FF2B5EF4-FFF2-40B4-BE49-F238E27FC236}">
                    <a16:creationId xmlns:a16="http://schemas.microsoft.com/office/drawing/2014/main" id="{0E43C550-6DB2-3343-9C12-122696B8D873}"/>
                  </a:ext>
                </a:extLst>
              </p:cNvPr>
              <p:cNvGrpSpPr/>
              <p:nvPr/>
            </p:nvGrpSpPr>
            <p:grpSpPr>
              <a:xfrm>
                <a:off x="7713663" y="2848339"/>
                <a:ext cx="1042107" cy="425543"/>
                <a:chOff x="7786941" y="2884917"/>
                <a:chExt cx="897649" cy="353919"/>
              </a:xfrm>
            </p:grpSpPr>
            <p:sp>
              <p:nvSpPr>
                <p:cNvPr id="386" name="Freeform 385">
                  <a:extLst>
                    <a:ext uri="{FF2B5EF4-FFF2-40B4-BE49-F238E27FC236}">
                      <a16:creationId xmlns:a16="http://schemas.microsoft.com/office/drawing/2014/main" id="{1D2E27C1-1C8A-FE4C-9AED-47BBDC59C58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7" name="Freeform 386">
                  <a:extLst>
                    <a:ext uri="{FF2B5EF4-FFF2-40B4-BE49-F238E27FC236}">
                      <a16:creationId xmlns:a16="http://schemas.microsoft.com/office/drawing/2014/main" id="{4EEDA6B4-A3DC-D842-8F1F-A5E715D2B79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8" name="Freeform 387">
                  <a:extLst>
                    <a:ext uri="{FF2B5EF4-FFF2-40B4-BE49-F238E27FC236}">
                      <a16:creationId xmlns:a16="http://schemas.microsoft.com/office/drawing/2014/main" id="{ED38D75D-6112-D540-88E9-E2A095CC44F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9" name="Freeform 388">
                  <a:extLst>
                    <a:ext uri="{FF2B5EF4-FFF2-40B4-BE49-F238E27FC236}">
                      <a16:creationId xmlns:a16="http://schemas.microsoft.com/office/drawing/2014/main" id="{33E74EAF-39D5-314C-B4A9-A9073DB5D35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8" name="Group 237">
              <a:extLst>
                <a:ext uri="{FF2B5EF4-FFF2-40B4-BE49-F238E27FC236}">
                  <a16:creationId xmlns:a16="http://schemas.microsoft.com/office/drawing/2014/main" id="{F485FA0C-AC91-3E4D-AA1D-2D248BAC624D}"/>
                </a:ext>
              </a:extLst>
            </p:cNvPr>
            <p:cNvGrpSpPr/>
            <p:nvPr/>
          </p:nvGrpSpPr>
          <p:grpSpPr>
            <a:xfrm>
              <a:off x="4450588" y="5823254"/>
              <a:ext cx="496248" cy="260542"/>
              <a:chOff x="7493876" y="2774731"/>
              <a:chExt cx="1481958" cy="894622"/>
            </a:xfrm>
          </p:grpSpPr>
          <p:sp>
            <p:nvSpPr>
              <p:cNvPr id="376" name="Freeform 375">
                <a:extLst>
                  <a:ext uri="{FF2B5EF4-FFF2-40B4-BE49-F238E27FC236}">
                    <a16:creationId xmlns:a16="http://schemas.microsoft.com/office/drawing/2014/main" id="{237EDD32-5C1C-FD4C-8E41-6323EE48F96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77" name="Oval 376">
                <a:extLst>
                  <a:ext uri="{FF2B5EF4-FFF2-40B4-BE49-F238E27FC236}">
                    <a16:creationId xmlns:a16="http://schemas.microsoft.com/office/drawing/2014/main" id="{3AA2CC76-F113-C14C-984F-346FA0D1B8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78" name="Group 377">
                <a:extLst>
                  <a:ext uri="{FF2B5EF4-FFF2-40B4-BE49-F238E27FC236}">
                    <a16:creationId xmlns:a16="http://schemas.microsoft.com/office/drawing/2014/main" id="{7E39A53A-6A4C-9447-8041-9F0D2A00ED0E}"/>
                  </a:ext>
                </a:extLst>
              </p:cNvPr>
              <p:cNvGrpSpPr/>
              <p:nvPr/>
            </p:nvGrpSpPr>
            <p:grpSpPr>
              <a:xfrm>
                <a:off x="7713663" y="2848339"/>
                <a:ext cx="1042107" cy="425543"/>
                <a:chOff x="7786941" y="2884917"/>
                <a:chExt cx="897649" cy="353919"/>
              </a:xfrm>
            </p:grpSpPr>
            <p:sp>
              <p:nvSpPr>
                <p:cNvPr id="379" name="Freeform 378">
                  <a:extLst>
                    <a:ext uri="{FF2B5EF4-FFF2-40B4-BE49-F238E27FC236}">
                      <a16:creationId xmlns:a16="http://schemas.microsoft.com/office/drawing/2014/main" id="{FD65F441-AFFF-784A-9E7E-A12401A5055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0" name="Freeform 379">
                  <a:extLst>
                    <a:ext uri="{FF2B5EF4-FFF2-40B4-BE49-F238E27FC236}">
                      <a16:creationId xmlns:a16="http://schemas.microsoft.com/office/drawing/2014/main" id="{BDC2E7FE-33B7-6444-B08B-904F22DE214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1" name="Freeform 380">
                  <a:extLst>
                    <a:ext uri="{FF2B5EF4-FFF2-40B4-BE49-F238E27FC236}">
                      <a16:creationId xmlns:a16="http://schemas.microsoft.com/office/drawing/2014/main" id="{41F78A03-BAD1-9143-B9CC-1AB179094EB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2" name="Freeform 381">
                  <a:extLst>
                    <a:ext uri="{FF2B5EF4-FFF2-40B4-BE49-F238E27FC236}">
                      <a16:creationId xmlns:a16="http://schemas.microsoft.com/office/drawing/2014/main" id="{64595B59-938C-5946-9606-2F6D25849D5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9" name="Group 238">
              <a:extLst>
                <a:ext uri="{FF2B5EF4-FFF2-40B4-BE49-F238E27FC236}">
                  <a16:creationId xmlns:a16="http://schemas.microsoft.com/office/drawing/2014/main" id="{9DABF91B-74EC-F349-B2CC-4C1F22F9D513}"/>
                </a:ext>
              </a:extLst>
            </p:cNvPr>
            <p:cNvGrpSpPr/>
            <p:nvPr/>
          </p:nvGrpSpPr>
          <p:grpSpPr>
            <a:xfrm>
              <a:off x="4094463" y="5164346"/>
              <a:ext cx="496248" cy="260542"/>
              <a:chOff x="7493876" y="2774731"/>
              <a:chExt cx="1481958" cy="894622"/>
            </a:xfrm>
          </p:grpSpPr>
          <p:sp>
            <p:nvSpPr>
              <p:cNvPr id="369" name="Freeform 368">
                <a:extLst>
                  <a:ext uri="{FF2B5EF4-FFF2-40B4-BE49-F238E27FC236}">
                    <a16:creationId xmlns:a16="http://schemas.microsoft.com/office/drawing/2014/main" id="{BDEA1EA3-F38A-6B4E-B686-E5B780B4664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70" name="Oval 369">
                <a:extLst>
                  <a:ext uri="{FF2B5EF4-FFF2-40B4-BE49-F238E27FC236}">
                    <a16:creationId xmlns:a16="http://schemas.microsoft.com/office/drawing/2014/main" id="{40277417-D775-4543-81D3-CBD8429CBC9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71" name="Group 370">
                <a:extLst>
                  <a:ext uri="{FF2B5EF4-FFF2-40B4-BE49-F238E27FC236}">
                    <a16:creationId xmlns:a16="http://schemas.microsoft.com/office/drawing/2014/main" id="{12C08043-1778-D344-B495-58F751C8DA7E}"/>
                  </a:ext>
                </a:extLst>
              </p:cNvPr>
              <p:cNvGrpSpPr/>
              <p:nvPr/>
            </p:nvGrpSpPr>
            <p:grpSpPr>
              <a:xfrm>
                <a:off x="7713663" y="2848339"/>
                <a:ext cx="1042107" cy="425543"/>
                <a:chOff x="7786941" y="2884917"/>
                <a:chExt cx="897649" cy="353919"/>
              </a:xfrm>
            </p:grpSpPr>
            <p:sp>
              <p:nvSpPr>
                <p:cNvPr id="372" name="Freeform 371">
                  <a:extLst>
                    <a:ext uri="{FF2B5EF4-FFF2-40B4-BE49-F238E27FC236}">
                      <a16:creationId xmlns:a16="http://schemas.microsoft.com/office/drawing/2014/main" id="{AF8DCC46-AFF6-0D40-AA78-E93A5D6A57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3" name="Freeform 372">
                  <a:extLst>
                    <a:ext uri="{FF2B5EF4-FFF2-40B4-BE49-F238E27FC236}">
                      <a16:creationId xmlns:a16="http://schemas.microsoft.com/office/drawing/2014/main" id="{42D06E2B-58AF-804D-B3AC-A51B2995006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4" name="Freeform 373">
                  <a:extLst>
                    <a:ext uri="{FF2B5EF4-FFF2-40B4-BE49-F238E27FC236}">
                      <a16:creationId xmlns:a16="http://schemas.microsoft.com/office/drawing/2014/main" id="{C85306DF-5055-4A49-A2D5-B311428D9DA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5" name="Freeform 374">
                  <a:extLst>
                    <a:ext uri="{FF2B5EF4-FFF2-40B4-BE49-F238E27FC236}">
                      <a16:creationId xmlns:a16="http://schemas.microsoft.com/office/drawing/2014/main" id="{6886B3FF-5963-1C43-9ED1-FAFD9E75F4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40" name="Text Box 8">
              <a:extLst>
                <a:ext uri="{FF2B5EF4-FFF2-40B4-BE49-F238E27FC236}">
                  <a16:creationId xmlns:a16="http://schemas.microsoft.com/office/drawing/2014/main" id="{CA617F7E-E61C-4A43-A504-B5C466B5B3B7}"/>
                </a:ext>
              </a:extLst>
            </p:cNvPr>
            <p:cNvSpPr txBox="1">
              <a:spLocks noChangeArrowheads="1"/>
            </p:cNvSpPr>
            <p:nvPr/>
          </p:nvSpPr>
          <p:spPr bwMode="auto">
            <a:xfrm>
              <a:off x="3019425" y="3594045"/>
              <a:ext cx="711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source</a:t>
              </a:r>
              <a:endParaRPr kumimoji="0" lang="en-US" altLang="en-US" sz="2000" b="0" i="1" u="none" strike="noStrike" kern="120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endParaRPr>
            </a:p>
          </p:txBody>
        </p:sp>
        <p:sp>
          <p:nvSpPr>
            <p:cNvPr id="241" name="Freeform 10">
              <a:extLst>
                <a:ext uri="{FF2B5EF4-FFF2-40B4-BE49-F238E27FC236}">
                  <a16:creationId xmlns:a16="http://schemas.microsoft.com/office/drawing/2014/main" id="{0F2A6D6D-FD54-8441-8EE4-93E3032F7331}"/>
                </a:ext>
              </a:extLst>
            </p:cNvPr>
            <p:cNvSpPr>
              <a:spLocks/>
            </p:cNvSpPr>
            <p:nvPr/>
          </p:nvSpPr>
          <p:spPr bwMode="auto">
            <a:xfrm flipH="1">
              <a:off x="2481263" y="3925832"/>
              <a:ext cx="326408" cy="1262816"/>
            </a:xfrm>
            <a:custGeom>
              <a:avLst/>
              <a:gdLst>
                <a:gd name="T0" fmla="*/ 2147483647 w 12213"/>
                <a:gd name="T1" fmla="*/ 2147483647 h 10000"/>
                <a:gd name="T2" fmla="*/ 0 w 12213"/>
                <a:gd name="T3" fmla="*/ 0 h 10000"/>
                <a:gd name="T4" fmla="*/ 0 w 12213"/>
                <a:gd name="T5" fmla="*/ 2147483647 h 10000"/>
                <a:gd name="T6" fmla="*/ 2147483647 w 12213"/>
                <a:gd name="T7" fmla="*/ 2147483647 h 10000"/>
                <a:gd name="T8" fmla="*/ 2147483647 w 12213"/>
                <a:gd name="T9" fmla="*/ 2147483647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2" name="Rectangle 23">
              <a:extLst>
                <a:ext uri="{FF2B5EF4-FFF2-40B4-BE49-F238E27FC236}">
                  <a16:creationId xmlns:a16="http://schemas.microsoft.com/office/drawing/2014/main" id="{DC6E8990-AF84-814A-9D80-6AD45A37499C}"/>
                </a:ext>
              </a:extLst>
            </p:cNvPr>
            <p:cNvSpPr>
              <a:spLocks noChangeArrowheads="1"/>
            </p:cNvSpPr>
            <p:nvPr/>
          </p:nvSpPr>
          <p:spPr bwMode="auto">
            <a:xfrm>
              <a:off x="2854326" y="3909956"/>
              <a:ext cx="1062368" cy="129063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3" name="Rectangle 24">
              <a:extLst>
                <a:ext uri="{FF2B5EF4-FFF2-40B4-BE49-F238E27FC236}">
                  <a16:creationId xmlns:a16="http://schemas.microsoft.com/office/drawing/2014/main" id="{95E55C84-C49E-3943-9F63-9BEC1F22570E}"/>
                </a:ext>
              </a:extLst>
            </p:cNvPr>
            <p:cNvSpPr>
              <a:spLocks noChangeArrowheads="1"/>
            </p:cNvSpPr>
            <p:nvPr/>
          </p:nvSpPr>
          <p:spPr bwMode="auto">
            <a:xfrm>
              <a:off x="2814638" y="3949645"/>
              <a:ext cx="1066800" cy="123190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4" name="Line 25">
              <a:extLst>
                <a:ext uri="{FF2B5EF4-FFF2-40B4-BE49-F238E27FC236}">
                  <a16:creationId xmlns:a16="http://schemas.microsoft.com/office/drawing/2014/main" id="{CCF93ADE-A301-C143-8C67-E051B1982D1A}"/>
                </a:ext>
              </a:extLst>
            </p:cNvPr>
            <p:cNvSpPr>
              <a:spLocks noChangeShapeType="1"/>
            </p:cNvSpPr>
            <p:nvPr/>
          </p:nvSpPr>
          <p:spPr bwMode="auto">
            <a:xfrm>
              <a:off x="2814638" y="422745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5" name="Text Box 26">
              <a:extLst>
                <a:ext uri="{FF2B5EF4-FFF2-40B4-BE49-F238E27FC236}">
                  <a16:creationId xmlns:a16="http://schemas.microsoft.com/office/drawing/2014/main" id="{42EB455E-53D5-394F-8D6D-3CD680F09514}"/>
                </a:ext>
              </a:extLst>
            </p:cNvPr>
            <p:cNvSpPr txBox="1">
              <a:spLocks noChangeArrowheads="1"/>
            </p:cNvSpPr>
            <p:nvPr/>
          </p:nvSpPr>
          <p:spPr bwMode="auto">
            <a:xfrm>
              <a:off x="2773604" y="3957054"/>
              <a:ext cx="1104900" cy="1274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246" name="Group 190">
              <a:extLst>
                <a:ext uri="{FF2B5EF4-FFF2-40B4-BE49-F238E27FC236}">
                  <a16:creationId xmlns:a16="http://schemas.microsoft.com/office/drawing/2014/main" id="{8BA07847-1FE2-924D-A5E8-177866F607CF}"/>
                </a:ext>
              </a:extLst>
            </p:cNvPr>
            <p:cNvGrpSpPr>
              <a:grpSpLocks/>
            </p:cNvGrpSpPr>
            <p:nvPr/>
          </p:nvGrpSpPr>
          <p:grpSpPr bwMode="auto">
            <a:xfrm flipH="1">
              <a:off x="2151063" y="4424307"/>
              <a:ext cx="673100" cy="701675"/>
              <a:chOff x="-44" y="1473"/>
              <a:chExt cx="981" cy="1105"/>
            </a:xfrm>
          </p:grpSpPr>
          <p:pic>
            <p:nvPicPr>
              <p:cNvPr id="367" name="Picture 191" descr="desktop_computer_stylized_medium">
                <a:extLst>
                  <a:ext uri="{FF2B5EF4-FFF2-40B4-BE49-F238E27FC236}">
                    <a16:creationId xmlns:a16="http://schemas.microsoft.com/office/drawing/2014/main" id="{D956BEE7-202E-E34B-AB91-3BD63A623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 name="Freeform 192">
                <a:extLst>
                  <a:ext uri="{FF2B5EF4-FFF2-40B4-BE49-F238E27FC236}">
                    <a16:creationId xmlns:a16="http://schemas.microsoft.com/office/drawing/2014/main" id="{F17D9F48-C0E3-0D40-9073-0128DAB7053E}"/>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47" name="Line 25">
              <a:extLst>
                <a:ext uri="{FF2B5EF4-FFF2-40B4-BE49-F238E27FC236}">
                  <a16:creationId xmlns:a16="http://schemas.microsoft.com/office/drawing/2014/main" id="{74193E7E-ABF4-AB48-B6B3-AD7103E05A80}"/>
                </a:ext>
              </a:extLst>
            </p:cNvPr>
            <p:cNvSpPr>
              <a:spLocks noChangeShapeType="1"/>
            </p:cNvSpPr>
            <p:nvPr/>
          </p:nvSpPr>
          <p:spPr bwMode="auto">
            <a:xfrm>
              <a:off x="2819400" y="4456057"/>
              <a:ext cx="1058863"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8" name="Line 25">
              <a:extLst>
                <a:ext uri="{FF2B5EF4-FFF2-40B4-BE49-F238E27FC236}">
                  <a16:creationId xmlns:a16="http://schemas.microsoft.com/office/drawing/2014/main" id="{CB00E451-A7AE-EE4F-8835-AF9F763069D9}"/>
                </a:ext>
              </a:extLst>
            </p:cNvPr>
            <p:cNvSpPr>
              <a:spLocks noChangeShapeType="1"/>
            </p:cNvSpPr>
            <p:nvPr/>
          </p:nvSpPr>
          <p:spPr bwMode="auto">
            <a:xfrm>
              <a:off x="2824163" y="4684657"/>
              <a:ext cx="1058862"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49" name="Line 25">
              <a:extLst>
                <a:ext uri="{FF2B5EF4-FFF2-40B4-BE49-F238E27FC236}">
                  <a16:creationId xmlns:a16="http://schemas.microsoft.com/office/drawing/2014/main" id="{9325FC7F-231E-2049-993E-53047EAC0AA3}"/>
                </a:ext>
              </a:extLst>
            </p:cNvPr>
            <p:cNvSpPr>
              <a:spLocks noChangeShapeType="1"/>
            </p:cNvSpPr>
            <p:nvPr/>
          </p:nvSpPr>
          <p:spPr bwMode="auto">
            <a:xfrm>
              <a:off x="2827338" y="4924370"/>
              <a:ext cx="1060450" cy="3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50" name="Group 3">
              <a:extLst>
                <a:ext uri="{FF2B5EF4-FFF2-40B4-BE49-F238E27FC236}">
                  <a16:creationId xmlns:a16="http://schemas.microsoft.com/office/drawing/2014/main" id="{91CBB0DC-066D-D545-9A42-554B9369F9E7}"/>
                </a:ext>
              </a:extLst>
            </p:cNvPr>
            <p:cNvGrpSpPr>
              <a:grpSpLocks/>
            </p:cNvGrpSpPr>
            <p:nvPr/>
          </p:nvGrpSpPr>
          <p:grpSpPr bwMode="auto">
            <a:xfrm>
              <a:off x="7794625" y="3673978"/>
              <a:ext cx="2047875" cy="1620287"/>
              <a:chOff x="4882752" y="4007261"/>
              <a:chExt cx="2046816" cy="1619544"/>
            </a:xfrm>
          </p:grpSpPr>
          <p:sp>
            <p:nvSpPr>
              <p:cNvPr id="267" name="Text Box 54">
                <a:extLst>
                  <a:ext uri="{FF2B5EF4-FFF2-40B4-BE49-F238E27FC236}">
                    <a16:creationId xmlns:a16="http://schemas.microsoft.com/office/drawing/2014/main" id="{4B1FADB6-C548-2742-A709-144F432B18A8}"/>
                  </a:ext>
                </a:extLst>
              </p:cNvPr>
              <p:cNvSpPr txBox="1">
                <a:spLocks noChangeArrowheads="1"/>
              </p:cNvSpPr>
              <p:nvPr/>
            </p:nvSpPr>
            <p:spPr bwMode="auto">
              <a:xfrm>
                <a:off x="4882752" y="4007261"/>
                <a:ext cx="12260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rPr>
                  <a:t>destination</a:t>
                </a:r>
                <a:endParaRPr kumimoji="0" lang="en-US" altLang="en-US" sz="2000" b="0"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mn-cs"/>
                </a:endParaRPr>
              </a:p>
            </p:txBody>
          </p:sp>
          <p:grpSp>
            <p:nvGrpSpPr>
              <p:cNvPr id="268" name="Group 2">
                <a:extLst>
                  <a:ext uri="{FF2B5EF4-FFF2-40B4-BE49-F238E27FC236}">
                    <a16:creationId xmlns:a16="http://schemas.microsoft.com/office/drawing/2014/main" id="{8402BF20-88C0-8D4F-80FD-F2C70469D90E}"/>
                  </a:ext>
                </a:extLst>
              </p:cNvPr>
              <p:cNvGrpSpPr>
                <a:grpSpLocks/>
              </p:cNvGrpSpPr>
              <p:nvPr/>
            </p:nvGrpSpPr>
            <p:grpSpPr bwMode="auto">
              <a:xfrm>
                <a:off x="4927179" y="4319856"/>
                <a:ext cx="2002389" cy="1306949"/>
                <a:chOff x="1305623" y="4714561"/>
                <a:chExt cx="2002389" cy="1306949"/>
              </a:xfrm>
            </p:grpSpPr>
            <p:sp>
              <p:nvSpPr>
                <p:cNvPr id="269" name="Freeform 10">
                  <a:extLst>
                    <a:ext uri="{FF2B5EF4-FFF2-40B4-BE49-F238E27FC236}">
                      <a16:creationId xmlns:a16="http://schemas.microsoft.com/office/drawing/2014/main" id="{7DDAA735-CA37-A94C-8CA1-EF813CE4531A}"/>
                    </a:ext>
                  </a:extLst>
                </p:cNvPr>
                <p:cNvSpPr>
                  <a:spLocks/>
                </p:cNvSpPr>
                <p:nvPr/>
              </p:nvSpPr>
              <p:spPr bwMode="auto">
                <a:xfrm>
                  <a:off x="2426569" y="4714561"/>
                  <a:ext cx="288261" cy="1290044"/>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rgbClr val="3333CC"/>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0" name="Rectangle 23">
                  <a:extLst>
                    <a:ext uri="{FF2B5EF4-FFF2-40B4-BE49-F238E27FC236}">
                      <a16:creationId xmlns:a16="http://schemas.microsoft.com/office/drawing/2014/main" id="{BF86F11D-FABB-9D40-B265-1177D7DBB798}"/>
                    </a:ext>
                  </a:extLst>
                </p:cNvPr>
                <p:cNvSpPr>
                  <a:spLocks noChangeArrowheads="1"/>
                </p:cNvSpPr>
                <p:nvPr/>
              </p:nvSpPr>
              <p:spPr bwMode="auto">
                <a:xfrm>
                  <a:off x="1398616" y="4722494"/>
                  <a:ext cx="1045433" cy="127129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1" name="Rectangle 24">
                  <a:extLst>
                    <a:ext uri="{FF2B5EF4-FFF2-40B4-BE49-F238E27FC236}">
                      <a16:creationId xmlns:a16="http://schemas.microsoft.com/office/drawing/2014/main" id="{2212FAEC-F044-1C4B-8B14-241E43D2CF89}"/>
                    </a:ext>
                  </a:extLst>
                </p:cNvPr>
                <p:cNvSpPr>
                  <a:spLocks noChangeArrowheads="1"/>
                </p:cNvSpPr>
                <p:nvPr/>
              </p:nvSpPr>
              <p:spPr bwMode="auto">
                <a:xfrm>
                  <a:off x="1341249" y="4752754"/>
                  <a:ext cx="1067215" cy="1231976"/>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2" name="Line 25">
                  <a:extLst>
                    <a:ext uri="{FF2B5EF4-FFF2-40B4-BE49-F238E27FC236}">
                      <a16:creationId xmlns:a16="http://schemas.microsoft.com/office/drawing/2014/main" id="{DC3501DC-43AA-8B44-B7F6-96A070284A31}"/>
                    </a:ext>
                  </a:extLst>
                </p:cNvPr>
                <p:cNvSpPr>
                  <a:spLocks noChangeShapeType="1"/>
                </p:cNvSpPr>
                <p:nvPr/>
              </p:nvSpPr>
              <p:spPr bwMode="auto">
                <a:xfrm>
                  <a:off x="1341249" y="50313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Text Box 26">
                  <a:extLst>
                    <a:ext uri="{FF2B5EF4-FFF2-40B4-BE49-F238E27FC236}">
                      <a16:creationId xmlns:a16="http://schemas.microsoft.com/office/drawing/2014/main" id="{69C842DB-6938-8446-A480-C9D5EA9045C0}"/>
                    </a:ext>
                  </a:extLst>
                </p:cNvPr>
                <p:cNvSpPr txBox="1">
                  <a:spLocks noChangeArrowheads="1"/>
                </p:cNvSpPr>
                <p:nvPr/>
              </p:nvSpPr>
              <p:spPr bwMode="auto">
                <a:xfrm>
                  <a:off x="1305623" y="4747333"/>
                  <a:ext cx="1104329" cy="12741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application</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A3"/>
                      </a:solidFill>
                      <a:effectLst/>
                      <a:uLnTx/>
                      <a:uFillTx/>
                      <a:latin typeface="Arial" charset="0"/>
                      <a:ea typeface="ＭＳ Ｐゴシック" charset="0"/>
                    </a:rPr>
                    <a:t>TCP</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network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link</a:t>
                  </a:r>
                </a:p>
                <a:p>
                  <a:pPr marL="0" marR="0" lvl="0" indent="0" algn="ctr" defTabSz="914400" rtl="0" eaLnBrk="0" fontAlgn="base" latinLnBrk="0" hangingPunct="0">
                    <a:lnSpc>
                      <a:spcPct val="11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FFFFFF">
                          <a:lumMod val="75000"/>
                        </a:srgbClr>
                      </a:solidFill>
                      <a:effectLst/>
                      <a:uLnTx/>
                      <a:uFillTx/>
                      <a:latin typeface="Arial" charset="0"/>
                      <a:ea typeface="ＭＳ Ｐゴシック" charset="0"/>
                    </a:rPr>
                    <a:t>physical</a:t>
                  </a:r>
                </a:p>
              </p:txBody>
            </p:sp>
            <p:grpSp>
              <p:nvGrpSpPr>
                <p:cNvPr id="274" name="Group 190">
                  <a:extLst>
                    <a:ext uri="{FF2B5EF4-FFF2-40B4-BE49-F238E27FC236}">
                      <a16:creationId xmlns:a16="http://schemas.microsoft.com/office/drawing/2014/main" id="{C39AA8F4-A384-D14F-835C-118627DBC0E2}"/>
                    </a:ext>
                  </a:extLst>
                </p:cNvPr>
                <p:cNvGrpSpPr>
                  <a:grpSpLocks/>
                </p:cNvGrpSpPr>
                <p:nvPr/>
              </p:nvGrpSpPr>
              <p:grpSpPr bwMode="auto">
                <a:xfrm flipH="1">
                  <a:off x="2634682" y="5076164"/>
                  <a:ext cx="673330" cy="701684"/>
                  <a:chOff x="-44" y="1473"/>
                  <a:chExt cx="981" cy="1105"/>
                </a:xfrm>
              </p:grpSpPr>
              <p:pic>
                <p:nvPicPr>
                  <p:cNvPr id="365" name="Picture 191" descr="desktop_computer_stylized_medium">
                    <a:extLst>
                      <a:ext uri="{FF2B5EF4-FFF2-40B4-BE49-F238E27FC236}">
                        <a16:creationId xmlns:a16="http://schemas.microsoft.com/office/drawing/2014/main" id="{75D69348-5F97-F745-AD7B-8737FF9EC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6" name="Freeform 192">
                    <a:extLst>
                      <a:ext uri="{FF2B5EF4-FFF2-40B4-BE49-F238E27FC236}">
                        <a16:creationId xmlns:a16="http://schemas.microsoft.com/office/drawing/2014/main" id="{DE7B5F06-F0E7-0B4D-B440-DE1381D866D5}"/>
                      </a:ext>
                    </a:extLst>
                  </p:cNvPr>
                  <p:cNvSpPr>
                    <a:spLocks/>
                  </p:cNvSpPr>
                  <p:nvPr/>
                </p:nvSpPr>
                <p:spPr bwMode="auto">
                  <a:xfrm flipH="1">
                    <a:off x="374" y="1579"/>
                    <a:ext cx="477" cy="506"/>
                  </a:xfrm>
                  <a:custGeom>
                    <a:avLst/>
                    <a:gdLst>
                      <a:gd name="T0" fmla="*/ 0 w 356"/>
                      <a:gd name="T1" fmla="*/ 0 h 368"/>
                      <a:gd name="T2" fmla="*/ 43382 w 356"/>
                      <a:gd name="T3" fmla="*/ 3172 h 368"/>
                      <a:gd name="T4" fmla="*/ 51464 w 356"/>
                      <a:gd name="T5" fmla="*/ 66095 h 368"/>
                      <a:gd name="T6" fmla="*/ 11342 w 356"/>
                      <a:gd name="T7" fmla="*/ 82660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31" name="Line 25">
                  <a:extLst>
                    <a:ext uri="{FF2B5EF4-FFF2-40B4-BE49-F238E27FC236}">
                      <a16:creationId xmlns:a16="http://schemas.microsoft.com/office/drawing/2014/main" id="{B63E05C1-D79C-3140-8770-0DC5B61A7B3F}"/>
                    </a:ext>
                  </a:extLst>
                </p:cNvPr>
                <p:cNvSpPr>
                  <a:spLocks noChangeShapeType="1"/>
                </p:cNvSpPr>
                <p:nvPr/>
              </p:nvSpPr>
              <p:spPr bwMode="auto">
                <a:xfrm>
                  <a:off x="1345720" y="5260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6" name="Line 25">
                  <a:extLst>
                    <a:ext uri="{FF2B5EF4-FFF2-40B4-BE49-F238E27FC236}">
                      <a16:creationId xmlns:a16="http://schemas.microsoft.com/office/drawing/2014/main" id="{0DB8D764-C7DD-D749-8DAA-C861760CFB91}"/>
                    </a:ext>
                  </a:extLst>
                </p:cNvPr>
                <p:cNvSpPr>
                  <a:spLocks noChangeShapeType="1"/>
                </p:cNvSpPr>
                <p:nvPr/>
              </p:nvSpPr>
              <p:spPr bwMode="auto">
                <a:xfrm>
                  <a:off x="1350191" y="54891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4" name="Line 25">
                  <a:extLst>
                    <a:ext uri="{FF2B5EF4-FFF2-40B4-BE49-F238E27FC236}">
                      <a16:creationId xmlns:a16="http://schemas.microsoft.com/office/drawing/2014/main" id="{89F6EF96-2E93-7247-8F32-49111F2DD241}"/>
                    </a:ext>
                  </a:extLst>
                </p:cNvPr>
                <p:cNvSpPr>
                  <a:spLocks noChangeShapeType="1"/>
                </p:cNvSpPr>
                <p:nvPr/>
              </p:nvSpPr>
              <p:spPr bwMode="auto">
                <a:xfrm>
                  <a:off x="1354662" y="5728213"/>
                  <a:ext cx="1059231" cy="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sp>
          <p:nvSpPr>
            <p:cNvPr id="251" name="Freeform 6">
              <a:extLst>
                <a:ext uri="{FF2B5EF4-FFF2-40B4-BE49-F238E27FC236}">
                  <a16:creationId xmlns:a16="http://schemas.microsoft.com/office/drawing/2014/main" id="{166198F4-4235-5446-BB65-8864D4EEC9A1}"/>
                </a:ext>
              </a:extLst>
            </p:cNvPr>
            <p:cNvSpPr>
              <a:spLocks/>
            </p:cNvSpPr>
            <p:nvPr/>
          </p:nvSpPr>
          <p:spPr bwMode="auto">
            <a:xfrm>
              <a:off x="4581324" y="4994579"/>
              <a:ext cx="542925" cy="295275"/>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2" name="Freeform 91">
              <a:extLst>
                <a:ext uri="{FF2B5EF4-FFF2-40B4-BE49-F238E27FC236}">
                  <a16:creationId xmlns:a16="http://schemas.microsoft.com/office/drawing/2014/main" id="{53DCE39E-C8A8-5641-9833-00C813F7C6B4}"/>
                </a:ext>
              </a:extLst>
            </p:cNvPr>
            <p:cNvSpPr>
              <a:spLocks/>
            </p:cNvSpPr>
            <p:nvPr/>
          </p:nvSpPr>
          <p:spPr bwMode="auto">
            <a:xfrm>
              <a:off x="5622724" y="4988229"/>
              <a:ext cx="506413" cy="30797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3" name="Freeform 92">
              <a:extLst>
                <a:ext uri="{FF2B5EF4-FFF2-40B4-BE49-F238E27FC236}">
                  <a16:creationId xmlns:a16="http://schemas.microsoft.com/office/drawing/2014/main" id="{9E088270-3C1F-CF47-B4CB-AED303A1AA5C}"/>
                </a:ext>
              </a:extLst>
            </p:cNvPr>
            <p:cNvSpPr>
              <a:spLocks/>
            </p:cNvSpPr>
            <p:nvPr/>
          </p:nvSpPr>
          <p:spPr bwMode="auto">
            <a:xfrm>
              <a:off x="4557512" y="5380342"/>
              <a:ext cx="481012" cy="238125"/>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4" name="Freeform 93">
              <a:extLst>
                <a:ext uri="{FF2B5EF4-FFF2-40B4-BE49-F238E27FC236}">
                  <a16:creationId xmlns:a16="http://schemas.microsoft.com/office/drawing/2014/main" id="{D4F6429E-0B93-254B-B841-2127CDD89072}"/>
                </a:ext>
              </a:extLst>
            </p:cNvPr>
            <p:cNvSpPr>
              <a:spLocks/>
            </p:cNvSpPr>
            <p:nvPr/>
          </p:nvSpPr>
          <p:spPr bwMode="auto">
            <a:xfrm>
              <a:off x="5505249" y="5356529"/>
              <a:ext cx="630238" cy="247650"/>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5" name="Freeform 94">
              <a:extLst>
                <a:ext uri="{FF2B5EF4-FFF2-40B4-BE49-F238E27FC236}">
                  <a16:creationId xmlns:a16="http://schemas.microsoft.com/office/drawing/2014/main" id="{2BEA6A4B-6ACC-E548-AF57-1F438259AC44}"/>
                </a:ext>
              </a:extLst>
            </p:cNvPr>
            <p:cNvSpPr>
              <a:spLocks/>
            </p:cNvSpPr>
            <p:nvPr/>
          </p:nvSpPr>
          <p:spPr bwMode="auto">
            <a:xfrm>
              <a:off x="6173587" y="5410504"/>
              <a:ext cx="206375" cy="50800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6" name="Freeform 95">
              <a:extLst>
                <a:ext uri="{FF2B5EF4-FFF2-40B4-BE49-F238E27FC236}">
                  <a16:creationId xmlns:a16="http://schemas.microsoft.com/office/drawing/2014/main" id="{E3BE3C0E-7D89-C047-99C2-2E6475D4FD80}"/>
                </a:ext>
              </a:extLst>
            </p:cNvPr>
            <p:cNvSpPr>
              <a:spLocks/>
            </p:cNvSpPr>
            <p:nvPr/>
          </p:nvSpPr>
          <p:spPr bwMode="auto">
            <a:xfrm>
              <a:off x="4936923" y="5943904"/>
              <a:ext cx="970395" cy="81756"/>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7" name="Freeform 96">
              <a:extLst>
                <a:ext uri="{FF2B5EF4-FFF2-40B4-BE49-F238E27FC236}">
                  <a16:creationId xmlns:a16="http://schemas.microsoft.com/office/drawing/2014/main" id="{4762AE60-0604-904D-A97A-70A37FFB5995}"/>
                </a:ext>
              </a:extLst>
            </p:cNvPr>
            <p:cNvSpPr>
              <a:spLocks/>
            </p:cNvSpPr>
            <p:nvPr/>
          </p:nvSpPr>
          <p:spPr bwMode="auto">
            <a:xfrm>
              <a:off x="4400349" y="5424888"/>
              <a:ext cx="193675" cy="404716"/>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Freeform 7">
              <a:extLst>
                <a:ext uri="{FF2B5EF4-FFF2-40B4-BE49-F238E27FC236}">
                  <a16:creationId xmlns:a16="http://schemas.microsoft.com/office/drawing/2014/main" id="{65218BE6-60A3-C64E-AE98-FE5F4FDCBA69}"/>
                </a:ext>
              </a:extLst>
            </p:cNvPr>
            <p:cNvSpPr>
              <a:spLocks/>
            </p:cNvSpPr>
            <p:nvPr/>
          </p:nvSpPr>
          <p:spPr bwMode="auto">
            <a:xfrm>
              <a:off x="3329610" y="4423977"/>
              <a:ext cx="5073926" cy="1298611"/>
            </a:xfrm>
            <a:custGeom>
              <a:avLst/>
              <a:gdLst>
                <a:gd name="T0" fmla="*/ 0 w 5156094"/>
                <a:gd name="T1" fmla="*/ 0 h 1509215"/>
                <a:gd name="T2" fmla="*/ 6961 w 5156094"/>
                <a:gd name="T3" fmla="*/ 1168047 h 1509215"/>
                <a:gd name="T4" fmla="*/ 1131015 w 5156094"/>
                <a:gd name="T5" fmla="*/ 1170389 h 1509215"/>
                <a:gd name="T6" fmla="*/ 1755021 w 5156094"/>
                <a:gd name="T7" fmla="*/ 1490285 h 1509215"/>
                <a:gd name="T8" fmla="*/ 2207298 w 5156094"/>
                <a:gd name="T9" fmla="*/ 1510706 h 1509215"/>
                <a:gd name="T10" fmla="*/ 2988945 w 5156094"/>
                <a:gd name="T11" fmla="*/ 1198737 h 1509215"/>
                <a:gd name="T12" fmla="*/ 3391674 w 5156094"/>
                <a:gd name="T13" fmla="*/ 1210330 h 1509215"/>
                <a:gd name="T14" fmla="*/ 5156412 w 5156094"/>
                <a:gd name="T15" fmla="*/ 1199641 h 1509215"/>
                <a:gd name="T16" fmla="*/ 5126696 w 5156094"/>
                <a:gd name="T17" fmla="*/ 64147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207163 w 5156094"/>
                <a:gd name="connsiteY4" fmla="*/ 1509215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88762 w 5156094"/>
                <a:gd name="connsiteY5" fmla="*/ 1197554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3391464 w 5156094"/>
                <a:gd name="connsiteY6" fmla="*/ 1209136 h 1559667"/>
                <a:gd name="connsiteX7" fmla="*/ 5156094 w 5156094"/>
                <a:gd name="connsiteY7" fmla="*/ 1198456 h 1559667"/>
                <a:gd name="connsiteX8" fmla="*/ 5126381 w 5156094"/>
                <a:gd name="connsiteY8" fmla="*/ 64084 h 1559667"/>
                <a:gd name="connsiteX0" fmla="*/ 0 w 5156094"/>
                <a:gd name="connsiteY0" fmla="*/ 0 h 1559667"/>
                <a:gd name="connsiteX1" fmla="*/ 6961 w 5156094"/>
                <a:gd name="connsiteY1" fmla="*/ 1166894 h 1559667"/>
                <a:gd name="connsiteX2" fmla="*/ 1130946 w 5156094"/>
                <a:gd name="connsiteY2" fmla="*/ 1169234 h 1559667"/>
                <a:gd name="connsiteX3" fmla="*/ 1824854 w 5156094"/>
                <a:gd name="connsiteY3" fmla="*/ 1559667 h 1559667"/>
                <a:gd name="connsiteX4" fmla="*/ 2145216 w 5156094"/>
                <a:gd name="connsiteY4" fmla="*/ 1553959 h 1559667"/>
                <a:gd name="connsiteX5" fmla="*/ 2930257 w 5156094"/>
                <a:gd name="connsiteY5" fmla="*/ 1152811 h 1559667"/>
                <a:gd name="connsiteX6" fmla="*/ 5156094 w 5156094"/>
                <a:gd name="connsiteY6" fmla="*/ 1198456 h 1559667"/>
                <a:gd name="connsiteX7" fmla="*/ 5126381 w 5156094"/>
                <a:gd name="connsiteY7" fmla="*/ 64084 h 15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56094" h="1559667">
                  <a:moveTo>
                    <a:pt x="0" y="0"/>
                  </a:moveTo>
                  <a:cubicBezTo>
                    <a:pt x="2320" y="388965"/>
                    <a:pt x="4641" y="777929"/>
                    <a:pt x="6961" y="1166894"/>
                  </a:cubicBezTo>
                  <a:lnTo>
                    <a:pt x="1130946" y="1169234"/>
                  </a:lnTo>
                  <a:lnTo>
                    <a:pt x="1824854" y="1559667"/>
                  </a:lnTo>
                  <a:lnTo>
                    <a:pt x="2145216" y="1553959"/>
                  </a:lnTo>
                  <a:lnTo>
                    <a:pt x="2930257" y="1152811"/>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59" name="Group 258">
              <a:extLst>
                <a:ext uri="{FF2B5EF4-FFF2-40B4-BE49-F238E27FC236}">
                  <a16:creationId xmlns:a16="http://schemas.microsoft.com/office/drawing/2014/main" id="{BA9F4108-2318-8145-849E-8BAD67BD3C2B}"/>
                </a:ext>
              </a:extLst>
            </p:cNvPr>
            <p:cNvGrpSpPr/>
            <p:nvPr/>
          </p:nvGrpSpPr>
          <p:grpSpPr>
            <a:xfrm>
              <a:off x="5868328" y="5862061"/>
              <a:ext cx="496248" cy="260542"/>
              <a:chOff x="7493876" y="2774731"/>
              <a:chExt cx="1481958" cy="894622"/>
            </a:xfrm>
          </p:grpSpPr>
          <p:sp>
            <p:nvSpPr>
              <p:cNvPr id="260" name="Freeform 259">
                <a:extLst>
                  <a:ext uri="{FF2B5EF4-FFF2-40B4-BE49-F238E27FC236}">
                    <a16:creationId xmlns:a16="http://schemas.microsoft.com/office/drawing/2014/main" id="{A9497A97-449F-CB45-B630-229DEE85F9A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61" name="Oval 260">
                <a:extLst>
                  <a:ext uri="{FF2B5EF4-FFF2-40B4-BE49-F238E27FC236}">
                    <a16:creationId xmlns:a16="http://schemas.microsoft.com/office/drawing/2014/main" id="{BCDE6187-B288-FC4A-9C8F-94227663772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62" name="Group 261">
                <a:extLst>
                  <a:ext uri="{FF2B5EF4-FFF2-40B4-BE49-F238E27FC236}">
                    <a16:creationId xmlns:a16="http://schemas.microsoft.com/office/drawing/2014/main" id="{C73034EC-E40A-6648-92A0-7262DE08A4CB}"/>
                  </a:ext>
                </a:extLst>
              </p:cNvPr>
              <p:cNvGrpSpPr/>
              <p:nvPr/>
            </p:nvGrpSpPr>
            <p:grpSpPr>
              <a:xfrm>
                <a:off x="7713663" y="2848339"/>
                <a:ext cx="1042107" cy="425543"/>
                <a:chOff x="7786941" y="2884917"/>
                <a:chExt cx="897649" cy="353919"/>
              </a:xfrm>
            </p:grpSpPr>
            <p:sp>
              <p:nvSpPr>
                <p:cNvPr id="263" name="Freeform 262">
                  <a:extLst>
                    <a:ext uri="{FF2B5EF4-FFF2-40B4-BE49-F238E27FC236}">
                      <a16:creationId xmlns:a16="http://schemas.microsoft.com/office/drawing/2014/main" id="{182D8880-3D63-F346-B7BB-1267F093CAA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4" name="Freeform 263">
                  <a:extLst>
                    <a:ext uri="{FF2B5EF4-FFF2-40B4-BE49-F238E27FC236}">
                      <a16:creationId xmlns:a16="http://schemas.microsoft.com/office/drawing/2014/main" id="{E38BC1DC-FFC3-CA42-98B9-07E8C5E84B2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5" name="Freeform 264">
                  <a:extLst>
                    <a:ext uri="{FF2B5EF4-FFF2-40B4-BE49-F238E27FC236}">
                      <a16:creationId xmlns:a16="http://schemas.microsoft.com/office/drawing/2014/main" id="{30D56D8E-C34F-4F47-9E6C-D516E06290C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6" name="Freeform 265">
                  <a:extLst>
                    <a:ext uri="{FF2B5EF4-FFF2-40B4-BE49-F238E27FC236}">
                      <a16:creationId xmlns:a16="http://schemas.microsoft.com/office/drawing/2014/main" id="{C2B06637-7BFA-2849-A10B-4A03CB76E58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60590" y="272143"/>
            <a:ext cx="11393310" cy="894622"/>
          </a:xfrm>
        </p:spPr>
        <p:txBody>
          <a:bodyPr>
            <a:normAutofit/>
          </a:bodyPr>
          <a:lstStyle/>
          <a:p>
            <a:r>
              <a:rPr lang="en-US" sz="4800" dirty="0"/>
              <a:t>Explicit congestion notification </a:t>
            </a:r>
            <a:r>
              <a:rPr lang="en-US" sz="3600" dirty="0"/>
              <a:t>(ECN)</a:t>
            </a:r>
            <a:endParaRPr lang="en-US" sz="4400" b="0" dirty="0"/>
          </a:p>
        </p:txBody>
      </p:sp>
      <p:sp>
        <p:nvSpPr>
          <p:cNvPr id="6" name="Rectangle 4">
            <a:extLst>
              <a:ext uri="{FF2B5EF4-FFF2-40B4-BE49-F238E27FC236}">
                <a16:creationId xmlns:a16="http://schemas.microsoft.com/office/drawing/2014/main" id="{A22F5639-C13F-8347-B6CF-B5A700C7EA84}"/>
              </a:ext>
            </a:extLst>
          </p:cNvPr>
          <p:cNvSpPr txBox="1">
            <a:spLocks noChangeArrowheads="1"/>
          </p:cNvSpPr>
          <p:nvPr/>
        </p:nvSpPr>
        <p:spPr>
          <a:xfrm>
            <a:off x="719638" y="1274465"/>
            <a:ext cx="11177587" cy="262021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080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TCP deployments often implement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network-assisted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congestion control:</a:t>
            </a:r>
          </a:p>
          <a:p>
            <a:pPr marL="457200" marR="0" lvl="0" indent="-215900"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two bits in IP header (ToS field) marked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by network router</a:t>
            </a: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to indicate congestion</a:t>
            </a:r>
          </a:p>
          <a:p>
            <a:pPr marL="800100" marR="0" lvl="1" indent="-215900" algn="l" defTabSz="914400" rtl="0" eaLnBrk="1" fontAlgn="auto" latinLnBrk="0" hangingPunct="1">
              <a:lnSpc>
                <a:spcPct val="90000"/>
              </a:lnSpc>
              <a:spcBef>
                <a:spcPts val="400"/>
              </a:spcBef>
              <a:spcAft>
                <a:spcPts val="0"/>
              </a:spcAft>
              <a:buClr>
                <a:srgbClr val="0000A3"/>
              </a:buClr>
              <a:buSzTx/>
              <a:buFont typeface="Arial" panose="020B0604020202020204" pitchFamily="34" charset="0"/>
              <a:buChar char="•"/>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mn-ea"/>
                <a:cs typeface="+mn-cs"/>
              </a:rPr>
              <a:t>policy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to determine marking chosen by network operator</a:t>
            </a:r>
          </a:p>
          <a:p>
            <a:pPr marL="457200" marR="0" lvl="0" indent="-215900"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congestion indication carried to destination</a:t>
            </a:r>
          </a:p>
          <a:p>
            <a:pPr marL="457200" marR="0" lvl="0" indent="-215900"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destination sets ECE bit on ACK segment to notify sender of congestion</a:t>
            </a:r>
          </a:p>
          <a:p>
            <a:pPr marL="457200" marR="0" lvl="0" indent="-215900" algn="l" defTabSz="914400" rtl="0" eaLnBrk="1" fontAlgn="auto" latinLnBrk="0" hangingPunct="1">
              <a:lnSpc>
                <a:spcPct val="90000"/>
              </a:lnSpc>
              <a:spcBef>
                <a:spcPts val="4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involves both IP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(IP header ECN bit marking)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and TCP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(TCP header C,E bit marking)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82" name="Group 281">
            <a:extLst>
              <a:ext uri="{FF2B5EF4-FFF2-40B4-BE49-F238E27FC236}">
                <a16:creationId xmlns:a16="http://schemas.microsoft.com/office/drawing/2014/main" id="{C8849046-14FD-4644-B620-44B96406B954}"/>
              </a:ext>
            </a:extLst>
          </p:cNvPr>
          <p:cNvGrpSpPr>
            <a:grpSpLocks/>
          </p:cNvGrpSpPr>
          <p:nvPr/>
        </p:nvGrpSpPr>
        <p:grpSpPr bwMode="auto">
          <a:xfrm>
            <a:off x="3226593" y="5686054"/>
            <a:ext cx="1493838" cy="307975"/>
            <a:chOff x="1502428" y="5844331"/>
            <a:chExt cx="1493249" cy="307777"/>
          </a:xfrm>
        </p:grpSpPr>
        <p:grpSp>
          <p:nvGrpSpPr>
            <p:cNvPr id="283" name="Group 274">
              <a:extLst>
                <a:ext uri="{FF2B5EF4-FFF2-40B4-BE49-F238E27FC236}">
                  <a16:creationId xmlns:a16="http://schemas.microsoft.com/office/drawing/2014/main" id="{D4A58484-7F9A-8E42-8B98-2EEE2F1F3114}"/>
                </a:ext>
              </a:extLst>
            </p:cNvPr>
            <p:cNvGrpSpPr>
              <a:grpSpLocks/>
            </p:cNvGrpSpPr>
            <p:nvPr/>
          </p:nvGrpSpPr>
          <p:grpSpPr bwMode="auto">
            <a:xfrm>
              <a:off x="1502428" y="5844331"/>
              <a:ext cx="1493249" cy="307777"/>
              <a:chOff x="3621632" y="5775938"/>
              <a:chExt cx="1493249" cy="307777"/>
            </a:xfrm>
          </p:grpSpPr>
          <p:grpSp>
            <p:nvGrpSpPr>
              <p:cNvPr id="285" name="Group 275">
                <a:extLst>
                  <a:ext uri="{FF2B5EF4-FFF2-40B4-BE49-F238E27FC236}">
                    <a16:creationId xmlns:a16="http://schemas.microsoft.com/office/drawing/2014/main" id="{B7F414D2-F213-4442-B30E-7406937FD2C5}"/>
                  </a:ext>
                </a:extLst>
              </p:cNvPr>
              <p:cNvGrpSpPr>
                <a:grpSpLocks/>
              </p:cNvGrpSpPr>
              <p:nvPr/>
            </p:nvGrpSpPr>
            <p:grpSpPr bwMode="auto">
              <a:xfrm>
                <a:off x="3999159" y="5783287"/>
                <a:ext cx="806697" cy="257416"/>
                <a:chOff x="-2975754" y="4128742"/>
                <a:chExt cx="1258600" cy="450696"/>
              </a:xfrm>
            </p:grpSpPr>
            <p:sp>
              <p:nvSpPr>
                <p:cNvPr id="287" name="Rectangle 286">
                  <a:extLst>
                    <a:ext uri="{FF2B5EF4-FFF2-40B4-BE49-F238E27FC236}">
                      <a16:creationId xmlns:a16="http://schemas.microsoft.com/office/drawing/2014/main" id="{C5C66AE2-F8B6-3C47-B4BE-66EE478EB9B7}"/>
                    </a:ext>
                  </a:extLst>
                </p:cNvPr>
                <p:cNvSpPr/>
                <p:nvPr/>
              </p:nvSpPr>
              <p:spPr>
                <a:xfrm>
                  <a:off x="-2903722" y="4135317"/>
                  <a:ext cx="1151258" cy="341655"/>
                </a:xfrm>
                <a:prstGeom prst="rect">
                  <a:avLst/>
                </a:prstGeom>
                <a:solidFill>
                  <a:srgbClr val="008000"/>
                </a:solidFill>
                <a:ln w="12700">
                  <a:solidFill>
                    <a:srgbClr val="00CC99">
                      <a:lumMod val="50000"/>
                    </a:srgbClr>
                  </a:solidFill>
                </a:ln>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sp>
              <p:nvSpPr>
                <p:cNvPr id="288" name="Rectangle 287">
                  <a:extLst>
                    <a:ext uri="{FF2B5EF4-FFF2-40B4-BE49-F238E27FC236}">
                      <a16:creationId xmlns:a16="http://schemas.microsoft.com/office/drawing/2014/main" id="{2052E598-5C0D-CA41-8C58-28B633036FB2}"/>
                    </a:ext>
                  </a:extLst>
                </p:cNvPr>
                <p:cNvSpPr/>
                <p:nvPr/>
              </p:nvSpPr>
              <p:spPr>
                <a:xfrm>
                  <a:off x="-2968093" y="4221426"/>
                  <a:ext cx="1148783" cy="344432"/>
                </a:xfrm>
                <a:prstGeom prst="rect">
                  <a:avLst/>
                </a:prstGeom>
                <a:solidFill>
                  <a:srgbClr val="008000"/>
                </a:solidFill>
                <a:ln w="12700">
                  <a:solidFill>
                    <a:srgbClr val="00CC99">
                      <a:lumMod val="50000"/>
                    </a:srgbClr>
                  </a:solidFill>
                </a:ln>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sp>
              <p:nvSpPr>
                <p:cNvPr id="289" name="Freeform 288">
                  <a:extLst>
                    <a:ext uri="{FF2B5EF4-FFF2-40B4-BE49-F238E27FC236}">
                      <a16:creationId xmlns:a16="http://schemas.microsoft.com/office/drawing/2014/main" id="{113FD0E1-39AF-5E4A-80DC-7B59A17D468C}"/>
                    </a:ext>
                  </a:extLst>
                </p:cNvPr>
                <p:cNvSpPr/>
                <p:nvPr/>
              </p:nvSpPr>
              <p:spPr>
                <a:xfrm>
                  <a:off x="-2975522" y="4129762"/>
                  <a:ext cx="1223057" cy="94441"/>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rgbClr val="AAE2CA">
                    <a:lumMod val="50000"/>
                  </a:srgbClr>
                </a:solidFill>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sp>
              <p:nvSpPr>
                <p:cNvPr id="290" name="Freeform 289">
                  <a:extLst>
                    <a:ext uri="{FF2B5EF4-FFF2-40B4-BE49-F238E27FC236}">
                      <a16:creationId xmlns:a16="http://schemas.microsoft.com/office/drawing/2014/main" id="{FE01C2D5-10A9-FE4C-858A-18EDBA471911}"/>
                    </a:ext>
                  </a:extLst>
                </p:cNvPr>
                <p:cNvSpPr/>
                <p:nvPr/>
              </p:nvSpPr>
              <p:spPr>
                <a:xfrm rot="21211447" flipV="1">
                  <a:off x="-1853972" y="4146428"/>
                  <a:ext cx="136170" cy="433318"/>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rgbClr val="AAE2CA">
                    <a:lumMod val="50000"/>
                  </a:srgbClr>
                </a:solidFill>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grpSp>
          <p:sp>
            <p:nvSpPr>
              <p:cNvPr id="286" name="TextBox 276">
                <a:extLst>
                  <a:ext uri="{FF2B5EF4-FFF2-40B4-BE49-F238E27FC236}">
                    <a16:creationId xmlns:a16="http://schemas.microsoft.com/office/drawing/2014/main" id="{E86D3ADF-23FB-2D4B-91EB-8A44EE48F641}"/>
                  </a:ext>
                </a:extLst>
              </p:cNvPr>
              <p:cNvSpPr txBox="1">
                <a:spLocks noChangeArrowheads="1"/>
              </p:cNvSpPr>
              <p:nvPr/>
            </p:nvSpPr>
            <p:spPr bwMode="auto">
              <a:xfrm>
                <a:off x="3621632" y="5775938"/>
                <a:ext cx="14932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FFFFFF"/>
                    </a:solidFill>
                    <a:effectLst/>
                    <a:uLnTx/>
                    <a:uFillTx/>
                    <a:latin typeface="Tahoma" panose="020B0604030504040204" pitchFamily="34" charset="0"/>
                    <a:ea typeface="ＭＳ Ｐゴシック" panose="020B0600070205080204" pitchFamily="34" charset="-128"/>
                    <a:cs typeface="+mn-cs"/>
                  </a:rPr>
                  <a:t>ECN=10</a:t>
                </a:r>
              </a:p>
            </p:txBody>
          </p:sp>
        </p:grpSp>
        <p:cxnSp>
          <p:nvCxnSpPr>
            <p:cNvPr id="284" name="Straight Arrow Connector 15">
              <a:extLst>
                <a:ext uri="{FF2B5EF4-FFF2-40B4-BE49-F238E27FC236}">
                  <a16:creationId xmlns:a16="http://schemas.microsoft.com/office/drawing/2014/main" id="{BF4048C9-7D73-BD4C-9330-448B6EC67A0C}"/>
                </a:ext>
              </a:extLst>
            </p:cNvPr>
            <p:cNvCxnSpPr>
              <a:cxnSpLocks noChangeShapeType="1"/>
            </p:cNvCxnSpPr>
            <p:nvPr/>
          </p:nvCxnSpPr>
          <p:spPr bwMode="auto">
            <a:xfrm flipV="1">
              <a:off x="2150568" y="6133267"/>
              <a:ext cx="612066" cy="1"/>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1" name="Group 290">
            <a:extLst>
              <a:ext uri="{FF2B5EF4-FFF2-40B4-BE49-F238E27FC236}">
                <a16:creationId xmlns:a16="http://schemas.microsoft.com/office/drawing/2014/main" id="{78F68ED1-4B6F-A848-83AB-DCDA89D6132A}"/>
              </a:ext>
            </a:extLst>
          </p:cNvPr>
          <p:cNvGrpSpPr>
            <a:grpSpLocks/>
          </p:cNvGrpSpPr>
          <p:nvPr/>
        </p:nvGrpSpPr>
        <p:grpSpPr bwMode="auto">
          <a:xfrm>
            <a:off x="5345906" y="5617791"/>
            <a:ext cx="1493837" cy="358775"/>
            <a:chOff x="3621632" y="5775938"/>
            <a:chExt cx="1493249" cy="357723"/>
          </a:xfrm>
        </p:grpSpPr>
        <p:grpSp>
          <p:nvGrpSpPr>
            <p:cNvPr id="292" name="Group 13">
              <a:extLst>
                <a:ext uri="{FF2B5EF4-FFF2-40B4-BE49-F238E27FC236}">
                  <a16:creationId xmlns:a16="http://schemas.microsoft.com/office/drawing/2014/main" id="{5FC0ED75-C4B7-964C-AB09-988F3BAEDF94}"/>
                </a:ext>
              </a:extLst>
            </p:cNvPr>
            <p:cNvGrpSpPr>
              <a:grpSpLocks/>
            </p:cNvGrpSpPr>
            <p:nvPr/>
          </p:nvGrpSpPr>
          <p:grpSpPr bwMode="auto">
            <a:xfrm>
              <a:off x="3621632" y="5775938"/>
              <a:ext cx="1493249" cy="307777"/>
              <a:chOff x="3621632" y="5775938"/>
              <a:chExt cx="1493249" cy="307777"/>
            </a:xfrm>
          </p:grpSpPr>
          <p:grpSp>
            <p:nvGrpSpPr>
              <p:cNvPr id="294" name="Group 11">
                <a:extLst>
                  <a:ext uri="{FF2B5EF4-FFF2-40B4-BE49-F238E27FC236}">
                    <a16:creationId xmlns:a16="http://schemas.microsoft.com/office/drawing/2014/main" id="{504596ED-94E0-9144-AEA2-9B1AC3A6EDE8}"/>
                  </a:ext>
                </a:extLst>
              </p:cNvPr>
              <p:cNvGrpSpPr>
                <a:grpSpLocks/>
              </p:cNvGrpSpPr>
              <p:nvPr/>
            </p:nvGrpSpPr>
            <p:grpSpPr bwMode="auto">
              <a:xfrm>
                <a:off x="3999159" y="5783287"/>
                <a:ext cx="806697" cy="257416"/>
                <a:chOff x="-2975754" y="4128742"/>
                <a:chExt cx="1258600" cy="450696"/>
              </a:xfrm>
            </p:grpSpPr>
            <p:sp>
              <p:nvSpPr>
                <p:cNvPr id="296" name="Rectangle 295">
                  <a:extLst>
                    <a:ext uri="{FF2B5EF4-FFF2-40B4-BE49-F238E27FC236}">
                      <a16:creationId xmlns:a16="http://schemas.microsoft.com/office/drawing/2014/main" id="{A7E6A3C2-8DB0-E843-9532-97A06B65BF6B}"/>
                    </a:ext>
                  </a:extLst>
                </p:cNvPr>
                <p:cNvSpPr/>
                <p:nvPr/>
              </p:nvSpPr>
              <p:spPr>
                <a:xfrm>
                  <a:off x="-2903723" y="4135274"/>
                  <a:ext cx="1151259" cy="340871"/>
                </a:xfrm>
                <a:prstGeom prst="rect">
                  <a:avLst/>
                </a:prstGeom>
                <a:solidFill>
                  <a:srgbClr val="008000"/>
                </a:solidFill>
                <a:ln w="12700">
                  <a:solidFill>
                    <a:srgbClr val="00CC99">
                      <a:lumMod val="50000"/>
                    </a:srgbClr>
                  </a:solidFill>
                </a:ln>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sp>
              <p:nvSpPr>
                <p:cNvPr id="297" name="Rectangle 296">
                  <a:extLst>
                    <a:ext uri="{FF2B5EF4-FFF2-40B4-BE49-F238E27FC236}">
                      <a16:creationId xmlns:a16="http://schemas.microsoft.com/office/drawing/2014/main" id="{AC7167DD-1A09-B944-A520-D13751F3F4A2}"/>
                    </a:ext>
                  </a:extLst>
                </p:cNvPr>
                <p:cNvSpPr/>
                <p:nvPr/>
              </p:nvSpPr>
              <p:spPr>
                <a:xfrm>
                  <a:off x="-2968095" y="4221184"/>
                  <a:ext cx="1148783" cy="343644"/>
                </a:xfrm>
                <a:prstGeom prst="rect">
                  <a:avLst/>
                </a:prstGeom>
                <a:solidFill>
                  <a:srgbClr val="008000"/>
                </a:solidFill>
                <a:ln w="12700">
                  <a:solidFill>
                    <a:srgbClr val="00CC99">
                      <a:lumMod val="50000"/>
                    </a:srgbClr>
                  </a:solidFill>
                </a:ln>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sp>
              <p:nvSpPr>
                <p:cNvPr id="298" name="Freeform 297">
                  <a:extLst>
                    <a:ext uri="{FF2B5EF4-FFF2-40B4-BE49-F238E27FC236}">
                      <a16:creationId xmlns:a16="http://schemas.microsoft.com/office/drawing/2014/main" id="{23136A14-E923-0449-9DA2-7D7B68ADEFB7}"/>
                    </a:ext>
                  </a:extLst>
                </p:cNvPr>
                <p:cNvSpPr/>
                <p:nvPr/>
              </p:nvSpPr>
              <p:spPr>
                <a:xfrm>
                  <a:off x="-2975522" y="4129732"/>
                  <a:ext cx="1223057" cy="94225"/>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rgbClr val="AAE2CA">
                    <a:lumMod val="50000"/>
                  </a:srgbClr>
                </a:solidFill>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sp>
              <p:nvSpPr>
                <p:cNvPr id="299" name="Freeform 298">
                  <a:extLst>
                    <a:ext uri="{FF2B5EF4-FFF2-40B4-BE49-F238E27FC236}">
                      <a16:creationId xmlns:a16="http://schemas.microsoft.com/office/drawing/2014/main" id="{857700B5-A094-3E46-9DFE-B9968548724C}"/>
                    </a:ext>
                  </a:extLst>
                </p:cNvPr>
                <p:cNvSpPr/>
                <p:nvPr/>
              </p:nvSpPr>
              <p:spPr>
                <a:xfrm rot="21211447" flipV="1">
                  <a:off x="-1853974" y="4146360"/>
                  <a:ext cx="136171" cy="432326"/>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rgbClr val="AAE2CA">
                    <a:lumMod val="50000"/>
                  </a:srgbClr>
                </a:solidFill>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grpSp>
          <p:sp>
            <p:nvSpPr>
              <p:cNvPr id="295" name="TextBox 12">
                <a:extLst>
                  <a:ext uri="{FF2B5EF4-FFF2-40B4-BE49-F238E27FC236}">
                    <a16:creationId xmlns:a16="http://schemas.microsoft.com/office/drawing/2014/main" id="{83DF2AC2-F4A3-8341-BA27-93B23E0B8C62}"/>
                  </a:ext>
                </a:extLst>
              </p:cNvPr>
              <p:cNvSpPr txBox="1">
                <a:spLocks noChangeArrowheads="1"/>
              </p:cNvSpPr>
              <p:nvPr/>
            </p:nvSpPr>
            <p:spPr bwMode="auto">
              <a:xfrm>
                <a:off x="3621632" y="5775938"/>
                <a:ext cx="14932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FFFFFF"/>
                    </a:solidFill>
                    <a:effectLst/>
                    <a:uLnTx/>
                    <a:uFillTx/>
                    <a:latin typeface="Tahoma" panose="020B0604030504040204" pitchFamily="34" charset="0"/>
                    <a:ea typeface="ＭＳ Ｐゴシック" panose="020B0600070205080204" pitchFamily="34" charset="-128"/>
                    <a:cs typeface="+mn-cs"/>
                  </a:rPr>
                  <a:t>ECN=</a:t>
                </a:r>
                <a:r>
                  <a:rPr kumimoji="0" lang="en-US" altLang="en-US" sz="1400" b="0" i="0" u="none" strike="noStrike" kern="0" cap="none" spc="0" normalizeH="0" baseline="0" noProof="0" dirty="0">
                    <a:ln>
                      <a:noFill/>
                    </a:ln>
                    <a:solidFill>
                      <a:srgbClr val="FF0000"/>
                    </a:solidFill>
                    <a:effectLst/>
                    <a:uLnTx/>
                    <a:uFillTx/>
                    <a:latin typeface="Tahoma" panose="020B0604030504040204" pitchFamily="34" charset="0"/>
                    <a:ea typeface="ＭＳ Ｐゴシック" panose="020B0600070205080204" pitchFamily="34" charset="-128"/>
                    <a:cs typeface="+mn-cs"/>
                  </a:rPr>
                  <a:t>11</a:t>
                </a:r>
              </a:p>
            </p:txBody>
          </p:sp>
        </p:grpSp>
        <p:cxnSp>
          <p:nvCxnSpPr>
            <p:cNvPr id="293" name="Straight Arrow Connector 286">
              <a:extLst>
                <a:ext uri="{FF2B5EF4-FFF2-40B4-BE49-F238E27FC236}">
                  <a16:creationId xmlns:a16="http://schemas.microsoft.com/office/drawing/2014/main" id="{0ECC51B7-58FF-1745-ABC7-DC7D16E1E77B}"/>
                </a:ext>
              </a:extLst>
            </p:cNvPr>
            <p:cNvCxnSpPr>
              <a:cxnSpLocks noChangeShapeType="1"/>
            </p:cNvCxnSpPr>
            <p:nvPr/>
          </p:nvCxnSpPr>
          <p:spPr bwMode="auto">
            <a:xfrm flipV="1">
              <a:off x="4483694" y="5949896"/>
              <a:ext cx="457353" cy="183765"/>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0" name="Group 299">
            <a:extLst>
              <a:ext uri="{FF2B5EF4-FFF2-40B4-BE49-F238E27FC236}">
                <a16:creationId xmlns:a16="http://schemas.microsoft.com/office/drawing/2014/main" id="{60BC64D6-7715-054E-AF11-7FFDBEF3B85F}"/>
              </a:ext>
            </a:extLst>
          </p:cNvPr>
          <p:cNvGrpSpPr>
            <a:grpSpLocks/>
          </p:cNvGrpSpPr>
          <p:nvPr/>
        </p:nvGrpSpPr>
        <p:grpSpPr bwMode="auto">
          <a:xfrm>
            <a:off x="4058443" y="4376366"/>
            <a:ext cx="3983038" cy="379413"/>
            <a:chOff x="2334273" y="4534486"/>
            <a:chExt cx="3981995" cy="378689"/>
          </a:xfrm>
        </p:grpSpPr>
        <p:grpSp>
          <p:nvGrpSpPr>
            <p:cNvPr id="301" name="Group 27">
              <a:extLst>
                <a:ext uri="{FF2B5EF4-FFF2-40B4-BE49-F238E27FC236}">
                  <a16:creationId xmlns:a16="http://schemas.microsoft.com/office/drawing/2014/main" id="{14426F0E-58BD-1040-801B-29B3D72CAFB9}"/>
                </a:ext>
              </a:extLst>
            </p:cNvPr>
            <p:cNvGrpSpPr>
              <a:grpSpLocks/>
            </p:cNvGrpSpPr>
            <p:nvPr/>
          </p:nvGrpSpPr>
          <p:grpSpPr bwMode="auto">
            <a:xfrm>
              <a:off x="3508876" y="4534486"/>
              <a:ext cx="1493249" cy="307777"/>
              <a:chOff x="3508876" y="4414358"/>
              <a:chExt cx="1493249" cy="307777"/>
            </a:xfrm>
          </p:grpSpPr>
          <p:sp>
            <p:nvSpPr>
              <p:cNvPr id="304" name="Rectangle 303">
                <a:extLst>
                  <a:ext uri="{FF2B5EF4-FFF2-40B4-BE49-F238E27FC236}">
                    <a16:creationId xmlns:a16="http://schemas.microsoft.com/office/drawing/2014/main" id="{562BEC04-208B-AF43-8603-4D650744166E}"/>
                  </a:ext>
                </a:extLst>
              </p:cNvPr>
              <p:cNvSpPr/>
              <p:nvPr/>
            </p:nvSpPr>
            <p:spPr>
              <a:xfrm>
                <a:off x="3907074" y="4428619"/>
                <a:ext cx="736407" cy="194890"/>
              </a:xfrm>
              <a:prstGeom prst="rect">
                <a:avLst/>
              </a:prstGeom>
              <a:solidFill>
                <a:srgbClr val="008000"/>
              </a:solidFill>
              <a:ln w="12700">
                <a:solidFill>
                  <a:srgbClr val="00CC99">
                    <a:lumMod val="50000"/>
                  </a:srgbClr>
                </a:solidFill>
              </a:ln>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charset="0"/>
                  <a:cs typeface="ＭＳ Ｐゴシック" charset="0"/>
                </a:endParaRPr>
              </a:p>
            </p:txBody>
          </p:sp>
          <p:sp>
            <p:nvSpPr>
              <p:cNvPr id="305" name="Rectangle 298">
                <a:extLst>
                  <a:ext uri="{FF2B5EF4-FFF2-40B4-BE49-F238E27FC236}">
                    <a16:creationId xmlns:a16="http://schemas.microsoft.com/office/drawing/2014/main" id="{4B8356E7-805C-B94C-8997-8E1623302AD2}"/>
                  </a:ext>
                </a:extLst>
              </p:cNvPr>
              <p:cNvSpPr>
                <a:spLocks noChangeArrowheads="1"/>
              </p:cNvSpPr>
              <p:nvPr/>
            </p:nvSpPr>
            <p:spPr bwMode="auto">
              <a:xfrm>
                <a:off x="3863891" y="4478563"/>
                <a:ext cx="737073" cy="196032"/>
              </a:xfrm>
              <a:prstGeom prst="rect">
                <a:avLst/>
              </a:prstGeom>
              <a:solidFill>
                <a:srgbClr val="0000FF"/>
              </a:solidFill>
              <a:ln w="12700">
                <a:solidFill>
                  <a:srgbClr val="000090"/>
                </a:solidFill>
                <a:miter lim="800000"/>
                <a:headEnd/>
                <a:tailEnd/>
              </a:ln>
            </p:spPr>
            <p:txBody>
              <a:bodyPr wrap="none"/>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6" name="Freeform 299">
                <a:extLst>
                  <a:ext uri="{FF2B5EF4-FFF2-40B4-BE49-F238E27FC236}">
                    <a16:creationId xmlns:a16="http://schemas.microsoft.com/office/drawing/2014/main" id="{1BE10154-BCB6-F24B-8AEE-60D80B19309B}"/>
                  </a:ext>
                </a:extLst>
              </p:cNvPr>
              <p:cNvSpPr>
                <a:spLocks/>
              </p:cNvSpPr>
              <p:nvPr/>
            </p:nvSpPr>
            <p:spPr bwMode="auto">
              <a:xfrm>
                <a:off x="3859775" y="4425511"/>
                <a:ext cx="783947" cy="53534"/>
              </a:xfrm>
              <a:custGeom>
                <a:avLst/>
                <a:gdLst>
                  <a:gd name="T0" fmla="*/ 0 w 1223105"/>
                  <a:gd name="T1" fmla="*/ 9475 h 93730"/>
                  <a:gd name="T2" fmla="*/ 11863 w 1223105"/>
                  <a:gd name="T3" fmla="*/ 0 h 93730"/>
                  <a:gd name="T4" fmla="*/ 206422 w 1223105"/>
                  <a:gd name="T5" fmla="*/ 499 h 93730"/>
                  <a:gd name="T6" fmla="*/ 192977 w 1223105"/>
                  <a:gd name="T7" fmla="*/ 9975 h 93730"/>
                  <a:gd name="T8" fmla="*/ 0 w 1223105"/>
                  <a:gd name="T9" fmla="*/ 9475 h 937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3105" h="93730">
                    <a:moveTo>
                      <a:pt x="0" y="89042"/>
                    </a:moveTo>
                    <a:lnTo>
                      <a:pt x="70293" y="0"/>
                    </a:lnTo>
                    <a:lnTo>
                      <a:pt x="1223105" y="4687"/>
                    </a:lnTo>
                    <a:lnTo>
                      <a:pt x="1143439" y="93730"/>
                    </a:lnTo>
                    <a:lnTo>
                      <a:pt x="0" y="89042"/>
                    </a:lnTo>
                    <a:close/>
                  </a:path>
                </a:pathLst>
              </a:custGeom>
              <a:solidFill>
                <a:srgbClr val="3366FF"/>
              </a:solidFill>
              <a:ln w="9525">
                <a:solidFill>
                  <a:srgbClr val="000090"/>
                </a:solidFill>
                <a:round/>
                <a:headEnd/>
                <a:tailEnd/>
              </a:ln>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7" name="Freeform 300">
                <a:extLst>
                  <a:ext uri="{FF2B5EF4-FFF2-40B4-BE49-F238E27FC236}">
                    <a16:creationId xmlns:a16="http://schemas.microsoft.com/office/drawing/2014/main" id="{440256A1-2AE5-1548-8E6E-089AE8C63C4D}"/>
                  </a:ext>
                </a:extLst>
              </p:cNvPr>
              <p:cNvSpPr>
                <a:spLocks/>
              </p:cNvSpPr>
              <p:nvPr/>
            </p:nvSpPr>
            <p:spPr bwMode="auto">
              <a:xfrm rot="21211447" flipV="1">
                <a:off x="4579084" y="4434448"/>
                <a:ext cx="87388" cy="248479"/>
              </a:xfrm>
              <a:custGeom>
                <a:avLst/>
                <a:gdLst>
                  <a:gd name="T0" fmla="*/ 6079 w 136342"/>
                  <a:gd name="T1" fmla="*/ 4406 h 891908"/>
                  <a:gd name="T2" fmla="*/ 0 w 136342"/>
                  <a:gd name="T3" fmla="*/ 0 h 891908"/>
                  <a:gd name="T4" fmla="*/ 17030 w 136342"/>
                  <a:gd name="T5" fmla="*/ 1037 h 891908"/>
                  <a:gd name="T6" fmla="*/ 23010 w 136342"/>
                  <a:gd name="T7" fmla="*/ 5373 h 891908"/>
                  <a:gd name="T8" fmla="*/ 6079 w 136342"/>
                  <a:gd name="T9" fmla="*/ 4406 h 8919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342" h="891908">
                    <a:moveTo>
                      <a:pt x="36019" y="731496"/>
                    </a:moveTo>
                    <a:lnTo>
                      <a:pt x="0" y="1"/>
                    </a:lnTo>
                    <a:lnTo>
                      <a:pt x="100909" y="172120"/>
                    </a:lnTo>
                    <a:lnTo>
                      <a:pt x="136342" y="891907"/>
                    </a:lnTo>
                    <a:lnTo>
                      <a:pt x="36019" y="731496"/>
                    </a:lnTo>
                    <a:close/>
                  </a:path>
                </a:pathLst>
              </a:custGeom>
              <a:solidFill>
                <a:srgbClr val="3366FF"/>
              </a:solidFill>
              <a:ln w="9525">
                <a:solidFill>
                  <a:srgbClr val="000090"/>
                </a:solidFill>
                <a:round/>
                <a:headEnd/>
                <a:tailEnd/>
              </a:ln>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08" name="TextBox 296">
                <a:extLst>
                  <a:ext uri="{FF2B5EF4-FFF2-40B4-BE49-F238E27FC236}">
                    <a16:creationId xmlns:a16="http://schemas.microsoft.com/office/drawing/2014/main" id="{6ED803C2-8474-FE4B-A4EC-6A4A5A09C26A}"/>
                  </a:ext>
                </a:extLst>
              </p:cNvPr>
              <p:cNvSpPr txBox="1">
                <a:spLocks noChangeArrowheads="1"/>
              </p:cNvSpPr>
              <p:nvPr/>
            </p:nvSpPr>
            <p:spPr bwMode="auto">
              <a:xfrm>
                <a:off x="3508876" y="4414358"/>
                <a:ext cx="14932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FFFFFF"/>
                    </a:solidFill>
                    <a:effectLst/>
                    <a:uLnTx/>
                    <a:uFillTx/>
                    <a:latin typeface="Tahoma" panose="020B0604030504040204" pitchFamily="34" charset="0"/>
                    <a:ea typeface="ＭＳ Ｐゴシック" panose="020B0600070205080204" pitchFamily="34" charset="-128"/>
                    <a:cs typeface="+mn-cs"/>
                  </a:rPr>
                  <a:t>ECE=</a:t>
                </a:r>
                <a:r>
                  <a:rPr kumimoji="0" lang="en-US" altLang="en-US" sz="1400" b="0" i="0" u="none" strike="noStrike" kern="0" cap="none" spc="0" normalizeH="0" baseline="0" noProof="0" dirty="0">
                    <a:ln>
                      <a:noFill/>
                    </a:ln>
                    <a:solidFill>
                      <a:srgbClr val="FF0000"/>
                    </a:solidFill>
                    <a:effectLst/>
                    <a:uLnTx/>
                    <a:uFillTx/>
                    <a:latin typeface="Tahoma" panose="020B0604030504040204" pitchFamily="34" charset="0"/>
                    <a:ea typeface="ＭＳ Ｐゴシック" panose="020B0600070205080204" pitchFamily="34" charset="-128"/>
                    <a:cs typeface="+mn-cs"/>
                  </a:rPr>
                  <a:t>1</a:t>
                </a:r>
              </a:p>
            </p:txBody>
          </p:sp>
        </p:grpSp>
        <p:cxnSp>
          <p:nvCxnSpPr>
            <p:cNvPr id="302" name="Straight Arrow Connector 294">
              <a:extLst>
                <a:ext uri="{FF2B5EF4-FFF2-40B4-BE49-F238E27FC236}">
                  <a16:creationId xmlns:a16="http://schemas.microsoft.com/office/drawing/2014/main" id="{0333EB21-19EB-154E-B507-83BF3413D133}"/>
                </a:ext>
              </a:extLst>
            </p:cNvPr>
            <p:cNvCxnSpPr>
              <a:cxnSpLocks noChangeShapeType="1"/>
            </p:cNvCxnSpPr>
            <p:nvPr/>
          </p:nvCxnSpPr>
          <p:spPr bwMode="auto">
            <a:xfrm flipH="1" flipV="1">
              <a:off x="3801047" y="4905427"/>
              <a:ext cx="697737" cy="7748"/>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3" name="Straight Arrow Connector 25">
              <a:extLst>
                <a:ext uri="{FF2B5EF4-FFF2-40B4-BE49-F238E27FC236}">
                  <a16:creationId xmlns:a16="http://schemas.microsoft.com/office/drawing/2014/main" id="{84C1CFE8-8FA7-D24B-BB80-A5D410D91E1F}"/>
                </a:ext>
              </a:extLst>
            </p:cNvPr>
            <p:cNvCxnSpPr>
              <a:cxnSpLocks noChangeShapeType="1"/>
            </p:cNvCxnSpPr>
            <p:nvPr/>
          </p:nvCxnSpPr>
          <p:spPr bwMode="auto">
            <a:xfrm flipH="1">
              <a:off x="2334273" y="4839428"/>
              <a:ext cx="3981995" cy="0"/>
            </a:xfrm>
            <a:prstGeom prst="straightConnector1">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9" name="Group 308">
            <a:extLst>
              <a:ext uri="{FF2B5EF4-FFF2-40B4-BE49-F238E27FC236}">
                <a16:creationId xmlns:a16="http://schemas.microsoft.com/office/drawing/2014/main" id="{E9859027-FE60-9841-9FE7-A58E608A269A}"/>
              </a:ext>
            </a:extLst>
          </p:cNvPr>
          <p:cNvGrpSpPr>
            <a:grpSpLocks/>
          </p:cNvGrpSpPr>
          <p:nvPr/>
        </p:nvGrpSpPr>
        <p:grpSpPr bwMode="auto">
          <a:xfrm>
            <a:off x="2626518" y="6003554"/>
            <a:ext cx="1160463" cy="461962"/>
            <a:chOff x="902416" y="6160831"/>
            <a:chExt cx="1160369" cy="462226"/>
          </a:xfrm>
        </p:grpSpPr>
        <p:sp>
          <p:nvSpPr>
            <p:cNvPr id="310" name="TextBox 29">
              <a:extLst>
                <a:ext uri="{FF2B5EF4-FFF2-40B4-BE49-F238E27FC236}">
                  <a16:creationId xmlns:a16="http://schemas.microsoft.com/office/drawing/2014/main" id="{82440900-2334-F946-90EB-5FA8637ADF05}"/>
                </a:ext>
              </a:extLst>
            </p:cNvPr>
            <p:cNvSpPr txBox="1">
              <a:spLocks noChangeArrowheads="1"/>
            </p:cNvSpPr>
            <p:nvPr/>
          </p:nvSpPr>
          <p:spPr bwMode="auto">
            <a:xfrm>
              <a:off x="902416" y="6315280"/>
              <a:ext cx="11603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IP datagram</a:t>
              </a:r>
            </a:p>
          </p:txBody>
        </p:sp>
        <p:cxnSp>
          <p:nvCxnSpPr>
            <p:cNvPr id="311" name="Straight Connector 31">
              <a:extLst>
                <a:ext uri="{FF2B5EF4-FFF2-40B4-BE49-F238E27FC236}">
                  <a16:creationId xmlns:a16="http://schemas.microsoft.com/office/drawing/2014/main" id="{80F4CA72-3CF5-FA41-9EB4-A49E55C16864}"/>
                </a:ext>
              </a:extLst>
            </p:cNvPr>
            <p:cNvCxnSpPr>
              <a:cxnSpLocks noChangeShapeType="1"/>
            </p:cNvCxnSpPr>
            <p:nvPr/>
          </p:nvCxnSpPr>
          <p:spPr bwMode="auto">
            <a:xfrm flipH="1">
              <a:off x="1785033" y="6160831"/>
              <a:ext cx="274620" cy="24025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2" name="Group 311">
            <a:extLst>
              <a:ext uri="{FF2B5EF4-FFF2-40B4-BE49-F238E27FC236}">
                <a16:creationId xmlns:a16="http://schemas.microsoft.com/office/drawing/2014/main" id="{D82A29D1-4C9E-CE44-A5D6-40B408BEA390}"/>
              </a:ext>
            </a:extLst>
          </p:cNvPr>
          <p:cNvGrpSpPr>
            <a:grpSpLocks/>
          </p:cNvGrpSpPr>
          <p:nvPr/>
        </p:nvGrpSpPr>
        <p:grpSpPr bwMode="auto">
          <a:xfrm>
            <a:off x="6257131" y="3838204"/>
            <a:ext cx="1620837" cy="515937"/>
            <a:chOff x="4531899" y="3996483"/>
            <a:chExt cx="1620957" cy="514832"/>
          </a:xfrm>
        </p:grpSpPr>
        <p:sp>
          <p:nvSpPr>
            <p:cNvPr id="313" name="TextBox 312">
              <a:extLst>
                <a:ext uri="{FF2B5EF4-FFF2-40B4-BE49-F238E27FC236}">
                  <a16:creationId xmlns:a16="http://schemas.microsoft.com/office/drawing/2014/main" id="{17530F4E-F3B8-5644-978B-F46D05030A46}"/>
                </a:ext>
              </a:extLst>
            </p:cNvPr>
            <p:cNvSpPr txBox="1">
              <a:spLocks noChangeArrowheads="1"/>
            </p:cNvSpPr>
            <p:nvPr/>
          </p:nvSpPr>
          <p:spPr bwMode="auto">
            <a:xfrm>
              <a:off x="4531899" y="3996483"/>
              <a:ext cx="16209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TCP ACK segment</a:t>
              </a:r>
            </a:p>
          </p:txBody>
        </p:sp>
        <p:cxnSp>
          <p:nvCxnSpPr>
            <p:cNvPr id="314" name="Straight Connector 313">
              <a:extLst>
                <a:ext uri="{FF2B5EF4-FFF2-40B4-BE49-F238E27FC236}">
                  <a16:creationId xmlns:a16="http://schemas.microsoft.com/office/drawing/2014/main" id="{6343044A-858C-F34D-BCBF-FD46442A2B7E}"/>
                </a:ext>
              </a:extLst>
            </p:cNvPr>
            <p:cNvCxnSpPr>
              <a:cxnSpLocks noChangeShapeType="1"/>
            </p:cNvCxnSpPr>
            <p:nvPr/>
          </p:nvCxnSpPr>
          <p:spPr bwMode="auto">
            <a:xfrm flipH="1">
              <a:off x="4632144" y="4271060"/>
              <a:ext cx="274620" cy="24025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1" name="Slide Number Placeholder 2">
            <a:extLst>
              <a:ext uri="{FF2B5EF4-FFF2-40B4-BE49-F238E27FC236}">
                <a16:creationId xmlns:a16="http://schemas.microsoft.com/office/drawing/2014/main" id="{4FCB648B-CD96-D64D-8CCB-A39CAC1D9955}"/>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66</a:t>
            </a:fld>
            <a:endParaRPr lang="en-US" dirty="0"/>
          </a:p>
        </p:txBody>
      </p:sp>
    </p:spTree>
    <p:extLst>
      <p:ext uri="{BB962C8B-B14F-4D97-AF65-F5344CB8AC3E}">
        <p14:creationId xmlns:p14="http://schemas.microsoft.com/office/powerpoint/2010/main" val="202705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dissolve">
                                      <p:cBhvr>
                                        <p:cTn id="10" dur="5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82"/>
                                        </p:tgtEl>
                                        <p:attrNameLst>
                                          <p:attrName>style.visibility</p:attrName>
                                        </p:attrNameLst>
                                      </p:cBhvr>
                                      <p:to>
                                        <p:strVal val="visible"/>
                                      </p:to>
                                    </p:set>
                                    <p:animEffect transition="in" filter="wipe(left)">
                                      <p:cBhvr>
                                        <p:cTn id="15" dur="500"/>
                                        <p:tgtEl>
                                          <p:spTgt spid="282"/>
                                        </p:tgtEl>
                                      </p:cBhvr>
                                    </p:animEffect>
                                  </p:childTnLst>
                                </p:cTn>
                              </p:par>
                            </p:childTnLst>
                          </p:cTn>
                        </p:par>
                        <p:par>
                          <p:cTn id="16" fill="hold">
                            <p:stCondLst>
                              <p:cond delay="500"/>
                            </p:stCondLst>
                            <p:childTnLst>
                              <p:par>
                                <p:cTn id="17" presetID="9" presetClass="entr" presetSubtype="0" fill="hold" nodeType="afterEffect">
                                  <p:stCondLst>
                                    <p:cond delay="0"/>
                                  </p:stCondLst>
                                  <p:childTnLst>
                                    <p:set>
                                      <p:cBhvr>
                                        <p:cTn id="18" dur="1" fill="hold">
                                          <p:stCondLst>
                                            <p:cond delay="0"/>
                                          </p:stCondLst>
                                        </p:cTn>
                                        <p:tgtEl>
                                          <p:spTgt spid="309"/>
                                        </p:tgtEl>
                                        <p:attrNameLst>
                                          <p:attrName>style.visibility</p:attrName>
                                        </p:attrNameLst>
                                      </p:cBhvr>
                                      <p:to>
                                        <p:strVal val="visible"/>
                                      </p:to>
                                    </p:set>
                                    <p:animEffect transition="in" filter="dissolve">
                                      <p:cBhvr>
                                        <p:cTn id="19" dur="500"/>
                                        <p:tgtEl>
                                          <p:spTgt spid="309"/>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dissolve">
                                      <p:cBhvr>
                                        <p:cTn id="24" dur="500"/>
                                        <p:tgtEl>
                                          <p:spTgt spid="6">
                                            <p:txEl>
                                              <p:pRg st="3" end="3"/>
                                            </p:txEl>
                                          </p:spTgt>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91"/>
                                        </p:tgtEl>
                                        <p:attrNameLst>
                                          <p:attrName>style.visibility</p:attrName>
                                        </p:attrNameLst>
                                      </p:cBhvr>
                                      <p:to>
                                        <p:strVal val="visible"/>
                                      </p:to>
                                    </p:set>
                                    <p:animEffect transition="in" filter="wipe(left)">
                                      <p:cBhvr>
                                        <p:cTn id="28" dur="500"/>
                                        <p:tgtEl>
                                          <p:spTgt spid="291"/>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dissolve">
                                      <p:cBhvr>
                                        <p:cTn id="33" dur="500"/>
                                        <p:tgtEl>
                                          <p:spTgt spid="6">
                                            <p:txEl>
                                              <p:pRg st="4" end="4"/>
                                            </p:txEl>
                                          </p:spTgt>
                                        </p:tgtEl>
                                      </p:cBhvr>
                                    </p:animEffect>
                                  </p:childTnLst>
                                </p:cTn>
                              </p:par>
                            </p:childTnLst>
                          </p:cTn>
                        </p:par>
                        <p:par>
                          <p:cTn id="34" fill="hold">
                            <p:stCondLst>
                              <p:cond delay="500"/>
                            </p:stCondLst>
                            <p:childTnLst>
                              <p:par>
                                <p:cTn id="35" presetID="22" presetClass="entr" presetSubtype="2" fill="hold" nodeType="afterEffect">
                                  <p:stCondLst>
                                    <p:cond delay="0"/>
                                  </p:stCondLst>
                                  <p:childTnLst>
                                    <p:set>
                                      <p:cBhvr>
                                        <p:cTn id="36" dur="1" fill="hold">
                                          <p:stCondLst>
                                            <p:cond delay="0"/>
                                          </p:stCondLst>
                                        </p:cTn>
                                        <p:tgtEl>
                                          <p:spTgt spid="300"/>
                                        </p:tgtEl>
                                        <p:attrNameLst>
                                          <p:attrName>style.visibility</p:attrName>
                                        </p:attrNameLst>
                                      </p:cBhvr>
                                      <p:to>
                                        <p:strVal val="visible"/>
                                      </p:to>
                                    </p:set>
                                    <p:animEffect transition="in" filter="wipe(right)">
                                      <p:cBhvr>
                                        <p:cTn id="37" dur="500"/>
                                        <p:tgtEl>
                                          <p:spTgt spid="300"/>
                                        </p:tgtEl>
                                      </p:cBhvr>
                                    </p:animEffect>
                                  </p:childTnLst>
                                </p:cTn>
                              </p:par>
                              <p:par>
                                <p:cTn id="38" presetID="9" presetClass="entr" presetSubtype="0" fill="hold" nodeType="withEffect">
                                  <p:stCondLst>
                                    <p:cond delay="0"/>
                                  </p:stCondLst>
                                  <p:childTnLst>
                                    <p:set>
                                      <p:cBhvr>
                                        <p:cTn id="39" dur="1" fill="hold">
                                          <p:stCondLst>
                                            <p:cond delay="0"/>
                                          </p:stCondLst>
                                        </p:cTn>
                                        <p:tgtEl>
                                          <p:spTgt spid="312"/>
                                        </p:tgtEl>
                                        <p:attrNameLst>
                                          <p:attrName>style.visibility</p:attrName>
                                        </p:attrNameLst>
                                      </p:cBhvr>
                                      <p:to>
                                        <p:strVal val="visible"/>
                                      </p:to>
                                    </p:set>
                                    <p:animEffect transition="in" filter="dissolve">
                                      <p:cBhvr>
                                        <p:cTn id="40" dur="500"/>
                                        <p:tgtEl>
                                          <p:spTgt spid="312"/>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6">
                                            <p:txEl>
                                              <p:pRg st="5" end="5"/>
                                            </p:txEl>
                                          </p:spTgt>
                                        </p:tgtEl>
                                        <p:attrNameLst>
                                          <p:attrName>style.visibility</p:attrName>
                                        </p:attrNameLst>
                                      </p:cBhvr>
                                      <p:to>
                                        <p:strVal val="visible"/>
                                      </p:to>
                                    </p:set>
                                    <p:animEffect transition="in" filter="dissolve">
                                      <p:cBhvr>
                                        <p:cTn id="45"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 name="Group 102">
            <a:extLst>
              <a:ext uri="{FF2B5EF4-FFF2-40B4-BE49-F238E27FC236}">
                <a16:creationId xmlns:a16="http://schemas.microsoft.com/office/drawing/2014/main" id="{DDBB9026-12F2-A349-BFEF-8C31C7F86092}"/>
              </a:ext>
            </a:extLst>
          </p:cNvPr>
          <p:cNvGrpSpPr/>
          <p:nvPr/>
        </p:nvGrpSpPr>
        <p:grpSpPr>
          <a:xfrm>
            <a:off x="7593761" y="3434252"/>
            <a:ext cx="1100814" cy="719137"/>
            <a:chOff x="7493876" y="2774731"/>
            <a:chExt cx="1481958" cy="894622"/>
          </a:xfrm>
        </p:grpSpPr>
        <p:sp>
          <p:nvSpPr>
            <p:cNvPr id="104" name="Freeform 103">
              <a:extLst>
                <a:ext uri="{FF2B5EF4-FFF2-40B4-BE49-F238E27FC236}">
                  <a16:creationId xmlns:a16="http://schemas.microsoft.com/office/drawing/2014/main" id="{2EAD1D45-E7DC-F546-BF28-57362134135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5" name="Oval 104">
              <a:extLst>
                <a:ext uri="{FF2B5EF4-FFF2-40B4-BE49-F238E27FC236}">
                  <a16:creationId xmlns:a16="http://schemas.microsoft.com/office/drawing/2014/main" id="{C917A520-A78E-6F4B-A627-C017D0408DA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6" name="Group 105">
              <a:extLst>
                <a:ext uri="{FF2B5EF4-FFF2-40B4-BE49-F238E27FC236}">
                  <a16:creationId xmlns:a16="http://schemas.microsoft.com/office/drawing/2014/main" id="{515FCDD6-C861-564F-B521-7551F1A8280E}"/>
                </a:ext>
              </a:extLst>
            </p:cNvPr>
            <p:cNvGrpSpPr/>
            <p:nvPr/>
          </p:nvGrpSpPr>
          <p:grpSpPr>
            <a:xfrm>
              <a:off x="7713663" y="2848339"/>
              <a:ext cx="1042107" cy="425543"/>
              <a:chOff x="7786941" y="2884917"/>
              <a:chExt cx="897649" cy="353919"/>
            </a:xfrm>
          </p:grpSpPr>
          <p:sp>
            <p:nvSpPr>
              <p:cNvPr id="107" name="Freeform 106">
                <a:extLst>
                  <a:ext uri="{FF2B5EF4-FFF2-40B4-BE49-F238E27FC236}">
                    <a16:creationId xmlns:a16="http://schemas.microsoft.com/office/drawing/2014/main" id="{EB9B6B9B-3107-CD48-AEC1-E65E25BE6AC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8" name="Freeform 107">
                <a:extLst>
                  <a:ext uri="{FF2B5EF4-FFF2-40B4-BE49-F238E27FC236}">
                    <a16:creationId xmlns:a16="http://schemas.microsoft.com/office/drawing/2014/main" id="{B5DD3803-6AF8-3847-B395-25898737955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9" name="Freeform 108">
                <a:extLst>
                  <a:ext uri="{FF2B5EF4-FFF2-40B4-BE49-F238E27FC236}">
                    <a16:creationId xmlns:a16="http://schemas.microsoft.com/office/drawing/2014/main" id="{DA65177F-9EDB-4144-8C88-7E37D8240AB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97906B30-472F-354C-82AF-33220C002B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95" name="Group 94">
            <a:extLst>
              <a:ext uri="{FF2B5EF4-FFF2-40B4-BE49-F238E27FC236}">
                <a16:creationId xmlns:a16="http://schemas.microsoft.com/office/drawing/2014/main" id="{70DB66D8-759D-3E45-8AD9-CC358022D572}"/>
              </a:ext>
            </a:extLst>
          </p:cNvPr>
          <p:cNvGrpSpPr/>
          <p:nvPr/>
        </p:nvGrpSpPr>
        <p:grpSpPr>
          <a:xfrm>
            <a:off x="5720127" y="3438633"/>
            <a:ext cx="1100814" cy="719137"/>
            <a:chOff x="7493876" y="2774731"/>
            <a:chExt cx="1481958" cy="894622"/>
          </a:xfrm>
        </p:grpSpPr>
        <p:sp>
          <p:nvSpPr>
            <p:cNvPr id="96" name="Freeform 95">
              <a:extLst>
                <a:ext uri="{FF2B5EF4-FFF2-40B4-BE49-F238E27FC236}">
                  <a16:creationId xmlns:a16="http://schemas.microsoft.com/office/drawing/2014/main" id="{E483E17D-400D-C84C-8056-02B78CDD0DE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97" name="Oval 96">
              <a:extLst>
                <a:ext uri="{FF2B5EF4-FFF2-40B4-BE49-F238E27FC236}">
                  <a16:creationId xmlns:a16="http://schemas.microsoft.com/office/drawing/2014/main" id="{318D9153-5EE4-3340-BCD3-478931CFC7F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98" name="Group 97">
              <a:extLst>
                <a:ext uri="{FF2B5EF4-FFF2-40B4-BE49-F238E27FC236}">
                  <a16:creationId xmlns:a16="http://schemas.microsoft.com/office/drawing/2014/main" id="{DAAFD939-A5C2-6A45-BE89-14CD8870A576}"/>
                </a:ext>
              </a:extLst>
            </p:cNvPr>
            <p:cNvGrpSpPr/>
            <p:nvPr/>
          </p:nvGrpSpPr>
          <p:grpSpPr>
            <a:xfrm>
              <a:off x="7713663" y="2848339"/>
              <a:ext cx="1042107" cy="425543"/>
              <a:chOff x="7786941" y="2884917"/>
              <a:chExt cx="897649" cy="353919"/>
            </a:xfrm>
          </p:grpSpPr>
          <p:sp>
            <p:nvSpPr>
              <p:cNvPr id="99" name="Freeform 98">
                <a:extLst>
                  <a:ext uri="{FF2B5EF4-FFF2-40B4-BE49-F238E27FC236}">
                    <a16:creationId xmlns:a16="http://schemas.microsoft.com/office/drawing/2014/main" id="{762F9A94-D8D0-934F-94BA-2BF1A64428C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0" name="Freeform 99">
                <a:extLst>
                  <a:ext uri="{FF2B5EF4-FFF2-40B4-BE49-F238E27FC236}">
                    <a16:creationId xmlns:a16="http://schemas.microsoft.com/office/drawing/2014/main" id="{205790B6-6F8F-394F-AEFC-DC10F8B5D5D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1" name="Freeform 100">
                <a:extLst>
                  <a:ext uri="{FF2B5EF4-FFF2-40B4-BE49-F238E27FC236}">
                    <a16:creationId xmlns:a16="http://schemas.microsoft.com/office/drawing/2014/main" id="{355156BC-1504-E74B-8008-40A919B5BE4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 name="Freeform 101">
                <a:extLst>
                  <a:ext uri="{FF2B5EF4-FFF2-40B4-BE49-F238E27FC236}">
                    <a16:creationId xmlns:a16="http://schemas.microsoft.com/office/drawing/2014/main" id="{216A1E01-4397-904B-AF75-454F94DE105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719" y="271755"/>
            <a:ext cx="11393310" cy="894622"/>
          </a:xfrm>
        </p:spPr>
        <p:txBody>
          <a:bodyPr>
            <a:normAutofit/>
          </a:bodyPr>
          <a:lstStyle/>
          <a:p>
            <a:r>
              <a:rPr lang="en-US" sz="4800" dirty="0"/>
              <a:t>TCP fairness</a:t>
            </a:r>
            <a:endParaRPr lang="en-US" sz="4400" b="0" dirty="0"/>
          </a:p>
        </p:txBody>
      </p:sp>
      <p:sp>
        <p:nvSpPr>
          <p:cNvPr id="15" name="Rectangle 4">
            <a:extLst>
              <a:ext uri="{FF2B5EF4-FFF2-40B4-BE49-F238E27FC236}">
                <a16:creationId xmlns:a16="http://schemas.microsoft.com/office/drawing/2014/main" id="{FC515608-44C0-AE4F-9716-2C57F89C9FF4}"/>
              </a:ext>
            </a:extLst>
          </p:cNvPr>
          <p:cNvSpPr txBox="1">
            <a:spLocks noChangeArrowheads="1"/>
          </p:cNvSpPr>
          <p:nvPr/>
        </p:nvSpPr>
        <p:spPr>
          <a:xfrm>
            <a:off x="876300" y="1271325"/>
            <a:ext cx="10174288" cy="10890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C0000"/>
                </a:solidFill>
                <a:effectLst/>
                <a:uLnTx/>
                <a:uFillTx/>
                <a:latin typeface="Calibri" panose="020F0502020204030204"/>
                <a:ea typeface="+mn-ea"/>
                <a:cs typeface="+mn-cs"/>
              </a:rPr>
              <a:t>Fairness goal:</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if</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 K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TCP sessions share same bottleneck link of bandwidth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R</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each should have average rate of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mn-cs"/>
              </a:rPr>
              <a:t>R/K</a:t>
            </a:r>
          </a:p>
        </p:txBody>
      </p:sp>
      <p:sp>
        <p:nvSpPr>
          <p:cNvPr id="61" name="Line 68">
            <a:extLst>
              <a:ext uri="{FF2B5EF4-FFF2-40B4-BE49-F238E27FC236}">
                <a16:creationId xmlns:a16="http://schemas.microsoft.com/office/drawing/2014/main" id="{CDC7342A-49E4-EA42-944C-558FC96B498E}"/>
              </a:ext>
            </a:extLst>
          </p:cNvPr>
          <p:cNvSpPr>
            <a:spLocks noChangeShapeType="1"/>
          </p:cNvSpPr>
          <p:nvPr/>
        </p:nvSpPr>
        <p:spPr bwMode="auto">
          <a:xfrm flipV="1">
            <a:off x="6816123" y="3752849"/>
            <a:ext cx="819151" cy="8919"/>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0" name="Rectangle 25">
            <a:extLst>
              <a:ext uri="{FF2B5EF4-FFF2-40B4-BE49-F238E27FC236}">
                <a16:creationId xmlns:a16="http://schemas.microsoft.com/office/drawing/2014/main" id="{75F28C3D-FB3C-2547-B5A0-31713944D0F9}"/>
              </a:ext>
            </a:extLst>
          </p:cNvPr>
          <p:cNvSpPr>
            <a:spLocks noChangeArrowheads="1"/>
          </p:cNvSpPr>
          <p:nvPr/>
        </p:nvSpPr>
        <p:spPr bwMode="auto">
          <a:xfrm>
            <a:off x="6986588" y="3552825"/>
            <a:ext cx="147637" cy="200025"/>
          </a:xfrm>
          <a:prstGeom prst="rect">
            <a:avLst/>
          </a:prstGeom>
          <a:solidFill>
            <a:srgbClr val="0099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1" name="Rectangle 26">
            <a:extLst>
              <a:ext uri="{FF2B5EF4-FFF2-40B4-BE49-F238E27FC236}">
                <a16:creationId xmlns:a16="http://schemas.microsoft.com/office/drawing/2014/main" id="{2FFB7F49-0A17-8244-A6C8-A042CD8FF570}"/>
              </a:ext>
            </a:extLst>
          </p:cNvPr>
          <p:cNvSpPr>
            <a:spLocks noChangeArrowheads="1"/>
          </p:cNvSpPr>
          <p:nvPr/>
        </p:nvSpPr>
        <p:spPr bwMode="auto">
          <a:xfrm>
            <a:off x="6296025" y="3614738"/>
            <a:ext cx="147638" cy="200025"/>
          </a:xfrm>
          <a:prstGeom prst="rect">
            <a:avLst/>
          </a:prstGeom>
          <a:solidFill>
            <a:srgbClr val="0099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2" name="Rectangle 27">
            <a:extLst>
              <a:ext uri="{FF2B5EF4-FFF2-40B4-BE49-F238E27FC236}">
                <a16:creationId xmlns:a16="http://schemas.microsoft.com/office/drawing/2014/main" id="{506AE97C-512B-D047-B5C2-A8583E61E051}"/>
              </a:ext>
            </a:extLst>
          </p:cNvPr>
          <p:cNvSpPr>
            <a:spLocks noChangeArrowheads="1"/>
          </p:cNvSpPr>
          <p:nvPr/>
        </p:nvSpPr>
        <p:spPr bwMode="auto">
          <a:xfrm>
            <a:off x="6586538" y="3552825"/>
            <a:ext cx="147637" cy="200025"/>
          </a:xfrm>
          <a:prstGeom prst="rect">
            <a:avLst/>
          </a:prstGeom>
          <a:solidFill>
            <a:srgbClr val="0099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3" name="Text Box 28">
            <a:extLst>
              <a:ext uri="{FF2B5EF4-FFF2-40B4-BE49-F238E27FC236}">
                <a16:creationId xmlns:a16="http://schemas.microsoft.com/office/drawing/2014/main" id="{D7035546-992D-A546-9880-E3DFD92C39EA}"/>
              </a:ext>
            </a:extLst>
          </p:cNvPr>
          <p:cNvSpPr txBox="1">
            <a:spLocks noChangeArrowheads="1"/>
          </p:cNvSpPr>
          <p:nvPr/>
        </p:nvSpPr>
        <p:spPr bwMode="auto">
          <a:xfrm>
            <a:off x="2370566" y="2468215"/>
            <a:ext cx="233826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connection 1</a:t>
            </a:r>
          </a:p>
        </p:txBody>
      </p:sp>
      <p:sp>
        <p:nvSpPr>
          <p:cNvPr id="84" name="Text Box 29">
            <a:extLst>
              <a:ext uri="{FF2B5EF4-FFF2-40B4-BE49-F238E27FC236}">
                <a16:creationId xmlns:a16="http://schemas.microsoft.com/office/drawing/2014/main" id="{7297E699-0BA6-F14E-9015-0764C0BCD193}"/>
              </a:ext>
            </a:extLst>
          </p:cNvPr>
          <p:cNvSpPr txBox="1">
            <a:spLocks noChangeArrowheads="1"/>
          </p:cNvSpPr>
          <p:nvPr/>
        </p:nvSpPr>
        <p:spPr bwMode="auto">
          <a:xfrm>
            <a:off x="5510979" y="4275418"/>
            <a:ext cx="1518813"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bottleneck</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router</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capacity R</a:t>
            </a:r>
          </a:p>
        </p:txBody>
      </p:sp>
      <p:sp>
        <p:nvSpPr>
          <p:cNvPr id="85" name="Freeform 40">
            <a:extLst>
              <a:ext uri="{FF2B5EF4-FFF2-40B4-BE49-F238E27FC236}">
                <a16:creationId xmlns:a16="http://schemas.microsoft.com/office/drawing/2014/main" id="{7B18511C-E0F5-ED42-B886-442969765A2C}"/>
              </a:ext>
            </a:extLst>
          </p:cNvPr>
          <p:cNvSpPr>
            <a:spLocks/>
          </p:cNvSpPr>
          <p:nvPr/>
        </p:nvSpPr>
        <p:spPr bwMode="auto">
          <a:xfrm>
            <a:off x="4765675" y="2967952"/>
            <a:ext cx="4227323" cy="719138"/>
          </a:xfrm>
          <a:custGeom>
            <a:avLst/>
            <a:gdLst>
              <a:gd name="T0" fmla="*/ 0 w 2412"/>
              <a:gd name="T1" fmla="*/ 0 h 453"/>
              <a:gd name="T2" fmla="*/ 2147483647 w 2412"/>
              <a:gd name="T3" fmla="*/ 2147483647 h 453"/>
              <a:gd name="T4" fmla="*/ 2147483647 w 2412"/>
              <a:gd name="T5" fmla="*/ 2147483647 h 453"/>
              <a:gd name="T6" fmla="*/ 0 60000 65536"/>
              <a:gd name="T7" fmla="*/ 0 60000 65536"/>
              <a:gd name="T8" fmla="*/ 0 60000 65536"/>
            </a:gdLst>
            <a:ahLst/>
            <a:cxnLst>
              <a:cxn ang="T6">
                <a:pos x="T0" y="T1"/>
              </a:cxn>
              <a:cxn ang="T7">
                <a:pos x="T2" y="T3"/>
              </a:cxn>
              <a:cxn ang="T8">
                <a:pos x="T4" y="T5"/>
              </a:cxn>
            </a:cxnLst>
            <a:rect l="0" t="0" r="r" b="b"/>
            <a:pathLst>
              <a:path w="2412" h="453">
                <a:moveTo>
                  <a:pt x="0" y="0"/>
                </a:moveTo>
                <a:cubicBezTo>
                  <a:pt x="93" y="65"/>
                  <a:pt x="156" y="318"/>
                  <a:pt x="558" y="390"/>
                </a:cubicBezTo>
                <a:cubicBezTo>
                  <a:pt x="959" y="453"/>
                  <a:pt x="2026" y="423"/>
                  <a:pt x="2412" y="432"/>
                </a:cubicBezTo>
              </a:path>
            </a:pathLst>
          </a:custGeom>
          <a:noFill/>
          <a:ln w="38100" cap="flat" cmpd="sng">
            <a:solidFill>
              <a:srgbClr val="00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6" name="Rectangle 41">
            <a:extLst>
              <a:ext uri="{FF2B5EF4-FFF2-40B4-BE49-F238E27FC236}">
                <a16:creationId xmlns:a16="http://schemas.microsoft.com/office/drawing/2014/main" id="{B87FB624-4166-674A-B3AB-E61FF504C187}"/>
              </a:ext>
            </a:extLst>
          </p:cNvPr>
          <p:cNvSpPr>
            <a:spLocks noChangeArrowheads="1"/>
          </p:cNvSpPr>
          <p:nvPr/>
        </p:nvSpPr>
        <p:spPr bwMode="auto">
          <a:xfrm>
            <a:off x="6457950" y="3614738"/>
            <a:ext cx="147638" cy="200025"/>
          </a:xfrm>
          <a:prstGeom prst="rect">
            <a:avLst/>
          </a:prstGeom>
          <a:solidFill>
            <a:srgbClr val="3333CC"/>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Freeform 42">
            <a:extLst>
              <a:ext uri="{FF2B5EF4-FFF2-40B4-BE49-F238E27FC236}">
                <a16:creationId xmlns:a16="http://schemas.microsoft.com/office/drawing/2014/main" id="{219FFC1B-3A12-DC4B-B53E-9BB5E48658B7}"/>
              </a:ext>
            </a:extLst>
          </p:cNvPr>
          <p:cNvSpPr>
            <a:spLocks/>
          </p:cNvSpPr>
          <p:nvPr/>
        </p:nvSpPr>
        <p:spPr bwMode="auto">
          <a:xfrm>
            <a:off x="4724400" y="3763963"/>
            <a:ext cx="4268598" cy="719137"/>
          </a:xfrm>
          <a:custGeom>
            <a:avLst/>
            <a:gdLst>
              <a:gd name="T0" fmla="*/ 0 w 2412"/>
              <a:gd name="T1" fmla="*/ 2147483647 h 453"/>
              <a:gd name="T2" fmla="*/ 2147483647 w 2412"/>
              <a:gd name="T3" fmla="*/ 2147483647 h 453"/>
              <a:gd name="T4" fmla="*/ 2147483647 w 2412"/>
              <a:gd name="T5" fmla="*/ 2147483647 h 453"/>
              <a:gd name="T6" fmla="*/ 0 60000 65536"/>
              <a:gd name="T7" fmla="*/ 0 60000 65536"/>
              <a:gd name="T8" fmla="*/ 0 60000 65536"/>
            </a:gdLst>
            <a:ahLst/>
            <a:cxnLst>
              <a:cxn ang="T6">
                <a:pos x="T0" y="T1"/>
              </a:cxn>
              <a:cxn ang="T7">
                <a:pos x="T2" y="T3"/>
              </a:cxn>
              <a:cxn ang="T8">
                <a:pos x="T4" y="T5"/>
              </a:cxn>
            </a:cxnLst>
            <a:rect l="0" t="0" r="r" b="b"/>
            <a:pathLst>
              <a:path w="2412" h="453">
                <a:moveTo>
                  <a:pt x="0" y="453"/>
                </a:moveTo>
                <a:cubicBezTo>
                  <a:pt x="93" y="388"/>
                  <a:pt x="156" y="134"/>
                  <a:pt x="558" y="63"/>
                </a:cubicBezTo>
                <a:cubicBezTo>
                  <a:pt x="959" y="0"/>
                  <a:pt x="2026" y="36"/>
                  <a:pt x="2412" y="29"/>
                </a:cubicBezTo>
              </a:path>
            </a:pathLst>
          </a:custGeom>
          <a:noFill/>
          <a:ln w="38100" cap="flat" cmpd="sng">
            <a:solidFill>
              <a:srgbClr val="3333CC"/>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88" name="Text Box 48">
            <a:extLst>
              <a:ext uri="{FF2B5EF4-FFF2-40B4-BE49-F238E27FC236}">
                <a16:creationId xmlns:a16="http://schemas.microsoft.com/office/drawing/2014/main" id="{1859B4C2-A97D-4B48-B306-9FC98BD5A129}"/>
              </a:ext>
            </a:extLst>
          </p:cNvPr>
          <p:cNvSpPr txBox="1">
            <a:spLocks noChangeArrowheads="1"/>
          </p:cNvSpPr>
          <p:nvPr/>
        </p:nvSpPr>
        <p:spPr bwMode="auto">
          <a:xfrm>
            <a:off x="2354381" y="4692948"/>
            <a:ext cx="233826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connection 2</a:t>
            </a:r>
          </a:p>
        </p:txBody>
      </p:sp>
      <p:grpSp>
        <p:nvGrpSpPr>
          <p:cNvPr id="89" name="Group 69">
            <a:extLst>
              <a:ext uri="{FF2B5EF4-FFF2-40B4-BE49-F238E27FC236}">
                <a16:creationId xmlns:a16="http://schemas.microsoft.com/office/drawing/2014/main" id="{E41C4D8C-20B4-204B-B9D2-EF53C43D06A8}"/>
              </a:ext>
            </a:extLst>
          </p:cNvPr>
          <p:cNvGrpSpPr>
            <a:grpSpLocks/>
          </p:cNvGrpSpPr>
          <p:nvPr/>
        </p:nvGrpSpPr>
        <p:grpSpPr bwMode="auto">
          <a:xfrm>
            <a:off x="3975100" y="2860675"/>
            <a:ext cx="766763" cy="704850"/>
            <a:chOff x="-44" y="1473"/>
            <a:chExt cx="981" cy="1105"/>
          </a:xfrm>
        </p:grpSpPr>
        <p:pic>
          <p:nvPicPr>
            <p:cNvPr id="90" name="Picture 70" descr="desktop_computer_stylized_medium">
              <a:extLst>
                <a:ext uri="{FF2B5EF4-FFF2-40B4-BE49-F238E27FC236}">
                  <a16:creationId xmlns:a16="http://schemas.microsoft.com/office/drawing/2014/main" id="{0A14B506-3AAE-F546-9A74-AC6072F15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Freeform 71">
              <a:extLst>
                <a:ext uri="{FF2B5EF4-FFF2-40B4-BE49-F238E27FC236}">
                  <a16:creationId xmlns:a16="http://schemas.microsoft.com/office/drawing/2014/main" id="{F6DE560E-4DD1-2842-AD9C-065090AD368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92" name="Group 72">
            <a:extLst>
              <a:ext uri="{FF2B5EF4-FFF2-40B4-BE49-F238E27FC236}">
                <a16:creationId xmlns:a16="http://schemas.microsoft.com/office/drawing/2014/main" id="{D4B132ED-F65A-8349-9956-0282CD84A913}"/>
              </a:ext>
            </a:extLst>
          </p:cNvPr>
          <p:cNvGrpSpPr>
            <a:grpSpLocks/>
          </p:cNvGrpSpPr>
          <p:nvPr/>
        </p:nvGrpSpPr>
        <p:grpSpPr bwMode="auto">
          <a:xfrm>
            <a:off x="3978275" y="4106863"/>
            <a:ext cx="766763" cy="704850"/>
            <a:chOff x="-44" y="1473"/>
            <a:chExt cx="981" cy="1105"/>
          </a:xfrm>
        </p:grpSpPr>
        <p:pic>
          <p:nvPicPr>
            <p:cNvPr id="93" name="Picture 73" descr="desktop_computer_stylized_medium">
              <a:extLst>
                <a:ext uri="{FF2B5EF4-FFF2-40B4-BE49-F238E27FC236}">
                  <a16:creationId xmlns:a16="http://schemas.microsoft.com/office/drawing/2014/main" id="{4A386E2E-C0EC-8A47-9B1E-88CB80A47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Freeform 74">
              <a:extLst>
                <a:ext uri="{FF2B5EF4-FFF2-40B4-BE49-F238E27FC236}">
                  <a16:creationId xmlns:a16="http://schemas.microsoft.com/office/drawing/2014/main" id="{021EC07F-1EE7-F54E-88B9-7C2A3644AA1B}"/>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36" name="Slide Number Placeholder 2">
            <a:extLst>
              <a:ext uri="{FF2B5EF4-FFF2-40B4-BE49-F238E27FC236}">
                <a16:creationId xmlns:a16="http://schemas.microsoft.com/office/drawing/2014/main" id="{BB114D03-0978-4146-94B8-68FCC4AA261B}"/>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67</a:t>
            </a:fld>
            <a:endParaRPr lang="en-US" dirty="0"/>
          </a:p>
        </p:txBody>
      </p:sp>
    </p:spTree>
    <p:extLst>
      <p:ext uri="{BB962C8B-B14F-4D97-AF65-F5344CB8AC3E}">
        <p14:creationId xmlns:p14="http://schemas.microsoft.com/office/powerpoint/2010/main" val="30415736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34526"/>
            <a:ext cx="11393310" cy="894622"/>
          </a:xfrm>
        </p:spPr>
        <p:txBody>
          <a:bodyPr>
            <a:normAutofit/>
          </a:bodyPr>
          <a:lstStyle/>
          <a:p>
            <a:r>
              <a:rPr lang="en-US" sz="4800" dirty="0"/>
              <a:t>Q: is TCP Fair?</a:t>
            </a:r>
            <a:endParaRPr lang="en-US" sz="4400" b="0" dirty="0"/>
          </a:p>
        </p:txBody>
      </p:sp>
      <p:sp>
        <p:nvSpPr>
          <p:cNvPr id="37" name="Rectangle 3">
            <a:extLst>
              <a:ext uri="{FF2B5EF4-FFF2-40B4-BE49-F238E27FC236}">
                <a16:creationId xmlns:a16="http://schemas.microsoft.com/office/drawing/2014/main" id="{F376200C-B032-3845-A02F-653A6DB1CA80}"/>
              </a:ext>
            </a:extLst>
          </p:cNvPr>
          <p:cNvSpPr txBox="1">
            <a:spLocks noChangeArrowheads="1"/>
          </p:cNvSpPr>
          <p:nvPr/>
        </p:nvSpPr>
        <p:spPr>
          <a:xfrm>
            <a:off x="1028116" y="1209675"/>
            <a:ext cx="10643184"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Example: two competing TCP sessions:</a:t>
            </a:r>
          </a:p>
          <a:p>
            <a:pPr marL="457200" marR="0" lvl="0" indent="-2159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additive increase gives slope of 1, </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as throughput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increases</a:t>
            </a:r>
          </a:p>
          <a:p>
            <a:pPr marL="457200" marR="0" lvl="0" indent="-21590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multiplicative decrease decreases throughput proportionally </a:t>
            </a:r>
          </a:p>
        </p:txBody>
      </p:sp>
      <p:sp>
        <p:nvSpPr>
          <p:cNvPr id="58" name="Line 4">
            <a:extLst>
              <a:ext uri="{FF2B5EF4-FFF2-40B4-BE49-F238E27FC236}">
                <a16:creationId xmlns:a16="http://schemas.microsoft.com/office/drawing/2014/main" id="{DBA281FC-CC2B-3B4C-8CA6-4EDCC95E7FC5}"/>
              </a:ext>
            </a:extLst>
          </p:cNvPr>
          <p:cNvSpPr>
            <a:spLocks noChangeShapeType="1"/>
          </p:cNvSpPr>
          <p:nvPr/>
        </p:nvSpPr>
        <p:spPr bwMode="auto">
          <a:xfrm>
            <a:off x="1701800" y="6091237"/>
            <a:ext cx="3638550" cy="0"/>
          </a:xfrm>
          <a:prstGeom prst="line">
            <a:avLst/>
          </a:prstGeom>
          <a:noFill/>
          <a:ln w="381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9" name="Line 5">
            <a:extLst>
              <a:ext uri="{FF2B5EF4-FFF2-40B4-BE49-F238E27FC236}">
                <a16:creationId xmlns:a16="http://schemas.microsoft.com/office/drawing/2014/main" id="{B4E196DB-854B-3549-98E9-F41F0D1F00AE}"/>
              </a:ext>
            </a:extLst>
          </p:cNvPr>
          <p:cNvSpPr>
            <a:spLocks noChangeShapeType="1"/>
          </p:cNvSpPr>
          <p:nvPr/>
        </p:nvSpPr>
        <p:spPr bwMode="auto">
          <a:xfrm flipV="1">
            <a:off x="1701800" y="2995612"/>
            <a:ext cx="0" cy="3086100"/>
          </a:xfrm>
          <a:prstGeom prst="line">
            <a:avLst/>
          </a:prstGeom>
          <a:noFill/>
          <a:ln w="3810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0" name="Line 6">
            <a:extLst>
              <a:ext uri="{FF2B5EF4-FFF2-40B4-BE49-F238E27FC236}">
                <a16:creationId xmlns:a16="http://schemas.microsoft.com/office/drawing/2014/main" id="{5542C2C0-67F6-994A-AEFC-E5B2460F1F4B}"/>
              </a:ext>
            </a:extLst>
          </p:cNvPr>
          <p:cNvSpPr>
            <a:spLocks noChangeShapeType="1"/>
          </p:cNvSpPr>
          <p:nvPr/>
        </p:nvSpPr>
        <p:spPr bwMode="auto">
          <a:xfrm rot="-2938105" flipH="1" flipV="1">
            <a:off x="1095375" y="4730750"/>
            <a:ext cx="3560763" cy="14287"/>
          </a:xfrm>
          <a:prstGeom prst="line">
            <a:avLst/>
          </a:prstGeom>
          <a:noFill/>
          <a:ln w="19050">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2" name="Line 7">
            <a:extLst>
              <a:ext uri="{FF2B5EF4-FFF2-40B4-BE49-F238E27FC236}">
                <a16:creationId xmlns:a16="http://schemas.microsoft.com/office/drawing/2014/main" id="{7A0A4AB6-5EF9-8440-BAF1-06A321FDC132}"/>
              </a:ext>
            </a:extLst>
          </p:cNvPr>
          <p:cNvSpPr>
            <a:spLocks noChangeShapeType="1"/>
          </p:cNvSpPr>
          <p:nvPr/>
        </p:nvSpPr>
        <p:spPr bwMode="auto">
          <a:xfrm>
            <a:off x="1682750" y="3243262"/>
            <a:ext cx="2819400" cy="2809875"/>
          </a:xfrm>
          <a:prstGeom prst="line">
            <a:avLst/>
          </a:prstGeom>
          <a:noFill/>
          <a:ln w="38100">
            <a:solidFill>
              <a:srgbClr val="3333CC"/>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Text Box 8">
            <a:extLst>
              <a:ext uri="{FF2B5EF4-FFF2-40B4-BE49-F238E27FC236}">
                <a16:creationId xmlns:a16="http://schemas.microsoft.com/office/drawing/2014/main" id="{17AEECBA-CCAD-AA47-9887-C9E20B6826AC}"/>
              </a:ext>
            </a:extLst>
          </p:cNvPr>
          <p:cNvSpPr txBox="1">
            <a:spLocks noChangeArrowheads="1"/>
          </p:cNvSpPr>
          <p:nvPr/>
        </p:nvSpPr>
        <p:spPr bwMode="auto">
          <a:xfrm>
            <a:off x="1331913" y="3071812"/>
            <a:ext cx="4032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R</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4" name="Text Box 9">
            <a:extLst>
              <a:ext uri="{FF2B5EF4-FFF2-40B4-BE49-F238E27FC236}">
                <a16:creationId xmlns:a16="http://schemas.microsoft.com/office/drawing/2014/main" id="{5D2A8ED6-62FA-AA4E-B95C-0B1A80981086}"/>
              </a:ext>
            </a:extLst>
          </p:cNvPr>
          <p:cNvSpPr txBox="1">
            <a:spLocks noChangeArrowheads="1"/>
          </p:cNvSpPr>
          <p:nvPr/>
        </p:nvSpPr>
        <p:spPr bwMode="auto">
          <a:xfrm>
            <a:off x="4284663" y="6119812"/>
            <a:ext cx="403225"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mn-cs"/>
              </a:rPr>
              <a:t>R</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5" name="Text Box 10">
            <a:extLst>
              <a:ext uri="{FF2B5EF4-FFF2-40B4-BE49-F238E27FC236}">
                <a16:creationId xmlns:a16="http://schemas.microsoft.com/office/drawing/2014/main" id="{B2E2FDC0-B672-3448-804D-624A98C1841A}"/>
              </a:ext>
            </a:extLst>
          </p:cNvPr>
          <p:cNvSpPr txBox="1">
            <a:spLocks noChangeArrowheads="1"/>
          </p:cNvSpPr>
          <p:nvPr/>
        </p:nvSpPr>
        <p:spPr bwMode="auto">
          <a:xfrm>
            <a:off x="2560638" y="3062287"/>
            <a:ext cx="3546475"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equal bandwidth share</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6" name="Text Box 11">
            <a:extLst>
              <a:ext uri="{FF2B5EF4-FFF2-40B4-BE49-F238E27FC236}">
                <a16:creationId xmlns:a16="http://schemas.microsoft.com/office/drawing/2014/main" id="{14F93699-B5A1-D14D-8FB0-AA9B53890B69}"/>
              </a:ext>
            </a:extLst>
          </p:cNvPr>
          <p:cNvSpPr txBox="1">
            <a:spLocks noChangeArrowheads="1"/>
          </p:cNvSpPr>
          <p:nvPr/>
        </p:nvSpPr>
        <p:spPr bwMode="auto">
          <a:xfrm>
            <a:off x="1141413" y="6100762"/>
            <a:ext cx="3546475"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Connection 1 throughput</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7" name="Text Box 12">
            <a:extLst>
              <a:ext uri="{FF2B5EF4-FFF2-40B4-BE49-F238E27FC236}">
                <a16:creationId xmlns:a16="http://schemas.microsoft.com/office/drawing/2014/main" id="{21CCCAB1-09D9-8E4C-AB43-05B1CC4E61F5}"/>
              </a:ext>
            </a:extLst>
          </p:cNvPr>
          <p:cNvSpPr txBox="1">
            <a:spLocks noChangeArrowheads="1"/>
          </p:cNvSpPr>
          <p:nvPr/>
        </p:nvSpPr>
        <p:spPr bwMode="auto">
          <a:xfrm rot="-5396642">
            <a:off x="-273844" y="4639469"/>
            <a:ext cx="3546475"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Connection 2 throughput</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13">
            <a:extLst>
              <a:ext uri="{FF2B5EF4-FFF2-40B4-BE49-F238E27FC236}">
                <a16:creationId xmlns:a16="http://schemas.microsoft.com/office/drawing/2014/main" id="{5F5EBC46-A27F-8D4B-BB71-A9A69889B2CA}"/>
              </a:ext>
            </a:extLst>
          </p:cNvPr>
          <p:cNvSpPr>
            <a:spLocks noChangeShapeType="1"/>
          </p:cNvSpPr>
          <p:nvPr/>
        </p:nvSpPr>
        <p:spPr bwMode="auto">
          <a:xfrm rot="-2938105" flipH="1" flipV="1">
            <a:off x="2805112" y="5348288"/>
            <a:ext cx="1293813" cy="4762"/>
          </a:xfrm>
          <a:prstGeom prst="line">
            <a:avLst/>
          </a:prstGeom>
          <a:noFill/>
          <a:ln w="19050">
            <a:solidFill>
              <a:srgbClr val="C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Text Box 14">
            <a:extLst>
              <a:ext uri="{FF2B5EF4-FFF2-40B4-BE49-F238E27FC236}">
                <a16:creationId xmlns:a16="http://schemas.microsoft.com/office/drawing/2014/main" id="{40C340D3-D186-C146-A88F-B4C6DA375773}"/>
              </a:ext>
            </a:extLst>
          </p:cNvPr>
          <p:cNvSpPr txBox="1">
            <a:spLocks noChangeArrowheads="1"/>
          </p:cNvSpPr>
          <p:nvPr/>
        </p:nvSpPr>
        <p:spPr bwMode="auto">
          <a:xfrm>
            <a:off x="3475038" y="4919662"/>
            <a:ext cx="453707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congestion avoidance: additive increase</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70" name="Line 15">
            <a:extLst>
              <a:ext uri="{FF2B5EF4-FFF2-40B4-BE49-F238E27FC236}">
                <a16:creationId xmlns:a16="http://schemas.microsoft.com/office/drawing/2014/main" id="{F674B59D-1466-9848-98C7-F85A4B7C2667}"/>
              </a:ext>
            </a:extLst>
          </p:cNvPr>
          <p:cNvSpPr>
            <a:spLocks noChangeShapeType="1"/>
          </p:cNvSpPr>
          <p:nvPr/>
        </p:nvSpPr>
        <p:spPr bwMode="auto">
          <a:xfrm flipH="1">
            <a:off x="2692400" y="4881562"/>
            <a:ext cx="1171575" cy="631825"/>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16">
            <a:extLst>
              <a:ext uri="{FF2B5EF4-FFF2-40B4-BE49-F238E27FC236}">
                <a16:creationId xmlns:a16="http://schemas.microsoft.com/office/drawing/2014/main" id="{0A077D32-CBC6-0E40-85C7-A1E8D5167F22}"/>
              </a:ext>
            </a:extLst>
          </p:cNvPr>
          <p:cNvSpPr txBox="1">
            <a:spLocks noChangeArrowheads="1"/>
          </p:cNvSpPr>
          <p:nvPr/>
        </p:nvSpPr>
        <p:spPr bwMode="auto">
          <a:xfrm>
            <a:off x="4006850" y="4675187"/>
            <a:ext cx="3460750"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loss: decrease window by factor of 2</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72" name="Line 17">
            <a:extLst>
              <a:ext uri="{FF2B5EF4-FFF2-40B4-BE49-F238E27FC236}">
                <a16:creationId xmlns:a16="http://schemas.microsoft.com/office/drawing/2014/main" id="{B9476A6C-10EE-1541-8903-FE6263CE8822}"/>
              </a:ext>
            </a:extLst>
          </p:cNvPr>
          <p:cNvSpPr>
            <a:spLocks noChangeShapeType="1"/>
          </p:cNvSpPr>
          <p:nvPr/>
        </p:nvSpPr>
        <p:spPr bwMode="auto">
          <a:xfrm rot="-2938105" flipH="1" flipV="1">
            <a:off x="2484438" y="5021262"/>
            <a:ext cx="1303337" cy="23813"/>
          </a:xfrm>
          <a:prstGeom prst="line">
            <a:avLst/>
          </a:prstGeom>
          <a:noFill/>
          <a:ln w="19050">
            <a:solidFill>
              <a:srgbClr val="C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73" name="Text Box 18">
            <a:extLst>
              <a:ext uri="{FF2B5EF4-FFF2-40B4-BE49-F238E27FC236}">
                <a16:creationId xmlns:a16="http://schemas.microsoft.com/office/drawing/2014/main" id="{FCED3372-6EB5-0244-B6B3-A1566B98227B}"/>
              </a:ext>
            </a:extLst>
          </p:cNvPr>
          <p:cNvSpPr txBox="1">
            <a:spLocks noChangeArrowheads="1"/>
          </p:cNvSpPr>
          <p:nvPr/>
        </p:nvSpPr>
        <p:spPr bwMode="auto">
          <a:xfrm>
            <a:off x="3189288" y="4433887"/>
            <a:ext cx="4537075"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congestion avoidance: additive increase</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74" name="Line 19">
            <a:extLst>
              <a:ext uri="{FF2B5EF4-FFF2-40B4-BE49-F238E27FC236}">
                <a16:creationId xmlns:a16="http://schemas.microsoft.com/office/drawing/2014/main" id="{4E5DDD32-0D26-E049-B9F7-C4FBF7E6512E}"/>
              </a:ext>
            </a:extLst>
          </p:cNvPr>
          <p:cNvSpPr>
            <a:spLocks noChangeShapeType="1"/>
          </p:cNvSpPr>
          <p:nvPr/>
        </p:nvSpPr>
        <p:spPr bwMode="auto">
          <a:xfrm flipH="1">
            <a:off x="2549525" y="4595812"/>
            <a:ext cx="981075" cy="765175"/>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75" name="Text Box 20">
            <a:extLst>
              <a:ext uri="{FF2B5EF4-FFF2-40B4-BE49-F238E27FC236}">
                <a16:creationId xmlns:a16="http://schemas.microsoft.com/office/drawing/2014/main" id="{A03E8186-B72C-F340-B288-4F7DBF876180}"/>
              </a:ext>
            </a:extLst>
          </p:cNvPr>
          <p:cNvSpPr txBox="1">
            <a:spLocks noChangeArrowheads="1"/>
          </p:cNvSpPr>
          <p:nvPr/>
        </p:nvSpPr>
        <p:spPr bwMode="auto">
          <a:xfrm>
            <a:off x="3606800" y="4227512"/>
            <a:ext cx="3460750"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charset="0"/>
                <a:ea typeface="ＭＳ Ｐゴシック" charset="0"/>
                <a:cs typeface="+mn-cs"/>
              </a:rPr>
              <a:t>loss: decrease window by factor of 2</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76" name="Line 21">
            <a:extLst>
              <a:ext uri="{FF2B5EF4-FFF2-40B4-BE49-F238E27FC236}">
                <a16:creationId xmlns:a16="http://schemas.microsoft.com/office/drawing/2014/main" id="{23ACBCF3-355B-D845-A208-0AA50EB86E08}"/>
              </a:ext>
            </a:extLst>
          </p:cNvPr>
          <p:cNvSpPr>
            <a:spLocks noChangeShapeType="1"/>
          </p:cNvSpPr>
          <p:nvPr/>
        </p:nvSpPr>
        <p:spPr bwMode="auto">
          <a:xfrm rot="-2938105" flipH="1" flipV="1">
            <a:off x="2340769" y="4874419"/>
            <a:ext cx="1279525" cy="14287"/>
          </a:xfrm>
          <a:prstGeom prst="line">
            <a:avLst/>
          </a:prstGeom>
          <a:noFill/>
          <a:ln w="19050">
            <a:solidFill>
              <a:srgbClr val="C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77" name="Line 22">
            <a:extLst>
              <a:ext uri="{FF2B5EF4-FFF2-40B4-BE49-F238E27FC236}">
                <a16:creationId xmlns:a16="http://schemas.microsoft.com/office/drawing/2014/main" id="{E273C730-C7D8-1A43-9E3B-00ABA35C5306}"/>
              </a:ext>
            </a:extLst>
          </p:cNvPr>
          <p:cNvSpPr>
            <a:spLocks noChangeShapeType="1"/>
          </p:cNvSpPr>
          <p:nvPr/>
        </p:nvSpPr>
        <p:spPr bwMode="auto">
          <a:xfrm flipH="1">
            <a:off x="2482850" y="4414837"/>
            <a:ext cx="911225" cy="889000"/>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78" name="Line 23">
            <a:extLst>
              <a:ext uri="{FF2B5EF4-FFF2-40B4-BE49-F238E27FC236}">
                <a16:creationId xmlns:a16="http://schemas.microsoft.com/office/drawing/2014/main" id="{D3308B5F-47D8-A74E-B415-FFCEF8B0042F}"/>
              </a:ext>
            </a:extLst>
          </p:cNvPr>
          <p:cNvSpPr>
            <a:spLocks noChangeShapeType="1"/>
          </p:cNvSpPr>
          <p:nvPr/>
        </p:nvSpPr>
        <p:spPr bwMode="auto">
          <a:xfrm rot="-2938105" flipH="1" flipV="1">
            <a:off x="2261394" y="4810919"/>
            <a:ext cx="1279525" cy="14287"/>
          </a:xfrm>
          <a:prstGeom prst="line">
            <a:avLst/>
          </a:prstGeom>
          <a:noFill/>
          <a:ln w="19050">
            <a:solidFill>
              <a:srgbClr val="C0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 name="Group 7">
            <a:extLst>
              <a:ext uri="{FF2B5EF4-FFF2-40B4-BE49-F238E27FC236}">
                <a16:creationId xmlns:a16="http://schemas.microsoft.com/office/drawing/2014/main" id="{27161D4D-6036-7840-9C2A-DD136DFE6AC3}"/>
              </a:ext>
            </a:extLst>
          </p:cNvPr>
          <p:cNvGrpSpPr/>
          <p:nvPr/>
        </p:nvGrpSpPr>
        <p:grpSpPr>
          <a:xfrm>
            <a:off x="7983110" y="3205277"/>
            <a:ext cx="3864041" cy="2713458"/>
            <a:chOff x="7983110" y="3205277"/>
            <a:chExt cx="3864041" cy="2713458"/>
          </a:xfrm>
        </p:grpSpPr>
        <p:sp>
          <p:nvSpPr>
            <p:cNvPr id="4" name="TextBox 3">
              <a:extLst>
                <a:ext uri="{FF2B5EF4-FFF2-40B4-BE49-F238E27FC236}">
                  <a16:creationId xmlns:a16="http://schemas.microsoft.com/office/drawing/2014/main" id="{4F689499-145C-2146-9B69-DB52B42A4EDB}"/>
                </a:ext>
              </a:extLst>
            </p:cNvPr>
            <p:cNvSpPr txBox="1"/>
            <p:nvPr/>
          </p:nvSpPr>
          <p:spPr>
            <a:xfrm>
              <a:off x="8130707" y="3671674"/>
              <a:ext cx="3703160" cy="2197525"/>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Yes, under idealized assumptions:</a:t>
              </a:r>
            </a:p>
            <a:p>
              <a:pPr marL="342900" marR="0" lvl="0" indent="-228600" algn="l" defTabSz="914400" rtl="0" eaLnBrk="1" fontAlgn="auto" latinLnBrk="0" hangingPunct="1">
                <a:lnSpc>
                  <a:spcPct val="90000"/>
                </a:lnSpc>
                <a:spcBef>
                  <a:spcPts val="0"/>
                </a:spcBef>
                <a:spcAft>
                  <a:spcPts val="0"/>
                </a:spcAft>
                <a:buClr>
                  <a:srgbClr val="0000A8"/>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same RTT</a:t>
              </a:r>
            </a:p>
            <a:p>
              <a:pPr marL="342900" marR="0" lvl="0" indent="-228600" algn="l" defTabSz="914400" rtl="0" eaLnBrk="1" fontAlgn="auto" latinLnBrk="0" hangingPunct="1">
                <a:lnSpc>
                  <a:spcPct val="90000"/>
                </a:lnSpc>
                <a:spcBef>
                  <a:spcPts val="0"/>
                </a:spcBef>
                <a:spcAft>
                  <a:spcPts val="0"/>
                </a:spcAft>
                <a:buClr>
                  <a:srgbClr val="0000A8"/>
                </a:buClr>
                <a:buSzTx/>
                <a:buFont typeface="Wingdings"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fixed number of sessions only in congestion avoidance </a:t>
              </a:r>
            </a:p>
          </p:txBody>
        </p:sp>
        <p:sp>
          <p:nvSpPr>
            <p:cNvPr id="5" name="Rectangle 4">
              <a:extLst>
                <a:ext uri="{FF2B5EF4-FFF2-40B4-BE49-F238E27FC236}">
                  <a16:creationId xmlns:a16="http://schemas.microsoft.com/office/drawing/2014/main" id="{81B3A82D-3CAE-9B48-AD89-484CB7470DDC}"/>
                </a:ext>
              </a:extLst>
            </p:cNvPr>
            <p:cNvSpPr/>
            <p:nvPr/>
          </p:nvSpPr>
          <p:spPr>
            <a:xfrm>
              <a:off x="7983110" y="3468687"/>
              <a:ext cx="3864041" cy="2450048"/>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0810BBF2-F84D-F54A-8EA9-8C4CDEC1F8FC}"/>
                </a:ext>
              </a:extLst>
            </p:cNvPr>
            <p:cNvSpPr/>
            <p:nvPr/>
          </p:nvSpPr>
          <p:spPr>
            <a:xfrm>
              <a:off x="8338252" y="3328994"/>
              <a:ext cx="1762727" cy="2555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AF32648-965E-544D-9501-D321D85B1D2E}"/>
                </a:ext>
              </a:extLst>
            </p:cNvPr>
            <p:cNvSpPr txBox="1"/>
            <p:nvPr/>
          </p:nvSpPr>
          <p:spPr>
            <a:xfrm>
              <a:off x="8332482" y="3205277"/>
              <a:ext cx="176849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Is</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 TCP fair?</a:t>
              </a:r>
            </a:p>
          </p:txBody>
        </p:sp>
      </p:grpSp>
      <p:sp>
        <p:nvSpPr>
          <p:cNvPr id="9" name="Oval 8">
            <a:extLst>
              <a:ext uri="{FF2B5EF4-FFF2-40B4-BE49-F238E27FC236}">
                <a16:creationId xmlns:a16="http://schemas.microsoft.com/office/drawing/2014/main" id="{7F874365-E6FC-E74F-ABF0-F2402AFDE7DD}"/>
              </a:ext>
            </a:extLst>
          </p:cNvPr>
          <p:cNvSpPr/>
          <p:nvPr/>
        </p:nvSpPr>
        <p:spPr>
          <a:xfrm>
            <a:off x="2998274" y="5695379"/>
            <a:ext cx="166255" cy="1662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Slide Number Placeholder 2">
            <a:extLst>
              <a:ext uri="{FF2B5EF4-FFF2-40B4-BE49-F238E27FC236}">
                <a16:creationId xmlns:a16="http://schemas.microsoft.com/office/drawing/2014/main" id="{06E0EBD2-9213-6D40-8DF6-4E431B8B6AC1}"/>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68</a:t>
            </a:fld>
            <a:endParaRPr lang="en-US" dirty="0"/>
          </a:p>
        </p:txBody>
      </p:sp>
    </p:spTree>
    <p:extLst>
      <p:ext uri="{BB962C8B-B14F-4D97-AF65-F5344CB8AC3E}">
        <p14:creationId xmlns:p14="http://schemas.microsoft.com/office/powerpoint/2010/main" val="129582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left)">
                                      <p:cBhvr>
                                        <p:cTn id="7" dur="500"/>
                                        <p:tgtEl>
                                          <p:spTgt spid="68"/>
                                        </p:tgtEl>
                                      </p:cBhvr>
                                    </p:animEffect>
                                  </p:childTnLst>
                                </p:cTn>
                              </p:par>
                              <p:par>
                                <p:cTn id="8" presetID="9" presetClass="exit" presetSubtype="0" fill="hold" grpId="0" nodeType="withEffect">
                                  <p:stCondLst>
                                    <p:cond delay="0"/>
                                  </p:stCondLst>
                                  <p:childTnLst>
                                    <p:animEffect transition="out" filter="dissolve">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69"/>
                                        </p:tgtEl>
                                        <p:attrNameLst>
                                          <p:attrName>style.visibility</p:attrName>
                                        </p:attrNameLst>
                                      </p:cBhvr>
                                      <p:to>
                                        <p:strVal val="visible"/>
                                      </p:to>
                                    </p:set>
                                    <p:animEffect transition="in" filter="dissolve">
                                      <p:cBhvr>
                                        <p:cTn id="14" dur="500"/>
                                        <p:tgtEl>
                                          <p:spTgt spid="69"/>
                                        </p:tgtEl>
                                      </p:cBhvr>
                                    </p:animEffect>
                                  </p:childTnLst>
                                  <p:subTnLst>
                                    <p:set>
                                      <p:cBhvr override="childStyle">
                                        <p:cTn dur="1" fill="hold" display="0" masterRel="nextClick" afterEffect="1"/>
                                        <p:tgtEl>
                                          <p:spTgt spid="6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wipe(right)">
                                      <p:cBhvr>
                                        <p:cTn id="19" dur="500"/>
                                        <p:tgtEl>
                                          <p:spTgt spid="70"/>
                                        </p:tgtEl>
                                      </p:cBhvr>
                                    </p:animEffect>
                                  </p:childTnLst>
                                </p:cTn>
                              </p:par>
                            </p:childTnLst>
                          </p:cTn>
                        </p:par>
                        <p:par>
                          <p:cTn id="20" fill="hold">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71"/>
                                        </p:tgtEl>
                                        <p:attrNameLst>
                                          <p:attrName>style.visibility</p:attrName>
                                        </p:attrNameLst>
                                      </p:cBhvr>
                                      <p:to>
                                        <p:strVal val="visible"/>
                                      </p:to>
                                    </p:set>
                                    <p:animEffect transition="in" filter="dissolve">
                                      <p:cBhvr>
                                        <p:cTn id="23" dur="5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2"/>
                                        </p:tgtEl>
                                        <p:attrNameLst>
                                          <p:attrName>style.visibility</p:attrName>
                                        </p:attrNameLst>
                                      </p:cBhvr>
                                      <p:to>
                                        <p:strVal val="visible"/>
                                      </p:to>
                                    </p:set>
                                    <p:animEffect transition="in" filter="wipe(left)">
                                      <p:cBhvr>
                                        <p:cTn id="28" dur="500"/>
                                        <p:tgtEl>
                                          <p:spTgt spid="72"/>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73"/>
                                        </p:tgtEl>
                                        <p:attrNameLst>
                                          <p:attrName>style.visibility</p:attrName>
                                        </p:attrNameLst>
                                      </p:cBhvr>
                                      <p:to>
                                        <p:strVal val="visible"/>
                                      </p:to>
                                    </p:set>
                                    <p:animEffect transition="in" filter="dissolve">
                                      <p:cBhvr>
                                        <p:cTn id="32" dur="500"/>
                                        <p:tgtEl>
                                          <p:spTgt spid="73"/>
                                        </p:tgtEl>
                                      </p:cBhvr>
                                    </p:animEffect>
                                  </p:childTnLst>
                                  <p:subTnLst>
                                    <p:set>
                                      <p:cBhvr override="childStyle">
                                        <p:cTn dur="1" fill="hold" display="0" masterRel="nextClick" afterEffect="1"/>
                                        <p:tgtEl>
                                          <p:spTgt spid="73"/>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74"/>
                                        </p:tgtEl>
                                        <p:attrNameLst>
                                          <p:attrName>style.visibility</p:attrName>
                                        </p:attrNameLst>
                                      </p:cBhvr>
                                      <p:to>
                                        <p:strVal val="visible"/>
                                      </p:to>
                                    </p:set>
                                    <p:animEffect transition="in" filter="wipe(right)">
                                      <p:cBhvr>
                                        <p:cTn id="37" dur="500"/>
                                        <p:tgtEl>
                                          <p:spTgt spid="74"/>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dissolve">
                                      <p:cBhvr>
                                        <p:cTn id="41" dur="500"/>
                                        <p:tgtEl>
                                          <p:spTgt spid="75"/>
                                        </p:tgtEl>
                                      </p:cBhvr>
                                    </p:animEffect>
                                  </p:childTnLst>
                                  <p:subTnLst>
                                    <p:set>
                                      <p:cBhvr override="childStyle">
                                        <p:cTn dur="1" fill="hold" display="0" masterRel="nextClick" afterEffect="1"/>
                                        <p:tgtEl>
                                          <p:spTgt spid="75"/>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76"/>
                                        </p:tgtEl>
                                        <p:attrNameLst>
                                          <p:attrName>style.visibility</p:attrName>
                                        </p:attrNameLst>
                                      </p:cBhvr>
                                      <p:to>
                                        <p:strVal val="visible"/>
                                      </p:to>
                                    </p:set>
                                    <p:animEffect transition="in" filter="wipe(left)">
                                      <p:cBhvr>
                                        <p:cTn id="46" dur="500"/>
                                        <p:tgtEl>
                                          <p:spTgt spid="7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77"/>
                                        </p:tgtEl>
                                        <p:attrNameLst>
                                          <p:attrName>style.visibility</p:attrName>
                                        </p:attrNameLst>
                                      </p:cBhvr>
                                      <p:to>
                                        <p:strVal val="visible"/>
                                      </p:to>
                                    </p:set>
                                    <p:animEffect transition="in" filter="wipe(right)">
                                      <p:cBhvr>
                                        <p:cTn id="51" dur="500"/>
                                        <p:tgtEl>
                                          <p:spTgt spid="7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78"/>
                                        </p:tgtEl>
                                        <p:attrNameLst>
                                          <p:attrName>style.visibility</p:attrName>
                                        </p:attrNameLst>
                                      </p:cBhvr>
                                      <p:to>
                                        <p:strVal val="visible"/>
                                      </p:to>
                                    </p:set>
                                    <p:animEffect transition="in" filter="wipe(left)">
                                      <p:cBhvr>
                                        <p:cTn id="56" dur="500"/>
                                        <p:tgtEl>
                                          <p:spTgt spid="78"/>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dissolve">
                                      <p:cBhvr>
                                        <p:cTn id="6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utoUpdateAnimBg="0"/>
      <p:bldP spid="71" grpId="0" autoUpdateAnimBg="0"/>
      <p:bldP spid="73" grpId="0" autoUpdateAnimBg="0"/>
      <p:bldP spid="75" grpId="0" autoUpdateAnimBg="0"/>
      <p:bldP spid="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80345" y="261078"/>
            <a:ext cx="10834510" cy="894622"/>
          </a:xfrm>
        </p:spPr>
        <p:txBody>
          <a:bodyPr>
            <a:normAutofit/>
          </a:bodyPr>
          <a:lstStyle/>
          <a:p>
            <a:r>
              <a:rPr lang="en-US" sz="4800" dirty="0"/>
              <a:t>Fairness: must all network apps be “fair”?</a:t>
            </a:r>
            <a:endParaRPr lang="en-US" sz="4400" b="0" dirty="0"/>
          </a:p>
        </p:txBody>
      </p:sp>
      <p:sp>
        <p:nvSpPr>
          <p:cNvPr id="30" name="Rectangle 3">
            <a:extLst>
              <a:ext uri="{FF2B5EF4-FFF2-40B4-BE49-F238E27FC236}">
                <a16:creationId xmlns:a16="http://schemas.microsoft.com/office/drawing/2014/main" id="{BC3F9D5B-2A52-F04E-8551-FB9FA3EB2D43}"/>
              </a:ext>
            </a:extLst>
          </p:cNvPr>
          <p:cNvSpPr txBox="1">
            <a:spLocks noChangeArrowheads="1"/>
          </p:cNvSpPr>
          <p:nvPr/>
        </p:nvSpPr>
        <p:spPr>
          <a:xfrm>
            <a:off x="749300" y="1219200"/>
            <a:ext cx="5207000" cy="4648200"/>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mn-ea"/>
                <a:cs typeface="+mn-cs"/>
              </a:rPr>
              <a:t>Fairness and UDP</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multimedia apps often do not use TCP</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do not want rate throttled by congestion control</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instead use UDP:</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send audio/video at constant rate, tolerate packet loss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there is no “Internet police” policing use of congestion control</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Rectangle 4">
            <a:extLst>
              <a:ext uri="{FF2B5EF4-FFF2-40B4-BE49-F238E27FC236}">
                <a16:creationId xmlns:a16="http://schemas.microsoft.com/office/drawing/2014/main" id="{87BD890A-15A2-C240-921B-F2A9B54123D0}"/>
              </a:ext>
            </a:extLst>
          </p:cNvPr>
          <p:cNvSpPr txBox="1">
            <a:spLocks noChangeArrowheads="1"/>
          </p:cNvSpPr>
          <p:nvPr/>
        </p:nvSpPr>
        <p:spPr>
          <a:xfrm>
            <a:off x="6210301" y="1193800"/>
            <a:ext cx="5575300" cy="5067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000099"/>
                </a:solidFill>
                <a:effectLst/>
                <a:uLnTx/>
                <a:uFillTx/>
                <a:latin typeface="Calibri" panose="020F0502020204030204"/>
                <a:ea typeface="+mn-ea"/>
                <a:cs typeface="+mn-cs"/>
              </a:rPr>
              <a:t>Fairness, parallel TCP connections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application can open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multiple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parallel connections between two hosts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web browsers do this , e.g., link of rate R with 9 existing connections: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new app asks for 1 TCP, gets rate R/10</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new app asks for 11 TCPs, gets R/2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lide Number Placeholder 2">
            <a:extLst>
              <a:ext uri="{FF2B5EF4-FFF2-40B4-BE49-F238E27FC236}">
                <a16:creationId xmlns:a16="http://schemas.microsoft.com/office/drawing/2014/main" id="{3FCF3160-EC3C-DC4B-A6F8-97BCA1C983A2}"/>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69</a:t>
            </a:fld>
            <a:endParaRPr lang="en-US" dirty="0"/>
          </a:p>
        </p:txBody>
      </p:sp>
    </p:spTree>
    <p:extLst>
      <p:ext uri="{BB962C8B-B14F-4D97-AF65-F5344CB8AC3E}">
        <p14:creationId xmlns:p14="http://schemas.microsoft.com/office/powerpoint/2010/main" val="96675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Transport layer: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798690" y="1414011"/>
            <a:ext cx="6618109" cy="5029078"/>
          </a:xfrm>
        </p:spPr>
        <p:txBody>
          <a:bodyPr>
            <a:normAutofit/>
          </a:bodyPr>
          <a:lstStyle/>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Transport-layer services</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Multiplexing and demultiplexing</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Connectionless transport: UDP</a:t>
            </a:r>
          </a:p>
          <a:p>
            <a:pPr marL="403225" indent="-285750">
              <a:spcBef>
                <a:spcPts val="800"/>
              </a:spcBef>
              <a:buClr>
                <a:schemeClr val="bg1">
                  <a:lumMod val="75000"/>
                </a:schemeClr>
              </a:buClr>
            </a:pPr>
            <a:r>
              <a:rPr lang="en-US" altLang="en-US" sz="3200" dirty="0">
                <a:solidFill>
                  <a:schemeClr val="bg1">
                    <a:lumMod val="75000"/>
                  </a:schemeClr>
                </a:solidFill>
                <a:cs typeface="Calibri" panose="020F0502020204030204" pitchFamily="34" charset="0"/>
              </a:rPr>
              <a:t>Principles of reliable data transfer </a:t>
            </a:r>
          </a:p>
          <a:p>
            <a:pPr marL="403225" indent="-285750">
              <a:spcBef>
                <a:spcPts val="800"/>
              </a:spcBef>
              <a:buClr>
                <a:schemeClr val="bg1">
                  <a:lumMod val="75000"/>
                </a:schemeClr>
              </a:buClr>
            </a:pPr>
            <a:r>
              <a:rPr lang="en-US" sz="3200" dirty="0">
                <a:solidFill>
                  <a:schemeClr val="bg1">
                    <a:lumMod val="75000"/>
                  </a:schemeClr>
                </a:solidFill>
              </a:rPr>
              <a:t>Connection-oriented transport: TCP</a:t>
            </a:r>
          </a:p>
          <a:p>
            <a:pPr marL="403225" indent="-285750">
              <a:spcBef>
                <a:spcPts val="800"/>
              </a:spcBef>
              <a:buClr>
                <a:schemeClr val="bg1">
                  <a:lumMod val="75000"/>
                </a:schemeClr>
              </a:buClr>
            </a:pPr>
            <a:r>
              <a:rPr lang="en-US" sz="3200" dirty="0">
                <a:solidFill>
                  <a:schemeClr val="bg1">
                    <a:lumMod val="75000"/>
                  </a:schemeClr>
                </a:solidFill>
              </a:rPr>
              <a:t>Principles of congestion control</a:t>
            </a:r>
          </a:p>
          <a:p>
            <a:pPr marL="403225" indent="-285750">
              <a:spcBef>
                <a:spcPts val="800"/>
              </a:spcBef>
              <a:buClr>
                <a:schemeClr val="bg1">
                  <a:lumMod val="75000"/>
                </a:schemeClr>
              </a:buClr>
            </a:pPr>
            <a:r>
              <a:rPr lang="en-US" sz="3200" dirty="0">
                <a:solidFill>
                  <a:schemeClr val="bg1">
                    <a:lumMod val="75000"/>
                  </a:schemeClr>
                </a:solidFill>
              </a:rPr>
              <a:t>TCP congestion control</a:t>
            </a:r>
          </a:p>
          <a:p>
            <a:pPr marL="403225" indent="-285750">
              <a:spcBef>
                <a:spcPts val="800"/>
              </a:spcBef>
            </a:pPr>
            <a:r>
              <a:rPr lang="en-US" sz="3200" dirty="0"/>
              <a:t>Evolution of transport-layer functionality</a:t>
            </a:r>
          </a:p>
          <a:p>
            <a:pPr eaLnBrk="1" hangingPunct="1">
              <a:buFont typeface="Wingdings" panose="05000000000000000000" pitchFamily="2" charset="2"/>
              <a:buNone/>
            </a:pPr>
            <a:endParaRPr lang="en-US" altLang="en-US" sz="2400" dirty="0"/>
          </a:p>
        </p:txBody>
      </p:sp>
      <p:sp>
        <p:nvSpPr>
          <p:cNvPr id="3" name="Slide Number Placeholder 2">
            <a:extLst>
              <a:ext uri="{FF2B5EF4-FFF2-40B4-BE49-F238E27FC236}">
                <a16:creationId xmlns:a16="http://schemas.microsoft.com/office/drawing/2014/main" id="{807E4337-A925-084B-B48F-23146A4A73A1}"/>
              </a:ext>
            </a:extLst>
          </p:cNvPr>
          <p:cNvSpPr>
            <a:spLocks noGrp="1"/>
          </p:cNvSpPr>
          <p:nvPr>
            <p:ph type="sldNum" sz="quarter" idx="4"/>
          </p:nvPr>
        </p:nvSpPr>
        <p:spPr/>
        <p:txBody>
          <a:bodyPr/>
          <a:lstStyle/>
          <a:p>
            <a:r>
              <a:rPr lang="en-US" dirty="0"/>
              <a:t>Transport Layer: 3-</a:t>
            </a:r>
            <a:fld id="{C4204591-24BD-A542-B9D5-F8D8A88D2FEE}" type="slidenum">
              <a:rPr lang="en-US" smtClean="0"/>
              <a:pPr/>
              <a:t>70</a:t>
            </a:fld>
            <a:endParaRPr lang="en-US" dirty="0"/>
          </a:p>
        </p:txBody>
      </p:sp>
      <p:pic>
        <p:nvPicPr>
          <p:cNvPr id="4" name="Picture 3">
            <a:extLst>
              <a:ext uri="{FF2B5EF4-FFF2-40B4-BE49-F238E27FC236}">
                <a16:creationId xmlns:a16="http://schemas.microsoft.com/office/drawing/2014/main" id="{D60DA9C6-6F6E-A6D9-0745-047BFEB31442}"/>
              </a:ext>
            </a:extLst>
          </p:cNvPr>
          <p:cNvPicPr>
            <a:picLocks noChangeAspect="1"/>
          </p:cNvPicPr>
          <p:nvPr/>
        </p:nvPicPr>
        <p:blipFill>
          <a:blip r:embed="rId3"/>
          <a:stretch>
            <a:fillRect/>
          </a:stretch>
        </p:blipFill>
        <p:spPr>
          <a:xfrm>
            <a:off x="7823199" y="1791867"/>
            <a:ext cx="3752851" cy="2818233"/>
          </a:xfrm>
          <a:prstGeom prst="rect">
            <a:avLst/>
          </a:prstGeom>
        </p:spPr>
      </p:pic>
    </p:spTree>
    <p:extLst>
      <p:ext uri="{BB962C8B-B14F-4D97-AF65-F5344CB8AC3E}">
        <p14:creationId xmlns:p14="http://schemas.microsoft.com/office/powerpoint/2010/main" val="3238201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BA20-9E22-2854-E94E-8BF98A7D31E3}"/>
              </a:ext>
            </a:extLst>
          </p:cNvPr>
          <p:cNvSpPr>
            <a:spLocks noGrp="1"/>
          </p:cNvSpPr>
          <p:nvPr>
            <p:ph type="title"/>
          </p:nvPr>
        </p:nvSpPr>
        <p:spPr/>
        <p:txBody>
          <a:bodyPr/>
          <a:lstStyle/>
          <a:p>
            <a:r>
              <a:rPr lang="en-US" dirty="0"/>
              <a:t>Limitations of TCP Reno</a:t>
            </a:r>
          </a:p>
        </p:txBody>
      </p:sp>
      <p:sp>
        <p:nvSpPr>
          <p:cNvPr id="3" name="Content Placeholder 2">
            <a:extLst>
              <a:ext uri="{FF2B5EF4-FFF2-40B4-BE49-F238E27FC236}">
                <a16:creationId xmlns:a16="http://schemas.microsoft.com/office/drawing/2014/main" id="{BE6ADFDC-4631-1AC0-5C0B-0C7BFB81E508}"/>
              </a:ext>
            </a:extLst>
          </p:cNvPr>
          <p:cNvSpPr>
            <a:spLocks noGrp="1"/>
          </p:cNvSpPr>
          <p:nvPr>
            <p:ph sz="half" idx="1"/>
          </p:nvPr>
        </p:nvSpPr>
        <p:spPr>
          <a:xfrm>
            <a:off x="838200" y="1825625"/>
            <a:ext cx="10515600" cy="4351338"/>
          </a:xfrm>
        </p:spPr>
        <p:txBody>
          <a:bodyPr>
            <a:normAutofit/>
          </a:bodyPr>
          <a:lstStyle/>
          <a:p>
            <a:r>
              <a:rPr lang="en-US" dirty="0"/>
              <a:t>When multiple packets are dropped in the same congestion window (say 1-10) then every time it knows about a packet loss it reduces the </a:t>
            </a:r>
            <a:r>
              <a:rPr lang="en-US" dirty="0" err="1"/>
              <a:t>cwnd</a:t>
            </a:r>
            <a:r>
              <a:rPr lang="en-US" dirty="0"/>
              <a:t> by 50%. </a:t>
            </a:r>
          </a:p>
          <a:p>
            <a:r>
              <a:rPr lang="en-US" dirty="0"/>
              <a:t>So, for 2 packet loss, it will reduce the </a:t>
            </a:r>
            <a:r>
              <a:rPr lang="en-US" dirty="0" err="1"/>
              <a:t>cwnd</a:t>
            </a:r>
            <a:r>
              <a:rPr lang="en-US" dirty="0"/>
              <a:t> by 4 times (50% twice). </a:t>
            </a:r>
          </a:p>
          <a:p>
            <a:r>
              <a:rPr lang="en-US" dirty="0"/>
              <a:t>But, one reduction of 50% per congestion window was enough for recovering all those lost packets.</a:t>
            </a:r>
          </a:p>
        </p:txBody>
      </p:sp>
      <p:sp>
        <p:nvSpPr>
          <p:cNvPr id="5" name="Slide Number Placeholder 4">
            <a:extLst>
              <a:ext uri="{FF2B5EF4-FFF2-40B4-BE49-F238E27FC236}">
                <a16:creationId xmlns:a16="http://schemas.microsoft.com/office/drawing/2014/main" id="{0A5ACF48-CDF8-AD8C-8841-FE280F3F5986}"/>
              </a:ext>
            </a:extLst>
          </p:cNvPr>
          <p:cNvSpPr>
            <a:spLocks noGrp="1"/>
          </p:cNvSpPr>
          <p:nvPr>
            <p:ph type="sldNum" sz="quarter" idx="4"/>
          </p:nvPr>
        </p:nvSpPr>
        <p:spPr/>
        <p:txBody>
          <a:bodyPr/>
          <a:lstStyle/>
          <a:p>
            <a:r>
              <a:rPr lang="en-US"/>
              <a:t>Transport Layer: 3-</a:t>
            </a:r>
            <a:fld id="{C4204591-24BD-A542-B9D5-F8D8A88D2FEE}" type="slidenum">
              <a:rPr lang="en-US" smtClean="0"/>
              <a:pPr/>
              <a:t>71</a:t>
            </a:fld>
            <a:endParaRPr lang="en-US" dirty="0"/>
          </a:p>
        </p:txBody>
      </p:sp>
    </p:spTree>
    <p:extLst>
      <p:ext uri="{BB962C8B-B14F-4D97-AF65-F5344CB8AC3E}">
        <p14:creationId xmlns:p14="http://schemas.microsoft.com/office/powerpoint/2010/main" val="11721942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FABA7-7D3F-5EE0-1675-DFA41A7DD48B}"/>
              </a:ext>
            </a:extLst>
          </p:cNvPr>
          <p:cNvSpPr>
            <a:spLocks noGrp="1"/>
          </p:cNvSpPr>
          <p:nvPr>
            <p:ph type="title"/>
          </p:nvPr>
        </p:nvSpPr>
        <p:spPr/>
        <p:txBody>
          <a:bodyPr/>
          <a:lstStyle/>
          <a:p>
            <a:r>
              <a:rPr lang="en-US" dirty="0"/>
              <a:t>TCP New Reno</a:t>
            </a:r>
          </a:p>
        </p:txBody>
      </p:sp>
      <p:sp>
        <p:nvSpPr>
          <p:cNvPr id="3" name="Content Placeholder 2">
            <a:extLst>
              <a:ext uri="{FF2B5EF4-FFF2-40B4-BE49-F238E27FC236}">
                <a16:creationId xmlns:a16="http://schemas.microsoft.com/office/drawing/2014/main" id="{1DFDF8A9-28A8-FA9A-EBF6-FF52E9F0370A}"/>
              </a:ext>
            </a:extLst>
          </p:cNvPr>
          <p:cNvSpPr>
            <a:spLocks noGrp="1"/>
          </p:cNvSpPr>
          <p:nvPr>
            <p:ph sz="half" idx="1"/>
          </p:nvPr>
        </p:nvSpPr>
        <p:spPr>
          <a:xfrm>
            <a:off x="838200" y="1825625"/>
            <a:ext cx="10515600" cy="4351338"/>
          </a:xfrm>
        </p:spPr>
        <p:txBody>
          <a:bodyPr>
            <a:normAutofit fontScale="92500" lnSpcReduction="10000"/>
          </a:bodyPr>
          <a:lstStyle/>
          <a:p>
            <a:r>
              <a:rPr lang="en-US" dirty="0"/>
              <a:t>The sender needs to reduce the </a:t>
            </a:r>
            <a:r>
              <a:rPr lang="en-US" dirty="0" err="1"/>
              <a:t>cwnd</a:t>
            </a:r>
            <a:r>
              <a:rPr lang="en-US" dirty="0"/>
              <a:t> by 50% for all the packets loss that happened in the same congestion window. </a:t>
            </a:r>
          </a:p>
          <a:p>
            <a:r>
              <a:rPr lang="en-US" dirty="0"/>
              <a:t>This was done by using partial ACK. The new type of ACK was introduced for letting know the sender about this.</a:t>
            </a:r>
          </a:p>
          <a:p>
            <a:r>
              <a:rPr lang="en-US" dirty="0" err="1"/>
              <a:t>NewReno</a:t>
            </a:r>
            <a:r>
              <a:rPr lang="en-US" dirty="0"/>
              <a:t> sender will check if the ACK of the retransmitted packet is new or not in the sense that all the packets of that particular </a:t>
            </a:r>
            <a:r>
              <a:rPr lang="en-US" dirty="0" err="1"/>
              <a:t>cwnd</a:t>
            </a:r>
            <a:r>
              <a:rPr lang="en-US" dirty="0"/>
              <a:t> are </a:t>
            </a:r>
            <a:r>
              <a:rPr lang="en-US" dirty="0" err="1"/>
              <a:t>ACKed</a:t>
            </a:r>
            <a:r>
              <a:rPr lang="en-US" dirty="0"/>
              <a:t> by the receiver or not. </a:t>
            </a:r>
          </a:p>
          <a:p>
            <a:r>
              <a:rPr lang="en-US" dirty="0"/>
              <a:t>If all packets of that particular </a:t>
            </a:r>
            <a:r>
              <a:rPr lang="en-US" dirty="0" err="1"/>
              <a:t>cwnd</a:t>
            </a:r>
            <a:r>
              <a:rPr lang="en-US" dirty="0"/>
              <a:t> are </a:t>
            </a:r>
            <a:r>
              <a:rPr lang="en-US" dirty="0" err="1"/>
              <a:t>ACKed</a:t>
            </a:r>
            <a:r>
              <a:rPr lang="en-US" dirty="0"/>
              <a:t> by the receiver then the sender will consider that ACK as new otherwise partial ACK. </a:t>
            </a:r>
          </a:p>
          <a:p>
            <a:r>
              <a:rPr lang="en-US" dirty="0"/>
              <a:t>If it is partial ACK then the sender will not reduce </a:t>
            </a:r>
            <a:r>
              <a:rPr lang="en-US" dirty="0" err="1"/>
              <a:t>cwnd</a:t>
            </a:r>
            <a:r>
              <a:rPr lang="en-US" dirty="0"/>
              <a:t> by 50% again. It will keep it same and won’t come out of the fast recovery phase.</a:t>
            </a:r>
          </a:p>
        </p:txBody>
      </p:sp>
      <p:sp>
        <p:nvSpPr>
          <p:cNvPr id="5" name="Slide Number Placeholder 4">
            <a:extLst>
              <a:ext uri="{FF2B5EF4-FFF2-40B4-BE49-F238E27FC236}">
                <a16:creationId xmlns:a16="http://schemas.microsoft.com/office/drawing/2014/main" id="{D6C464B6-369F-24F0-607F-101F9B8EA379}"/>
              </a:ext>
            </a:extLst>
          </p:cNvPr>
          <p:cNvSpPr>
            <a:spLocks noGrp="1"/>
          </p:cNvSpPr>
          <p:nvPr>
            <p:ph type="sldNum" sz="quarter" idx="4"/>
          </p:nvPr>
        </p:nvSpPr>
        <p:spPr/>
        <p:txBody>
          <a:bodyPr/>
          <a:lstStyle/>
          <a:p>
            <a:r>
              <a:rPr lang="en-US"/>
              <a:t>Transport Layer: 3-</a:t>
            </a:r>
            <a:fld id="{C4204591-24BD-A542-B9D5-F8D8A88D2FEE}" type="slidenum">
              <a:rPr lang="en-US" smtClean="0"/>
              <a:pPr/>
              <a:t>72</a:t>
            </a:fld>
            <a:endParaRPr lang="en-US" dirty="0"/>
          </a:p>
        </p:txBody>
      </p:sp>
    </p:spTree>
    <p:extLst>
      <p:ext uri="{BB962C8B-B14F-4D97-AF65-F5344CB8AC3E}">
        <p14:creationId xmlns:p14="http://schemas.microsoft.com/office/powerpoint/2010/main" val="30158523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Title 1">
            <a:extLst>
              <a:ext uri="{FF2B5EF4-FFF2-40B4-BE49-F238E27FC236}">
                <a16:creationId xmlns:a16="http://schemas.microsoft.com/office/drawing/2014/main" id="{F24FE797-383F-7375-2173-8379629FA233}"/>
              </a:ext>
            </a:extLst>
          </p:cNvPr>
          <p:cNvSpPr>
            <a:spLocks noGrp="1"/>
          </p:cNvSpPr>
          <p:nvPr>
            <p:ph type="title" idx="4294967295"/>
          </p:nvPr>
        </p:nvSpPr>
        <p:spPr/>
        <p:txBody>
          <a:bodyPr/>
          <a:lstStyle/>
          <a:p>
            <a:r>
              <a:rPr lang="en-US" altLang="en-US"/>
              <a:t>TCP NewReno – Partial ACKs</a:t>
            </a:r>
          </a:p>
        </p:txBody>
      </p:sp>
      <p:sp>
        <p:nvSpPr>
          <p:cNvPr id="248835" name="Content Placeholder 2">
            <a:extLst>
              <a:ext uri="{FF2B5EF4-FFF2-40B4-BE49-F238E27FC236}">
                <a16:creationId xmlns:a16="http://schemas.microsoft.com/office/drawing/2014/main" id="{1F9CCF68-A5E0-BECE-CE66-1F214EE9A06B}"/>
              </a:ext>
            </a:extLst>
          </p:cNvPr>
          <p:cNvSpPr>
            <a:spLocks noGrp="1"/>
          </p:cNvSpPr>
          <p:nvPr>
            <p:ph idx="4294967295"/>
          </p:nvPr>
        </p:nvSpPr>
        <p:spPr/>
        <p:txBody>
          <a:bodyPr/>
          <a:lstStyle/>
          <a:p>
            <a:pPr>
              <a:spcBef>
                <a:spcPts val="2000"/>
              </a:spcBef>
            </a:pPr>
            <a:r>
              <a:rPr lang="en-US" altLang="en-US"/>
              <a:t>Defined at the time </a:t>
            </a:r>
            <a:r>
              <a:rPr lang="en-US" altLang="en-US" i="1"/>
              <a:t>t</a:t>
            </a:r>
            <a:r>
              <a:rPr lang="en-US" altLang="en-US" baseline="-25000"/>
              <a:t>loss</a:t>
            </a:r>
            <a:r>
              <a:rPr lang="en-US" altLang="en-US"/>
              <a:t> when the sender discovers a packet loss (by 3 </a:t>
            </a:r>
            <a:r>
              <a:rPr lang="en-US" altLang="en-US">
                <a:sym typeface="Symbol" panose="05050102010706020507" pitchFamily="18" charset="2"/>
              </a:rPr>
              <a:t> dupACKs)</a:t>
            </a:r>
            <a:r>
              <a:rPr lang="en-US" altLang="en-US"/>
              <a:t>:</a:t>
            </a:r>
          </a:p>
          <a:p>
            <a:pPr>
              <a:spcBef>
                <a:spcPts val="2000"/>
              </a:spcBef>
            </a:pPr>
            <a:r>
              <a:rPr lang="en-US" altLang="en-US" b="1"/>
              <a:t>Full acknowledgment</a:t>
            </a:r>
            <a:r>
              <a:rPr lang="en-US" altLang="en-US"/>
              <a:t>: If the sender will receive an ACK for </a:t>
            </a:r>
            <a:r>
              <a:rPr lang="en-US" altLang="en-US" b="1"/>
              <a:t>all</a:t>
            </a:r>
            <a:r>
              <a:rPr lang="en-US" altLang="en-US"/>
              <a:t> packets that were outstanding at the time </a:t>
            </a:r>
            <a:r>
              <a:rPr lang="en-US" altLang="en-US" i="1"/>
              <a:t>t</a:t>
            </a:r>
            <a:r>
              <a:rPr lang="en-US" altLang="en-US" baseline="-25000"/>
              <a:t>loss</a:t>
            </a:r>
            <a:r>
              <a:rPr lang="en-US" altLang="en-US"/>
              <a:t> </a:t>
            </a:r>
          </a:p>
          <a:p>
            <a:pPr>
              <a:spcBef>
                <a:spcPts val="2000"/>
              </a:spcBef>
            </a:pPr>
            <a:r>
              <a:rPr lang="en-US" altLang="en-US" b="1"/>
              <a:t>Partial acknowledgment</a:t>
            </a:r>
            <a:r>
              <a:rPr lang="en-US" altLang="en-US"/>
              <a:t>: If the sender will receive an ACK for </a:t>
            </a:r>
            <a:r>
              <a:rPr lang="en-US" altLang="en-US" b="1"/>
              <a:t>some</a:t>
            </a:r>
            <a:r>
              <a:rPr lang="en-US" altLang="en-US"/>
              <a:t> of the packets that were outstanding at the time </a:t>
            </a:r>
            <a:r>
              <a:rPr lang="en-US" altLang="en-US" i="1"/>
              <a:t>t</a:t>
            </a:r>
            <a:r>
              <a:rPr lang="en-US" altLang="en-US" baseline="-25000"/>
              <a:t>loss</a:t>
            </a:r>
            <a:r>
              <a:rPr lang="en-US" altLang="en-US"/>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55D81-A845-0753-B773-5C424909AEBF}"/>
              </a:ext>
            </a:extLst>
          </p:cNvPr>
          <p:cNvSpPr>
            <a:spLocks noGrp="1"/>
          </p:cNvSpPr>
          <p:nvPr>
            <p:ph type="title"/>
          </p:nvPr>
        </p:nvSpPr>
        <p:spPr/>
        <p:txBody>
          <a:bodyPr/>
          <a:lstStyle/>
          <a:p>
            <a:r>
              <a:rPr lang="en-US" dirty="0"/>
              <a:t>TCP Reno and New Reno</a:t>
            </a:r>
          </a:p>
        </p:txBody>
      </p:sp>
      <p:sp>
        <p:nvSpPr>
          <p:cNvPr id="3" name="Content Placeholder 2">
            <a:extLst>
              <a:ext uri="{FF2B5EF4-FFF2-40B4-BE49-F238E27FC236}">
                <a16:creationId xmlns:a16="http://schemas.microsoft.com/office/drawing/2014/main" id="{2EDAA47E-36BA-61F3-8EEB-C8CE5C9386B0}"/>
              </a:ext>
            </a:extLst>
          </p:cNvPr>
          <p:cNvSpPr>
            <a:spLocks noGrp="1"/>
          </p:cNvSpPr>
          <p:nvPr>
            <p:ph sz="half" idx="1"/>
          </p:nvPr>
        </p:nvSpPr>
        <p:spPr/>
        <p:txBody>
          <a:bodyPr>
            <a:normAutofit lnSpcReduction="10000"/>
          </a:bodyPr>
          <a:lstStyle/>
          <a:p>
            <a:r>
              <a:rPr lang="en-US" dirty="0"/>
              <a:t>Reno used to come out of the fast recovery phase after receiving a new ACK</a:t>
            </a:r>
          </a:p>
        </p:txBody>
      </p:sp>
      <p:sp>
        <p:nvSpPr>
          <p:cNvPr id="4" name="Content Placeholder 3">
            <a:extLst>
              <a:ext uri="{FF2B5EF4-FFF2-40B4-BE49-F238E27FC236}">
                <a16:creationId xmlns:a16="http://schemas.microsoft.com/office/drawing/2014/main" id="{945C8889-8BA6-7CAD-B4D0-91F4D6C7757C}"/>
              </a:ext>
            </a:extLst>
          </p:cNvPr>
          <p:cNvSpPr>
            <a:spLocks noGrp="1"/>
          </p:cNvSpPr>
          <p:nvPr>
            <p:ph sz="half" idx="2"/>
          </p:nvPr>
        </p:nvSpPr>
        <p:spPr/>
        <p:txBody>
          <a:bodyPr>
            <a:normAutofit lnSpcReduction="10000"/>
          </a:bodyPr>
          <a:lstStyle/>
          <a:p>
            <a:pPr>
              <a:spcBef>
                <a:spcPts val="2000"/>
              </a:spcBef>
            </a:pPr>
            <a:r>
              <a:rPr lang="en-US" altLang="en-US" dirty="0" err="1"/>
              <a:t>NewReno</a:t>
            </a:r>
            <a:r>
              <a:rPr lang="en-US" altLang="en-US" dirty="0"/>
              <a:t> sender </a:t>
            </a:r>
            <a:r>
              <a:rPr lang="en-US" altLang="en-US" u="sng" dirty="0"/>
              <a:t>enters</a:t>
            </a:r>
            <a:r>
              <a:rPr lang="en-US" altLang="en-US" dirty="0"/>
              <a:t> </a:t>
            </a:r>
            <a:r>
              <a:rPr lang="en-US" altLang="en-US" b="1" dirty="0"/>
              <a:t>Fast Recovery </a:t>
            </a:r>
            <a:r>
              <a:rPr lang="en-US" altLang="en-US" dirty="0"/>
              <a:t>when a loss is detected (by 3 </a:t>
            </a:r>
            <a:r>
              <a:rPr lang="en-US" altLang="en-US" dirty="0">
                <a:sym typeface="Symbol" panose="05050102010706020507" pitchFamily="18" charset="2"/>
              </a:rPr>
              <a:t> </a:t>
            </a:r>
            <a:r>
              <a:rPr lang="en-US" altLang="en-US" dirty="0" err="1">
                <a:sym typeface="Symbol" panose="05050102010706020507" pitchFamily="18" charset="2"/>
              </a:rPr>
              <a:t>dupACKs</a:t>
            </a:r>
            <a:r>
              <a:rPr lang="en-US" altLang="en-US" dirty="0">
                <a:sym typeface="Symbol" panose="05050102010706020507" pitchFamily="18" charset="2"/>
              </a:rPr>
              <a:t>)</a:t>
            </a:r>
          </a:p>
          <a:p>
            <a:pPr>
              <a:spcBef>
                <a:spcPts val="2000"/>
              </a:spcBef>
            </a:pPr>
            <a:r>
              <a:rPr lang="en-US" altLang="en-US" dirty="0" err="1"/>
              <a:t>NewReno</a:t>
            </a:r>
            <a:r>
              <a:rPr lang="en-US" altLang="en-US" dirty="0"/>
              <a:t> sender </a:t>
            </a:r>
            <a:r>
              <a:rPr lang="en-US" altLang="en-US" u="sng" dirty="0"/>
              <a:t>exits</a:t>
            </a:r>
            <a:r>
              <a:rPr lang="en-US" altLang="en-US" dirty="0"/>
              <a:t> </a:t>
            </a:r>
            <a:r>
              <a:rPr lang="en-US" altLang="en-US" b="1" dirty="0"/>
              <a:t>Fast Recovery </a:t>
            </a:r>
            <a:r>
              <a:rPr lang="en-US" altLang="en-US" dirty="0"/>
              <a:t>when it receives the full acknowledgement</a:t>
            </a:r>
            <a:br>
              <a:rPr lang="en-US" altLang="en-US" dirty="0"/>
            </a:br>
            <a:r>
              <a:rPr lang="en-US" altLang="en-US" dirty="0"/>
              <a:t>(defined at time </a:t>
            </a:r>
            <a:r>
              <a:rPr lang="en-US" altLang="en-US" i="1" dirty="0" err="1"/>
              <a:t>t</a:t>
            </a:r>
            <a:r>
              <a:rPr lang="en-US" altLang="en-US" baseline="-25000" dirty="0" err="1"/>
              <a:t>loss</a:t>
            </a:r>
            <a:r>
              <a:rPr lang="en-US" altLang="en-US" dirty="0"/>
              <a:t>)</a:t>
            </a:r>
          </a:p>
          <a:p>
            <a:pPr>
              <a:spcBef>
                <a:spcPts val="2000"/>
              </a:spcBef>
            </a:pPr>
            <a:r>
              <a:rPr lang="en-US" altLang="en-US" dirty="0"/>
              <a:t>After Fast Recovery, </a:t>
            </a:r>
            <a:r>
              <a:rPr lang="en-US" altLang="en-US" dirty="0" err="1"/>
              <a:t>NewReno</a:t>
            </a:r>
            <a:r>
              <a:rPr lang="en-US" altLang="en-US" dirty="0"/>
              <a:t> sender enters Congestion Avoidance</a:t>
            </a:r>
          </a:p>
        </p:txBody>
      </p:sp>
      <p:sp>
        <p:nvSpPr>
          <p:cNvPr id="5" name="Slide Number Placeholder 4">
            <a:extLst>
              <a:ext uri="{FF2B5EF4-FFF2-40B4-BE49-F238E27FC236}">
                <a16:creationId xmlns:a16="http://schemas.microsoft.com/office/drawing/2014/main" id="{E76DB228-AB2A-D9C2-49CC-7CA96FDDF8DE}"/>
              </a:ext>
            </a:extLst>
          </p:cNvPr>
          <p:cNvSpPr>
            <a:spLocks noGrp="1"/>
          </p:cNvSpPr>
          <p:nvPr>
            <p:ph type="sldNum" sz="quarter" idx="4"/>
          </p:nvPr>
        </p:nvSpPr>
        <p:spPr/>
        <p:txBody>
          <a:bodyPr/>
          <a:lstStyle/>
          <a:p>
            <a:r>
              <a:rPr lang="en-US"/>
              <a:t>Transport Layer: 3-</a:t>
            </a:r>
            <a:fld id="{C4204591-24BD-A542-B9D5-F8D8A88D2FEE}" type="slidenum">
              <a:rPr lang="en-US" smtClean="0"/>
              <a:pPr/>
              <a:t>74</a:t>
            </a:fld>
            <a:endParaRPr lang="en-US" dirty="0"/>
          </a:p>
        </p:txBody>
      </p:sp>
    </p:spTree>
    <p:extLst>
      <p:ext uri="{BB962C8B-B14F-4D97-AF65-F5344CB8AC3E}">
        <p14:creationId xmlns:p14="http://schemas.microsoft.com/office/powerpoint/2010/main" val="34743297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9D3539D9-C332-76FB-9B09-75DCD717279F}"/>
              </a:ext>
            </a:extLst>
          </p:cNvPr>
          <p:cNvSpPr>
            <a:spLocks noChangeArrowheads="1"/>
          </p:cNvSpPr>
          <p:nvPr/>
        </p:nvSpPr>
        <p:spPr bwMode="auto">
          <a:xfrm>
            <a:off x="3025776" y="1309689"/>
            <a:ext cx="5991225" cy="109537"/>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3475" name="Rectangle 3">
            <a:extLst>
              <a:ext uri="{FF2B5EF4-FFF2-40B4-BE49-F238E27FC236}">
                <a16:creationId xmlns:a16="http://schemas.microsoft.com/office/drawing/2014/main" id="{07C25D3C-0A15-EC20-0CEF-121FC650D623}"/>
              </a:ext>
            </a:extLst>
          </p:cNvPr>
          <p:cNvSpPr>
            <a:spLocks noGrp="1" noChangeArrowheads="1"/>
          </p:cNvSpPr>
          <p:nvPr>
            <p:ph type="title"/>
          </p:nvPr>
        </p:nvSpPr>
        <p:spPr>
          <a:xfrm>
            <a:off x="563880" y="16528"/>
            <a:ext cx="10515600" cy="585787"/>
          </a:xfrm>
        </p:spPr>
        <p:txBody>
          <a:bodyPr>
            <a:normAutofit fontScale="90000"/>
          </a:bodyPr>
          <a:lstStyle/>
          <a:p>
            <a:r>
              <a:rPr lang="en-US" altLang="en-US" dirty="0"/>
              <a:t>TCP </a:t>
            </a:r>
            <a:r>
              <a:rPr lang="en-US" altLang="en-US" dirty="0" err="1"/>
              <a:t>NewReno</a:t>
            </a:r>
            <a:endParaRPr lang="en-US" altLang="en-US" dirty="0"/>
          </a:p>
        </p:txBody>
      </p:sp>
      <p:pic>
        <p:nvPicPr>
          <p:cNvPr id="233476" name="Picture 4">
            <a:extLst>
              <a:ext uri="{FF2B5EF4-FFF2-40B4-BE49-F238E27FC236}">
                <a16:creationId xmlns:a16="http://schemas.microsoft.com/office/drawing/2014/main" id="{DFF02FE6-CB87-DE86-A709-82A8E39F8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5777" y="600268"/>
            <a:ext cx="5722938" cy="6200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3477" name="Rectangle 1">
            <a:extLst>
              <a:ext uri="{FF2B5EF4-FFF2-40B4-BE49-F238E27FC236}">
                <a16:creationId xmlns:a16="http://schemas.microsoft.com/office/drawing/2014/main" id="{D8909678-0D0A-91BD-6291-BBE0ADFB2FCD}"/>
              </a:ext>
            </a:extLst>
          </p:cNvPr>
          <p:cNvSpPr>
            <a:spLocks noChangeArrowheads="1"/>
          </p:cNvSpPr>
          <p:nvPr/>
        </p:nvSpPr>
        <p:spPr bwMode="auto">
          <a:xfrm>
            <a:off x="728981" y="4697414"/>
            <a:ext cx="7223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200" i="1" dirty="0" err="1"/>
              <a:t>t</a:t>
            </a:r>
            <a:r>
              <a:rPr lang="en-US" altLang="en-US" sz="3200" baseline="-25000" dirty="0" err="1"/>
              <a:t>loss</a:t>
            </a:r>
            <a:endParaRPr lang="en-US" altLang="en-US" sz="3200" dirty="0"/>
          </a:p>
        </p:txBody>
      </p:sp>
      <p:sp>
        <p:nvSpPr>
          <p:cNvPr id="3" name="Right Arrow 2">
            <a:extLst>
              <a:ext uri="{FF2B5EF4-FFF2-40B4-BE49-F238E27FC236}">
                <a16:creationId xmlns:a16="http://schemas.microsoft.com/office/drawing/2014/main" id="{CE4A7803-09E9-2876-056C-E138F215CFB4}"/>
              </a:ext>
            </a:extLst>
          </p:cNvPr>
          <p:cNvSpPr/>
          <p:nvPr/>
        </p:nvSpPr>
        <p:spPr>
          <a:xfrm>
            <a:off x="1425894" y="4835525"/>
            <a:ext cx="530225" cy="484188"/>
          </a:xfrm>
          <a:prstGeom prst="rightArrow">
            <a:avLst>
              <a:gd name="adj1" fmla="val 24843"/>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3479" name="Rectangle 3">
            <a:extLst>
              <a:ext uri="{FF2B5EF4-FFF2-40B4-BE49-F238E27FC236}">
                <a16:creationId xmlns:a16="http://schemas.microsoft.com/office/drawing/2014/main" id="{1F6B02E1-E127-E8F7-15E3-2287A0D2847A}"/>
              </a:ext>
            </a:extLst>
          </p:cNvPr>
          <p:cNvSpPr>
            <a:spLocks noChangeArrowheads="1"/>
          </p:cNvSpPr>
          <p:nvPr/>
        </p:nvSpPr>
        <p:spPr bwMode="auto">
          <a:xfrm>
            <a:off x="394018" y="5384800"/>
            <a:ext cx="2482850" cy="749300"/>
          </a:xfrm>
          <a:prstGeom prst="rect">
            <a:avLst/>
          </a:prstGeom>
          <a:solidFill>
            <a:srgbClr val="FFFF00"/>
          </a:solidFill>
          <a:ln w="19050">
            <a:solidFill>
              <a:srgbClr val="FF0000"/>
            </a:solidFill>
            <a:miter lim="800000"/>
            <a:headEnd/>
            <a:tailEnd/>
          </a:ln>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dirty="0"/>
              <a:t>At this time define:</a:t>
            </a:r>
          </a:p>
          <a:p>
            <a:pPr eaLnBrk="1" hangingPunct="1"/>
            <a:r>
              <a:rPr lang="en-US" altLang="en-US" sz="1400" dirty="0"/>
              <a:t>Full acknowledgment = </a:t>
            </a:r>
            <a:br>
              <a:rPr lang="en-US" altLang="en-US" sz="1400" dirty="0"/>
            </a:br>
            <a:r>
              <a:rPr lang="en-US" altLang="en-US" sz="1400" dirty="0"/>
              <a:t> ACK for all 6 outstanding pkts</a:t>
            </a:r>
          </a:p>
        </p:txBody>
      </p:sp>
    </p:spTree>
    <p:extLst>
      <p:ext uri="{BB962C8B-B14F-4D97-AF65-F5344CB8AC3E}">
        <p14:creationId xmlns:p14="http://schemas.microsoft.com/office/powerpoint/2010/main" val="2938492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11C0A-ABD4-04F9-CB10-5AE61011E084}"/>
              </a:ext>
            </a:extLst>
          </p:cNvPr>
          <p:cNvSpPr>
            <a:spLocks noGrp="1"/>
          </p:cNvSpPr>
          <p:nvPr>
            <p:ph type="title"/>
          </p:nvPr>
        </p:nvSpPr>
        <p:spPr/>
        <p:txBody>
          <a:bodyPr/>
          <a:lstStyle/>
          <a:p>
            <a:r>
              <a:rPr lang="en-US" dirty="0"/>
              <a:t>TCP Selective ACK (SACK)</a:t>
            </a:r>
          </a:p>
        </p:txBody>
      </p:sp>
      <p:sp>
        <p:nvSpPr>
          <p:cNvPr id="3" name="Content Placeholder 2">
            <a:extLst>
              <a:ext uri="{FF2B5EF4-FFF2-40B4-BE49-F238E27FC236}">
                <a16:creationId xmlns:a16="http://schemas.microsoft.com/office/drawing/2014/main" id="{6444F471-052F-7325-46B5-17D06D417FAA}"/>
              </a:ext>
            </a:extLst>
          </p:cNvPr>
          <p:cNvSpPr>
            <a:spLocks noGrp="1"/>
          </p:cNvSpPr>
          <p:nvPr>
            <p:ph sz="half" idx="1"/>
          </p:nvPr>
        </p:nvSpPr>
        <p:spPr>
          <a:xfrm>
            <a:off x="838200" y="1825625"/>
            <a:ext cx="10515600" cy="4351338"/>
          </a:xfrm>
        </p:spPr>
        <p:txBody>
          <a:bodyPr>
            <a:normAutofit/>
          </a:bodyPr>
          <a:lstStyle/>
          <a:p>
            <a:r>
              <a:rPr lang="en-US" dirty="0"/>
              <a:t>TCP with ‘Selective Acknowledgments’ is an extension of TCP Reno </a:t>
            </a:r>
          </a:p>
          <a:p>
            <a:r>
              <a:rPr lang="en-US" dirty="0"/>
              <a:t>It works around the problems face by TCP RENO and TCP New-Reno, namely detection of multiple lost packets, and re-transmission of more than one lost packet per RTT. </a:t>
            </a:r>
          </a:p>
          <a:p>
            <a:r>
              <a:rPr lang="en-US" dirty="0"/>
              <a:t>SACK retains the slow-start and fast retransmit parts of RENO. It also has the coarse grained timeout of Tahoe to fall back on, incase a packet loss is not detected by the modified algorithm.</a:t>
            </a:r>
          </a:p>
        </p:txBody>
      </p:sp>
      <p:sp>
        <p:nvSpPr>
          <p:cNvPr id="5" name="Slide Number Placeholder 4">
            <a:extLst>
              <a:ext uri="{FF2B5EF4-FFF2-40B4-BE49-F238E27FC236}">
                <a16:creationId xmlns:a16="http://schemas.microsoft.com/office/drawing/2014/main" id="{42C14ECC-750C-0004-857E-1664BF513E87}"/>
              </a:ext>
            </a:extLst>
          </p:cNvPr>
          <p:cNvSpPr>
            <a:spLocks noGrp="1"/>
          </p:cNvSpPr>
          <p:nvPr>
            <p:ph type="sldNum" sz="quarter" idx="4"/>
          </p:nvPr>
        </p:nvSpPr>
        <p:spPr/>
        <p:txBody>
          <a:bodyPr/>
          <a:lstStyle/>
          <a:p>
            <a:r>
              <a:rPr lang="en-US"/>
              <a:t>Transport Layer: 3-</a:t>
            </a:r>
            <a:fld id="{C4204591-24BD-A542-B9D5-F8D8A88D2FEE}" type="slidenum">
              <a:rPr lang="en-US" smtClean="0"/>
              <a:pPr/>
              <a:t>76</a:t>
            </a:fld>
            <a:endParaRPr lang="en-US" dirty="0"/>
          </a:p>
        </p:txBody>
      </p:sp>
    </p:spTree>
    <p:extLst>
      <p:ext uri="{BB962C8B-B14F-4D97-AF65-F5344CB8AC3E}">
        <p14:creationId xmlns:p14="http://schemas.microsoft.com/office/powerpoint/2010/main" val="42689568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11C0A-ABD4-04F9-CB10-5AE61011E084}"/>
              </a:ext>
            </a:extLst>
          </p:cNvPr>
          <p:cNvSpPr>
            <a:spLocks noGrp="1"/>
          </p:cNvSpPr>
          <p:nvPr>
            <p:ph type="title"/>
          </p:nvPr>
        </p:nvSpPr>
        <p:spPr/>
        <p:txBody>
          <a:bodyPr/>
          <a:lstStyle/>
          <a:p>
            <a:r>
              <a:rPr lang="en-US" dirty="0"/>
              <a:t>TCP Selective ACK (SACK)</a:t>
            </a:r>
          </a:p>
        </p:txBody>
      </p:sp>
      <p:sp>
        <p:nvSpPr>
          <p:cNvPr id="3" name="Content Placeholder 2">
            <a:extLst>
              <a:ext uri="{FF2B5EF4-FFF2-40B4-BE49-F238E27FC236}">
                <a16:creationId xmlns:a16="http://schemas.microsoft.com/office/drawing/2014/main" id="{6444F471-052F-7325-46B5-17D06D417FAA}"/>
              </a:ext>
            </a:extLst>
          </p:cNvPr>
          <p:cNvSpPr>
            <a:spLocks noGrp="1"/>
          </p:cNvSpPr>
          <p:nvPr>
            <p:ph sz="half" idx="1"/>
          </p:nvPr>
        </p:nvSpPr>
        <p:spPr>
          <a:xfrm>
            <a:off x="838200" y="1825625"/>
            <a:ext cx="10515600" cy="4351338"/>
          </a:xfrm>
        </p:spPr>
        <p:txBody>
          <a:bodyPr>
            <a:normAutofit/>
          </a:bodyPr>
          <a:lstStyle/>
          <a:p>
            <a:r>
              <a:rPr lang="en-US" dirty="0"/>
              <a:t>SACK TCP requires that segments not be acknowledged cumulatively but should be acknowledged selectively. </a:t>
            </a:r>
          </a:p>
          <a:p>
            <a:r>
              <a:rPr lang="en-US" dirty="0"/>
              <a:t>Each ACK has a block which describes which segments are being acknowledged. </a:t>
            </a:r>
          </a:p>
          <a:p>
            <a:r>
              <a:rPr lang="en-US" dirty="0"/>
              <a:t>The sender has a picture of which segments have been acknowledged and which are still outstanding. </a:t>
            </a:r>
          </a:p>
        </p:txBody>
      </p:sp>
      <p:sp>
        <p:nvSpPr>
          <p:cNvPr id="5" name="Slide Number Placeholder 4">
            <a:extLst>
              <a:ext uri="{FF2B5EF4-FFF2-40B4-BE49-F238E27FC236}">
                <a16:creationId xmlns:a16="http://schemas.microsoft.com/office/drawing/2014/main" id="{42C14ECC-750C-0004-857E-1664BF513E87}"/>
              </a:ext>
            </a:extLst>
          </p:cNvPr>
          <p:cNvSpPr>
            <a:spLocks noGrp="1"/>
          </p:cNvSpPr>
          <p:nvPr>
            <p:ph type="sldNum" sz="quarter" idx="4"/>
          </p:nvPr>
        </p:nvSpPr>
        <p:spPr/>
        <p:txBody>
          <a:bodyPr/>
          <a:lstStyle/>
          <a:p>
            <a:r>
              <a:rPr lang="en-US"/>
              <a:t>Transport Layer: 3-</a:t>
            </a:r>
            <a:fld id="{C4204591-24BD-A542-B9D5-F8D8A88D2FEE}" type="slidenum">
              <a:rPr lang="en-US" smtClean="0"/>
              <a:pPr/>
              <a:t>77</a:t>
            </a:fld>
            <a:endParaRPr lang="en-US" dirty="0"/>
          </a:p>
        </p:txBody>
      </p:sp>
    </p:spTree>
    <p:extLst>
      <p:ext uri="{BB962C8B-B14F-4D97-AF65-F5344CB8AC3E}">
        <p14:creationId xmlns:p14="http://schemas.microsoft.com/office/powerpoint/2010/main" val="37301628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2">
            <a:extLst>
              <a:ext uri="{FF2B5EF4-FFF2-40B4-BE49-F238E27FC236}">
                <a16:creationId xmlns:a16="http://schemas.microsoft.com/office/drawing/2014/main" id="{22A37247-0C35-28BA-F72A-38E68DF2E549}"/>
              </a:ext>
            </a:extLst>
          </p:cNvPr>
          <p:cNvSpPr>
            <a:spLocks noGrp="1"/>
          </p:cNvSpPr>
          <p:nvPr>
            <p:ph type="sldNum" sz="quarter" idx="12"/>
          </p:nvPr>
        </p:nvSpPr>
        <p:spPr>
          <a:xfrm>
            <a:off x="4701540" y="6371107"/>
            <a:ext cx="28956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D939D0E2-58D4-4220-9FC3-B28D5C13077A}" type="slidenum">
              <a:rPr lang="en-US" altLang="en-US">
                <a:solidFill>
                  <a:srgbClr val="898989"/>
                </a:solidFill>
                <a:latin typeface="Calibri" panose="020F0502020204030204" pitchFamily="34" charset="0"/>
              </a:rPr>
              <a:pPr algn="ctr" eaLnBrk="1" hangingPunct="1"/>
              <a:t>78</a:t>
            </a:fld>
            <a:endParaRPr lang="en-US" altLang="en-US">
              <a:solidFill>
                <a:srgbClr val="898989"/>
              </a:solidFill>
              <a:latin typeface="Calibri" panose="020F0502020204030204" pitchFamily="34" charset="0"/>
            </a:endParaRPr>
          </a:p>
        </p:txBody>
      </p:sp>
      <p:sp>
        <p:nvSpPr>
          <p:cNvPr id="37891" name="Text Box 4">
            <a:extLst>
              <a:ext uri="{FF2B5EF4-FFF2-40B4-BE49-F238E27FC236}">
                <a16:creationId xmlns:a16="http://schemas.microsoft.com/office/drawing/2014/main" id="{2503752C-2030-0DFA-C4B0-17B088E9A313}"/>
              </a:ext>
            </a:extLst>
          </p:cNvPr>
          <p:cNvSpPr txBox="1">
            <a:spLocks noChangeArrowheads="1"/>
          </p:cNvSpPr>
          <p:nvPr/>
        </p:nvSpPr>
        <p:spPr bwMode="auto">
          <a:xfrm>
            <a:off x="1143000" y="685800"/>
            <a:ext cx="8915400" cy="701731"/>
          </a:xfrm>
          <a:prstGeom prst="rect">
            <a:avLst/>
          </a:prstGeom>
        </p:spPr>
        <p:txBody>
          <a:bodyPr vert="horz" lIns="91440" tIns="45720" rIns="91440" bIns="45720" rtlCol="0" anchor="ctr">
            <a:normAutofit/>
          </a:bodyPr>
          <a:lstStyle>
            <a:lvl1pPr>
              <a:lnSpc>
                <a:spcPct val="90000"/>
              </a:lnSpc>
              <a:spcBef>
                <a:spcPct val="0"/>
              </a:spcBef>
              <a:buNone/>
              <a:defRPr sz="4400" b="1">
                <a:solidFill>
                  <a:srgbClr val="0000A3"/>
                </a:solidFill>
                <a:latin typeface="+mj-lt"/>
                <a:ea typeface="+mj-ea"/>
                <a:cs typeface="+mj-cs"/>
              </a:defRPr>
            </a:lvl1pPr>
          </a:lstStyle>
          <a:p>
            <a:r>
              <a:rPr lang="en-US" altLang="en-US" dirty="0"/>
              <a:t> SACK Example</a:t>
            </a:r>
          </a:p>
        </p:txBody>
      </p:sp>
      <p:sp>
        <p:nvSpPr>
          <p:cNvPr id="37892" name="Rectangle 6">
            <a:extLst>
              <a:ext uri="{FF2B5EF4-FFF2-40B4-BE49-F238E27FC236}">
                <a16:creationId xmlns:a16="http://schemas.microsoft.com/office/drawing/2014/main" id="{C7DDC6DF-77D9-68FF-0C2E-7EE8C5AC1182}"/>
              </a:ext>
            </a:extLst>
          </p:cNvPr>
          <p:cNvSpPr>
            <a:spLocks noChangeArrowheads="1"/>
          </p:cNvSpPr>
          <p:nvPr/>
        </p:nvSpPr>
        <p:spPr bwMode="auto">
          <a:xfrm>
            <a:off x="2362200" y="2087880"/>
            <a:ext cx="228600" cy="3581400"/>
          </a:xfrm>
          <a:prstGeom prst="rect">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893" name="Rectangle 7">
            <a:extLst>
              <a:ext uri="{FF2B5EF4-FFF2-40B4-BE49-F238E27FC236}">
                <a16:creationId xmlns:a16="http://schemas.microsoft.com/office/drawing/2014/main" id="{682150CB-60F0-E189-6B31-CB91252FB276}"/>
              </a:ext>
            </a:extLst>
          </p:cNvPr>
          <p:cNvSpPr>
            <a:spLocks noChangeArrowheads="1"/>
          </p:cNvSpPr>
          <p:nvPr/>
        </p:nvSpPr>
        <p:spPr bwMode="auto">
          <a:xfrm>
            <a:off x="5943600" y="2087880"/>
            <a:ext cx="228600" cy="3581400"/>
          </a:xfrm>
          <a:prstGeom prst="rect">
            <a:avLst/>
          </a:prstGeom>
          <a:solidFill>
            <a:schemeClr val="folHlink"/>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2" name="Group 11">
            <a:extLst>
              <a:ext uri="{FF2B5EF4-FFF2-40B4-BE49-F238E27FC236}">
                <a16:creationId xmlns:a16="http://schemas.microsoft.com/office/drawing/2014/main" id="{EAA6A910-6442-9DAA-E103-2C0717123B29}"/>
              </a:ext>
            </a:extLst>
          </p:cNvPr>
          <p:cNvGrpSpPr>
            <a:grpSpLocks/>
          </p:cNvGrpSpPr>
          <p:nvPr/>
        </p:nvGrpSpPr>
        <p:grpSpPr bwMode="auto">
          <a:xfrm>
            <a:off x="2590800" y="2087880"/>
            <a:ext cx="3352800" cy="533400"/>
            <a:chOff x="672" y="1584"/>
            <a:chExt cx="2112" cy="336"/>
          </a:xfrm>
        </p:grpSpPr>
        <p:sp>
          <p:nvSpPr>
            <p:cNvPr id="37937" name="Line 12">
              <a:extLst>
                <a:ext uri="{FF2B5EF4-FFF2-40B4-BE49-F238E27FC236}">
                  <a16:creationId xmlns:a16="http://schemas.microsoft.com/office/drawing/2014/main" id="{DD80E58E-14C1-FEC1-52B8-558E6C6C2A59}"/>
                </a:ext>
              </a:extLst>
            </p:cNvPr>
            <p:cNvSpPr>
              <a:spLocks noChangeShapeType="1"/>
            </p:cNvSpPr>
            <p:nvPr/>
          </p:nvSpPr>
          <p:spPr bwMode="auto">
            <a:xfrm>
              <a:off x="672" y="1632"/>
              <a:ext cx="211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38" name="Text Box 13">
              <a:extLst>
                <a:ext uri="{FF2B5EF4-FFF2-40B4-BE49-F238E27FC236}">
                  <a16:creationId xmlns:a16="http://schemas.microsoft.com/office/drawing/2014/main" id="{74B1C4D0-8B99-AC11-2EA0-414FBDAB327D}"/>
                </a:ext>
              </a:extLst>
            </p:cNvPr>
            <p:cNvSpPr txBox="1">
              <a:spLocks noChangeArrowheads="1"/>
            </p:cNvSpPr>
            <p:nvPr/>
          </p:nvSpPr>
          <p:spPr bwMode="auto">
            <a:xfrm rot="442894">
              <a:off x="1248" y="1584"/>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1 - 100</a:t>
              </a:r>
            </a:p>
          </p:txBody>
        </p:sp>
      </p:grpSp>
      <p:sp>
        <p:nvSpPr>
          <p:cNvPr id="37895" name="Text Box 22">
            <a:extLst>
              <a:ext uri="{FF2B5EF4-FFF2-40B4-BE49-F238E27FC236}">
                <a16:creationId xmlns:a16="http://schemas.microsoft.com/office/drawing/2014/main" id="{8C34B4BE-3DCB-43C6-00E0-063073D91F9B}"/>
              </a:ext>
            </a:extLst>
          </p:cNvPr>
          <p:cNvSpPr txBox="1">
            <a:spLocks noChangeArrowheads="1"/>
          </p:cNvSpPr>
          <p:nvPr/>
        </p:nvSpPr>
        <p:spPr bwMode="auto">
          <a:xfrm>
            <a:off x="7162800" y="2227581"/>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a:t>receiver’s buffer</a:t>
            </a:r>
          </a:p>
        </p:txBody>
      </p:sp>
      <p:sp>
        <p:nvSpPr>
          <p:cNvPr id="37896" name="Text Box 48">
            <a:extLst>
              <a:ext uri="{FF2B5EF4-FFF2-40B4-BE49-F238E27FC236}">
                <a16:creationId xmlns:a16="http://schemas.microsoft.com/office/drawing/2014/main" id="{D830575C-97F3-A59B-0E9C-62D39F43F60D}"/>
              </a:ext>
            </a:extLst>
          </p:cNvPr>
          <p:cNvSpPr txBox="1">
            <a:spLocks noChangeArrowheads="1"/>
          </p:cNvSpPr>
          <p:nvPr/>
        </p:nvSpPr>
        <p:spPr bwMode="auto">
          <a:xfrm>
            <a:off x="1752600" y="3294381"/>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endParaRPr lang="en-US" altLang="en-US">
              <a:latin typeface="Comic Sans MS" panose="030F0702030302020204" pitchFamily="66" charset="0"/>
            </a:endParaRPr>
          </a:p>
        </p:txBody>
      </p:sp>
      <p:sp>
        <p:nvSpPr>
          <p:cNvPr id="37897" name="Text Box 49">
            <a:extLst>
              <a:ext uri="{FF2B5EF4-FFF2-40B4-BE49-F238E27FC236}">
                <a16:creationId xmlns:a16="http://schemas.microsoft.com/office/drawing/2014/main" id="{9282F0DA-09F7-2824-4730-46CE0A79DC02}"/>
              </a:ext>
            </a:extLst>
          </p:cNvPr>
          <p:cNvSpPr txBox="1">
            <a:spLocks noChangeArrowheads="1"/>
          </p:cNvSpPr>
          <p:nvPr/>
        </p:nvSpPr>
        <p:spPr bwMode="auto">
          <a:xfrm rot="16200000">
            <a:off x="1957388" y="3557905"/>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1600" b="1">
                <a:solidFill>
                  <a:srgbClr val="FFFFFF"/>
                </a:solidFill>
                <a:latin typeface="Comic Sans MS" panose="030F0702030302020204" pitchFamily="66" charset="0"/>
              </a:rPr>
              <a:t>sender</a:t>
            </a:r>
          </a:p>
        </p:txBody>
      </p:sp>
      <p:sp>
        <p:nvSpPr>
          <p:cNvPr id="37898" name="Text Box 50">
            <a:extLst>
              <a:ext uri="{FF2B5EF4-FFF2-40B4-BE49-F238E27FC236}">
                <a16:creationId xmlns:a16="http://schemas.microsoft.com/office/drawing/2014/main" id="{3B665FC5-CD32-266C-1C49-11CF393C2CB7}"/>
              </a:ext>
            </a:extLst>
          </p:cNvPr>
          <p:cNvSpPr txBox="1">
            <a:spLocks noChangeArrowheads="1"/>
          </p:cNvSpPr>
          <p:nvPr/>
        </p:nvSpPr>
        <p:spPr bwMode="auto">
          <a:xfrm rot="16200000">
            <a:off x="5540375" y="3710305"/>
            <a:ext cx="99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1600" b="1">
                <a:solidFill>
                  <a:srgbClr val="FFFFFF"/>
                </a:solidFill>
                <a:latin typeface="Comic Sans MS" panose="030F0702030302020204" pitchFamily="66" charset="0"/>
              </a:rPr>
              <a:t>receiver</a:t>
            </a:r>
          </a:p>
        </p:txBody>
      </p:sp>
      <p:grpSp>
        <p:nvGrpSpPr>
          <p:cNvPr id="3" name="Group 60">
            <a:extLst>
              <a:ext uri="{FF2B5EF4-FFF2-40B4-BE49-F238E27FC236}">
                <a16:creationId xmlns:a16="http://schemas.microsoft.com/office/drawing/2014/main" id="{111A9576-F2C7-2321-845C-359B761579AC}"/>
              </a:ext>
            </a:extLst>
          </p:cNvPr>
          <p:cNvGrpSpPr>
            <a:grpSpLocks/>
          </p:cNvGrpSpPr>
          <p:nvPr/>
        </p:nvGrpSpPr>
        <p:grpSpPr bwMode="auto">
          <a:xfrm>
            <a:off x="2578100" y="2518094"/>
            <a:ext cx="3352800" cy="509587"/>
            <a:chOff x="664" y="2311"/>
            <a:chExt cx="2112" cy="321"/>
          </a:xfrm>
        </p:grpSpPr>
        <p:sp>
          <p:nvSpPr>
            <p:cNvPr id="37935" name="Line 58">
              <a:extLst>
                <a:ext uri="{FF2B5EF4-FFF2-40B4-BE49-F238E27FC236}">
                  <a16:creationId xmlns:a16="http://schemas.microsoft.com/office/drawing/2014/main" id="{D2BE950E-3D66-C25C-B6F6-D93ADF266F85}"/>
                </a:ext>
              </a:extLst>
            </p:cNvPr>
            <p:cNvSpPr>
              <a:spLocks noChangeShapeType="1"/>
            </p:cNvSpPr>
            <p:nvPr/>
          </p:nvSpPr>
          <p:spPr bwMode="auto">
            <a:xfrm>
              <a:off x="664" y="2344"/>
              <a:ext cx="211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36" name="Text Box 59">
              <a:extLst>
                <a:ext uri="{FF2B5EF4-FFF2-40B4-BE49-F238E27FC236}">
                  <a16:creationId xmlns:a16="http://schemas.microsoft.com/office/drawing/2014/main" id="{6BBF1699-3555-9A5D-5213-E285E9EC5644}"/>
                </a:ext>
              </a:extLst>
            </p:cNvPr>
            <p:cNvSpPr txBox="1">
              <a:spLocks noChangeArrowheads="1"/>
            </p:cNvSpPr>
            <p:nvPr/>
          </p:nvSpPr>
          <p:spPr bwMode="auto">
            <a:xfrm rot="442894">
              <a:off x="1237" y="2311"/>
              <a:ext cx="9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101 - 200</a:t>
              </a:r>
            </a:p>
          </p:txBody>
        </p:sp>
      </p:grpSp>
      <p:grpSp>
        <p:nvGrpSpPr>
          <p:cNvPr id="4" name="Group 69">
            <a:extLst>
              <a:ext uri="{FF2B5EF4-FFF2-40B4-BE49-F238E27FC236}">
                <a16:creationId xmlns:a16="http://schemas.microsoft.com/office/drawing/2014/main" id="{E818622D-91B1-A0D5-090F-723A7F6A2694}"/>
              </a:ext>
            </a:extLst>
          </p:cNvPr>
          <p:cNvGrpSpPr>
            <a:grpSpLocks/>
          </p:cNvGrpSpPr>
          <p:nvPr/>
        </p:nvGrpSpPr>
        <p:grpSpPr bwMode="auto">
          <a:xfrm>
            <a:off x="2590800" y="3003868"/>
            <a:ext cx="3352800" cy="468312"/>
            <a:chOff x="672" y="2585"/>
            <a:chExt cx="2112" cy="295"/>
          </a:xfrm>
        </p:grpSpPr>
        <p:sp>
          <p:nvSpPr>
            <p:cNvPr id="37933" name="Line 63">
              <a:extLst>
                <a:ext uri="{FF2B5EF4-FFF2-40B4-BE49-F238E27FC236}">
                  <a16:creationId xmlns:a16="http://schemas.microsoft.com/office/drawing/2014/main" id="{4D712C86-B0DA-0A93-6141-BF1FEAC15AFC}"/>
                </a:ext>
              </a:extLst>
            </p:cNvPr>
            <p:cNvSpPr>
              <a:spLocks noChangeShapeType="1"/>
            </p:cNvSpPr>
            <p:nvPr/>
          </p:nvSpPr>
          <p:spPr bwMode="auto">
            <a:xfrm flipH="1">
              <a:off x="672" y="2640"/>
              <a:ext cx="211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34" name="Text Box 64">
              <a:extLst>
                <a:ext uri="{FF2B5EF4-FFF2-40B4-BE49-F238E27FC236}">
                  <a16:creationId xmlns:a16="http://schemas.microsoft.com/office/drawing/2014/main" id="{C059D098-97A7-DDC3-0D64-528CDD292050}"/>
                </a:ext>
              </a:extLst>
            </p:cNvPr>
            <p:cNvSpPr txBox="1">
              <a:spLocks noChangeArrowheads="1"/>
            </p:cNvSpPr>
            <p:nvPr/>
          </p:nvSpPr>
          <p:spPr bwMode="auto">
            <a:xfrm rot="-475245">
              <a:off x="1006" y="2585"/>
              <a:ext cx="80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ACK 201</a:t>
              </a:r>
            </a:p>
          </p:txBody>
        </p:sp>
      </p:grpSp>
      <p:grpSp>
        <p:nvGrpSpPr>
          <p:cNvPr id="5" name="Group 84">
            <a:extLst>
              <a:ext uri="{FF2B5EF4-FFF2-40B4-BE49-F238E27FC236}">
                <a16:creationId xmlns:a16="http://schemas.microsoft.com/office/drawing/2014/main" id="{00E3900B-670B-2629-17E4-AF9E4DB57994}"/>
              </a:ext>
            </a:extLst>
          </p:cNvPr>
          <p:cNvGrpSpPr>
            <a:grpSpLocks/>
          </p:cNvGrpSpPr>
          <p:nvPr/>
        </p:nvGrpSpPr>
        <p:grpSpPr bwMode="auto">
          <a:xfrm>
            <a:off x="2578101" y="3386456"/>
            <a:ext cx="2625725" cy="366713"/>
            <a:chOff x="664" y="2826"/>
            <a:chExt cx="1654" cy="231"/>
          </a:xfrm>
        </p:grpSpPr>
        <p:sp>
          <p:nvSpPr>
            <p:cNvPr id="37931" name="Text Box 82">
              <a:extLst>
                <a:ext uri="{FF2B5EF4-FFF2-40B4-BE49-F238E27FC236}">
                  <a16:creationId xmlns:a16="http://schemas.microsoft.com/office/drawing/2014/main" id="{1C9F5707-9F95-FF86-C553-543DF2CD3C15}"/>
                </a:ext>
              </a:extLst>
            </p:cNvPr>
            <p:cNvSpPr txBox="1">
              <a:spLocks noChangeArrowheads="1"/>
            </p:cNvSpPr>
            <p:nvPr/>
          </p:nvSpPr>
          <p:spPr bwMode="auto">
            <a:xfrm rot="475604">
              <a:off x="1345" y="2826"/>
              <a:ext cx="9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201-300</a:t>
              </a:r>
            </a:p>
          </p:txBody>
        </p:sp>
        <p:sp>
          <p:nvSpPr>
            <p:cNvPr id="37932" name="Line 83">
              <a:extLst>
                <a:ext uri="{FF2B5EF4-FFF2-40B4-BE49-F238E27FC236}">
                  <a16:creationId xmlns:a16="http://schemas.microsoft.com/office/drawing/2014/main" id="{5FEFC700-579B-EE3E-DD17-77B910C4EA55}"/>
                </a:ext>
              </a:extLst>
            </p:cNvPr>
            <p:cNvSpPr>
              <a:spLocks noChangeShapeType="1"/>
            </p:cNvSpPr>
            <p:nvPr/>
          </p:nvSpPr>
          <p:spPr bwMode="auto">
            <a:xfrm rot="488879">
              <a:off x="664" y="2919"/>
              <a:ext cx="1594" cy="65"/>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grpSp>
        <p:nvGrpSpPr>
          <p:cNvPr id="6" name="Group 88">
            <a:extLst>
              <a:ext uri="{FF2B5EF4-FFF2-40B4-BE49-F238E27FC236}">
                <a16:creationId xmlns:a16="http://schemas.microsoft.com/office/drawing/2014/main" id="{9B8BE7EC-FEB3-BEF6-FBB9-E5FEE3D9B394}"/>
              </a:ext>
            </a:extLst>
          </p:cNvPr>
          <p:cNvGrpSpPr>
            <a:grpSpLocks/>
          </p:cNvGrpSpPr>
          <p:nvPr/>
        </p:nvGrpSpPr>
        <p:grpSpPr bwMode="auto">
          <a:xfrm>
            <a:off x="2527301" y="3703956"/>
            <a:ext cx="2625725" cy="366713"/>
            <a:chOff x="632" y="3026"/>
            <a:chExt cx="1654" cy="231"/>
          </a:xfrm>
        </p:grpSpPr>
        <p:sp>
          <p:nvSpPr>
            <p:cNvPr id="37929" name="Text Box 86">
              <a:extLst>
                <a:ext uri="{FF2B5EF4-FFF2-40B4-BE49-F238E27FC236}">
                  <a16:creationId xmlns:a16="http://schemas.microsoft.com/office/drawing/2014/main" id="{D1A837F8-466B-E9A2-6671-7668890352C4}"/>
                </a:ext>
              </a:extLst>
            </p:cNvPr>
            <p:cNvSpPr txBox="1">
              <a:spLocks noChangeArrowheads="1"/>
            </p:cNvSpPr>
            <p:nvPr/>
          </p:nvSpPr>
          <p:spPr bwMode="auto">
            <a:xfrm rot="475604">
              <a:off x="1313" y="3026"/>
              <a:ext cx="9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301-400</a:t>
              </a:r>
            </a:p>
          </p:txBody>
        </p:sp>
        <p:sp>
          <p:nvSpPr>
            <p:cNvPr id="37930" name="Line 87">
              <a:extLst>
                <a:ext uri="{FF2B5EF4-FFF2-40B4-BE49-F238E27FC236}">
                  <a16:creationId xmlns:a16="http://schemas.microsoft.com/office/drawing/2014/main" id="{B8CB20AA-F2FF-62E2-8780-1765503AA003}"/>
                </a:ext>
              </a:extLst>
            </p:cNvPr>
            <p:cNvSpPr>
              <a:spLocks noChangeShapeType="1"/>
            </p:cNvSpPr>
            <p:nvPr/>
          </p:nvSpPr>
          <p:spPr bwMode="auto">
            <a:xfrm rot="488879">
              <a:off x="632" y="3119"/>
              <a:ext cx="1594" cy="65"/>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grpSp>
        <p:nvGrpSpPr>
          <p:cNvPr id="7" name="Group 93">
            <a:extLst>
              <a:ext uri="{FF2B5EF4-FFF2-40B4-BE49-F238E27FC236}">
                <a16:creationId xmlns:a16="http://schemas.microsoft.com/office/drawing/2014/main" id="{7824C99F-D781-0CF0-BDE0-D66F8BE98AC2}"/>
              </a:ext>
            </a:extLst>
          </p:cNvPr>
          <p:cNvGrpSpPr>
            <a:grpSpLocks/>
          </p:cNvGrpSpPr>
          <p:nvPr/>
        </p:nvGrpSpPr>
        <p:grpSpPr bwMode="auto">
          <a:xfrm>
            <a:off x="2576513" y="4029393"/>
            <a:ext cx="3352800" cy="508000"/>
            <a:chOff x="663" y="3231"/>
            <a:chExt cx="2112" cy="320"/>
          </a:xfrm>
        </p:grpSpPr>
        <p:sp>
          <p:nvSpPr>
            <p:cNvPr id="37927" name="Line 90">
              <a:extLst>
                <a:ext uri="{FF2B5EF4-FFF2-40B4-BE49-F238E27FC236}">
                  <a16:creationId xmlns:a16="http://schemas.microsoft.com/office/drawing/2014/main" id="{4151E00D-136B-3266-1C98-3D280615ECBE}"/>
                </a:ext>
              </a:extLst>
            </p:cNvPr>
            <p:cNvSpPr>
              <a:spLocks noChangeShapeType="1"/>
            </p:cNvSpPr>
            <p:nvPr/>
          </p:nvSpPr>
          <p:spPr bwMode="auto">
            <a:xfrm rot="213251">
              <a:off x="663" y="3263"/>
              <a:ext cx="211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8" name="Text Box 91">
              <a:extLst>
                <a:ext uri="{FF2B5EF4-FFF2-40B4-BE49-F238E27FC236}">
                  <a16:creationId xmlns:a16="http://schemas.microsoft.com/office/drawing/2014/main" id="{B1EEADBF-B6BE-3563-3FDE-EE03AD0DCDFD}"/>
                </a:ext>
              </a:extLst>
            </p:cNvPr>
            <p:cNvSpPr txBox="1">
              <a:spLocks noChangeArrowheads="1"/>
            </p:cNvSpPr>
            <p:nvPr/>
          </p:nvSpPr>
          <p:spPr bwMode="auto">
            <a:xfrm rot="537649">
              <a:off x="1239" y="3231"/>
              <a:ext cx="9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401 - 500</a:t>
              </a:r>
            </a:p>
          </p:txBody>
        </p:sp>
      </p:grpSp>
      <p:grpSp>
        <p:nvGrpSpPr>
          <p:cNvPr id="8" name="Group 94">
            <a:extLst>
              <a:ext uri="{FF2B5EF4-FFF2-40B4-BE49-F238E27FC236}">
                <a16:creationId xmlns:a16="http://schemas.microsoft.com/office/drawing/2014/main" id="{27E26695-9501-4060-215A-0D690C4F0DA7}"/>
              </a:ext>
            </a:extLst>
          </p:cNvPr>
          <p:cNvGrpSpPr>
            <a:grpSpLocks/>
          </p:cNvGrpSpPr>
          <p:nvPr/>
        </p:nvGrpSpPr>
        <p:grpSpPr bwMode="auto">
          <a:xfrm>
            <a:off x="2576513" y="4308793"/>
            <a:ext cx="3352800" cy="508000"/>
            <a:chOff x="663" y="3231"/>
            <a:chExt cx="2112" cy="320"/>
          </a:xfrm>
        </p:grpSpPr>
        <p:sp>
          <p:nvSpPr>
            <p:cNvPr id="37925" name="Line 95">
              <a:extLst>
                <a:ext uri="{FF2B5EF4-FFF2-40B4-BE49-F238E27FC236}">
                  <a16:creationId xmlns:a16="http://schemas.microsoft.com/office/drawing/2014/main" id="{6AE054A2-090F-DD72-3437-96DEDFAFC464}"/>
                </a:ext>
              </a:extLst>
            </p:cNvPr>
            <p:cNvSpPr>
              <a:spLocks noChangeShapeType="1"/>
            </p:cNvSpPr>
            <p:nvPr/>
          </p:nvSpPr>
          <p:spPr bwMode="auto">
            <a:xfrm rot="213251">
              <a:off x="663" y="3263"/>
              <a:ext cx="211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6" name="Text Box 96">
              <a:extLst>
                <a:ext uri="{FF2B5EF4-FFF2-40B4-BE49-F238E27FC236}">
                  <a16:creationId xmlns:a16="http://schemas.microsoft.com/office/drawing/2014/main" id="{577DF253-4CDD-271B-2101-A12FA8966AE0}"/>
                </a:ext>
              </a:extLst>
            </p:cNvPr>
            <p:cNvSpPr txBox="1">
              <a:spLocks noChangeArrowheads="1"/>
            </p:cNvSpPr>
            <p:nvPr/>
          </p:nvSpPr>
          <p:spPr bwMode="auto">
            <a:xfrm rot="537649">
              <a:off x="1239" y="3231"/>
              <a:ext cx="9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501 - 600</a:t>
              </a:r>
            </a:p>
          </p:txBody>
        </p:sp>
      </p:grpSp>
      <p:grpSp>
        <p:nvGrpSpPr>
          <p:cNvPr id="9" name="Group 100">
            <a:extLst>
              <a:ext uri="{FF2B5EF4-FFF2-40B4-BE49-F238E27FC236}">
                <a16:creationId xmlns:a16="http://schemas.microsoft.com/office/drawing/2014/main" id="{7ACF6927-1EE7-DCF4-8EFC-E5FC909B7C8A}"/>
              </a:ext>
            </a:extLst>
          </p:cNvPr>
          <p:cNvGrpSpPr>
            <a:grpSpLocks/>
          </p:cNvGrpSpPr>
          <p:nvPr/>
        </p:nvGrpSpPr>
        <p:grpSpPr bwMode="auto">
          <a:xfrm>
            <a:off x="2565400" y="4919980"/>
            <a:ext cx="3352800" cy="596900"/>
            <a:chOff x="656" y="3512"/>
            <a:chExt cx="2112" cy="376"/>
          </a:xfrm>
        </p:grpSpPr>
        <p:sp>
          <p:nvSpPr>
            <p:cNvPr id="37923" name="Line 98">
              <a:extLst>
                <a:ext uri="{FF2B5EF4-FFF2-40B4-BE49-F238E27FC236}">
                  <a16:creationId xmlns:a16="http://schemas.microsoft.com/office/drawing/2014/main" id="{5A41BCF4-5C7E-197A-C2EA-1D61DF82B80A}"/>
                </a:ext>
              </a:extLst>
            </p:cNvPr>
            <p:cNvSpPr>
              <a:spLocks noChangeShapeType="1"/>
            </p:cNvSpPr>
            <p:nvPr/>
          </p:nvSpPr>
          <p:spPr bwMode="auto">
            <a:xfrm flipH="1">
              <a:off x="656" y="3648"/>
              <a:ext cx="211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24" name="Text Box 99">
              <a:extLst>
                <a:ext uri="{FF2B5EF4-FFF2-40B4-BE49-F238E27FC236}">
                  <a16:creationId xmlns:a16="http://schemas.microsoft.com/office/drawing/2014/main" id="{31A6256E-D4A1-177F-0B86-6019FFEDACA0}"/>
                </a:ext>
              </a:extLst>
            </p:cNvPr>
            <p:cNvSpPr txBox="1">
              <a:spLocks noChangeArrowheads="1"/>
            </p:cNvSpPr>
            <p:nvPr/>
          </p:nvSpPr>
          <p:spPr bwMode="auto">
            <a:xfrm rot="-297589">
              <a:off x="672" y="3512"/>
              <a:ext cx="20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mic Sans MS" panose="030F0702030302020204" pitchFamily="66" charset="0"/>
                </a:rPr>
                <a:t>ACK 201 </a:t>
              </a:r>
              <a:r>
                <a:rPr lang="en-US" altLang="en-US">
                  <a:solidFill>
                    <a:srgbClr val="FF0066"/>
                  </a:solidFill>
                  <a:latin typeface="Comic Sans MS" panose="030F0702030302020204" pitchFamily="66" charset="0"/>
                </a:rPr>
                <a:t>SACK 401-601</a:t>
              </a:r>
            </a:p>
          </p:txBody>
        </p:sp>
      </p:grpSp>
      <p:grpSp>
        <p:nvGrpSpPr>
          <p:cNvPr id="10" name="Group 111">
            <a:extLst>
              <a:ext uri="{FF2B5EF4-FFF2-40B4-BE49-F238E27FC236}">
                <a16:creationId xmlns:a16="http://schemas.microsoft.com/office/drawing/2014/main" id="{ED66A21C-DF95-9276-CEB1-0669D50466AF}"/>
              </a:ext>
            </a:extLst>
          </p:cNvPr>
          <p:cNvGrpSpPr>
            <a:grpSpLocks/>
          </p:cNvGrpSpPr>
          <p:nvPr/>
        </p:nvGrpSpPr>
        <p:grpSpPr bwMode="auto">
          <a:xfrm>
            <a:off x="6248400" y="2926080"/>
            <a:ext cx="4267200" cy="381000"/>
            <a:chOff x="2976" y="2256"/>
            <a:chExt cx="2688" cy="240"/>
          </a:xfrm>
        </p:grpSpPr>
        <p:sp>
          <p:nvSpPr>
            <p:cNvPr id="37918" name="Rectangle 66">
              <a:extLst>
                <a:ext uri="{FF2B5EF4-FFF2-40B4-BE49-F238E27FC236}">
                  <a16:creationId xmlns:a16="http://schemas.microsoft.com/office/drawing/2014/main" id="{A4151D07-4C83-590C-CD5C-43528AFE3D81}"/>
                </a:ext>
              </a:extLst>
            </p:cNvPr>
            <p:cNvSpPr>
              <a:spLocks noChangeArrowheads="1"/>
            </p:cNvSpPr>
            <p:nvPr/>
          </p:nvSpPr>
          <p:spPr bwMode="auto">
            <a:xfrm>
              <a:off x="2976" y="2256"/>
              <a:ext cx="2688" cy="240"/>
            </a:xfrm>
            <a:prstGeom prst="rect">
              <a:avLst/>
            </a:prstGeom>
            <a:solidFill>
              <a:srgbClr val="F5F5F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19" name="Rectangle 67" descr="Light upward diagonal">
              <a:extLst>
                <a:ext uri="{FF2B5EF4-FFF2-40B4-BE49-F238E27FC236}">
                  <a16:creationId xmlns:a16="http://schemas.microsoft.com/office/drawing/2014/main" id="{F1978D13-6EF3-D5D0-6F6B-5A0EF2AF3872}"/>
                </a:ext>
              </a:extLst>
            </p:cNvPr>
            <p:cNvSpPr>
              <a:spLocks noChangeArrowheads="1"/>
            </p:cNvSpPr>
            <p:nvPr/>
          </p:nvSpPr>
          <p:spPr bwMode="auto">
            <a:xfrm>
              <a:off x="2976" y="2256"/>
              <a:ext cx="432" cy="240"/>
            </a:xfrm>
            <a:prstGeom prst="rect">
              <a:avLst/>
            </a:prstGeom>
            <a:pattFill prst="ltUpDiag">
              <a:fgClr>
                <a:srgbClr val="A4CCFC"/>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20" name="Text Box 68">
              <a:extLst>
                <a:ext uri="{FF2B5EF4-FFF2-40B4-BE49-F238E27FC236}">
                  <a16:creationId xmlns:a16="http://schemas.microsoft.com/office/drawing/2014/main" id="{BB1DBFF0-48F1-31C9-75C2-511A7219DEB5}"/>
                </a:ext>
              </a:extLst>
            </p:cNvPr>
            <p:cNvSpPr txBox="1">
              <a:spLocks noChangeArrowheads="1"/>
            </p:cNvSpPr>
            <p:nvPr/>
          </p:nvSpPr>
          <p:spPr bwMode="auto">
            <a:xfrm>
              <a:off x="3000" y="2280"/>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b="1">
                  <a:latin typeface="Comic Sans MS" panose="030F0702030302020204" pitchFamily="66" charset="0"/>
                </a:rPr>
                <a:t>1-100</a:t>
              </a:r>
            </a:p>
          </p:txBody>
        </p:sp>
        <p:sp>
          <p:nvSpPr>
            <p:cNvPr id="37921" name="Rectangle 109" descr="Light upward diagonal">
              <a:extLst>
                <a:ext uri="{FF2B5EF4-FFF2-40B4-BE49-F238E27FC236}">
                  <a16:creationId xmlns:a16="http://schemas.microsoft.com/office/drawing/2014/main" id="{96F83315-9857-1C35-67A1-66B64A98C6BA}"/>
                </a:ext>
              </a:extLst>
            </p:cNvPr>
            <p:cNvSpPr>
              <a:spLocks noChangeArrowheads="1"/>
            </p:cNvSpPr>
            <p:nvPr/>
          </p:nvSpPr>
          <p:spPr bwMode="auto">
            <a:xfrm>
              <a:off x="3392" y="2256"/>
              <a:ext cx="448" cy="240"/>
            </a:xfrm>
            <a:prstGeom prst="rect">
              <a:avLst/>
            </a:prstGeom>
            <a:pattFill prst="ltUpDiag">
              <a:fgClr>
                <a:srgbClr val="A4CCFC"/>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22" name="Text Box 110">
              <a:extLst>
                <a:ext uri="{FF2B5EF4-FFF2-40B4-BE49-F238E27FC236}">
                  <a16:creationId xmlns:a16="http://schemas.microsoft.com/office/drawing/2014/main" id="{21C8A2AA-6781-4FE7-34B8-FC47C83CB4D3}"/>
                </a:ext>
              </a:extLst>
            </p:cNvPr>
            <p:cNvSpPr txBox="1">
              <a:spLocks noChangeArrowheads="1"/>
            </p:cNvSpPr>
            <p:nvPr/>
          </p:nvSpPr>
          <p:spPr bwMode="auto">
            <a:xfrm>
              <a:off x="3352" y="2280"/>
              <a:ext cx="5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b="1">
                  <a:latin typeface="Comic Sans MS" panose="030F0702030302020204" pitchFamily="66" charset="0"/>
                </a:rPr>
                <a:t>101-200</a:t>
              </a:r>
            </a:p>
          </p:txBody>
        </p:sp>
      </p:grpSp>
      <p:grpSp>
        <p:nvGrpSpPr>
          <p:cNvPr id="11" name="Group 123">
            <a:extLst>
              <a:ext uri="{FF2B5EF4-FFF2-40B4-BE49-F238E27FC236}">
                <a16:creationId xmlns:a16="http://schemas.microsoft.com/office/drawing/2014/main" id="{B492C5D9-5B01-221C-9CD9-66AE06DB7766}"/>
              </a:ext>
            </a:extLst>
          </p:cNvPr>
          <p:cNvGrpSpPr>
            <a:grpSpLocks/>
          </p:cNvGrpSpPr>
          <p:nvPr/>
        </p:nvGrpSpPr>
        <p:grpSpPr bwMode="auto">
          <a:xfrm>
            <a:off x="6248400" y="4945380"/>
            <a:ext cx="4356100" cy="381000"/>
            <a:chOff x="2976" y="3528"/>
            <a:chExt cx="2744" cy="240"/>
          </a:xfrm>
        </p:grpSpPr>
        <p:grpSp>
          <p:nvGrpSpPr>
            <p:cNvPr id="37908" name="Group 122">
              <a:extLst>
                <a:ext uri="{FF2B5EF4-FFF2-40B4-BE49-F238E27FC236}">
                  <a16:creationId xmlns:a16="http://schemas.microsoft.com/office/drawing/2014/main" id="{A4ED9976-4F69-9CF0-8872-92C5EA6C1E56}"/>
                </a:ext>
              </a:extLst>
            </p:cNvPr>
            <p:cNvGrpSpPr>
              <a:grpSpLocks/>
            </p:cNvGrpSpPr>
            <p:nvPr/>
          </p:nvGrpSpPr>
          <p:grpSpPr bwMode="auto">
            <a:xfrm>
              <a:off x="2976" y="3528"/>
              <a:ext cx="2688" cy="240"/>
              <a:chOff x="2976" y="3528"/>
              <a:chExt cx="2688" cy="240"/>
            </a:xfrm>
          </p:grpSpPr>
          <p:sp>
            <p:nvSpPr>
              <p:cNvPr id="37913" name="Rectangle 113">
                <a:extLst>
                  <a:ext uri="{FF2B5EF4-FFF2-40B4-BE49-F238E27FC236}">
                    <a16:creationId xmlns:a16="http://schemas.microsoft.com/office/drawing/2014/main" id="{6B8CB086-A08D-5A5A-82CE-8B3872490187}"/>
                  </a:ext>
                </a:extLst>
              </p:cNvPr>
              <p:cNvSpPr>
                <a:spLocks noChangeArrowheads="1"/>
              </p:cNvSpPr>
              <p:nvPr/>
            </p:nvSpPr>
            <p:spPr bwMode="auto">
              <a:xfrm>
                <a:off x="2976" y="3528"/>
                <a:ext cx="2688" cy="240"/>
              </a:xfrm>
              <a:prstGeom prst="rect">
                <a:avLst/>
              </a:prstGeom>
              <a:solidFill>
                <a:srgbClr val="F5F5F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14" name="Rectangle 114" descr="Light upward diagonal">
                <a:extLst>
                  <a:ext uri="{FF2B5EF4-FFF2-40B4-BE49-F238E27FC236}">
                    <a16:creationId xmlns:a16="http://schemas.microsoft.com/office/drawing/2014/main" id="{E2C024EE-976F-F13A-51A7-0387A2E86E95}"/>
                  </a:ext>
                </a:extLst>
              </p:cNvPr>
              <p:cNvSpPr>
                <a:spLocks noChangeArrowheads="1"/>
              </p:cNvSpPr>
              <p:nvPr/>
            </p:nvSpPr>
            <p:spPr bwMode="auto">
              <a:xfrm>
                <a:off x="2976" y="3528"/>
                <a:ext cx="432" cy="240"/>
              </a:xfrm>
              <a:prstGeom prst="rect">
                <a:avLst/>
              </a:prstGeom>
              <a:pattFill prst="ltUpDiag">
                <a:fgClr>
                  <a:srgbClr val="A4CCFC"/>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15" name="Text Box 115">
                <a:extLst>
                  <a:ext uri="{FF2B5EF4-FFF2-40B4-BE49-F238E27FC236}">
                    <a16:creationId xmlns:a16="http://schemas.microsoft.com/office/drawing/2014/main" id="{C9792DA7-144C-B793-02DC-22335AD3BBD9}"/>
                  </a:ext>
                </a:extLst>
              </p:cNvPr>
              <p:cNvSpPr txBox="1">
                <a:spLocks noChangeArrowheads="1"/>
              </p:cNvSpPr>
              <p:nvPr/>
            </p:nvSpPr>
            <p:spPr bwMode="auto">
              <a:xfrm>
                <a:off x="3000" y="3552"/>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b="1">
                    <a:latin typeface="Comic Sans MS" panose="030F0702030302020204" pitchFamily="66" charset="0"/>
                  </a:rPr>
                  <a:t>1-100</a:t>
                </a:r>
              </a:p>
            </p:txBody>
          </p:sp>
          <p:sp>
            <p:nvSpPr>
              <p:cNvPr id="37916" name="Rectangle 116" descr="Light upward diagonal">
                <a:extLst>
                  <a:ext uri="{FF2B5EF4-FFF2-40B4-BE49-F238E27FC236}">
                    <a16:creationId xmlns:a16="http://schemas.microsoft.com/office/drawing/2014/main" id="{B1D93278-D04A-CFCF-BBFB-EA8C751ABB16}"/>
                  </a:ext>
                </a:extLst>
              </p:cNvPr>
              <p:cNvSpPr>
                <a:spLocks noChangeArrowheads="1"/>
              </p:cNvSpPr>
              <p:nvPr/>
            </p:nvSpPr>
            <p:spPr bwMode="auto">
              <a:xfrm>
                <a:off x="3392" y="3528"/>
                <a:ext cx="448" cy="240"/>
              </a:xfrm>
              <a:prstGeom prst="rect">
                <a:avLst/>
              </a:prstGeom>
              <a:pattFill prst="ltUpDiag">
                <a:fgClr>
                  <a:srgbClr val="A4CCFC"/>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17" name="Text Box 117">
                <a:extLst>
                  <a:ext uri="{FF2B5EF4-FFF2-40B4-BE49-F238E27FC236}">
                    <a16:creationId xmlns:a16="http://schemas.microsoft.com/office/drawing/2014/main" id="{A353C06D-787F-D6D4-0608-B86E2221F7B4}"/>
                  </a:ext>
                </a:extLst>
              </p:cNvPr>
              <p:cNvSpPr txBox="1">
                <a:spLocks noChangeArrowheads="1"/>
              </p:cNvSpPr>
              <p:nvPr/>
            </p:nvSpPr>
            <p:spPr bwMode="auto">
              <a:xfrm>
                <a:off x="3344" y="3552"/>
                <a:ext cx="5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b="1">
                    <a:latin typeface="Comic Sans MS" panose="030F0702030302020204" pitchFamily="66" charset="0"/>
                  </a:rPr>
                  <a:t>101-200</a:t>
                </a:r>
              </a:p>
            </p:txBody>
          </p:sp>
        </p:grpSp>
        <p:sp>
          <p:nvSpPr>
            <p:cNvPr id="37909" name="Rectangle 118" descr="Light upward diagonal">
              <a:extLst>
                <a:ext uri="{FF2B5EF4-FFF2-40B4-BE49-F238E27FC236}">
                  <a16:creationId xmlns:a16="http://schemas.microsoft.com/office/drawing/2014/main" id="{12866C85-4928-04C2-04A9-CE2771B96FC9}"/>
                </a:ext>
              </a:extLst>
            </p:cNvPr>
            <p:cNvSpPr>
              <a:spLocks noChangeArrowheads="1"/>
            </p:cNvSpPr>
            <p:nvPr/>
          </p:nvSpPr>
          <p:spPr bwMode="auto">
            <a:xfrm>
              <a:off x="4768" y="3528"/>
              <a:ext cx="448" cy="240"/>
            </a:xfrm>
            <a:prstGeom prst="rect">
              <a:avLst/>
            </a:prstGeom>
            <a:pattFill prst="ltUpDiag">
              <a:fgClr>
                <a:srgbClr val="A4CCFC"/>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10" name="Rectangle 119" descr="Light upward diagonal">
              <a:extLst>
                <a:ext uri="{FF2B5EF4-FFF2-40B4-BE49-F238E27FC236}">
                  <a16:creationId xmlns:a16="http://schemas.microsoft.com/office/drawing/2014/main" id="{DF87067E-57BC-7D70-6D0D-0DAB2C4E4779}"/>
                </a:ext>
              </a:extLst>
            </p:cNvPr>
            <p:cNvSpPr>
              <a:spLocks noChangeArrowheads="1"/>
            </p:cNvSpPr>
            <p:nvPr/>
          </p:nvSpPr>
          <p:spPr bwMode="auto">
            <a:xfrm>
              <a:off x="5216" y="3528"/>
              <a:ext cx="448" cy="240"/>
            </a:xfrm>
            <a:prstGeom prst="rect">
              <a:avLst/>
            </a:prstGeom>
            <a:pattFill prst="ltUpDiag">
              <a:fgClr>
                <a:srgbClr val="A4CCFC"/>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911" name="Text Box 120">
              <a:extLst>
                <a:ext uri="{FF2B5EF4-FFF2-40B4-BE49-F238E27FC236}">
                  <a16:creationId xmlns:a16="http://schemas.microsoft.com/office/drawing/2014/main" id="{1DF56532-9508-2CEE-6D40-3CDC464FD79B}"/>
                </a:ext>
              </a:extLst>
            </p:cNvPr>
            <p:cNvSpPr txBox="1">
              <a:spLocks noChangeArrowheads="1"/>
            </p:cNvSpPr>
            <p:nvPr/>
          </p:nvSpPr>
          <p:spPr bwMode="auto">
            <a:xfrm>
              <a:off x="4728" y="3552"/>
              <a:ext cx="5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b="1">
                  <a:latin typeface="Comic Sans MS" panose="030F0702030302020204" pitchFamily="66" charset="0"/>
                </a:rPr>
                <a:t>401-500</a:t>
              </a:r>
            </a:p>
          </p:txBody>
        </p:sp>
        <p:sp>
          <p:nvSpPr>
            <p:cNvPr id="37912" name="Text Box 121">
              <a:extLst>
                <a:ext uri="{FF2B5EF4-FFF2-40B4-BE49-F238E27FC236}">
                  <a16:creationId xmlns:a16="http://schemas.microsoft.com/office/drawing/2014/main" id="{58D16919-569C-F312-E823-8DEF77EA2EAE}"/>
                </a:ext>
              </a:extLst>
            </p:cNvPr>
            <p:cNvSpPr txBox="1">
              <a:spLocks noChangeArrowheads="1"/>
            </p:cNvSpPr>
            <p:nvPr/>
          </p:nvSpPr>
          <p:spPr bwMode="auto">
            <a:xfrm>
              <a:off x="5176" y="3552"/>
              <a:ext cx="5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200" b="1">
                  <a:latin typeface="Comic Sans MS" panose="030F0702030302020204" pitchFamily="66" charset="0"/>
                </a:rPr>
                <a:t>501-600</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fill="hold"/>
                                        <p:tgtEl>
                                          <p:spTgt spid="3"/>
                                        </p:tgtEl>
                                        <p:attrNameLst>
                                          <p:attrName>ppt_x</p:attrName>
                                        </p:attrNameLst>
                                      </p:cBhvr>
                                      <p:tavLst>
                                        <p:tav tm="0">
                                          <p:val>
                                            <p:strVal val="0-#ppt_w/2"/>
                                          </p:val>
                                        </p:tav>
                                        <p:tav tm="100000">
                                          <p:val>
                                            <p:strVal val="#ppt_x"/>
                                          </p:val>
                                        </p:tav>
                                      </p:tavLst>
                                    </p:anim>
                                    <p:anim calcmode="lin" valueType="num">
                                      <p:cBhvr additive="base">
                                        <p:cTn id="14"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32"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ox(out)">
                                      <p:cBhvr>
                                        <p:cTn id="19" dur="1000"/>
                                        <p:tgtEl>
                                          <p:spTgt spid="1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1000" fill="hold"/>
                                        <p:tgtEl>
                                          <p:spTgt spid="4"/>
                                        </p:tgtEl>
                                        <p:attrNameLst>
                                          <p:attrName>ppt_x</p:attrName>
                                        </p:attrNameLst>
                                      </p:cBhvr>
                                      <p:tavLst>
                                        <p:tav tm="0">
                                          <p:val>
                                            <p:strVal val="1+#ppt_w/2"/>
                                          </p:val>
                                        </p:tav>
                                        <p:tav tm="100000">
                                          <p:val>
                                            <p:strVal val="#ppt_x"/>
                                          </p:val>
                                        </p:tav>
                                      </p:tavLst>
                                    </p:anim>
                                    <p:anim calcmode="lin" valueType="num">
                                      <p:cBhvr additive="base">
                                        <p:cTn id="25"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1000" fill="hold"/>
                                        <p:tgtEl>
                                          <p:spTgt spid="5"/>
                                        </p:tgtEl>
                                        <p:attrNameLst>
                                          <p:attrName>ppt_x</p:attrName>
                                        </p:attrNameLst>
                                      </p:cBhvr>
                                      <p:tavLst>
                                        <p:tav tm="0">
                                          <p:val>
                                            <p:strVal val="0-#ppt_w/2"/>
                                          </p:val>
                                        </p:tav>
                                        <p:tav tm="100000">
                                          <p:val>
                                            <p:strVal val="#ppt_x"/>
                                          </p:val>
                                        </p:tav>
                                      </p:tavLst>
                                    </p:anim>
                                    <p:anim calcmode="lin" valueType="num">
                                      <p:cBhvr additive="base">
                                        <p:cTn id="31"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1000" fill="hold"/>
                                        <p:tgtEl>
                                          <p:spTgt spid="6"/>
                                        </p:tgtEl>
                                        <p:attrNameLst>
                                          <p:attrName>ppt_x</p:attrName>
                                        </p:attrNameLst>
                                      </p:cBhvr>
                                      <p:tavLst>
                                        <p:tav tm="0">
                                          <p:val>
                                            <p:strVal val="0-#ppt_w/2"/>
                                          </p:val>
                                        </p:tav>
                                        <p:tav tm="100000">
                                          <p:val>
                                            <p:strVal val="#ppt_x"/>
                                          </p:val>
                                        </p:tav>
                                      </p:tavLst>
                                    </p:anim>
                                    <p:anim calcmode="lin" valueType="num">
                                      <p:cBhvr additive="base">
                                        <p:cTn id="37"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1000" fill="hold"/>
                                        <p:tgtEl>
                                          <p:spTgt spid="7"/>
                                        </p:tgtEl>
                                        <p:attrNameLst>
                                          <p:attrName>ppt_x</p:attrName>
                                        </p:attrNameLst>
                                      </p:cBhvr>
                                      <p:tavLst>
                                        <p:tav tm="0">
                                          <p:val>
                                            <p:strVal val="0-#ppt_w/2"/>
                                          </p:val>
                                        </p:tav>
                                        <p:tav tm="100000">
                                          <p:val>
                                            <p:strVal val="#ppt_x"/>
                                          </p:val>
                                        </p:tav>
                                      </p:tavLst>
                                    </p:anim>
                                    <p:anim calcmode="lin" valueType="num">
                                      <p:cBhvr additive="base">
                                        <p:cTn id="43"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1000" fill="hold"/>
                                        <p:tgtEl>
                                          <p:spTgt spid="8"/>
                                        </p:tgtEl>
                                        <p:attrNameLst>
                                          <p:attrName>ppt_x</p:attrName>
                                        </p:attrNameLst>
                                      </p:cBhvr>
                                      <p:tavLst>
                                        <p:tav tm="0">
                                          <p:val>
                                            <p:strVal val="0-#ppt_w/2"/>
                                          </p:val>
                                        </p:tav>
                                        <p:tav tm="100000">
                                          <p:val>
                                            <p:strVal val="#ppt_x"/>
                                          </p:val>
                                        </p:tav>
                                      </p:tavLst>
                                    </p:anim>
                                    <p:anim calcmode="lin" valueType="num">
                                      <p:cBhvr additive="base">
                                        <p:cTn id="49"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32"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box(out)">
                                      <p:cBhvr>
                                        <p:cTn id="54" dur="1000"/>
                                        <p:tgtEl>
                                          <p:spTgt spid="1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2"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2000" fill="hold"/>
                                        <p:tgtEl>
                                          <p:spTgt spid="9"/>
                                        </p:tgtEl>
                                        <p:attrNameLst>
                                          <p:attrName>ppt_x</p:attrName>
                                        </p:attrNameLst>
                                      </p:cBhvr>
                                      <p:tavLst>
                                        <p:tav tm="0">
                                          <p:val>
                                            <p:strVal val="1+#ppt_w/2"/>
                                          </p:val>
                                        </p:tav>
                                        <p:tav tm="100000">
                                          <p:val>
                                            <p:strVal val="#ppt_x"/>
                                          </p:val>
                                        </p:tav>
                                      </p:tavLst>
                                    </p:anim>
                                    <p:anim calcmode="lin" valueType="num">
                                      <p:cBhvr additive="base">
                                        <p:cTn id="60" dur="2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Slide Number Placeholder 2">
            <a:extLst>
              <a:ext uri="{FF2B5EF4-FFF2-40B4-BE49-F238E27FC236}">
                <a16:creationId xmlns:a16="http://schemas.microsoft.com/office/drawing/2014/main" id="{9F488B68-7009-8BD6-1AB4-728D23632A28}"/>
              </a:ext>
            </a:extLst>
          </p:cNvPr>
          <p:cNvSpPr>
            <a:spLocks noGrp="1"/>
          </p:cNvSpPr>
          <p:nvPr>
            <p:ph type="sldNum" sz="quarter" idx="12"/>
          </p:nvPr>
        </p:nvSpPr>
        <p:spPr>
          <a:xfrm>
            <a:off x="7564438" y="6432551"/>
            <a:ext cx="28956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AF30CCE-E82A-40C4-AF01-96A924000F14}" type="slidenum">
              <a:rPr lang="en-US" altLang="en-US">
                <a:solidFill>
                  <a:srgbClr val="898989"/>
                </a:solidFill>
                <a:latin typeface="Calibri" panose="020F0502020204030204" pitchFamily="34" charset="0"/>
              </a:rPr>
              <a:pPr algn="ctr" eaLnBrk="1" hangingPunct="1"/>
              <a:t>79</a:t>
            </a:fld>
            <a:endParaRPr lang="en-US" altLang="en-US">
              <a:solidFill>
                <a:srgbClr val="898989"/>
              </a:solidFill>
              <a:latin typeface="Calibri" panose="020F0502020204030204" pitchFamily="34" charset="0"/>
            </a:endParaRPr>
          </a:p>
        </p:txBody>
      </p:sp>
      <p:sp>
        <p:nvSpPr>
          <p:cNvPr id="41987" name="Text Box 4">
            <a:extLst>
              <a:ext uri="{FF2B5EF4-FFF2-40B4-BE49-F238E27FC236}">
                <a16:creationId xmlns:a16="http://schemas.microsoft.com/office/drawing/2014/main" id="{5E6D4526-A9D2-9DE5-FD97-CAB658BC70A5}"/>
              </a:ext>
            </a:extLst>
          </p:cNvPr>
          <p:cNvSpPr txBox="1">
            <a:spLocks noChangeArrowheads="1"/>
          </p:cNvSpPr>
          <p:nvPr/>
        </p:nvSpPr>
        <p:spPr bwMode="auto">
          <a:xfrm>
            <a:off x="1112520" y="490538"/>
            <a:ext cx="8945880" cy="973193"/>
          </a:xfrm>
          <a:prstGeom prst="rect">
            <a:avLst/>
          </a:prstGeom>
        </p:spPr>
        <p:txBody>
          <a:bodyPr vert="horz" lIns="91440" tIns="45720" rIns="91440" bIns="45720" rtlCol="0" anchor="ctr">
            <a:normAutofit/>
          </a:bodyPr>
          <a:lstStyle>
            <a:defPPr>
              <a:defRPr lang="en-US"/>
            </a:defPPr>
            <a:lvl1pPr>
              <a:lnSpc>
                <a:spcPct val="90000"/>
              </a:lnSpc>
              <a:spcBef>
                <a:spcPct val="0"/>
              </a:spcBef>
              <a:buNone/>
              <a:defRPr sz="4400" b="1">
                <a:solidFill>
                  <a:srgbClr val="0000A3"/>
                </a:solidFill>
                <a:latin typeface="+mj-lt"/>
                <a:ea typeface="+mj-ea"/>
                <a:cs typeface="+mj-cs"/>
              </a:defRPr>
            </a:lvl1pPr>
          </a:lstStyle>
          <a:p>
            <a:r>
              <a:rPr lang="en-US" altLang="en-US" dirty="0"/>
              <a:t>Another SACK Example</a:t>
            </a:r>
          </a:p>
        </p:txBody>
      </p:sp>
      <p:sp>
        <p:nvSpPr>
          <p:cNvPr id="41988" name="Rectangle 5">
            <a:extLst>
              <a:ext uri="{FF2B5EF4-FFF2-40B4-BE49-F238E27FC236}">
                <a16:creationId xmlns:a16="http://schemas.microsoft.com/office/drawing/2014/main" id="{D1EFAA40-9EB4-D014-15D4-B4907134E05A}"/>
              </a:ext>
            </a:extLst>
          </p:cNvPr>
          <p:cNvSpPr>
            <a:spLocks noChangeArrowheads="1"/>
          </p:cNvSpPr>
          <p:nvPr/>
        </p:nvSpPr>
        <p:spPr bwMode="auto">
          <a:xfrm>
            <a:off x="1865314" y="1905000"/>
            <a:ext cx="268287" cy="4495800"/>
          </a:xfrm>
          <a:prstGeom prst="rect">
            <a:avLst/>
          </a:prstGeom>
          <a:solidFill>
            <a:schemeClr val="folHlink"/>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2000" b="1">
                <a:solidFill>
                  <a:srgbClr val="FFFFFF"/>
                </a:solidFill>
                <a:latin typeface="Comic Sans MS" panose="030F0702030302020204" pitchFamily="66" charset="0"/>
              </a:rPr>
              <a:t>sender</a:t>
            </a:r>
          </a:p>
        </p:txBody>
      </p:sp>
      <p:sp>
        <p:nvSpPr>
          <p:cNvPr id="41989" name="Rectangle 6">
            <a:extLst>
              <a:ext uri="{FF2B5EF4-FFF2-40B4-BE49-F238E27FC236}">
                <a16:creationId xmlns:a16="http://schemas.microsoft.com/office/drawing/2014/main" id="{32098E30-B590-1EE4-E790-64707BE1B341}"/>
              </a:ext>
            </a:extLst>
          </p:cNvPr>
          <p:cNvSpPr>
            <a:spLocks noChangeArrowheads="1"/>
          </p:cNvSpPr>
          <p:nvPr/>
        </p:nvSpPr>
        <p:spPr bwMode="auto">
          <a:xfrm>
            <a:off x="5638800" y="1905000"/>
            <a:ext cx="228600" cy="4495800"/>
          </a:xfrm>
          <a:prstGeom prst="rect">
            <a:avLst/>
          </a:prstGeom>
          <a:solidFill>
            <a:schemeClr val="folHlink"/>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2000" b="1">
                <a:solidFill>
                  <a:srgbClr val="FFFFFF"/>
                </a:solidFill>
                <a:latin typeface="Comic Sans MS" panose="030F0702030302020204" pitchFamily="66" charset="0"/>
              </a:rPr>
              <a:t>receiver</a:t>
            </a:r>
          </a:p>
        </p:txBody>
      </p:sp>
      <p:grpSp>
        <p:nvGrpSpPr>
          <p:cNvPr id="2" name="Group 7">
            <a:extLst>
              <a:ext uri="{FF2B5EF4-FFF2-40B4-BE49-F238E27FC236}">
                <a16:creationId xmlns:a16="http://schemas.microsoft.com/office/drawing/2014/main" id="{94AD1AC8-DDB8-2536-1321-A4B36C67BBF5}"/>
              </a:ext>
            </a:extLst>
          </p:cNvPr>
          <p:cNvGrpSpPr>
            <a:grpSpLocks/>
          </p:cNvGrpSpPr>
          <p:nvPr/>
        </p:nvGrpSpPr>
        <p:grpSpPr bwMode="auto">
          <a:xfrm>
            <a:off x="2162176" y="1967149"/>
            <a:ext cx="3476625" cy="417275"/>
            <a:chOff x="515" y="941"/>
            <a:chExt cx="2582" cy="309"/>
          </a:xfrm>
        </p:grpSpPr>
        <p:sp>
          <p:nvSpPr>
            <p:cNvPr id="42052" name="Line 8">
              <a:extLst>
                <a:ext uri="{FF2B5EF4-FFF2-40B4-BE49-F238E27FC236}">
                  <a16:creationId xmlns:a16="http://schemas.microsoft.com/office/drawing/2014/main" id="{73DDF87A-0366-0543-E849-72F1C4373F1E}"/>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53" name="Text Box 9">
              <a:extLst>
                <a:ext uri="{FF2B5EF4-FFF2-40B4-BE49-F238E27FC236}">
                  <a16:creationId xmlns:a16="http://schemas.microsoft.com/office/drawing/2014/main" id="{B10E5854-33C1-FBD4-5A7C-8429611C282C}"/>
                </a:ext>
              </a:extLst>
            </p:cNvPr>
            <p:cNvSpPr txBox="1">
              <a:spLocks noChangeArrowheads="1"/>
            </p:cNvSpPr>
            <p:nvPr/>
          </p:nvSpPr>
          <p:spPr bwMode="auto">
            <a:xfrm rot="240000">
              <a:off x="1356" y="941"/>
              <a:ext cx="55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100-299</a:t>
              </a:r>
            </a:p>
          </p:txBody>
        </p:sp>
      </p:grpSp>
      <p:grpSp>
        <p:nvGrpSpPr>
          <p:cNvPr id="3" name="Group 10">
            <a:extLst>
              <a:ext uri="{FF2B5EF4-FFF2-40B4-BE49-F238E27FC236}">
                <a16:creationId xmlns:a16="http://schemas.microsoft.com/office/drawing/2014/main" id="{98C4C95D-4096-9EF4-EE35-AA5E6349A006}"/>
              </a:ext>
            </a:extLst>
          </p:cNvPr>
          <p:cNvGrpSpPr>
            <a:grpSpLocks/>
          </p:cNvGrpSpPr>
          <p:nvPr/>
        </p:nvGrpSpPr>
        <p:grpSpPr bwMode="auto">
          <a:xfrm>
            <a:off x="2133600" y="2459041"/>
            <a:ext cx="3505200" cy="419101"/>
            <a:chOff x="515" y="1274"/>
            <a:chExt cx="2582" cy="264"/>
          </a:xfrm>
        </p:grpSpPr>
        <p:sp>
          <p:nvSpPr>
            <p:cNvPr id="42050" name="Line 11">
              <a:extLst>
                <a:ext uri="{FF2B5EF4-FFF2-40B4-BE49-F238E27FC236}">
                  <a16:creationId xmlns:a16="http://schemas.microsoft.com/office/drawing/2014/main" id="{CDFFC8A8-A2E4-A1D0-B957-367A78910709}"/>
                </a:ext>
              </a:extLst>
            </p:cNvPr>
            <p:cNvSpPr>
              <a:spLocks noChangeShapeType="1"/>
            </p:cNvSpPr>
            <p:nvPr/>
          </p:nvSpPr>
          <p:spPr bwMode="auto">
            <a:xfrm flipH="1">
              <a:off x="515" y="1298"/>
              <a:ext cx="2582"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51" name="Text Box 12">
              <a:extLst>
                <a:ext uri="{FF2B5EF4-FFF2-40B4-BE49-F238E27FC236}">
                  <a16:creationId xmlns:a16="http://schemas.microsoft.com/office/drawing/2014/main" id="{AE25F195-63C9-8035-A77C-4E372DC85618}"/>
                </a:ext>
              </a:extLst>
            </p:cNvPr>
            <p:cNvSpPr txBox="1">
              <a:spLocks noChangeArrowheads="1"/>
            </p:cNvSpPr>
            <p:nvPr/>
          </p:nvSpPr>
          <p:spPr bwMode="auto">
            <a:xfrm rot="21360000">
              <a:off x="1507" y="1274"/>
              <a:ext cx="58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300</a:t>
              </a:r>
            </a:p>
          </p:txBody>
        </p:sp>
      </p:grpSp>
      <p:grpSp>
        <p:nvGrpSpPr>
          <p:cNvPr id="4" name="Group 47">
            <a:extLst>
              <a:ext uri="{FF2B5EF4-FFF2-40B4-BE49-F238E27FC236}">
                <a16:creationId xmlns:a16="http://schemas.microsoft.com/office/drawing/2014/main" id="{D25D6C61-7574-7162-2CCF-6AA88033277D}"/>
              </a:ext>
            </a:extLst>
          </p:cNvPr>
          <p:cNvGrpSpPr>
            <a:grpSpLocks/>
          </p:cNvGrpSpPr>
          <p:nvPr/>
        </p:nvGrpSpPr>
        <p:grpSpPr bwMode="auto">
          <a:xfrm>
            <a:off x="5867400" y="1905000"/>
            <a:ext cx="4648200" cy="723900"/>
            <a:chOff x="2736" y="1392"/>
            <a:chExt cx="2928" cy="456"/>
          </a:xfrm>
        </p:grpSpPr>
        <p:sp>
          <p:nvSpPr>
            <p:cNvPr id="42044" name="Rectangle 14">
              <a:extLst>
                <a:ext uri="{FF2B5EF4-FFF2-40B4-BE49-F238E27FC236}">
                  <a16:creationId xmlns:a16="http://schemas.microsoft.com/office/drawing/2014/main" id="{90C2026F-E42A-2C86-9506-95C5DB0F005D}"/>
                </a:ext>
              </a:extLst>
            </p:cNvPr>
            <p:cNvSpPr>
              <a:spLocks noChangeArrowheads="1"/>
            </p:cNvSpPr>
            <p:nvPr/>
          </p:nvSpPr>
          <p:spPr bwMode="auto">
            <a:xfrm>
              <a:off x="2832" y="1608"/>
              <a:ext cx="2832" cy="240"/>
            </a:xfrm>
            <a:prstGeom prst="rect">
              <a:avLst/>
            </a:prstGeom>
            <a:solidFill>
              <a:srgbClr val="E9E8F4"/>
            </a:solid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2045" name="Rectangle 15" descr="Wide upward diagonal">
              <a:extLst>
                <a:ext uri="{FF2B5EF4-FFF2-40B4-BE49-F238E27FC236}">
                  <a16:creationId xmlns:a16="http://schemas.microsoft.com/office/drawing/2014/main" id="{AC2A5F3F-55EB-DE90-B669-5F4B2DD81689}"/>
                </a:ext>
              </a:extLst>
            </p:cNvPr>
            <p:cNvSpPr>
              <a:spLocks noChangeArrowheads="1"/>
            </p:cNvSpPr>
            <p:nvPr/>
          </p:nvSpPr>
          <p:spPr bwMode="auto">
            <a:xfrm>
              <a:off x="2832" y="1608"/>
              <a:ext cx="288"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2046" name="Text Box 16">
              <a:extLst>
                <a:ext uri="{FF2B5EF4-FFF2-40B4-BE49-F238E27FC236}">
                  <a16:creationId xmlns:a16="http://schemas.microsoft.com/office/drawing/2014/main" id="{2B01A9F8-56F4-3996-9908-3E7E34EE4073}"/>
                </a:ext>
              </a:extLst>
            </p:cNvPr>
            <p:cNvSpPr txBox="1">
              <a:spLocks noChangeArrowheads="1"/>
            </p:cNvSpPr>
            <p:nvPr/>
          </p:nvSpPr>
          <p:spPr bwMode="auto">
            <a:xfrm>
              <a:off x="2736" y="1392"/>
              <a:ext cx="3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100</a:t>
              </a:r>
            </a:p>
          </p:txBody>
        </p:sp>
        <p:sp>
          <p:nvSpPr>
            <p:cNvPr id="42047" name="Line 17">
              <a:extLst>
                <a:ext uri="{FF2B5EF4-FFF2-40B4-BE49-F238E27FC236}">
                  <a16:creationId xmlns:a16="http://schemas.microsoft.com/office/drawing/2014/main" id="{BFC79E79-27E7-16A8-3B2E-9228BB0E0CC4}"/>
                </a:ext>
              </a:extLst>
            </p:cNvPr>
            <p:cNvSpPr>
              <a:spLocks noChangeShapeType="1"/>
            </p:cNvSpPr>
            <p:nvPr/>
          </p:nvSpPr>
          <p:spPr bwMode="auto">
            <a:xfrm>
              <a:off x="3120" y="1512"/>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8" name="Line 18">
              <a:extLst>
                <a:ext uri="{FF2B5EF4-FFF2-40B4-BE49-F238E27FC236}">
                  <a16:creationId xmlns:a16="http://schemas.microsoft.com/office/drawing/2014/main" id="{5B7BD105-F865-4922-9C30-0C75252C0F42}"/>
                </a:ext>
              </a:extLst>
            </p:cNvPr>
            <p:cNvSpPr>
              <a:spLocks noChangeShapeType="1"/>
            </p:cNvSpPr>
            <p:nvPr/>
          </p:nvSpPr>
          <p:spPr bwMode="auto">
            <a:xfrm>
              <a:off x="2840" y="1520"/>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9" name="Text Box 19">
              <a:extLst>
                <a:ext uri="{FF2B5EF4-FFF2-40B4-BE49-F238E27FC236}">
                  <a16:creationId xmlns:a16="http://schemas.microsoft.com/office/drawing/2014/main" id="{DBA3C2A9-E8C0-8C0D-F8C3-3DFB05C74D79}"/>
                </a:ext>
              </a:extLst>
            </p:cNvPr>
            <p:cNvSpPr txBox="1">
              <a:spLocks noChangeArrowheads="1"/>
            </p:cNvSpPr>
            <p:nvPr/>
          </p:nvSpPr>
          <p:spPr bwMode="auto">
            <a:xfrm>
              <a:off x="2992" y="1393"/>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299</a:t>
              </a:r>
            </a:p>
          </p:txBody>
        </p:sp>
      </p:grpSp>
      <p:sp>
        <p:nvSpPr>
          <p:cNvPr id="30741" name="Text Box 21">
            <a:extLst>
              <a:ext uri="{FF2B5EF4-FFF2-40B4-BE49-F238E27FC236}">
                <a16:creationId xmlns:a16="http://schemas.microsoft.com/office/drawing/2014/main" id="{FFE740A6-8598-0827-C648-46490A34F897}"/>
              </a:ext>
            </a:extLst>
          </p:cNvPr>
          <p:cNvSpPr txBox="1">
            <a:spLocks noChangeArrowheads="1"/>
          </p:cNvSpPr>
          <p:nvPr/>
        </p:nvSpPr>
        <p:spPr bwMode="auto">
          <a:xfrm>
            <a:off x="7518400" y="1511301"/>
            <a:ext cx="2819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Receiver Buffer</a:t>
            </a:r>
          </a:p>
        </p:txBody>
      </p:sp>
      <p:grpSp>
        <p:nvGrpSpPr>
          <p:cNvPr id="5" name="Group 25">
            <a:extLst>
              <a:ext uri="{FF2B5EF4-FFF2-40B4-BE49-F238E27FC236}">
                <a16:creationId xmlns:a16="http://schemas.microsoft.com/office/drawing/2014/main" id="{93B3A12B-9F4B-39FB-9929-5922024ACBFE}"/>
              </a:ext>
            </a:extLst>
          </p:cNvPr>
          <p:cNvGrpSpPr>
            <a:grpSpLocks/>
          </p:cNvGrpSpPr>
          <p:nvPr/>
        </p:nvGrpSpPr>
        <p:grpSpPr bwMode="auto">
          <a:xfrm>
            <a:off x="2132014" y="2905122"/>
            <a:ext cx="1565275" cy="342899"/>
            <a:chOff x="383" y="2022"/>
            <a:chExt cx="986" cy="216"/>
          </a:xfrm>
        </p:grpSpPr>
        <p:sp>
          <p:nvSpPr>
            <p:cNvPr id="42042" name="Text Box 23">
              <a:extLst>
                <a:ext uri="{FF2B5EF4-FFF2-40B4-BE49-F238E27FC236}">
                  <a16:creationId xmlns:a16="http://schemas.microsoft.com/office/drawing/2014/main" id="{01E434B6-E72A-CDDF-01BC-8E4049C3346C}"/>
                </a:ext>
              </a:extLst>
            </p:cNvPr>
            <p:cNvSpPr txBox="1">
              <a:spLocks noChangeArrowheads="1"/>
            </p:cNvSpPr>
            <p:nvPr/>
          </p:nvSpPr>
          <p:spPr bwMode="auto">
            <a:xfrm rot="464512">
              <a:off x="508" y="2022"/>
              <a:ext cx="4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300-499</a:t>
              </a:r>
            </a:p>
          </p:txBody>
        </p:sp>
        <p:sp>
          <p:nvSpPr>
            <p:cNvPr id="42043" name="Line 24">
              <a:extLst>
                <a:ext uri="{FF2B5EF4-FFF2-40B4-BE49-F238E27FC236}">
                  <a16:creationId xmlns:a16="http://schemas.microsoft.com/office/drawing/2014/main" id="{7226ED80-4979-65D6-C533-58327A266F03}"/>
                </a:ext>
              </a:extLst>
            </p:cNvPr>
            <p:cNvSpPr>
              <a:spLocks noChangeShapeType="1"/>
            </p:cNvSpPr>
            <p:nvPr/>
          </p:nvSpPr>
          <p:spPr bwMode="auto">
            <a:xfrm rot="321688">
              <a:off x="383" y="2190"/>
              <a:ext cx="986" cy="48"/>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6" name="Group 29">
            <a:extLst>
              <a:ext uri="{FF2B5EF4-FFF2-40B4-BE49-F238E27FC236}">
                <a16:creationId xmlns:a16="http://schemas.microsoft.com/office/drawing/2014/main" id="{141D4684-1B26-3BB5-DCE9-F4581300D60E}"/>
              </a:ext>
            </a:extLst>
          </p:cNvPr>
          <p:cNvGrpSpPr>
            <a:grpSpLocks/>
          </p:cNvGrpSpPr>
          <p:nvPr/>
        </p:nvGrpSpPr>
        <p:grpSpPr bwMode="auto">
          <a:xfrm>
            <a:off x="2162176" y="3373442"/>
            <a:ext cx="3476625" cy="461963"/>
            <a:chOff x="402" y="2293"/>
            <a:chExt cx="2190" cy="291"/>
          </a:xfrm>
        </p:grpSpPr>
        <p:sp>
          <p:nvSpPr>
            <p:cNvPr id="42040" name="Line 27">
              <a:extLst>
                <a:ext uri="{FF2B5EF4-FFF2-40B4-BE49-F238E27FC236}">
                  <a16:creationId xmlns:a16="http://schemas.microsoft.com/office/drawing/2014/main" id="{5BC845C3-7430-2D1C-C72D-543DFC4A9CAA}"/>
                </a:ext>
              </a:extLst>
            </p:cNvPr>
            <p:cNvSpPr>
              <a:spLocks noChangeShapeType="1"/>
            </p:cNvSpPr>
            <p:nvPr/>
          </p:nvSpPr>
          <p:spPr bwMode="auto">
            <a:xfrm>
              <a:off x="402" y="2339"/>
              <a:ext cx="2190" cy="24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41" name="Text Box 28">
              <a:extLst>
                <a:ext uri="{FF2B5EF4-FFF2-40B4-BE49-F238E27FC236}">
                  <a16:creationId xmlns:a16="http://schemas.microsoft.com/office/drawing/2014/main" id="{FAC5394A-61DB-00C0-C527-F92D4373CB8A}"/>
                </a:ext>
              </a:extLst>
            </p:cNvPr>
            <p:cNvSpPr txBox="1">
              <a:spLocks noChangeArrowheads="1"/>
            </p:cNvSpPr>
            <p:nvPr/>
          </p:nvSpPr>
          <p:spPr bwMode="auto">
            <a:xfrm rot="369699">
              <a:off x="1122" y="2293"/>
              <a:ext cx="4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500-699</a:t>
              </a:r>
            </a:p>
          </p:txBody>
        </p:sp>
      </p:grpSp>
      <p:grpSp>
        <p:nvGrpSpPr>
          <p:cNvPr id="7" name="Group 33">
            <a:extLst>
              <a:ext uri="{FF2B5EF4-FFF2-40B4-BE49-F238E27FC236}">
                <a16:creationId xmlns:a16="http://schemas.microsoft.com/office/drawing/2014/main" id="{37AF0E21-232F-5DD2-DA54-3015C32FA7A6}"/>
              </a:ext>
            </a:extLst>
          </p:cNvPr>
          <p:cNvGrpSpPr>
            <a:grpSpLocks/>
          </p:cNvGrpSpPr>
          <p:nvPr/>
        </p:nvGrpSpPr>
        <p:grpSpPr bwMode="auto">
          <a:xfrm>
            <a:off x="2135188" y="3852863"/>
            <a:ext cx="3505200" cy="431800"/>
            <a:chOff x="385" y="2619"/>
            <a:chExt cx="2208" cy="272"/>
          </a:xfrm>
        </p:grpSpPr>
        <p:sp>
          <p:nvSpPr>
            <p:cNvPr id="42038" name="Line 31">
              <a:extLst>
                <a:ext uri="{FF2B5EF4-FFF2-40B4-BE49-F238E27FC236}">
                  <a16:creationId xmlns:a16="http://schemas.microsoft.com/office/drawing/2014/main" id="{8EE97B38-FB37-8C9C-61CF-3B0C58D0ED5B}"/>
                </a:ext>
              </a:extLst>
            </p:cNvPr>
            <p:cNvSpPr>
              <a:spLocks noChangeShapeType="1"/>
            </p:cNvSpPr>
            <p:nvPr/>
          </p:nvSpPr>
          <p:spPr bwMode="auto">
            <a:xfrm flipH="1">
              <a:off x="385" y="2651"/>
              <a:ext cx="220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39" name="Text Box 32">
              <a:extLst>
                <a:ext uri="{FF2B5EF4-FFF2-40B4-BE49-F238E27FC236}">
                  <a16:creationId xmlns:a16="http://schemas.microsoft.com/office/drawing/2014/main" id="{C4171BE5-DDCA-45D2-CC65-BFBCF9C8ADE4}"/>
                </a:ext>
              </a:extLst>
            </p:cNvPr>
            <p:cNvSpPr txBox="1">
              <a:spLocks noChangeArrowheads="1"/>
            </p:cNvSpPr>
            <p:nvPr/>
          </p:nvSpPr>
          <p:spPr bwMode="auto">
            <a:xfrm rot="-304486">
              <a:off x="586" y="2619"/>
              <a:ext cx="15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300, </a:t>
              </a:r>
              <a:r>
                <a:rPr lang="en-US" altLang="en-US" sz="1200">
                  <a:solidFill>
                    <a:srgbClr val="FF33CC"/>
                  </a:solidFill>
                </a:rPr>
                <a:t>SACK 500-700</a:t>
              </a:r>
            </a:p>
          </p:txBody>
        </p:sp>
      </p:grpSp>
      <p:grpSp>
        <p:nvGrpSpPr>
          <p:cNvPr id="8" name="Group 86">
            <a:extLst>
              <a:ext uri="{FF2B5EF4-FFF2-40B4-BE49-F238E27FC236}">
                <a16:creationId xmlns:a16="http://schemas.microsoft.com/office/drawing/2014/main" id="{79557ED1-4759-8E2B-EE02-E849DDCE3589}"/>
              </a:ext>
            </a:extLst>
          </p:cNvPr>
          <p:cNvGrpSpPr>
            <a:grpSpLocks/>
          </p:cNvGrpSpPr>
          <p:nvPr/>
        </p:nvGrpSpPr>
        <p:grpSpPr bwMode="auto">
          <a:xfrm>
            <a:off x="5867400" y="3200401"/>
            <a:ext cx="4648200" cy="747713"/>
            <a:chOff x="2736" y="2208"/>
            <a:chExt cx="2928" cy="471"/>
          </a:xfrm>
        </p:grpSpPr>
        <p:sp>
          <p:nvSpPr>
            <p:cNvPr id="42027" name="Rectangle 35">
              <a:extLst>
                <a:ext uri="{FF2B5EF4-FFF2-40B4-BE49-F238E27FC236}">
                  <a16:creationId xmlns:a16="http://schemas.microsoft.com/office/drawing/2014/main" id="{353DD069-78C1-F31F-6C2B-541BB2D0DCEE}"/>
                </a:ext>
              </a:extLst>
            </p:cNvPr>
            <p:cNvSpPr>
              <a:spLocks noChangeArrowheads="1"/>
            </p:cNvSpPr>
            <p:nvPr/>
          </p:nvSpPr>
          <p:spPr bwMode="auto">
            <a:xfrm>
              <a:off x="2829" y="2439"/>
              <a:ext cx="2835" cy="240"/>
            </a:xfrm>
            <a:prstGeom prst="rect">
              <a:avLst/>
            </a:prstGeom>
            <a:solidFill>
              <a:srgbClr val="E9E8F4"/>
            </a:solid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42028" name="Group 36">
              <a:extLst>
                <a:ext uri="{FF2B5EF4-FFF2-40B4-BE49-F238E27FC236}">
                  <a16:creationId xmlns:a16="http://schemas.microsoft.com/office/drawing/2014/main" id="{6BC3976F-B2D1-4D2B-699E-AA46F0495E94}"/>
                </a:ext>
              </a:extLst>
            </p:cNvPr>
            <p:cNvGrpSpPr>
              <a:grpSpLocks/>
            </p:cNvGrpSpPr>
            <p:nvPr/>
          </p:nvGrpSpPr>
          <p:grpSpPr bwMode="auto">
            <a:xfrm>
              <a:off x="2984" y="2208"/>
              <a:ext cx="293" cy="231"/>
              <a:chOff x="3312" y="1401"/>
              <a:chExt cx="288" cy="231"/>
            </a:xfrm>
          </p:grpSpPr>
          <p:sp>
            <p:nvSpPr>
              <p:cNvPr id="42036" name="Text Box 37">
                <a:extLst>
                  <a:ext uri="{FF2B5EF4-FFF2-40B4-BE49-F238E27FC236}">
                    <a16:creationId xmlns:a16="http://schemas.microsoft.com/office/drawing/2014/main" id="{F7DAE685-F4DA-2512-87E1-1EEB560F0889}"/>
                  </a:ext>
                </a:extLst>
              </p:cNvPr>
              <p:cNvSpPr txBox="1">
                <a:spLocks noChangeArrowheads="1"/>
              </p:cNvSpPr>
              <p:nvPr/>
            </p:nvSpPr>
            <p:spPr bwMode="auto">
              <a:xfrm>
                <a:off x="3312" y="1401"/>
                <a:ext cx="2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500</a:t>
                </a:r>
              </a:p>
            </p:txBody>
          </p:sp>
          <p:sp>
            <p:nvSpPr>
              <p:cNvPr id="42037" name="Line 38">
                <a:extLst>
                  <a:ext uri="{FF2B5EF4-FFF2-40B4-BE49-F238E27FC236}">
                    <a16:creationId xmlns:a16="http://schemas.microsoft.com/office/drawing/2014/main" id="{D65C2C31-62F5-4854-E786-9754741E8399}"/>
                  </a:ext>
                </a:extLst>
              </p:cNvPr>
              <p:cNvSpPr>
                <a:spLocks noChangeShapeType="1"/>
              </p:cNvSpPr>
              <p:nvPr/>
            </p:nvSpPr>
            <p:spPr bwMode="auto">
              <a:xfrm>
                <a:off x="3440" y="1536"/>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42029" name="Group 39">
              <a:extLst>
                <a:ext uri="{FF2B5EF4-FFF2-40B4-BE49-F238E27FC236}">
                  <a16:creationId xmlns:a16="http://schemas.microsoft.com/office/drawing/2014/main" id="{15D11C25-ACDF-9D37-A37A-68396878B68F}"/>
                </a:ext>
              </a:extLst>
            </p:cNvPr>
            <p:cNvGrpSpPr>
              <a:grpSpLocks/>
            </p:cNvGrpSpPr>
            <p:nvPr/>
          </p:nvGrpSpPr>
          <p:grpSpPr bwMode="auto">
            <a:xfrm>
              <a:off x="2736" y="2208"/>
              <a:ext cx="293" cy="231"/>
              <a:chOff x="3067" y="1401"/>
              <a:chExt cx="288" cy="231"/>
            </a:xfrm>
          </p:grpSpPr>
          <p:sp>
            <p:nvSpPr>
              <p:cNvPr id="42034" name="Line 40">
                <a:extLst>
                  <a:ext uri="{FF2B5EF4-FFF2-40B4-BE49-F238E27FC236}">
                    <a16:creationId xmlns:a16="http://schemas.microsoft.com/office/drawing/2014/main" id="{87448815-8B78-70C2-A540-CA518D6B634F}"/>
                  </a:ext>
                </a:extLst>
              </p:cNvPr>
              <p:cNvSpPr>
                <a:spLocks noChangeShapeType="1"/>
              </p:cNvSpPr>
              <p:nvPr/>
            </p:nvSpPr>
            <p:spPr bwMode="auto">
              <a:xfrm>
                <a:off x="3168" y="1536"/>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5" name="Text Box 41">
                <a:extLst>
                  <a:ext uri="{FF2B5EF4-FFF2-40B4-BE49-F238E27FC236}">
                    <a16:creationId xmlns:a16="http://schemas.microsoft.com/office/drawing/2014/main" id="{D6B5A8EA-D063-DF6A-D919-4BD1B2C05296}"/>
                  </a:ext>
                </a:extLst>
              </p:cNvPr>
              <p:cNvSpPr txBox="1">
                <a:spLocks noChangeArrowheads="1"/>
              </p:cNvSpPr>
              <p:nvPr/>
            </p:nvSpPr>
            <p:spPr bwMode="auto">
              <a:xfrm>
                <a:off x="3067" y="1401"/>
                <a:ext cx="2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300</a:t>
                </a:r>
              </a:p>
            </p:txBody>
          </p:sp>
        </p:grpSp>
        <p:grpSp>
          <p:nvGrpSpPr>
            <p:cNvPr id="42030" name="Group 42">
              <a:extLst>
                <a:ext uri="{FF2B5EF4-FFF2-40B4-BE49-F238E27FC236}">
                  <a16:creationId xmlns:a16="http://schemas.microsoft.com/office/drawing/2014/main" id="{CEC1BD66-33EA-EBB2-3C0B-DA81C828113D}"/>
                </a:ext>
              </a:extLst>
            </p:cNvPr>
            <p:cNvGrpSpPr>
              <a:grpSpLocks/>
            </p:cNvGrpSpPr>
            <p:nvPr/>
          </p:nvGrpSpPr>
          <p:grpSpPr bwMode="auto">
            <a:xfrm>
              <a:off x="3125" y="2216"/>
              <a:ext cx="448" cy="463"/>
              <a:chOff x="3760" y="1081"/>
              <a:chExt cx="440" cy="463"/>
            </a:xfrm>
          </p:grpSpPr>
          <p:sp>
            <p:nvSpPr>
              <p:cNvPr id="42031" name="Rectangle 43" descr="Wide upward diagonal">
                <a:extLst>
                  <a:ext uri="{FF2B5EF4-FFF2-40B4-BE49-F238E27FC236}">
                    <a16:creationId xmlns:a16="http://schemas.microsoft.com/office/drawing/2014/main" id="{3DBBE4B3-0951-F4C2-A47F-F09722EA3CD8}"/>
                  </a:ext>
                </a:extLst>
              </p:cNvPr>
              <p:cNvSpPr>
                <a:spLocks noChangeArrowheads="1"/>
              </p:cNvSpPr>
              <p:nvPr/>
            </p:nvSpPr>
            <p:spPr bwMode="auto">
              <a:xfrm>
                <a:off x="3760" y="1304"/>
                <a:ext cx="288"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2032" name="Text Box 44">
                <a:extLst>
                  <a:ext uri="{FF2B5EF4-FFF2-40B4-BE49-F238E27FC236}">
                    <a16:creationId xmlns:a16="http://schemas.microsoft.com/office/drawing/2014/main" id="{FAEEF7C4-0A54-5802-4448-38D1823569E1}"/>
                  </a:ext>
                </a:extLst>
              </p:cNvPr>
              <p:cNvSpPr txBox="1">
                <a:spLocks noChangeArrowheads="1"/>
              </p:cNvSpPr>
              <p:nvPr/>
            </p:nvSpPr>
            <p:spPr bwMode="auto">
              <a:xfrm>
                <a:off x="3912" y="1081"/>
                <a:ext cx="28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699</a:t>
                </a:r>
              </a:p>
            </p:txBody>
          </p:sp>
          <p:sp>
            <p:nvSpPr>
              <p:cNvPr id="42033" name="Line 45">
                <a:extLst>
                  <a:ext uri="{FF2B5EF4-FFF2-40B4-BE49-F238E27FC236}">
                    <a16:creationId xmlns:a16="http://schemas.microsoft.com/office/drawing/2014/main" id="{FB2A4FE4-E2E2-CA8A-12DF-B540D183CC99}"/>
                  </a:ext>
                </a:extLst>
              </p:cNvPr>
              <p:cNvSpPr>
                <a:spLocks noChangeShapeType="1"/>
              </p:cNvSpPr>
              <p:nvPr/>
            </p:nvSpPr>
            <p:spPr bwMode="auto">
              <a:xfrm>
                <a:off x="4040" y="120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nvGrpSpPr>
          <p:cNvPr id="12" name="Group 51">
            <a:extLst>
              <a:ext uri="{FF2B5EF4-FFF2-40B4-BE49-F238E27FC236}">
                <a16:creationId xmlns:a16="http://schemas.microsoft.com/office/drawing/2014/main" id="{2AAA6292-E1A0-BC2A-1948-06589E9A4084}"/>
              </a:ext>
            </a:extLst>
          </p:cNvPr>
          <p:cNvGrpSpPr>
            <a:grpSpLocks/>
          </p:cNvGrpSpPr>
          <p:nvPr/>
        </p:nvGrpSpPr>
        <p:grpSpPr bwMode="auto">
          <a:xfrm>
            <a:off x="2133601" y="4368795"/>
            <a:ext cx="1565275" cy="342899"/>
            <a:chOff x="384" y="2944"/>
            <a:chExt cx="986" cy="216"/>
          </a:xfrm>
        </p:grpSpPr>
        <p:sp>
          <p:nvSpPr>
            <p:cNvPr id="42025" name="Text Box 49">
              <a:extLst>
                <a:ext uri="{FF2B5EF4-FFF2-40B4-BE49-F238E27FC236}">
                  <a16:creationId xmlns:a16="http://schemas.microsoft.com/office/drawing/2014/main" id="{246F28B6-FF5E-F879-5C88-61FB02275AF6}"/>
                </a:ext>
              </a:extLst>
            </p:cNvPr>
            <p:cNvSpPr txBox="1">
              <a:spLocks noChangeArrowheads="1"/>
            </p:cNvSpPr>
            <p:nvPr/>
          </p:nvSpPr>
          <p:spPr bwMode="auto">
            <a:xfrm rot="464512">
              <a:off x="509" y="2944"/>
              <a:ext cx="4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700-899</a:t>
              </a:r>
            </a:p>
          </p:txBody>
        </p:sp>
        <p:sp>
          <p:nvSpPr>
            <p:cNvPr id="42026" name="Line 50">
              <a:extLst>
                <a:ext uri="{FF2B5EF4-FFF2-40B4-BE49-F238E27FC236}">
                  <a16:creationId xmlns:a16="http://schemas.microsoft.com/office/drawing/2014/main" id="{0E2EEE25-AB80-45EC-0205-1CAA2B5A7723}"/>
                </a:ext>
              </a:extLst>
            </p:cNvPr>
            <p:cNvSpPr>
              <a:spLocks noChangeShapeType="1"/>
            </p:cNvSpPr>
            <p:nvPr/>
          </p:nvSpPr>
          <p:spPr bwMode="auto">
            <a:xfrm rot="321688">
              <a:off x="384" y="3112"/>
              <a:ext cx="986" cy="48"/>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3" name="Group 52">
            <a:extLst>
              <a:ext uri="{FF2B5EF4-FFF2-40B4-BE49-F238E27FC236}">
                <a16:creationId xmlns:a16="http://schemas.microsoft.com/office/drawing/2014/main" id="{E3CC89BB-2B7F-9E20-2F4D-D53A66717DEA}"/>
              </a:ext>
            </a:extLst>
          </p:cNvPr>
          <p:cNvGrpSpPr>
            <a:grpSpLocks/>
          </p:cNvGrpSpPr>
          <p:nvPr/>
        </p:nvGrpSpPr>
        <p:grpSpPr bwMode="auto">
          <a:xfrm>
            <a:off x="2162176" y="4862516"/>
            <a:ext cx="3476625" cy="458788"/>
            <a:chOff x="402" y="2295"/>
            <a:chExt cx="2190" cy="289"/>
          </a:xfrm>
        </p:grpSpPr>
        <p:sp>
          <p:nvSpPr>
            <p:cNvPr id="42023" name="Line 53">
              <a:extLst>
                <a:ext uri="{FF2B5EF4-FFF2-40B4-BE49-F238E27FC236}">
                  <a16:creationId xmlns:a16="http://schemas.microsoft.com/office/drawing/2014/main" id="{239828D1-65C0-BE04-BE40-101937A25531}"/>
                </a:ext>
              </a:extLst>
            </p:cNvPr>
            <p:cNvSpPr>
              <a:spLocks noChangeShapeType="1"/>
            </p:cNvSpPr>
            <p:nvPr/>
          </p:nvSpPr>
          <p:spPr bwMode="auto">
            <a:xfrm>
              <a:off x="402" y="2339"/>
              <a:ext cx="2190" cy="24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24" name="Text Box 54">
              <a:extLst>
                <a:ext uri="{FF2B5EF4-FFF2-40B4-BE49-F238E27FC236}">
                  <a16:creationId xmlns:a16="http://schemas.microsoft.com/office/drawing/2014/main" id="{EF2741C6-5AD6-A984-C9B8-2CDB3FA8C803}"/>
                </a:ext>
              </a:extLst>
            </p:cNvPr>
            <p:cNvSpPr txBox="1">
              <a:spLocks noChangeArrowheads="1"/>
            </p:cNvSpPr>
            <p:nvPr/>
          </p:nvSpPr>
          <p:spPr bwMode="auto">
            <a:xfrm rot="369699">
              <a:off x="1120" y="2295"/>
              <a:ext cx="5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900-1099</a:t>
              </a:r>
            </a:p>
          </p:txBody>
        </p:sp>
      </p:grpSp>
      <p:grpSp>
        <p:nvGrpSpPr>
          <p:cNvPr id="14" name="Group 58">
            <a:extLst>
              <a:ext uri="{FF2B5EF4-FFF2-40B4-BE49-F238E27FC236}">
                <a16:creationId xmlns:a16="http://schemas.microsoft.com/office/drawing/2014/main" id="{B32EF1CC-6E13-4784-E6A2-CFDBD59596D1}"/>
              </a:ext>
            </a:extLst>
          </p:cNvPr>
          <p:cNvGrpSpPr>
            <a:grpSpLocks/>
          </p:cNvGrpSpPr>
          <p:nvPr/>
        </p:nvGrpSpPr>
        <p:grpSpPr bwMode="auto">
          <a:xfrm>
            <a:off x="2135188" y="5387976"/>
            <a:ext cx="3505200" cy="441325"/>
            <a:chOff x="385" y="3586"/>
            <a:chExt cx="2208" cy="278"/>
          </a:xfrm>
        </p:grpSpPr>
        <p:sp>
          <p:nvSpPr>
            <p:cNvPr id="42021" name="Line 56">
              <a:extLst>
                <a:ext uri="{FF2B5EF4-FFF2-40B4-BE49-F238E27FC236}">
                  <a16:creationId xmlns:a16="http://schemas.microsoft.com/office/drawing/2014/main" id="{27EA4D9F-0541-4FB4-DE4E-A853E7E33E63}"/>
                </a:ext>
              </a:extLst>
            </p:cNvPr>
            <p:cNvSpPr>
              <a:spLocks noChangeShapeType="1"/>
            </p:cNvSpPr>
            <p:nvPr/>
          </p:nvSpPr>
          <p:spPr bwMode="auto">
            <a:xfrm flipH="1">
              <a:off x="385" y="3624"/>
              <a:ext cx="220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22" name="Text Box 57">
              <a:extLst>
                <a:ext uri="{FF2B5EF4-FFF2-40B4-BE49-F238E27FC236}">
                  <a16:creationId xmlns:a16="http://schemas.microsoft.com/office/drawing/2014/main" id="{7E7074F1-8E4F-9D58-D38D-7DD27BF07BB1}"/>
                </a:ext>
              </a:extLst>
            </p:cNvPr>
            <p:cNvSpPr txBox="1">
              <a:spLocks noChangeArrowheads="1"/>
            </p:cNvSpPr>
            <p:nvPr/>
          </p:nvSpPr>
          <p:spPr bwMode="auto">
            <a:xfrm rot="-304486">
              <a:off x="584" y="3586"/>
              <a:ext cx="166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300, </a:t>
              </a:r>
              <a:r>
                <a:rPr lang="en-US" altLang="en-US" sz="1200">
                  <a:solidFill>
                    <a:srgbClr val="FF33CC"/>
                  </a:solidFill>
                </a:rPr>
                <a:t>SACK 900-1100, 500-700</a:t>
              </a:r>
            </a:p>
          </p:txBody>
        </p:sp>
      </p:grpSp>
      <p:grpSp>
        <p:nvGrpSpPr>
          <p:cNvPr id="15" name="Group 87">
            <a:extLst>
              <a:ext uri="{FF2B5EF4-FFF2-40B4-BE49-F238E27FC236}">
                <a16:creationId xmlns:a16="http://schemas.microsoft.com/office/drawing/2014/main" id="{F4141808-3D29-E66E-FCFE-92C20A8602AB}"/>
              </a:ext>
            </a:extLst>
          </p:cNvPr>
          <p:cNvGrpSpPr>
            <a:grpSpLocks/>
          </p:cNvGrpSpPr>
          <p:nvPr/>
        </p:nvGrpSpPr>
        <p:grpSpPr bwMode="auto">
          <a:xfrm>
            <a:off x="5867400" y="4775201"/>
            <a:ext cx="4648200" cy="773113"/>
            <a:chOff x="2736" y="3200"/>
            <a:chExt cx="2928" cy="487"/>
          </a:xfrm>
        </p:grpSpPr>
        <p:grpSp>
          <p:nvGrpSpPr>
            <p:cNvPr id="42005" name="Group 60">
              <a:extLst>
                <a:ext uri="{FF2B5EF4-FFF2-40B4-BE49-F238E27FC236}">
                  <a16:creationId xmlns:a16="http://schemas.microsoft.com/office/drawing/2014/main" id="{9E1F4ED4-A761-126A-1C8C-68C76A6CF59E}"/>
                </a:ext>
              </a:extLst>
            </p:cNvPr>
            <p:cNvGrpSpPr>
              <a:grpSpLocks/>
            </p:cNvGrpSpPr>
            <p:nvPr/>
          </p:nvGrpSpPr>
          <p:grpSpPr bwMode="auto">
            <a:xfrm>
              <a:off x="3288" y="3216"/>
              <a:ext cx="293" cy="223"/>
              <a:chOff x="3552" y="1841"/>
              <a:chExt cx="293" cy="223"/>
            </a:xfrm>
          </p:grpSpPr>
          <p:sp>
            <p:nvSpPr>
              <p:cNvPr id="42019" name="Text Box 61">
                <a:extLst>
                  <a:ext uri="{FF2B5EF4-FFF2-40B4-BE49-F238E27FC236}">
                    <a16:creationId xmlns:a16="http://schemas.microsoft.com/office/drawing/2014/main" id="{BDCD9E93-966C-D64A-DA30-BF835DA0F700}"/>
                  </a:ext>
                </a:extLst>
              </p:cNvPr>
              <p:cNvSpPr txBox="1">
                <a:spLocks noChangeArrowheads="1"/>
              </p:cNvSpPr>
              <p:nvPr/>
            </p:nvSpPr>
            <p:spPr bwMode="auto">
              <a:xfrm>
                <a:off x="3552" y="184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699</a:t>
                </a:r>
              </a:p>
            </p:txBody>
          </p:sp>
          <p:sp>
            <p:nvSpPr>
              <p:cNvPr id="42020" name="Line 62">
                <a:extLst>
                  <a:ext uri="{FF2B5EF4-FFF2-40B4-BE49-F238E27FC236}">
                    <a16:creationId xmlns:a16="http://schemas.microsoft.com/office/drawing/2014/main" id="{93C80BB8-4E92-F081-25B9-C84D1C87A925}"/>
                  </a:ext>
                </a:extLst>
              </p:cNvPr>
              <p:cNvSpPr>
                <a:spLocks noChangeShapeType="1"/>
              </p:cNvSpPr>
              <p:nvPr/>
            </p:nvSpPr>
            <p:spPr bwMode="auto">
              <a:xfrm>
                <a:off x="3696" y="196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2006" name="Rectangle 64">
              <a:extLst>
                <a:ext uri="{FF2B5EF4-FFF2-40B4-BE49-F238E27FC236}">
                  <a16:creationId xmlns:a16="http://schemas.microsoft.com/office/drawing/2014/main" id="{E2046CDD-76B2-8901-0A52-3CB7A5554E4E}"/>
                </a:ext>
              </a:extLst>
            </p:cNvPr>
            <p:cNvSpPr>
              <a:spLocks noChangeArrowheads="1"/>
            </p:cNvSpPr>
            <p:nvPr/>
          </p:nvSpPr>
          <p:spPr bwMode="auto">
            <a:xfrm>
              <a:off x="2808" y="3447"/>
              <a:ext cx="2856" cy="240"/>
            </a:xfrm>
            <a:prstGeom prst="rect">
              <a:avLst/>
            </a:prstGeom>
            <a:solidFill>
              <a:srgbClr val="E9E8F4"/>
            </a:solid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2007" name="Line 66">
              <a:extLst>
                <a:ext uri="{FF2B5EF4-FFF2-40B4-BE49-F238E27FC236}">
                  <a16:creationId xmlns:a16="http://schemas.microsoft.com/office/drawing/2014/main" id="{818E7272-0738-D595-13BD-A217407EA757}"/>
                </a:ext>
              </a:extLst>
            </p:cNvPr>
            <p:cNvSpPr>
              <a:spLocks noChangeShapeType="1"/>
            </p:cNvSpPr>
            <p:nvPr/>
          </p:nvSpPr>
          <p:spPr bwMode="auto">
            <a:xfrm>
              <a:off x="2816" y="3351"/>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8" name="Text Box 67">
              <a:extLst>
                <a:ext uri="{FF2B5EF4-FFF2-40B4-BE49-F238E27FC236}">
                  <a16:creationId xmlns:a16="http://schemas.microsoft.com/office/drawing/2014/main" id="{B055121B-AFEC-948F-0230-F50B91A20942}"/>
                </a:ext>
              </a:extLst>
            </p:cNvPr>
            <p:cNvSpPr txBox="1">
              <a:spLocks noChangeArrowheads="1"/>
            </p:cNvSpPr>
            <p:nvPr/>
          </p:nvSpPr>
          <p:spPr bwMode="auto">
            <a:xfrm>
              <a:off x="2736" y="3200"/>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300</a:t>
              </a:r>
            </a:p>
          </p:txBody>
        </p:sp>
        <p:grpSp>
          <p:nvGrpSpPr>
            <p:cNvPr id="42009" name="Group 72">
              <a:extLst>
                <a:ext uri="{FF2B5EF4-FFF2-40B4-BE49-F238E27FC236}">
                  <a16:creationId xmlns:a16="http://schemas.microsoft.com/office/drawing/2014/main" id="{7BB9EE19-D8EA-523F-1E60-140EAFFFA072}"/>
                </a:ext>
              </a:extLst>
            </p:cNvPr>
            <p:cNvGrpSpPr>
              <a:grpSpLocks/>
            </p:cNvGrpSpPr>
            <p:nvPr/>
          </p:nvGrpSpPr>
          <p:grpSpPr bwMode="auto">
            <a:xfrm>
              <a:off x="3008" y="3216"/>
              <a:ext cx="293" cy="231"/>
              <a:chOff x="3312" y="1401"/>
              <a:chExt cx="293" cy="231"/>
            </a:xfrm>
          </p:grpSpPr>
          <p:sp>
            <p:nvSpPr>
              <p:cNvPr id="42017" name="Text Box 73">
                <a:extLst>
                  <a:ext uri="{FF2B5EF4-FFF2-40B4-BE49-F238E27FC236}">
                    <a16:creationId xmlns:a16="http://schemas.microsoft.com/office/drawing/2014/main" id="{17967571-172F-6D81-191E-9A8129E6996B}"/>
                  </a:ext>
                </a:extLst>
              </p:cNvPr>
              <p:cNvSpPr txBox="1">
                <a:spLocks noChangeArrowheads="1"/>
              </p:cNvSpPr>
              <p:nvPr/>
            </p:nvSpPr>
            <p:spPr bwMode="auto">
              <a:xfrm>
                <a:off x="3312" y="140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500</a:t>
                </a:r>
              </a:p>
            </p:txBody>
          </p:sp>
          <p:sp>
            <p:nvSpPr>
              <p:cNvPr id="42018" name="Line 74">
                <a:extLst>
                  <a:ext uri="{FF2B5EF4-FFF2-40B4-BE49-F238E27FC236}">
                    <a16:creationId xmlns:a16="http://schemas.microsoft.com/office/drawing/2014/main" id="{FFE9E5C9-3CEF-EFC3-E63C-58506CB58456}"/>
                  </a:ext>
                </a:extLst>
              </p:cNvPr>
              <p:cNvSpPr>
                <a:spLocks noChangeShapeType="1"/>
              </p:cNvSpPr>
              <p:nvPr/>
            </p:nvSpPr>
            <p:spPr bwMode="auto">
              <a:xfrm>
                <a:off x="3440" y="1536"/>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2010" name="Text Box 75">
              <a:extLst>
                <a:ext uri="{FF2B5EF4-FFF2-40B4-BE49-F238E27FC236}">
                  <a16:creationId xmlns:a16="http://schemas.microsoft.com/office/drawing/2014/main" id="{6AE0B0F0-8D9D-6E9A-28D8-9DEAFBA39D0F}"/>
                </a:ext>
              </a:extLst>
            </p:cNvPr>
            <p:cNvSpPr txBox="1">
              <a:spLocks noChangeArrowheads="1"/>
            </p:cNvSpPr>
            <p:nvPr/>
          </p:nvSpPr>
          <p:spPr bwMode="auto">
            <a:xfrm>
              <a:off x="3619" y="3210"/>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900</a:t>
              </a:r>
            </a:p>
          </p:txBody>
        </p:sp>
        <p:sp>
          <p:nvSpPr>
            <p:cNvPr id="42011" name="Line 76">
              <a:extLst>
                <a:ext uri="{FF2B5EF4-FFF2-40B4-BE49-F238E27FC236}">
                  <a16:creationId xmlns:a16="http://schemas.microsoft.com/office/drawing/2014/main" id="{0775162C-F9A4-AA76-D7C7-BE6793FA874C}"/>
                </a:ext>
              </a:extLst>
            </p:cNvPr>
            <p:cNvSpPr>
              <a:spLocks noChangeShapeType="1"/>
            </p:cNvSpPr>
            <p:nvPr/>
          </p:nvSpPr>
          <p:spPr bwMode="auto">
            <a:xfrm>
              <a:off x="3747" y="3342"/>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2" name="Rectangle 79" descr="Wide upward diagonal">
              <a:extLst>
                <a:ext uri="{FF2B5EF4-FFF2-40B4-BE49-F238E27FC236}">
                  <a16:creationId xmlns:a16="http://schemas.microsoft.com/office/drawing/2014/main" id="{13FE5B57-C2FD-A458-A5FD-22565222B230}"/>
                </a:ext>
              </a:extLst>
            </p:cNvPr>
            <p:cNvSpPr>
              <a:spLocks noChangeArrowheads="1"/>
            </p:cNvSpPr>
            <p:nvPr/>
          </p:nvSpPr>
          <p:spPr bwMode="auto">
            <a:xfrm>
              <a:off x="3136" y="3447"/>
              <a:ext cx="293"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42013" name="Group 82">
              <a:extLst>
                <a:ext uri="{FF2B5EF4-FFF2-40B4-BE49-F238E27FC236}">
                  <a16:creationId xmlns:a16="http://schemas.microsoft.com/office/drawing/2014/main" id="{07AB98F8-800D-59AD-4E55-0D9AEB845786}"/>
                </a:ext>
              </a:extLst>
            </p:cNvPr>
            <p:cNvGrpSpPr>
              <a:grpSpLocks/>
            </p:cNvGrpSpPr>
            <p:nvPr/>
          </p:nvGrpSpPr>
          <p:grpSpPr bwMode="auto">
            <a:xfrm>
              <a:off x="3744" y="3216"/>
              <a:ext cx="507" cy="463"/>
              <a:chOff x="3760" y="1081"/>
              <a:chExt cx="498" cy="463"/>
            </a:xfrm>
          </p:grpSpPr>
          <p:sp>
            <p:nvSpPr>
              <p:cNvPr id="42014" name="Rectangle 83" descr="Wide upward diagonal">
                <a:extLst>
                  <a:ext uri="{FF2B5EF4-FFF2-40B4-BE49-F238E27FC236}">
                    <a16:creationId xmlns:a16="http://schemas.microsoft.com/office/drawing/2014/main" id="{487DFAE1-7694-DAE5-3339-54205A52AB02}"/>
                  </a:ext>
                </a:extLst>
              </p:cNvPr>
              <p:cNvSpPr>
                <a:spLocks noChangeArrowheads="1"/>
              </p:cNvSpPr>
              <p:nvPr/>
            </p:nvSpPr>
            <p:spPr bwMode="auto">
              <a:xfrm>
                <a:off x="3760" y="1304"/>
                <a:ext cx="288"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2015" name="Text Box 84">
                <a:extLst>
                  <a:ext uri="{FF2B5EF4-FFF2-40B4-BE49-F238E27FC236}">
                    <a16:creationId xmlns:a16="http://schemas.microsoft.com/office/drawing/2014/main" id="{F09F0BB5-8F54-F7F4-1967-D527E7A0DCEE}"/>
                  </a:ext>
                </a:extLst>
              </p:cNvPr>
              <p:cNvSpPr txBox="1">
                <a:spLocks noChangeArrowheads="1"/>
              </p:cNvSpPr>
              <p:nvPr/>
            </p:nvSpPr>
            <p:spPr bwMode="auto">
              <a:xfrm>
                <a:off x="3912" y="1081"/>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1099</a:t>
                </a:r>
              </a:p>
            </p:txBody>
          </p:sp>
          <p:sp>
            <p:nvSpPr>
              <p:cNvPr id="42016" name="Line 85">
                <a:extLst>
                  <a:ext uri="{FF2B5EF4-FFF2-40B4-BE49-F238E27FC236}">
                    <a16:creationId xmlns:a16="http://schemas.microsoft.com/office/drawing/2014/main" id="{1EF83260-4E8D-9E45-41ED-01602AD98D7D}"/>
                  </a:ext>
                </a:extLst>
              </p:cNvPr>
              <p:cNvSpPr>
                <a:spLocks noChangeShapeType="1"/>
              </p:cNvSpPr>
              <p:nvPr/>
            </p:nvSpPr>
            <p:spPr bwMode="auto">
              <a:xfrm>
                <a:off x="4040" y="120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nvGrpSpPr>
          <p:cNvPr id="19" name="Group 88">
            <a:extLst>
              <a:ext uri="{FF2B5EF4-FFF2-40B4-BE49-F238E27FC236}">
                <a16:creationId xmlns:a16="http://schemas.microsoft.com/office/drawing/2014/main" id="{08776291-60BD-9344-87DB-DEFCC5052595}"/>
              </a:ext>
            </a:extLst>
          </p:cNvPr>
          <p:cNvGrpSpPr>
            <a:grpSpLocks/>
          </p:cNvGrpSpPr>
          <p:nvPr/>
        </p:nvGrpSpPr>
        <p:grpSpPr bwMode="auto">
          <a:xfrm>
            <a:off x="2133601" y="5880100"/>
            <a:ext cx="1565275" cy="330200"/>
            <a:chOff x="384" y="2952"/>
            <a:chExt cx="986" cy="208"/>
          </a:xfrm>
        </p:grpSpPr>
        <p:sp>
          <p:nvSpPr>
            <p:cNvPr id="42003" name="Text Box 89">
              <a:extLst>
                <a:ext uri="{FF2B5EF4-FFF2-40B4-BE49-F238E27FC236}">
                  <a16:creationId xmlns:a16="http://schemas.microsoft.com/office/drawing/2014/main" id="{634181FE-7405-FAEB-F2FD-4C87F2991B1C}"/>
                </a:ext>
              </a:extLst>
            </p:cNvPr>
            <p:cNvSpPr txBox="1">
              <a:spLocks noChangeArrowheads="1"/>
            </p:cNvSpPr>
            <p:nvPr/>
          </p:nvSpPr>
          <p:spPr bwMode="auto">
            <a:xfrm rot="464512">
              <a:off x="511" y="2952"/>
              <a:ext cx="56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1100-1299</a:t>
              </a:r>
            </a:p>
          </p:txBody>
        </p:sp>
        <p:sp>
          <p:nvSpPr>
            <p:cNvPr id="42004" name="Line 90">
              <a:extLst>
                <a:ext uri="{FF2B5EF4-FFF2-40B4-BE49-F238E27FC236}">
                  <a16:creationId xmlns:a16="http://schemas.microsoft.com/office/drawing/2014/main" id="{58B00AD3-3521-1059-EB9C-562A1BD9E9F5}"/>
                </a:ext>
              </a:extLst>
            </p:cNvPr>
            <p:cNvSpPr>
              <a:spLocks noChangeShapeType="1"/>
            </p:cNvSpPr>
            <p:nvPr/>
          </p:nvSpPr>
          <p:spPr bwMode="auto">
            <a:xfrm rot="321688">
              <a:off x="384" y="3112"/>
              <a:ext cx="986" cy="48"/>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0741"/>
                                        </p:tgtEl>
                                        <p:attrNameLst>
                                          <p:attrName>style.visibility</p:attrName>
                                        </p:attrNameLst>
                                      </p:cBhvr>
                                      <p:to>
                                        <p:strVal val="visible"/>
                                      </p:to>
                                    </p:set>
                                    <p:animEffect transition="in" filter="blinds(horizontal)">
                                      <p:cBhvr>
                                        <p:cTn id="13" dur="500"/>
                                        <p:tgtEl>
                                          <p:spTgt spid="3074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ox(out)">
                                      <p:cBhvr>
                                        <p:cTn id="18" dur="10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1+#ppt_w/2"/>
                                          </p:val>
                                        </p:tav>
                                        <p:tav tm="100000">
                                          <p:val>
                                            <p:strVal val="#ppt_x"/>
                                          </p:val>
                                        </p:tav>
                                      </p:tavLst>
                                    </p:anim>
                                    <p:anim calcmode="lin" valueType="num">
                                      <p:cBhvr additive="base">
                                        <p:cTn id="24"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3000" fill="hold"/>
                                        <p:tgtEl>
                                          <p:spTgt spid="5"/>
                                        </p:tgtEl>
                                        <p:attrNameLst>
                                          <p:attrName>ppt_x</p:attrName>
                                        </p:attrNameLst>
                                      </p:cBhvr>
                                      <p:tavLst>
                                        <p:tav tm="0">
                                          <p:val>
                                            <p:strVal val="0-#ppt_w/2"/>
                                          </p:val>
                                        </p:tav>
                                        <p:tav tm="100000">
                                          <p:val>
                                            <p:strVal val="#ppt_x"/>
                                          </p:val>
                                        </p:tav>
                                      </p:tavLst>
                                    </p:anim>
                                    <p:anim calcmode="lin" valueType="num">
                                      <p:cBhvr additive="base">
                                        <p:cTn id="30" dur="3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1000" fill="hold"/>
                                        <p:tgtEl>
                                          <p:spTgt spid="6"/>
                                        </p:tgtEl>
                                        <p:attrNameLst>
                                          <p:attrName>ppt_x</p:attrName>
                                        </p:attrNameLst>
                                      </p:cBhvr>
                                      <p:tavLst>
                                        <p:tav tm="0">
                                          <p:val>
                                            <p:strVal val="0-#ppt_w/2"/>
                                          </p:val>
                                        </p:tav>
                                        <p:tav tm="100000">
                                          <p:val>
                                            <p:strVal val="#ppt_x"/>
                                          </p:val>
                                        </p:tav>
                                      </p:tavLst>
                                    </p:anim>
                                    <p:anim calcmode="lin" valueType="num">
                                      <p:cBhvr additive="base">
                                        <p:cTn id="36"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32"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box(out)">
                                      <p:cBhvr>
                                        <p:cTn id="41" dur="1000"/>
                                        <p:tgtEl>
                                          <p:spTgt spid="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additive="base">
                                        <p:cTn id="46" dur="1000" fill="hold"/>
                                        <p:tgtEl>
                                          <p:spTgt spid="7"/>
                                        </p:tgtEl>
                                        <p:attrNameLst>
                                          <p:attrName>ppt_x</p:attrName>
                                        </p:attrNameLst>
                                      </p:cBhvr>
                                      <p:tavLst>
                                        <p:tav tm="0">
                                          <p:val>
                                            <p:strVal val="1+#ppt_w/2"/>
                                          </p:val>
                                        </p:tav>
                                        <p:tav tm="100000">
                                          <p:val>
                                            <p:strVal val="#ppt_x"/>
                                          </p:val>
                                        </p:tav>
                                      </p:tavLst>
                                    </p:anim>
                                    <p:anim calcmode="lin" valueType="num">
                                      <p:cBhvr additive="base">
                                        <p:cTn id="47"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3000" fill="hold"/>
                                        <p:tgtEl>
                                          <p:spTgt spid="12"/>
                                        </p:tgtEl>
                                        <p:attrNameLst>
                                          <p:attrName>ppt_x</p:attrName>
                                        </p:attrNameLst>
                                      </p:cBhvr>
                                      <p:tavLst>
                                        <p:tav tm="0">
                                          <p:val>
                                            <p:strVal val="0-#ppt_w/2"/>
                                          </p:val>
                                        </p:tav>
                                        <p:tav tm="100000">
                                          <p:val>
                                            <p:strVal val="#ppt_x"/>
                                          </p:val>
                                        </p:tav>
                                      </p:tavLst>
                                    </p:anim>
                                    <p:anim calcmode="lin" valueType="num">
                                      <p:cBhvr additive="base">
                                        <p:cTn id="53" dur="3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8"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additive="base">
                                        <p:cTn id="58" dur="1000" fill="hold"/>
                                        <p:tgtEl>
                                          <p:spTgt spid="13"/>
                                        </p:tgtEl>
                                        <p:attrNameLst>
                                          <p:attrName>ppt_x</p:attrName>
                                        </p:attrNameLst>
                                      </p:cBhvr>
                                      <p:tavLst>
                                        <p:tav tm="0">
                                          <p:val>
                                            <p:strVal val="0-#ppt_w/2"/>
                                          </p:val>
                                        </p:tav>
                                        <p:tav tm="100000">
                                          <p:val>
                                            <p:strVal val="#ppt_x"/>
                                          </p:val>
                                        </p:tav>
                                      </p:tavLst>
                                    </p:anim>
                                    <p:anim calcmode="lin" valueType="num">
                                      <p:cBhvr additive="base">
                                        <p:cTn id="59" dur="10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4" presetClass="entr" presetSubtype="32" fill="hold"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box(out)">
                                      <p:cBhvr>
                                        <p:cTn id="64" dur="1000"/>
                                        <p:tgtEl>
                                          <p:spTgt spid="1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2" fill="hold" nodeType="click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1000" fill="hold"/>
                                        <p:tgtEl>
                                          <p:spTgt spid="14"/>
                                        </p:tgtEl>
                                        <p:attrNameLst>
                                          <p:attrName>ppt_x</p:attrName>
                                        </p:attrNameLst>
                                      </p:cBhvr>
                                      <p:tavLst>
                                        <p:tav tm="0">
                                          <p:val>
                                            <p:strVal val="1+#ppt_w/2"/>
                                          </p:val>
                                        </p:tav>
                                        <p:tav tm="100000">
                                          <p:val>
                                            <p:strVal val="#ppt_x"/>
                                          </p:val>
                                        </p:tav>
                                      </p:tavLst>
                                    </p:anim>
                                    <p:anim calcmode="lin" valueType="num">
                                      <p:cBhvr additive="base">
                                        <p:cTn id="70" dur="10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8"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1000" fill="hold"/>
                                        <p:tgtEl>
                                          <p:spTgt spid="19"/>
                                        </p:tgtEl>
                                        <p:attrNameLst>
                                          <p:attrName>ppt_x</p:attrName>
                                        </p:attrNameLst>
                                      </p:cBhvr>
                                      <p:tavLst>
                                        <p:tav tm="0">
                                          <p:val>
                                            <p:strVal val="0-#ppt_w/2"/>
                                          </p:val>
                                        </p:tav>
                                        <p:tav tm="100000">
                                          <p:val>
                                            <p:strVal val="#ppt_x"/>
                                          </p:val>
                                        </p:tav>
                                      </p:tavLst>
                                    </p:anim>
                                    <p:anim calcmode="lin" valueType="num">
                                      <p:cBhvr additive="base">
                                        <p:cTn id="76" dur="10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lide Number Placeholder 2">
            <a:extLst>
              <a:ext uri="{FF2B5EF4-FFF2-40B4-BE49-F238E27FC236}">
                <a16:creationId xmlns:a16="http://schemas.microsoft.com/office/drawing/2014/main" id="{8982FD64-42BF-F245-2CD6-89D41CE06A7D}"/>
              </a:ext>
            </a:extLst>
          </p:cNvPr>
          <p:cNvSpPr>
            <a:spLocks noGrp="1"/>
          </p:cNvSpPr>
          <p:nvPr>
            <p:ph type="sldNum" sz="quarter" idx="12"/>
          </p:nvPr>
        </p:nvSpPr>
        <p:spPr>
          <a:xfrm>
            <a:off x="9118600" y="6492875"/>
            <a:ext cx="28956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552F85F1-51E7-4D2D-A1DE-25F628399B37}" type="slidenum">
              <a:rPr lang="en-US" altLang="en-US">
                <a:solidFill>
                  <a:srgbClr val="898989"/>
                </a:solidFill>
                <a:latin typeface="Calibri" panose="020F0502020204030204" pitchFamily="34" charset="0"/>
              </a:rPr>
              <a:pPr algn="ctr" eaLnBrk="1" hangingPunct="1"/>
              <a:t>80</a:t>
            </a:fld>
            <a:endParaRPr lang="en-US" altLang="en-US">
              <a:solidFill>
                <a:srgbClr val="898989"/>
              </a:solidFill>
              <a:latin typeface="Calibri" panose="020F0502020204030204" pitchFamily="34" charset="0"/>
            </a:endParaRPr>
          </a:p>
        </p:txBody>
      </p:sp>
      <p:sp>
        <p:nvSpPr>
          <p:cNvPr id="43011" name="Rectangle 4">
            <a:extLst>
              <a:ext uri="{FF2B5EF4-FFF2-40B4-BE49-F238E27FC236}">
                <a16:creationId xmlns:a16="http://schemas.microsoft.com/office/drawing/2014/main" id="{1EAE860B-4CBF-CC35-D309-CBB11A3633FF}"/>
              </a:ext>
            </a:extLst>
          </p:cNvPr>
          <p:cNvSpPr>
            <a:spLocks noChangeArrowheads="1"/>
          </p:cNvSpPr>
          <p:nvPr/>
        </p:nvSpPr>
        <p:spPr bwMode="auto">
          <a:xfrm>
            <a:off x="1865314" y="1767840"/>
            <a:ext cx="268287" cy="4495800"/>
          </a:xfrm>
          <a:prstGeom prst="rect">
            <a:avLst/>
          </a:prstGeom>
          <a:solidFill>
            <a:schemeClr val="folHlink"/>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2000" b="1">
                <a:solidFill>
                  <a:srgbClr val="FFFFFF"/>
                </a:solidFill>
                <a:latin typeface="Comic Sans MS" panose="030F0702030302020204" pitchFamily="66" charset="0"/>
              </a:rPr>
              <a:t>sender</a:t>
            </a:r>
          </a:p>
        </p:txBody>
      </p:sp>
      <p:sp>
        <p:nvSpPr>
          <p:cNvPr id="43012" name="Rectangle 5">
            <a:extLst>
              <a:ext uri="{FF2B5EF4-FFF2-40B4-BE49-F238E27FC236}">
                <a16:creationId xmlns:a16="http://schemas.microsoft.com/office/drawing/2014/main" id="{A3124D0D-2C32-BB64-F6D0-578551409097}"/>
              </a:ext>
            </a:extLst>
          </p:cNvPr>
          <p:cNvSpPr>
            <a:spLocks noChangeArrowheads="1"/>
          </p:cNvSpPr>
          <p:nvPr/>
        </p:nvSpPr>
        <p:spPr bwMode="auto">
          <a:xfrm>
            <a:off x="5638800" y="1767840"/>
            <a:ext cx="228600" cy="4495800"/>
          </a:xfrm>
          <a:prstGeom prst="rect">
            <a:avLst/>
          </a:prstGeom>
          <a:solidFill>
            <a:schemeClr val="folHlink"/>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2000" b="1">
                <a:solidFill>
                  <a:srgbClr val="FFFFFF"/>
                </a:solidFill>
                <a:latin typeface="Comic Sans MS" panose="030F0702030302020204" pitchFamily="66" charset="0"/>
              </a:rPr>
              <a:t>receiver</a:t>
            </a:r>
          </a:p>
        </p:txBody>
      </p:sp>
      <p:grpSp>
        <p:nvGrpSpPr>
          <p:cNvPr id="2" name="Group 6">
            <a:extLst>
              <a:ext uri="{FF2B5EF4-FFF2-40B4-BE49-F238E27FC236}">
                <a16:creationId xmlns:a16="http://schemas.microsoft.com/office/drawing/2014/main" id="{476DD661-B553-6DF4-BAFB-8C4E0C1CE744}"/>
              </a:ext>
            </a:extLst>
          </p:cNvPr>
          <p:cNvGrpSpPr>
            <a:grpSpLocks/>
          </p:cNvGrpSpPr>
          <p:nvPr/>
        </p:nvGrpSpPr>
        <p:grpSpPr bwMode="auto">
          <a:xfrm>
            <a:off x="2133601" y="1844040"/>
            <a:ext cx="1565275" cy="330200"/>
            <a:chOff x="384" y="2952"/>
            <a:chExt cx="986" cy="208"/>
          </a:xfrm>
        </p:grpSpPr>
        <p:sp>
          <p:nvSpPr>
            <p:cNvPr id="43085" name="Text Box 7">
              <a:extLst>
                <a:ext uri="{FF2B5EF4-FFF2-40B4-BE49-F238E27FC236}">
                  <a16:creationId xmlns:a16="http://schemas.microsoft.com/office/drawing/2014/main" id="{A2E37B26-5841-B46E-F8A4-705F95307EB4}"/>
                </a:ext>
              </a:extLst>
            </p:cNvPr>
            <p:cNvSpPr txBox="1">
              <a:spLocks noChangeArrowheads="1"/>
            </p:cNvSpPr>
            <p:nvPr/>
          </p:nvSpPr>
          <p:spPr bwMode="auto">
            <a:xfrm rot="464512">
              <a:off x="511" y="2952"/>
              <a:ext cx="56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1100-1299</a:t>
              </a:r>
            </a:p>
          </p:txBody>
        </p:sp>
        <p:sp>
          <p:nvSpPr>
            <p:cNvPr id="43086" name="Line 8">
              <a:extLst>
                <a:ext uri="{FF2B5EF4-FFF2-40B4-BE49-F238E27FC236}">
                  <a16:creationId xmlns:a16="http://schemas.microsoft.com/office/drawing/2014/main" id="{E2B54657-FBEF-2963-EF66-D1D17E962AAD}"/>
                </a:ext>
              </a:extLst>
            </p:cNvPr>
            <p:cNvSpPr>
              <a:spLocks noChangeShapeType="1"/>
            </p:cNvSpPr>
            <p:nvPr/>
          </p:nvSpPr>
          <p:spPr bwMode="auto">
            <a:xfrm rot="321688">
              <a:off x="384" y="3112"/>
              <a:ext cx="986" cy="48"/>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3" name="Group 12">
            <a:extLst>
              <a:ext uri="{FF2B5EF4-FFF2-40B4-BE49-F238E27FC236}">
                <a16:creationId xmlns:a16="http://schemas.microsoft.com/office/drawing/2014/main" id="{D2876C66-2617-6C43-9873-80ABCF212D12}"/>
              </a:ext>
            </a:extLst>
          </p:cNvPr>
          <p:cNvGrpSpPr>
            <a:grpSpLocks/>
          </p:cNvGrpSpPr>
          <p:nvPr/>
        </p:nvGrpSpPr>
        <p:grpSpPr bwMode="auto">
          <a:xfrm>
            <a:off x="3733800" y="2379028"/>
            <a:ext cx="1905000" cy="379412"/>
            <a:chOff x="1392" y="1777"/>
            <a:chExt cx="1200" cy="239"/>
          </a:xfrm>
        </p:grpSpPr>
        <p:sp>
          <p:nvSpPr>
            <p:cNvPr id="43083" name="Line 10">
              <a:extLst>
                <a:ext uri="{FF2B5EF4-FFF2-40B4-BE49-F238E27FC236}">
                  <a16:creationId xmlns:a16="http://schemas.microsoft.com/office/drawing/2014/main" id="{186074FA-239B-455D-DCD6-758E18C8C760}"/>
                </a:ext>
              </a:extLst>
            </p:cNvPr>
            <p:cNvSpPr>
              <a:spLocks noChangeShapeType="1"/>
            </p:cNvSpPr>
            <p:nvPr/>
          </p:nvSpPr>
          <p:spPr bwMode="auto">
            <a:xfrm>
              <a:off x="1392" y="1862"/>
              <a:ext cx="1200" cy="154"/>
            </a:xfrm>
            <a:prstGeom prst="line">
              <a:avLst/>
            </a:prstGeom>
            <a:noFill/>
            <a:ln w="9525">
              <a:solidFill>
                <a:schemeClr val="tx1"/>
              </a:solidFill>
              <a:miter lim="800000"/>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3084" name="Text Box 11">
              <a:extLst>
                <a:ext uri="{FF2B5EF4-FFF2-40B4-BE49-F238E27FC236}">
                  <a16:creationId xmlns:a16="http://schemas.microsoft.com/office/drawing/2014/main" id="{74743711-282B-7066-89CC-4BB9122FB806}"/>
                </a:ext>
              </a:extLst>
            </p:cNvPr>
            <p:cNvSpPr txBox="1">
              <a:spLocks noChangeArrowheads="1"/>
            </p:cNvSpPr>
            <p:nvPr/>
          </p:nvSpPr>
          <p:spPr bwMode="auto">
            <a:xfrm rot="240000">
              <a:off x="1694" y="1777"/>
              <a:ext cx="6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300-499</a:t>
              </a:r>
            </a:p>
          </p:txBody>
        </p:sp>
      </p:grpSp>
      <p:grpSp>
        <p:nvGrpSpPr>
          <p:cNvPr id="4" name="Group 88">
            <a:extLst>
              <a:ext uri="{FF2B5EF4-FFF2-40B4-BE49-F238E27FC236}">
                <a16:creationId xmlns:a16="http://schemas.microsoft.com/office/drawing/2014/main" id="{200DFF2C-0887-969B-EFC3-B45928FE7270}"/>
              </a:ext>
            </a:extLst>
          </p:cNvPr>
          <p:cNvGrpSpPr>
            <a:grpSpLocks/>
          </p:cNvGrpSpPr>
          <p:nvPr/>
        </p:nvGrpSpPr>
        <p:grpSpPr bwMode="auto">
          <a:xfrm>
            <a:off x="5918200" y="1615441"/>
            <a:ext cx="4648200" cy="773113"/>
            <a:chOff x="2768" y="1296"/>
            <a:chExt cx="2928" cy="487"/>
          </a:xfrm>
        </p:grpSpPr>
        <p:grpSp>
          <p:nvGrpSpPr>
            <p:cNvPr id="43067" name="Group 14">
              <a:extLst>
                <a:ext uri="{FF2B5EF4-FFF2-40B4-BE49-F238E27FC236}">
                  <a16:creationId xmlns:a16="http://schemas.microsoft.com/office/drawing/2014/main" id="{7B7F17A6-25FB-99C4-394F-355B7B7C512D}"/>
                </a:ext>
              </a:extLst>
            </p:cNvPr>
            <p:cNvGrpSpPr>
              <a:grpSpLocks/>
            </p:cNvGrpSpPr>
            <p:nvPr/>
          </p:nvGrpSpPr>
          <p:grpSpPr bwMode="auto">
            <a:xfrm>
              <a:off x="3320" y="1312"/>
              <a:ext cx="293" cy="223"/>
              <a:chOff x="3552" y="1841"/>
              <a:chExt cx="293" cy="223"/>
            </a:xfrm>
          </p:grpSpPr>
          <p:sp>
            <p:nvSpPr>
              <p:cNvPr id="43081" name="Text Box 15">
                <a:extLst>
                  <a:ext uri="{FF2B5EF4-FFF2-40B4-BE49-F238E27FC236}">
                    <a16:creationId xmlns:a16="http://schemas.microsoft.com/office/drawing/2014/main" id="{CEC7A092-10FB-29D8-8B53-1E315120AF0A}"/>
                  </a:ext>
                </a:extLst>
              </p:cNvPr>
              <p:cNvSpPr txBox="1">
                <a:spLocks noChangeArrowheads="1"/>
              </p:cNvSpPr>
              <p:nvPr/>
            </p:nvSpPr>
            <p:spPr bwMode="auto">
              <a:xfrm>
                <a:off x="3552" y="184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699</a:t>
                </a:r>
              </a:p>
            </p:txBody>
          </p:sp>
          <p:sp>
            <p:nvSpPr>
              <p:cNvPr id="43082" name="Line 16">
                <a:extLst>
                  <a:ext uri="{FF2B5EF4-FFF2-40B4-BE49-F238E27FC236}">
                    <a16:creationId xmlns:a16="http://schemas.microsoft.com/office/drawing/2014/main" id="{BEC19538-B018-74B0-8314-72787B23FC6E}"/>
                  </a:ext>
                </a:extLst>
              </p:cNvPr>
              <p:cNvSpPr>
                <a:spLocks noChangeShapeType="1"/>
              </p:cNvSpPr>
              <p:nvPr/>
            </p:nvSpPr>
            <p:spPr bwMode="auto">
              <a:xfrm>
                <a:off x="3696" y="196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68" name="Rectangle 17">
              <a:extLst>
                <a:ext uri="{FF2B5EF4-FFF2-40B4-BE49-F238E27FC236}">
                  <a16:creationId xmlns:a16="http://schemas.microsoft.com/office/drawing/2014/main" id="{B773697C-F3D0-49D3-7015-528EFBF48FC9}"/>
                </a:ext>
              </a:extLst>
            </p:cNvPr>
            <p:cNvSpPr>
              <a:spLocks noChangeArrowheads="1"/>
            </p:cNvSpPr>
            <p:nvPr/>
          </p:nvSpPr>
          <p:spPr bwMode="auto">
            <a:xfrm>
              <a:off x="2840" y="1543"/>
              <a:ext cx="2856" cy="240"/>
            </a:xfrm>
            <a:prstGeom prst="rect">
              <a:avLst/>
            </a:prstGeom>
            <a:solidFill>
              <a:srgbClr val="E9E8F4"/>
            </a:solid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69" name="Line 18">
              <a:extLst>
                <a:ext uri="{FF2B5EF4-FFF2-40B4-BE49-F238E27FC236}">
                  <a16:creationId xmlns:a16="http://schemas.microsoft.com/office/drawing/2014/main" id="{274C2372-9499-81A1-CF9D-1B958AB87A1E}"/>
                </a:ext>
              </a:extLst>
            </p:cNvPr>
            <p:cNvSpPr>
              <a:spLocks noChangeShapeType="1"/>
            </p:cNvSpPr>
            <p:nvPr/>
          </p:nvSpPr>
          <p:spPr bwMode="auto">
            <a:xfrm>
              <a:off x="2848" y="1447"/>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70" name="Text Box 19">
              <a:extLst>
                <a:ext uri="{FF2B5EF4-FFF2-40B4-BE49-F238E27FC236}">
                  <a16:creationId xmlns:a16="http://schemas.microsoft.com/office/drawing/2014/main" id="{33AB40C1-E424-DDBF-D716-7EF10EDC7FC9}"/>
                </a:ext>
              </a:extLst>
            </p:cNvPr>
            <p:cNvSpPr txBox="1">
              <a:spLocks noChangeArrowheads="1"/>
            </p:cNvSpPr>
            <p:nvPr/>
          </p:nvSpPr>
          <p:spPr bwMode="auto">
            <a:xfrm>
              <a:off x="2768" y="1296"/>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300</a:t>
              </a:r>
            </a:p>
          </p:txBody>
        </p:sp>
        <p:grpSp>
          <p:nvGrpSpPr>
            <p:cNvPr id="43071" name="Group 20">
              <a:extLst>
                <a:ext uri="{FF2B5EF4-FFF2-40B4-BE49-F238E27FC236}">
                  <a16:creationId xmlns:a16="http://schemas.microsoft.com/office/drawing/2014/main" id="{70A59757-95CF-88F5-3EAE-C5AD70AF5FE4}"/>
                </a:ext>
              </a:extLst>
            </p:cNvPr>
            <p:cNvGrpSpPr>
              <a:grpSpLocks/>
            </p:cNvGrpSpPr>
            <p:nvPr/>
          </p:nvGrpSpPr>
          <p:grpSpPr bwMode="auto">
            <a:xfrm>
              <a:off x="3040" y="1312"/>
              <a:ext cx="293" cy="231"/>
              <a:chOff x="3312" y="1401"/>
              <a:chExt cx="293" cy="231"/>
            </a:xfrm>
          </p:grpSpPr>
          <p:sp>
            <p:nvSpPr>
              <p:cNvPr id="43079" name="Text Box 21">
                <a:extLst>
                  <a:ext uri="{FF2B5EF4-FFF2-40B4-BE49-F238E27FC236}">
                    <a16:creationId xmlns:a16="http://schemas.microsoft.com/office/drawing/2014/main" id="{70FAE985-E679-EDB9-E586-184F9C18AAA9}"/>
                  </a:ext>
                </a:extLst>
              </p:cNvPr>
              <p:cNvSpPr txBox="1">
                <a:spLocks noChangeArrowheads="1"/>
              </p:cNvSpPr>
              <p:nvPr/>
            </p:nvSpPr>
            <p:spPr bwMode="auto">
              <a:xfrm>
                <a:off x="3312" y="140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500</a:t>
                </a:r>
              </a:p>
            </p:txBody>
          </p:sp>
          <p:sp>
            <p:nvSpPr>
              <p:cNvPr id="43080" name="Line 22">
                <a:extLst>
                  <a:ext uri="{FF2B5EF4-FFF2-40B4-BE49-F238E27FC236}">
                    <a16:creationId xmlns:a16="http://schemas.microsoft.com/office/drawing/2014/main" id="{24559FFA-A029-0D48-8247-865764BC939F}"/>
                  </a:ext>
                </a:extLst>
              </p:cNvPr>
              <p:cNvSpPr>
                <a:spLocks noChangeShapeType="1"/>
              </p:cNvSpPr>
              <p:nvPr/>
            </p:nvSpPr>
            <p:spPr bwMode="auto">
              <a:xfrm>
                <a:off x="3440" y="1536"/>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72" name="Text Box 23">
              <a:extLst>
                <a:ext uri="{FF2B5EF4-FFF2-40B4-BE49-F238E27FC236}">
                  <a16:creationId xmlns:a16="http://schemas.microsoft.com/office/drawing/2014/main" id="{D4C8DA62-E497-9969-1A69-13A9F0D60592}"/>
                </a:ext>
              </a:extLst>
            </p:cNvPr>
            <p:cNvSpPr txBox="1">
              <a:spLocks noChangeArrowheads="1"/>
            </p:cNvSpPr>
            <p:nvPr/>
          </p:nvSpPr>
          <p:spPr bwMode="auto">
            <a:xfrm>
              <a:off x="3651" y="1306"/>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900</a:t>
              </a:r>
            </a:p>
          </p:txBody>
        </p:sp>
        <p:sp>
          <p:nvSpPr>
            <p:cNvPr id="43073" name="Line 24">
              <a:extLst>
                <a:ext uri="{FF2B5EF4-FFF2-40B4-BE49-F238E27FC236}">
                  <a16:creationId xmlns:a16="http://schemas.microsoft.com/office/drawing/2014/main" id="{ABD87FD4-F858-0372-1C31-F32F419EB523}"/>
                </a:ext>
              </a:extLst>
            </p:cNvPr>
            <p:cNvSpPr>
              <a:spLocks noChangeShapeType="1"/>
            </p:cNvSpPr>
            <p:nvPr/>
          </p:nvSpPr>
          <p:spPr bwMode="auto">
            <a:xfrm>
              <a:off x="3779" y="143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74" name="Rectangle 25" descr="Wide upward diagonal">
              <a:extLst>
                <a:ext uri="{FF2B5EF4-FFF2-40B4-BE49-F238E27FC236}">
                  <a16:creationId xmlns:a16="http://schemas.microsoft.com/office/drawing/2014/main" id="{6D7E6A73-F565-E884-7E76-002A3010034B}"/>
                </a:ext>
              </a:extLst>
            </p:cNvPr>
            <p:cNvSpPr>
              <a:spLocks noChangeArrowheads="1"/>
            </p:cNvSpPr>
            <p:nvPr/>
          </p:nvSpPr>
          <p:spPr bwMode="auto">
            <a:xfrm>
              <a:off x="3168" y="1543"/>
              <a:ext cx="293"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43075" name="Group 26">
              <a:extLst>
                <a:ext uri="{FF2B5EF4-FFF2-40B4-BE49-F238E27FC236}">
                  <a16:creationId xmlns:a16="http://schemas.microsoft.com/office/drawing/2014/main" id="{0AF64E9E-1536-06CB-9321-C3E2AACE56F6}"/>
                </a:ext>
              </a:extLst>
            </p:cNvPr>
            <p:cNvGrpSpPr>
              <a:grpSpLocks/>
            </p:cNvGrpSpPr>
            <p:nvPr/>
          </p:nvGrpSpPr>
          <p:grpSpPr bwMode="auto">
            <a:xfrm>
              <a:off x="3776" y="1320"/>
              <a:ext cx="507" cy="463"/>
              <a:chOff x="3760" y="1081"/>
              <a:chExt cx="498" cy="463"/>
            </a:xfrm>
          </p:grpSpPr>
          <p:sp>
            <p:nvSpPr>
              <p:cNvPr id="43076" name="Rectangle 27" descr="Wide upward diagonal">
                <a:extLst>
                  <a:ext uri="{FF2B5EF4-FFF2-40B4-BE49-F238E27FC236}">
                    <a16:creationId xmlns:a16="http://schemas.microsoft.com/office/drawing/2014/main" id="{CEC7DE85-B4F4-D818-B25E-1EDB75747E63}"/>
                  </a:ext>
                </a:extLst>
              </p:cNvPr>
              <p:cNvSpPr>
                <a:spLocks noChangeArrowheads="1"/>
              </p:cNvSpPr>
              <p:nvPr/>
            </p:nvSpPr>
            <p:spPr bwMode="auto">
              <a:xfrm>
                <a:off x="3760" y="1304"/>
                <a:ext cx="288"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77" name="Text Box 28">
                <a:extLst>
                  <a:ext uri="{FF2B5EF4-FFF2-40B4-BE49-F238E27FC236}">
                    <a16:creationId xmlns:a16="http://schemas.microsoft.com/office/drawing/2014/main" id="{73200247-A600-5737-5F6C-B9F885D3BCCC}"/>
                  </a:ext>
                </a:extLst>
              </p:cNvPr>
              <p:cNvSpPr txBox="1">
                <a:spLocks noChangeArrowheads="1"/>
              </p:cNvSpPr>
              <p:nvPr/>
            </p:nvSpPr>
            <p:spPr bwMode="auto">
              <a:xfrm>
                <a:off x="3912" y="1081"/>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1099</a:t>
                </a:r>
              </a:p>
            </p:txBody>
          </p:sp>
          <p:sp>
            <p:nvSpPr>
              <p:cNvPr id="43078" name="Line 29">
                <a:extLst>
                  <a:ext uri="{FF2B5EF4-FFF2-40B4-BE49-F238E27FC236}">
                    <a16:creationId xmlns:a16="http://schemas.microsoft.com/office/drawing/2014/main" id="{3967FF2F-BF27-6479-3694-3EE864779EC3}"/>
                  </a:ext>
                </a:extLst>
              </p:cNvPr>
              <p:cNvSpPr>
                <a:spLocks noChangeShapeType="1"/>
              </p:cNvSpPr>
              <p:nvPr/>
            </p:nvSpPr>
            <p:spPr bwMode="auto">
              <a:xfrm>
                <a:off x="4040" y="120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nvGrpSpPr>
          <p:cNvPr id="8" name="Group 30">
            <a:extLst>
              <a:ext uri="{FF2B5EF4-FFF2-40B4-BE49-F238E27FC236}">
                <a16:creationId xmlns:a16="http://schemas.microsoft.com/office/drawing/2014/main" id="{8D8247D1-5586-15D6-7822-B906586FF6AD}"/>
              </a:ext>
            </a:extLst>
          </p:cNvPr>
          <p:cNvGrpSpPr>
            <a:grpSpLocks/>
          </p:cNvGrpSpPr>
          <p:nvPr/>
        </p:nvGrpSpPr>
        <p:grpSpPr bwMode="auto">
          <a:xfrm>
            <a:off x="2133600" y="2834640"/>
            <a:ext cx="3505200" cy="431800"/>
            <a:chOff x="385" y="2619"/>
            <a:chExt cx="2208" cy="272"/>
          </a:xfrm>
        </p:grpSpPr>
        <p:sp>
          <p:nvSpPr>
            <p:cNvPr id="43065" name="Line 31">
              <a:extLst>
                <a:ext uri="{FF2B5EF4-FFF2-40B4-BE49-F238E27FC236}">
                  <a16:creationId xmlns:a16="http://schemas.microsoft.com/office/drawing/2014/main" id="{A7EB1194-F1B6-AB7D-3DB8-E4017DC57C6F}"/>
                </a:ext>
              </a:extLst>
            </p:cNvPr>
            <p:cNvSpPr>
              <a:spLocks noChangeShapeType="1"/>
            </p:cNvSpPr>
            <p:nvPr/>
          </p:nvSpPr>
          <p:spPr bwMode="auto">
            <a:xfrm flipH="1">
              <a:off x="385" y="2651"/>
              <a:ext cx="220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3066" name="Text Box 32">
              <a:extLst>
                <a:ext uri="{FF2B5EF4-FFF2-40B4-BE49-F238E27FC236}">
                  <a16:creationId xmlns:a16="http://schemas.microsoft.com/office/drawing/2014/main" id="{9B1A04F0-22C0-CA25-66F2-B675D36DACE6}"/>
                </a:ext>
              </a:extLst>
            </p:cNvPr>
            <p:cNvSpPr txBox="1">
              <a:spLocks noChangeArrowheads="1"/>
            </p:cNvSpPr>
            <p:nvPr/>
          </p:nvSpPr>
          <p:spPr bwMode="auto">
            <a:xfrm rot="-304486">
              <a:off x="586" y="2619"/>
              <a:ext cx="15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700, SACK 900-1100</a:t>
              </a:r>
            </a:p>
          </p:txBody>
        </p:sp>
      </p:grpSp>
      <p:grpSp>
        <p:nvGrpSpPr>
          <p:cNvPr id="9" name="Group 77">
            <a:extLst>
              <a:ext uri="{FF2B5EF4-FFF2-40B4-BE49-F238E27FC236}">
                <a16:creationId xmlns:a16="http://schemas.microsoft.com/office/drawing/2014/main" id="{8984A170-9C98-7EE7-4876-E65185A818F0}"/>
              </a:ext>
            </a:extLst>
          </p:cNvPr>
          <p:cNvGrpSpPr>
            <a:grpSpLocks/>
          </p:cNvGrpSpPr>
          <p:nvPr/>
        </p:nvGrpSpPr>
        <p:grpSpPr bwMode="auto">
          <a:xfrm>
            <a:off x="5905500" y="2456816"/>
            <a:ext cx="4610100" cy="758825"/>
            <a:chOff x="2760" y="1826"/>
            <a:chExt cx="2904" cy="478"/>
          </a:xfrm>
        </p:grpSpPr>
        <p:grpSp>
          <p:nvGrpSpPr>
            <p:cNvPr id="43048" name="Group 34">
              <a:extLst>
                <a:ext uri="{FF2B5EF4-FFF2-40B4-BE49-F238E27FC236}">
                  <a16:creationId xmlns:a16="http://schemas.microsoft.com/office/drawing/2014/main" id="{AF72AA4E-945C-0359-F32A-EC1EA8E03230}"/>
                </a:ext>
              </a:extLst>
            </p:cNvPr>
            <p:cNvGrpSpPr>
              <a:grpSpLocks/>
            </p:cNvGrpSpPr>
            <p:nvPr/>
          </p:nvGrpSpPr>
          <p:grpSpPr bwMode="auto">
            <a:xfrm>
              <a:off x="3288" y="1832"/>
              <a:ext cx="293" cy="223"/>
              <a:chOff x="3552" y="1841"/>
              <a:chExt cx="293" cy="223"/>
            </a:xfrm>
          </p:grpSpPr>
          <p:sp>
            <p:nvSpPr>
              <p:cNvPr id="43063" name="Text Box 35">
                <a:extLst>
                  <a:ext uri="{FF2B5EF4-FFF2-40B4-BE49-F238E27FC236}">
                    <a16:creationId xmlns:a16="http://schemas.microsoft.com/office/drawing/2014/main" id="{F9866125-877E-6A83-2BDC-9AC873AFC976}"/>
                  </a:ext>
                </a:extLst>
              </p:cNvPr>
              <p:cNvSpPr txBox="1">
                <a:spLocks noChangeArrowheads="1"/>
              </p:cNvSpPr>
              <p:nvPr/>
            </p:nvSpPr>
            <p:spPr bwMode="auto">
              <a:xfrm>
                <a:off x="3552" y="184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699</a:t>
                </a:r>
              </a:p>
            </p:txBody>
          </p:sp>
          <p:sp>
            <p:nvSpPr>
              <p:cNvPr id="43064" name="Line 36">
                <a:extLst>
                  <a:ext uri="{FF2B5EF4-FFF2-40B4-BE49-F238E27FC236}">
                    <a16:creationId xmlns:a16="http://schemas.microsoft.com/office/drawing/2014/main" id="{46BA1AD5-DECB-1495-241D-6F2A3BF9C1A6}"/>
                  </a:ext>
                </a:extLst>
              </p:cNvPr>
              <p:cNvSpPr>
                <a:spLocks noChangeShapeType="1"/>
              </p:cNvSpPr>
              <p:nvPr/>
            </p:nvSpPr>
            <p:spPr bwMode="auto">
              <a:xfrm>
                <a:off x="3696" y="196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49" name="Rectangle 37">
              <a:extLst>
                <a:ext uri="{FF2B5EF4-FFF2-40B4-BE49-F238E27FC236}">
                  <a16:creationId xmlns:a16="http://schemas.microsoft.com/office/drawing/2014/main" id="{C7885C0E-B727-640E-D52C-DB9680A05ACC}"/>
                </a:ext>
              </a:extLst>
            </p:cNvPr>
            <p:cNvSpPr>
              <a:spLocks noChangeArrowheads="1"/>
            </p:cNvSpPr>
            <p:nvPr/>
          </p:nvSpPr>
          <p:spPr bwMode="auto">
            <a:xfrm>
              <a:off x="2832" y="2063"/>
              <a:ext cx="2832" cy="240"/>
            </a:xfrm>
            <a:prstGeom prst="rect">
              <a:avLst/>
            </a:prstGeom>
            <a:solidFill>
              <a:srgbClr val="E9E8F4"/>
            </a:solid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50" name="Line 38">
              <a:extLst>
                <a:ext uri="{FF2B5EF4-FFF2-40B4-BE49-F238E27FC236}">
                  <a16:creationId xmlns:a16="http://schemas.microsoft.com/office/drawing/2014/main" id="{EF57A7F2-65B6-C522-E7C1-9A4115982C6D}"/>
                </a:ext>
              </a:extLst>
            </p:cNvPr>
            <p:cNvSpPr>
              <a:spLocks noChangeShapeType="1"/>
            </p:cNvSpPr>
            <p:nvPr/>
          </p:nvSpPr>
          <p:spPr bwMode="auto">
            <a:xfrm>
              <a:off x="2840" y="1967"/>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51" name="Text Box 39">
              <a:extLst>
                <a:ext uri="{FF2B5EF4-FFF2-40B4-BE49-F238E27FC236}">
                  <a16:creationId xmlns:a16="http://schemas.microsoft.com/office/drawing/2014/main" id="{72F0B004-9C61-8719-1B11-3B140BE9C0BF}"/>
                </a:ext>
              </a:extLst>
            </p:cNvPr>
            <p:cNvSpPr txBox="1">
              <a:spLocks noChangeArrowheads="1"/>
            </p:cNvSpPr>
            <p:nvPr/>
          </p:nvSpPr>
          <p:spPr bwMode="auto">
            <a:xfrm>
              <a:off x="2760" y="1832"/>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300</a:t>
              </a:r>
            </a:p>
          </p:txBody>
        </p:sp>
        <p:grpSp>
          <p:nvGrpSpPr>
            <p:cNvPr id="43052" name="Group 40">
              <a:extLst>
                <a:ext uri="{FF2B5EF4-FFF2-40B4-BE49-F238E27FC236}">
                  <a16:creationId xmlns:a16="http://schemas.microsoft.com/office/drawing/2014/main" id="{7A1B2395-6731-A73E-5C9B-2220B951D651}"/>
                </a:ext>
              </a:extLst>
            </p:cNvPr>
            <p:cNvGrpSpPr>
              <a:grpSpLocks/>
            </p:cNvGrpSpPr>
            <p:nvPr/>
          </p:nvGrpSpPr>
          <p:grpSpPr bwMode="auto">
            <a:xfrm>
              <a:off x="3008" y="1832"/>
              <a:ext cx="293" cy="231"/>
              <a:chOff x="3312" y="1401"/>
              <a:chExt cx="293" cy="231"/>
            </a:xfrm>
          </p:grpSpPr>
          <p:sp>
            <p:nvSpPr>
              <p:cNvPr id="43061" name="Text Box 41">
                <a:extLst>
                  <a:ext uri="{FF2B5EF4-FFF2-40B4-BE49-F238E27FC236}">
                    <a16:creationId xmlns:a16="http://schemas.microsoft.com/office/drawing/2014/main" id="{286DB642-26F9-B595-B295-D7B7B8BCA3B0}"/>
                  </a:ext>
                </a:extLst>
              </p:cNvPr>
              <p:cNvSpPr txBox="1">
                <a:spLocks noChangeArrowheads="1"/>
              </p:cNvSpPr>
              <p:nvPr/>
            </p:nvSpPr>
            <p:spPr bwMode="auto">
              <a:xfrm>
                <a:off x="3312" y="140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500</a:t>
                </a:r>
              </a:p>
            </p:txBody>
          </p:sp>
          <p:sp>
            <p:nvSpPr>
              <p:cNvPr id="43062" name="Line 42">
                <a:extLst>
                  <a:ext uri="{FF2B5EF4-FFF2-40B4-BE49-F238E27FC236}">
                    <a16:creationId xmlns:a16="http://schemas.microsoft.com/office/drawing/2014/main" id="{A3A7DD27-8384-58EC-B971-4889A5875796}"/>
                  </a:ext>
                </a:extLst>
              </p:cNvPr>
              <p:cNvSpPr>
                <a:spLocks noChangeShapeType="1"/>
              </p:cNvSpPr>
              <p:nvPr/>
            </p:nvSpPr>
            <p:spPr bwMode="auto">
              <a:xfrm>
                <a:off x="3440" y="1536"/>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53" name="Text Box 43">
              <a:extLst>
                <a:ext uri="{FF2B5EF4-FFF2-40B4-BE49-F238E27FC236}">
                  <a16:creationId xmlns:a16="http://schemas.microsoft.com/office/drawing/2014/main" id="{15C9F5D9-F5DA-7A5A-94EC-A540DD79427D}"/>
                </a:ext>
              </a:extLst>
            </p:cNvPr>
            <p:cNvSpPr txBox="1">
              <a:spLocks noChangeArrowheads="1"/>
            </p:cNvSpPr>
            <p:nvPr/>
          </p:nvSpPr>
          <p:spPr bwMode="auto">
            <a:xfrm>
              <a:off x="3619" y="1826"/>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900</a:t>
              </a:r>
            </a:p>
          </p:txBody>
        </p:sp>
        <p:sp>
          <p:nvSpPr>
            <p:cNvPr id="43054" name="Line 44">
              <a:extLst>
                <a:ext uri="{FF2B5EF4-FFF2-40B4-BE49-F238E27FC236}">
                  <a16:creationId xmlns:a16="http://schemas.microsoft.com/office/drawing/2014/main" id="{9BC9AEE8-C34E-045C-F9C0-F97BBB61106C}"/>
                </a:ext>
              </a:extLst>
            </p:cNvPr>
            <p:cNvSpPr>
              <a:spLocks noChangeShapeType="1"/>
            </p:cNvSpPr>
            <p:nvPr/>
          </p:nvSpPr>
          <p:spPr bwMode="auto">
            <a:xfrm>
              <a:off x="3747" y="195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55" name="Rectangle 45" descr="Wide upward diagonal">
              <a:extLst>
                <a:ext uri="{FF2B5EF4-FFF2-40B4-BE49-F238E27FC236}">
                  <a16:creationId xmlns:a16="http://schemas.microsoft.com/office/drawing/2014/main" id="{1451F845-4530-3E96-4248-28CAEDE4A98D}"/>
                </a:ext>
              </a:extLst>
            </p:cNvPr>
            <p:cNvSpPr>
              <a:spLocks noChangeArrowheads="1"/>
            </p:cNvSpPr>
            <p:nvPr/>
          </p:nvSpPr>
          <p:spPr bwMode="auto">
            <a:xfrm>
              <a:off x="3139" y="2063"/>
              <a:ext cx="293"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43056" name="Group 46">
              <a:extLst>
                <a:ext uri="{FF2B5EF4-FFF2-40B4-BE49-F238E27FC236}">
                  <a16:creationId xmlns:a16="http://schemas.microsoft.com/office/drawing/2014/main" id="{EA70C6B5-AFB6-8298-E9EC-D61F86A97A84}"/>
                </a:ext>
              </a:extLst>
            </p:cNvPr>
            <p:cNvGrpSpPr>
              <a:grpSpLocks/>
            </p:cNvGrpSpPr>
            <p:nvPr/>
          </p:nvGrpSpPr>
          <p:grpSpPr bwMode="auto">
            <a:xfrm>
              <a:off x="3744" y="1840"/>
              <a:ext cx="507" cy="463"/>
              <a:chOff x="3760" y="1081"/>
              <a:chExt cx="498" cy="463"/>
            </a:xfrm>
          </p:grpSpPr>
          <p:sp>
            <p:nvSpPr>
              <p:cNvPr id="43058" name="Rectangle 47" descr="Wide upward diagonal">
                <a:extLst>
                  <a:ext uri="{FF2B5EF4-FFF2-40B4-BE49-F238E27FC236}">
                    <a16:creationId xmlns:a16="http://schemas.microsoft.com/office/drawing/2014/main" id="{43985CDD-D0A9-A528-3C38-F4BEF0FD97BF}"/>
                  </a:ext>
                </a:extLst>
              </p:cNvPr>
              <p:cNvSpPr>
                <a:spLocks noChangeArrowheads="1"/>
              </p:cNvSpPr>
              <p:nvPr/>
            </p:nvSpPr>
            <p:spPr bwMode="auto">
              <a:xfrm>
                <a:off x="3760" y="1304"/>
                <a:ext cx="288"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59" name="Text Box 48">
                <a:extLst>
                  <a:ext uri="{FF2B5EF4-FFF2-40B4-BE49-F238E27FC236}">
                    <a16:creationId xmlns:a16="http://schemas.microsoft.com/office/drawing/2014/main" id="{DBDD2467-FB20-146A-2119-2CB8293BF6DF}"/>
                  </a:ext>
                </a:extLst>
              </p:cNvPr>
              <p:cNvSpPr txBox="1">
                <a:spLocks noChangeArrowheads="1"/>
              </p:cNvSpPr>
              <p:nvPr/>
            </p:nvSpPr>
            <p:spPr bwMode="auto">
              <a:xfrm>
                <a:off x="3912" y="1081"/>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1099</a:t>
                </a:r>
              </a:p>
            </p:txBody>
          </p:sp>
          <p:sp>
            <p:nvSpPr>
              <p:cNvPr id="43060" name="Line 49">
                <a:extLst>
                  <a:ext uri="{FF2B5EF4-FFF2-40B4-BE49-F238E27FC236}">
                    <a16:creationId xmlns:a16="http://schemas.microsoft.com/office/drawing/2014/main" id="{1E73B027-EB70-2B6B-E503-973C7793FE3A}"/>
                  </a:ext>
                </a:extLst>
              </p:cNvPr>
              <p:cNvSpPr>
                <a:spLocks noChangeShapeType="1"/>
              </p:cNvSpPr>
              <p:nvPr/>
            </p:nvSpPr>
            <p:spPr bwMode="auto">
              <a:xfrm>
                <a:off x="4040" y="120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57" name="Rectangle 50" descr="Wide upward diagonal">
              <a:extLst>
                <a:ext uri="{FF2B5EF4-FFF2-40B4-BE49-F238E27FC236}">
                  <a16:creationId xmlns:a16="http://schemas.microsoft.com/office/drawing/2014/main" id="{39F084A0-8616-9392-1D26-75C583CC0E7A}"/>
                </a:ext>
              </a:extLst>
            </p:cNvPr>
            <p:cNvSpPr>
              <a:spLocks noChangeArrowheads="1"/>
            </p:cNvSpPr>
            <p:nvPr/>
          </p:nvSpPr>
          <p:spPr bwMode="auto">
            <a:xfrm>
              <a:off x="2840" y="2064"/>
              <a:ext cx="301"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13" name="Group 52">
            <a:extLst>
              <a:ext uri="{FF2B5EF4-FFF2-40B4-BE49-F238E27FC236}">
                <a16:creationId xmlns:a16="http://schemas.microsoft.com/office/drawing/2014/main" id="{89546B4D-CEAB-2A27-3127-BB03DACB22BE}"/>
              </a:ext>
            </a:extLst>
          </p:cNvPr>
          <p:cNvGrpSpPr>
            <a:grpSpLocks/>
          </p:cNvGrpSpPr>
          <p:nvPr/>
        </p:nvGrpSpPr>
        <p:grpSpPr bwMode="auto">
          <a:xfrm>
            <a:off x="3657600" y="3368041"/>
            <a:ext cx="1905000" cy="379413"/>
            <a:chOff x="1392" y="1777"/>
            <a:chExt cx="1200" cy="239"/>
          </a:xfrm>
        </p:grpSpPr>
        <p:sp>
          <p:nvSpPr>
            <p:cNvPr id="43046" name="Line 53">
              <a:extLst>
                <a:ext uri="{FF2B5EF4-FFF2-40B4-BE49-F238E27FC236}">
                  <a16:creationId xmlns:a16="http://schemas.microsoft.com/office/drawing/2014/main" id="{28F3CF32-5706-81B0-BE7D-F396D08A8D63}"/>
                </a:ext>
              </a:extLst>
            </p:cNvPr>
            <p:cNvSpPr>
              <a:spLocks noChangeShapeType="1"/>
            </p:cNvSpPr>
            <p:nvPr/>
          </p:nvSpPr>
          <p:spPr bwMode="auto">
            <a:xfrm>
              <a:off x="1392" y="1862"/>
              <a:ext cx="1200" cy="154"/>
            </a:xfrm>
            <a:prstGeom prst="line">
              <a:avLst/>
            </a:prstGeom>
            <a:noFill/>
            <a:ln w="9525">
              <a:solidFill>
                <a:schemeClr val="tx1"/>
              </a:solidFill>
              <a:miter lim="800000"/>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3047" name="Text Box 54">
              <a:extLst>
                <a:ext uri="{FF2B5EF4-FFF2-40B4-BE49-F238E27FC236}">
                  <a16:creationId xmlns:a16="http://schemas.microsoft.com/office/drawing/2014/main" id="{E5F11038-97FB-13EB-8B8A-C52F211645D8}"/>
                </a:ext>
              </a:extLst>
            </p:cNvPr>
            <p:cNvSpPr txBox="1">
              <a:spLocks noChangeArrowheads="1"/>
            </p:cNvSpPr>
            <p:nvPr/>
          </p:nvSpPr>
          <p:spPr bwMode="auto">
            <a:xfrm rot="240000">
              <a:off x="1694" y="1777"/>
              <a:ext cx="66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700-899</a:t>
              </a:r>
            </a:p>
          </p:txBody>
        </p:sp>
      </p:grpSp>
      <p:grpSp>
        <p:nvGrpSpPr>
          <p:cNvPr id="14" name="Group 73">
            <a:extLst>
              <a:ext uri="{FF2B5EF4-FFF2-40B4-BE49-F238E27FC236}">
                <a16:creationId xmlns:a16="http://schemas.microsoft.com/office/drawing/2014/main" id="{EBE83F43-E28C-2350-8455-835DBF8584A1}"/>
              </a:ext>
            </a:extLst>
          </p:cNvPr>
          <p:cNvGrpSpPr>
            <a:grpSpLocks/>
          </p:cNvGrpSpPr>
          <p:nvPr/>
        </p:nvGrpSpPr>
        <p:grpSpPr bwMode="auto">
          <a:xfrm>
            <a:off x="2133600" y="3883980"/>
            <a:ext cx="3505200" cy="422276"/>
            <a:chOff x="515" y="1272"/>
            <a:chExt cx="2582" cy="266"/>
          </a:xfrm>
        </p:grpSpPr>
        <p:sp>
          <p:nvSpPr>
            <p:cNvPr id="43044" name="Line 74">
              <a:extLst>
                <a:ext uri="{FF2B5EF4-FFF2-40B4-BE49-F238E27FC236}">
                  <a16:creationId xmlns:a16="http://schemas.microsoft.com/office/drawing/2014/main" id="{78E1F092-21C7-F2CB-BDB5-31C0293440BC}"/>
                </a:ext>
              </a:extLst>
            </p:cNvPr>
            <p:cNvSpPr>
              <a:spLocks noChangeShapeType="1"/>
            </p:cNvSpPr>
            <p:nvPr/>
          </p:nvSpPr>
          <p:spPr bwMode="auto">
            <a:xfrm flipH="1">
              <a:off x="515" y="1298"/>
              <a:ext cx="2582"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3045" name="Text Box 75">
              <a:extLst>
                <a:ext uri="{FF2B5EF4-FFF2-40B4-BE49-F238E27FC236}">
                  <a16:creationId xmlns:a16="http://schemas.microsoft.com/office/drawing/2014/main" id="{0AC40FEF-CFC6-6FAC-CA4A-22DF34E5D71E}"/>
                </a:ext>
              </a:extLst>
            </p:cNvPr>
            <p:cNvSpPr txBox="1">
              <a:spLocks noChangeArrowheads="1"/>
            </p:cNvSpPr>
            <p:nvPr/>
          </p:nvSpPr>
          <p:spPr bwMode="auto">
            <a:xfrm rot="21360000">
              <a:off x="1509" y="1272"/>
              <a:ext cx="64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1100</a:t>
              </a:r>
            </a:p>
          </p:txBody>
        </p:sp>
      </p:grpSp>
      <p:grpSp>
        <p:nvGrpSpPr>
          <p:cNvPr id="15" name="Group 78">
            <a:extLst>
              <a:ext uri="{FF2B5EF4-FFF2-40B4-BE49-F238E27FC236}">
                <a16:creationId xmlns:a16="http://schemas.microsoft.com/office/drawing/2014/main" id="{9F9667F8-4E3F-4B11-9B64-92B19DB1B7F5}"/>
              </a:ext>
            </a:extLst>
          </p:cNvPr>
          <p:cNvGrpSpPr>
            <a:grpSpLocks/>
          </p:cNvGrpSpPr>
          <p:nvPr/>
        </p:nvGrpSpPr>
        <p:grpSpPr bwMode="auto">
          <a:xfrm>
            <a:off x="5892800" y="3685540"/>
            <a:ext cx="4622800" cy="762000"/>
            <a:chOff x="2752" y="2600"/>
            <a:chExt cx="2912" cy="480"/>
          </a:xfrm>
        </p:grpSpPr>
        <p:grpSp>
          <p:nvGrpSpPr>
            <p:cNvPr id="43026" name="Group 56">
              <a:extLst>
                <a:ext uri="{FF2B5EF4-FFF2-40B4-BE49-F238E27FC236}">
                  <a16:creationId xmlns:a16="http://schemas.microsoft.com/office/drawing/2014/main" id="{AD24A1D5-D7EF-010A-750D-15B0225652DB}"/>
                </a:ext>
              </a:extLst>
            </p:cNvPr>
            <p:cNvGrpSpPr>
              <a:grpSpLocks/>
            </p:cNvGrpSpPr>
            <p:nvPr/>
          </p:nvGrpSpPr>
          <p:grpSpPr bwMode="auto">
            <a:xfrm>
              <a:off x="3288" y="2600"/>
              <a:ext cx="293" cy="223"/>
              <a:chOff x="3552" y="1841"/>
              <a:chExt cx="293" cy="223"/>
            </a:xfrm>
          </p:grpSpPr>
          <p:sp>
            <p:nvSpPr>
              <p:cNvPr id="43042" name="Text Box 57">
                <a:extLst>
                  <a:ext uri="{FF2B5EF4-FFF2-40B4-BE49-F238E27FC236}">
                    <a16:creationId xmlns:a16="http://schemas.microsoft.com/office/drawing/2014/main" id="{AB46B151-8745-121D-2BD8-9643AE9DCBE9}"/>
                  </a:ext>
                </a:extLst>
              </p:cNvPr>
              <p:cNvSpPr txBox="1">
                <a:spLocks noChangeArrowheads="1"/>
              </p:cNvSpPr>
              <p:nvPr/>
            </p:nvSpPr>
            <p:spPr bwMode="auto">
              <a:xfrm>
                <a:off x="3552" y="184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700</a:t>
                </a:r>
              </a:p>
            </p:txBody>
          </p:sp>
          <p:sp>
            <p:nvSpPr>
              <p:cNvPr id="43043" name="Line 58">
                <a:extLst>
                  <a:ext uri="{FF2B5EF4-FFF2-40B4-BE49-F238E27FC236}">
                    <a16:creationId xmlns:a16="http://schemas.microsoft.com/office/drawing/2014/main" id="{A396F534-233A-AC39-DF92-D75D07D15D0E}"/>
                  </a:ext>
                </a:extLst>
              </p:cNvPr>
              <p:cNvSpPr>
                <a:spLocks noChangeShapeType="1"/>
              </p:cNvSpPr>
              <p:nvPr/>
            </p:nvSpPr>
            <p:spPr bwMode="auto">
              <a:xfrm>
                <a:off x="3696" y="196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27" name="Rectangle 59">
              <a:extLst>
                <a:ext uri="{FF2B5EF4-FFF2-40B4-BE49-F238E27FC236}">
                  <a16:creationId xmlns:a16="http://schemas.microsoft.com/office/drawing/2014/main" id="{6BBBA961-51AC-125E-1884-8CC9D850A6CC}"/>
                </a:ext>
              </a:extLst>
            </p:cNvPr>
            <p:cNvSpPr>
              <a:spLocks noChangeArrowheads="1"/>
            </p:cNvSpPr>
            <p:nvPr/>
          </p:nvSpPr>
          <p:spPr bwMode="auto">
            <a:xfrm>
              <a:off x="2832" y="2839"/>
              <a:ext cx="2832" cy="240"/>
            </a:xfrm>
            <a:prstGeom prst="rect">
              <a:avLst/>
            </a:prstGeom>
            <a:solidFill>
              <a:srgbClr val="E9E8F4"/>
            </a:solid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28" name="Line 60">
              <a:extLst>
                <a:ext uri="{FF2B5EF4-FFF2-40B4-BE49-F238E27FC236}">
                  <a16:creationId xmlns:a16="http://schemas.microsoft.com/office/drawing/2014/main" id="{407C8A4E-F925-2983-A5E8-36FB6CB90972}"/>
                </a:ext>
              </a:extLst>
            </p:cNvPr>
            <p:cNvSpPr>
              <a:spLocks noChangeShapeType="1"/>
            </p:cNvSpPr>
            <p:nvPr/>
          </p:nvSpPr>
          <p:spPr bwMode="auto">
            <a:xfrm>
              <a:off x="2840" y="2743"/>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29" name="Text Box 61">
              <a:extLst>
                <a:ext uri="{FF2B5EF4-FFF2-40B4-BE49-F238E27FC236}">
                  <a16:creationId xmlns:a16="http://schemas.microsoft.com/office/drawing/2014/main" id="{86199D80-0316-2720-7277-AC329EC43A43}"/>
                </a:ext>
              </a:extLst>
            </p:cNvPr>
            <p:cNvSpPr txBox="1">
              <a:spLocks noChangeArrowheads="1"/>
            </p:cNvSpPr>
            <p:nvPr/>
          </p:nvSpPr>
          <p:spPr bwMode="auto">
            <a:xfrm>
              <a:off x="2752" y="2608"/>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300</a:t>
              </a:r>
            </a:p>
          </p:txBody>
        </p:sp>
        <p:grpSp>
          <p:nvGrpSpPr>
            <p:cNvPr id="43030" name="Group 62">
              <a:extLst>
                <a:ext uri="{FF2B5EF4-FFF2-40B4-BE49-F238E27FC236}">
                  <a16:creationId xmlns:a16="http://schemas.microsoft.com/office/drawing/2014/main" id="{DAB4D0D1-4DFC-823A-CA2A-9AE57E68B24C}"/>
                </a:ext>
              </a:extLst>
            </p:cNvPr>
            <p:cNvGrpSpPr>
              <a:grpSpLocks/>
            </p:cNvGrpSpPr>
            <p:nvPr/>
          </p:nvGrpSpPr>
          <p:grpSpPr bwMode="auto">
            <a:xfrm>
              <a:off x="3008" y="2608"/>
              <a:ext cx="293" cy="231"/>
              <a:chOff x="3312" y="1401"/>
              <a:chExt cx="293" cy="231"/>
            </a:xfrm>
          </p:grpSpPr>
          <p:sp>
            <p:nvSpPr>
              <p:cNvPr id="43040" name="Text Box 63">
                <a:extLst>
                  <a:ext uri="{FF2B5EF4-FFF2-40B4-BE49-F238E27FC236}">
                    <a16:creationId xmlns:a16="http://schemas.microsoft.com/office/drawing/2014/main" id="{25AFA6F3-DE66-291D-E434-0E7F9CD7D4F4}"/>
                  </a:ext>
                </a:extLst>
              </p:cNvPr>
              <p:cNvSpPr txBox="1">
                <a:spLocks noChangeArrowheads="1"/>
              </p:cNvSpPr>
              <p:nvPr/>
            </p:nvSpPr>
            <p:spPr bwMode="auto">
              <a:xfrm>
                <a:off x="3312" y="1401"/>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500</a:t>
                </a:r>
              </a:p>
            </p:txBody>
          </p:sp>
          <p:sp>
            <p:nvSpPr>
              <p:cNvPr id="43041" name="Line 64">
                <a:extLst>
                  <a:ext uri="{FF2B5EF4-FFF2-40B4-BE49-F238E27FC236}">
                    <a16:creationId xmlns:a16="http://schemas.microsoft.com/office/drawing/2014/main" id="{1771FFD1-0CC6-12BB-462F-5429E1F7BBEA}"/>
                  </a:ext>
                </a:extLst>
              </p:cNvPr>
              <p:cNvSpPr>
                <a:spLocks noChangeShapeType="1"/>
              </p:cNvSpPr>
              <p:nvPr/>
            </p:nvSpPr>
            <p:spPr bwMode="auto">
              <a:xfrm>
                <a:off x="3440" y="1536"/>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31" name="Text Box 65">
              <a:extLst>
                <a:ext uri="{FF2B5EF4-FFF2-40B4-BE49-F238E27FC236}">
                  <a16:creationId xmlns:a16="http://schemas.microsoft.com/office/drawing/2014/main" id="{1CB8EB8D-7DFF-BFD3-E9F2-B90815DED042}"/>
                </a:ext>
              </a:extLst>
            </p:cNvPr>
            <p:cNvSpPr txBox="1">
              <a:spLocks noChangeArrowheads="1"/>
            </p:cNvSpPr>
            <p:nvPr/>
          </p:nvSpPr>
          <p:spPr bwMode="auto">
            <a:xfrm>
              <a:off x="3619" y="2602"/>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900</a:t>
              </a:r>
            </a:p>
          </p:txBody>
        </p:sp>
        <p:sp>
          <p:nvSpPr>
            <p:cNvPr id="43032" name="Line 66">
              <a:extLst>
                <a:ext uri="{FF2B5EF4-FFF2-40B4-BE49-F238E27FC236}">
                  <a16:creationId xmlns:a16="http://schemas.microsoft.com/office/drawing/2014/main" id="{A5CAAF30-D13D-594F-F82F-64D71A744B61}"/>
                </a:ext>
              </a:extLst>
            </p:cNvPr>
            <p:cNvSpPr>
              <a:spLocks noChangeShapeType="1"/>
            </p:cNvSpPr>
            <p:nvPr/>
          </p:nvSpPr>
          <p:spPr bwMode="auto">
            <a:xfrm>
              <a:off x="3747" y="2734"/>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33" name="Rectangle 67" descr="Wide upward diagonal">
              <a:extLst>
                <a:ext uri="{FF2B5EF4-FFF2-40B4-BE49-F238E27FC236}">
                  <a16:creationId xmlns:a16="http://schemas.microsoft.com/office/drawing/2014/main" id="{75446511-D31F-C73A-7D01-9E75DB51FDE2}"/>
                </a:ext>
              </a:extLst>
            </p:cNvPr>
            <p:cNvSpPr>
              <a:spLocks noChangeArrowheads="1"/>
            </p:cNvSpPr>
            <p:nvPr/>
          </p:nvSpPr>
          <p:spPr bwMode="auto">
            <a:xfrm>
              <a:off x="3139" y="2839"/>
              <a:ext cx="293"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43034" name="Group 68">
              <a:extLst>
                <a:ext uri="{FF2B5EF4-FFF2-40B4-BE49-F238E27FC236}">
                  <a16:creationId xmlns:a16="http://schemas.microsoft.com/office/drawing/2014/main" id="{515544B5-0529-C454-53F7-EDAEE7F2369A}"/>
                </a:ext>
              </a:extLst>
            </p:cNvPr>
            <p:cNvGrpSpPr>
              <a:grpSpLocks/>
            </p:cNvGrpSpPr>
            <p:nvPr/>
          </p:nvGrpSpPr>
          <p:grpSpPr bwMode="auto">
            <a:xfrm>
              <a:off x="3744" y="2616"/>
              <a:ext cx="507" cy="463"/>
              <a:chOff x="3760" y="1081"/>
              <a:chExt cx="498" cy="463"/>
            </a:xfrm>
          </p:grpSpPr>
          <p:sp>
            <p:nvSpPr>
              <p:cNvPr id="43037" name="Rectangle 69" descr="Wide upward diagonal">
                <a:extLst>
                  <a:ext uri="{FF2B5EF4-FFF2-40B4-BE49-F238E27FC236}">
                    <a16:creationId xmlns:a16="http://schemas.microsoft.com/office/drawing/2014/main" id="{BB72866A-ECD2-968F-A671-29267E01E012}"/>
                  </a:ext>
                </a:extLst>
              </p:cNvPr>
              <p:cNvSpPr>
                <a:spLocks noChangeArrowheads="1"/>
              </p:cNvSpPr>
              <p:nvPr/>
            </p:nvSpPr>
            <p:spPr bwMode="auto">
              <a:xfrm>
                <a:off x="3760" y="1304"/>
                <a:ext cx="288"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38" name="Text Box 70">
                <a:extLst>
                  <a:ext uri="{FF2B5EF4-FFF2-40B4-BE49-F238E27FC236}">
                    <a16:creationId xmlns:a16="http://schemas.microsoft.com/office/drawing/2014/main" id="{7410FE4F-F851-9184-56CA-894A6EFFA09A}"/>
                  </a:ext>
                </a:extLst>
              </p:cNvPr>
              <p:cNvSpPr txBox="1">
                <a:spLocks noChangeArrowheads="1"/>
              </p:cNvSpPr>
              <p:nvPr/>
            </p:nvSpPr>
            <p:spPr bwMode="auto">
              <a:xfrm>
                <a:off x="3912" y="1081"/>
                <a:ext cx="34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1099</a:t>
                </a:r>
              </a:p>
            </p:txBody>
          </p:sp>
          <p:sp>
            <p:nvSpPr>
              <p:cNvPr id="43039" name="Line 71">
                <a:extLst>
                  <a:ext uri="{FF2B5EF4-FFF2-40B4-BE49-F238E27FC236}">
                    <a16:creationId xmlns:a16="http://schemas.microsoft.com/office/drawing/2014/main" id="{7AD0C3B9-79FC-AEF7-FA74-B129DE444E77}"/>
                  </a:ext>
                </a:extLst>
              </p:cNvPr>
              <p:cNvSpPr>
                <a:spLocks noChangeShapeType="1"/>
              </p:cNvSpPr>
              <p:nvPr/>
            </p:nvSpPr>
            <p:spPr bwMode="auto">
              <a:xfrm>
                <a:off x="4040" y="1208"/>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35" name="Rectangle 72" descr="Wide upward diagonal">
              <a:extLst>
                <a:ext uri="{FF2B5EF4-FFF2-40B4-BE49-F238E27FC236}">
                  <a16:creationId xmlns:a16="http://schemas.microsoft.com/office/drawing/2014/main" id="{4642586D-82C1-4D64-CC4D-2EA934413134}"/>
                </a:ext>
              </a:extLst>
            </p:cNvPr>
            <p:cNvSpPr>
              <a:spLocks noChangeArrowheads="1"/>
            </p:cNvSpPr>
            <p:nvPr/>
          </p:nvSpPr>
          <p:spPr bwMode="auto">
            <a:xfrm>
              <a:off x="2840" y="2840"/>
              <a:ext cx="301"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36" name="Rectangle 76" descr="Wide upward diagonal">
              <a:extLst>
                <a:ext uri="{FF2B5EF4-FFF2-40B4-BE49-F238E27FC236}">
                  <a16:creationId xmlns:a16="http://schemas.microsoft.com/office/drawing/2014/main" id="{391F32C1-4AEF-2211-26D1-C2E8E441E8BD}"/>
                </a:ext>
              </a:extLst>
            </p:cNvPr>
            <p:cNvSpPr>
              <a:spLocks noChangeArrowheads="1"/>
            </p:cNvSpPr>
            <p:nvPr/>
          </p:nvSpPr>
          <p:spPr bwMode="auto">
            <a:xfrm>
              <a:off x="3432" y="2840"/>
              <a:ext cx="312" cy="240"/>
            </a:xfrm>
            <a:prstGeom prst="rect">
              <a:avLst/>
            </a:prstGeom>
            <a:pattFill prst="wdUpDiag">
              <a:fgClr>
                <a:schemeClr val="folHlink"/>
              </a:fgClr>
              <a:bgClr>
                <a:schemeClr val="bg1"/>
              </a:bgClr>
            </a:patt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19" name="Group 86">
            <a:extLst>
              <a:ext uri="{FF2B5EF4-FFF2-40B4-BE49-F238E27FC236}">
                <a16:creationId xmlns:a16="http://schemas.microsoft.com/office/drawing/2014/main" id="{2D78ED11-E375-434D-56B3-648698D5835C}"/>
              </a:ext>
            </a:extLst>
          </p:cNvPr>
          <p:cNvGrpSpPr>
            <a:grpSpLocks/>
          </p:cNvGrpSpPr>
          <p:nvPr/>
        </p:nvGrpSpPr>
        <p:grpSpPr bwMode="auto">
          <a:xfrm>
            <a:off x="5867400" y="4815840"/>
            <a:ext cx="4648200" cy="723900"/>
            <a:chOff x="2736" y="3192"/>
            <a:chExt cx="2928" cy="456"/>
          </a:xfrm>
        </p:grpSpPr>
        <p:sp>
          <p:nvSpPr>
            <p:cNvPr id="43023" name="Rectangle 80">
              <a:extLst>
                <a:ext uri="{FF2B5EF4-FFF2-40B4-BE49-F238E27FC236}">
                  <a16:creationId xmlns:a16="http://schemas.microsoft.com/office/drawing/2014/main" id="{90178067-BECF-80BB-8C5B-CE1E7904131B}"/>
                </a:ext>
              </a:extLst>
            </p:cNvPr>
            <p:cNvSpPr>
              <a:spLocks noChangeArrowheads="1"/>
            </p:cNvSpPr>
            <p:nvPr/>
          </p:nvSpPr>
          <p:spPr bwMode="auto">
            <a:xfrm>
              <a:off x="2832" y="3408"/>
              <a:ext cx="2832" cy="240"/>
            </a:xfrm>
            <a:prstGeom prst="rect">
              <a:avLst/>
            </a:prstGeom>
            <a:solidFill>
              <a:srgbClr val="E9E8F4"/>
            </a:solidFill>
            <a:ln w="9525">
              <a:solidFill>
                <a:schemeClr val="tx1"/>
              </a:solidFill>
              <a:miter lim="800000"/>
              <a:headEnd/>
              <a:tailEnd/>
            </a:ln>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024" name="Text Box 82">
              <a:extLst>
                <a:ext uri="{FF2B5EF4-FFF2-40B4-BE49-F238E27FC236}">
                  <a16:creationId xmlns:a16="http://schemas.microsoft.com/office/drawing/2014/main" id="{5AF54DE3-4328-FEE8-360F-3A8AABFAC798}"/>
                </a:ext>
              </a:extLst>
            </p:cNvPr>
            <p:cNvSpPr txBox="1">
              <a:spLocks noChangeArrowheads="1"/>
            </p:cNvSpPr>
            <p:nvPr/>
          </p:nvSpPr>
          <p:spPr bwMode="auto">
            <a:xfrm>
              <a:off x="2736" y="3192"/>
              <a:ext cx="3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b="1">
                  <a:latin typeface="Comic Sans MS" panose="030F0702030302020204" pitchFamily="66" charset="0"/>
                </a:rPr>
                <a:t>1100</a:t>
              </a:r>
            </a:p>
          </p:txBody>
        </p:sp>
        <p:sp>
          <p:nvSpPr>
            <p:cNvPr id="43025" name="Line 84">
              <a:extLst>
                <a:ext uri="{FF2B5EF4-FFF2-40B4-BE49-F238E27FC236}">
                  <a16:creationId xmlns:a16="http://schemas.microsoft.com/office/drawing/2014/main" id="{8BAC2680-150A-3032-9DB9-853C594F7460}"/>
                </a:ext>
              </a:extLst>
            </p:cNvPr>
            <p:cNvSpPr>
              <a:spLocks noChangeShapeType="1"/>
            </p:cNvSpPr>
            <p:nvPr/>
          </p:nvSpPr>
          <p:spPr bwMode="auto">
            <a:xfrm>
              <a:off x="2840" y="3320"/>
              <a:ext cx="0"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3022" name="Text Box 87">
            <a:extLst>
              <a:ext uri="{FF2B5EF4-FFF2-40B4-BE49-F238E27FC236}">
                <a16:creationId xmlns:a16="http://schemas.microsoft.com/office/drawing/2014/main" id="{1CB6D724-DC96-ADF8-5C3A-0C4670DC7CFF}"/>
              </a:ext>
            </a:extLst>
          </p:cNvPr>
          <p:cNvSpPr txBox="1">
            <a:spLocks noChangeArrowheads="1"/>
          </p:cNvSpPr>
          <p:nvPr/>
        </p:nvSpPr>
        <p:spPr bwMode="auto">
          <a:xfrm>
            <a:off x="1447800" y="563880"/>
            <a:ext cx="8610600" cy="701731"/>
          </a:xfrm>
          <a:prstGeom prst="rect">
            <a:avLst/>
          </a:prstGeom>
        </p:spPr>
        <p:txBody>
          <a:bodyPr vert="horz" lIns="91440" tIns="45720" rIns="91440" bIns="45720" rtlCol="0" anchor="ctr">
            <a:normAutofit/>
          </a:bodyPr>
          <a:lstStyle>
            <a:defPPr>
              <a:defRPr lang="en-US"/>
            </a:defPPr>
            <a:lvl1pPr>
              <a:lnSpc>
                <a:spcPct val="90000"/>
              </a:lnSpc>
              <a:spcBef>
                <a:spcPct val="0"/>
              </a:spcBef>
              <a:buNone/>
              <a:defRPr sz="4400" b="1">
                <a:solidFill>
                  <a:srgbClr val="0000A3"/>
                </a:solidFill>
                <a:latin typeface="+mj-lt"/>
                <a:ea typeface="+mj-ea"/>
                <a:cs typeface="+mj-cs"/>
              </a:defRPr>
            </a:lvl1pPr>
          </a:lstStyle>
          <a:p>
            <a:r>
              <a:rPr lang="en-US" altLang="en-US" dirty="0"/>
              <a:t>Another SACK Example (cont’d)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3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ox(out)">
                                      <p:cBhvr>
                                        <p:cTn id="13" dur="10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0" fill="hold"/>
                                        <p:tgtEl>
                                          <p:spTgt spid="3"/>
                                        </p:tgtEl>
                                        <p:attrNameLst>
                                          <p:attrName>ppt_x</p:attrName>
                                        </p:attrNameLst>
                                      </p:cBhvr>
                                      <p:tavLst>
                                        <p:tav tm="0">
                                          <p:val>
                                            <p:strVal val="0-#ppt_w/2"/>
                                          </p:val>
                                        </p:tav>
                                        <p:tav tm="100000">
                                          <p:val>
                                            <p:strVal val="#ppt_x"/>
                                          </p:val>
                                        </p:tav>
                                      </p:tavLst>
                                    </p:anim>
                                    <p:anim calcmode="lin" valueType="num">
                                      <p:cBhvr additive="base">
                                        <p:cTn id="19" dur="5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32"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ox(out)">
                                      <p:cBhvr>
                                        <p:cTn id="24" dur="10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1000" fill="hold"/>
                                        <p:tgtEl>
                                          <p:spTgt spid="8"/>
                                        </p:tgtEl>
                                        <p:attrNameLst>
                                          <p:attrName>ppt_x</p:attrName>
                                        </p:attrNameLst>
                                      </p:cBhvr>
                                      <p:tavLst>
                                        <p:tav tm="0">
                                          <p:val>
                                            <p:strVal val="1+#ppt_w/2"/>
                                          </p:val>
                                        </p:tav>
                                        <p:tav tm="100000">
                                          <p:val>
                                            <p:strVal val="#ppt_x"/>
                                          </p:val>
                                        </p:tav>
                                      </p:tavLst>
                                    </p:anim>
                                    <p:anim calcmode="lin" valueType="num">
                                      <p:cBhvr additive="base">
                                        <p:cTn id="30"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0" fill="hold"/>
                                        <p:tgtEl>
                                          <p:spTgt spid="13"/>
                                        </p:tgtEl>
                                        <p:attrNameLst>
                                          <p:attrName>ppt_x</p:attrName>
                                        </p:attrNameLst>
                                      </p:cBhvr>
                                      <p:tavLst>
                                        <p:tav tm="0">
                                          <p:val>
                                            <p:strVal val="0-#ppt_w/2"/>
                                          </p:val>
                                        </p:tav>
                                        <p:tav tm="100000">
                                          <p:val>
                                            <p:strVal val="#ppt_x"/>
                                          </p:val>
                                        </p:tav>
                                      </p:tavLst>
                                    </p:anim>
                                    <p:anim calcmode="lin" valueType="num">
                                      <p:cBhvr additive="base">
                                        <p:cTn id="36" dur="50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32"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ox(out)">
                                      <p:cBhvr>
                                        <p:cTn id="41" dur="1000"/>
                                        <p:tgtEl>
                                          <p:spTgt spid="1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1000" fill="hold"/>
                                        <p:tgtEl>
                                          <p:spTgt spid="14"/>
                                        </p:tgtEl>
                                        <p:attrNameLst>
                                          <p:attrName>ppt_x</p:attrName>
                                        </p:attrNameLst>
                                      </p:cBhvr>
                                      <p:tavLst>
                                        <p:tav tm="0">
                                          <p:val>
                                            <p:strVal val="1+#ppt_w/2"/>
                                          </p:val>
                                        </p:tav>
                                        <p:tav tm="100000">
                                          <p:val>
                                            <p:strVal val="#ppt_x"/>
                                          </p:val>
                                        </p:tav>
                                      </p:tavLst>
                                    </p:anim>
                                    <p:anim calcmode="lin" valueType="num">
                                      <p:cBhvr additive="base">
                                        <p:cTn id="47" dur="10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ox(out)">
                                      <p:cBhvr>
                                        <p:cTn id="5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lide Number Placeholder 2">
            <a:extLst>
              <a:ext uri="{FF2B5EF4-FFF2-40B4-BE49-F238E27FC236}">
                <a16:creationId xmlns:a16="http://schemas.microsoft.com/office/drawing/2014/main" id="{D6E3FFC5-C8CB-E34C-E6AB-C65D9B82C355}"/>
              </a:ext>
            </a:extLst>
          </p:cNvPr>
          <p:cNvSpPr>
            <a:spLocks noGrp="1"/>
          </p:cNvSpPr>
          <p:nvPr>
            <p:ph type="sldNum" sz="quarter" idx="12"/>
          </p:nvPr>
        </p:nvSpPr>
        <p:spPr>
          <a:xfrm>
            <a:off x="4713621" y="6432868"/>
            <a:ext cx="28956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E87BEBAD-13CD-4404-AA94-8C8884E10CD9}" type="slidenum">
              <a:rPr lang="en-US" altLang="en-US">
                <a:solidFill>
                  <a:srgbClr val="898989"/>
                </a:solidFill>
                <a:latin typeface="Calibri" panose="020F0502020204030204" pitchFamily="34" charset="0"/>
              </a:rPr>
              <a:pPr algn="ctr" eaLnBrk="1" hangingPunct="1"/>
              <a:t>81</a:t>
            </a:fld>
            <a:endParaRPr lang="en-US" altLang="en-US">
              <a:solidFill>
                <a:srgbClr val="898989"/>
              </a:solidFill>
              <a:latin typeface="Calibri" panose="020F0502020204030204" pitchFamily="34" charset="0"/>
            </a:endParaRPr>
          </a:p>
        </p:txBody>
      </p:sp>
      <p:sp>
        <p:nvSpPr>
          <p:cNvPr id="44035" name="Text Box 4">
            <a:extLst>
              <a:ext uri="{FF2B5EF4-FFF2-40B4-BE49-F238E27FC236}">
                <a16:creationId xmlns:a16="http://schemas.microsoft.com/office/drawing/2014/main" id="{EDDFCD7E-1503-875E-04D3-643D25E4E3C3}"/>
              </a:ext>
            </a:extLst>
          </p:cNvPr>
          <p:cNvSpPr txBox="1">
            <a:spLocks noChangeArrowheads="1"/>
          </p:cNvSpPr>
          <p:nvPr/>
        </p:nvSpPr>
        <p:spPr bwMode="auto">
          <a:xfrm>
            <a:off x="1427502" y="289182"/>
            <a:ext cx="8610600" cy="701731"/>
          </a:xfrm>
          <a:prstGeom prst="rect">
            <a:avLst/>
          </a:prstGeom>
        </p:spPr>
        <p:txBody>
          <a:bodyPr vert="horz" lIns="91440" tIns="45720" rIns="91440" bIns="45720" rtlCol="0" anchor="ctr">
            <a:normAutofit/>
          </a:bodyPr>
          <a:lstStyle>
            <a:defPPr>
              <a:defRPr lang="en-US"/>
            </a:defPPr>
            <a:lvl1pPr>
              <a:lnSpc>
                <a:spcPct val="90000"/>
              </a:lnSpc>
              <a:spcBef>
                <a:spcPct val="0"/>
              </a:spcBef>
              <a:buNone/>
              <a:defRPr sz="4400" b="1">
                <a:solidFill>
                  <a:srgbClr val="0000A3"/>
                </a:solidFill>
                <a:latin typeface="+mj-lt"/>
                <a:ea typeface="+mj-ea"/>
                <a:cs typeface="+mj-cs"/>
              </a:defRPr>
            </a:lvl1pPr>
          </a:lstStyle>
          <a:p>
            <a:r>
              <a:rPr lang="en-US" altLang="en-US" dirty="0"/>
              <a:t>Without SACK vs. With SACK</a:t>
            </a:r>
          </a:p>
        </p:txBody>
      </p:sp>
      <p:grpSp>
        <p:nvGrpSpPr>
          <p:cNvPr id="2" name="Group 89">
            <a:extLst>
              <a:ext uri="{FF2B5EF4-FFF2-40B4-BE49-F238E27FC236}">
                <a16:creationId xmlns:a16="http://schemas.microsoft.com/office/drawing/2014/main" id="{9B35CE81-31D4-175A-30C5-9CCD7B6FACC4}"/>
              </a:ext>
            </a:extLst>
          </p:cNvPr>
          <p:cNvGrpSpPr>
            <a:grpSpLocks/>
          </p:cNvGrpSpPr>
          <p:nvPr/>
        </p:nvGrpSpPr>
        <p:grpSpPr bwMode="auto">
          <a:xfrm>
            <a:off x="2286000" y="1766570"/>
            <a:ext cx="3048000" cy="4267200"/>
            <a:chOff x="480" y="1612"/>
            <a:chExt cx="1920" cy="2688"/>
          </a:xfrm>
        </p:grpSpPr>
        <p:sp>
          <p:nvSpPr>
            <p:cNvPr id="44075" name="Rectangle 6">
              <a:extLst>
                <a:ext uri="{FF2B5EF4-FFF2-40B4-BE49-F238E27FC236}">
                  <a16:creationId xmlns:a16="http://schemas.microsoft.com/office/drawing/2014/main" id="{D4441F18-A8B7-F249-E4D2-052D70049460}"/>
                </a:ext>
              </a:extLst>
            </p:cNvPr>
            <p:cNvSpPr>
              <a:spLocks noChangeArrowheads="1"/>
            </p:cNvSpPr>
            <p:nvPr/>
          </p:nvSpPr>
          <p:spPr bwMode="auto">
            <a:xfrm>
              <a:off x="480" y="1612"/>
              <a:ext cx="96" cy="2688"/>
            </a:xfrm>
            <a:prstGeom prst="rect">
              <a:avLst/>
            </a:prstGeom>
            <a:solidFill>
              <a:srgbClr val="0000FF"/>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1400" b="1">
                  <a:solidFill>
                    <a:srgbClr val="FFFFFF"/>
                  </a:solidFill>
                  <a:latin typeface="Comic Sans MS" panose="030F0702030302020204" pitchFamily="66" charset="0"/>
                </a:rPr>
                <a:t>sender</a:t>
              </a:r>
            </a:p>
          </p:txBody>
        </p:sp>
        <p:sp>
          <p:nvSpPr>
            <p:cNvPr id="44076" name="Rectangle 7">
              <a:extLst>
                <a:ext uri="{FF2B5EF4-FFF2-40B4-BE49-F238E27FC236}">
                  <a16:creationId xmlns:a16="http://schemas.microsoft.com/office/drawing/2014/main" id="{2F453210-F47C-1176-E50D-0933206848A5}"/>
                </a:ext>
              </a:extLst>
            </p:cNvPr>
            <p:cNvSpPr>
              <a:spLocks noChangeArrowheads="1"/>
            </p:cNvSpPr>
            <p:nvPr/>
          </p:nvSpPr>
          <p:spPr bwMode="auto">
            <a:xfrm>
              <a:off x="2304" y="1612"/>
              <a:ext cx="96" cy="2688"/>
            </a:xfrm>
            <a:prstGeom prst="rect">
              <a:avLst/>
            </a:prstGeom>
            <a:solidFill>
              <a:srgbClr val="0000FF"/>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1400" b="1">
                  <a:solidFill>
                    <a:srgbClr val="FFFFFF"/>
                  </a:solidFill>
                  <a:latin typeface="Comic Sans MS" panose="030F0702030302020204" pitchFamily="66" charset="0"/>
                </a:rPr>
                <a:t>receiver</a:t>
              </a:r>
            </a:p>
          </p:txBody>
        </p:sp>
        <p:grpSp>
          <p:nvGrpSpPr>
            <p:cNvPr id="44077" name="Group 8">
              <a:extLst>
                <a:ext uri="{FF2B5EF4-FFF2-40B4-BE49-F238E27FC236}">
                  <a16:creationId xmlns:a16="http://schemas.microsoft.com/office/drawing/2014/main" id="{853E345A-1AFD-C192-5A00-EB9FF74CE445}"/>
                </a:ext>
              </a:extLst>
            </p:cNvPr>
            <p:cNvGrpSpPr>
              <a:grpSpLocks/>
            </p:cNvGrpSpPr>
            <p:nvPr/>
          </p:nvGrpSpPr>
          <p:grpSpPr bwMode="auto">
            <a:xfrm>
              <a:off x="576" y="1640"/>
              <a:ext cx="1728" cy="261"/>
              <a:chOff x="515" y="944"/>
              <a:chExt cx="2582" cy="306"/>
            </a:xfrm>
          </p:grpSpPr>
          <p:sp>
            <p:nvSpPr>
              <p:cNvPr id="44109" name="Line 9">
                <a:extLst>
                  <a:ext uri="{FF2B5EF4-FFF2-40B4-BE49-F238E27FC236}">
                    <a16:creationId xmlns:a16="http://schemas.microsoft.com/office/drawing/2014/main" id="{CB4AA6C3-A6B0-617E-2D2A-E945932F2471}"/>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110" name="Text Box 10">
                <a:extLst>
                  <a:ext uri="{FF2B5EF4-FFF2-40B4-BE49-F238E27FC236}">
                    <a16:creationId xmlns:a16="http://schemas.microsoft.com/office/drawing/2014/main" id="{4817A5F9-1FB6-13F1-E53C-49E0462966FE}"/>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100-199</a:t>
                </a:r>
              </a:p>
            </p:txBody>
          </p:sp>
        </p:grpSp>
        <p:grpSp>
          <p:nvGrpSpPr>
            <p:cNvPr id="44078" name="Group 11">
              <a:extLst>
                <a:ext uri="{FF2B5EF4-FFF2-40B4-BE49-F238E27FC236}">
                  <a16:creationId xmlns:a16="http://schemas.microsoft.com/office/drawing/2014/main" id="{942E0163-8B04-471E-166E-52CDE1889419}"/>
                </a:ext>
              </a:extLst>
            </p:cNvPr>
            <p:cNvGrpSpPr>
              <a:grpSpLocks/>
            </p:cNvGrpSpPr>
            <p:nvPr/>
          </p:nvGrpSpPr>
          <p:grpSpPr bwMode="auto">
            <a:xfrm>
              <a:off x="576" y="1867"/>
              <a:ext cx="1728" cy="300"/>
              <a:chOff x="288" y="1215"/>
              <a:chExt cx="1728" cy="300"/>
            </a:xfrm>
          </p:grpSpPr>
          <p:sp>
            <p:nvSpPr>
              <p:cNvPr id="44107" name="Line 12">
                <a:extLst>
                  <a:ext uri="{FF2B5EF4-FFF2-40B4-BE49-F238E27FC236}">
                    <a16:creationId xmlns:a16="http://schemas.microsoft.com/office/drawing/2014/main" id="{58962486-797F-D78B-8983-3486141A4DEE}"/>
                  </a:ext>
                </a:extLst>
              </p:cNvPr>
              <p:cNvSpPr>
                <a:spLocks noChangeShapeType="1"/>
              </p:cNvSpPr>
              <p:nvPr/>
            </p:nvSpPr>
            <p:spPr bwMode="auto">
              <a:xfrm flipH="1">
                <a:off x="288" y="1275"/>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108" name="Text Box 13">
                <a:extLst>
                  <a:ext uri="{FF2B5EF4-FFF2-40B4-BE49-F238E27FC236}">
                    <a16:creationId xmlns:a16="http://schemas.microsoft.com/office/drawing/2014/main" id="{288DE7B9-459E-EBFB-25FC-342F795BFF32}"/>
                  </a:ext>
                </a:extLst>
              </p:cNvPr>
              <p:cNvSpPr txBox="1">
                <a:spLocks noChangeArrowheads="1"/>
              </p:cNvSpPr>
              <p:nvPr/>
            </p:nvSpPr>
            <p:spPr bwMode="auto">
              <a:xfrm rot="21360000">
                <a:off x="1305" y="1215"/>
                <a:ext cx="5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a:t>
                </a:r>
              </a:p>
            </p:txBody>
          </p:sp>
        </p:grpSp>
        <p:grpSp>
          <p:nvGrpSpPr>
            <p:cNvPr id="44079" name="Group 14">
              <a:extLst>
                <a:ext uri="{FF2B5EF4-FFF2-40B4-BE49-F238E27FC236}">
                  <a16:creationId xmlns:a16="http://schemas.microsoft.com/office/drawing/2014/main" id="{E883B420-CF16-352D-5196-ED0409CF84C7}"/>
                </a:ext>
              </a:extLst>
            </p:cNvPr>
            <p:cNvGrpSpPr>
              <a:grpSpLocks/>
            </p:cNvGrpSpPr>
            <p:nvPr/>
          </p:nvGrpSpPr>
          <p:grpSpPr bwMode="auto">
            <a:xfrm>
              <a:off x="576" y="1732"/>
              <a:ext cx="986" cy="216"/>
              <a:chOff x="383" y="2022"/>
              <a:chExt cx="986" cy="216"/>
            </a:xfrm>
          </p:grpSpPr>
          <p:sp>
            <p:nvSpPr>
              <p:cNvPr id="44105" name="Text Box 15">
                <a:extLst>
                  <a:ext uri="{FF2B5EF4-FFF2-40B4-BE49-F238E27FC236}">
                    <a16:creationId xmlns:a16="http://schemas.microsoft.com/office/drawing/2014/main" id="{B5E16485-C3BF-5F10-A8AB-2D85664E5C08}"/>
                  </a:ext>
                </a:extLst>
              </p:cNvPr>
              <p:cNvSpPr txBox="1">
                <a:spLocks noChangeArrowheads="1"/>
              </p:cNvSpPr>
              <p:nvPr/>
            </p:nvSpPr>
            <p:spPr bwMode="auto">
              <a:xfrm rot="464512">
                <a:off x="508" y="2022"/>
                <a:ext cx="4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200-299</a:t>
                </a:r>
              </a:p>
            </p:txBody>
          </p:sp>
          <p:sp>
            <p:nvSpPr>
              <p:cNvPr id="44106" name="Line 16">
                <a:extLst>
                  <a:ext uri="{FF2B5EF4-FFF2-40B4-BE49-F238E27FC236}">
                    <a16:creationId xmlns:a16="http://schemas.microsoft.com/office/drawing/2014/main" id="{DE662C83-F70E-00CD-998F-11E6B094559F}"/>
                  </a:ext>
                </a:extLst>
              </p:cNvPr>
              <p:cNvSpPr>
                <a:spLocks noChangeShapeType="1"/>
              </p:cNvSpPr>
              <p:nvPr/>
            </p:nvSpPr>
            <p:spPr bwMode="auto">
              <a:xfrm rot="321688">
                <a:off x="383" y="2190"/>
                <a:ext cx="986" cy="48"/>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44080" name="Group 17">
              <a:extLst>
                <a:ext uri="{FF2B5EF4-FFF2-40B4-BE49-F238E27FC236}">
                  <a16:creationId xmlns:a16="http://schemas.microsoft.com/office/drawing/2014/main" id="{760B267F-5155-3250-FB22-5311C9B12631}"/>
                </a:ext>
              </a:extLst>
            </p:cNvPr>
            <p:cNvGrpSpPr>
              <a:grpSpLocks/>
            </p:cNvGrpSpPr>
            <p:nvPr/>
          </p:nvGrpSpPr>
          <p:grpSpPr bwMode="auto">
            <a:xfrm>
              <a:off x="576" y="2072"/>
              <a:ext cx="1728" cy="261"/>
              <a:chOff x="515" y="944"/>
              <a:chExt cx="2582" cy="306"/>
            </a:xfrm>
          </p:grpSpPr>
          <p:sp>
            <p:nvSpPr>
              <p:cNvPr id="44103" name="Line 18">
                <a:extLst>
                  <a:ext uri="{FF2B5EF4-FFF2-40B4-BE49-F238E27FC236}">
                    <a16:creationId xmlns:a16="http://schemas.microsoft.com/office/drawing/2014/main" id="{403485F7-EA78-647A-585F-292BC091A9E7}"/>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104" name="Text Box 19">
                <a:extLst>
                  <a:ext uri="{FF2B5EF4-FFF2-40B4-BE49-F238E27FC236}">
                    <a16:creationId xmlns:a16="http://schemas.microsoft.com/office/drawing/2014/main" id="{788C7554-B3CE-BA32-95AE-814874C8CBE9}"/>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300-399</a:t>
                </a:r>
              </a:p>
            </p:txBody>
          </p:sp>
        </p:grpSp>
        <p:grpSp>
          <p:nvGrpSpPr>
            <p:cNvPr id="44081" name="Group 20">
              <a:extLst>
                <a:ext uri="{FF2B5EF4-FFF2-40B4-BE49-F238E27FC236}">
                  <a16:creationId xmlns:a16="http://schemas.microsoft.com/office/drawing/2014/main" id="{67E57216-C237-29A1-4B11-045D1FF80289}"/>
                </a:ext>
              </a:extLst>
            </p:cNvPr>
            <p:cNvGrpSpPr>
              <a:grpSpLocks/>
            </p:cNvGrpSpPr>
            <p:nvPr/>
          </p:nvGrpSpPr>
          <p:grpSpPr bwMode="auto">
            <a:xfrm>
              <a:off x="576" y="2312"/>
              <a:ext cx="1728" cy="261"/>
              <a:chOff x="515" y="944"/>
              <a:chExt cx="2582" cy="306"/>
            </a:xfrm>
          </p:grpSpPr>
          <p:sp>
            <p:nvSpPr>
              <p:cNvPr id="44101" name="Line 21">
                <a:extLst>
                  <a:ext uri="{FF2B5EF4-FFF2-40B4-BE49-F238E27FC236}">
                    <a16:creationId xmlns:a16="http://schemas.microsoft.com/office/drawing/2014/main" id="{44B0336C-2C12-7DF8-A3C8-0BF1434CC18B}"/>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102" name="Text Box 22">
                <a:extLst>
                  <a:ext uri="{FF2B5EF4-FFF2-40B4-BE49-F238E27FC236}">
                    <a16:creationId xmlns:a16="http://schemas.microsoft.com/office/drawing/2014/main" id="{21EA2739-F7D6-062C-A9C7-386AA1525C16}"/>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400-499</a:t>
                </a:r>
              </a:p>
            </p:txBody>
          </p:sp>
        </p:grpSp>
        <p:grpSp>
          <p:nvGrpSpPr>
            <p:cNvPr id="44082" name="Group 23">
              <a:extLst>
                <a:ext uri="{FF2B5EF4-FFF2-40B4-BE49-F238E27FC236}">
                  <a16:creationId xmlns:a16="http://schemas.microsoft.com/office/drawing/2014/main" id="{FD90FFE3-8BE5-3EFA-C483-A190CA72444A}"/>
                </a:ext>
              </a:extLst>
            </p:cNvPr>
            <p:cNvGrpSpPr>
              <a:grpSpLocks/>
            </p:cNvGrpSpPr>
            <p:nvPr/>
          </p:nvGrpSpPr>
          <p:grpSpPr bwMode="auto">
            <a:xfrm>
              <a:off x="576" y="2552"/>
              <a:ext cx="1728" cy="261"/>
              <a:chOff x="515" y="944"/>
              <a:chExt cx="2582" cy="306"/>
            </a:xfrm>
          </p:grpSpPr>
          <p:sp>
            <p:nvSpPr>
              <p:cNvPr id="44099" name="Line 24">
                <a:extLst>
                  <a:ext uri="{FF2B5EF4-FFF2-40B4-BE49-F238E27FC236}">
                    <a16:creationId xmlns:a16="http://schemas.microsoft.com/office/drawing/2014/main" id="{CFF453D7-F88F-D017-36DD-F2FF574A63C7}"/>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100" name="Text Box 25">
                <a:extLst>
                  <a:ext uri="{FF2B5EF4-FFF2-40B4-BE49-F238E27FC236}">
                    <a16:creationId xmlns:a16="http://schemas.microsoft.com/office/drawing/2014/main" id="{F5B50DDC-2103-556B-E6FC-EC5039E321A0}"/>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500-599</a:t>
                </a:r>
              </a:p>
            </p:txBody>
          </p:sp>
        </p:grpSp>
        <p:grpSp>
          <p:nvGrpSpPr>
            <p:cNvPr id="44083" name="Group 26">
              <a:extLst>
                <a:ext uri="{FF2B5EF4-FFF2-40B4-BE49-F238E27FC236}">
                  <a16:creationId xmlns:a16="http://schemas.microsoft.com/office/drawing/2014/main" id="{22473DEA-22AC-CE4B-A7A4-0CD3A8EACF63}"/>
                </a:ext>
              </a:extLst>
            </p:cNvPr>
            <p:cNvGrpSpPr>
              <a:grpSpLocks/>
            </p:cNvGrpSpPr>
            <p:nvPr/>
          </p:nvGrpSpPr>
          <p:grpSpPr bwMode="auto">
            <a:xfrm>
              <a:off x="576" y="2331"/>
              <a:ext cx="1728" cy="300"/>
              <a:chOff x="288" y="1215"/>
              <a:chExt cx="1728" cy="300"/>
            </a:xfrm>
          </p:grpSpPr>
          <p:sp>
            <p:nvSpPr>
              <p:cNvPr id="44097" name="Line 27">
                <a:extLst>
                  <a:ext uri="{FF2B5EF4-FFF2-40B4-BE49-F238E27FC236}">
                    <a16:creationId xmlns:a16="http://schemas.microsoft.com/office/drawing/2014/main" id="{E0EAD98D-BB32-CBD8-7A27-41AB280C142F}"/>
                  </a:ext>
                </a:extLst>
              </p:cNvPr>
              <p:cNvSpPr>
                <a:spLocks noChangeShapeType="1"/>
              </p:cNvSpPr>
              <p:nvPr/>
            </p:nvSpPr>
            <p:spPr bwMode="auto">
              <a:xfrm flipH="1">
                <a:off x="288" y="1275"/>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98" name="Text Box 28">
                <a:extLst>
                  <a:ext uri="{FF2B5EF4-FFF2-40B4-BE49-F238E27FC236}">
                    <a16:creationId xmlns:a16="http://schemas.microsoft.com/office/drawing/2014/main" id="{EAB4CFCC-03C2-398C-1E34-63F2CF6C5DFE}"/>
                  </a:ext>
                </a:extLst>
              </p:cNvPr>
              <p:cNvSpPr txBox="1">
                <a:spLocks noChangeArrowheads="1"/>
              </p:cNvSpPr>
              <p:nvPr/>
            </p:nvSpPr>
            <p:spPr bwMode="auto">
              <a:xfrm rot="21360000">
                <a:off x="1305" y="1215"/>
                <a:ext cx="5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a:t>
                </a:r>
              </a:p>
            </p:txBody>
          </p:sp>
        </p:grpSp>
        <p:grpSp>
          <p:nvGrpSpPr>
            <p:cNvPr id="44084" name="Group 29">
              <a:extLst>
                <a:ext uri="{FF2B5EF4-FFF2-40B4-BE49-F238E27FC236}">
                  <a16:creationId xmlns:a16="http://schemas.microsoft.com/office/drawing/2014/main" id="{B3348E97-4E85-431E-F0BF-30B46E6B199E}"/>
                </a:ext>
              </a:extLst>
            </p:cNvPr>
            <p:cNvGrpSpPr>
              <a:grpSpLocks/>
            </p:cNvGrpSpPr>
            <p:nvPr/>
          </p:nvGrpSpPr>
          <p:grpSpPr bwMode="auto">
            <a:xfrm>
              <a:off x="576" y="2571"/>
              <a:ext cx="1728" cy="300"/>
              <a:chOff x="288" y="1215"/>
              <a:chExt cx="1728" cy="300"/>
            </a:xfrm>
          </p:grpSpPr>
          <p:sp>
            <p:nvSpPr>
              <p:cNvPr id="44095" name="Line 30">
                <a:extLst>
                  <a:ext uri="{FF2B5EF4-FFF2-40B4-BE49-F238E27FC236}">
                    <a16:creationId xmlns:a16="http://schemas.microsoft.com/office/drawing/2014/main" id="{7DBC22ED-D7F3-589E-A227-AB7C45F0BC30}"/>
                  </a:ext>
                </a:extLst>
              </p:cNvPr>
              <p:cNvSpPr>
                <a:spLocks noChangeShapeType="1"/>
              </p:cNvSpPr>
              <p:nvPr/>
            </p:nvSpPr>
            <p:spPr bwMode="auto">
              <a:xfrm flipH="1">
                <a:off x="288" y="1275"/>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96" name="Text Box 31">
                <a:extLst>
                  <a:ext uri="{FF2B5EF4-FFF2-40B4-BE49-F238E27FC236}">
                    <a16:creationId xmlns:a16="http://schemas.microsoft.com/office/drawing/2014/main" id="{167FE4D8-9612-39B2-DD2D-FDC37B9C9A83}"/>
                  </a:ext>
                </a:extLst>
              </p:cNvPr>
              <p:cNvSpPr txBox="1">
                <a:spLocks noChangeArrowheads="1"/>
              </p:cNvSpPr>
              <p:nvPr/>
            </p:nvSpPr>
            <p:spPr bwMode="auto">
              <a:xfrm rot="21360000">
                <a:off x="1305" y="1215"/>
                <a:ext cx="5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a:t>
                </a:r>
              </a:p>
            </p:txBody>
          </p:sp>
        </p:grpSp>
        <p:grpSp>
          <p:nvGrpSpPr>
            <p:cNvPr id="44085" name="Group 32">
              <a:extLst>
                <a:ext uri="{FF2B5EF4-FFF2-40B4-BE49-F238E27FC236}">
                  <a16:creationId xmlns:a16="http://schemas.microsoft.com/office/drawing/2014/main" id="{E40E0E17-AFA9-6ED5-8CA8-4620F358F1DA}"/>
                </a:ext>
              </a:extLst>
            </p:cNvPr>
            <p:cNvGrpSpPr>
              <a:grpSpLocks/>
            </p:cNvGrpSpPr>
            <p:nvPr/>
          </p:nvGrpSpPr>
          <p:grpSpPr bwMode="auto">
            <a:xfrm>
              <a:off x="576" y="2811"/>
              <a:ext cx="1728" cy="300"/>
              <a:chOff x="288" y="1215"/>
              <a:chExt cx="1728" cy="300"/>
            </a:xfrm>
          </p:grpSpPr>
          <p:sp>
            <p:nvSpPr>
              <p:cNvPr id="44093" name="Line 33">
                <a:extLst>
                  <a:ext uri="{FF2B5EF4-FFF2-40B4-BE49-F238E27FC236}">
                    <a16:creationId xmlns:a16="http://schemas.microsoft.com/office/drawing/2014/main" id="{33023F91-674B-3FE6-A64F-B22A70738FEA}"/>
                  </a:ext>
                </a:extLst>
              </p:cNvPr>
              <p:cNvSpPr>
                <a:spLocks noChangeShapeType="1"/>
              </p:cNvSpPr>
              <p:nvPr/>
            </p:nvSpPr>
            <p:spPr bwMode="auto">
              <a:xfrm flipH="1">
                <a:off x="288" y="1275"/>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94" name="Text Box 34">
                <a:extLst>
                  <a:ext uri="{FF2B5EF4-FFF2-40B4-BE49-F238E27FC236}">
                    <a16:creationId xmlns:a16="http://schemas.microsoft.com/office/drawing/2014/main" id="{1145D32B-89B3-BF48-D481-2596D6FCD52D}"/>
                  </a:ext>
                </a:extLst>
              </p:cNvPr>
              <p:cNvSpPr txBox="1">
                <a:spLocks noChangeArrowheads="1"/>
              </p:cNvSpPr>
              <p:nvPr/>
            </p:nvSpPr>
            <p:spPr bwMode="auto">
              <a:xfrm rot="21360000">
                <a:off x="1305" y="1215"/>
                <a:ext cx="5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a:t>
                </a:r>
              </a:p>
            </p:txBody>
          </p:sp>
        </p:grpSp>
        <p:sp>
          <p:nvSpPr>
            <p:cNvPr id="44086" name="Text Box 35">
              <a:extLst>
                <a:ext uri="{FF2B5EF4-FFF2-40B4-BE49-F238E27FC236}">
                  <a16:creationId xmlns:a16="http://schemas.microsoft.com/office/drawing/2014/main" id="{EC251518-9509-E789-B7CA-063D11D22019}"/>
                </a:ext>
              </a:extLst>
            </p:cNvPr>
            <p:cNvSpPr txBox="1">
              <a:spLocks noChangeArrowheads="1"/>
            </p:cNvSpPr>
            <p:nvPr/>
          </p:nvSpPr>
          <p:spPr bwMode="auto">
            <a:xfrm>
              <a:off x="528" y="3100"/>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b="1"/>
                <a:t>fast retransmit</a:t>
              </a:r>
            </a:p>
          </p:txBody>
        </p:sp>
        <p:grpSp>
          <p:nvGrpSpPr>
            <p:cNvPr id="44087" name="Group 36">
              <a:extLst>
                <a:ext uri="{FF2B5EF4-FFF2-40B4-BE49-F238E27FC236}">
                  <a16:creationId xmlns:a16="http://schemas.microsoft.com/office/drawing/2014/main" id="{6E12B0C3-72FF-0D48-5D25-C69090C2524B}"/>
                </a:ext>
              </a:extLst>
            </p:cNvPr>
            <p:cNvGrpSpPr>
              <a:grpSpLocks/>
            </p:cNvGrpSpPr>
            <p:nvPr/>
          </p:nvGrpSpPr>
          <p:grpSpPr bwMode="auto">
            <a:xfrm>
              <a:off x="576" y="3292"/>
              <a:ext cx="1728" cy="261"/>
              <a:chOff x="515" y="944"/>
              <a:chExt cx="2582" cy="306"/>
            </a:xfrm>
          </p:grpSpPr>
          <p:sp>
            <p:nvSpPr>
              <p:cNvPr id="44091" name="Line 37">
                <a:extLst>
                  <a:ext uri="{FF2B5EF4-FFF2-40B4-BE49-F238E27FC236}">
                    <a16:creationId xmlns:a16="http://schemas.microsoft.com/office/drawing/2014/main" id="{DE629E7F-E27E-6EBA-84CB-98C2BC3A760D}"/>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92" name="Text Box 38">
                <a:extLst>
                  <a:ext uri="{FF2B5EF4-FFF2-40B4-BE49-F238E27FC236}">
                    <a16:creationId xmlns:a16="http://schemas.microsoft.com/office/drawing/2014/main" id="{2F9C284E-BA7E-9EAA-3C7E-D83298EB4A92}"/>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200-599</a:t>
                </a:r>
              </a:p>
            </p:txBody>
          </p:sp>
        </p:grpSp>
        <p:grpSp>
          <p:nvGrpSpPr>
            <p:cNvPr id="44088" name="Group 48">
              <a:extLst>
                <a:ext uri="{FF2B5EF4-FFF2-40B4-BE49-F238E27FC236}">
                  <a16:creationId xmlns:a16="http://schemas.microsoft.com/office/drawing/2014/main" id="{B10874CE-1D98-CFB7-F0A6-2E85DF0D4172}"/>
                </a:ext>
              </a:extLst>
            </p:cNvPr>
            <p:cNvGrpSpPr>
              <a:grpSpLocks/>
            </p:cNvGrpSpPr>
            <p:nvPr/>
          </p:nvGrpSpPr>
          <p:grpSpPr bwMode="auto">
            <a:xfrm rot="183173">
              <a:off x="576" y="3551"/>
              <a:ext cx="1728" cy="301"/>
              <a:chOff x="288" y="1214"/>
              <a:chExt cx="1728" cy="301"/>
            </a:xfrm>
          </p:grpSpPr>
          <p:sp>
            <p:nvSpPr>
              <p:cNvPr id="44089" name="Line 49">
                <a:extLst>
                  <a:ext uri="{FF2B5EF4-FFF2-40B4-BE49-F238E27FC236}">
                    <a16:creationId xmlns:a16="http://schemas.microsoft.com/office/drawing/2014/main" id="{B078CED2-7702-8613-1209-BA963DF0B8AB}"/>
                  </a:ext>
                </a:extLst>
              </p:cNvPr>
              <p:cNvSpPr>
                <a:spLocks noChangeShapeType="1"/>
              </p:cNvSpPr>
              <p:nvPr/>
            </p:nvSpPr>
            <p:spPr bwMode="auto">
              <a:xfrm flipH="1">
                <a:off x="288" y="1275"/>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90" name="Text Box 50">
                <a:extLst>
                  <a:ext uri="{FF2B5EF4-FFF2-40B4-BE49-F238E27FC236}">
                    <a16:creationId xmlns:a16="http://schemas.microsoft.com/office/drawing/2014/main" id="{B4068E42-105D-7E67-DCEF-EE8304C54E5A}"/>
                  </a:ext>
                </a:extLst>
              </p:cNvPr>
              <p:cNvSpPr txBox="1">
                <a:spLocks noChangeArrowheads="1"/>
              </p:cNvSpPr>
              <p:nvPr/>
            </p:nvSpPr>
            <p:spPr bwMode="auto">
              <a:xfrm rot="21360000">
                <a:off x="1304" y="1214"/>
                <a:ext cx="5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600</a:t>
                </a:r>
              </a:p>
            </p:txBody>
          </p:sp>
        </p:grpSp>
      </p:grpSp>
      <p:grpSp>
        <p:nvGrpSpPr>
          <p:cNvPr id="14" name="Group 51">
            <a:extLst>
              <a:ext uri="{FF2B5EF4-FFF2-40B4-BE49-F238E27FC236}">
                <a16:creationId xmlns:a16="http://schemas.microsoft.com/office/drawing/2014/main" id="{A8AFE2A7-D668-1B90-08D9-58B63C8FC795}"/>
              </a:ext>
            </a:extLst>
          </p:cNvPr>
          <p:cNvGrpSpPr>
            <a:grpSpLocks/>
          </p:cNvGrpSpPr>
          <p:nvPr/>
        </p:nvGrpSpPr>
        <p:grpSpPr bwMode="auto">
          <a:xfrm>
            <a:off x="7467600" y="1707833"/>
            <a:ext cx="3048000" cy="4267200"/>
            <a:chOff x="3456" y="1008"/>
            <a:chExt cx="1920" cy="2688"/>
          </a:xfrm>
        </p:grpSpPr>
        <p:sp>
          <p:nvSpPr>
            <p:cNvPr id="44040" name="Rectangle 52">
              <a:extLst>
                <a:ext uri="{FF2B5EF4-FFF2-40B4-BE49-F238E27FC236}">
                  <a16:creationId xmlns:a16="http://schemas.microsoft.com/office/drawing/2014/main" id="{881BAB42-9E9F-9B77-C573-036A52517F5D}"/>
                </a:ext>
              </a:extLst>
            </p:cNvPr>
            <p:cNvSpPr>
              <a:spLocks noChangeArrowheads="1"/>
            </p:cNvSpPr>
            <p:nvPr/>
          </p:nvSpPr>
          <p:spPr bwMode="auto">
            <a:xfrm>
              <a:off x="3456" y="1008"/>
              <a:ext cx="96" cy="2688"/>
            </a:xfrm>
            <a:prstGeom prst="rect">
              <a:avLst/>
            </a:prstGeom>
            <a:solidFill>
              <a:srgbClr val="0000FF"/>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1400" b="1">
                  <a:solidFill>
                    <a:srgbClr val="FFFFFF"/>
                  </a:solidFill>
                  <a:latin typeface="Comic Sans MS" panose="030F0702030302020204" pitchFamily="66" charset="0"/>
                </a:rPr>
                <a:t>sender</a:t>
              </a:r>
            </a:p>
          </p:txBody>
        </p:sp>
        <p:sp>
          <p:nvSpPr>
            <p:cNvPr id="44041" name="Rectangle 53">
              <a:extLst>
                <a:ext uri="{FF2B5EF4-FFF2-40B4-BE49-F238E27FC236}">
                  <a16:creationId xmlns:a16="http://schemas.microsoft.com/office/drawing/2014/main" id="{3C111EE9-28E1-F8FF-9C73-3D7D81E2E08F}"/>
                </a:ext>
              </a:extLst>
            </p:cNvPr>
            <p:cNvSpPr>
              <a:spLocks noChangeArrowheads="1"/>
            </p:cNvSpPr>
            <p:nvPr/>
          </p:nvSpPr>
          <p:spPr bwMode="auto">
            <a:xfrm>
              <a:off x="5280" y="1008"/>
              <a:ext cx="96" cy="2688"/>
            </a:xfrm>
            <a:prstGeom prst="rect">
              <a:avLst/>
            </a:prstGeom>
            <a:solidFill>
              <a:srgbClr val="0000FF"/>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pPr>
              <a:r>
                <a:rPr lang="en-US" altLang="en-US" sz="1400" b="1">
                  <a:solidFill>
                    <a:srgbClr val="FFFFFF"/>
                  </a:solidFill>
                  <a:latin typeface="Comic Sans MS" panose="030F0702030302020204" pitchFamily="66" charset="0"/>
                </a:rPr>
                <a:t>receiver</a:t>
              </a:r>
            </a:p>
          </p:txBody>
        </p:sp>
        <p:grpSp>
          <p:nvGrpSpPr>
            <p:cNvPr id="44042" name="Group 54">
              <a:extLst>
                <a:ext uri="{FF2B5EF4-FFF2-40B4-BE49-F238E27FC236}">
                  <a16:creationId xmlns:a16="http://schemas.microsoft.com/office/drawing/2014/main" id="{08132F48-5B03-D21C-4E5D-2D2681843F01}"/>
                </a:ext>
              </a:extLst>
            </p:cNvPr>
            <p:cNvGrpSpPr>
              <a:grpSpLocks/>
            </p:cNvGrpSpPr>
            <p:nvPr/>
          </p:nvGrpSpPr>
          <p:grpSpPr bwMode="auto">
            <a:xfrm>
              <a:off x="3552" y="1036"/>
              <a:ext cx="1728" cy="261"/>
              <a:chOff x="515" y="944"/>
              <a:chExt cx="2582" cy="306"/>
            </a:xfrm>
          </p:grpSpPr>
          <p:sp>
            <p:nvSpPr>
              <p:cNvPr id="44073" name="Line 55">
                <a:extLst>
                  <a:ext uri="{FF2B5EF4-FFF2-40B4-BE49-F238E27FC236}">
                    <a16:creationId xmlns:a16="http://schemas.microsoft.com/office/drawing/2014/main" id="{8941A3BB-4E9B-C500-E307-BC0A1072B395}"/>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74" name="Text Box 56">
                <a:extLst>
                  <a:ext uri="{FF2B5EF4-FFF2-40B4-BE49-F238E27FC236}">
                    <a16:creationId xmlns:a16="http://schemas.microsoft.com/office/drawing/2014/main" id="{87B7BD9E-37CB-2F6D-0F29-A3596189DBE1}"/>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100-199</a:t>
                </a:r>
              </a:p>
            </p:txBody>
          </p:sp>
        </p:grpSp>
        <p:grpSp>
          <p:nvGrpSpPr>
            <p:cNvPr id="44043" name="Group 57">
              <a:extLst>
                <a:ext uri="{FF2B5EF4-FFF2-40B4-BE49-F238E27FC236}">
                  <a16:creationId xmlns:a16="http://schemas.microsoft.com/office/drawing/2014/main" id="{2B93B0CE-F3D7-0D12-790C-C4AF161D1055}"/>
                </a:ext>
              </a:extLst>
            </p:cNvPr>
            <p:cNvGrpSpPr>
              <a:grpSpLocks/>
            </p:cNvGrpSpPr>
            <p:nvPr/>
          </p:nvGrpSpPr>
          <p:grpSpPr bwMode="auto">
            <a:xfrm>
              <a:off x="3552" y="1263"/>
              <a:ext cx="1728" cy="300"/>
              <a:chOff x="3552" y="1263"/>
              <a:chExt cx="1728" cy="300"/>
            </a:xfrm>
          </p:grpSpPr>
          <p:sp>
            <p:nvSpPr>
              <p:cNvPr id="44071" name="Line 58">
                <a:extLst>
                  <a:ext uri="{FF2B5EF4-FFF2-40B4-BE49-F238E27FC236}">
                    <a16:creationId xmlns:a16="http://schemas.microsoft.com/office/drawing/2014/main" id="{E18FBE5B-249F-7E2E-0056-19BC820DF8B2}"/>
                  </a:ext>
                </a:extLst>
              </p:cNvPr>
              <p:cNvSpPr>
                <a:spLocks noChangeShapeType="1"/>
              </p:cNvSpPr>
              <p:nvPr/>
            </p:nvSpPr>
            <p:spPr bwMode="auto">
              <a:xfrm flipH="1">
                <a:off x="3552" y="1323"/>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72" name="Text Box 59">
                <a:extLst>
                  <a:ext uri="{FF2B5EF4-FFF2-40B4-BE49-F238E27FC236}">
                    <a16:creationId xmlns:a16="http://schemas.microsoft.com/office/drawing/2014/main" id="{CF5150E3-D734-F64F-4299-A643B0BB0E3A}"/>
                  </a:ext>
                </a:extLst>
              </p:cNvPr>
              <p:cNvSpPr txBox="1">
                <a:spLocks noChangeArrowheads="1"/>
              </p:cNvSpPr>
              <p:nvPr/>
            </p:nvSpPr>
            <p:spPr bwMode="auto">
              <a:xfrm rot="21360000">
                <a:off x="4569" y="1263"/>
                <a:ext cx="5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a:t>
                </a:r>
              </a:p>
            </p:txBody>
          </p:sp>
        </p:grpSp>
        <p:grpSp>
          <p:nvGrpSpPr>
            <p:cNvPr id="44044" name="Group 60">
              <a:extLst>
                <a:ext uri="{FF2B5EF4-FFF2-40B4-BE49-F238E27FC236}">
                  <a16:creationId xmlns:a16="http://schemas.microsoft.com/office/drawing/2014/main" id="{3F86F195-FD89-144D-275E-E9694A111093}"/>
                </a:ext>
              </a:extLst>
            </p:cNvPr>
            <p:cNvGrpSpPr>
              <a:grpSpLocks/>
            </p:cNvGrpSpPr>
            <p:nvPr/>
          </p:nvGrpSpPr>
          <p:grpSpPr bwMode="auto">
            <a:xfrm>
              <a:off x="3552" y="1128"/>
              <a:ext cx="986" cy="216"/>
              <a:chOff x="383" y="2022"/>
              <a:chExt cx="986" cy="216"/>
            </a:xfrm>
          </p:grpSpPr>
          <p:sp>
            <p:nvSpPr>
              <p:cNvPr id="44069" name="Text Box 61">
                <a:extLst>
                  <a:ext uri="{FF2B5EF4-FFF2-40B4-BE49-F238E27FC236}">
                    <a16:creationId xmlns:a16="http://schemas.microsoft.com/office/drawing/2014/main" id="{0C52885B-2CA1-1E64-FE4D-C031617F7B35}"/>
                  </a:ext>
                </a:extLst>
              </p:cNvPr>
              <p:cNvSpPr txBox="1">
                <a:spLocks noChangeArrowheads="1"/>
              </p:cNvSpPr>
              <p:nvPr/>
            </p:nvSpPr>
            <p:spPr bwMode="auto">
              <a:xfrm rot="464512">
                <a:off x="508" y="2022"/>
                <a:ext cx="4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200-299</a:t>
                </a:r>
              </a:p>
            </p:txBody>
          </p:sp>
          <p:sp>
            <p:nvSpPr>
              <p:cNvPr id="44070" name="Line 62">
                <a:extLst>
                  <a:ext uri="{FF2B5EF4-FFF2-40B4-BE49-F238E27FC236}">
                    <a16:creationId xmlns:a16="http://schemas.microsoft.com/office/drawing/2014/main" id="{25951561-4D88-03C6-2380-F3AC4B2D74E5}"/>
                  </a:ext>
                </a:extLst>
              </p:cNvPr>
              <p:cNvSpPr>
                <a:spLocks noChangeShapeType="1"/>
              </p:cNvSpPr>
              <p:nvPr/>
            </p:nvSpPr>
            <p:spPr bwMode="auto">
              <a:xfrm rot="321688">
                <a:off x="383" y="2190"/>
                <a:ext cx="986" cy="48"/>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44045" name="Group 63">
              <a:extLst>
                <a:ext uri="{FF2B5EF4-FFF2-40B4-BE49-F238E27FC236}">
                  <a16:creationId xmlns:a16="http://schemas.microsoft.com/office/drawing/2014/main" id="{9791E436-D6B4-77C1-3E95-9517C0D38DB2}"/>
                </a:ext>
              </a:extLst>
            </p:cNvPr>
            <p:cNvGrpSpPr>
              <a:grpSpLocks/>
            </p:cNvGrpSpPr>
            <p:nvPr/>
          </p:nvGrpSpPr>
          <p:grpSpPr bwMode="auto">
            <a:xfrm>
              <a:off x="3552" y="1468"/>
              <a:ext cx="1728" cy="261"/>
              <a:chOff x="515" y="944"/>
              <a:chExt cx="2582" cy="306"/>
            </a:xfrm>
          </p:grpSpPr>
          <p:sp>
            <p:nvSpPr>
              <p:cNvPr id="44067" name="Line 64">
                <a:extLst>
                  <a:ext uri="{FF2B5EF4-FFF2-40B4-BE49-F238E27FC236}">
                    <a16:creationId xmlns:a16="http://schemas.microsoft.com/office/drawing/2014/main" id="{8741376B-2A75-FDCE-8386-51D25E4B9AC8}"/>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68" name="Text Box 65">
                <a:extLst>
                  <a:ext uri="{FF2B5EF4-FFF2-40B4-BE49-F238E27FC236}">
                    <a16:creationId xmlns:a16="http://schemas.microsoft.com/office/drawing/2014/main" id="{9B90C93A-3D4F-0A56-10A1-88621A106C2D}"/>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300-399</a:t>
                </a:r>
              </a:p>
            </p:txBody>
          </p:sp>
        </p:grpSp>
        <p:grpSp>
          <p:nvGrpSpPr>
            <p:cNvPr id="44046" name="Group 66">
              <a:extLst>
                <a:ext uri="{FF2B5EF4-FFF2-40B4-BE49-F238E27FC236}">
                  <a16:creationId xmlns:a16="http://schemas.microsoft.com/office/drawing/2014/main" id="{E13111F8-5A26-E018-6DA5-0704F8CC18FF}"/>
                </a:ext>
              </a:extLst>
            </p:cNvPr>
            <p:cNvGrpSpPr>
              <a:grpSpLocks/>
            </p:cNvGrpSpPr>
            <p:nvPr/>
          </p:nvGrpSpPr>
          <p:grpSpPr bwMode="auto">
            <a:xfrm>
              <a:off x="3552" y="1650"/>
              <a:ext cx="1728" cy="318"/>
              <a:chOff x="3552" y="1650"/>
              <a:chExt cx="1728" cy="318"/>
            </a:xfrm>
          </p:grpSpPr>
          <p:sp>
            <p:nvSpPr>
              <p:cNvPr id="44065" name="Line 67">
                <a:extLst>
                  <a:ext uri="{FF2B5EF4-FFF2-40B4-BE49-F238E27FC236}">
                    <a16:creationId xmlns:a16="http://schemas.microsoft.com/office/drawing/2014/main" id="{01E5CA52-F17A-4005-F773-2DA7BE24DD78}"/>
                  </a:ext>
                </a:extLst>
              </p:cNvPr>
              <p:cNvSpPr>
                <a:spLocks noChangeShapeType="1"/>
              </p:cNvSpPr>
              <p:nvPr/>
            </p:nvSpPr>
            <p:spPr bwMode="auto">
              <a:xfrm>
                <a:off x="3552" y="1722"/>
                <a:ext cx="1728" cy="24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66" name="Text Box 68">
                <a:extLst>
                  <a:ext uri="{FF2B5EF4-FFF2-40B4-BE49-F238E27FC236}">
                    <a16:creationId xmlns:a16="http://schemas.microsoft.com/office/drawing/2014/main" id="{1206196E-FF9A-2AF3-34BB-6F2BFD6C4BCC}"/>
                  </a:ext>
                </a:extLst>
              </p:cNvPr>
              <p:cNvSpPr txBox="1">
                <a:spLocks noChangeArrowheads="1"/>
              </p:cNvSpPr>
              <p:nvPr/>
            </p:nvSpPr>
            <p:spPr bwMode="auto">
              <a:xfrm rot="240000">
                <a:off x="3837" y="1650"/>
                <a:ext cx="4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400-499</a:t>
                </a:r>
              </a:p>
            </p:txBody>
          </p:sp>
        </p:grpSp>
        <p:grpSp>
          <p:nvGrpSpPr>
            <p:cNvPr id="44047" name="Group 69">
              <a:extLst>
                <a:ext uri="{FF2B5EF4-FFF2-40B4-BE49-F238E27FC236}">
                  <a16:creationId xmlns:a16="http://schemas.microsoft.com/office/drawing/2014/main" id="{CE2A58DC-F153-E9F6-3B63-DA60A5D8589A}"/>
                </a:ext>
              </a:extLst>
            </p:cNvPr>
            <p:cNvGrpSpPr>
              <a:grpSpLocks/>
            </p:cNvGrpSpPr>
            <p:nvPr/>
          </p:nvGrpSpPr>
          <p:grpSpPr bwMode="auto">
            <a:xfrm>
              <a:off x="3552" y="1919"/>
              <a:ext cx="1728" cy="289"/>
              <a:chOff x="3552" y="1919"/>
              <a:chExt cx="1728" cy="289"/>
            </a:xfrm>
          </p:grpSpPr>
          <p:sp>
            <p:nvSpPr>
              <p:cNvPr id="44063" name="Line 70">
                <a:extLst>
                  <a:ext uri="{FF2B5EF4-FFF2-40B4-BE49-F238E27FC236}">
                    <a16:creationId xmlns:a16="http://schemas.microsoft.com/office/drawing/2014/main" id="{EC059BA7-6920-6200-C8F8-198522B23BD9}"/>
                  </a:ext>
                </a:extLst>
              </p:cNvPr>
              <p:cNvSpPr>
                <a:spLocks noChangeShapeType="1"/>
              </p:cNvSpPr>
              <p:nvPr/>
            </p:nvSpPr>
            <p:spPr bwMode="auto">
              <a:xfrm>
                <a:off x="3552" y="1962"/>
                <a:ext cx="1728" cy="24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64" name="Text Box 71">
                <a:extLst>
                  <a:ext uri="{FF2B5EF4-FFF2-40B4-BE49-F238E27FC236}">
                    <a16:creationId xmlns:a16="http://schemas.microsoft.com/office/drawing/2014/main" id="{ED2654A8-9C08-EF34-053F-36BC9C85D1BF}"/>
                  </a:ext>
                </a:extLst>
              </p:cNvPr>
              <p:cNvSpPr txBox="1">
                <a:spLocks noChangeArrowheads="1"/>
              </p:cNvSpPr>
              <p:nvPr/>
            </p:nvSpPr>
            <p:spPr bwMode="auto">
              <a:xfrm rot="240000">
                <a:off x="3950" y="1919"/>
                <a:ext cx="47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500-599</a:t>
                </a:r>
              </a:p>
            </p:txBody>
          </p:sp>
        </p:grpSp>
        <p:grpSp>
          <p:nvGrpSpPr>
            <p:cNvPr id="44048" name="Group 72">
              <a:extLst>
                <a:ext uri="{FF2B5EF4-FFF2-40B4-BE49-F238E27FC236}">
                  <a16:creationId xmlns:a16="http://schemas.microsoft.com/office/drawing/2014/main" id="{7E3B1CDF-3D76-D564-C144-66273941ED2A}"/>
                </a:ext>
              </a:extLst>
            </p:cNvPr>
            <p:cNvGrpSpPr>
              <a:grpSpLocks/>
            </p:cNvGrpSpPr>
            <p:nvPr/>
          </p:nvGrpSpPr>
          <p:grpSpPr bwMode="auto">
            <a:xfrm>
              <a:off x="3552" y="1746"/>
              <a:ext cx="1728" cy="281"/>
              <a:chOff x="3552" y="1746"/>
              <a:chExt cx="1728" cy="281"/>
            </a:xfrm>
          </p:grpSpPr>
          <p:sp>
            <p:nvSpPr>
              <p:cNvPr id="44061" name="Line 73">
                <a:extLst>
                  <a:ext uri="{FF2B5EF4-FFF2-40B4-BE49-F238E27FC236}">
                    <a16:creationId xmlns:a16="http://schemas.microsoft.com/office/drawing/2014/main" id="{5C5C51F8-34D1-AE4B-8978-A551D72657D5}"/>
                  </a:ext>
                </a:extLst>
              </p:cNvPr>
              <p:cNvSpPr>
                <a:spLocks noChangeShapeType="1"/>
              </p:cNvSpPr>
              <p:nvPr/>
            </p:nvSpPr>
            <p:spPr bwMode="auto">
              <a:xfrm flipH="1">
                <a:off x="3552" y="1787"/>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62" name="Text Box 74">
                <a:extLst>
                  <a:ext uri="{FF2B5EF4-FFF2-40B4-BE49-F238E27FC236}">
                    <a16:creationId xmlns:a16="http://schemas.microsoft.com/office/drawing/2014/main" id="{D4E1F377-5794-914C-7F5D-89B837BA9806}"/>
                  </a:ext>
                </a:extLst>
              </p:cNvPr>
              <p:cNvSpPr txBox="1">
                <a:spLocks noChangeArrowheads="1"/>
              </p:cNvSpPr>
              <p:nvPr/>
            </p:nvSpPr>
            <p:spPr bwMode="auto">
              <a:xfrm rot="21360000">
                <a:off x="3728" y="1746"/>
                <a:ext cx="12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 SACK 300-400</a:t>
                </a:r>
              </a:p>
            </p:txBody>
          </p:sp>
        </p:grpSp>
        <p:grpSp>
          <p:nvGrpSpPr>
            <p:cNvPr id="44049" name="Group 75">
              <a:extLst>
                <a:ext uri="{FF2B5EF4-FFF2-40B4-BE49-F238E27FC236}">
                  <a16:creationId xmlns:a16="http://schemas.microsoft.com/office/drawing/2014/main" id="{705FAC0F-8466-14BF-B502-EF8FB7B48BC6}"/>
                </a:ext>
              </a:extLst>
            </p:cNvPr>
            <p:cNvGrpSpPr>
              <a:grpSpLocks/>
            </p:cNvGrpSpPr>
            <p:nvPr/>
          </p:nvGrpSpPr>
          <p:grpSpPr bwMode="auto">
            <a:xfrm>
              <a:off x="3552" y="2010"/>
              <a:ext cx="1728" cy="257"/>
              <a:chOff x="3552" y="2010"/>
              <a:chExt cx="1728" cy="257"/>
            </a:xfrm>
          </p:grpSpPr>
          <p:sp>
            <p:nvSpPr>
              <p:cNvPr id="44059" name="Line 76">
                <a:extLst>
                  <a:ext uri="{FF2B5EF4-FFF2-40B4-BE49-F238E27FC236}">
                    <a16:creationId xmlns:a16="http://schemas.microsoft.com/office/drawing/2014/main" id="{8687FDA0-1FB1-FC03-CD4B-756322CA22FA}"/>
                  </a:ext>
                </a:extLst>
              </p:cNvPr>
              <p:cNvSpPr>
                <a:spLocks noChangeShapeType="1"/>
              </p:cNvSpPr>
              <p:nvPr/>
            </p:nvSpPr>
            <p:spPr bwMode="auto">
              <a:xfrm flipH="1">
                <a:off x="3552" y="2027"/>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60" name="Text Box 77">
                <a:extLst>
                  <a:ext uri="{FF2B5EF4-FFF2-40B4-BE49-F238E27FC236}">
                    <a16:creationId xmlns:a16="http://schemas.microsoft.com/office/drawing/2014/main" id="{12F90A81-6D9F-09FE-304C-EE708943217B}"/>
                  </a:ext>
                </a:extLst>
              </p:cNvPr>
              <p:cNvSpPr txBox="1">
                <a:spLocks noChangeArrowheads="1"/>
              </p:cNvSpPr>
              <p:nvPr/>
            </p:nvSpPr>
            <p:spPr bwMode="auto">
              <a:xfrm rot="21360000">
                <a:off x="3764" y="2010"/>
                <a:ext cx="12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 SACK 300-500</a:t>
                </a:r>
              </a:p>
            </p:txBody>
          </p:sp>
        </p:grpSp>
        <p:sp>
          <p:nvSpPr>
            <p:cNvPr id="44050" name="Line 78">
              <a:extLst>
                <a:ext uri="{FF2B5EF4-FFF2-40B4-BE49-F238E27FC236}">
                  <a16:creationId xmlns:a16="http://schemas.microsoft.com/office/drawing/2014/main" id="{78636F04-0190-52B6-A8FF-13A7AF818B8B}"/>
                </a:ext>
              </a:extLst>
            </p:cNvPr>
            <p:cNvSpPr>
              <a:spLocks noChangeShapeType="1"/>
            </p:cNvSpPr>
            <p:nvPr/>
          </p:nvSpPr>
          <p:spPr bwMode="auto">
            <a:xfrm flipH="1">
              <a:off x="3552" y="2267"/>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51" name="Text Box 79">
              <a:extLst>
                <a:ext uri="{FF2B5EF4-FFF2-40B4-BE49-F238E27FC236}">
                  <a16:creationId xmlns:a16="http://schemas.microsoft.com/office/drawing/2014/main" id="{FE094B17-405C-4985-F2A5-EE4A56EA4A17}"/>
                </a:ext>
              </a:extLst>
            </p:cNvPr>
            <p:cNvSpPr txBox="1">
              <a:spLocks noChangeArrowheads="1"/>
            </p:cNvSpPr>
            <p:nvPr/>
          </p:nvSpPr>
          <p:spPr bwMode="auto">
            <a:xfrm>
              <a:off x="3504" y="2496"/>
              <a:ext cx="91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b="1"/>
                <a:t>fast retransmit</a:t>
              </a:r>
            </a:p>
          </p:txBody>
        </p:sp>
        <p:grpSp>
          <p:nvGrpSpPr>
            <p:cNvPr id="44052" name="Group 80">
              <a:extLst>
                <a:ext uri="{FF2B5EF4-FFF2-40B4-BE49-F238E27FC236}">
                  <a16:creationId xmlns:a16="http://schemas.microsoft.com/office/drawing/2014/main" id="{B0AC6522-A2F7-29AD-EB24-5EADF6CCCBC3}"/>
                </a:ext>
              </a:extLst>
            </p:cNvPr>
            <p:cNvGrpSpPr>
              <a:grpSpLocks/>
            </p:cNvGrpSpPr>
            <p:nvPr/>
          </p:nvGrpSpPr>
          <p:grpSpPr bwMode="auto">
            <a:xfrm>
              <a:off x="3552" y="2688"/>
              <a:ext cx="1728" cy="261"/>
              <a:chOff x="515" y="944"/>
              <a:chExt cx="2582" cy="306"/>
            </a:xfrm>
          </p:grpSpPr>
          <p:sp>
            <p:nvSpPr>
              <p:cNvPr id="44057" name="Line 81">
                <a:extLst>
                  <a:ext uri="{FF2B5EF4-FFF2-40B4-BE49-F238E27FC236}">
                    <a16:creationId xmlns:a16="http://schemas.microsoft.com/office/drawing/2014/main" id="{BB37B6EF-0096-598D-0BEA-B362E5042B02}"/>
                  </a:ext>
                </a:extLst>
              </p:cNvPr>
              <p:cNvSpPr>
                <a:spLocks noChangeShapeType="1"/>
              </p:cNvSpPr>
              <p:nvPr/>
            </p:nvSpPr>
            <p:spPr bwMode="auto">
              <a:xfrm>
                <a:off x="515" y="962"/>
                <a:ext cx="2582"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58" name="Text Box 82">
                <a:extLst>
                  <a:ext uri="{FF2B5EF4-FFF2-40B4-BE49-F238E27FC236}">
                    <a16:creationId xmlns:a16="http://schemas.microsoft.com/office/drawing/2014/main" id="{BBA55E5B-D2EE-DDE7-BB63-C657016C8DA4}"/>
                  </a:ext>
                </a:extLst>
              </p:cNvPr>
              <p:cNvSpPr txBox="1">
                <a:spLocks noChangeArrowheads="1"/>
              </p:cNvSpPr>
              <p:nvPr/>
            </p:nvSpPr>
            <p:spPr bwMode="auto">
              <a:xfrm rot="240000">
                <a:off x="1353" y="944"/>
                <a:ext cx="70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200-299</a:t>
                </a:r>
              </a:p>
            </p:txBody>
          </p:sp>
        </p:grpSp>
        <p:grpSp>
          <p:nvGrpSpPr>
            <p:cNvPr id="44053" name="Group 83">
              <a:extLst>
                <a:ext uri="{FF2B5EF4-FFF2-40B4-BE49-F238E27FC236}">
                  <a16:creationId xmlns:a16="http://schemas.microsoft.com/office/drawing/2014/main" id="{7D51981D-297D-C54E-FA34-A44D89DAB56A}"/>
                </a:ext>
              </a:extLst>
            </p:cNvPr>
            <p:cNvGrpSpPr>
              <a:grpSpLocks/>
            </p:cNvGrpSpPr>
            <p:nvPr/>
          </p:nvGrpSpPr>
          <p:grpSpPr bwMode="auto">
            <a:xfrm rot="183173">
              <a:off x="3552" y="2927"/>
              <a:ext cx="1728" cy="301"/>
              <a:chOff x="288" y="1214"/>
              <a:chExt cx="1728" cy="301"/>
            </a:xfrm>
          </p:grpSpPr>
          <p:sp>
            <p:nvSpPr>
              <p:cNvPr id="44055" name="Line 84">
                <a:extLst>
                  <a:ext uri="{FF2B5EF4-FFF2-40B4-BE49-F238E27FC236}">
                    <a16:creationId xmlns:a16="http://schemas.microsoft.com/office/drawing/2014/main" id="{5784DC87-97BE-C014-D07B-878496E5B327}"/>
                  </a:ext>
                </a:extLst>
              </p:cNvPr>
              <p:cNvSpPr>
                <a:spLocks noChangeShapeType="1"/>
              </p:cNvSpPr>
              <p:nvPr/>
            </p:nvSpPr>
            <p:spPr bwMode="auto">
              <a:xfrm flipH="1">
                <a:off x="288" y="1275"/>
                <a:ext cx="1728"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056" name="Text Box 85">
                <a:extLst>
                  <a:ext uri="{FF2B5EF4-FFF2-40B4-BE49-F238E27FC236}">
                    <a16:creationId xmlns:a16="http://schemas.microsoft.com/office/drawing/2014/main" id="{2AE02819-D31A-7269-BA9C-C36D6260D110}"/>
                  </a:ext>
                </a:extLst>
              </p:cNvPr>
              <p:cNvSpPr txBox="1">
                <a:spLocks noChangeArrowheads="1"/>
              </p:cNvSpPr>
              <p:nvPr/>
            </p:nvSpPr>
            <p:spPr bwMode="auto">
              <a:xfrm rot="21360000">
                <a:off x="1304" y="1214"/>
                <a:ext cx="50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600</a:t>
                </a:r>
              </a:p>
            </p:txBody>
          </p:sp>
        </p:grpSp>
        <p:sp>
          <p:nvSpPr>
            <p:cNvPr id="44054" name="Text Box 86">
              <a:extLst>
                <a:ext uri="{FF2B5EF4-FFF2-40B4-BE49-F238E27FC236}">
                  <a16:creationId xmlns:a16="http://schemas.microsoft.com/office/drawing/2014/main" id="{B70ABCCD-4D2B-ADFF-1706-92813CF7199B}"/>
                </a:ext>
              </a:extLst>
            </p:cNvPr>
            <p:cNvSpPr txBox="1">
              <a:spLocks noChangeArrowheads="1"/>
            </p:cNvSpPr>
            <p:nvPr/>
          </p:nvSpPr>
          <p:spPr bwMode="auto">
            <a:xfrm rot="21360000">
              <a:off x="3711" y="2226"/>
              <a:ext cx="120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1200"/>
                <a:t>ACK</a:t>
              </a:r>
              <a:r>
                <a:rPr lang="en-US" altLang="en-US" sz="1200">
                  <a:solidFill>
                    <a:srgbClr val="CC3300"/>
                  </a:solidFill>
                </a:rPr>
                <a:t> </a:t>
              </a:r>
              <a:r>
                <a:rPr lang="en-US" altLang="en-US" sz="1200"/>
                <a:t>200, SACK 300-600</a:t>
              </a:r>
            </a:p>
          </p:txBody>
        </p:sp>
      </p:grpSp>
      <p:sp>
        <p:nvSpPr>
          <p:cNvPr id="67671" name="Text Box 87">
            <a:extLst>
              <a:ext uri="{FF2B5EF4-FFF2-40B4-BE49-F238E27FC236}">
                <a16:creationId xmlns:a16="http://schemas.microsoft.com/office/drawing/2014/main" id="{BB25B90A-B302-2CB0-2EED-CD25B20A9ABB}"/>
              </a:ext>
            </a:extLst>
          </p:cNvPr>
          <p:cNvSpPr txBox="1">
            <a:spLocks noChangeArrowheads="1"/>
          </p:cNvSpPr>
          <p:nvPr/>
        </p:nvSpPr>
        <p:spPr bwMode="auto">
          <a:xfrm>
            <a:off x="2438400" y="1279208"/>
            <a:ext cx="2895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TCP without SACK</a:t>
            </a:r>
          </a:p>
        </p:txBody>
      </p:sp>
      <p:sp>
        <p:nvSpPr>
          <p:cNvPr id="67672" name="Text Box 88">
            <a:extLst>
              <a:ext uri="{FF2B5EF4-FFF2-40B4-BE49-F238E27FC236}">
                <a16:creationId xmlns:a16="http://schemas.microsoft.com/office/drawing/2014/main" id="{4DEFC024-4537-7BEF-5CE9-3F91837DEA03}"/>
              </a:ext>
            </a:extLst>
          </p:cNvPr>
          <p:cNvSpPr txBox="1">
            <a:spLocks noChangeArrowheads="1"/>
          </p:cNvSpPr>
          <p:nvPr/>
        </p:nvSpPr>
        <p:spPr bwMode="auto">
          <a:xfrm>
            <a:off x="7848600" y="1203008"/>
            <a:ext cx="2895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TCP with SACK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5" presetClass="entr" presetSubtype="10" fill="hold" nodeType="withEffect">
                                  <p:stCondLst>
                                    <p:cond delay="0"/>
                                  </p:stCondLst>
                                  <p:childTnLst>
                                    <p:set>
                                      <p:cBhvr>
                                        <p:cTn id="8" dur="1" fill="hold">
                                          <p:stCondLst>
                                            <p:cond delay="0"/>
                                          </p:stCondLst>
                                        </p:cTn>
                                        <p:tgtEl>
                                          <p:spTgt spid="67671"/>
                                        </p:tgtEl>
                                        <p:attrNameLst>
                                          <p:attrName>style.visibility</p:attrName>
                                        </p:attrNameLst>
                                      </p:cBhvr>
                                      <p:to>
                                        <p:strVal val="visible"/>
                                      </p:to>
                                    </p:set>
                                    <p:animEffect transition="in" filter="checkerboard(across)">
                                      <p:cBhvr>
                                        <p:cTn id="9" dur="500"/>
                                        <p:tgtEl>
                                          <p:spTgt spid="6767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76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71" grpId="0"/>
      <p:bldP spid="6767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FEBAB555-F2BB-036A-2A61-611CD5E02871}"/>
              </a:ext>
            </a:extLst>
          </p:cNvPr>
          <p:cNvSpPr>
            <a:spLocks noGrp="1"/>
          </p:cNvSpPr>
          <p:nvPr>
            <p:ph type="sldNum" sz="quarter" idx="12"/>
          </p:nvPr>
        </p:nvSpPr>
        <p:spPr>
          <a:xfrm>
            <a:off x="4648200" y="6356351"/>
            <a:ext cx="2895600" cy="365125"/>
          </a:xfrm>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221A6A21-F2DB-40C3-BBAB-5CD31B1D60F6}" type="slidenum">
              <a:rPr lang="en-US" altLang="en-US">
                <a:solidFill>
                  <a:srgbClr val="898989"/>
                </a:solidFill>
                <a:latin typeface="Calibri" panose="020F0502020204030204" pitchFamily="34" charset="0"/>
              </a:rPr>
              <a:pPr algn="ctr" eaLnBrk="1" hangingPunct="1"/>
              <a:t>82</a:t>
            </a:fld>
            <a:endParaRPr lang="en-US" altLang="en-US">
              <a:solidFill>
                <a:srgbClr val="898989"/>
              </a:solidFill>
              <a:latin typeface="Calibri" panose="020F0502020204030204" pitchFamily="34" charset="0"/>
            </a:endParaRPr>
          </a:p>
        </p:txBody>
      </p:sp>
      <p:sp>
        <p:nvSpPr>
          <p:cNvPr id="45059" name="Text Box 4">
            <a:extLst>
              <a:ext uri="{FF2B5EF4-FFF2-40B4-BE49-F238E27FC236}">
                <a16:creationId xmlns:a16="http://schemas.microsoft.com/office/drawing/2014/main" id="{BCF37FF2-3C53-01AB-47B0-CCDCA98C0ABC}"/>
              </a:ext>
            </a:extLst>
          </p:cNvPr>
          <p:cNvSpPr txBox="1">
            <a:spLocks noChangeArrowheads="1"/>
          </p:cNvSpPr>
          <p:nvPr/>
        </p:nvSpPr>
        <p:spPr bwMode="auto">
          <a:xfrm>
            <a:off x="949569" y="685800"/>
            <a:ext cx="9108831" cy="701731"/>
          </a:xfrm>
          <a:prstGeom prst="rect">
            <a:avLst/>
          </a:prstGeom>
        </p:spPr>
        <p:txBody>
          <a:bodyPr vert="horz" lIns="91440" tIns="45720" rIns="91440" bIns="45720" rtlCol="0" anchor="ctr">
            <a:normAutofit/>
          </a:bodyPr>
          <a:lstStyle>
            <a:defPPr>
              <a:defRPr lang="en-US"/>
            </a:defPPr>
            <a:lvl1pPr>
              <a:lnSpc>
                <a:spcPct val="90000"/>
              </a:lnSpc>
              <a:spcBef>
                <a:spcPct val="0"/>
              </a:spcBef>
              <a:buNone/>
              <a:defRPr sz="4400" b="1">
                <a:solidFill>
                  <a:srgbClr val="0000A3"/>
                </a:solidFill>
                <a:latin typeface="+mj-lt"/>
                <a:ea typeface="+mj-ea"/>
                <a:cs typeface="+mj-cs"/>
              </a:defRPr>
            </a:lvl1pPr>
          </a:lstStyle>
          <a:p>
            <a:r>
              <a:rPr lang="en-US" altLang="en-US" dirty="0"/>
              <a:t>SACK Observations</a:t>
            </a:r>
          </a:p>
        </p:txBody>
      </p:sp>
      <p:sp>
        <p:nvSpPr>
          <p:cNvPr id="45060" name="Text Box 5">
            <a:extLst>
              <a:ext uri="{FF2B5EF4-FFF2-40B4-BE49-F238E27FC236}">
                <a16:creationId xmlns:a16="http://schemas.microsoft.com/office/drawing/2014/main" id="{248982CA-490C-3EFA-0A53-BD5C2E35C2A8}"/>
              </a:ext>
            </a:extLst>
          </p:cNvPr>
          <p:cNvSpPr txBox="1">
            <a:spLocks noChangeArrowheads="1"/>
          </p:cNvSpPr>
          <p:nvPr/>
        </p:nvSpPr>
        <p:spPr bwMode="auto">
          <a:xfrm>
            <a:off x="1066800" y="2057400"/>
            <a:ext cx="995172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Char char="•"/>
            </a:pPr>
            <a:r>
              <a:rPr lang="en-US" altLang="en-US" sz="2400" dirty="0"/>
              <a:t> SACK TCP follows standard TCP congestion control; Adding SACK to TCP does not change the basic underlying congestion control algorithms</a:t>
            </a:r>
          </a:p>
          <a:p>
            <a:pPr eaLnBrk="1" hangingPunct="1">
              <a:spcBef>
                <a:spcPct val="50000"/>
              </a:spcBef>
              <a:buFontTx/>
              <a:buChar char="•"/>
            </a:pPr>
            <a:r>
              <a:rPr lang="en-US" altLang="en-US" sz="2400" dirty="0"/>
              <a:t> SACK TCP has major advantages when compared TCP Tahoe, Reno, and New Reno, as PDUs have been provided with additional information due to the SACK</a:t>
            </a:r>
          </a:p>
          <a:p>
            <a:pPr eaLnBrk="1" hangingPunct="1">
              <a:spcBef>
                <a:spcPct val="50000"/>
              </a:spcBef>
              <a:buFontTx/>
              <a:buChar char="•"/>
            </a:pPr>
            <a:r>
              <a:rPr lang="en-US" altLang="en-US" sz="2400" dirty="0"/>
              <a:t> Difference in behavior when multiple packets are dropped from one window of data</a:t>
            </a:r>
          </a:p>
          <a:p>
            <a:pPr eaLnBrk="1" hangingPunct="1">
              <a:spcBef>
                <a:spcPct val="50000"/>
              </a:spcBef>
              <a:buFontTx/>
              <a:buChar char="•"/>
            </a:pPr>
            <a:r>
              <a:rPr lang="en-US" altLang="en-US" sz="2400" dirty="0"/>
              <a:t> SACK information allows the sender to better decide what to retransmit and what not to</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BE99872-69B3-414D-97BD-8B6006EA809D}"/>
              </a:ext>
            </a:extLst>
          </p:cNvPr>
          <p:cNvSpPr>
            <a:spLocks noGrp="1"/>
          </p:cNvSpPr>
          <p:nvPr>
            <p:ph idx="1"/>
          </p:nvPr>
        </p:nvSpPr>
        <p:spPr>
          <a:xfrm>
            <a:off x="825500" y="1489243"/>
            <a:ext cx="10515600" cy="987257"/>
          </a:xfrm>
        </p:spPr>
        <p:txBody>
          <a:bodyPr>
            <a:normAutofit/>
          </a:bodyPr>
          <a:lstStyle/>
          <a:p>
            <a:pPr>
              <a:spcBef>
                <a:spcPts val="600"/>
              </a:spcBef>
            </a:pPr>
            <a:r>
              <a:rPr lang="en-US" dirty="0"/>
              <a:t>TCP, UDP: principal transport protocols for 40 years</a:t>
            </a:r>
            <a:endParaRPr lang="en-US" sz="2600" dirty="0"/>
          </a:p>
          <a:p>
            <a:pPr>
              <a:spcBef>
                <a:spcPts val="600"/>
              </a:spcBef>
            </a:pPr>
            <a:r>
              <a:rPr lang="en-US" dirty="0"/>
              <a:t>different “flavors” of TCP developed, for specific scenarios:</a:t>
            </a:r>
            <a:endParaRPr lang="en-US" sz="2600" dirty="0"/>
          </a:p>
          <a:p>
            <a:pPr marL="463550" lvl="1" indent="0">
              <a:buNone/>
            </a:pPr>
            <a:endParaRPr lang="en-US" dirty="0"/>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sz="4800" b="0" dirty="0"/>
              <a:t>Evolving transport-layer functionality</a:t>
            </a:r>
            <a:endParaRPr lang="en-US" sz="4400" b="0" dirty="0"/>
          </a:p>
        </p:txBody>
      </p:sp>
      <p:sp>
        <p:nvSpPr>
          <p:cNvPr id="5" name="Content Placeholder 3">
            <a:extLst>
              <a:ext uri="{FF2B5EF4-FFF2-40B4-BE49-F238E27FC236}">
                <a16:creationId xmlns:a16="http://schemas.microsoft.com/office/drawing/2014/main" id="{45FE7A73-4472-5C4F-8062-0327803AB9C7}"/>
              </a:ext>
            </a:extLst>
          </p:cNvPr>
          <p:cNvSpPr txBox="1">
            <a:spLocks/>
          </p:cNvSpPr>
          <p:nvPr/>
        </p:nvSpPr>
        <p:spPr>
          <a:xfrm>
            <a:off x="787400" y="4953000"/>
            <a:ext cx="10515600" cy="14859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marR="0" lvl="1" indent="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moving transport–layer functions to application layer, on top of UDP</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HTTP/3: QUIC</a:t>
            </a:r>
          </a:p>
        </p:txBody>
      </p:sp>
      <p:graphicFrame>
        <p:nvGraphicFramePr>
          <p:cNvPr id="10" name="Table 9">
            <a:extLst>
              <a:ext uri="{FF2B5EF4-FFF2-40B4-BE49-F238E27FC236}">
                <a16:creationId xmlns:a16="http://schemas.microsoft.com/office/drawing/2014/main" id="{FDDAA714-AEA1-4F44-A514-E68A84833FFD}"/>
              </a:ext>
            </a:extLst>
          </p:cNvPr>
          <p:cNvGraphicFramePr>
            <a:graphicFrameLocks noGrp="1"/>
          </p:cNvGraphicFramePr>
          <p:nvPr/>
        </p:nvGraphicFramePr>
        <p:xfrm>
          <a:off x="2124074" y="2591594"/>
          <a:ext cx="7921626" cy="2438400"/>
        </p:xfrm>
        <a:graphic>
          <a:graphicData uri="http://schemas.openxmlformats.org/drawingml/2006/table">
            <a:tbl>
              <a:tblPr firstRow="1" firstCol="1" bandRow="1"/>
              <a:tblGrid>
                <a:gridCol w="3451226">
                  <a:extLst>
                    <a:ext uri="{9D8B030D-6E8A-4147-A177-3AD203B41FA5}">
                      <a16:colId xmlns:a16="http://schemas.microsoft.com/office/drawing/2014/main" val="934503476"/>
                    </a:ext>
                  </a:extLst>
                </a:gridCol>
                <a:gridCol w="4470400">
                  <a:extLst>
                    <a:ext uri="{9D8B030D-6E8A-4147-A177-3AD203B41FA5}">
                      <a16:colId xmlns:a16="http://schemas.microsoft.com/office/drawing/2014/main" val="597467060"/>
                    </a:ext>
                  </a:extLst>
                </a:gridCol>
              </a:tblGrid>
              <a:tr h="0">
                <a:tc>
                  <a:txBody>
                    <a:bodyPr/>
                    <a:lstStyle/>
                    <a:p>
                      <a:pPr marL="0" marR="0">
                        <a:spcBef>
                          <a:spcPts val="0"/>
                        </a:spcBef>
                        <a:spcAft>
                          <a:spcPts val="0"/>
                        </a:spcAft>
                      </a:pPr>
                      <a:r>
                        <a:rPr lang="en-US"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Scenario</a:t>
                      </a:r>
                      <a:endParaRPr lang="en-US"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tc>
                  <a:txBody>
                    <a:bodyPr/>
                    <a:lstStyle/>
                    <a:p>
                      <a:pPr marL="0" marR="0">
                        <a:spcBef>
                          <a:spcPts val="0"/>
                        </a:spcBef>
                        <a:spcAft>
                          <a:spcPts val="0"/>
                        </a:spcAft>
                      </a:pPr>
                      <a:r>
                        <a:rPr lang="en-US" sz="20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Challenges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3750764183"/>
                  </a:ext>
                </a:extLst>
              </a:tr>
              <a:tr h="0">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Long, fat pipes (large data transfers)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Many packets “in flight”; loss shuts down pipeline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1949484"/>
                  </a:ext>
                </a:extLst>
              </a:tr>
              <a:tr h="0">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Wireless networks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Loss due to noisy wireless links, mobility; TCP treat this as congestion loss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4712956"/>
                  </a:ext>
                </a:extLst>
              </a:tr>
              <a:tr h="0">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Long-delay links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Extremely long RTTs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4242864"/>
                  </a:ext>
                </a:extLst>
              </a:tr>
              <a:tr h="0">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Data center networks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Latency sensitive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7012720"/>
                  </a:ext>
                </a:extLst>
              </a:tr>
              <a:tr h="0">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Background traffic flows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Low priority, “background” TCP flows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1502626"/>
                  </a:ext>
                </a:extLst>
              </a:tr>
            </a:tbl>
          </a:graphicData>
        </a:graphic>
      </p:graphicFrame>
      <p:sp>
        <p:nvSpPr>
          <p:cNvPr id="6" name="Slide Number Placeholder 2">
            <a:extLst>
              <a:ext uri="{FF2B5EF4-FFF2-40B4-BE49-F238E27FC236}">
                <a16:creationId xmlns:a16="http://schemas.microsoft.com/office/drawing/2014/main" id="{82B6E534-05AF-3F4E-8ECD-9B33089B5A38}"/>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83</a:t>
            </a:fld>
            <a:endParaRPr lang="en-US" dirty="0"/>
          </a:p>
        </p:txBody>
      </p:sp>
    </p:spTree>
    <p:extLst>
      <p:ext uri="{BB962C8B-B14F-4D97-AF65-F5344CB8AC3E}">
        <p14:creationId xmlns:p14="http://schemas.microsoft.com/office/powerpoint/2010/main" val="113567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dissolv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BE99872-69B3-414D-97BD-8B6006EA809D}"/>
              </a:ext>
            </a:extLst>
          </p:cNvPr>
          <p:cNvSpPr>
            <a:spLocks noGrp="1"/>
          </p:cNvSpPr>
          <p:nvPr>
            <p:ph idx="1"/>
          </p:nvPr>
        </p:nvSpPr>
        <p:spPr>
          <a:xfrm>
            <a:off x="838200" y="1540043"/>
            <a:ext cx="10515600" cy="1419057"/>
          </a:xfrm>
        </p:spPr>
        <p:txBody>
          <a:bodyPr>
            <a:normAutofit/>
          </a:bodyPr>
          <a:lstStyle/>
          <a:p>
            <a:r>
              <a:rPr lang="en-US" dirty="0"/>
              <a:t>application-layer protocol, on top of UDP</a:t>
            </a:r>
          </a:p>
          <a:p>
            <a:pPr lvl="1"/>
            <a:r>
              <a:rPr lang="en-US" sz="2600" dirty="0"/>
              <a:t>increase performance of HTTP</a:t>
            </a:r>
          </a:p>
          <a:p>
            <a:pPr lvl="1"/>
            <a:r>
              <a:rPr lang="en-US" sz="2600" dirty="0"/>
              <a:t>deployed on many Google servers, apps (Chrome, mobile YouTube app) </a:t>
            </a:r>
          </a:p>
          <a:p>
            <a:pPr marL="130175" indent="0">
              <a:buNone/>
            </a:pPr>
            <a:endParaRPr lang="en-US" dirty="0"/>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sz="4800" dirty="0"/>
              <a:t>QUIC: Quick UDP Internet Connections</a:t>
            </a:r>
            <a:endParaRPr lang="en-US" sz="4400" b="0" dirty="0"/>
          </a:p>
        </p:txBody>
      </p:sp>
      <p:sp>
        <p:nvSpPr>
          <p:cNvPr id="6" name="Rectangle 5">
            <a:extLst>
              <a:ext uri="{FF2B5EF4-FFF2-40B4-BE49-F238E27FC236}">
                <a16:creationId xmlns:a16="http://schemas.microsoft.com/office/drawing/2014/main" id="{0CB91BD2-7430-FF40-862B-D62E51C13B78}"/>
              </a:ext>
            </a:extLst>
          </p:cNvPr>
          <p:cNvSpPr/>
          <p:nvPr/>
        </p:nvSpPr>
        <p:spPr>
          <a:xfrm>
            <a:off x="4009758" y="5111305"/>
            <a:ext cx="1905057" cy="455280"/>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2DC3333F-D7CB-6047-9756-0368D1C36C82}"/>
              </a:ext>
            </a:extLst>
          </p:cNvPr>
          <p:cNvSpPr txBox="1"/>
          <p:nvPr/>
        </p:nvSpPr>
        <p:spPr>
          <a:xfrm>
            <a:off x="4785245" y="5154666"/>
            <a:ext cx="36420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IP</a:t>
            </a:r>
          </a:p>
        </p:txBody>
      </p:sp>
      <p:sp>
        <p:nvSpPr>
          <p:cNvPr id="8" name="Rectangle 7">
            <a:extLst>
              <a:ext uri="{FF2B5EF4-FFF2-40B4-BE49-F238E27FC236}">
                <a16:creationId xmlns:a16="http://schemas.microsoft.com/office/drawing/2014/main" id="{E6F710B7-CEAE-3748-A70E-8CA66C64F502}"/>
              </a:ext>
            </a:extLst>
          </p:cNvPr>
          <p:cNvSpPr/>
          <p:nvPr/>
        </p:nvSpPr>
        <p:spPr>
          <a:xfrm>
            <a:off x="4011627" y="4539909"/>
            <a:ext cx="1905057" cy="455280"/>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9" name="TextBox 8">
            <a:extLst>
              <a:ext uri="{FF2B5EF4-FFF2-40B4-BE49-F238E27FC236}">
                <a16:creationId xmlns:a16="http://schemas.microsoft.com/office/drawing/2014/main" id="{D2BE3861-D7DF-2F47-83DF-E982BA8E06C3}"/>
              </a:ext>
            </a:extLst>
          </p:cNvPr>
          <p:cNvSpPr txBox="1"/>
          <p:nvPr/>
        </p:nvSpPr>
        <p:spPr>
          <a:xfrm>
            <a:off x="4701444" y="4586345"/>
            <a:ext cx="53948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TCP</a:t>
            </a:r>
          </a:p>
        </p:txBody>
      </p:sp>
      <p:sp>
        <p:nvSpPr>
          <p:cNvPr id="10" name="Rectangle 9">
            <a:extLst>
              <a:ext uri="{FF2B5EF4-FFF2-40B4-BE49-F238E27FC236}">
                <a16:creationId xmlns:a16="http://schemas.microsoft.com/office/drawing/2014/main" id="{CA7A8357-DCFE-9B48-83E4-CE95B4014FAD}"/>
              </a:ext>
            </a:extLst>
          </p:cNvPr>
          <p:cNvSpPr/>
          <p:nvPr/>
        </p:nvSpPr>
        <p:spPr>
          <a:xfrm>
            <a:off x="4012476" y="3958122"/>
            <a:ext cx="1905057" cy="455280"/>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B97A3820-7A9E-0540-A30D-999E193AA083}"/>
              </a:ext>
            </a:extLst>
          </p:cNvPr>
          <p:cNvSpPr txBox="1"/>
          <p:nvPr/>
        </p:nvSpPr>
        <p:spPr>
          <a:xfrm>
            <a:off x="4702293" y="4004558"/>
            <a:ext cx="50025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TLS</a:t>
            </a:r>
          </a:p>
        </p:txBody>
      </p:sp>
      <p:grpSp>
        <p:nvGrpSpPr>
          <p:cNvPr id="12" name="Group 11">
            <a:extLst>
              <a:ext uri="{FF2B5EF4-FFF2-40B4-BE49-F238E27FC236}">
                <a16:creationId xmlns:a16="http://schemas.microsoft.com/office/drawing/2014/main" id="{D739B097-1736-A841-A9F9-F4C6C666351C}"/>
              </a:ext>
            </a:extLst>
          </p:cNvPr>
          <p:cNvGrpSpPr/>
          <p:nvPr/>
        </p:nvGrpSpPr>
        <p:grpSpPr>
          <a:xfrm>
            <a:off x="4009758" y="3373625"/>
            <a:ext cx="1905057" cy="455283"/>
            <a:chOff x="975444" y="4703759"/>
            <a:chExt cx="2128813" cy="498521"/>
          </a:xfrm>
        </p:grpSpPr>
        <p:sp>
          <p:nvSpPr>
            <p:cNvPr id="13" name="Rectangle 12">
              <a:extLst>
                <a:ext uri="{FF2B5EF4-FFF2-40B4-BE49-F238E27FC236}">
                  <a16:creationId xmlns:a16="http://schemas.microsoft.com/office/drawing/2014/main" id="{8F480D08-6139-BE4C-8708-6738598DE58D}"/>
                </a:ext>
              </a:extLst>
            </p:cNvPr>
            <p:cNvSpPr/>
            <p:nvPr/>
          </p:nvSpPr>
          <p:spPr>
            <a:xfrm>
              <a:off x="975444" y="4703759"/>
              <a:ext cx="2128813" cy="498521"/>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162BE277-7E2A-FE46-B0AF-38F4EEC0195F}"/>
                </a:ext>
              </a:extLst>
            </p:cNvPr>
            <p:cNvSpPr txBox="1"/>
            <p:nvPr/>
          </p:nvSpPr>
          <p:spPr>
            <a:xfrm>
              <a:off x="1576949" y="4754605"/>
              <a:ext cx="982079" cy="40440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HTTP/2</a:t>
              </a:r>
            </a:p>
          </p:txBody>
        </p:sp>
      </p:grpSp>
      <p:cxnSp>
        <p:nvCxnSpPr>
          <p:cNvPr id="23" name="Straight Connector 22">
            <a:extLst>
              <a:ext uri="{FF2B5EF4-FFF2-40B4-BE49-F238E27FC236}">
                <a16:creationId xmlns:a16="http://schemas.microsoft.com/office/drawing/2014/main" id="{CB33742C-9EB1-AA42-AA29-FE8D1AAAC5E7}"/>
              </a:ext>
            </a:extLst>
          </p:cNvPr>
          <p:cNvCxnSpPr/>
          <p:nvPr/>
        </p:nvCxnSpPr>
        <p:spPr>
          <a:xfrm>
            <a:off x="3600029" y="5055713"/>
            <a:ext cx="5147262" cy="0"/>
          </a:xfrm>
          <a:prstGeom prst="line">
            <a:avLst/>
          </a:prstGeom>
          <a:noFill/>
          <a:ln w="12700" cap="flat" cmpd="sng" algn="ctr">
            <a:solidFill>
              <a:sysClr val="windowText" lastClr="000000"/>
            </a:solidFill>
            <a:prstDash val="dash"/>
          </a:ln>
          <a:effectLst/>
        </p:spPr>
      </p:cxnSp>
      <p:cxnSp>
        <p:nvCxnSpPr>
          <p:cNvPr id="24" name="Straight Connector 23">
            <a:extLst>
              <a:ext uri="{FF2B5EF4-FFF2-40B4-BE49-F238E27FC236}">
                <a16:creationId xmlns:a16="http://schemas.microsoft.com/office/drawing/2014/main" id="{E357E849-F864-8D4E-A565-17A2DCC74B86}"/>
              </a:ext>
            </a:extLst>
          </p:cNvPr>
          <p:cNvCxnSpPr/>
          <p:nvPr/>
        </p:nvCxnSpPr>
        <p:spPr>
          <a:xfrm>
            <a:off x="3619151" y="4480558"/>
            <a:ext cx="5147262" cy="0"/>
          </a:xfrm>
          <a:prstGeom prst="line">
            <a:avLst/>
          </a:prstGeom>
          <a:noFill/>
          <a:ln w="12700" cap="flat" cmpd="sng" algn="ctr">
            <a:solidFill>
              <a:sysClr val="windowText" lastClr="000000"/>
            </a:solidFill>
            <a:prstDash val="dash"/>
          </a:ln>
          <a:effectLst/>
        </p:spPr>
      </p:cxnSp>
      <p:sp>
        <p:nvSpPr>
          <p:cNvPr id="25" name="TextBox 24">
            <a:extLst>
              <a:ext uri="{FF2B5EF4-FFF2-40B4-BE49-F238E27FC236}">
                <a16:creationId xmlns:a16="http://schemas.microsoft.com/office/drawing/2014/main" id="{3D37B3DB-1C25-9644-805A-16F0B5732706}"/>
              </a:ext>
            </a:extLst>
          </p:cNvPr>
          <p:cNvSpPr txBox="1"/>
          <p:nvPr/>
        </p:nvSpPr>
        <p:spPr>
          <a:xfrm>
            <a:off x="2615767" y="5157137"/>
            <a:ext cx="1224388"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Network</a:t>
            </a:r>
          </a:p>
        </p:txBody>
      </p:sp>
      <p:sp>
        <p:nvSpPr>
          <p:cNvPr id="26" name="TextBox 25">
            <a:extLst>
              <a:ext uri="{FF2B5EF4-FFF2-40B4-BE49-F238E27FC236}">
                <a16:creationId xmlns:a16="http://schemas.microsoft.com/office/drawing/2014/main" id="{56FEFD46-159C-5848-865A-A466E6DF5BEF}"/>
              </a:ext>
            </a:extLst>
          </p:cNvPr>
          <p:cNvSpPr txBox="1"/>
          <p:nvPr/>
        </p:nvSpPr>
        <p:spPr>
          <a:xfrm>
            <a:off x="2621938" y="4563164"/>
            <a:ext cx="1224388"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Transport</a:t>
            </a:r>
          </a:p>
        </p:txBody>
      </p:sp>
      <p:sp>
        <p:nvSpPr>
          <p:cNvPr id="27" name="TextBox 26">
            <a:extLst>
              <a:ext uri="{FF2B5EF4-FFF2-40B4-BE49-F238E27FC236}">
                <a16:creationId xmlns:a16="http://schemas.microsoft.com/office/drawing/2014/main" id="{2A05840F-E8F9-1248-A8B0-64F7DE49604B}"/>
              </a:ext>
            </a:extLst>
          </p:cNvPr>
          <p:cNvSpPr txBox="1"/>
          <p:nvPr/>
        </p:nvSpPr>
        <p:spPr>
          <a:xfrm>
            <a:off x="2484036" y="3690724"/>
            <a:ext cx="1379850"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Application</a:t>
            </a:r>
          </a:p>
        </p:txBody>
      </p:sp>
      <p:sp>
        <p:nvSpPr>
          <p:cNvPr id="28" name="TextBox 27">
            <a:extLst>
              <a:ext uri="{FF2B5EF4-FFF2-40B4-BE49-F238E27FC236}">
                <a16:creationId xmlns:a16="http://schemas.microsoft.com/office/drawing/2014/main" id="{16D08199-2156-5E47-8400-89F2FF7E05B6}"/>
              </a:ext>
            </a:extLst>
          </p:cNvPr>
          <p:cNvSpPr txBox="1"/>
          <p:nvPr/>
        </p:nvSpPr>
        <p:spPr>
          <a:xfrm>
            <a:off x="4154397" y="5742409"/>
            <a:ext cx="176041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HTTP/2 over TCP</a:t>
            </a:r>
          </a:p>
        </p:txBody>
      </p:sp>
      <p:grpSp>
        <p:nvGrpSpPr>
          <p:cNvPr id="3" name="Group 2">
            <a:extLst>
              <a:ext uri="{FF2B5EF4-FFF2-40B4-BE49-F238E27FC236}">
                <a16:creationId xmlns:a16="http://schemas.microsoft.com/office/drawing/2014/main" id="{8D44A4BD-7691-B2C4-36FE-CBC12635FC12}"/>
              </a:ext>
            </a:extLst>
          </p:cNvPr>
          <p:cNvGrpSpPr/>
          <p:nvPr/>
        </p:nvGrpSpPr>
        <p:grpSpPr>
          <a:xfrm>
            <a:off x="6450012" y="3362958"/>
            <a:ext cx="2891925" cy="2712422"/>
            <a:chOff x="6450012" y="3362958"/>
            <a:chExt cx="2891925" cy="2712422"/>
          </a:xfrm>
        </p:grpSpPr>
        <p:sp>
          <p:nvSpPr>
            <p:cNvPr id="15" name="Rectangle 14">
              <a:extLst>
                <a:ext uri="{FF2B5EF4-FFF2-40B4-BE49-F238E27FC236}">
                  <a16:creationId xmlns:a16="http://schemas.microsoft.com/office/drawing/2014/main" id="{2D1151AF-C5B3-A045-AEE1-3269AA4A552C}"/>
                </a:ext>
              </a:extLst>
            </p:cNvPr>
            <p:cNvSpPr/>
            <p:nvPr/>
          </p:nvSpPr>
          <p:spPr>
            <a:xfrm>
              <a:off x="6496539" y="5113780"/>
              <a:ext cx="1905057" cy="455279"/>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73345EA0-B0B7-F44C-8F38-D5AFE6085FC8}"/>
                </a:ext>
              </a:extLst>
            </p:cNvPr>
            <p:cNvSpPr txBox="1"/>
            <p:nvPr/>
          </p:nvSpPr>
          <p:spPr>
            <a:xfrm>
              <a:off x="7272026" y="5157138"/>
              <a:ext cx="36420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IP</a:t>
              </a:r>
            </a:p>
          </p:txBody>
        </p:sp>
        <p:sp>
          <p:nvSpPr>
            <p:cNvPr id="17" name="Rectangle 16">
              <a:extLst>
                <a:ext uri="{FF2B5EF4-FFF2-40B4-BE49-F238E27FC236}">
                  <a16:creationId xmlns:a16="http://schemas.microsoft.com/office/drawing/2014/main" id="{9E61329C-3A7C-604A-9A8E-01F3C99E2079}"/>
                </a:ext>
              </a:extLst>
            </p:cNvPr>
            <p:cNvSpPr/>
            <p:nvPr/>
          </p:nvSpPr>
          <p:spPr>
            <a:xfrm>
              <a:off x="6498408" y="4629306"/>
              <a:ext cx="1905057" cy="368352"/>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468920E0-FF76-6644-B051-4E77A3191FF8}"/>
                </a:ext>
              </a:extLst>
            </p:cNvPr>
            <p:cNvSpPr txBox="1"/>
            <p:nvPr/>
          </p:nvSpPr>
          <p:spPr>
            <a:xfrm>
              <a:off x="7175233" y="4618042"/>
              <a:ext cx="595035"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UDP</a:t>
              </a:r>
            </a:p>
          </p:txBody>
        </p:sp>
        <p:sp>
          <p:nvSpPr>
            <p:cNvPr id="19" name="Rectangle 18">
              <a:extLst>
                <a:ext uri="{FF2B5EF4-FFF2-40B4-BE49-F238E27FC236}">
                  <a16:creationId xmlns:a16="http://schemas.microsoft.com/office/drawing/2014/main" id="{35D51034-DDE5-974C-82AE-142E75CC3E19}"/>
                </a:ext>
              </a:extLst>
            </p:cNvPr>
            <p:cNvSpPr/>
            <p:nvPr/>
          </p:nvSpPr>
          <p:spPr>
            <a:xfrm>
              <a:off x="6499257" y="3834586"/>
              <a:ext cx="1905057" cy="574888"/>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0" name="TextBox 19">
              <a:extLst>
                <a:ext uri="{FF2B5EF4-FFF2-40B4-BE49-F238E27FC236}">
                  <a16:creationId xmlns:a16="http://schemas.microsoft.com/office/drawing/2014/main" id="{A167D951-0F22-A44F-8F1F-8321B2215BAD}"/>
                </a:ext>
              </a:extLst>
            </p:cNvPr>
            <p:cNvSpPr txBox="1"/>
            <p:nvPr/>
          </p:nvSpPr>
          <p:spPr>
            <a:xfrm>
              <a:off x="7057603" y="3941038"/>
              <a:ext cx="67197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a:t>
              </a:r>
            </a:p>
          </p:txBody>
        </p:sp>
        <p:sp>
          <p:nvSpPr>
            <p:cNvPr id="21" name="Rectangle 20">
              <a:extLst>
                <a:ext uri="{FF2B5EF4-FFF2-40B4-BE49-F238E27FC236}">
                  <a16:creationId xmlns:a16="http://schemas.microsoft.com/office/drawing/2014/main" id="{0C963114-2E56-3B45-9DC9-15BC9AF2AD0E}"/>
                </a:ext>
              </a:extLst>
            </p:cNvPr>
            <p:cNvSpPr/>
            <p:nvPr/>
          </p:nvSpPr>
          <p:spPr>
            <a:xfrm>
              <a:off x="6496539" y="3362961"/>
              <a:ext cx="1905057" cy="397789"/>
            </a:xfrm>
            <a:prstGeom prst="rect">
              <a:avLst/>
            </a:prstGeom>
            <a:solidFill>
              <a:srgbClr val="9BBB59">
                <a:lumMod val="20000"/>
                <a:lumOff val="80000"/>
              </a:srgbClr>
            </a:solidFill>
            <a:ln w="25400" cap="flat" cmpd="sng" algn="ctr">
              <a:solidFill>
                <a:srgbClr val="9BBB59">
                  <a:lumMod val="75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777A77CA-7D7A-C746-8993-B09B1D569932}"/>
                </a:ext>
              </a:extLst>
            </p:cNvPr>
            <p:cNvSpPr txBox="1"/>
            <p:nvPr/>
          </p:nvSpPr>
          <p:spPr>
            <a:xfrm>
              <a:off x="6618172" y="3362958"/>
              <a:ext cx="176760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HTTP/2 </a:t>
              </a: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(slimmed)</a:t>
              </a:r>
            </a:p>
          </p:txBody>
        </p:sp>
        <p:sp>
          <p:nvSpPr>
            <p:cNvPr id="29" name="Right Brace 28">
              <a:extLst>
                <a:ext uri="{FF2B5EF4-FFF2-40B4-BE49-F238E27FC236}">
                  <a16:creationId xmlns:a16="http://schemas.microsoft.com/office/drawing/2014/main" id="{A2D8FD90-2BF4-CC45-9AB0-51A5BE04C10B}"/>
                </a:ext>
              </a:extLst>
            </p:cNvPr>
            <p:cNvSpPr/>
            <p:nvPr/>
          </p:nvSpPr>
          <p:spPr>
            <a:xfrm>
              <a:off x="8461369" y="3362958"/>
              <a:ext cx="155448" cy="1050444"/>
            </a:xfrm>
            <a:prstGeom prst="rightBrace">
              <a:avLst/>
            </a:prstGeom>
            <a:noFill/>
            <a:ln w="12700" cap="flat" cmpd="sng" algn="ctr">
              <a:solidFill>
                <a:sysClr val="windowText" lastClr="000000"/>
              </a:solid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62CBF145-CA1B-E44D-9B14-4357D6C18D99}"/>
                </a:ext>
              </a:extLst>
            </p:cNvPr>
            <p:cNvSpPr txBox="1"/>
            <p:nvPr/>
          </p:nvSpPr>
          <p:spPr>
            <a:xfrm>
              <a:off x="8441878" y="3706785"/>
              <a:ext cx="900059" cy="33855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HTTP/3</a:t>
              </a:r>
            </a:p>
          </p:txBody>
        </p:sp>
        <p:sp>
          <p:nvSpPr>
            <p:cNvPr id="31" name="TextBox 30">
              <a:extLst>
                <a:ext uri="{FF2B5EF4-FFF2-40B4-BE49-F238E27FC236}">
                  <a16:creationId xmlns:a16="http://schemas.microsoft.com/office/drawing/2014/main" id="{CB088D5D-930F-554A-8373-AC6F0FD83F5E}"/>
                </a:ext>
              </a:extLst>
            </p:cNvPr>
            <p:cNvSpPr txBox="1"/>
            <p:nvPr/>
          </p:nvSpPr>
          <p:spPr>
            <a:xfrm>
              <a:off x="6450012" y="5706048"/>
              <a:ext cx="181492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HTTP/</a:t>
              </a:r>
              <a:r>
                <a:rPr lang="en-US" kern="0" dirty="0">
                  <a:solidFill>
                    <a:prstClr val="black"/>
                  </a:solidFill>
                  <a:latin typeface="Calibri" panose="020F0502020204030204"/>
                </a:rPr>
                <a:t>3</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over UDP</a:t>
              </a:r>
            </a:p>
          </p:txBody>
        </p:sp>
      </p:grpSp>
      <p:sp>
        <p:nvSpPr>
          <p:cNvPr id="34" name="Slide Number Placeholder 2">
            <a:extLst>
              <a:ext uri="{FF2B5EF4-FFF2-40B4-BE49-F238E27FC236}">
                <a16:creationId xmlns:a16="http://schemas.microsoft.com/office/drawing/2014/main" id="{FD449AB4-BB35-4340-ACBD-E3F110433666}"/>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84</a:t>
            </a:fld>
            <a:endParaRPr lang="en-US" dirty="0"/>
          </a:p>
        </p:txBody>
      </p:sp>
    </p:spTree>
    <p:extLst>
      <p:ext uri="{BB962C8B-B14F-4D97-AF65-F5344CB8AC3E}">
        <p14:creationId xmlns:p14="http://schemas.microsoft.com/office/powerpoint/2010/main" val="38473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sz="4800" dirty="0"/>
              <a:t>QUIC: Quick UDP Internet Connections</a:t>
            </a:r>
            <a:endParaRPr lang="en-US" sz="4400" b="0" dirty="0"/>
          </a:p>
        </p:txBody>
      </p:sp>
      <p:sp>
        <p:nvSpPr>
          <p:cNvPr id="5" name="Content Placeholder 3">
            <a:extLst>
              <a:ext uri="{FF2B5EF4-FFF2-40B4-BE49-F238E27FC236}">
                <a16:creationId xmlns:a16="http://schemas.microsoft.com/office/drawing/2014/main" id="{2E9214B3-CD75-BA4B-9D47-70445519F4F9}"/>
              </a:ext>
            </a:extLst>
          </p:cNvPr>
          <p:cNvSpPr txBox="1">
            <a:spLocks/>
          </p:cNvSpPr>
          <p:nvPr/>
        </p:nvSpPr>
        <p:spPr>
          <a:xfrm>
            <a:off x="723900" y="1498601"/>
            <a:ext cx="10515600" cy="102869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2200"/>
              </a:spcBef>
              <a:spcAft>
                <a:spcPts val="0"/>
              </a:spcAft>
              <a:buClr>
                <a:srgbClr val="0000A3"/>
              </a:buClr>
              <a:buSzTx/>
              <a:buFont typeface="Wingdings" pitchFamily="2" charset="2"/>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adopts approaches we’ve studied in this chapter for connection establishment, error control, congestion control</a:t>
            </a: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Content Placeholder 6">
            <a:extLst>
              <a:ext uri="{FF2B5EF4-FFF2-40B4-BE49-F238E27FC236}">
                <a16:creationId xmlns:a16="http://schemas.microsoft.com/office/drawing/2014/main" id="{3777E4FE-DA5A-4E48-B610-6339C350A768}"/>
              </a:ext>
            </a:extLst>
          </p:cNvPr>
          <p:cNvSpPr>
            <a:spLocks noGrp="1"/>
          </p:cNvSpPr>
          <p:nvPr>
            <p:ph idx="1"/>
          </p:nvPr>
        </p:nvSpPr>
        <p:spPr>
          <a:xfrm>
            <a:off x="770293" y="4950316"/>
            <a:ext cx="10651413" cy="1675335"/>
          </a:xfrm>
        </p:spPr>
        <p:txBody>
          <a:bodyPr>
            <a:normAutofit/>
          </a:bodyPr>
          <a:lstStyle/>
          <a:p>
            <a:r>
              <a:rPr lang="en-US" dirty="0"/>
              <a:t> multiple application-level “streams” multiplexed over single QUIC connection</a:t>
            </a:r>
          </a:p>
          <a:p>
            <a:pPr lvl="1"/>
            <a:r>
              <a:rPr lang="en-US" dirty="0"/>
              <a:t>separate reliable data transfer, security</a:t>
            </a:r>
          </a:p>
          <a:p>
            <a:pPr lvl="1"/>
            <a:r>
              <a:rPr lang="en-US" dirty="0"/>
              <a:t>common congestion control</a:t>
            </a:r>
          </a:p>
          <a:p>
            <a:endParaRPr lang="en-US" dirty="0"/>
          </a:p>
        </p:txBody>
      </p:sp>
      <p:sp>
        <p:nvSpPr>
          <p:cNvPr id="8" name="Content Placeholder 3">
            <a:extLst>
              <a:ext uri="{FF2B5EF4-FFF2-40B4-BE49-F238E27FC236}">
                <a16:creationId xmlns:a16="http://schemas.microsoft.com/office/drawing/2014/main" id="{10DF9673-8E09-094A-B15C-D9EA31F6C15C}"/>
              </a:ext>
            </a:extLst>
          </p:cNvPr>
          <p:cNvSpPr txBox="1">
            <a:spLocks/>
          </p:cNvSpPr>
          <p:nvPr/>
        </p:nvSpPr>
        <p:spPr>
          <a:xfrm>
            <a:off x="673100" y="2565401"/>
            <a:ext cx="10515600" cy="238491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600" b="1" i="0" u="none" strike="noStrike" kern="1200" cap="none" spc="0" normalizeH="0" baseline="0" noProof="0" dirty="0">
                <a:ln>
                  <a:noFill/>
                </a:ln>
                <a:solidFill>
                  <a:srgbClr val="0000A3"/>
                </a:solidFill>
                <a:effectLst/>
                <a:uLnTx/>
                <a:uFillTx/>
                <a:latin typeface="Calibri"/>
                <a:ea typeface="+mn-ea"/>
                <a:cs typeface="+mn-cs"/>
              </a:rPr>
              <a:t>error and congestion control: </a:t>
            </a:r>
            <a:r>
              <a:rPr kumimoji="0" lang="en-US" sz="2600" b="0" i="0" u="none" strike="noStrike" kern="1200" cap="none" spc="0" normalizeH="0" baseline="0" noProof="0" dirty="0">
                <a:ln>
                  <a:noFill/>
                </a:ln>
                <a:solidFill>
                  <a:prstClr val="black"/>
                </a:solidFill>
                <a:effectLst/>
                <a:uLnTx/>
                <a:uFillTx/>
                <a:latin typeface="Calibri"/>
                <a:ea typeface="+mn-ea"/>
                <a:cs typeface="+mn-cs"/>
              </a:rPr>
              <a:t>“Readers familiar with TCP’s loss detection and congestion control will find algorithms here that parallel well-known TCP ones.” </a:t>
            </a:r>
            <a:r>
              <a:rPr kumimoji="0" lang="en-US" sz="1800" b="0" i="0" u="none" strike="noStrike" kern="1200" cap="none" spc="0" normalizeH="0" baseline="0" noProof="0" dirty="0">
                <a:ln>
                  <a:noFill/>
                </a:ln>
                <a:solidFill>
                  <a:prstClr val="black"/>
                </a:solidFill>
                <a:effectLst/>
                <a:uLnTx/>
                <a:uFillTx/>
                <a:latin typeface="Calibri"/>
                <a:ea typeface="+mn-ea"/>
                <a:cs typeface="+mn-cs"/>
              </a:rPr>
              <a:t>[from QUIC specification]</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600" b="1" i="0" u="none" strike="noStrike" kern="1200" cap="none" spc="0" normalizeH="0" baseline="0" noProof="0" dirty="0">
                <a:ln>
                  <a:noFill/>
                </a:ln>
                <a:solidFill>
                  <a:srgbClr val="0000A3"/>
                </a:solidFill>
                <a:effectLst/>
                <a:uLnTx/>
                <a:uFillTx/>
                <a:latin typeface="Calibri"/>
                <a:ea typeface="+mn-ea"/>
                <a:cs typeface="+mn-cs"/>
              </a:rPr>
              <a:t>connection establishment: </a:t>
            </a:r>
            <a:r>
              <a:rPr kumimoji="0" lang="en-US" sz="2600" b="0" i="0" u="none" strike="noStrike" kern="1200" cap="none" spc="0" normalizeH="0" baseline="0" noProof="0" dirty="0">
                <a:ln>
                  <a:noFill/>
                </a:ln>
                <a:solidFill>
                  <a:prstClr val="black"/>
                </a:solidFill>
                <a:effectLst/>
                <a:uLnTx/>
                <a:uFillTx/>
                <a:latin typeface="Calibri"/>
                <a:ea typeface="+mn-ea"/>
                <a:cs typeface="+mn-cs"/>
              </a:rPr>
              <a:t>reliability, congestion control, authentication, encryption, state established in one (or even zero) RTT (recall HTTP3</a:t>
            </a:r>
            <a:r>
              <a:rPr kumimoji="0" lang="en-US" sz="2600" b="0" i="0" u="none" strike="noStrike" kern="1200" cap="none" spc="0" normalizeH="0" noProof="0" dirty="0">
                <a:ln>
                  <a:noFill/>
                </a:ln>
                <a:solidFill>
                  <a:prstClr val="black"/>
                </a:solidFill>
                <a:effectLst/>
                <a:uLnTx/>
                <a:uFillTx/>
                <a:latin typeface="Calibri"/>
                <a:ea typeface="+mn-ea"/>
                <a:cs typeface="+mn-cs"/>
              </a:rPr>
              <a:t> discussion in Chapter 2)</a:t>
            </a:r>
            <a:endParaRPr kumimoji="0" lang="en-US" sz="2600" b="0" i="0" u="none" strike="noStrike" kern="1200" cap="none" spc="0" normalizeH="0" baseline="0" noProof="0" dirty="0">
              <a:ln>
                <a:noFill/>
              </a:ln>
              <a:solidFill>
                <a:prstClr val="black"/>
              </a:solidFill>
              <a:effectLst/>
              <a:uLnTx/>
              <a:uFillTx/>
              <a:latin typeface="Calibri"/>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130175"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Slide Number Placeholder 2">
            <a:extLst>
              <a:ext uri="{FF2B5EF4-FFF2-40B4-BE49-F238E27FC236}">
                <a16:creationId xmlns:a16="http://schemas.microsoft.com/office/drawing/2014/main" id="{4E07038B-ED19-5842-A33E-2BCFB1164603}"/>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85</a:t>
            </a:fld>
            <a:endParaRPr lang="en-US" dirty="0"/>
          </a:p>
        </p:txBody>
      </p:sp>
    </p:spTree>
    <p:extLst>
      <p:ext uri="{BB962C8B-B14F-4D97-AF65-F5344CB8AC3E}">
        <p14:creationId xmlns:p14="http://schemas.microsoft.com/office/powerpoint/2010/main" val="3110625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ssolv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dissolv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dissolve">
                                      <p:cBhvr>
                                        <p:cTn id="17" dur="500"/>
                                        <p:tgtEl>
                                          <p:spTgt spid="7">
                                            <p:txEl>
                                              <p:pRg st="0" end="0"/>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dissolve">
                                      <p:cBhvr>
                                        <p:cTn id="20" dur="500"/>
                                        <p:tgtEl>
                                          <p:spTgt spid="7">
                                            <p:txEl>
                                              <p:pRg st="1" end="1"/>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dissolve">
                                      <p:cBhvr>
                                        <p:cTn id="23"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bldLvl="2"/>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2955F75D-B0C1-5C4D-ACD5-A79B738E0D4C}"/>
              </a:ext>
            </a:extLst>
          </p:cNvPr>
          <p:cNvSpPr>
            <a:spLocks noGrp="1"/>
          </p:cNvSpPr>
          <p:nvPr>
            <p:ph type="title"/>
          </p:nvPr>
        </p:nvSpPr>
        <p:spPr>
          <a:xfrm>
            <a:off x="838200" y="451821"/>
            <a:ext cx="10515600" cy="894622"/>
          </a:xfrm>
        </p:spPr>
        <p:txBody>
          <a:bodyPr>
            <a:normAutofit fontScale="90000"/>
          </a:bodyPr>
          <a:lstStyle/>
          <a:p>
            <a:r>
              <a:rPr lang="en-US" sz="4800" dirty="0"/>
              <a:t>QUIC: streams: parallelism, no HOL blocking</a:t>
            </a:r>
            <a:endParaRPr lang="en-US" sz="4400" b="0" dirty="0"/>
          </a:p>
        </p:txBody>
      </p:sp>
      <p:sp>
        <p:nvSpPr>
          <p:cNvPr id="322" name="TextBox 321">
            <a:extLst>
              <a:ext uri="{FF2B5EF4-FFF2-40B4-BE49-F238E27FC236}">
                <a16:creationId xmlns:a16="http://schemas.microsoft.com/office/drawing/2014/main" id="{1DEB22C4-6CDE-A443-83AD-7C9A17A5F03C}"/>
              </a:ext>
            </a:extLst>
          </p:cNvPr>
          <p:cNvSpPr txBox="1"/>
          <p:nvPr/>
        </p:nvSpPr>
        <p:spPr>
          <a:xfrm>
            <a:off x="2543977" y="6035783"/>
            <a:ext cx="1447832"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(a) HTTP 1.1</a:t>
            </a:r>
          </a:p>
        </p:txBody>
      </p:sp>
      <p:sp>
        <p:nvSpPr>
          <p:cNvPr id="195" name="Rectangle 194">
            <a:extLst>
              <a:ext uri="{FF2B5EF4-FFF2-40B4-BE49-F238E27FC236}">
                <a16:creationId xmlns:a16="http://schemas.microsoft.com/office/drawing/2014/main" id="{2D4653D6-BC4E-EF43-8900-840CE61D8374}"/>
              </a:ext>
            </a:extLst>
          </p:cNvPr>
          <p:cNvSpPr/>
          <p:nvPr/>
        </p:nvSpPr>
        <p:spPr>
          <a:xfrm>
            <a:off x="1054261" y="1578653"/>
            <a:ext cx="1965566" cy="2175203"/>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196" name="Rectangle 195">
            <a:extLst>
              <a:ext uri="{FF2B5EF4-FFF2-40B4-BE49-F238E27FC236}">
                <a16:creationId xmlns:a16="http://schemas.microsoft.com/office/drawing/2014/main" id="{4C795773-27B5-804B-897D-F51DCADB59B0}"/>
              </a:ext>
            </a:extLst>
          </p:cNvPr>
          <p:cNvSpPr/>
          <p:nvPr/>
        </p:nvSpPr>
        <p:spPr>
          <a:xfrm>
            <a:off x="1036173" y="4019150"/>
            <a:ext cx="1965566" cy="1278547"/>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197" name="Rectangle 196">
            <a:extLst>
              <a:ext uri="{FF2B5EF4-FFF2-40B4-BE49-F238E27FC236}">
                <a16:creationId xmlns:a16="http://schemas.microsoft.com/office/drawing/2014/main" id="{25113ADF-5571-4349-8CD1-2C89C0BE47EC}"/>
              </a:ext>
            </a:extLst>
          </p:cNvPr>
          <p:cNvSpPr/>
          <p:nvPr/>
        </p:nvSpPr>
        <p:spPr>
          <a:xfrm>
            <a:off x="1115624" y="3255550"/>
            <a:ext cx="1829965" cy="449155"/>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198" name="TextBox 197">
            <a:extLst>
              <a:ext uri="{FF2B5EF4-FFF2-40B4-BE49-F238E27FC236}">
                <a16:creationId xmlns:a16="http://schemas.microsoft.com/office/drawing/2014/main" id="{130EA656-CE8C-E146-9ADF-ED15CA2DADD3}"/>
              </a:ext>
            </a:extLst>
          </p:cNvPr>
          <p:cNvSpPr txBox="1"/>
          <p:nvPr/>
        </p:nvSpPr>
        <p:spPr>
          <a:xfrm>
            <a:off x="1249008" y="3237350"/>
            <a:ext cx="1576072"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TLS </a:t>
            </a: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encryption</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199" name="Group 198">
            <a:extLst>
              <a:ext uri="{FF2B5EF4-FFF2-40B4-BE49-F238E27FC236}">
                <a16:creationId xmlns:a16="http://schemas.microsoft.com/office/drawing/2014/main" id="{3F30BB02-5749-E946-8541-686AB05A015E}"/>
              </a:ext>
            </a:extLst>
          </p:cNvPr>
          <p:cNvGrpSpPr/>
          <p:nvPr/>
        </p:nvGrpSpPr>
        <p:grpSpPr>
          <a:xfrm>
            <a:off x="1115626" y="4169906"/>
            <a:ext cx="1829965" cy="467357"/>
            <a:chOff x="985206" y="5016160"/>
            <a:chExt cx="1509130" cy="255065"/>
          </a:xfrm>
        </p:grpSpPr>
        <p:sp>
          <p:nvSpPr>
            <p:cNvPr id="200" name="Rectangle 199">
              <a:extLst>
                <a:ext uri="{FF2B5EF4-FFF2-40B4-BE49-F238E27FC236}">
                  <a16:creationId xmlns:a16="http://schemas.microsoft.com/office/drawing/2014/main" id="{40BEF2AB-F8E8-5E41-A96C-61F14C59AD84}"/>
                </a:ext>
              </a:extLst>
            </p:cNvPr>
            <p:cNvSpPr/>
            <p:nvPr/>
          </p:nvSpPr>
          <p:spPr>
            <a:xfrm>
              <a:off x="985206" y="5016160"/>
              <a:ext cx="1509130" cy="245132"/>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201" name="TextBox 200">
              <a:extLst>
                <a:ext uri="{FF2B5EF4-FFF2-40B4-BE49-F238E27FC236}">
                  <a16:creationId xmlns:a16="http://schemas.microsoft.com/office/drawing/2014/main" id="{B456323E-FBE4-1A43-AA7B-F212C4B0B9F1}"/>
                </a:ext>
              </a:extLst>
            </p:cNvPr>
            <p:cNvSpPr txBox="1"/>
            <p:nvPr/>
          </p:nvSpPr>
          <p:spPr>
            <a:xfrm>
              <a:off x="1170162" y="5019266"/>
              <a:ext cx="1016851" cy="25195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TCP RDT</a:t>
              </a:r>
            </a:p>
          </p:txBody>
        </p:sp>
      </p:grpSp>
      <p:grpSp>
        <p:nvGrpSpPr>
          <p:cNvPr id="202" name="Group 201">
            <a:extLst>
              <a:ext uri="{FF2B5EF4-FFF2-40B4-BE49-F238E27FC236}">
                <a16:creationId xmlns:a16="http://schemas.microsoft.com/office/drawing/2014/main" id="{52268243-BD57-944E-89DF-6418BA3B82B2}"/>
              </a:ext>
            </a:extLst>
          </p:cNvPr>
          <p:cNvGrpSpPr/>
          <p:nvPr/>
        </p:nvGrpSpPr>
        <p:grpSpPr>
          <a:xfrm>
            <a:off x="1054260" y="4684687"/>
            <a:ext cx="1925319" cy="467355"/>
            <a:chOff x="948938" y="5006227"/>
            <a:chExt cx="1587767" cy="255065"/>
          </a:xfrm>
        </p:grpSpPr>
        <p:sp>
          <p:nvSpPr>
            <p:cNvPr id="203" name="Rectangle 202">
              <a:extLst>
                <a:ext uri="{FF2B5EF4-FFF2-40B4-BE49-F238E27FC236}">
                  <a16:creationId xmlns:a16="http://schemas.microsoft.com/office/drawing/2014/main" id="{8ADB00AA-1BC5-8A46-92DB-BC78D9ACA84D}"/>
                </a:ext>
              </a:extLst>
            </p:cNvPr>
            <p:cNvSpPr/>
            <p:nvPr/>
          </p:nvSpPr>
          <p:spPr>
            <a:xfrm>
              <a:off x="985206" y="5016160"/>
              <a:ext cx="1509130" cy="245132"/>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204" name="TextBox 203">
              <a:extLst>
                <a:ext uri="{FF2B5EF4-FFF2-40B4-BE49-F238E27FC236}">
                  <a16:creationId xmlns:a16="http://schemas.microsoft.com/office/drawing/2014/main" id="{27086AFB-B8AA-C845-87C5-C1FC9E45CD3C}"/>
                </a:ext>
              </a:extLst>
            </p:cNvPr>
            <p:cNvSpPr txBox="1"/>
            <p:nvPr/>
          </p:nvSpPr>
          <p:spPr>
            <a:xfrm>
              <a:off x="948938" y="5006227"/>
              <a:ext cx="1587767" cy="2519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TCP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Cong. Contr.</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
        <p:nvSpPr>
          <p:cNvPr id="217" name="Rectangle 216">
            <a:extLst>
              <a:ext uri="{FF2B5EF4-FFF2-40B4-BE49-F238E27FC236}">
                <a16:creationId xmlns:a16="http://schemas.microsoft.com/office/drawing/2014/main" id="{66EA7720-45BB-CE4D-9001-D63D6FEA1615}"/>
              </a:ext>
            </a:extLst>
          </p:cNvPr>
          <p:cNvSpPr/>
          <p:nvPr/>
        </p:nvSpPr>
        <p:spPr>
          <a:xfrm>
            <a:off x="3680782" y="1557642"/>
            <a:ext cx="1965566" cy="2175203"/>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324" name="TextBox 323">
            <a:extLst>
              <a:ext uri="{FF2B5EF4-FFF2-40B4-BE49-F238E27FC236}">
                <a16:creationId xmlns:a16="http://schemas.microsoft.com/office/drawing/2014/main" id="{887CA181-E3E1-4C41-B8A8-C1BE3C77300C}"/>
              </a:ext>
            </a:extLst>
          </p:cNvPr>
          <p:cNvSpPr txBox="1"/>
          <p:nvPr/>
        </p:nvSpPr>
        <p:spPr>
          <a:xfrm rot="16200000">
            <a:off x="-420574" y="4419208"/>
            <a:ext cx="1533142" cy="39687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0" cap="none" spc="0" normalizeH="0" baseline="0" noProof="0" dirty="0">
                <a:ln>
                  <a:noFill/>
                </a:ln>
                <a:solidFill>
                  <a:prstClr val="black"/>
                </a:solidFill>
                <a:effectLst/>
                <a:uLnTx/>
                <a:uFillTx/>
                <a:latin typeface="Calibri" panose="020F0502020204030204"/>
                <a:ea typeface="+mn-ea"/>
                <a:cs typeface="+mn-cs"/>
              </a:rPr>
              <a:t>transport</a:t>
            </a:r>
          </a:p>
        </p:txBody>
      </p:sp>
      <p:sp>
        <p:nvSpPr>
          <p:cNvPr id="325" name="TextBox 324">
            <a:extLst>
              <a:ext uri="{FF2B5EF4-FFF2-40B4-BE49-F238E27FC236}">
                <a16:creationId xmlns:a16="http://schemas.microsoft.com/office/drawing/2014/main" id="{6D0A2F96-C1F0-0143-B197-7F9C1351C97A}"/>
              </a:ext>
            </a:extLst>
          </p:cNvPr>
          <p:cNvSpPr txBox="1"/>
          <p:nvPr/>
        </p:nvSpPr>
        <p:spPr>
          <a:xfrm rot="16200000">
            <a:off x="-463312" y="2467817"/>
            <a:ext cx="1779056" cy="39687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0" cap="none" spc="0" normalizeH="0" baseline="0" noProof="0" dirty="0">
                <a:ln>
                  <a:noFill/>
                </a:ln>
                <a:solidFill>
                  <a:prstClr val="black"/>
                </a:solidFill>
                <a:effectLst/>
                <a:uLnTx/>
                <a:uFillTx/>
                <a:latin typeface="Calibri" panose="020F0502020204030204"/>
                <a:ea typeface="+mn-ea"/>
                <a:cs typeface="+mn-cs"/>
              </a:rPr>
              <a:t>application</a:t>
            </a:r>
          </a:p>
        </p:txBody>
      </p:sp>
      <p:cxnSp>
        <p:nvCxnSpPr>
          <p:cNvPr id="326" name="Straight Connector 325">
            <a:extLst>
              <a:ext uri="{FF2B5EF4-FFF2-40B4-BE49-F238E27FC236}">
                <a16:creationId xmlns:a16="http://schemas.microsoft.com/office/drawing/2014/main" id="{7E58084D-96D5-6047-8E32-A0A00E0D0039}"/>
              </a:ext>
            </a:extLst>
          </p:cNvPr>
          <p:cNvCxnSpPr/>
          <p:nvPr/>
        </p:nvCxnSpPr>
        <p:spPr>
          <a:xfrm>
            <a:off x="1044294" y="3866601"/>
            <a:ext cx="4501961" cy="0"/>
          </a:xfrm>
          <a:prstGeom prst="line">
            <a:avLst/>
          </a:prstGeom>
          <a:noFill/>
          <a:ln w="12700" cap="flat" cmpd="sng" algn="ctr">
            <a:solidFill>
              <a:sysClr val="windowText" lastClr="000000"/>
            </a:solidFill>
            <a:prstDash val="dash"/>
          </a:ln>
          <a:effectLst/>
        </p:spPr>
      </p:cxnSp>
      <p:sp>
        <p:nvSpPr>
          <p:cNvPr id="323" name="TextBox 322">
            <a:extLst>
              <a:ext uri="{FF2B5EF4-FFF2-40B4-BE49-F238E27FC236}">
                <a16:creationId xmlns:a16="http://schemas.microsoft.com/office/drawing/2014/main" id="{80BD7FCB-A075-574B-8C3F-3776F31142C8}"/>
              </a:ext>
            </a:extLst>
          </p:cNvPr>
          <p:cNvSpPr txBox="1"/>
          <p:nvPr/>
        </p:nvSpPr>
        <p:spPr>
          <a:xfrm>
            <a:off x="6775422" y="6025510"/>
            <a:ext cx="4241867"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(b) HTTP/2 with QUIC: no HOL blocking</a:t>
            </a:r>
          </a:p>
        </p:txBody>
      </p:sp>
      <p:grpSp>
        <p:nvGrpSpPr>
          <p:cNvPr id="12" name="Group 11">
            <a:extLst>
              <a:ext uri="{FF2B5EF4-FFF2-40B4-BE49-F238E27FC236}">
                <a16:creationId xmlns:a16="http://schemas.microsoft.com/office/drawing/2014/main" id="{3D2CB1AA-2F3F-0244-A0D5-3981E4178EEC}"/>
              </a:ext>
            </a:extLst>
          </p:cNvPr>
          <p:cNvGrpSpPr/>
          <p:nvPr/>
        </p:nvGrpSpPr>
        <p:grpSpPr>
          <a:xfrm>
            <a:off x="3654226" y="4021737"/>
            <a:ext cx="1965566" cy="1278547"/>
            <a:chOff x="3654226" y="3933249"/>
            <a:chExt cx="1965566" cy="1278547"/>
          </a:xfrm>
        </p:grpSpPr>
        <p:sp>
          <p:nvSpPr>
            <p:cNvPr id="328" name="Rectangle 327">
              <a:extLst>
                <a:ext uri="{FF2B5EF4-FFF2-40B4-BE49-F238E27FC236}">
                  <a16:creationId xmlns:a16="http://schemas.microsoft.com/office/drawing/2014/main" id="{C366968B-E5E9-E342-8B23-F97D694251AA}"/>
                </a:ext>
              </a:extLst>
            </p:cNvPr>
            <p:cNvSpPr/>
            <p:nvPr/>
          </p:nvSpPr>
          <p:spPr>
            <a:xfrm>
              <a:off x="3654226" y="3933249"/>
              <a:ext cx="1965566" cy="1278547"/>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grpSp>
          <p:nvGrpSpPr>
            <p:cNvPr id="329" name="Group 328">
              <a:extLst>
                <a:ext uri="{FF2B5EF4-FFF2-40B4-BE49-F238E27FC236}">
                  <a16:creationId xmlns:a16="http://schemas.microsoft.com/office/drawing/2014/main" id="{397F2BD3-8F29-1D46-AB35-10C73F47FB55}"/>
                </a:ext>
              </a:extLst>
            </p:cNvPr>
            <p:cNvGrpSpPr/>
            <p:nvPr/>
          </p:nvGrpSpPr>
          <p:grpSpPr>
            <a:xfrm>
              <a:off x="3733679" y="4084005"/>
              <a:ext cx="1829965" cy="467357"/>
              <a:chOff x="985206" y="5016160"/>
              <a:chExt cx="1509130" cy="255065"/>
            </a:xfrm>
          </p:grpSpPr>
          <p:sp>
            <p:nvSpPr>
              <p:cNvPr id="330" name="Rectangle 329">
                <a:extLst>
                  <a:ext uri="{FF2B5EF4-FFF2-40B4-BE49-F238E27FC236}">
                    <a16:creationId xmlns:a16="http://schemas.microsoft.com/office/drawing/2014/main" id="{7386AB60-4013-8340-8460-905C3A1D4430}"/>
                  </a:ext>
                </a:extLst>
              </p:cNvPr>
              <p:cNvSpPr/>
              <p:nvPr/>
            </p:nvSpPr>
            <p:spPr>
              <a:xfrm>
                <a:off x="985206" y="5016160"/>
                <a:ext cx="1509130" cy="245132"/>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331" name="TextBox 330">
                <a:extLst>
                  <a:ext uri="{FF2B5EF4-FFF2-40B4-BE49-F238E27FC236}">
                    <a16:creationId xmlns:a16="http://schemas.microsoft.com/office/drawing/2014/main" id="{4206B08B-27A9-BC49-A405-BD93FEF199DF}"/>
                  </a:ext>
                </a:extLst>
              </p:cNvPr>
              <p:cNvSpPr txBox="1"/>
              <p:nvPr/>
            </p:nvSpPr>
            <p:spPr>
              <a:xfrm>
                <a:off x="1170162" y="5019266"/>
                <a:ext cx="1016851" cy="25195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TCP RDT</a:t>
                </a:r>
              </a:p>
            </p:txBody>
          </p:sp>
        </p:grpSp>
        <p:grpSp>
          <p:nvGrpSpPr>
            <p:cNvPr id="332" name="Group 331">
              <a:extLst>
                <a:ext uri="{FF2B5EF4-FFF2-40B4-BE49-F238E27FC236}">
                  <a16:creationId xmlns:a16="http://schemas.microsoft.com/office/drawing/2014/main" id="{75C66236-1686-6A4E-8701-672D2E5C5D42}"/>
                </a:ext>
              </a:extLst>
            </p:cNvPr>
            <p:cNvGrpSpPr/>
            <p:nvPr/>
          </p:nvGrpSpPr>
          <p:grpSpPr>
            <a:xfrm>
              <a:off x="3672313" y="4598786"/>
              <a:ext cx="1925319" cy="467355"/>
              <a:chOff x="948938" y="5006227"/>
              <a:chExt cx="1587767" cy="255065"/>
            </a:xfrm>
          </p:grpSpPr>
          <p:sp>
            <p:nvSpPr>
              <p:cNvPr id="333" name="Rectangle 332">
                <a:extLst>
                  <a:ext uri="{FF2B5EF4-FFF2-40B4-BE49-F238E27FC236}">
                    <a16:creationId xmlns:a16="http://schemas.microsoft.com/office/drawing/2014/main" id="{3F6B969C-D9C4-494A-8ECC-516C3B70E818}"/>
                  </a:ext>
                </a:extLst>
              </p:cNvPr>
              <p:cNvSpPr/>
              <p:nvPr/>
            </p:nvSpPr>
            <p:spPr>
              <a:xfrm>
                <a:off x="985206" y="5016160"/>
                <a:ext cx="1509130" cy="245132"/>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334" name="TextBox 333">
                <a:extLst>
                  <a:ext uri="{FF2B5EF4-FFF2-40B4-BE49-F238E27FC236}">
                    <a16:creationId xmlns:a16="http://schemas.microsoft.com/office/drawing/2014/main" id="{686D42E1-A462-784D-83B5-AC6D4D4BF2CC}"/>
                  </a:ext>
                </a:extLst>
              </p:cNvPr>
              <p:cNvSpPr txBox="1"/>
              <p:nvPr/>
            </p:nvSpPr>
            <p:spPr>
              <a:xfrm>
                <a:off x="948938" y="5006227"/>
                <a:ext cx="1587767" cy="2519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TCP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Cong. Contr.</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335" name="Rectangle 334">
            <a:extLst>
              <a:ext uri="{FF2B5EF4-FFF2-40B4-BE49-F238E27FC236}">
                <a16:creationId xmlns:a16="http://schemas.microsoft.com/office/drawing/2014/main" id="{F5B2DE59-67EE-F44D-85CD-882FD9434387}"/>
              </a:ext>
            </a:extLst>
          </p:cNvPr>
          <p:cNvSpPr/>
          <p:nvPr/>
        </p:nvSpPr>
        <p:spPr>
          <a:xfrm>
            <a:off x="3822817" y="3261240"/>
            <a:ext cx="1829965" cy="449155"/>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336" name="TextBox 335">
            <a:extLst>
              <a:ext uri="{FF2B5EF4-FFF2-40B4-BE49-F238E27FC236}">
                <a16:creationId xmlns:a16="http://schemas.microsoft.com/office/drawing/2014/main" id="{C0AE0BBE-F280-254C-B457-CB9FD30F30DA}"/>
              </a:ext>
            </a:extLst>
          </p:cNvPr>
          <p:cNvSpPr txBox="1"/>
          <p:nvPr/>
        </p:nvSpPr>
        <p:spPr>
          <a:xfrm>
            <a:off x="3948827" y="3243040"/>
            <a:ext cx="1576072"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TLS </a:t>
            </a: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encryption</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2">
            <a:extLst>
              <a:ext uri="{FF2B5EF4-FFF2-40B4-BE49-F238E27FC236}">
                <a16:creationId xmlns:a16="http://schemas.microsoft.com/office/drawing/2014/main" id="{8412A817-8AC0-F04B-93B0-EB9246C835BD}"/>
              </a:ext>
            </a:extLst>
          </p:cNvPr>
          <p:cNvSpPr/>
          <p:nvPr/>
        </p:nvSpPr>
        <p:spPr>
          <a:xfrm>
            <a:off x="2308647" y="2654627"/>
            <a:ext cx="1710813" cy="2824317"/>
          </a:xfrm>
          <a:custGeom>
            <a:avLst/>
            <a:gdLst>
              <a:gd name="connsiteX0" fmla="*/ 0 w 1710813"/>
              <a:gd name="connsiteY0" fmla="*/ 376084 h 2824317"/>
              <a:gd name="connsiteX1" fmla="*/ 0 w 1710813"/>
              <a:gd name="connsiteY1" fmla="*/ 2824317 h 2824317"/>
              <a:gd name="connsiteX2" fmla="*/ 95865 w 1710813"/>
              <a:gd name="connsiteY2" fmla="*/ 2824317 h 2824317"/>
              <a:gd name="connsiteX3" fmla="*/ 1710813 w 1710813"/>
              <a:gd name="connsiteY3" fmla="*/ 2824317 h 2824317"/>
              <a:gd name="connsiteX4" fmla="*/ 1710813 w 1710813"/>
              <a:gd name="connsiteY4" fmla="*/ 2676833 h 2824317"/>
              <a:gd name="connsiteX5" fmla="*/ 1710813 w 1710813"/>
              <a:gd name="connsiteY5" fmla="*/ 0 h 2824317"/>
              <a:gd name="connsiteX6" fmla="*/ 1600200 w 1710813"/>
              <a:gd name="connsiteY6" fmla="*/ 0 h 2824317"/>
              <a:gd name="connsiteX7" fmla="*/ 1482213 w 1710813"/>
              <a:gd name="connsiteY7" fmla="*/ 29497 h 2824317"/>
              <a:gd name="connsiteX0" fmla="*/ 0 w 1710813"/>
              <a:gd name="connsiteY0" fmla="*/ 376084 h 2824317"/>
              <a:gd name="connsiteX1" fmla="*/ 0 w 1710813"/>
              <a:gd name="connsiteY1" fmla="*/ 2824317 h 2824317"/>
              <a:gd name="connsiteX2" fmla="*/ 95865 w 1710813"/>
              <a:gd name="connsiteY2" fmla="*/ 2824317 h 2824317"/>
              <a:gd name="connsiteX3" fmla="*/ 1710813 w 1710813"/>
              <a:gd name="connsiteY3" fmla="*/ 2824317 h 2824317"/>
              <a:gd name="connsiteX4" fmla="*/ 1710813 w 1710813"/>
              <a:gd name="connsiteY4" fmla="*/ 2676833 h 2824317"/>
              <a:gd name="connsiteX5" fmla="*/ 1710813 w 1710813"/>
              <a:gd name="connsiteY5" fmla="*/ 0 h 2824317"/>
              <a:gd name="connsiteX6" fmla="*/ 1600200 w 1710813"/>
              <a:gd name="connsiteY6" fmla="*/ 0 h 2824317"/>
              <a:gd name="connsiteX0" fmla="*/ 0 w 1710813"/>
              <a:gd name="connsiteY0" fmla="*/ 376084 h 2824317"/>
              <a:gd name="connsiteX1" fmla="*/ 0 w 1710813"/>
              <a:gd name="connsiteY1" fmla="*/ 2824317 h 2824317"/>
              <a:gd name="connsiteX2" fmla="*/ 95865 w 1710813"/>
              <a:gd name="connsiteY2" fmla="*/ 2824317 h 2824317"/>
              <a:gd name="connsiteX3" fmla="*/ 1710813 w 1710813"/>
              <a:gd name="connsiteY3" fmla="*/ 2824317 h 2824317"/>
              <a:gd name="connsiteX4" fmla="*/ 1710813 w 1710813"/>
              <a:gd name="connsiteY4" fmla="*/ 2676833 h 2824317"/>
              <a:gd name="connsiteX5" fmla="*/ 1710813 w 1710813"/>
              <a:gd name="connsiteY5" fmla="*/ 0 h 282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813" h="2824317">
                <a:moveTo>
                  <a:pt x="0" y="376084"/>
                </a:moveTo>
                <a:lnTo>
                  <a:pt x="0" y="2824317"/>
                </a:lnTo>
                <a:lnTo>
                  <a:pt x="95865" y="2824317"/>
                </a:lnTo>
                <a:lnTo>
                  <a:pt x="1710813" y="2824317"/>
                </a:lnTo>
                <a:lnTo>
                  <a:pt x="1710813" y="2676833"/>
                </a:lnTo>
                <a:lnTo>
                  <a:pt x="1710813" y="0"/>
                </a:lnTo>
              </a:path>
            </a:pathLst>
          </a:custGeom>
          <a:noFill/>
          <a:ln w="25400">
            <a:solidFill>
              <a:srgbClr val="0000A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13">
            <a:extLst>
              <a:ext uri="{FF2B5EF4-FFF2-40B4-BE49-F238E27FC236}">
                <a16:creationId xmlns:a16="http://schemas.microsoft.com/office/drawing/2014/main" id="{245B157C-7205-F646-8AAF-DBD20FCCBC4C}"/>
              </a:ext>
            </a:extLst>
          </p:cNvPr>
          <p:cNvSpPr/>
          <p:nvPr/>
        </p:nvSpPr>
        <p:spPr>
          <a:xfrm>
            <a:off x="1947618" y="2410857"/>
            <a:ext cx="2329488" cy="3142699"/>
          </a:xfrm>
          <a:custGeom>
            <a:avLst/>
            <a:gdLst>
              <a:gd name="connsiteX0" fmla="*/ 0 w 2455606"/>
              <a:gd name="connsiteY0" fmla="*/ 176981 h 3008671"/>
              <a:gd name="connsiteX1" fmla="*/ 0 w 2455606"/>
              <a:gd name="connsiteY1" fmla="*/ 3008671 h 3008671"/>
              <a:gd name="connsiteX2" fmla="*/ 88490 w 2455606"/>
              <a:gd name="connsiteY2" fmla="*/ 3008671 h 3008671"/>
              <a:gd name="connsiteX3" fmla="*/ 2455606 w 2455606"/>
              <a:gd name="connsiteY3" fmla="*/ 3008671 h 3008671"/>
              <a:gd name="connsiteX4" fmla="*/ 2455606 w 2455606"/>
              <a:gd name="connsiteY4" fmla="*/ 0 h 3008671"/>
              <a:gd name="connsiteX5" fmla="*/ 2263877 w 2455606"/>
              <a:gd name="connsiteY5" fmla="*/ 0 h 3008671"/>
              <a:gd name="connsiteX6" fmla="*/ 2263877 w 2455606"/>
              <a:gd name="connsiteY6" fmla="*/ 0 h 3008671"/>
              <a:gd name="connsiteX0" fmla="*/ 0 w 2455606"/>
              <a:gd name="connsiteY0" fmla="*/ 176981 h 3008671"/>
              <a:gd name="connsiteX1" fmla="*/ 0 w 2455606"/>
              <a:gd name="connsiteY1" fmla="*/ 3008671 h 3008671"/>
              <a:gd name="connsiteX2" fmla="*/ 88490 w 2455606"/>
              <a:gd name="connsiteY2" fmla="*/ 3008671 h 3008671"/>
              <a:gd name="connsiteX3" fmla="*/ 2455606 w 2455606"/>
              <a:gd name="connsiteY3" fmla="*/ 3008671 h 3008671"/>
              <a:gd name="connsiteX4" fmla="*/ 2455606 w 2455606"/>
              <a:gd name="connsiteY4" fmla="*/ 0 h 3008671"/>
              <a:gd name="connsiteX5" fmla="*/ 2263877 w 2455606"/>
              <a:gd name="connsiteY5" fmla="*/ 0 h 3008671"/>
              <a:gd name="connsiteX0" fmla="*/ 0 w 2455606"/>
              <a:gd name="connsiteY0" fmla="*/ 176981 h 3008671"/>
              <a:gd name="connsiteX1" fmla="*/ 0 w 2455606"/>
              <a:gd name="connsiteY1" fmla="*/ 3008671 h 3008671"/>
              <a:gd name="connsiteX2" fmla="*/ 88490 w 2455606"/>
              <a:gd name="connsiteY2" fmla="*/ 3008671 h 3008671"/>
              <a:gd name="connsiteX3" fmla="*/ 2455606 w 2455606"/>
              <a:gd name="connsiteY3" fmla="*/ 3008671 h 3008671"/>
              <a:gd name="connsiteX4" fmla="*/ 2455606 w 2455606"/>
              <a:gd name="connsiteY4" fmla="*/ 0 h 3008671"/>
              <a:gd name="connsiteX0" fmla="*/ 0 w 2455606"/>
              <a:gd name="connsiteY0" fmla="*/ 0 h 2831690"/>
              <a:gd name="connsiteX1" fmla="*/ 0 w 2455606"/>
              <a:gd name="connsiteY1" fmla="*/ 2831690 h 2831690"/>
              <a:gd name="connsiteX2" fmla="*/ 88490 w 2455606"/>
              <a:gd name="connsiteY2" fmla="*/ 2831690 h 2831690"/>
              <a:gd name="connsiteX3" fmla="*/ 2455606 w 2455606"/>
              <a:gd name="connsiteY3" fmla="*/ 2831690 h 2831690"/>
              <a:gd name="connsiteX4" fmla="*/ 2455606 w 2455606"/>
              <a:gd name="connsiteY4" fmla="*/ 1755057 h 2831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606" h="2831690">
                <a:moveTo>
                  <a:pt x="0" y="0"/>
                </a:moveTo>
                <a:lnTo>
                  <a:pt x="0" y="2831690"/>
                </a:lnTo>
                <a:lnTo>
                  <a:pt x="88490" y="2831690"/>
                </a:lnTo>
                <a:lnTo>
                  <a:pt x="2455606" y="2831690"/>
                </a:lnTo>
                <a:lnTo>
                  <a:pt x="2455606" y="1755057"/>
                </a:lnTo>
              </a:path>
            </a:pathLst>
          </a:custGeom>
          <a:noFill/>
          <a:ln w="25400">
            <a:solidFill>
              <a:srgbClr val="0000A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Freeform 14">
            <a:extLst>
              <a:ext uri="{FF2B5EF4-FFF2-40B4-BE49-F238E27FC236}">
                <a16:creationId xmlns:a16="http://schemas.microsoft.com/office/drawing/2014/main" id="{CB54907B-9C97-AE47-A125-9A587644726D}"/>
              </a:ext>
            </a:extLst>
          </p:cNvPr>
          <p:cNvSpPr/>
          <p:nvPr/>
        </p:nvSpPr>
        <p:spPr>
          <a:xfrm>
            <a:off x="2120129" y="4420139"/>
            <a:ext cx="2284794" cy="1091381"/>
          </a:xfrm>
          <a:custGeom>
            <a:avLst/>
            <a:gdLst>
              <a:gd name="connsiteX0" fmla="*/ 2558845 w 2558845"/>
              <a:gd name="connsiteY0" fmla="*/ 0 h 1091381"/>
              <a:gd name="connsiteX1" fmla="*/ 2558845 w 2558845"/>
              <a:gd name="connsiteY1" fmla="*/ 1091381 h 1091381"/>
              <a:gd name="connsiteX2" fmla="*/ 2485103 w 2558845"/>
              <a:gd name="connsiteY2" fmla="*/ 1091381 h 1091381"/>
              <a:gd name="connsiteX3" fmla="*/ 0 w 2558845"/>
              <a:gd name="connsiteY3" fmla="*/ 1091381 h 1091381"/>
              <a:gd name="connsiteX4" fmla="*/ 0 w 2558845"/>
              <a:gd name="connsiteY4" fmla="*/ 582562 h 1091381"/>
              <a:gd name="connsiteX5" fmla="*/ 0 w 2558845"/>
              <a:gd name="connsiteY5" fmla="*/ 14749 h 109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8845" h="1091381">
                <a:moveTo>
                  <a:pt x="2558845" y="0"/>
                </a:moveTo>
                <a:lnTo>
                  <a:pt x="2558845" y="1091381"/>
                </a:lnTo>
                <a:lnTo>
                  <a:pt x="2485103" y="1091381"/>
                </a:lnTo>
                <a:lnTo>
                  <a:pt x="0" y="1091381"/>
                </a:lnTo>
                <a:lnTo>
                  <a:pt x="0" y="582562"/>
                </a:lnTo>
                <a:lnTo>
                  <a:pt x="0" y="14749"/>
                </a:lnTo>
              </a:path>
            </a:pathLst>
          </a:custGeom>
          <a:noFill/>
          <a:ln w="254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CA9366A1-45EC-1249-B0C2-FDBAC7838D9A}"/>
              </a:ext>
            </a:extLst>
          </p:cNvPr>
          <p:cNvSpPr txBox="1"/>
          <p:nvPr/>
        </p:nvSpPr>
        <p:spPr>
          <a:xfrm>
            <a:off x="4018781" y="4262676"/>
            <a:ext cx="638441" cy="307777"/>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rPr>
              <a:t>error!</a:t>
            </a:r>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7" name="Freeform 16">
            <a:extLst>
              <a:ext uri="{FF2B5EF4-FFF2-40B4-BE49-F238E27FC236}">
                <a16:creationId xmlns:a16="http://schemas.microsoft.com/office/drawing/2014/main" id="{4FF0A73C-FDFB-784B-8FA0-EA173D5E9471}"/>
              </a:ext>
            </a:extLst>
          </p:cNvPr>
          <p:cNvSpPr/>
          <p:nvPr/>
        </p:nvSpPr>
        <p:spPr>
          <a:xfrm>
            <a:off x="2162632" y="2535607"/>
            <a:ext cx="2345388" cy="3023419"/>
          </a:xfrm>
          <a:custGeom>
            <a:avLst/>
            <a:gdLst>
              <a:gd name="connsiteX0" fmla="*/ 0 w 2573594"/>
              <a:gd name="connsiteY0" fmla="*/ 1976284 h 3023419"/>
              <a:gd name="connsiteX1" fmla="*/ 0 w 2573594"/>
              <a:gd name="connsiteY1" fmla="*/ 3023419 h 3023419"/>
              <a:gd name="connsiteX2" fmla="*/ 2573594 w 2573594"/>
              <a:gd name="connsiteY2" fmla="*/ 3023419 h 3023419"/>
              <a:gd name="connsiteX3" fmla="*/ 2573594 w 2573594"/>
              <a:gd name="connsiteY3" fmla="*/ 0 h 3023419"/>
              <a:gd name="connsiteX4" fmla="*/ 2470355 w 2573594"/>
              <a:gd name="connsiteY4" fmla="*/ 0 h 3023419"/>
              <a:gd name="connsiteX5" fmla="*/ 2470355 w 2573594"/>
              <a:gd name="connsiteY5" fmla="*/ 0 h 3023419"/>
              <a:gd name="connsiteX0" fmla="*/ 0 w 2573594"/>
              <a:gd name="connsiteY0" fmla="*/ 1976284 h 3023419"/>
              <a:gd name="connsiteX1" fmla="*/ 0 w 2573594"/>
              <a:gd name="connsiteY1" fmla="*/ 3023419 h 3023419"/>
              <a:gd name="connsiteX2" fmla="*/ 2573594 w 2573594"/>
              <a:gd name="connsiteY2" fmla="*/ 3023419 h 3023419"/>
              <a:gd name="connsiteX3" fmla="*/ 2573594 w 2573594"/>
              <a:gd name="connsiteY3" fmla="*/ 0 h 3023419"/>
              <a:gd name="connsiteX4" fmla="*/ 2470355 w 2573594"/>
              <a:gd name="connsiteY4" fmla="*/ 0 h 3023419"/>
              <a:gd name="connsiteX0" fmla="*/ 0 w 2573594"/>
              <a:gd name="connsiteY0" fmla="*/ 1976284 h 3023419"/>
              <a:gd name="connsiteX1" fmla="*/ 0 w 2573594"/>
              <a:gd name="connsiteY1" fmla="*/ 3023419 h 3023419"/>
              <a:gd name="connsiteX2" fmla="*/ 2573594 w 2573594"/>
              <a:gd name="connsiteY2" fmla="*/ 3023419 h 3023419"/>
              <a:gd name="connsiteX3" fmla="*/ 2573594 w 2573594"/>
              <a:gd name="connsiteY3" fmla="*/ 0 h 3023419"/>
            </a:gdLst>
            <a:ahLst/>
            <a:cxnLst>
              <a:cxn ang="0">
                <a:pos x="connsiteX0" y="connsiteY0"/>
              </a:cxn>
              <a:cxn ang="0">
                <a:pos x="connsiteX1" y="connsiteY1"/>
              </a:cxn>
              <a:cxn ang="0">
                <a:pos x="connsiteX2" y="connsiteY2"/>
              </a:cxn>
              <a:cxn ang="0">
                <a:pos x="connsiteX3" y="connsiteY3"/>
              </a:cxn>
            </a:cxnLst>
            <a:rect l="l" t="t" r="r" b="b"/>
            <a:pathLst>
              <a:path w="2573594" h="3023419">
                <a:moveTo>
                  <a:pt x="0" y="1976284"/>
                </a:moveTo>
                <a:lnTo>
                  <a:pt x="0" y="3023419"/>
                </a:lnTo>
                <a:lnTo>
                  <a:pt x="2573594" y="3023419"/>
                </a:lnTo>
                <a:lnTo>
                  <a:pt x="2573594" y="0"/>
                </a:lnTo>
              </a:path>
            </a:pathLst>
          </a:custGeom>
          <a:noFill/>
          <a:ln w="25400">
            <a:solidFill>
              <a:srgbClr val="0000A3"/>
            </a:solidFill>
            <a:headEnd type="none"/>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17">
            <a:extLst>
              <a:ext uri="{FF2B5EF4-FFF2-40B4-BE49-F238E27FC236}">
                <a16:creationId xmlns:a16="http://schemas.microsoft.com/office/drawing/2014/main" id="{C5C7DDD7-BE3F-B143-A4C4-AF528D4540D7}"/>
              </a:ext>
            </a:extLst>
          </p:cNvPr>
          <p:cNvSpPr/>
          <p:nvPr/>
        </p:nvSpPr>
        <p:spPr>
          <a:xfrm>
            <a:off x="1714500" y="2240280"/>
            <a:ext cx="3188970" cy="3314700"/>
          </a:xfrm>
          <a:custGeom>
            <a:avLst/>
            <a:gdLst>
              <a:gd name="connsiteX0" fmla="*/ 0 w 3188970"/>
              <a:gd name="connsiteY0" fmla="*/ 0 h 3314700"/>
              <a:gd name="connsiteX1" fmla="*/ 0 w 3188970"/>
              <a:gd name="connsiteY1" fmla="*/ 3314700 h 3314700"/>
              <a:gd name="connsiteX2" fmla="*/ 3188970 w 3188970"/>
              <a:gd name="connsiteY2" fmla="*/ 3314700 h 3314700"/>
              <a:gd name="connsiteX3" fmla="*/ 3188970 w 3188970"/>
              <a:gd name="connsiteY3" fmla="*/ 11430 h 3314700"/>
              <a:gd name="connsiteX4" fmla="*/ 3188970 w 3188970"/>
              <a:gd name="connsiteY4" fmla="*/ 1143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8970" h="3314700">
                <a:moveTo>
                  <a:pt x="0" y="0"/>
                </a:moveTo>
                <a:lnTo>
                  <a:pt x="0" y="3314700"/>
                </a:lnTo>
                <a:lnTo>
                  <a:pt x="3188970" y="3314700"/>
                </a:lnTo>
                <a:lnTo>
                  <a:pt x="3188970" y="11430"/>
                </a:lnTo>
                <a:lnTo>
                  <a:pt x="3188970" y="11430"/>
                </a:lnTo>
              </a:path>
            </a:pathLst>
          </a:custGeom>
          <a:noFill/>
          <a:ln w="25400">
            <a:solidFill>
              <a:srgbClr val="0000A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6E76BA7D-D912-094B-A280-BDBC4F9149F0}"/>
              </a:ext>
            </a:extLst>
          </p:cNvPr>
          <p:cNvGrpSpPr/>
          <p:nvPr/>
        </p:nvGrpSpPr>
        <p:grpSpPr>
          <a:xfrm>
            <a:off x="1247868" y="1815620"/>
            <a:ext cx="1028924" cy="463979"/>
            <a:chOff x="1247868" y="1815620"/>
            <a:chExt cx="1028924" cy="463979"/>
          </a:xfrm>
        </p:grpSpPr>
        <p:sp>
          <p:nvSpPr>
            <p:cNvPr id="206" name="Rectangle 205">
              <a:extLst>
                <a:ext uri="{FF2B5EF4-FFF2-40B4-BE49-F238E27FC236}">
                  <a16:creationId xmlns:a16="http://schemas.microsoft.com/office/drawing/2014/main" id="{A007FA27-9CF4-7743-A2DC-8BD8D1DCB92D}"/>
                </a:ext>
              </a:extLst>
            </p:cNvPr>
            <p:cNvSpPr/>
            <p:nvPr/>
          </p:nvSpPr>
          <p:spPr>
            <a:xfrm>
              <a:off x="1428787" y="1815620"/>
              <a:ext cx="686928" cy="439996"/>
            </a:xfrm>
            <a:prstGeom prst="rect">
              <a:avLst/>
            </a:prstGeom>
            <a:solidFill>
              <a:sysClr val="window" lastClr="FFFFFF"/>
            </a:solid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207" name="TextBox 206">
              <a:extLst>
                <a:ext uri="{FF2B5EF4-FFF2-40B4-BE49-F238E27FC236}">
                  <a16:creationId xmlns:a16="http://schemas.microsoft.com/office/drawing/2014/main" id="{DCFCC0BC-A346-6D46-A4D1-0C72F2009BF4}"/>
                </a:ext>
              </a:extLst>
            </p:cNvPr>
            <p:cNvSpPr txBox="1"/>
            <p:nvPr/>
          </p:nvSpPr>
          <p:spPr>
            <a:xfrm>
              <a:off x="1247868" y="1838324"/>
              <a:ext cx="1028924" cy="441275"/>
            </a:xfrm>
            <a:prstGeom prst="rect">
              <a:avLst/>
            </a:prstGeom>
            <a:noFill/>
          </p:spPr>
          <p:txBody>
            <a:bodyPr wrap="squar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GET </a:t>
              </a:r>
            </a:p>
          </p:txBody>
        </p:sp>
      </p:grpSp>
      <p:grpSp>
        <p:nvGrpSpPr>
          <p:cNvPr id="10" name="Group 9">
            <a:extLst>
              <a:ext uri="{FF2B5EF4-FFF2-40B4-BE49-F238E27FC236}">
                <a16:creationId xmlns:a16="http://schemas.microsoft.com/office/drawing/2014/main" id="{B1B4F9FC-DCD7-4D4F-8B15-6589ACCBB428}"/>
              </a:ext>
            </a:extLst>
          </p:cNvPr>
          <p:cNvGrpSpPr/>
          <p:nvPr/>
        </p:nvGrpSpPr>
        <p:grpSpPr>
          <a:xfrm>
            <a:off x="1510481" y="2208954"/>
            <a:ext cx="1028924" cy="463979"/>
            <a:chOff x="1549462" y="2216434"/>
            <a:chExt cx="1028924" cy="463979"/>
          </a:xfrm>
        </p:grpSpPr>
        <p:sp>
          <p:nvSpPr>
            <p:cNvPr id="210" name="Rectangle 209">
              <a:extLst>
                <a:ext uri="{FF2B5EF4-FFF2-40B4-BE49-F238E27FC236}">
                  <a16:creationId xmlns:a16="http://schemas.microsoft.com/office/drawing/2014/main" id="{329C110D-8068-9C41-8799-25E9F5DFC0F3}"/>
                </a:ext>
              </a:extLst>
            </p:cNvPr>
            <p:cNvSpPr/>
            <p:nvPr/>
          </p:nvSpPr>
          <p:spPr>
            <a:xfrm>
              <a:off x="1709684" y="2216434"/>
              <a:ext cx="686928" cy="439996"/>
            </a:xfrm>
            <a:prstGeom prst="rect">
              <a:avLst/>
            </a:prstGeom>
            <a:solidFill>
              <a:sysClr val="window" lastClr="FFFFFF"/>
            </a:solid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211" name="TextBox 210">
              <a:extLst>
                <a:ext uri="{FF2B5EF4-FFF2-40B4-BE49-F238E27FC236}">
                  <a16:creationId xmlns:a16="http://schemas.microsoft.com/office/drawing/2014/main" id="{6EA9AB61-0444-624B-B17B-4BA90A2554D5}"/>
                </a:ext>
              </a:extLst>
            </p:cNvPr>
            <p:cNvSpPr txBox="1"/>
            <p:nvPr/>
          </p:nvSpPr>
          <p:spPr>
            <a:xfrm>
              <a:off x="1549462" y="2239138"/>
              <a:ext cx="1028924" cy="441275"/>
            </a:xfrm>
            <a:prstGeom prst="rect">
              <a:avLst/>
            </a:prstGeom>
            <a:noFill/>
          </p:spPr>
          <p:txBody>
            <a:bodyPr wrap="squar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GET </a:t>
              </a:r>
            </a:p>
          </p:txBody>
        </p:sp>
      </p:grpSp>
      <p:grpSp>
        <p:nvGrpSpPr>
          <p:cNvPr id="337" name="Group 321">
            <a:extLst>
              <a:ext uri="{FF2B5EF4-FFF2-40B4-BE49-F238E27FC236}">
                <a16:creationId xmlns:a16="http://schemas.microsoft.com/office/drawing/2014/main" id="{CE43EBA3-78B5-3F40-8C70-2C81174FED92}"/>
              </a:ext>
            </a:extLst>
          </p:cNvPr>
          <p:cNvGrpSpPr>
            <a:grpSpLocks/>
          </p:cNvGrpSpPr>
          <p:nvPr/>
        </p:nvGrpSpPr>
        <p:grpSpPr bwMode="auto">
          <a:xfrm>
            <a:off x="5386202" y="1360556"/>
            <a:ext cx="310294" cy="628857"/>
            <a:chOff x="4140" y="429"/>
            <a:chExt cx="1425" cy="2396"/>
          </a:xfrm>
        </p:grpSpPr>
        <p:sp>
          <p:nvSpPr>
            <p:cNvPr id="338" name="Freeform 322">
              <a:extLst>
                <a:ext uri="{FF2B5EF4-FFF2-40B4-BE49-F238E27FC236}">
                  <a16:creationId xmlns:a16="http://schemas.microsoft.com/office/drawing/2014/main" id="{368EA2FA-44C8-834E-854B-7B514A744AD2}"/>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39" name="Rectangle 323">
              <a:extLst>
                <a:ext uri="{FF2B5EF4-FFF2-40B4-BE49-F238E27FC236}">
                  <a16:creationId xmlns:a16="http://schemas.microsoft.com/office/drawing/2014/main" id="{70E7981D-F5CF-0F4F-95BC-59CAE7F3785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0" name="Freeform 324">
              <a:extLst>
                <a:ext uri="{FF2B5EF4-FFF2-40B4-BE49-F238E27FC236}">
                  <a16:creationId xmlns:a16="http://schemas.microsoft.com/office/drawing/2014/main" id="{D34DC0AC-CA88-1949-9FF3-5446E9BDC0B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1" name="Freeform 325">
              <a:extLst>
                <a:ext uri="{FF2B5EF4-FFF2-40B4-BE49-F238E27FC236}">
                  <a16:creationId xmlns:a16="http://schemas.microsoft.com/office/drawing/2014/main" id="{1C01594E-61F9-E249-9FA4-5D3422C2FD3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42" name="Rectangle 326">
              <a:extLst>
                <a:ext uri="{FF2B5EF4-FFF2-40B4-BE49-F238E27FC236}">
                  <a16:creationId xmlns:a16="http://schemas.microsoft.com/office/drawing/2014/main" id="{D77E1E19-E42D-9746-8590-DDBDBCF2ED1D}"/>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43" name="Group 327">
              <a:extLst>
                <a:ext uri="{FF2B5EF4-FFF2-40B4-BE49-F238E27FC236}">
                  <a16:creationId xmlns:a16="http://schemas.microsoft.com/office/drawing/2014/main" id="{D43FBF8D-840F-7746-9599-7361C09F7B3C}"/>
                </a:ext>
              </a:extLst>
            </p:cNvPr>
            <p:cNvGrpSpPr>
              <a:grpSpLocks/>
            </p:cNvGrpSpPr>
            <p:nvPr/>
          </p:nvGrpSpPr>
          <p:grpSpPr bwMode="auto">
            <a:xfrm>
              <a:off x="4749" y="668"/>
              <a:ext cx="581" cy="145"/>
              <a:chOff x="614" y="2568"/>
              <a:chExt cx="725" cy="139"/>
            </a:xfrm>
          </p:grpSpPr>
          <p:sp>
            <p:nvSpPr>
              <p:cNvPr id="368" name="AutoShape 328">
                <a:extLst>
                  <a:ext uri="{FF2B5EF4-FFF2-40B4-BE49-F238E27FC236}">
                    <a16:creationId xmlns:a16="http://schemas.microsoft.com/office/drawing/2014/main" id="{F4FD27B7-CFFA-9E41-9435-D5C0C9F83E61}"/>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9" name="AutoShape 329">
                <a:extLst>
                  <a:ext uri="{FF2B5EF4-FFF2-40B4-BE49-F238E27FC236}">
                    <a16:creationId xmlns:a16="http://schemas.microsoft.com/office/drawing/2014/main" id="{7507A3CD-B7D7-4949-A9FB-24247DC4C4CC}"/>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44" name="Rectangle 330">
              <a:extLst>
                <a:ext uri="{FF2B5EF4-FFF2-40B4-BE49-F238E27FC236}">
                  <a16:creationId xmlns:a16="http://schemas.microsoft.com/office/drawing/2014/main" id="{45BD24A7-490E-6D4A-97DE-1EB910C1EAAE}"/>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45" name="Group 331">
              <a:extLst>
                <a:ext uri="{FF2B5EF4-FFF2-40B4-BE49-F238E27FC236}">
                  <a16:creationId xmlns:a16="http://schemas.microsoft.com/office/drawing/2014/main" id="{D9050BE1-1376-E14C-8B43-5415B53EC19A}"/>
                </a:ext>
              </a:extLst>
            </p:cNvPr>
            <p:cNvGrpSpPr>
              <a:grpSpLocks/>
            </p:cNvGrpSpPr>
            <p:nvPr/>
          </p:nvGrpSpPr>
          <p:grpSpPr bwMode="auto">
            <a:xfrm>
              <a:off x="4747" y="994"/>
              <a:ext cx="581" cy="134"/>
              <a:chOff x="614" y="2568"/>
              <a:chExt cx="725" cy="139"/>
            </a:xfrm>
          </p:grpSpPr>
          <p:sp>
            <p:nvSpPr>
              <p:cNvPr id="366" name="AutoShape 332">
                <a:extLst>
                  <a:ext uri="{FF2B5EF4-FFF2-40B4-BE49-F238E27FC236}">
                    <a16:creationId xmlns:a16="http://schemas.microsoft.com/office/drawing/2014/main" id="{C382B0F1-7E6E-C347-98FD-D6E0E226F061}"/>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7" name="AutoShape 333">
                <a:extLst>
                  <a:ext uri="{FF2B5EF4-FFF2-40B4-BE49-F238E27FC236}">
                    <a16:creationId xmlns:a16="http://schemas.microsoft.com/office/drawing/2014/main" id="{B9D5D5BE-21B4-5E46-BCB8-3E6E15B819D3}"/>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46" name="Rectangle 334">
              <a:extLst>
                <a:ext uri="{FF2B5EF4-FFF2-40B4-BE49-F238E27FC236}">
                  <a16:creationId xmlns:a16="http://schemas.microsoft.com/office/drawing/2014/main" id="{85A27DE8-FCB1-FE4C-830E-B9A18684191D}"/>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47" name="Rectangle 335">
              <a:extLst>
                <a:ext uri="{FF2B5EF4-FFF2-40B4-BE49-F238E27FC236}">
                  <a16:creationId xmlns:a16="http://schemas.microsoft.com/office/drawing/2014/main" id="{2D81F5BF-5571-F841-A230-C4FABFAA7187}"/>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48" name="Group 336">
              <a:extLst>
                <a:ext uri="{FF2B5EF4-FFF2-40B4-BE49-F238E27FC236}">
                  <a16:creationId xmlns:a16="http://schemas.microsoft.com/office/drawing/2014/main" id="{40511408-3E7E-064B-A2B4-4DC41FFBF212}"/>
                </a:ext>
              </a:extLst>
            </p:cNvPr>
            <p:cNvGrpSpPr>
              <a:grpSpLocks/>
            </p:cNvGrpSpPr>
            <p:nvPr/>
          </p:nvGrpSpPr>
          <p:grpSpPr bwMode="auto">
            <a:xfrm>
              <a:off x="4735" y="1627"/>
              <a:ext cx="582" cy="151"/>
              <a:chOff x="614" y="2568"/>
              <a:chExt cx="725" cy="139"/>
            </a:xfrm>
          </p:grpSpPr>
          <p:sp>
            <p:nvSpPr>
              <p:cNvPr id="364" name="AutoShape 337">
                <a:extLst>
                  <a:ext uri="{FF2B5EF4-FFF2-40B4-BE49-F238E27FC236}">
                    <a16:creationId xmlns:a16="http://schemas.microsoft.com/office/drawing/2014/main" id="{CB6BB265-1398-B84D-B055-F2380188C3D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5" name="AutoShape 338">
                <a:extLst>
                  <a:ext uri="{FF2B5EF4-FFF2-40B4-BE49-F238E27FC236}">
                    <a16:creationId xmlns:a16="http://schemas.microsoft.com/office/drawing/2014/main" id="{284EDDE1-D475-0D45-B8E1-D22F3BB5F954}"/>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49" name="Freeform 339">
              <a:extLst>
                <a:ext uri="{FF2B5EF4-FFF2-40B4-BE49-F238E27FC236}">
                  <a16:creationId xmlns:a16="http://schemas.microsoft.com/office/drawing/2014/main" id="{2EC30120-F28B-6C44-BA86-015592330E1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350" name="Group 340">
              <a:extLst>
                <a:ext uri="{FF2B5EF4-FFF2-40B4-BE49-F238E27FC236}">
                  <a16:creationId xmlns:a16="http://schemas.microsoft.com/office/drawing/2014/main" id="{1D12166E-59AE-AF4F-AC68-D94AFF4969FD}"/>
                </a:ext>
              </a:extLst>
            </p:cNvPr>
            <p:cNvGrpSpPr>
              <a:grpSpLocks/>
            </p:cNvGrpSpPr>
            <p:nvPr/>
          </p:nvGrpSpPr>
          <p:grpSpPr bwMode="auto">
            <a:xfrm>
              <a:off x="4739" y="1327"/>
              <a:ext cx="582" cy="139"/>
              <a:chOff x="614" y="2568"/>
              <a:chExt cx="725" cy="139"/>
            </a:xfrm>
          </p:grpSpPr>
          <p:sp>
            <p:nvSpPr>
              <p:cNvPr id="362" name="AutoShape 341">
                <a:extLst>
                  <a:ext uri="{FF2B5EF4-FFF2-40B4-BE49-F238E27FC236}">
                    <a16:creationId xmlns:a16="http://schemas.microsoft.com/office/drawing/2014/main" id="{CEC2F114-3899-AC46-B9CD-3E7FEF7D59B0}"/>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3" name="AutoShape 342">
                <a:extLst>
                  <a:ext uri="{FF2B5EF4-FFF2-40B4-BE49-F238E27FC236}">
                    <a16:creationId xmlns:a16="http://schemas.microsoft.com/office/drawing/2014/main" id="{8B8898E2-D667-6D4F-819E-C8360C5DC31C}"/>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51" name="Rectangle 343">
              <a:extLst>
                <a:ext uri="{FF2B5EF4-FFF2-40B4-BE49-F238E27FC236}">
                  <a16:creationId xmlns:a16="http://schemas.microsoft.com/office/drawing/2014/main" id="{9997B225-39F6-714E-BB10-2E332CC3F6B7}"/>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2" name="Freeform 344">
              <a:extLst>
                <a:ext uri="{FF2B5EF4-FFF2-40B4-BE49-F238E27FC236}">
                  <a16:creationId xmlns:a16="http://schemas.microsoft.com/office/drawing/2014/main" id="{F23D691F-1D74-454D-92FD-1D49AEF2140E}"/>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3" name="Freeform 345">
              <a:extLst>
                <a:ext uri="{FF2B5EF4-FFF2-40B4-BE49-F238E27FC236}">
                  <a16:creationId xmlns:a16="http://schemas.microsoft.com/office/drawing/2014/main" id="{7EC049DC-B651-8A4D-B4AF-D4AE451375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4" name="Oval 346">
              <a:extLst>
                <a:ext uri="{FF2B5EF4-FFF2-40B4-BE49-F238E27FC236}">
                  <a16:creationId xmlns:a16="http://schemas.microsoft.com/office/drawing/2014/main" id="{28E19479-A7E7-F541-BCED-CA07DE9869A7}"/>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5" name="Freeform 347">
              <a:extLst>
                <a:ext uri="{FF2B5EF4-FFF2-40B4-BE49-F238E27FC236}">
                  <a16:creationId xmlns:a16="http://schemas.microsoft.com/office/drawing/2014/main" id="{8F392652-1C5F-C245-B8EC-1CC561431FCD}"/>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56" name="AutoShape 348">
              <a:extLst>
                <a:ext uri="{FF2B5EF4-FFF2-40B4-BE49-F238E27FC236}">
                  <a16:creationId xmlns:a16="http://schemas.microsoft.com/office/drawing/2014/main" id="{927CAF21-8E01-8A41-AFE5-3F05534A6DF7}"/>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7" name="AutoShape 349">
              <a:extLst>
                <a:ext uri="{FF2B5EF4-FFF2-40B4-BE49-F238E27FC236}">
                  <a16:creationId xmlns:a16="http://schemas.microsoft.com/office/drawing/2014/main" id="{1C72370F-4E8C-6E41-8FF7-F583D507379B}"/>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8" name="Oval 350">
              <a:extLst>
                <a:ext uri="{FF2B5EF4-FFF2-40B4-BE49-F238E27FC236}">
                  <a16:creationId xmlns:a16="http://schemas.microsoft.com/office/drawing/2014/main" id="{7CAE6DBB-B7F5-6349-9D67-2B820D4A6E4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9" name="Oval 351">
              <a:extLst>
                <a:ext uri="{FF2B5EF4-FFF2-40B4-BE49-F238E27FC236}">
                  <a16:creationId xmlns:a16="http://schemas.microsoft.com/office/drawing/2014/main" id="{94DCCCED-456C-814C-8079-310090B0F6A7}"/>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360" name="Oval 352">
              <a:extLst>
                <a:ext uri="{FF2B5EF4-FFF2-40B4-BE49-F238E27FC236}">
                  <a16:creationId xmlns:a16="http://schemas.microsoft.com/office/drawing/2014/main" id="{5BEE1EAA-ED04-3045-954F-747BFBBA5477}"/>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61" name="Rectangle 353">
              <a:extLst>
                <a:ext uri="{FF2B5EF4-FFF2-40B4-BE49-F238E27FC236}">
                  <a16:creationId xmlns:a16="http://schemas.microsoft.com/office/drawing/2014/main" id="{F2E64557-BE36-674A-9568-E85284DF3A90}"/>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70" name="Group 354">
            <a:extLst>
              <a:ext uri="{FF2B5EF4-FFF2-40B4-BE49-F238E27FC236}">
                <a16:creationId xmlns:a16="http://schemas.microsoft.com/office/drawing/2014/main" id="{02971CF7-0CB6-6841-96B9-CD3895F572BF}"/>
              </a:ext>
            </a:extLst>
          </p:cNvPr>
          <p:cNvGrpSpPr>
            <a:grpSpLocks/>
          </p:cNvGrpSpPr>
          <p:nvPr/>
        </p:nvGrpSpPr>
        <p:grpSpPr bwMode="auto">
          <a:xfrm>
            <a:off x="773442" y="1418426"/>
            <a:ext cx="525462" cy="434975"/>
            <a:chOff x="-44" y="1473"/>
            <a:chExt cx="981" cy="1105"/>
          </a:xfrm>
        </p:grpSpPr>
        <p:pic>
          <p:nvPicPr>
            <p:cNvPr id="371" name="Picture 355" descr="desktop_computer_stylized_medium">
              <a:extLst>
                <a:ext uri="{FF2B5EF4-FFF2-40B4-BE49-F238E27FC236}">
                  <a16:creationId xmlns:a16="http://schemas.microsoft.com/office/drawing/2014/main" id="{58DF8070-F2DF-F84A-8469-DEE030BD8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2" name="Freeform 356">
              <a:extLst>
                <a:ext uri="{FF2B5EF4-FFF2-40B4-BE49-F238E27FC236}">
                  <a16:creationId xmlns:a16="http://schemas.microsoft.com/office/drawing/2014/main" id="{E3865153-A00D-E343-AFF8-4652E9FFF1E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9" name="Group 8">
            <a:extLst>
              <a:ext uri="{FF2B5EF4-FFF2-40B4-BE49-F238E27FC236}">
                <a16:creationId xmlns:a16="http://schemas.microsoft.com/office/drawing/2014/main" id="{B73A81A7-03AE-D442-A671-DC35FE97563A}"/>
              </a:ext>
            </a:extLst>
          </p:cNvPr>
          <p:cNvGrpSpPr/>
          <p:nvPr/>
        </p:nvGrpSpPr>
        <p:grpSpPr>
          <a:xfrm>
            <a:off x="1830370" y="2617249"/>
            <a:ext cx="1028924" cy="463397"/>
            <a:chOff x="1830370" y="2617249"/>
            <a:chExt cx="1028924" cy="463397"/>
          </a:xfrm>
        </p:grpSpPr>
        <p:sp>
          <p:nvSpPr>
            <p:cNvPr id="214" name="Rectangle 213">
              <a:extLst>
                <a:ext uri="{FF2B5EF4-FFF2-40B4-BE49-F238E27FC236}">
                  <a16:creationId xmlns:a16="http://schemas.microsoft.com/office/drawing/2014/main" id="{51102884-47F2-514E-81B8-C6505D1701C5}"/>
                </a:ext>
              </a:extLst>
            </p:cNvPr>
            <p:cNvSpPr/>
            <p:nvPr/>
          </p:nvSpPr>
          <p:spPr>
            <a:xfrm>
              <a:off x="1990582" y="2617249"/>
              <a:ext cx="686928" cy="439996"/>
            </a:xfrm>
            <a:prstGeom prst="rect">
              <a:avLst/>
            </a:prstGeom>
            <a:solidFill>
              <a:sysClr val="window" lastClr="FFFFFF"/>
            </a:solid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215" name="TextBox 214">
              <a:extLst>
                <a:ext uri="{FF2B5EF4-FFF2-40B4-BE49-F238E27FC236}">
                  <a16:creationId xmlns:a16="http://schemas.microsoft.com/office/drawing/2014/main" id="{78E8A36E-C98B-EC43-99F7-B8138B25C779}"/>
                </a:ext>
              </a:extLst>
            </p:cNvPr>
            <p:cNvSpPr txBox="1"/>
            <p:nvPr/>
          </p:nvSpPr>
          <p:spPr>
            <a:xfrm>
              <a:off x="1830370" y="2639371"/>
              <a:ext cx="1028924" cy="441275"/>
            </a:xfrm>
            <a:prstGeom prst="rect">
              <a:avLst/>
            </a:prstGeom>
            <a:noFill/>
          </p:spPr>
          <p:txBody>
            <a:bodyPr wrap="squar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GET </a:t>
              </a:r>
            </a:p>
          </p:txBody>
        </p:sp>
      </p:grpSp>
      <p:grpSp>
        <p:nvGrpSpPr>
          <p:cNvPr id="218" name="Group 217">
            <a:extLst>
              <a:ext uri="{FF2B5EF4-FFF2-40B4-BE49-F238E27FC236}">
                <a16:creationId xmlns:a16="http://schemas.microsoft.com/office/drawing/2014/main" id="{24920F69-7924-354E-BEAC-09060A44F38B}"/>
              </a:ext>
            </a:extLst>
          </p:cNvPr>
          <p:cNvGrpSpPr/>
          <p:nvPr/>
        </p:nvGrpSpPr>
        <p:grpSpPr>
          <a:xfrm>
            <a:off x="6475440" y="1528391"/>
            <a:ext cx="5173835" cy="3801217"/>
            <a:chOff x="6493941" y="1557642"/>
            <a:chExt cx="5173835" cy="3801217"/>
          </a:xfrm>
        </p:grpSpPr>
        <p:sp>
          <p:nvSpPr>
            <p:cNvPr id="219" name="Rectangle 218">
              <a:extLst>
                <a:ext uri="{FF2B5EF4-FFF2-40B4-BE49-F238E27FC236}">
                  <a16:creationId xmlns:a16="http://schemas.microsoft.com/office/drawing/2014/main" id="{F09B789F-6176-5B46-9E76-E4B1DC511275}"/>
                </a:ext>
              </a:extLst>
            </p:cNvPr>
            <p:cNvSpPr/>
            <p:nvPr/>
          </p:nvSpPr>
          <p:spPr>
            <a:xfrm>
              <a:off x="6573113" y="1557642"/>
              <a:ext cx="2247142" cy="2726404"/>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220" name="Rectangle 219">
              <a:extLst>
                <a:ext uri="{FF2B5EF4-FFF2-40B4-BE49-F238E27FC236}">
                  <a16:creationId xmlns:a16="http://schemas.microsoft.com/office/drawing/2014/main" id="{3581802C-ADD6-C943-9F25-55344444C714}"/>
                </a:ext>
              </a:extLst>
            </p:cNvPr>
            <p:cNvSpPr/>
            <p:nvPr/>
          </p:nvSpPr>
          <p:spPr>
            <a:xfrm>
              <a:off x="6662258" y="3758046"/>
              <a:ext cx="2070591" cy="409168"/>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221" name="TextBox 220">
              <a:extLst>
                <a:ext uri="{FF2B5EF4-FFF2-40B4-BE49-F238E27FC236}">
                  <a16:creationId xmlns:a16="http://schemas.microsoft.com/office/drawing/2014/main" id="{265B346D-644B-5D48-B98B-838D0B13216F}"/>
                </a:ext>
              </a:extLst>
            </p:cNvPr>
            <p:cNvSpPr txBox="1"/>
            <p:nvPr/>
          </p:nvSpPr>
          <p:spPr>
            <a:xfrm>
              <a:off x="6493941" y="3752006"/>
              <a:ext cx="2333805" cy="46166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QUIC </a:t>
              </a: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Cong. Cont.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222" name="Group 221">
              <a:extLst>
                <a:ext uri="{FF2B5EF4-FFF2-40B4-BE49-F238E27FC236}">
                  <a16:creationId xmlns:a16="http://schemas.microsoft.com/office/drawing/2014/main" id="{12481C95-56B5-814F-99E7-EC8DC1B24912}"/>
                </a:ext>
              </a:extLst>
            </p:cNvPr>
            <p:cNvGrpSpPr/>
            <p:nvPr/>
          </p:nvGrpSpPr>
          <p:grpSpPr>
            <a:xfrm>
              <a:off x="6549806" y="2804024"/>
              <a:ext cx="2147125" cy="968714"/>
              <a:chOff x="3786573" y="4781422"/>
              <a:chExt cx="1289919" cy="450478"/>
            </a:xfrm>
          </p:grpSpPr>
          <p:grpSp>
            <p:nvGrpSpPr>
              <p:cNvPr id="397" name="Group 396">
                <a:extLst>
                  <a:ext uri="{FF2B5EF4-FFF2-40B4-BE49-F238E27FC236}">
                    <a16:creationId xmlns:a16="http://schemas.microsoft.com/office/drawing/2014/main" id="{A1B08E61-89E4-7E48-AE03-358210EB4F99}"/>
                  </a:ext>
                </a:extLst>
              </p:cNvPr>
              <p:cNvGrpSpPr/>
              <p:nvPr/>
            </p:nvGrpSpPr>
            <p:grpSpPr>
              <a:xfrm>
                <a:off x="3786573" y="4781422"/>
                <a:ext cx="535512" cy="197065"/>
                <a:chOff x="3638004" y="4844056"/>
                <a:chExt cx="535512" cy="197065"/>
              </a:xfrm>
            </p:grpSpPr>
            <p:sp>
              <p:nvSpPr>
                <p:cNvPr id="403" name="Rectangle 402">
                  <a:extLst>
                    <a:ext uri="{FF2B5EF4-FFF2-40B4-BE49-F238E27FC236}">
                      <a16:creationId xmlns:a16="http://schemas.microsoft.com/office/drawing/2014/main" id="{B23DA7CF-481E-4944-B33C-8DDD60957A5C}"/>
                    </a:ext>
                  </a:extLst>
                </p:cNvPr>
                <p:cNvSpPr/>
                <p:nvPr/>
              </p:nvSpPr>
              <p:spPr>
                <a:xfrm>
                  <a:off x="3705561" y="48460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404" name="TextBox 403">
                  <a:extLst>
                    <a:ext uri="{FF2B5EF4-FFF2-40B4-BE49-F238E27FC236}">
                      <a16:creationId xmlns:a16="http://schemas.microsoft.com/office/drawing/2014/main" id="{E2808FFB-0C3C-7D40-8E70-70D6E0695DB5}"/>
                    </a:ext>
                  </a:extLst>
                </p:cNvPr>
                <p:cNvSpPr txBox="1"/>
                <p:nvPr/>
              </p:nvSpPr>
              <p:spPr>
                <a:xfrm>
                  <a:off x="3638004" y="4844056"/>
                  <a:ext cx="535512" cy="197065"/>
                </a:xfrm>
                <a:prstGeom prst="rect">
                  <a:avLst/>
                </a:prstGeom>
                <a:noFill/>
              </p:spPr>
              <p:txBody>
                <a:bodyPr wrap="squar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 </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encrypt</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98" name="Group 397">
                <a:extLst>
                  <a:ext uri="{FF2B5EF4-FFF2-40B4-BE49-F238E27FC236}">
                    <a16:creationId xmlns:a16="http://schemas.microsoft.com/office/drawing/2014/main" id="{0D370A69-00DF-5D4A-BA99-42A810952634}"/>
                  </a:ext>
                </a:extLst>
              </p:cNvPr>
              <p:cNvGrpSpPr/>
              <p:nvPr/>
            </p:nvGrpSpPr>
            <p:grpSpPr>
              <a:xfrm>
                <a:off x="3856579" y="4996013"/>
                <a:ext cx="1219913" cy="235887"/>
                <a:chOff x="3856579" y="4996013"/>
                <a:chExt cx="1219913" cy="235887"/>
              </a:xfrm>
            </p:grpSpPr>
            <p:sp>
              <p:nvSpPr>
                <p:cNvPr id="399" name="TextBox 398">
                  <a:extLst>
                    <a:ext uri="{FF2B5EF4-FFF2-40B4-BE49-F238E27FC236}">
                      <a16:creationId xmlns:a16="http://schemas.microsoft.com/office/drawing/2014/main" id="{A734BAD2-0E64-6740-8F0C-E8ED4C14FE9E}"/>
                    </a:ext>
                  </a:extLst>
                </p:cNvPr>
                <p:cNvSpPr txBox="1"/>
                <p:nvPr/>
              </p:nvSpPr>
              <p:spPr>
                <a:xfrm>
                  <a:off x="3856579" y="4996392"/>
                  <a:ext cx="401776" cy="229059"/>
                </a:xfrm>
                <a:prstGeom prst="rect">
                  <a:avLst/>
                </a:prstGeom>
                <a:noFill/>
              </p:spPr>
              <p:txBody>
                <a:bodyPr wrap="non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RDT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400" name="Rectangle 399">
                  <a:extLst>
                    <a:ext uri="{FF2B5EF4-FFF2-40B4-BE49-F238E27FC236}">
                      <a16:creationId xmlns:a16="http://schemas.microsoft.com/office/drawing/2014/main" id="{48E21D53-F0A6-F74E-AB97-A44AA527AEC4}"/>
                    </a:ext>
                  </a:extLst>
                </p:cNvPr>
                <p:cNvSpPr/>
                <p:nvPr/>
              </p:nvSpPr>
              <p:spPr>
                <a:xfrm>
                  <a:off x="3857961" y="49984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401" name="TextBox 400">
                  <a:extLst>
                    <a:ext uri="{FF2B5EF4-FFF2-40B4-BE49-F238E27FC236}">
                      <a16:creationId xmlns:a16="http://schemas.microsoft.com/office/drawing/2014/main" id="{FAFAFC96-FE70-B84C-8774-34DD7424DBFD}"/>
                    </a:ext>
                  </a:extLst>
                </p:cNvPr>
                <p:cNvSpPr txBox="1"/>
                <p:nvPr/>
              </p:nvSpPr>
              <p:spPr>
                <a:xfrm>
                  <a:off x="4263655" y="5002841"/>
                  <a:ext cx="401776" cy="229059"/>
                </a:xfrm>
                <a:prstGeom prst="rect">
                  <a:avLst/>
                </a:prstGeom>
                <a:noFill/>
              </p:spPr>
              <p:txBody>
                <a:bodyPr wrap="non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RDT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402" name="TextBox 401">
                  <a:extLst>
                    <a:ext uri="{FF2B5EF4-FFF2-40B4-BE49-F238E27FC236}">
                      <a16:creationId xmlns:a16="http://schemas.microsoft.com/office/drawing/2014/main" id="{EC252B6A-74EB-C945-8F3A-6F35BFA13BF3}"/>
                    </a:ext>
                  </a:extLst>
                </p:cNvPr>
                <p:cNvSpPr txBox="1"/>
                <p:nvPr/>
              </p:nvSpPr>
              <p:spPr>
                <a:xfrm>
                  <a:off x="4674716" y="4996013"/>
                  <a:ext cx="401776" cy="229059"/>
                </a:xfrm>
                <a:prstGeom prst="rect">
                  <a:avLst/>
                </a:prstGeom>
                <a:noFill/>
              </p:spPr>
              <p:txBody>
                <a:bodyPr wrap="non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RDT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23" name="Group 222">
              <a:extLst>
                <a:ext uri="{FF2B5EF4-FFF2-40B4-BE49-F238E27FC236}">
                  <a16:creationId xmlns:a16="http://schemas.microsoft.com/office/drawing/2014/main" id="{AB0D006E-F86B-B248-8AE9-1A8F75B5E0A6}"/>
                </a:ext>
              </a:extLst>
            </p:cNvPr>
            <p:cNvGrpSpPr/>
            <p:nvPr/>
          </p:nvGrpSpPr>
          <p:grpSpPr>
            <a:xfrm>
              <a:off x="7234288" y="2794928"/>
              <a:ext cx="891382" cy="875971"/>
              <a:chOff x="3774433" y="4781422"/>
              <a:chExt cx="535512" cy="407350"/>
            </a:xfrm>
          </p:grpSpPr>
          <p:grpSp>
            <p:nvGrpSpPr>
              <p:cNvPr id="393" name="Group 392">
                <a:extLst>
                  <a:ext uri="{FF2B5EF4-FFF2-40B4-BE49-F238E27FC236}">
                    <a16:creationId xmlns:a16="http://schemas.microsoft.com/office/drawing/2014/main" id="{10F55B46-0C1A-A841-8F0C-E1A52028C7BF}"/>
                  </a:ext>
                </a:extLst>
              </p:cNvPr>
              <p:cNvGrpSpPr/>
              <p:nvPr/>
            </p:nvGrpSpPr>
            <p:grpSpPr>
              <a:xfrm>
                <a:off x="3774433" y="4781422"/>
                <a:ext cx="535512" cy="207083"/>
                <a:chOff x="3625864" y="4844056"/>
                <a:chExt cx="535512" cy="207083"/>
              </a:xfrm>
            </p:grpSpPr>
            <p:sp>
              <p:nvSpPr>
                <p:cNvPr id="395" name="Rectangle 394">
                  <a:extLst>
                    <a:ext uri="{FF2B5EF4-FFF2-40B4-BE49-F238E27FC236}">
                      <a16:creationId xmlns:a16="http://schemas.microsoft.com/office/drawing/2014/main" id="{EC5DB685-758D-2D46-BCEB-7AE2D960046F}"/>
                    </a:ext>
                  </a:extLst>
                </p:cNvPr>
                <p:cNvSpPr/>
                <p:nvPr/>
              </p:nvSpPr>
              <p:spPr>
                <a:xfrm>
                  <a:off x="3705561" y="48460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96" name="TextBox 395">
                  <a:extLst>
                    <a:ext uri="{FF2B5EF4-FFF2-40B4-BE49-F238E27FC236}">
                      <a16:creationId xmlns:a16="http://schemas.microsoft.com/office/drawing/2014/main" id="{4D8A8232-D72B-B644-86B9-14BFFDCB0493}"/>
                    </a:ext>
                  </a:extLst>
                </p:cNvPr>
                <p:cNvSpPr txBox="1"/>
                <p:nvPr/>
              </p:nvSpPr>
              <p:spPr>
                <a:xfrm>
                  <a:off x="3625864" y="4844056"/>
                  <a:ext cx="535512" cy="207083"/>
                </a:xfrm>
                <a:prstGeom prst="rect">
                  <a:avLst/>
                </a:prstGeom>
                <a:noFill/>
              </p:spPr>
              <p:txBody>
                <a:bodyPr wrap="squar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QUIC </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encrypt</a:t>
                  </a:r>
                  <a:endPar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
            <p:nvSpPr>
              <p:cNvPr id="394" name="Rectangle 393">
                <a:extLst>
                  <a:ext uri="{FF2B5EF4-FFF2-40B4-BE49-F238E27FC236}">
                    <a16:creationId xmlns:a16="http://schemas.microsoft.com/office/drawing/2014/main" id="{7966A0B3-F834-AE43-9CAA-0714AAF94371}"/>
                  </a:ext>
                </a:extLst>
              </p:cNvPr>
              <p:cNvSpPr/>
              <p:nvPr/>
            </p:nvSpPr>
            <p:spPr>
              <a:xfrm>
                <a:off x="3857961" y="49984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4" name="Group 223">
              <a:extLst>
                <a:ext uri="{FF2B5EF4-FFF2-40B4-BE49-F238E27FC236}">
                  <a16:creationId xmlns:a16="http://schemas.microsoft.com/office/drawing/2014/main" id="{39F8B660-5511-2641-9DC0-5EE5608C39ED}"/>
                </a:ext>
              </a:extLst>
            </p:cNvPr>
            <p:cNvGrpSpPr/>
            <p:nvPr/>
          </p:nvGrpSpPr>
          <p:grpSpPr>
            <a:xfrm>
              <a:off x="7949081" y="2785831"/>
              <a:ext cx="891382" cy="875971"/>
              <a:chOff x="3780503" y="4781422"/>
              <a:chExt cx="535512" cy="407350"/>
            </a:xfrm>
          </p:grpSpPr>
          <p:grpSp>
            <p:nvGrpSpPr>
              <p:cNvPr id="389" name="Group 388">
                <a:extLst>
                  <a:ext uri="{FF2B5EF4-FFF2-40B4-BE49-F238E27FC236}">
                    <a16:creationId xmlns:a16="http://schemas.microsoft.com/office/drawing/2014/main" id="{7CEE81F8-208D-9A40-9910-8B77931FE8D3}"/>
                  </a:ext>
                </a:extLst>
              </p:cNvPr>
              <p:cNvGrpSpPr/>
              <p:nvPr/>
            </p:nvGrpSpPr>
            <p:grpSpPr>
              <a:xfrm>
                <a:off x="3780503" y="4781422"/>
                <a:ext cx="535512" cy="207083"/>
                <a:chOff x="3631934" y="4844056"/>
                <a:chExt cx="535512" cy="207083"/>
              </a:xfrm>
            </p:grpSpPr>
            <p:sp>
              <p:nvSpPr>
                <p:cNvPr id="391" name="Rectangle 390">
                  <a:extLst>
                    <a:ext uri="{FF2B5EF4-FFF2-40B4-BE49-F238E27FC236}">
                      <a16:creationId xmlns:a16="http://schemas.microsoft.com/office/drawing/2014/main" id="{7231244D-97B0-954A-B18D-F5E878A750BF}"/>
                    </a:ext>
                  </a:extLst>
                </p:cNvPr>
                <p:cNvSpPr/>
                <p:nvPr/>
              </p:nvSpPr>
              <p:spPr>
                <a:xfrm>
                  <a:off x="3705561" y="48460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92" name="TextBox 391">
                  <a:extLst>
                    <a:ext uri="{FF2B5EF4-FFF2-40B4-BE49-F238E27FC236}">
                      <a16:creationId xmlns:a16="http://schemas.microsoft.com/office/drawing/2014/main" id="{EBFFAB1E-B9DA-4141-A041-11972BDBEC57}"/>
                    </a:ext>
                  </a:extLst>
                </p:cNvPr>
                <p:cNvSpPr txBox="1"/>
                <p:nvPr/>
              </p:nvSpPr>
              <p:spPr>
                <a:xfrm>
                  <a:off x="3631934" y="4844056"/>
                  <a:ext cx="535512" cy="207083"/>
                </a:xfrm>
                <a:prstGeom prst="rect">
                  <a:avLst/>
                </a:prstGeom>
                <a:noFill/>
              </p:spPr>
              <p:txBody>
                <a:bodyPr wrap="squar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QUIC </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encrypt</a:t>
                  </a:r>
                  <a:endPar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
            <p:nvSpPr>
              <p:cNvPr id="390" name="Rectangle 389">
                <a:extLst>
                  <a:ext uri="{FF2B5EF4-FFF2-40B4-BE49-F238E27FC236}">
                    <a16:creationId xmlns:a16="http://schemas.microsoft.com/office/drawing/2014/main" id="{F3C8AAD7-ECB7-DD42-900C-BB8AF5A4EEB5}"/>
                  </a:ext>
                </a:extLst>
              </p:cNvPr>
              <p:cNvSpPr/>
              <p:nvPr/>
            </p:nvSpPr>
            <p:spPr>
              <a:xfrm>
                <a:off x="3857961" y="49984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25" name="Group 224">
              <a:extLst>
                <a:ext uri="{FF2B5EF4-FFF2-40B4-BE49-F238E27FC236}">
                  <a16:creationId xmlns:a16="http://schemas.microsoft.com/office/drawing/2014/main" id="{803F822F-EB09-4841-864D-5B88EC3F0EBD}"/>
                </a:ext>
              </a:extLst>
            </p:cNvPr>
            <p:cNvGrpSpPr/>
            <p:nvPr/>
          </p:nvGrpSpPr>
          <p:grpSpPr>
            <a:xfrm>
              <a:off x="6584985" y="4775942"/>
              <a:ext cx="2224498" cy="576373"/>
              <a:chOff x="3690830" y="5656622"/>
              <a:chExt cx="1336402" cy="268029"/>
            </a:xfrm>
          </p:grpSpPr>
          <p:sp>
            <p:nvSpPr>
              <p:cNvPr id="386" name="Rectangle 385">
                <a:extLst>
                  <a:ext uri="{FF2B5EF4-FFF2-40B4-BE49-F238E27FC236}">
                    <a16:creationId xmlns:a16="http://schemas.microsoft.com/office/drawing/2014/main" id="{EBD1D2BD-9277-B644-AA27-F1B0A7223E3B}"/>
                  </a:ext>
                </a:extLst>
              </p:cNvPr>
              <p:cNvSpPr/>
              <p:nvPr/>
            </p:nvSpPr>
            <p:spPr>
              <a:xfrm>
                <a:off x="3690830" y="5656622"/>
                <a:ext cx="1336402" cy="268029"/>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87" name="Rectangle 386">
                <a:extLst>
                  <a:ext uri="{FF2B5EF4-FFF2-40B4-BE49-F238E27FC236}">
                    <a16:creationId xmlns:a16="http://schemas.microsoft.com/office/drawing/2014/main" id="{55A7D0F8-839E-3B45-B426-E3EE5FBEB4D4}"/>
                  </a:ext>
                </a:extLst>
              </p:cNvPr>
              <p:cNvSpPr/>
              <p:nvPr/>
            </p:nvSpPr>
            <p:spPr>
              <a:xfrm>
                <a:off x="3728029" y="5692526"/>
                <a:ext cx="1243940" cy="190274"/>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88" name="TextBox 387">
                <a:extLst>
                  <a:ext uri="{FF2B5EF4-FFF2-40B4-BE49-F238E27FC236}">
                    <a16:creationId xmlns:a16="http://schemas.microsoft.com/office/drawing/2014/main" id="{79E46073-594F-AC45-A63F-D0F936E28208}"/>
                  </a:ext>
                </a:extLst>
              </p:cNvPr>
              <p:cNvSpPr txBox="1"/>
              <p:nvPr/>
            </p:nvSpPr>
            <p:spPr>
              <a:xfrm>
                <a:off x="3722590" y="5683087"/>
                <a:ext cx="1258804" cy="2146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UDP</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26" name="Group 225">
              <a:extLst>
                <a:ext uri="{FF2B5EF4-FFF2-40B4-BE49-F238E27FC236}">
                  <a16:creationId xmlns:a16="http://schemas.microsoft.com/office/drawing/2014/main" id="{64631E62-3A21-714F-9082-157DAA594C5D}"/>
                </a:ext>
              </a:extLst>
            </p:cNvPr>
            <p:cNvGrpSpPr/>
            <p:nvPr/>
          </p:nvGrpSpPr>
          <p:grpSpPr>
            <a:xfrm>
              <a:off x="9393371" y="4782486"/>
              <a:ext cx="2224498" cy="576373"/>
              <a:chOff x="3690830" y="5656622"/>
              <a:chExt cx="1336402" cy="268029"/>
            </a:xfrm>
          </p:grpSpPr>
          <p:sp>
            <p:nvSpPr>
              <p:cNvPr id="383" name="Rectangle 382">
                <a:extLst>
                  <a:ext uri="{FF2B5EF4-FFF2-40B4-BE49-F238E27FC236}">
                    <a16:creationId xmlns:a16="http://schemas.microsoft.com/office/drawing/2014/main" id="{C405E8F4-991B-2443-9E2F-D9095A9F30FB}"/>
                  </a:ext>
                </a:extLst>
              </p:cNvPr>
              <p:cNvSpPr/>
              <p:nvPr/>
            </p:nvSpPr>
            <p:spPr>
              <a:xfrm>
                <a:off x="3690830" y="5656622"/>
                <a:ext cx="1336402" cy="268029"/>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84" name="Rectangle 383">
                <a:extLst>
                  <a:ext uri="{FF2B5EF4-FFF2-40B4-BE49-F238E27FC236}">
                    <a16:creationId xmlns:a16="http://schemas.microsoft.com/office/drawing/2014/main" id="{5BC25DB8-4264-1149-8D3F-62021F04E6D0}"/>
                  </a:ext>
                </a:extLst>
              </p:cNvPr>
              <p:cNvSpPr/>
              <p:nvPr/>
            </p:nvSpPr>
            <p:spPr>
              <a:xfrm>
                <a:off x="3728029" y="5692526"/>
                <a:ext cx="1243940" cy="190274"/>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85" name="TextBox 384">
                <a:extLst>
                  <a:ext uri="{FF2B5EF4-FFF2-40B4-BE49-F238E27FC236}">
                    <a16:creationId xmlns:a16="http://schemas.microsoft.com/office/drawing/2014/main" id="{E615BC4C-981C-0149-8B66-79C13C37121F}"/>
                  </a:ext>
                </a:extLst>
              </p:cNvPr>
              <p:cNvSpPr txBox="1"/>
              <p:nvPr/>
            </p:nvSpPr>
            <p:spPr>
              <a:xfrm>
                <a:off x="3722590" y="5689783"/>
                <a:ext cx="1258804" cy="2146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UDP</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227" name="Straight Connector 226">
              <a:extLst>
                <a:ext uri="{FF2B5EF4-FFF2-40B4-BE49-F238E27FC236}">
                  <a16:creationId xmlns:a16="http://schemas.microsoft.com/office/drawing/2014/main" id="{515DB57F-0D4B-6B48-B6BC-CF2EB3013043}"/>
                </a:ext>
              </a:extLst>
            </p:cNvPr>
            <p:cNvCxnSpPr/>
            <p:nvPr/>
          </p:nvCxnSpPr>
          <p:spPr>
            <a:xfrm>
              <a:off x="6637851" y="4424382"/>
              <a:ext cx="5029925" cy="0"/>
            </a:xfrm>
            <a:prstGeom prst="line">
              <a:avLst/>
            </a:prstGeom>
            <a:noFill/>
            <a:ln w="12700" cap="flat" cmpd="sng" algn="ctr">
              <a:solidFill>
                <a:sysClr val="windowText" lastClr="000000"/>
              </a:solidFill>
              <a:prstDash val="dash"/>
            </a:ln>
            <a:effectLst/>
          </p:spPr>
        </p:cxnSp>
        <p:sp>
          <p:nvSpPr>
            <p:cNvPr id="228" name="Rectangle 227">
              <a:extLst>
                <a:ext uri="{FF2B5EF4-FFF2-40B4-BE49-F238E27FC236}">
                  <a16:creationId xmlns:a16="http://schemas.microsoft.com/office/drawing/2014/main" id="{D8F95687-7CF8-EA4B-907F-32579687B97F}"/>
                </a:ext>
              </a:extLst>
            </p:cNvPr>
            <p:cNvSpPr/>
            <p:nvPr/>
          </p:nvSpPr>
          <p:spPr>
            <a:xfrm>
              <a:off x="9372262" y="1612419"/>
              <a:ext cx="2247142" cy="2726404"/>
            </a:xfrm>
            <a:prstGeom prst="rect">
              <a:avLst/>
            </a:prstGeom>
            <a:solidFill>
              <a:schemeClr val="accent1">
                <a:lumMod val="20000"/>
                <a:lumOff val="80000"/>
              </a:schemeClr>
            </a:solidFill>
            <a:ln w="317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229" name="Rectangle 228">
              <a:extLst>
                <a:ext uri="{FF2B5EF4-FFF2-40B4-BE49-F238E27FC236}">
                  <a16:creationId xmlns:a16="http://schemas.microsoft.com/office/drawing/2014/main" id="{72ED8D6A-7AE4-9F4A-89E2-82D67D92D2E9}"/>
                </a:ext>
              </a:extLst>
            </p:cNvPr>
            <p:cNvSpPr/>
            <p:nvPr/>
          </p:nvSpPr>
          <p:spPr>
            <a:xfrm>
              <a:off x="9461407" y="3812823"/>
              <a:ext cx="2070591" cy="409168"/>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230" name="TextBox 229">
              <a:extLst>
                <a:ext uri="{FF2B5EF4-FFF2-40B4-BE49-F238E27FC236}">
                  <a16:creationId xmlns:a16="http://schemas.microsoft.com/office/drawing/2014/main" id="{AFA7BA35-193B-1B4B-BFFC-BFF8A1B29D41}"/>
                </a:ext>
              </a:extLst>
            </p:cNvPr>
            <p:cNvSpPr txBox="1"/>
            <p:nvPr/>
          </p:nvSpPr>
          <p:spPr>
            <a:xfrm>
              <a:off x="9293090" y="3806783"/>
              <a:ext cx="2333805" cy="46166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rPr>
                <a:t>QUIC </a:t>
              </a: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Cong. Cont.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231" name="Group 230">
              <a:extLst>
                <a:ext uri="{FF2B5EF4-FFF2-40B4-BE49-F238E27FC236}">
                  <a16:creationId xmlns:a16="http://schemas.microsoft.com/office/drawing/2014/main" id="{B1474ED0-3919-B64A-96AB-4FF1F7B00077}"/>
                </a:ext>
              </a:extLst>
            </p:cNvPr>
            <p:cNvGrpSpPr/>
            <p:nvPr/>
          </p:nvGrpSpPr>
          <p:grpSpPr>
            <a:xfrm>
              <a:off x="9348955" y="2858801"/>
              <a:ext cx="2147125" cy="968714"/>
              <a:chOff x="3786573" y="4781422"/>
              <a:chExt cx="1289919" cy="450478"/>
            </a:xfrm>
          </p:grpSpPr>
          <p:grpSp>
            <p:nvGrpSpPr>
              <p:cNvPr id="375" name="Group 374">
                <a:extLst>
                  <a:ext uri="{FF2B5EF4-FFF2-40B4-BE49-F238E27FC236}">
                    <a16:creationId xmlns:a16="http://schemas.microsoft.com/office/drawing/2014/main" id="{9818E9A5-A4E4-3446-B635-CFCF5897BFDE}"/>
                  </a:ext>
                </a:extLst>
              </p:cNvPr>
              <p:cNvGrpSpPr/>
              <p:nvPr/>
            </p:nvGrpSpPr>
            <p:grpSpPr>
              <a:xfrm>
                <a:off x="3786573" y="4781422"/>
                <a:ext cx="535512" cy="197065"/>
                <a:chOff x="3638004" y="4844056"/>
                <a:chExt cx="535512" cy="197065"/>
              </a:xfrm>
            </p:grpSpPr>
            <p:sp>
              <p:nvSpPr>
                <p:cNvPr id="381" name="Rectangle 380">
                  <a:extLst>
                    <a:ext uri="{FF2B5EF4-FFF2-40B4-BE49-F238E27FC236}">
                      <a16:creationId xmlns:a16="http://schemas.microsoft.com/office/drawing/2014/main" id="{26E56F5B-0FFF-334C-BE13-DACFF2EA6ABD}"/>
                    </a:ext>
                  </a:extLst>
                </p:cNvPr>
                <p:cNvSpPr/>
                <p:nvPr/>
              </p:nvSpPr>
              <p:spPr>
                <a:xfrm>
                  <a:off x="3705561" y="48460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82" name="TextBox 381">
                  <a:extLst>
                    <a:ext uri="{FF2B5EF4-FFF2-40B4-BE49-F238E27FC236}">
                      <a16:creationId xmlns:a16="http://schemas.microsoft.com/office/drawing/2014/main" id="{2D2CE644-7608-1E4F-82E8-95BA38A3F49A}"/>
                    </a:ext>
                  </a:extLst>
                </p:cNvPr>
                <p:cNvSpPr txBox="1"/>
                <p:nvPr/>
              </p:nvSpPr>
              <p:spPr>
                <a:xfrm>
                  <a:off x="3638004" y="4844056"/>
                  <a:ext cx="535512" cy="197065"/>
                </a:xfrm>
                <a:prstGeom prst="rect">
                  <a:avLst/>
                </a:prstGeom>
                <a:noFill/>
              </p:spPr>
              <p:txBody>
                <a:bodyPr wrap="squar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 </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encrypt</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6" name="Group 375">
                <a:extLst>
                  <a:ext uri="{FF2B5EF4-FFF2-40B4-BE49-F238E27FC236}">
                    <a16:creationId xmlns:a16="http://schemas.microsoft.com/office/drawing/2014/main" id="{ED37937D-DD91-964F-99D2-E63CC86233DF}"/>
                  </a:ext>
                </a:extLst>
              </p:cNvPr>
              <p:cNvGrpSpPr/>
              <p:nvPr/>
            </p:nvGrpSpPr>
            <p:grpSpPr>
              <a:xfrm>
                <a:off x="3856579" y="4996013"/>
                <a:ext cx="1219913" cy="235887"/>
                <a:chOff x="3856579" y="4996013"/>
                <a:chExt cx="1219913" cy="235887"/>
              </a:xfrm>
            </p:grpSpPr>
            <p:sp>
              <p:nvSpPr>
                <p:cNvPr id="377" name="TextBox 376">
                  <a:extLst>
                    <a:ext uri="{FF2B5EF4-FFF2-40B4-BE49-F238E27FC236}">
                      <a16:creationId xmlns:a16="http://schemas.microsoft.com/office/drawing/2014/main" id="{39B46E54-EE11-C84C-8423-1A93842FE46E}"/>
                    </a:ext>
                  </a:extLst>
                </p:cNvPr>
                <p:cNvSpPr txBox="1"/>
                <p:nvPr/>
              </p:nvSpPr>
              <p:spPr>
                <a:xfrm>
                  <a:off x="3856579" y="4996392"/>
                  <a:ext cx="401776" cy="229059"/>
                </a:xfrm>
                <a:prstGeom prst="rect">
                  <a:avLst/>
                </a:prstGeom>
                <a:noFill/>
              </p:spPr>
              <p:txBody>
                <a:bodyPr wrap="non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RDT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378" name="Rectangle 377">
                  <a:extLst>
                    <a:ext uri="{FF2B5EF4-FFF2-40B4-BE49-F238E27FC236}">
                      <a16:creationId xmlns:a16="http://schemas.microsoft.com/office/drawing/2014/main" id="{FCA82C8C-53C9-894A-BCB4-76091C2ACE02}"/>
                    </a:ext>
                  </a:extLst>
                </p:cNvPr>
                <p:cNvSpPr/>
                <p:nvPr/>
              </p:nvSpPr>
              <p:spPr>
                <a:xfrm>
                  <a:off x="3857961" y="49984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79" name="TextBox 378">
                  <a:extLst>
                    <a:ext uri="{FF2B5EF4-FFF2-40B4-BE49-F238E27FC236}">
                      <a16:creationId xmlns:a16="http://schemas.microsoft.com/office/drawing/2014/main" id="{F9BE178C-7DCC-E843-B9B1-42A1763F76F4}"/>
                    </a:ext>
                  </a:extLst>
                </p:cNvPr>
                <p:cNvSpPr txBox="1"/>
                <p:nvPr/>
              </p:nvSpPr>
              <p:spPr>
                <a:xfrm>
                  <a:off x="4263655" y="5002841"/>
                  <a:ext cx="401776" cy="229059"/>
                </a:xfrm>
                <a:prstGeom prst="rect">
                  <a:avLst/>
                </a:prstGeom>
                <a:noFill/>
              </p:spPr>
              <p:txBody>
                <a:bodyPr wrap="non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RDT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380" name="TextBox 379">
                  <a:extLst>
                    <a:ext uri="{FF2B5EF4-FFF2-40B4-BE49-F238E27FC236}">
                      <a16:creationId xmlns:a16="http://schemas.microsoft.com/office/drawing/2014/main" id="{87957DEE-AA74-564C-B4AA-8D3329C4C861}"/>
                    </a:ext>
                  </a:extLst>
                </p:cNvPr>
                <p:cNvSpPr txBox="1"/>
                <p:nvPr/>
              </p:nvSpPr>
              <p:spPr>
                <a:xfrm>
                  <a:off x="4674716" y="4996013"/>
                  <a:ext cx="401776" cy="229059"/>
                </a:xfrm>
                <a:prstGeom prst="rect">
                  <a:avLst/>
                </a:prstGeom>
                <a:noFill/>
              </p:spPr>
              <p:txBody>
                <a:bodyPr wrap="non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QUIC</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 </a:t>
                  </a: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RDT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32" name="Group 231">
              <a:extLst>
                <a:ext uri="{FF2B5EF4-FFF2-40B4-BE49-F238E27FC236}">
                  <a16:creationId xmlns:a16="http://schemas.microsoft.com/office/drawing/2014/main" id="{DC1DF91D-852F-CC4A-807C-18EF49FECF15}"/>
                </a:ext>
              </a:extLst>
            </p:cNvPr>
            <p:cNvGrpSpPr/>
            <p:nvPr/>
          </p:nvGrpSpPr>
          <p:grpSpPr>
            <a:xfrm>
              <a:off x="10033437" y="2849705"/>
              <a:ext cx="891382" cy="875971"/>
              <a:chOff x="3774433" y="4781422"/>
              <a:chExt cx="535512" cy="407350"/>
            </a:xfrm>
          </p:grpSpPr>
          <p:grpSp>
            <p:nvGrpSpPr>
              <p:cNvPr id="238" name="Group 237">
                <a:extLst>
                  <a:ext uri="{FF2B5EF4-FFF2-40B4-BE49-F238E27FC236}">
                    <a16:creationId xmlns:a16="http://schemas.microsoft.com/office/drawing/2014/main" id="{60F3899C-16A5-2040-B8D3-B40BE3789B5F}"/>
                  </a:ext>
                </a:extLst>
              </p:cNvPr>
              <p:cNvGrpSpPr/>
              <p:nvPr/>
            </p:nvGrpSpPr>
            <p:grpSpPr>
              <a:xfrm>
                <a:off x="3774433" y="4781422"/>
                <a:ext cx="535512" cy="207083"/>
                <a:chOff x="3625864" y="4844056"/>
                <a:chExt cx="535512" cy="207083"/>
              </a:xfrm>
            </p:grpSpPr>
            <p:sp>
              <p:nvSpPr>
                <p:cNvPr id="373" name="Rectangle 372">
                  <a:extLst>
                    <a:ext uri="{FF2B5EF4-FFF2-40B4-BE49-F238E27FC236}">
                      <a16:creationId xmlns:a16="http://schemas.microsoft.com/office/drawing/2014/main" id="{23B0C62B-9CD8-C94C-880B-A38322BA5077}"/>
                    </a:ext>
                  </a:extLst>
                </p:cNvPr>
                <p:cNvSpPr/>
                <p:nvPr/>
              </p:nvSpPr>
              <p:spPr>
                <a:xfrm>
                  <a:off x="3705561" y="48460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374" name="TextBox 373">
                  <a:extLst>
                    <a:ext uri="{FF2B5EF4-FFF2-40B4-BE49-F238E27FC236}">
                      <a16:creationId xmlns:a16="http://schemas.microsoft.com/office/drawing/2014/main" id="{0F2D4651-2D4B-5D43-8F4A-74780D8D5373}"/>
                    </a:ext>
                  </a:extLst>
                </p:cNvPr>
                <p:cNvSpPr txBox="1"/>
                <p:nvPr/>
              </p:nvSpPr>
              <p:spPr>
                <a:xfrm>
                  <a:off x="3625864" y="4844056"/>
                  <a:ext cx="535512" cy="207083"/>
                </a:xfrm>
                <a:prstGeom prst="rect">
                  <a:avLst/>
                </a:prstGeom>
                <a:noFill/>
              </p:spPr>
              <p:txBody>
                <a:bodyPr wrap="squar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QUIC </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encrypt</a:t>
                  </a:r>
                  <a:endPar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
            <p:nvSpPr>
              <p:cNvPr id="239" name="Rectangle 238">
                <a:extLst>
                  <a:ext uri="{FF2B5EF4-FFF2-40B4-BE49-F238E27FC236}">
                    <a16:creationId xmlns:a16="http://schemas.microsoft.com/office/drawing/2014/main" id="{B35FF821-5DAB-EA49-B5AD-1FFF18CFD0D6}"/>
                  </a:ext>
                </a:extLst>
              </p:cNvPr>
              <p:cNvSpPr/>
              <p:nvPr/>
            </p:nvSpPr>
            <p:spPr>
              <a:xfrm>
                <a:off x="3857961" y="49984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grpSp>
        <p:grpSp>
          <p:nvGrpSpPr>
            <p:cNvPr id="233" name="Group 232">
              <a:extLst>
                <a:ext uri="{FF2B5EF4-FFF2-40B4-BE49-F238E27FC236}">
                  <a16:creationId xmlns:a16="http://schemas.microsoft.com/office/drawing/2014/main" id="{C754F3A4-C128-D540-B52C-0C88F5DAA68B}"/>
                </a:ext>
              </a:extLst>
            </p:cNvPr>
            <p:cNvGrpSpPr/>
            <p:nvPr/>
          </p:nvGrpSpPr>
          <p:grpSpPr>
            <a:xfrm>
              <a:off x="10748230" y="2840608"/>
              <a:ext cx="891382" cy="875971"/>
              <a:chOff x="3780503" y="4781422"/>
              <a:chExt cx="535512" cy="407350"/>
            </a:xfrm>
          </p:grpSpPr>
          <p:grpSp>
            <p:nvGrpSpPr>
              <p:cNvPr id="234" name="Group 233">
                <a:extLst>
                  <a:ext uri="{FF2B5EF4-FFF2-40B4-BE49-F238E27FC236}">
                    <a16:creationId xmlns:a16="http://schemas.microsoft.com/office/drawing/2014/main" id="{D10E593F-B966-A942-849B-BE0B9E4AEF39}"/>
                  </a:ext>
                </a:extLst>
              </p:cNvPr>
              <p:cNvGrpSpPr/>
              <p:nvPr/>
            </p:nvGrpSpPr>
            <p:grpSpPr>
              <a:xfrm>
                <a:off x="3780503" y="4781422"/>
                <a:ext cx="535512" cy="207083"/>
                <a:chOff x="3631934" y="4844056"/>
                <a:chExt cx="535512" cy="207083"/>
              </a:xfrm>
            </p:grpSpPr>
            <p:sp>
              <p:nvSpPr>
                <p:cNvPr id="236" name="Rectangle 235">
                  <a:extLst>
                    <a:ext uri="{FF2B5EF4-FFF2-40B4-BE49-F238E27FC236}">
                      <a16:creationId xmlns:a16="http://schemas.microsoft.com/office/drawing/2014/main" id="{3C0353BE-D06B-4A40-AA43-31B9BE3998C8}"/>
                    </a:ext>
                  </a:extLst>
                </p:cNvPr>
                <p:cNvSpPr/>
                <p:nvPr/>
              </p:nvSpPr>
              <p:spPr>
                <a:xfrm>
                  <a:off x="3705561" y="48460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sp>
              <p:nvSpPr>
                <p:cNvPr id="237" name="TextBox 236">
                  <a:extLst>
                    <a:ext uri="{FF2B5EF4-FFF2-40B4-BE49-F238E27FC236}">
                      <a16:creationId xmlns:a16="http://schemas.microsoft.com/office/drawing/2014/main" id="{2751D3CB-9102-AC4C-A0E0-C28B7C9AFCFF}"/>
                    </a:ext>
                  </a:extLst>
                </p:cNvPr>
                <p:cNvSpPr txBox="1"/>
                <p:nvPr/>
              </p:nvSpPr>
              <p:spPr>
                <a:xfrm>
                  <a:off x="3631934" y="4844056"/>
                  <a:ext cx="535512" cy="207083"/>
                </a:xfrm>
                <a:prstGeom prst="rect">
                  <a:avLst/>
                </a:prstGeom>
                <a:noFill/>
              </p:spPr>
              <p:txBody>
                <a:bodyPr wrap="square" rtlCol="0">
                  <a:spAutoFit/>
                </a:bodyPr>
                <a:lstStyle/>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rPr>
                    <a:t>QUIC </a:t>
                  </a:r>
                </a:p>
                <a:p>
                  <a:pPr marL="0" marR="0" lvl="0" indent="0" algn="ctr" defTabSz="457200" rtl="0" eaLnBrk="1" fontAlgn="auto" latinLnBrk="0" hangingPunct="1">
                    <a:lnSpc>
                      <a:spcPct val="7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encrypt</a:t>
                  </a:r>
                  <a:endParaRPr kumimoji="0" lang="en-US" sz="20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
            <p:nvSpPr>
              <p:cNvPr id="235" name="Rectangle 234">
                <a:extLst>
                  <a:ext uri="{FF2B5EF4-FFF2-40B4-BE49-F238E27FC236}">
                    <a16:creationId xmlns:a16="http://schemas.microsoft.com/office/drawing/2014/main" id="{2543EEC5-F35A-D442-BCBE-B3CB8C2C5909}"/>
                  </a:ext>
                </a:extLst>
              </p:cNvPr>
              <p:cNvSpPr/>
              <p:nvPr/>
            </p:nvSpPr>
            <p:spPr>
              <a:xfrm>
                <a:off x="3857961" y="4998499"/>
                <a:ext cx="393403" cy="190273"/>
              </a:xfrm>
              <a:prstGeom prst="rect">
                <a:avLst/>
              </a:prstGeom>
              <a:no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white"/>
                  </a:solidFill>
                  <a:effectLst/>
                  <a:uLnTx/>
                  <a:uFillTx/>
                  <a:latin typeface="Calibri"/>
                  <a:ea typeface="+mn-ea"/>
                  <a:cs typeface="+mn-cs"/>
                </a:endParaRPr>
              </a:p>
            </p:txBody>
          </p:sp>
        </p:grpSp>
      </p:grpSp>
      <p:sp>
        <p:nvSpPr>
          <p:cNvPr id="405" name="Freeform 404">
            <a:extLst>
              <a:ext uri="{FF2B5EF4-FFF2-40B4-BE49-F238E27FC236}">
                <a16:creationId xmlns:a16="http://schemas.microsoft.com/office/drawing/2014/main" id="{40C4075A-6AA6-EA45-A9F2-2E2640C5B049}"/>
              </a:ext>
            </a:extLst>
          </p:cNvPr>
          <p:cNvSpPr/>
          <p:nvPr/>
        </p:nvSpPr>
        <p:spPr>
          <a:xfrm>
            <a:off x="8348952" y="2170481"/>
            <a:ext cx="1435304" cy="3314700"/>
          </a:xfrm>
          <a:custGeom>
            <a:avLst/>
            <a:gdLst>
              <a:gd name="connsiteX0" fmla="*/ 0 w 1710813"/>
              <a:gd name="connsiteY0" fmla="*/ 376084 h 2824317"/>
              <a:gd name="connsiteX1" fmla="*/ 0 w 1710813"/>
              <a:gd name="connsiteY1" fmla="*/ 2824317 h 2824317"/>
              <a:gd name="connsiteX2" fmla="*/ 95865 w 1710813"/>
              <a:gd name="connsiteY2" fmla="*/ 2824317 h 2824317"/>
              <a:gd name="connsiteX3" fmla="*/ 1710813 w 1710813"/>
              <a:gd name="connsiteY3" fmla="*/ 2824317 h 2824317"/>
              <a:gd name="connsiteX4" fmla="*/ 1710813 w 1710813"/>
              <a:gd name="connsiteY4" fmla="*/ 2676833 h 2824317"/>
              <a:gd name="connsiteX5" fmla="*/ 1710813 w 1710813"/>
              <a:gd name="connsiteY5" fmla="*/ 0 h 2824317"/>
              <a:gd name="connsiteX6" fmla="*/ 1600200 w 1710813"/>
              <a:gd name="connsiteY6" fmla="*/ 0 h 2824317"/>
              <a:gd name="connsiteX7" fmla="*/ 1482213 w 1710813"/>
              <a:gd name="connsiteY7" fmla="*/ 29497 h 2824317"/>
              <a:gd name="connsiteX0" fmla="*/ 0 w 1710813"/>
              <a:gd name="connsiteY0" fmla="*/ 376084 h 2824317"/>
              <a:gd name="connsiteX1" fmla="*/ 0 w 1710813"/>
              <a:gd name="connsiteY1" fmla="*/ 2824317 h 2824317"/>
              <a:gd name="connsiteX2" fmla="*/ 95865 w 1710813"/>
              <a:gd name="connsiteY2" fmla="*/ 2824317 h 2824317"/>
              <a:gd name="connsiteX3" fmla="*/ 1710813 w 1710813"/>
              <a:gd name="connsiteY3" fmla="*/ 2824317 h 2824317"/>
              <a:gd name="connsiteX4" fmla="*/ 1710813 w 1710813"/>
              <a:gd name="connsiteY4" fmla="*/ 2676833 h 2824317"/>
              <a:gd name="connsiteX5" fmla="*/ 1710813 w 1710813"/>
              <a:gd name="connsiteY5" fmla="*/ 0 h 2824317"/>
              <a:gd name="connsiteX6" fmla="*/ 1600200 w 1710813"/>
              <a:gd name="connsiteY6" fmla="*/ 0 h 2824317"/>
              <a:gd name="connsiteX0" fmla="*/ 0 w 1710813"/>
              <a:gd name="connsiteY0" fmla="*/ 376084 h 2824317"/>
              <a:gd name="connsiteX1" fmla="*/ 0 w 1710813"/>
              <a:gd name="connsiteY1" fmla="*/ 2824317 h 2824317"/>
              <a:gd name="connsiteX2" fmla="*/ 95865 w 1710813"/>
              <a:gd name="connsiteY2" fmla="*/ 2824317 h 2824317"/>
              <a:gd name="connsiteX3" fmla="*/ 1710813 w 1710813"/>
              <a:gd name="connsiteY3" fmla="*/ 2824317 h 2824317"/>
              <a:gd name="connsiteX4" fmla="*/ 1710813 w 1710813"/>
              <a:gd name="connsiteY4" fmla="*/ 2676833 h 2824317"/>
              <a:gd name="connsiteX5" fmla="*/ 1710813 w 1710813"/>
              <a:gd name="connsiteY5" fmla="*/ 0 h 2824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813" h="2824317">
                <a:moveTo>
                  <a:pt x="0" y="376084"/>
                </a:moveTo>
                <a:lnTo>
                  <a:pt x="0" y="2824317"/>
                </a:lnTo>
                <a:lnTo>
                  <a:pt x="95865" y="2824317"/>
                </a:lnTo>
                <a:lnTo>
                  <a:pt x="1710813" y="2824317"/>
                </a:lnTo>
                <a:lnTo>
                  <a:pt x="1710813" y="2676833"/>
                </a:lnTo>
                <a:lnTo>
                  <a:pt x="1710813" y="0"/>
                </a:lnTo>
              </a:path>
            </a:pathLst>
          </a:custGeom>
          <a:noFill/>
          <a:ln w="25400">
            <a:solidFill>
              <a:srgbClr val="0000A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6" name="Freeform 405">
            <a:extLst>
              <a:ext uri="{FF2B5EF4-FFF2-40B4-BE49-F238E27FC236}">
                <a16:creationId xmlns:a16="http://schemas.microsoft.com/office/drawing/2014/main" id="{987CB412-8308-D748-9394-292800F22809}"/>
              </a:ext>
            </a:extLst>
          </p:cNvPr>
          <p:cNvSpPr/>
          <p:nvPr/>
        </p:nvSpPr>
        <p:spPr>
          <a:xfrm>
            <a:off x="7544680" y="2246396"/>
            <a:ext cx="2790074" cy="3142699"/>
          </a:xfrm>
          <a:custGeom>
            <a:avLst/>
            <a:gdLst>
              <a:gd name="connsiteX0" fmla="*/ 0 w 2455606"/>
              <a:gd name="connsiteY0" fmla="*/ 176981 h 3008671"/>
              <a:gd name="connsiteX1" fmla="*/ 0 w 2455606"/>
              <a:gd name="connsiteY1" fmla="*/ 3008671 h 3008671"/>
              <a:gd name="connsiteX2" fmla="*/ 88490 w 2455606"/>
              <a:gd name="connsiteY2" fmla="*/ 3008671 h 3008671"/>
              <a:gd name="connsiteX3" fmla="*/ 2455606 w 2455606"/>
              <a:gd name="connsiteY3" fmla="*/ 3008671 h 3008671"/>
              <a:gd name="connsiteX4" fmla="*/ 2455606 w 2455606"/>
              <a:gd name="connsiteY4" fmla="*/ 0 h 3008671"/>
              <a:gd name="connsiteX5" fmla="*/ 2263877 w 2455606"/>
              <a:gd name="connsiteY5" fmla="*/ 0 h 3008671"/>
              <a:gd name="connsiteX6" fmla="*/ 2263877 w 2455606"/>
              <a:gd name="connsiteY6" fmla="*/ 0 h 3008671"/>
              <a:gd name="connsiteX0" fmla="*/ 0 w 2455606"/>
              <a:gd name="connsiteY0" fmla="*/ 176981 h 3008671"/>
              <a:gd name="connsiteX1" fmla="*/ 0 w 2455606"/>
              <a:gd name="connsiteY1" fmla="*/ 3008671 h 3008671"/>
              <a:gd name="connsiteX2" fmla="*/ 88490 w 2455606"/>
              <a:gd name="connsiteY2" fmla="*/ 3008671 h 3008671"/>
              <a:gd name="connsiteX3" fmla="*/ 2455606 w 2455606"/>
              <a:gd name="connsiteY3" fmla="*/ 3008671 h 3008671"/>
              <a:gd name="connsiteX4" fmla="*/ 2455606 w 2455606"/>
              <a:gd name="connsiteY4" fmla="*/ 0 h 3008671"/>
              <a:gd name="connsiteX5" fmla="*/ 2263877 w 2455606"/>
              <a:gd name="connsiteY5" fmla="*/ 0 h 3008671"/>
              <a:gd name="connsiteX0" fmla="*/ 0 w 2455606"/>
              <a:gd name="connsiteY0" fmla="*/ 176981 h 3008671"/>
              <a:gd name="connsiteX1" fmla="*/ 0 w 2455606"/>
              <a:gd name="connsiteY1" fmla="*/ 3008671 h 3008671"/>
              <a:gd name="connsiteX2" fmla="*/ 88490 w 2455606"/>
              <a:gd name="connsiteY2" fmla="*/ 3008671 h 3008671"/>
              <a:gd name="connsiteX3" fmla="*/ 2455606 w 2455606"/>
              <a:gd name="connsiteY3" fmla="*/ 3008671 h 3008671"/>
              <a:gd name="connsiteX4" fmla="*/ 2455606 w 2455606"/>
              <a:gd name="connsiteY4" fmla="*/ 0 h 3008671"/>
              <a:gd name="connsiteX0" fmla="*/ 0 w 2455606"/>
              <a:gd name="connsiteY0" fmla="*/ 0 h 2831690"/>
              <a:gd name="connsiteX1" fmla="*/ 0 w 2455606"/>
              <a:gd name="connsiteY1" fmla="*/ 2831690 h 2831690"/>
              <a:gd name="connsiteX2" fmla="*/ 88490 w 2455606"/>
              <a:gd name="connsiteY2" fmla="*/ 2831690 h 2831690"/>
              <a:gd name="connsiteX3" fmla="*/ 2455606 w 2455606"/>
              <a:gd name="connsiteY3" fmla="*/ 2831690 h 2831690"/>
              <a:gd name="connsiteX4" fmla="*/ 2455606 w 2455606"/>
              <a:gd name="connsiteY4" fmla="*/ 1755057 h 2831690"/>
              <a:gd name="connsiteX0" fmla="*/ 0 w 2455606"/>
              <a:gd name="connsiteY0" fmla="*/ 0 h 2831690"/>
              <a:gd name="connsiteX1" fmla="*/ 0 w 2455606"/>
              <a:gd name="connsiteY1" fmla="*/ 2831690 h 2831690"/>
              <a:gd name="connsiteX2" fmla="*/ 88490 w 2455606"/>
              <a:gd name="connsiteY2" fmla="*/ 2831690 h 2831690"/>
              <a:gd name="connsiteX3" fmla="*/ 2455606 w 2455606"/>
              <a:gd name="connsiteY3" fmla="*/ 2831690 h 2831690"/>
              <a:gd name="connsiteX4" fmla="*/ 2426633 w 2455606"/>
              <a:gd name="connsiteY4" fmla="*/ 1187695 h 2831690"/>
              <a:gd name="connsiteX0" fmla="*/ 0 w 2473320"/>
              <a:gd name="connsiteY0" fmla="*/ 0 h 2831690"/>
              <a:gd name="connsiteX1" fmla="*/ 0 w 2473320"/>
              <a:gd name="connsiteY1" fmla="*/ 2831690 h 2831690"/>
              <a:gd name="connsiteX2" fmla="*/ 88490 w 2473320"/>
              <a:gd name="connsiteY2" fmla="*/ 2831690 h 2831690"/>
              <a:gd name="connsiteX3" fmla="*/ 2455606 w 2473320"/>
              <a:gd name="connsiteY3" fmla="*/ 2831690 h 2831690"/>
              <a:gd name="connsiteX4" fmla="*/ 2473320 w 2473320"/>
              <a:gd name="connsiteY4" fmla="*/ 1192031 h 2831690"/>
              <a:gd name="connsiteX0" fmla="*/ 0 w 2460587"/>
              <a:gd name="connsiteY0" fmla="*/ 0 h 2831690"/>
              <a:gd name="connsiteX1" fmla="*/ 0 w 2460587"/>
              <a:gd name="connsiteY1" fmla="*/ 2831690 h 2831690"/>
              <a:gd name="connsiteX2" fmla="*/ 88490 w 2460587"/>
              <a:gd name="connsiteY2" fmla="*/ 2831690 h 2831690"/>
              <a:gd name="connsiteX3" fmla="*/ 2455606 w 2460587"/>
              <a:gd name="connsiteY3" fmla="*/ 2831690 h 2831690"/>
              <a:gd name="connsiteX4" fmla="*/ 2460587 w 2460587"/>
              <a:gd name="connsiteY4" fmla="*/ 1205040 h 2831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0587" h="2831690">
                <a:moveTo>
                  <a:pt x="0" y="0"/>
                </a:moveTo>
                <a:lnTo>
                  <a:pt x="0" y="2831690"/>
                </a:lnTo>
                <a:lnTo>
                  <a:pt x="88490" y="2831690"/>
                </a:lnTo>
                <a:lnTo>
                  <a:pt x="2455606" y="2831690"/>
                </a:lnTo>
                <a:cubicBezTo>
                  <a:pt x="2457266" y="2289473"/>
                  <a:pt x="2458927" y="1747257"/>
                  <a:pt x="2460587" y="1205040"/>
                </a:cubicBezTo>
              </a:path>
            </a:pathLst>
          </a:custGeom>
          <a:noFill/>
          <a:ln w="25400">
            <a:solidFill>
              <a:srgbClr val="0000A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7" name="Freeform 406">
            <a:extLst>
              <a:ext uri="{FF2B5EF4-FFF2-40B4-BE49-F238E27FC236}">
                <a16:creationId xmlns:a16="http://schemas.microsoft.com/office/drawing/2014/main" id="{1C1B5B0F-521F-2E45-9FAB-870C29A70C36}"/>
              </a:ext>
            </a:extLst>
          </p:cNvPr>
          <p:cNvSpPr/>
          <p:nvPr/>
        </p:nvSpPr>
        <p:spPr>
          <a:xfrm>
            <a:off x="7766311" y="3553748"/>
            <a:ext cx="2615553" cy="1938327"/>
          </a:xfrm>
          <a:custGeom>
            <a:avLst/>
            <a:gdLst>
              <a:gd name="connsiteX0" fmla="*/ 2558845 w 2558845"/>
              <a:gd name="connsiteY0" fmla="*/ 0 h 1091381"/>
              <a:gd name="connsiteX1" fmla="*/ 2558845 w 2558845"/>
              <a:gd name="connsiteY1" fmla="*/ 1091381 h 1091381"/>
              <a:gd name="connsiteX2" fmla="*/ 2485103 w 2558845"/>
              <a:gd name="connsiteY2" fmla="*/ 1091381 h 1091381"/>
              <a:gd name="connsiteX3" fmla="*/ 0 w 2558845"/>
              <a:gd name="connsiteY3" fmla="*/ 1091381 h 1091381"/>
              <a:gd name="connsiteX4" fmla="*/ 0 w 2558845"/>
              <a:gd name="connsiteY4" fmla="*/ 582562 h 1091381"/>
              <a:gd name="connsiteX5" fmla="*/ 0 w 2558845"/>
              <a:gd name="connsiteY5" fmla="*/ 14749 h 109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8845" h="1091381">
                <a:moveTo>
                  <a:pt x="2558845" y="0"/>
                </a:moveTo>
                <a:lnTo>
                  <a:pt x="2558845" y="1091381"/>
                </a:lnTo>
                <a:lnTo>
                  <a:pt x="2485103" y="1091381"/>
                </a:lnTo>
                <a:lnTo>
                  <a:pt x="0" y="1091381"/>
                </a:lnTo>
                <a:lnTo>
                  <a:pt x="0" y="582562"/>
                </a:lnTo>
                <a:lnTo>
                  <a:pt x="0" y="14749"/>
                </a:lnTo>
              </a:path>
            </a:pathLst>
          </a:custGeom>
          <a:noFill/>
          <a:ln w="25400">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8" name="TextBox 407">
            <a:extLst>
              <a:ext uri="{FF2B5EF4-FFF2-40B4-BE49-F238E27FC236}">
                <a16:creationId xmlns:a16="http://schemas.microsoft.com/office/drawing/2014/main" id="{6382F978-AC8E-C040-99D9-CA9B8E31521E}"/>
              </a:ext>
            </a:extLst>
          </p:cNvPr>
          <p:cNvSpPr txBox="1"/>
          <p:nvPr/>
        </p:nvSpPr>
        <p:spPr>
          <a:xfrm>
            <a:off x="10145437" y="3362319"/>
            <a:ext cx="638441" cy="307777"/>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rPr>
              <a:t>error!</a:t>
            </a:r>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409" name="Freeform 408">
            <a:extLst>
              <a:ext uri="{FF2B5EF4-FFF2-40B4-BE49-F238E27FC236}">
                <a16:creationId xmlns:a16="http://schemas.microsoft.com/office/drawing/2014/main" id="{1A908A7F-3066-AE4D-AF51-C9A804B6CE7D}"/>
              </a:ext>
            </a:extLst>
          </p:cNvPr>
          <p:cNvSpPr/>
          <p:nvPr/>
        </p:nvSpPr>
        <p:spPr>
          <a:xfrm>
            <a:off x="7650449" y="2146221"/>
            <a:ext cx="2613793" cy="3263616"/>
          </a:xfrm>
          <a:custGeom>
            <a:avLst/>
            <a:gdLst>
              <a:gd name="connsiteX0" fmla="*/ 0 w 2573594"/>
              <a:gd name="connsiteY0" fmla="*/ 1976284 h 3023419"/>
              <a:gd name="connsiteX1" fmla="*/ 0 w 2573594"/>
              <a:gd name="connsiteY1" fmla="*/ 3023419 h 3023419"/>
              <a:gd name="connsiteX2" fmla="*/ 2573594 w 2573594"/>
              <a:gd name="connsiteY2" fmla="*/ 3023419 h 3023419"/>
              <a:gd name="connsiteX3" fmla="*/ 2573594 w 2573594"/>
              <a:gd name="connsiteY3" fmla="*/ 0 h 3023419"/>
              <a:gd name="connsiteX4" fmla="*/ 2470355 w 2573594"/>
              <a:gd name="connsiteY4" fmla="*/ 0 h 3023419"/>
              <a:gd name="connsiteX5" fmla="*/ 2470355 w 2573594"/>
              <a:gd name="connsiteY5" fmla="*/ 0 h 3023419"/>
              <a:gd name="connsiteX0" fmla="*/ 0 w 2573594"/>
              <a:gd name="connsiteY0" fmla="*/ 1976284 h 3023419"/>
              <a:gd name="connsiteX1" fmla="*/ 0 w 2573594"/>
              <a:gd name="connsiteY1" fmla="*/ 3023419 h 3023419"/>
              <a:gd name="connsiteX2" fmla="*/ 2573594 w 2573594"/>
              <a:gd name="connsiteY2" fmla="*/ 3023419 h 3023419"/>
              <a:gd name="connsiteX3" fmla="*/ 2573594 w 2573594"/>
              <a:gd name="connsiteY3" fmla="*/ 0 h 3023419"/>
              <a:gd name="connsiteX4" fmla="*/ 2470355 w 2573594"/>
              <a:gd name="connsiteY4" fmla="*/ 0 h 3023419"/>
              <a:gd name="connsiteX0" fmla="*/ 0 w 2573594"/>
              <a:gd name="connsiteY0" fmla="*/ 1976284 h 3023419"/>
              <a:gd name="connsiteX1" fmla="*/ 0 w 2573594"/>
              <a:gd name="connsiteY1" fmla="*/ 3023419 h 3023419"/>
              <a:gd name="connsiteX2" fmla="*/ 2573594 w 2573594"/>
              <a:gd name="connsiteY2" fmla="*/ 3023419 h 3023419"/>
              <a:gd name="connsiteX3" fmla="*/ 2573594 w 2573594"/>
              <a:gd name="connsiteY3" fmla="*/ 0 h 3023419"/>
              <a:gd name="connsiteX0" fmla="*/ 0 w 2600836"/>
              <a:gd name="connsiteY0" fmla="*/ 1541913 h 2589048"/>
              <a:gd name="connsiteX1" fmla="*/ 0 w 2600836"/>
              <a:gd name="connsiteY1" fmla="*/ 2589048 h 2589048"/>
              <a:gd name="connsiteX2" fmla="*/ 2573594 w 2600836"/>
              <a:gd name="connsiteY2" fmla="*/ 2589048 h 2589048"/>
              <a:gd name="connsiteX3" fmla="*/ 2600836 w 2600836"/>
              <a:gd name="connsiteY3" fmla="*/ 0 h 2589048"/>
              <a:gd name="connsiteX0" fmla="*/ 23944 w 2600836"/>
              <a:gd name="connsiteY0" fmla="*/ 919596 h 2589048"/>
              <a:gd name="connsiteX1" fmla="*/ 0 w 2600836"/>
              <a:gd name="connsiteY1" fmla="*/ 2589048 h 2589048"/>
              <a:gd name="connsiteX2" fmla="*/ 2573594 w 2600836"/>
              <a:gd name="connsiteY2" fmla="*/ 2589048 h 2589048"/>
              <a:gd name="connsiteX3" fmla="*/ 2600836 w 2600836"/>
              <a:gd name="connsiteY3" fmla="*/ 0 h 2589048"/>
              <a:gd name="connsiteX0" fmla="*/ 23944 w 2600836"/>
              <a:gd name="connsiteY0" fmla="*/ 1037950 h 2589048"/>
              <a:gd name="connsiteX1" fmla="*/ 0 w 2600836"/>
              <a:gd name="connsiteY1" fmla="*/ 2589048 h 2589048"/>
              <a:gd name="connsiteX2" fmla="*/ 2573594 w 2600836"/>
              <a:gd name="connsiteY2" fmla="*/ 2589048 h 2589048"/>
              <a:gd name="connsiteX3" fmla="*/ 2600836 w 2600836"/>
              <a:gd name="connsiteY3" fmla="*/ 0 h 2589048"/>
            </a:gdLst>
            <a:ahLst/>
            <a:cxnLst>
              <a:cxn ang="0">
                <a:pos x="connsiteX0" y="connsiteY0"/>
              </a:cxn>
              <a:cxn ang="0">
                <a:pos x="connsiteX1" y="connsiteY1"/>
              </a:cxn>
              <a:cxn ang="0">
                <a:pos x="connsiteX2" y="connsiteY2"/>
              </a:cxn>
              <a:cxn ang="0">
                <a:pos x="connsiteX3" y="connsiteY3"/>
              </a:cxn>
            </a:cxnLst>
            <a:rect l="l" t="t" r="r" b="b"/>
            <a:pathLst>
              <a:path w="2600836" h="2589048">
                <a:moveTo>
                  <a:pt x="23944" y="1037950"/>
                </a:moveTo>
                <a:lnTo>
                  <a:pt x="0" y="2589048"/>
                </a:lnTo>
                <a:lnTo>
                  <a:pt x="2573594" y="2589048"/>
                </a:lnTo>
                <a:lnTo>
                  <a:pt x="2600836" y="0"/>
                </a:lnTo>
              </a:path>
            </a:pathLst>
          </a:custGeom>
          <a:noFill/>
          <a:ln w="25400">
            <a:solidFill>
              <a:srgbClr val="0000A3"/>
            </a:solidFill>
            <a:headEnd type="none"/>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0" name="Freeform 409">
            <a:extLst>
              <a:ext uri="{FF2B5EF4-FFF2-40B4-BE49-F238E27FC236}">
                <a16:creationId xmlns:a16="http://schemas.microsoft.com/office/drawing/2014/main" id="{83931E98-1B7D-384B-BFEB-FCDFE65078EF}"/>
              </a:ext>
            </a:extLst>
          </p:cNvPr>
          <p:cNvSpPr/>
          <p:nvPr/>
        </p:nvSpPr>
        <p:spPr>
          <a:xfrm>
            <a:off x="6974900" y="2171905"/>
            <a:ext cx="4169952" cy="3314700"/>
          </a:xfrm>
          <a:custGeom>
            <a:avLst/>
            <a:gdLst>
              <a:gd name="connsiteX0" fmla="*/ 0 w 3188970"/>
              <a:gd name="connsiteY0" fmla="*/ 0 h 3314700"/>
              <a:gd name="connsiteX1" fmla="*/ 0 w 3188970"/>
              <a:gd name="connsiteY1" fmla="*/ 3314700 h 3314700"/>
              <a:gd name="connsiteX2" fmla="*/ 3188970 w 3188970"/>
              <a:gd name="connsiteY2" fmla="*/ 3314700 h 3314700"/>
              <a:gd name="connsiteX3" fmla="*/ 3188970 w 3188970"/>
              <a:gd name="connsiteY3" fmla="*/ 11430 h 3314700"/>
              <a:gd name="connsiteX4" fmla="*/ 3188970 w 3188970"/>
              <a:gd name="connsiteY4" fmla="*/ 1143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8970" h="3314700">
                <a:moveTo>
                  <a:pt x="0" y="0"/>
                </a:moveTo>
                <a:lnTo>
                  <a:pt x="0" y="3314700"/>
                </a:lnTo>
                <a:lnTo>
                  <a:pt x="3188970" y="3314700"/>
                </a:lnTo>
                <a:lnTo>
                  <a:pt x="3188970" y="11430"/>
                </a:lnTo>
                <a:lnTo>
                  <a:pt x="3188970" y="11430"/>
                </a:lnTo>
              </a:path>
            </a:pathLst>
          </a:custGeom>
          <a:noFill/>
          <a:ln w="25400">
            <a:solidFill>
              <a:srgbClr val="0000A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411" name="Group 410">
            <a:extLst>
              <a:ext uri="{FF2B5EF4-FFF2-40B4-BE49-F238E27FC236}">
                <a16:creationId xmlns:a16="http://schemas.microsoft.com/office/drawing/2014/main" id="{36C3A314-2D9A-404F-8230-A4A467D0C32C}"/>
              </a:ext>
            </a:extLst>
          </p:cNvPr>
          <p:cNvGrpSpPr/>
          <p:nvPr/>
        </p:nvGrpSpPr>
        <p:grpSpPr>
          <a:xfrm>
            <a:off x="6503169" y="1768807"/>
            <a:ext cx="1028924" cy="463979"/>
            <a:chOff x="1247868" y="1815620"/>
            <a:chExt cx="1028924" cy="463979"/>
          </a:xfrm>
        </p:grpSpPr>
        <p:sp>
          <p:nvSpPr>
            <p:cNvPr id="412" name="Rectangle 411">
              <a:extLst>
                <a:ext uri="{FF2B5EF4-FFF2-40B4-BE49-F238E27FC236}">
                  <a16:creationId xmlns:a16="http://schemas.microsoft.com/office/drawing/2014/main" id="{5671867B-859D-D44F-97AD-9DEBB99183D8}"/>
                </a:ext>
              </a:extLst>
            </p:cNvPr>
            <p:cNvSpPr/>
            <p:nvPr/>
          </p:nvSpPr>
          <p:spPr>
            <a:xfrm>
              <a:off x="1428787" y="1815620"/>
              <a:ext cx="686928" cy="439996"/>
            </a:xfrm>
            <a:prstGeom prst="rect">
              <a:avLst/>
            </a:prstGeom>
            <a:solidFill>
              <a:sysClr val="window" lastClr="FFFFFF"/>
            </a:solid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413" name="TextBox 412">
              <a:extLst>
                <a:ext uri="{FF2B5EF4-FFF2-40B4-BE49-F238E27FC236}">
                  <a16:creationId xmlns:a16="http://schemas.microsoft.com/office/drawing/2014/main" id="{CE7F9D86-BEAA-3A46-901A-86C3624ABB9F}"/>
                </a:ext>
              </a:extLst>
            </p:cNvPr>
            <p:cNvSpPr txBox="1"/>
            <p:nvPr/>
          </p:nvSpPr>
          <p:spPr>
            <a:xfrm>
              <a:off x="1247868" y="1838324"/>
              <a:ext cx="1028924" cy="441275"/>
            </a:xfrm>
            <a:prstGeom prst="rect">
              <a:avLst/>
            </a:prstGeom>
            <a:noFill/>
          </p:spPr>
          <p:txBody>
            <a:bodyPr wrap="squar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GET </a:t>
              </a:r>
            </a:p>
          </p:txBody>
        </p:sp>
      </p:grpSp>
      <p:grpSp>
        <p:nvGrpSpPr>
          <p:cNvPr id="414" name="Group 413">
            <a:extLst>
              <a:ext uri="{FF2B5EF4-FFF2-40B4-BE49-F238E27FC236}">
                <a16:creationId xmlns:a16="http://schemas.microsoft.com/office/drawing/2014/main" id="{E914C06D-67B1-A64E-A9BE-B28271EAC851}"/>
              </a:ext>
            </a:extLst>
          </p:cNvPr>
          <p:cNvGrpSpPr/>
          <p:nvPr/>
        </p:nvGrpSpPr>
        <p:grpSpPr>
          <a:xfrm>
            <a:off x="7197108" y="1926223"/>
            <a:ext cx="1028924" cy="463979"/>
            <a:chOff x="1549462" y="2216434"/>
            <a:chExt cx="1028924" cy="463979"/>
          </a:xfrm>
        </p:grpSpPr>
        <p:sp>
          <p:nvSpPr>
            <p:cNvPr id="415" name="Rectangle 414">
              <a:extLst>
                <a:ext uri="{FF2B5EF4-FFF2-40B4-BE49-F238E27FC236}">
                  <a16:creationId xmlns:a16="http://schemas.microsoft.com/office/drawing/2014/main" id="{B14EC4F3-1B7C-8A48-B61B-F7E8DF5936C1}"/>
                </a:ext>
              </a:extLst>
            </p:cNvPr>
            <p:cNvSpPr/>
            <p:nvPr/>
          </p:nvSpPr>
          <p:spPr>
            <a:xfrm>
              <a:off x="1709684" y="2216434"/>
              <a:ext cx="686928" cy="439996"/>
            </a:xfrm>
            <a:prstGeom prst="rect">
              <a:avLst/>
            </a:prstGeom>
            <a:solidFill>
              <a:sysClr val="window" lastClr="FFFFFF"/>
            </a:solid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416" name="TextBox 415">
              <a:extLst>
                <a:ext uri="{FF2B5EF4-FFF2-40B4-BE49-F238E27FC236}">
                  <a16:creationId xmlns:a16="http://schemas.microsoft.com/office/drawing/2014/main" id="{F6AD70F9-6580-8941-A480-DF49A1C6870C}"/>
                </a:ext>
              </a:extLst>
            </p:cNvPr>
            <p:cNvSpPr txBox="1"/>
            <p:nvPr/>
          </p:nvSpPr>
          <p:spPr>
            <a:xfrm>
              <a:off x="1549462" y="2239138"/>
              <a:ext cx="1028924" cy="441275"/>
            </a:xfrm>
            <a:prstGeom prst="rect">
              <a:avLst/>
            </a:prstGeom>
            <a:noFill/>
          </p:spPr>
          <p:txBody>
            <a:bodyPr wrap="squar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GET </a:t>
              </a:r>
            </a:p>
          </p:txBody>
        </p:sp>
      </p:grpSp>
      <p:grpSp>
        <p:nvGrpSpPr>
          <p:cNvPr id="417" name="Group 416">
            <a:extLst>
              <a:ext uri="{FF2B5EF4-FFF2-40B4-BE49-F238E27FC236}">
                <a16:creationId xmlns:a16="http://schemas.microsoft.com/office/drawing/2014/main" id="{E7FCC604-228D-1D45-BECA-84FEB1D75032}"/>
              </a:ext>
            </a:extLst>
          </p:cNvPr>
          <p:cNvGrpSpPr/>
          <p:nvPr/>
        </p:nvGrpSpPr>
        <p:grpSpPr>
          <a:xfrm>
            <a:off x="7867432" y="2206258"/>
            <a:ext cx="1028924" cy="463397"/>
            <a:chOff x="1830370" y="2617249"/>
            <a:chExt cx="1028924" cy="463397"/>
          </a:xfrm>
        </p:grpSpPr>
        <p:sp>
          <p:nvSpPr>
            <p:cNvPr id="418" name="Rectangle 417">
              <a:extLst>
                <a:ext uri="{FF2B5EF4-FFF2-40B4-BE49-F238E27FC236}">
                  <a16:creationId xmlns:a16="http://schemas.microsoft.com/office/drawing/2014/main" id="{F5BA8F89-946C-8040-B6D8-FD2E7F66B322}"/>
                </a:ext>
              </a:extLst>
            </p:cNvPr>
            <p:cNvSpPr/>
            <p:nvPr/>
          </p:nvSpPr>
          <p:spPr>
            <a:xfrm>
              <a:off x="1990582" y="2617249"/>
              <a:ext cx="686928" cy="439996"/>
            </a:xfrm>
            <a:prstGeom prst="rect">
              <a:avLst/>
            </a:prstGeom>
            <a:solidFill>
              <a:sysClr val="window" lastClr="FFFFFF"/>
            </a:solidFill>
            <a:ln w="3175" cap="flat" cmpd="sng" algn="ctr">
              <a:solidFill>
                <a:sysClr val="windowText" lastClr="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419" name="TextBox 418">
              <a:extLst>
                <a:ext uri="{FF2B5EF4-FFF2-40B4-BE49-F238E27FC236}">
                  <a16:creationId xmlns:a16="http://schemas.microsoft.com/office/drawing/2014/main" id="{3E5DFF80-8F1D-7942-879B-1271422CB279}"/>
                </a:ext>
              </a:extLst>
            </p:cNvPr>
            <p:cNvSpPr txBox="1"/>
            <p:nvPr/>
          </p:nvSpPr>
          <p:spPr>
            <a:xfrm>
              <a:off x="1830370" y="2639371"/>
              <a:ext cx="1028924" cy="441275"/>
            </a:xfrm>
            <a:prstGeom prst="rect">
              <a:avLst/>
            </a:prstGeom>
            <a:noFill/>
          </p:spPr>
          <p:txBody>
            <a:bodyPr wrap="square" rtlCol="0">
              <a:sp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HTTP </a:t>
              </a:r>
            </a:p>
            <a:p>
              <a:pPr marL="0" marR="0" lvl="0" indent="0" algn="ctr" defTabSz="457200" rtl="0" eaLnBrk="1" fontAlgn="auto" latinLnBrk="0" hangingPunct="1">
                <a:lnSpc>
                  <a:spcPct val="8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rPr>
                <a:t>GET </a:t>
              </a:r>
            </a:p>
          </p:txBody>
        </p:sp>
      </p:grpSp>
      <p:grpSp>
        <p:nvGrpSpPr>
          <p:cNvPr id="420" name="Group 321">
            <a:extLst>
              <a:ext uri="{FF2B5EF4-FFF2-40B4-BE49-F238E27FC236}">
                <a16:creationId xmlns:a16="http://schemas.microsoft.com/office/drawing/2014/main" id="{5FD4065E-D520-324B-BAF7-C767ACB19696}"/>
              </a:ext>
            </a:extLst>
          </p:cNvPr>
          <p:cNvGrpSpPr>
            <a:grpSpLocks/>
          </p:cNvGrpSpPr>
          <p:nvPr/>
        </p:nvGrpSpPr>
        <p:grpSpPr bwMode="auto">
          <a:xfrm>
            <a:off x="11407734" y="1304127"/>
            <a:ext cx="310294" cy="628857"/>
            <a:chOff x="4140" y="429"/>
            <a:chExt cx="1425" cy="2396"/>
          </a:xfrm>
        </p:grpSpPr>
        <p:sp>
          <p:nvSpPr>
            <p:cNvPr id="421" name="Freeform 322">
              <a:extLst>
                <a:ext uri="{FF2B5EF4-FFF2-40B4-BE49-F238E27FC236}">
                  <a16:creationId xmlns:a16="http://schemas.microsoft.com/office/drawing/2014/main" id="{D02ABE43-5E13-B145-B94C-C58F3DCAFA6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2" name="Rectangle 323">
              <a:extLst>
                <a:ext uri="{FF2B5EF4-FFF2-40B4-BE49-F238E27FC236}">
                  <a16:creationId xmlns:a16="http://schemas.microsoft.com/office/drawing/2014/main" id="{F00FC15D-81DF-154E-B346-A02E5BB09EB9}"/>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3" name="Freeform 324">
              <a:extLst>
                <a:ext uri="{FF2B5EF4-FFF2-40B4-BE49-F238E27FC236}">
                  <a16:creationId xmlns:a16="http://schemas.microsoft.com/office/drawing/2014/main" id="{9EDC6DEA-1800-2242-A41B-64290BDE53C6}"/>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4" name="Freeform 325">
              <a:extLst>
                <a:ext uri="{FF2B5EF4-FFF2-40B4-BE49-F238E27FC236}">
                  <a16:creationId xmlns:a16="http://schemas.microsoft.com/office/drawing/2014/main" id="{6B645393-CB08-CD45-A32C-E0CAB8B28BE3}"/>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25" name="Rectangle 326">
              <a:extLst>
                <a:ext uri="{FF2B5EF4-FFF2-40B4-BE49-F238E27FC236}">
                  <a16:creationId xmlns:a16="http://schemas.microsoft.com/office/drawing/2014/main" id="{F7D8C71F-1046-024C-AFCA-5D7EEA3C217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26" name="Group 327">
              <a:extLst>
                <a:ext uri="{FF2B5EF4-FFF2-40B4-BE49-F238E27FC236}">
                  <a16:creationId xmlns:a16="http://schemas.microsoft.com/office/drawing/2014/main" id="{71E1A54C-6480-8348-BEDE-47CF3F726578}"/>
                </a:ext>
              </a:extLst>
            </p:cNvPr>
            <p:cNvGrpSpPr>
              <a:grpSpLocks/>
            </p:cNvGrpSpPr>
            <p:nvPr/>
          </p:nvGrpSpPr>
          <p:grpSpPr bwMode="auto">
            <a:xfrm>
              <a:off x="4749" y="668"/>
              <a:ext cx="581" cy="145"/>
              <a:chOff x="614" y="2568"/>
              <a:chExt cx="725" cy="139"/>
            </a:xfrm>
          </p:grpSpPr>
          <p:sp>
            <p:nvSpPr>
              <p:cNvPr id="451" name="AutoShape 328">
                <a:extLst>
                  <a:ext uri="{FF2B5EF4-FFF2-40B4-BE49-F238E27FC236}">
                    <a16:creationId xmlns:a16="http://schemas.microsoft.com/office/drawing/2014/main" id="{499DC40C-0B22-A74B-B40C-9CA5C80CE828}"/>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52" name="AutoShape 329">
                <a:extLst>
                  <a:ext uri="{FF2B5EF4-FFF2-40B4-BE49-F238E27FC236}">
                    <a16:creationId xmlns:a16="http://schemas.microsoft.com/office/drawing/2014/main" id="{E345CCF7-1B7A-214C-B2E5-1D945CD50475}"/>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27" name="Rectangle 330">
              <a:extLst>
                <a:ext uri="{FF2B5EF4-FFF2-40B4-BE49-F238E27FC236}">
                  <a16:creationId xmlns:a16="http://schemas.microsoft.com/office/drawing/2014/main" id="{146B9F29-5633-F44E-82CA-96A9C11874E4}"/>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28" name="Group 331">
              <a:extLst>
                <a:ext uri="{FF2B5EF4-FFF2-40B4-BE49-F238E27FC236}">
                  <a16:creationId xmlns:a16="http://schemas.microsoft.com/office/drawing/2014/main" id="{B7B31D54-997E-CA40-BC79-A8CA3782888C}"/>
                </a:ext>
              </a:extLst>
            </p:cNvPr>
            <p:cNvGrpSpPr>
              <a:grpSpLocks/>
            </p:cNvGrpSpPr>
            <p:nvPr/>
          </p:nvGrpSpPr>
          <p:grpSpPr bwMode="auto">
            <a:xfrm>
              <a:off x="4747" y="994"/>
              <a:ext cx="581" cy="134"/>
              <a:chOff x="614" y="2568"/>
              <a:chExt cx="725" cy="139"/>
            </a:xfrm>
          </p:grpSpPr>
          <p:sp>
            <p:nvSpPr>
              <p:cNvPr id="449" name="AutoShape 332">
                <a:extLst>
                  <a:ext uri="{FF2B5EF4-FFF2-40B4-BE49-F238E27FC236}">
                    <a16:creationId xmlns:a16="http://schemas.microsoft.com/office/drawing/2014/main" id="{8C8F59CE-49E8-E249-A804-53F0926B437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50" name="AutoShape 333">
                <a:extLst>
                  <a:ext uri="{FF2B5EF4-FFF2-40B4-BE49-F238E27FC236}">
                    <a16:creationId xmlns:a16="http://schemas.microsoft.com/office/drawing/2014/main" id="{BBE3D6CA-D2D7-D04E-A7C9-17034A82A69F}"/>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29" name="Rectangle 334">
              <a:extLst>
                <a:ext uri="{FF2B5EF4-FFF2-40B4-BE49-F238E27FC236}">
                  <a16:creationId xmlns:a16="http://schemas.microsoft.com/office/drawing/2014/main" id="{EC90A815-552D-4643-8F79-4FC5339A187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0" name="Rectangle 335">
              <a:extLst>
                <a:ext uri="{FF2B5EF4-FFF2-40B4-BE49-F238E27FC236}">
                  <a16:creationId xmlns:a16="http://schemas.microsoft.com/office/drawing/2014/main" id="{9CEC9C5F-C4BB-F140-BE33-0423C8F6D78B}"/>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31" name="Group 336">
              <a:extLst>
                <a:ext uri="{FF2B5EF4-FFF2-40B4-BE49-F238E27FC236}">
                  <a16:creationId xmlns:a16="http://schemas.microsoft.com/office/drawing/2014/main" id="{3461EF9B-32EC-A841-8B84-3BD9B042359D}"/>
                </a:ext>
              </a:extLst>
            </p:cNvPr>
            <p:cNvGrpSpPr>
              <a:grpSpLocks/>
            </p:cNvGrpSpPr>
            <p:nvPr/>
          </p:nvGrpSpPr>
          <p:grpSpPr bwMode="auto">
            <a:xfrm>
              <a:off x="4735" y="1627"/>
              <a:ext cx="582" cy="151"/>
              <a:chOff x="614" y="2568"/>
              <a:chExt cx="725" cy="139"/>
            </a:xfrm>
          </p:grpSpPr>
          <p:sp>
            <p:nvSpPr>
              <p:cNvPr id="447" name="AutoShape 337">
                <a:extLst>
                  <a:ext uri="{FF2B5EF4-FFF2-40B4-BE49-F238E27FC236}">
                    <a16:creationId xmlns:a16="http://schemas.microsoft.com/office/drawing/2014/main" id="{C12DA0B9-D020-804A-AA6F-04BFE406382C}"/>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8" name="AutoShape 338">
                <a:extLst>
                  <a:ext uri="{FF2B5EF4-FFF2-40B4-BE49-F238E27FC236}">
                    <a16:creationId xmlns:a16="http://schemas.microsoft.com/office/drawing/2014/main" id="{C7E49889-8F0A-DB4C-804B-5F65562052EF}"/>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32" name="Freeform 339">
              <a:extLst>
                <a:ext uri="{FF2B5EF4-FFF2-40B4-BE49-F238E27FC236}">
                  <a16:creationId xmlns:a16="http://schemas.microsoft.com/office/drawing/2014/main" id="{5FC72E88-8F0F-D449-8C9F-591DBC274F6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433" name="Group 340">
              <a:extLst>
                <a:ext uri="{FF2B5EF4-FFF2-40B4-BE49-F238E27FC236}">
                  <a16:creationId xmlns:a16="http://schemas.microsoft.com/office/drawing/2014/main" id="{045EBA76-D01F-8941-9285-C8C91C04FB73}"/>
                </a:ext>
              </a:extLst>
            </p:cNvPr>
            <p:cNvGrpSpPr>
              <a:grpSpLocks/>
            </p:cNvGrpSpPr>
            <p:nvPr/>
          </p:nvGrpSpPr>
          <p:grpSpPr bwMode="auto">
            <a:xfrm>
              <a:off x="4739" y="1327"/>
              <a:ext cx="582" cy="139"/>
              <a:chOff x="614" y="2568"/>
              <a:chExt cx="725" cy="139"/>
            </a:xfrm>
          </p:grpSpPr>
          <p:sp>
            <p:nvSpPr>
              <p:cNvPr id="445" name="AutoShape 341">
                <a:extLst>
                  <a:ext uri="{FF2B5EF4-FFF2-40B4-BE49-F238E27FC236}">
                    <a16:creationId xmlns:a16="http://schemas.microsoft.com/office/drawing/2014/main" id="{B377F46C-FFD2-7B48-A9D2-A406500D8442}"/>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6" name="AutoShape 342">
                <a:extLst>
                  <a:ext uri="{FF2B5EF4-FFF2-40B4-BE49-F238E27FC236}">
                    <a16:creationId xmlns:a16="http://schemas.microsoft.com/office/drawing/2014/main" id="{4C238E3E-1AE0-DB4B-8BC0-5FE11657A037}"/>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434" name="Rectangle 343">
              <a:extLst>
                <a:ext uri="{FF2B5EF4-FFF2-40B4-BE49-F238E27FC236}">
                  <a16:creationId xmlns:a16="http://schemas.microsoft.com/office/drawing/2014/main" id="{2550FBFE-80A0-0440-AA53-2A10199F335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5" name="Freeform 344">
              <a:extLst>
                <a:ext uri="{FF2B5EF4-FFF2-40B4-BE49-F238E27FC236}">
                  <a16:creationId xmlns:a16="http://schemas.microsoft.com/office/drawing/2014/main" id="{4ACF36E5-3FF3-D54D-842F-B34C0B4946E4}"/>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6" name="Freeform 345">
              <a:extLst>
                <a:ext uri="{FF2B5EF4-FFF2-40B4-BE49-F238E27FC236}">
                  <a16:creationId xmlns:a16="http://schemas.microsoft.com/office/drawing/2014/main" id="{677DD9DB-1C50-5144-A75B-2C54D04E4D1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7" name="Oval 346">
              <a:extLst>
                <a:ext uri="{FF2B5EF4-FFF2-40B4-BE49-F238E27FC236}">
                  <a16:creationId xmlns:a16="http://schemas.microsoft.com/office/drawing/2014/main" id="{7A51BDE6-2CBD-634E-8BA1-3B98F2048F92}"/>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38" name="Freeform 347">
              <a:extLst>
                <a:ext uri="{FF2B5EF4-FFF2-40B4-BE49-F238E27FC236}">
                  <a16:creationId xmlns:a16="http://schemas.microsoft.com/office/drawing/2014/main" id="{7D5A8A37-1408-354B-AB05-01EE1797F8A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39" name="AutoShape 348">
              <a:extLst>
                <a:ext uri="{FF2B5EF4-FFF2-40B4-BE49-F238E27FC236}">
                  <a16:creationId xmlns:a16="http://schemas.microsoft.com/office/drawing/2014/main" id="{E5DF964A-0F54-B147-8EDB-9A8E306E900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0" name="AutoShape 349">
              <a:extLst>
                <a:ext uri="{FF2B5EF4-FFF2-40B4-BE49-F238E27FC236}">
                  <a16:creationId xmlns:a16="http://schemas.microsoft.com/office/drawing/2014/main" id="{8AC60531-C23D-0240-A9A0-DB95795EAC90}"/>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1" name="Oval 350">
              <a:extLst>
                <a:ext uri="{FF2B5EF4-FFF2-40B4-BE49-F238E27FC236}">
                  <a16:creationId xmlns:a16="http://schemas.microsoft.com/office/drawing/2014/main" id="{3E998E4F-8E38-A84F-90F7-8B06484DB515}"/>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2" name="Oval 351">
              <a:extLst>
                <a:ext uri="{FF2B5EF4-FFF2-40B4-BE49-F238E27FC236}">
                  <a16:creationId xmlns:a16="http://schemas.microsoft.com/office/drawing/2014/main" id="{59929D9F-6548-8746-BB4A-A2AD4FB57176}"/>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43" name="Oval 352">
              <a:extLst>
                <a:ext uri="{FF2B5EF4-FFF2-40B4-BE49-F238E27FC236}">
                  <a16:creationId xmlns:a16="http://schemas.microsoft.com/office/drawing/2014/main" id="{B13D434C-5D59-2048-828B-12A6C9D4C693}"/>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44" name="Rectangle 353">
              <a:extLst>
                <a:ext uri="{FF2B5EF4-FFF2-40B4-BE49-F238E27FC236}">
                  <a16:creationId xmlns:a16="http://schemas.microsoft.com/office/drawing/2014/main" id="{82DE1C84-4210-9D4D-8FC7-AF51CD380C7E}"/>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453" name="Group 354">
            <a:extLst>
              <a:ext uri="{FF2B5EF4-FFF2-40B4-BE49-F238E27FC236}">
                <a16:creationId xmlns:a16="http://schemas.microsoft.com/office/drawing/2014/main" id="{A7760296-0E60-8845-9D47-C2BE6019E53E}"/>
              </a:ext>
            </a:extLst>
          </p:cNvPr>
          <p:cNvGrpSpPr>
            <a:grpSpLocks/>
          </p:cNvGrpSpPr>
          <p:nvPr/>
        </p:nvGrpSpPr>
        <p:grpSpPr bwMode="auto">
          <a:xfrm>
            <a:off x="6313356" y="1297050"/>
            <a:ext cx="525462" cy="434975"/>
            <a:chOff x="-44" y="1473"/>
            <a:chExt cx="981" cy="1105"/>
          </a:xfrm>
        </p:grpSpPr>
        <p:pic>
          <p:nvPicPr>
            <p:cNvPr id="454" name="Picture 355" descr="desktop_computer_stylized_medium">
              <a:extLst>
                <a:ext uri="{FF2B5EF4-FFF2-40B4-BE49-F238E27FC236}">
                  <a16:creationId xmlns:a16="http://schemas.microsoft.com/office/drawing/2014/main" id="{A81B710C-1F80-EE43-B9CC-378DDAF64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5" name="Freeform 356">
              <a:extLst>
                <a:ext uri="{FF2B5EF4-FFF2-40B4-BE49-F238E27FC236}">
                  <a16:creationId xmlns:a16="http://schemas.microsoft.com/office/drawing/2014/main" id="{BAB7562D-9764-424D-A631-C35354FE35B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2" name="Rectangle 1">
            <a:extLst>
              <a:ext uri="{FF2B5EF4-FFF2-40B4-BE49-F238E27FC236}">
                <a16:creationId xmlns:a16="http://schemas.microsoft.com/office/drawing/2014/main" id="{B5E2627F-105E-9C4B-8EF1-85CC04C8EABE}"/>
              </a:ext>
            </a:extLst>
          </p:cNvPr>
          <p:cNvSpPr/>
          <p:nvPr/>
        </p:nvSpPr>
        <p:spPr>
          <a:xfrm>
            <a:off x="6083300" y="1130300"/>
            <a:ext cx="5981700" cy="542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6" name="Slide Number Placeholder 2">
            <a:extLst>
              <a:ext uri="{FF2B5EF4-FFF2-40B4-BE49-F238E27FC236}">
                <a16:creationId xmlns:a16="http://schemas.microsoft.com/office/drawing/2014/main" id="{610A18A4-A347-C644-9049-7E6828F7CD80}"/>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86</a:t>
            </a:fld>
            <a:endParaRPr lang="en-US" dirty="0"/>
          </a:p>
        </p:txBody>
      </p:sp>
    </p:spTree>
    <p:extLst>
      <p:ext uri="{BB962C8B-B14F-4D97-AF65-F5344CB8AC3E}">
        <p14:creationId xmlns:p14="http://schemas.microsoft.com/office/powerpoint/2010/main" val="241841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par>
                          <p:cTn id="13" fill="hold">
                            <p:stCondLst>
                              <p:cond delay="500"/>
                            </p:stCondLst>
                            <p:childTnLst>
                              <p:par>
                                <p:cTn id="14" presetID="0" presetClass="path" presetSubtype="0" accel="50000" decel="50000" fill="hold" nodeType="afterEffect">
                                  <p:stCondLst>
                                    <p:cond delay="0"/>
                                  </p:stCondLst>
                                  <p:childTnLst>
                                    <p:animMotion origin="layout" path="M -0.00391 -0.00579 C -0.00378 0.12338 -0.00365 0.25231 -0.00339 0.38125 L 0.13737 0.3838 C 0.1375 0.22755 0.13789 0.12685 0.13815 -0.02894 " pathEditMode="relative" rAng="0" ptsTypes="AAAA">
                                      <p:cBhvr>
                                        <p:cTn id="15" dur="2000" fill="hold"/>
                                        <p:tgtEl>
                                          <p:spTgt spid="9"/>
                                        </p:tgtEl>
                                        <p:attrNameLst>
                                          <p:attrName>ppt_x</p:attrName>
                                          <p:attrName>ppt_y</p:attrName>
                                        </p:attrNameLst>
                                      </p:cBhvr>
                                      <p:rCtr x="7096" y="18310"/>
                                    </p:animMotion>
                                  </p:childTnLst>
                                </p:cTn>
                              </p:par>
                            </p:childTnLst>
                          </p:cTn>
                        </p:par>
                        <p:par>
                          <p:cTn id="16" fill="hold">
                            <p:stCondLst>
                              <p:cond delay="2500"/>
                            </p:stCondLst>
                            <p:childTnLst>
                              <p:par>
                                <p:cTn id="17" presetID="9" presetClass="exit" presetSubtype="0" fill="hold" grpId="1" nodeType="afterEffect">
                                  <p:stCondLst>
                                    <p:cond delay="0"/>
                                  </p:stCondLst>
                                  <p:childTnLst>
                                    <p:animEffect transition="out" filter="dissolve">
                                      <p:cBhvr>
                                        <p:cTn id="18" dur="500"/>
                                        <p:tgtEl>
                                          <p:spTgt spid="13"/>
                                        </p:tgtEl>
                                      </p:cBhvr>
                                    </p:animEffect>
                                    <p:set>
                                      <p:cBhvr>
                                        <p:cTn id="19" dur="1" fill="hold">
                                          <p:stCondLst>
                                            <p:cond delay="499"/>
                                          </p:stCondLst>
                                        </p:cTn>
                                        <p:tgtEl>
                                          <p:spTgt spid="13"/>
                                        </p:tgtEl>
                                        <p:attrNameLst>
                                          <p:attrName>style.visibility</p:attrName>
                                        </p:attrNameLst>
                                      </p:cBhvr>
                                      <p:to>
                                        <p:strVal val="hidden"/>
                                      </p:to>
                                    </p:set>
                                  </p:childTnLst>
                                </p:cTn>
                              </p:par>
                            </p:childTnLst>
                          </p:cTn>
                        </p:par>
                        <p:par>
                          <p:cTn id="20" fill="hold">
                            <p:stCondLst>
                              <p:cond delay="3000"/>
                            </p:stCondLst>
                            <p:childTnLst>
                              <p:par>
                                <p:cTn id="21" presetID="9" presetClass="exit" presetSubtype="0" fill="hold" nodeType="afterEffect">
                                  <p:stCondLst>
                                    <p:cond delay="0"/>
                                  </p:stCondLst>
                                  <p:childTnLst>
                                    <p:animEffect transition="out" filter="dissolve">
                                      <p:cBhvr>
                                        <p:cTn id="22" dur="500"/>
                                        <p:tgtEl>
                                          <p:spTgt spid="9"/>
                                        </p:tgtEl>
                                      </p:cBhvr>
                                    </p:animEffect>
                                    <p:set>
                                      <p:cBhvr>
                                        <p:cTn id="23" dur="1" fill="hold">
                                          <p:stCondLst>
                                            <p:cond delay="499"/>
                                          </p:stCondLst>
                                        </p:cTn>
                                        <p:tgtEl>
                                          <p:spTgt spid="9"/>
                                        </p:tgtEl>
                                        <p:attrNameLst>
                                          <p:attrName>style.visibility</p:attrName>
                                        </p:attrNameLst>
                                      </p:cBhvr>
                                      <p:to>
                                        <p:strVal val="hidden"/>
                                      </p:to>
                                    </p:set>
                                  </p:childTnLst>
                                </p:cTn>
                              </p:par>
                            </p:childTnLst>
                          </p:cTn>
                        </p:par>
                        <p:par>
                          <p:cTn id="24" fill="hold">
                            <p:stCondLst>
                              <p:cond delay="3500"/>
                            </p:stCondLst>
                            <p:childTnLst>
                              <p:par>
                                <p:cTn id="25" presetID="9" presetClass="entr" presetSubtype="0" fill="hold" grpId="1" nodeType="afterEffect">
                                  <p:stCondLst>
                                    <p:cond delay="100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par>
                                <p:cTn id="28" presetID="0" presetClass="path" presetSubtype="0" accel="50000" decel="50000" fill="hold" nodeType="withEffect">
                                  <p:stCondLst>
                                    <p:cond delay="0"/>
                                  </p:stCondLst>
                                  <p:childTnLst>
                                    <p:animMotion origin="layout" path="M -0.003 0.02986 C -0.003 0.16782 -0.003 0.15208 -0.003 0.29027 " pathEditMode="relative" rAng="0" ptsTypes="AA">
                                      <p:cBhvr>
                                        <p:cTn id="29" dur="2000" fill="hold"/>
                                        <p:tgtEl>
                                          <p:spTgt spid="10"/>
                                        </p:tgtEl>
                                        <p:attrNameLst>
                                          <p:attrName>ppt_x</p:attrName>
                                          <p:attrName>ppt_y</p:attrName>
                                        </p:attrNameLst>
                                      </p:cBhvr>
                                      <p:rCtr x="0" y="13009"/>
                                    </p:animMotion>
                                  </p:childTnLst>
                                </p:cTn>
                              </p:par>
                            </p:childTnLst>
                          </p:cTn>
                        </p:par>
                        <p:par>
                          <p:cTn id="30" fill="hold">
                            <p:stCondLst>
                              <p:cond delay="5500"/>
                            </p:stCondLst>
                            <p:childTnLst>
                              <p:par>
                                <p:cTn id="31" presetID="9"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dissolve">
                                      <p:cBhvr>
                                        <p:cTn id="33" dur="500"/>
                                        <p:tgtEl>
                                          <p:spTgt spid="16"/>
                                        </p:tgtEl>
                                      </p:cBhvr>
                                    </p:animEffect>
                                  </p:childTnLst>
                                </p:cTn>
                              </p:par>
                            </p:childTnLst>
                          </p:cTn>
                        </p:par>
                        <p:par>
                          <p:cTn id="34" fill="hold">
                            <p:stCondLst>
                              <p:cond delay="6000"/>
                            </p:stCondLst>
                            <p:childTnLst>
                              <p:par>
                                <p:cTn id="35" presetID="9" presetClass="entr" presetSubtype="0" fill="hold" grpId="0" nodeType="afterEffect">
                                  <p:stCondLst>
                                    <p:cond delay="100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par>
                          <p:cTn id="38" fill="hold">
                            <p:stCondLst>
                              <p:cond delay="7500"/>
                            </p:stCondLst>
                            <p:childTnLst>
                              <p:par>
                                <p:cTn id="39" presetID="9" presetClass="entr" presetSubtype="0" fill="hold" grpId="0" nodeType="afterEffect">
                                  <p:stCondLst>
                                    <p:cond delay="1000"/>
                                  </p:stCondLst>
                                  <p:childTnLst>
                                    <p:set>
                                      <p:cBhvr>
                                        <p:cTn id="40" dur="1" fill="hold">
                                          <p:stCondLst>
                                            <p:cond delay="0"/>
                                          </p:stCondLst>
                                        </p:cTn>
                                        <p:tgtEl>
                                          <p:spTgt spid="17"/>
                                        </p:tgtEl>
                                        <p:attrNameLst>
                                          <p:attrName>style.visibility</p:attrName>
                                        </p:attrNameLst>
                                      </p:cBhvr>
                                      <p:to>
                                        <p:strVal val="visible"/>
                                      </p:to>
                                    </p:set>
                                    <p:animEffect transition="in" filter="dissolve">
                                      <p:cBhvr>
                                        <p:cTn id="41" dur="500"/>
                                        <p:tgtEl>
                                          <p:spTgt spid="17"/>
                                        </p:tgtEl>
                                      </p:cBhvr>
                                    </p:animEffect>
                                  </p:childTnLst>
                                </p:cTn>
                              </p:par>
                            </p:childTnLst>
                          </p:cTn>
                        </p:par>
                        <p:par>
                          <p:cTn id="42" fill="hold">
                            <p:stCondLst>
                              <p:cond delay="9000"/>
                            </p:stCondLst>
                            <p:childTnLst>
                              <p:par>
                                <p:cTn id="43" presetID="9" presetClass="exit" presetSubtype="0" fill="hold" grpId="1" nodeType="afterEffect">
                                  <p:stCondLst>
                                    <p:cond delay="0"/>
                                  </p:stCondLst>
                                  <p:childTnLst>
                                    <p:animEffect transition="out" filter="dissolve">
                                      <p:cBhvr>
                                        <p:cTn id="44" dur="500"/>
                                        <p:tgtEl>
                                          <p:spTgt spid="16"/>
                                        </p:tgtEl>
                                      </p:cBhvr>
                                    </p:animEffect>
                                    <p:set>
                                      <p:cBhvr>
                                        <p:cTn id="45" dur="1" fill="hold">
                                          <p:stCondLst>
                                            <p:cond delay="499"/>
                                          </p:stCondLst>
                                        </p:cTn>
                                        <p:tgtEl>
                                          <p:spTgt spid="16"/>
                                        </p:tgtEl>
                                        <p:attrNameLst>
                                          <p:attrName>style.visibility</p:attrName>
                                        </p:attrNameLst>
                                      </p:cBhvr>
                                      <p:to>
                                        <p:strVal val="hidden"/>
                                      </p:to>
                                    </p:set>
                                  </p:childTnLst>
                                </p:cTn>
                              </p:par>
                            </p:childTnLst>
                          </p:cTn>
                        </p:par>
                        <p:par>
                          <p:cTn id="46" fill="hold">
                            <p:stCondLst>
                              <p:cond delay="9500"/>
                            </p:stCondLst>
                            <p:childTnLst>
                              <p:par>
                                <p:cTn id="47" presetID="0" presetClass="path" presetSubtype="0" accel="50000" decel="50000" fill="hold" nodeType="afterEffect">
                                  <p:stCondLst>
                                    <p:cond delay="1000"/>
                                  </p:stCondLst>
                                  <p:childTnLst>
                                    <p:animMotion origin="layout" path="M -0.00287 0.30555 L -0.00287 0.45555 L 0.20364 0.45555 L 0.20364 0.00162 " pathEditMode="relative" rAng="0" ptsTypes="AAAA">
                                      <p:cBhvr>
                                        <p:cTn id="48" dur="2000" fill="hold"/>
                                        <p:tgtEl>
                                          <p:spTgt spid="10"/>
                                        </p:tgtEl>
                                        <p:attrNameLst>
                                          <p:attrName>ppt_x</p:attrName>
                                          <p:attrName>ppt_y</p:attrName>
                                        </p:attrNameLst>
                                      </p:cBhvr>
                                      <p:rCtr x="10326" y="-7708"/>
                                    </p:animMotion>
                                  </p:childTnLst>
                                </p:cTn>
                              </p:par>
                            </p:childTnLst>
                          </p:cTn>
                        </p:par>
                        <p:par>
                          <p:cTn id="49" fill="hold">
                            <p:stCondLst>
                              <p:cond delay="12500"/>
                            </p:stCondLst>
                            <p:childTnLst>
                              <p:par>
                                <p:cTn id="50" presetID="9" presetClass="exit" presetSubtype="0" fill="hold" grpId="1" nodeType="afterEffect">
                                  <p:stCondLst>
                                    <p:cond delay="0"/>
                                  </p:stCondLst>
                                  <p:childTnLst>
                                    <p:animEffect transition="out" filter="dissolve">
                                      <p:cBhvr>
                                        <p:cTn id="51" dur="500"/>
                                        <p:tgtEl>
                                          <p:spTgt spid="15"/>
                                        </p:tgtEl>
                                      </p:cBhvr>
                                    </p:animEffect>
                                    <p:set>
                                      <p:cBhvr>
                                        <p:cTn id="52" dur="1" fill="hold">
                                          <p:stCondLst>
                                            <p:cond delay="499"/>
                                          </p:stCondLst>
                                        </p:cTn>
                                        <p:tgtEl>
                                          <p:spTgt spid="15"/>
                                        </p:tgtEl>
                                        <p:attrNameLst>
                                          <p:attrName>style.visibility</p:attrName>
                                        </p:attrNameLst>
                                      </p:cBhvr>
                                      <p:to>
                                        <p:strVal val="hidden"/>
                                      </p:to>
                                    </p:set>
                                  </p:childTnLst>
                                </p:cTn>
                              </p:par>
                              <p:par>
                                <p:cTn id="53" presetID="9" presetClass="exit" presetSubtype="0" fill="hold" grpId="0" nodeType="withEffect">
                                  <p:stCondLst>
                                    <p:cond delay="0"/>
                                  </p:stCondLst>
                                  <p:childTnLst>
                                    <p:animEffect transition="out" filter="dissolve">
                                      <p:cBhvr>
                                        <p:cTn id="54" dur="500"/>
                                        <p:tgtEl>
                                          <p:spTgt spid="14"/>
                                        </p:tgtEl>
                                      </p:cBhvr>
                                    </p:animEffect>
                                    <p:set>
                                      <p:cBhvr>
                                        <p:cTn id="55" dur="1" fill="hold">
                                          <p:stCondLst>
                                            <p:cond delay="499"/>
                                          </p:stCondLst>
                                        </p:cTn>
                                        <p:tgtEl>
                                          <p:spTgt spid="14"/>
                                        </p:tgtEl>
                                        <p:attrNameLst>
                                          <p:attrName>style.visibility</p:attrName>
                                        </p:attrNameLst>
                                      </p:cBhvr>
                                      <p:to>
                                        <p:strVal val="hidden"/>
                                      </p:to>
                                    </p:set>
                                  </p:childTnLst>
                                </p:cTn>
                              </p:par>
                              <p:par>
                                <p:cTn id="56" presetID="9" presetClass="exit" presetSubtype="0" fill="hold" grpId="1" nodeType="withEffect">
                                  <p:stCondLst>
                                    <p:cond delay="0"/>
                                  </p:stCondLst>
                                  <p:childTnLst>
                                    <p:animEffect transition="out" filter="dissolve">
                                      <p:cBhvr>
                                        <p:cTn id="57" dur="500"/>
                                        <p:tgtEl>
                                          <p:spTgt spid="17"/>
                                        </p:tgtEl>
                                      </p:cBhvr>
                                    </p:animEffect>
                                    <p:set>
                                      <p:cBhvr>
                                        <p:cTn id="58" dur="1" fill="hold">
                                          <p:stCondLst>
                                            <p:cond delay="499"/>
                                          </p:stCondLst>
                                        </p:cTn>
                                        <p:tgtEl>
                                          <p:spTgt spid="17"/>
                                        </p:tgtEl>
                                        <p:attrNameLst>
                                          <p:attrName>style.visibility</p:attrName>
                                        </p:attrNameLst>
                                      </p:cBhvr>
                                      <p:to>
                                        <p:strVal val="hidden"/>
                                      </p:to>
                                    </p:set>
                                  </p:childTnLst>
                                </p:cTn>
                              </p:par>
                            </p:childTnLst>
                          </p:cTn>
                        </p:par>
                        <p:par>
                          <p:cTn id="59" fill="hold">
                            <p:stCondLst>
                              <p:cond delay="13000"/>
                            </p:stCondLst>
                            <p:childTnLst>
                              <p:par>
                                <p:cTn id="60" presetID="9" presetClass="exit" presetSubtype="0" fill="hold" nodeType="afterEffect">
                                  <p:stCondLst>
                                    <p:cond delay="0"/>
                                  </p:stCondLst>
                                  <p:childTnLst>
                                    <p:animEffect transition="out" filter="dissolv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childTnLst>
                          </p:cTn>
                        </p:par>
                        <p:par>
                          <p:cTn id="63" fill="hold">
                            <p:stCondLst>
                              <p:cond delay="13500"/>
                            </p:stCondLst>
                            <p:childTnLst>
                              <p:par>
                                <p:cTn id="64" presetID="9" presetClass="entr" presetSubtype="0" fill="hold" grpId="0" nodeType="afterEffect">
                                  <p:stCondLst>
                                    <p:cond delay="1000"/>
                                  </p:stCondLst>
                                  <p:childTnLst>
                                    <p:set>
                                      <p:cBhvr>
                                        <p:cTn id="65" dur="1" fill="hold">
                                          <p:stCondLst>
                                            <p:cond delay="0"/>
                                          </p:stCondLst>
                                        </p:cTn>
                                        <p:tgtEl>
                                          <p:spTgt spid="18"/>
                                        </p:tgtEl>
                                        <p:attrNameLst>
                                          <p:attrName>style.visibility</p:attrName>
                                        </p:attrNameLst>
                                      </p:cBhvr>
                                      <p:to>
                                        <p:strVal val="visible"/>
                                      </p:to>
                                    </p:set>
                                    <p:animEffect transition="in" filter="dissolve">
                                      <p:cBhvr>
                                        <p:cTn id="66" dur="500"/>
                                        <p:tgtEl>
                                          <p:spTgt spid="18"/>
                                        </p:tgtEl>
                                      </p:cBhvr>
                                    </p:animEffect>
                                  </p:childTnLst>
                                </p:cTn>
                              </p:par>
                            </p:childTnLst>
                          </p:cTn>
                        </p:par>
                        <p:par>
                          <p:cTn id="67" fill="hold">
                            <p:stCondLst>
                              <p:cond delay="15000"/>
                            </p:stCondLst>
                            <p:childTnLst>
                              <p:par>
                                <p:cTn id="68" presetID="0" presetClass="path" presetSubtype="0" accel="50000" decel="50000" fill="hold" nodeType="afterEffect">
                                  <p:stCondLst>
                                    <p:cond delay="0"/>
                                  </p:stCondLst>
                                  <p:childTnLst>
                                    <p:animMotion origin="layout" path="M -0.00182 0.00162 L -0.00182 0.50995 L 0.25794 0.50995 L 0.25794 0.03495 " pathEditMode="relative" rAng="0" ptsTypes="AAAA">
                                      <p:cBhvr>
                                        <p:cTn id="69" dur="2000" fill="hold"/>
                                        <p:tgtEl>
                                          <p:spTgt spid="11"/>
                                        </p:tgtEl>
                                        <p:attrNameLst>
                                          <p:attrName>ppt_x</p:attrName>
                                          <p:attrName>ppt_y</p:attrName>
                                        </p:attrNameLst>
                                      </p:cBhvr>
                                      <p:rCtr x="12982" y="25417"/>
                                    </p:animMotion>
                                  </p:childTnLst>
                                </p:cTn>
                              </p:par>
                            </p:childTnLst>
                          </p:cTn>
                        </p:par>
                        <p:par>
                          <p:cTn id="70" fill="hold">
                            <p:stCondLst>
                              <p:cond delay="17000"/>
                            </p:stCondLst>
                            <p:childTnLst>
                              <p:par>
                                <p:cTn id="71" presetID="9" presetClass="exit" presetSubtype="0" fill="hold" grpId="1" nodeType="afterEffect">
                                  <p:stCondLst>
                                    <p:cond delay="0"/>
                                  </p:stCondLst>
                                  <p:childTnLst>
                                    <p:animEffect transition="out" filter="dissolve">
                                      <p:cBhvr>
                                        <p:cTn id="72" dur="500"/>
                                        <p:tgtEl>
                                          <p:spTgt spid="18"/>
                                        </p:tgtEl>
                                      </p:cBhvr>
                                    </p:animEffect>
                                    <p:set>
                                      <p:cBhvr>
                                        <p:cTn id="73" dur="1" fill="hold">
                                          <p:stCondLst>
                                            <p:cond delay="499"/>
                                          </p:stCondLst>
                                        </p:cTn>
                                        <p:tgtEl>
                                          <p:spTgt spid="18"/>
                                        </p:tgtEl>
                                        <p:attrNameLst>
                                          <p:attrName>style.visibility</p:attrName>
                                        </p:attrNameLst>
                                      </p:cBhvr>
                                      <p:to>
                                        <p:strVal val="hidden"/>
                                      </p:to>
                                    </p:set>
                                  </p:childTnLst>
                                </p:cTn>
                              </p:par>
                            </p:childTnLst>
                          </p:cTn>
                        </p:par>
                        <p:par>
                          <p:cTn id="74" fill="hold">
                            <p:stCondLst>
                              <p:cond delay="17500"/>
                            </p:stCondLst>
                            <p:childTnLst>
                              <p:par>
                                <p:cTn id="75" presetID="9" presetClass="exit" presetSubtype="0" fill="hold" nodeType="afterEffect">
                                  <p:stCondLst>
                                    <p:cond delay="0"/>
                                  </p:stCondLst>
                                  <p:childTnLst>
                                    <p:animEffect transition="out" filter="dissolve">
                                      <p:cBhvr>
                                        <p:cTn id="76" dur="500"/>
                                        <p:tgtEl>
                                          <p:spTgt spid="11"/>
                                        </p:tgtEl>
                                      </p:cBhvr>
                                    </p:animEffect>
                                    <p:set>
                                      <p:cBhvr>
                                        <p:cTn id="77" dur="1" fill="hold">
                                          <p:stCondLst>
                                            <p:cond delay="499"/>
                                          </p:stCondLst>
                                        </p:cTn>
                                        <p:tgtEl>
                                          <p:spTgt spid="11"/>
                                        </p:tgtEl>
                                        <p:attrNameLst>
                                          <p:attrName>style.visibility</p:attrName>
                                        </p:attrNameLst>
                                      </p:cBhvr>
                                      <p:to>
                                        <p:strVal val="hidden"/>
                                      </p:to>
                                    </p:set>
                                  </p:childTnLst>
                                </p:cTn>
                              </p:par>
                            </p:childTnLst>
                          </p:cTn>
                        </p:par>
                        <p:par>
                          <p:cTn id="78" fill="hold">
                            <p:stCondLst>
                              <p:cond delay="18000"/>
                            </p:stCondLst>
                            <p:childTnLst>
                              <p:par>
                                <p:cTn id="79" presetID="9" presetClass="entr" presetSubtype="0" fill="hold" grpId="0" nodeType="afterEffect">
                                  <p:stCondLst>
                                    <p:cond delay="1000"/>
                                  </p:stCondLst>
                                  <p:childTnLst>
                                    <p:set>
                                      <p:cBhvr>
                                        <p:cTn id="80" dur="1" fill="hold">
                                          <p:stCondLst>
                                            <p:cond delay="0"/>
                                          </p:stCondLst>
                                        </p:cTn>
                                        <p:tgtEl>
                                          <p:spTgt spid="405"/>
                                        </p:tgtEl>
                                        <p:attrNameLst>
                                          <p:attrName>style.visibility</p:attrName>
                                        </p:attrNameLst>
                                      </p:cBhvr>
                                      <p:to>
                                        <p:strVal val="visible"/>
                                      </p:to>
                                    </p:set>
                                    <p:animEffect transition="in" filter="dissolve">
                                      <p:cBhvr>
                                        <p:cTn id="81" dur="500"/>
                                        <p:tgtEl>
                                          <p:spTgt spid="405"/>
                                        </p:tgtEl>
                                      </p:cBhvr>
                                    </p:animEffect>
                                  </p:childTnLst>
                                </p:cTn>
                              </p:par>
                            </p:childTnLst>
                          </p:cTn>
                        </p:par>
                        <p:par>
                          <p:cTn id="82" fill="hold">
                            <p:stCondLst>
                              <p:cond delay="19500"/>
                            </p:stCondLst>
                            <p:childTnLst>
                              <p:par>
                                <p:cTn id="83" presetID="0" presetClass="path" presetSubtype="0" accel="50000" decel="50000" fill="hold" nodeType="afterEffect">
                                  <p:stCondLst>
                                    <p:cond delay="0"/>
                                  </p:stCondLst>
                                  <p:childTnLst>
                                    <p:animMotion origin="layout" path="M 0.00065 0.04351 C 0.00065 0.17338 0.00065 0.30277 0.00104 0.43263 L 0.11484 0.43541 C 0.11484 0.278 0.11523 0.11527 0.11563 -0.04028 " pathEditMode="relative" rAng="0" ptsTypes="AAAA">
                                      <p:cBhvr>
                                        <p:cTn id="84" dur="2000" fill="hold"/>
                                        <p:tgtEl>
                                          <p:spTgt spid="417"/>
                                        </p:tgtEl>
                                        <p:attrNameLst>
                                          <p:attrName>ppt_x</p:attrName>
                                          <p:attrName>ppt_y</p:attrName>
                                        </p:attrNameLst>
                                      </p:cBhvr>
                                      <p:rCtr x="5742" y="15394"/>
                                    </p:animMotion>
                                  </p:childTnLst>
                                </p:cTn>
                              </p:par>
                            </p:childTnLst>
                          </p:cTn>
                        </p:par>
                        <p:par>
                          <p:cTn id="85" fill="hold">
                            <p:stCondLst>
                              <p:cond delay="21500"/>
                            </p:stCondLst>
                            <p:childTnLst>
                              <p:par>
                                <p:cTn id="86" presetID="9" presetClass="exit" presetSubtype="0" fill="hold" grpId="1" nodeType="afterEffect">
                                  <p:stCondLst>
                                    <p:cond delay="0"/>
                                  </p:stCondLst>
                                  <p:childTnLst>
                                    <p:animEffect transition="out" filter="dissolve">
                                      <p:cBhvr>
                                        <p:cTn id="87" dur="500"/>
                                        <p:tgtEl>
                                          <p:spTgt spid="405"/>
                                        </p:tgtEl>
                                      </p:cBhvr>
                                    </p:animEffect>
                                    <p:set>
                                      <p:cBhvr>
                                        <p:cTn id="88" dur="1" fill="hold">
                                          <p:stCondLst>
                                            <p:cond delay="499"/>
                                          </p:stCondLst>
                                        </p:cTn>
                                        <p:tgtEl>
                                          <p:spTgt spid="405"/>
                                        </p:tgtEl>
                                        <p:attrNameLst>
                                          <p:attrName>style.visibility</p:attrName>
                                        </p:attrNameLst>
                                      </p:cBhvr>
                                      <p:to>
                                        <p:strVal val="hidden"/>
                                      </p:to>
                                    </p:set>
                                  </p:childTnLst>
                                </p:cTn>
                              </p:par>
                            </p:childTnLst>
                          </p:cTn>
                        </p:par>
                        <p:par>
                          <p:cTn id="89" fill="hold">
                            <p:stCondLst>
                              <p:cond delay="22000"/>
                            </p:stCondLst>
                            <p:childTnLst>
                              <p:par>
                                <p:cTn id="90" presetID="9" presetClass="exit" presetSubtype="0" fill="hold" nodeType="afterEffect">
                                  <p:stCondLst>
                                    <p:cond delay="0"/>
                                  </p:stCondLst>
                                  <p:childTnLst>
                                    <p:animEffect transition="out" filter="dissolve">
                                      <p:cBhvr>
                                        <p:cTn id="91" dur="500"/>
                                        <p:tgtEl>
                                          <p:spTgt spid="417"/>
                                        </p:tgtEl>
                                      </p:cBhvr>
                                    </p:animEffect>
                                    <p:set>
                                      <p:cBhvr>
                                        <p:cTn id="92" dur="1" fill="hold">
                                          <p:stCondLst>
                                            <p:cond delay="499"/>
                                          </p:stCondLst>
                                        </p:cTn>
                                        <p:tgtEl>
                                          <p:spTgt spid="417"/>
                                        </p:tgtEl>
                                        <p:attrNameLst>
                                          <p:attrName>style.visibility</p:attrName>
                                        </p:attrNameLst>
                                      </p:cBhvr>
                                      <p:to>
                                        <p:strVal val="hidden"/>
                                      </p:to>
                                    </p:set>
                                  </p:childTnLst>
                                </p:cTn>
                              </p:par>
                            </p:childTnLst>
                          </p:cTn>
                        </p:par>
                        <p:par>
                          <p:cTn id="93" fill="hold">
                            <p:stCondLst>
                              <p:cond delay="22500"/>
                            </p:stCondLst>
                            <p:childTnLst>
                              <p:par>
                                <p:cTn id="94" presetID="9" presetClass="entr" presetSubtype="0" fill="hold" grpId="1" nodeType="afterEffect">
                                  <p:stCondLst>
                                    <p:cond delay="1000"/>
                                  </p:stCondLst>
                                  <p:childTnLst>
                                    <p:set>
                                      <p:cBhvr>
                                        <p:cTn id="95" dur="1" fill="hold">
                                          <p:stCondLst>
                                            <p:cond delay="0"/>
                                          </p:stCondLst>
                                        </p:cTn>
                                        <p:tgtEl>
                                          <p:spTgt spid="406"/>
                                        </p:tgtEl>
                                        <p:attrNameLst>
                                          <p:attrName>style.visibility</p:attrName>
                                        </p:attrNameLst>
                                      </p:cBhvr>
                                      <p:to>
                                        <p:strVal val="visible"/>
                                      </p:to>
                                    </p:set>
                                    <p:animEffect transition="in" filter="dissolve">
                                      <p:cBhvr>
                                        <p:cTn id="96" dur="500"/>
                                        <p:tgtEl>
                                          <p:spTgt spid="406"/>
                                        </p:tgtEl>
                                      </p:cBhvr>
                                    </p:animEffect>
                                  </p:childTnLst>
                                </p:cTn>
                              </p:par>
                              <p:par>
                                <p:cTn id="97" presetID="0" presetClass="path" presetSubtype="0" accel="50000" decel="50000" fill="hold" nodeType="withEffect">
                                  <p:stCondLst>
                                    <p:cond delay="0"/>
                                  </p:stCondLst>
                                  <p:childTnLst>
                                    <p:animMotion origin="layout" path="M -0.00299 0.02986 C -0.00299 0.16783 -0.00299 0.05533 -0.00299 0.19375 " pathEditMode="relative" rAng="0" ptsTypes="AA">
                                      <p:cBhvr>
                                        <p:cTn id="98" dur="2000" fill="hold"/>
                                        <p:tgtEl>
                                          <p:spTgt spid="414"/>
                                        </p:tgtEl>
                                        <p:attrNameLst>
                                          <p:attrName>ppt_x</p:attrName>
                                          <p:attrName>ppt_y</p:attrName>
                                        </p:attrNameLst>
                                      </p:cBhvr>
                                      <p:rCtr x="0" y="8194"/>
                                    </p:animMotion>
                                  </p:childTnLst>
                                </p:cTn>
                              </p:par>
                            </p:childTnLst>
                          </p:cTn>
                        </p:par>
                        <p:par>
                          <p:cTn id="99" fill="hold">
                            <p:stCondLst>
                              <p:cond delay="24500"/>
                            </p:stCondLst>
                            <p:childTnLst>
                              <p:par>
                                <p:cTn id="100" presetID="9" presetClass="entr" presetSubtype="0" fill="hold" grpId="0" nodeType="afterEffect">
                                  <p:stCondLst>
                                    <p:cond delay="0"/>
                                  </p:stCondLst>
                                  <p:childTnLst>
                                    <p:set>
                                      <p:cBhvr>
                                        <p:cTn id="101" dur="1" fill="hold">
                                          <p:stCondLst>
                                            <p:cond delay="0"/>
                                          </p:stCondLst>
                                        </p:cTn>
                                        <p:tgtEl>
                                          <p:spTgt spid="408"/>
                                        </p:tgtEl>
                                        <p:attrNameLst>
                                          <p:attrName>style.visibility</p:attrName>
                                        </p:attrNameLst>
                                      </p:cBhvr>
                                      <p:to>
                                        <p:strVal val="visible"/>
                                      </p:to>
                                    </p:set>
                                    <p:animEffect transition="in" filter="dissolve">
                                      <p:cBhvr>
                                        <p:cTn id="102" dur="500"/>
                                        <p:tgtEl>
                                          <p:spTgt spid="408"/>
                                        </p:tgtEl>
                                      </p:cBhvr>
                                    </p:animEffect>
                                  </p:childTnLst>
                                </p:cTn>
                              </p:par>
                            </p:childTnLst>
                          </p:cTn>
                        </p:par>
                        <p:par>
                          <p:cTn id="103" fill="hold">
                            <p:stCondLst>
                              <p:cond delay="25000"/>
                            </p:stCondLst>
                            <p:childTnLst>
                              <p:par>
                                <p:cTn id="104" presetID="9" presetClass="entr" presetSubtype="0" fill="hold" grpId="0" nodeType="afterEffect">
                                  <p:stCondLst>
                                    <p:cond delay="1000"/>
                                  </p:stCondLst>
                                  <p:childTnLst>
                                    <p:set>
                                      <p:cBhvr>
                                        <p:cTn id="105" dur="1" fill="hold">
                                          <p:stCondLst>
                                            <p:cond delay="0"/>
                                          </p:stCondLst>
                                        </p:cTn>
                                        <p:tgtEl>
                                          <p:spTgt spid="407"/>
                                        </p:tgtEl>
                                        <p:attrNameLst>
                                          <p:attrName>style.visibility</p:attrName>
                                        </p:attrNameLst>
                                      </p:cBhvr>
                                      <p:to>
                                        <p:strVal val="visible"/>
                                      </p:to>
                                    </p:set>
                                    <p:animEffect transition="in" filter="dissolve">
                                      <p:cBhvr>
                                        <p:cTn id="106" dur="500"/>
                                        <p:tgtEl>
                                          <p:spTgt spid="407"/>
                                        </p:tgtEl>
                                      </p:cBhvr>
                                    </p:animEffect>
                                  </p:childTnLst>
                                </p:cTn>
                              </p:par>
                            </p:childTnLst>
                          </p:cTn>
                        </p:par>
                        <p:par>
                          <p:cTn id="107" fill="hold">
                            <p:stCondLst>
                              <p:cond delay="26500"/>
                            </p:stCondLst>
                            <p:childTnLst>
                              <p:par>
                                <p:cTn id="108" presetID="9" presetClass="exit" presetSubtype="0" fill="hold" grpId="1" nodeType="afterEffect">
                                  <p:stCondLst>
                                    <p:cond delay="1000"/>
                                  </p:stCondLst>
                                  <p:childTnLst>
                                    <p:animEffect transition="out" filter="dissolve">
                                      <p:cBhvr>
                                        <p:cTn id="109" dur="500"/>
                                        <p:tgtEl>
                                          <p:spTgt spid="408"/>
                                        </p:tgtEl>
                                      </p:cBhvr>
                                    </p:animEffect>
                                    <p:set>
                                      <p:cBhvr>
                                        <p:cTn id="110" dur="1" fill="hold">
                                          <p:stCondLst>
                                            <p:cond delay="499"/>
                                          </p:stCondLst>
                                        </p:cTn>
                                        <p:tgtEl>
                                          <p:spTgt spid="408"/>
                                        </p:tgtEl>
                                        <p:attrNameLst>
                                          <p:attrName>style.visibility</p:attrName>
                                        </p:attrNameLst>
                                      </p:cBhvr>
                                      <p:to>
                                        <p:strVal val="hidden"/>
                                      </p:to>
                                    </p:set>
                                  </p:childTnLst>
                                </p:cTn>
                              </p:par>
                            </p:childTnLst>
                          </p:cTn>
                        </p:par>
                        <p:par>
                          <p:cTn id="111" fill="hold">
                            <p:stCondLst>
                              <p:cond delay="28000"/>
                            </p:stCondLst>
                            <p:childTnLst>
                              <p:par>
                                <p:cTn id="112" presetID="9" presetClass="entr" presetSubtype="0" fill="hold" grpId="0" nodeType="afterEffect">
                                  <p:stCondLst>
                                    <p:cond delay="1000"/>
                                  </p:stCondLst>
                                  <p:childTnLst>
                                    <p:set>
                                      <p:cBhvr>
                                        <p:cTn id="113" dur="1" fill="hold">
                                          <p:stCondLst>
                                            <p:cond delay="0"/>
                                          </p:stCondLst>
                                        </p:cTn>
                                        <p:tgtEl>
                                          <p:spTgt spid="410"/>
                                        </p:tgtEl>
                                        <p:attrNameLst>
                                          <p:attrName>style.visibility</p:attrName>
                                        </p:attrNameLst>
                                      </p:cBhvr>
                                      <p:to>
                                        <p:strVal val="visible"/>
                                      </p:to>
                                    </p:set>
                                    <p:animEffect transition="in" filter="dissolve">
                                      <p:cBhvr>
                                        <p:cTn id="114" dur="500"/>
                                        <p:tgtEl>
                                          <p:spTgt spid="410"/>
                                        </p:tgtEl>
                                      </p:cBhvr>
                                    </p:animEffect>
                                  </p:childTnLst>
                                </p:cTn>
                              </p:par>
                            </p:childTnLst>
                          </p:cTn>
                        </p:par>
                        <p:par>
                          <p:cTn id="115" fill="hold">
                            <p:stCondLst>
                              <p:cond delay="29500"/>
                            </p:stCondLst>
                            <p:childTnLst>
                              <p:par>
                                <p:cTn id="116" presetID="0" presetClass="path" presetSubtype="0" accel="50000" decel="50000" fill="hold" nodeType="afterEffect">
                                  <p:stCondLst>
                                    <p:cond delay="0"/>
                                  </p:stCondLst>
                                  <p:childTnLst>
                                    <p:animMotion origin="layout" path="M -8.33333E-7 3.33333E-6 L -8.33333E-7 0.50833 L 0.33854 0.50833 L 0.33854 0.03333 " pathEditMode="relative" rAng="0" ptsTypes="AAAA">
                                      <p:cBhvr>
                                        <p:cTn id="117" dur="2000" fill="hold"/>
                                        <p:tgtEl>
                                          <p:spTgt spid="411"/>
                                        </p:tgtEl>
                                        <p:attrNameLst>
                                          <p:attrName>ppt_x</p:attrName>
                                          <p:attrName>ppt_y</p:attrName>
                                        </p:attrNameLst>
                                      </p:cBhvr>
                                      <p:rCtr x="16927" y="25417"/>
                                    </p:animMotion>
                                  </p:childTnLst>
                                </p:cTn>
                              </p:par>
                            </p:childTnLst>
                          </p:cTn>
                        </p:par>
                        <p:par>
                          <p:cTn id="118" fill="hold">
                            <p:stCondLst>
                              <p:cond delay="31500"/>
                            </p:stCondLst>
                            <p:childTnLst>
                              <p:par>
                                <p:cTn id="119" presetID="9" presetClass="exit" presetSubtype="0" fill="hold" grpId="1" nodeType="afterEffect">
                                  <p:stCondLst>
                                    <p:cond delay="0"/>
                                  </p:stCondLst>
                                  <p:childTnLst>
                                    <p:animEffect transition="out" filter="dissolve">
                                      <p:cBhvr>
                                        <p:cTn id="120" dur="500"/>
                                        <p:tgtEl>
                                          <p:spTgt spid="410"/>
                                        </p:tgtEl>
                                      </p:cBhvr>
                                    </p:animEffect>
                                    <p:set>
                                      <p:cBhvr>
                                        <p:cTn id="121" dur="1" fill="hold">
                                          <p:stCondLst>
                                            <p:cond delay="499"/>
                                          </p:stCondLst>
                                        </p:cTn>
                                        <p:tgtEl>
                                          <p:spTgt spid="410"/>
                                        </p:tgtEl>
                                        <p:attrNameLst>
                                          <p:attrName>style.visibility</p:attrName>
                                        </p:attrNameLst>
                                      </p:cBhvr>
                                      <p:to>
                                        <p:strVal val="hidden"/>
                                      </p:to>
                                    </p:set>
                                  </p:childTnLst>
                                </p:cTn>
                              </p:par>
                            </p:childTnLst>
                          </p:cTn>
                        </p:par>
                        <p:par>
                          <p:cTn id="122" fill="hold">
                            <p:stCondLst>
                              <p:cond delay="32000"/>
                            </p:stCondLst>
                            <p:childTnLst>
                              <p:par>
                                <p:cTn id="123" presetID="9" presetClass="exit" presetSubtype="0" fill="hold" nodeType="afterEffect">
                                  <p:stCondLst>
                                    <p:cond delay="0"/>
                                  </p:stCondLst>
                                  <p:childTnLst>
                                    <p:animEffect transition="out" filter="dissolve">
                                      <p:cBhvr>
                                        <p:cTn id="124" dur="500"/>
                                        <p:tgtEl>
                                          <p:spTgt spid="411"/>
                                        </p:tgtEl>
                                      </p:cBhvr>
                                    </p:animEffect>
                                    <p:set>
                                      <p:cBhvr>
                                        <p:cTn id="125" dur="1" fill="hold">
                                          <p:stCondLst>
                                            <p:cond delay="499"/>
                                          </p:stCondLst>
                                        </p:cTn>
                                        <p:tgtEl>
                                          <p:spTgt spid="411"/>
                                        </p:tgtEl>
                                        <p:attrNameLst>
                                          <p:attrName>style.visibility</p:attrName>
                                        </p:attrNameLst>
                                      </p:cBhvr>
                                      <p:to>
                                        <p:strVal val="hidden"/>
                                      </p:to>
                                    </p:set>
                                  </p:childTnLst>
                                </p:cTn>
                              </p:par>
                            </p:childTnLst>
                          </p:cTn>
                        </p:par>
                        <p:par>
                          <p:cTn id="126" fill="hold">
                            <p:stCondLst>
                              <p:cond delay="32500"/>
                            </p:stCondLst>
                            <p:childTnLst>
                              <p:par>
                                <p:cTn id="127" presetID="9" presetClass="entr" presetSubtype="0" fill="hold" grpId="0" nodeType="afterEffect">
                                  <p:stCondLst>
                                    <p:cond delay="1000"/>
                                  </p:stCondLst>
                                  <p:childTnLst>
                                    <p:set>
                                      <p:cBhvr>
                                        <p:cTn id="128" dur="1" fill="hold">
                                          <p:stCondLst>
                                            <p:cond delay="0"/>
                                          </p:stCondLst>
                                        </p:cTn>
                                        <p:tgtEl>
                                          <p:spTgt spid="409"/>
                                        </p:tgtEl>
                                        <p:attrNameLst>
                                          <p:attrName>style.visibility</p:attrName>
                                        </p:attrNameLst>
                                      </p:cBhvr>
                                      <p:to>
                                        <p:strVal val="visible"/>
                                      </p:to>
                                    </p:set>
                                    <p:animEffect transition="in" filter="dissolve">
                                      <p:cBhvr>
                                        <p:cTn id="129" dur="500"/>
                                        <p:tgtEl>
                                          <p:spTgt spid="409"/>
                                        </p:tgtEl>
                                      </p:cBhvr>
                                    </p:animEffect>
                                  </p:childTnLst>
                                </p:cTn>
                              </p:par>
                            </p:childTnLst>
                          </p:cTn>
                        </p:par>
                        <p:par>
                          <p:cTn id="130" fill="hold">
                            <p:stCondLst>
                              <p:cond delay="34000"/>
                            </p:stCondLst>
                            <p:childTnLst>
                              <p:par>
                                <p:cTn id="131" presetID="0" presetClass="path" presetSubtype="0" accel="50000" decel="50000" fill="hold" nodeType="afterEffect">
                                  <p:stCondLst>
                                    <p:cond delay="0"/>
                                  </p:stCondLst>
                                  <p:childTnLst>
                                    <p:animMotion origin="layout" path="M -0.00299 0.19375 C -0.00286 0.27801 -0.00273 0.36227 -0.0026 0.44676 L 0.22383 0.44676 L 0.22383 -0.00717 " pathEditMode="relative" rAng="0" ptsTypes="AAAA">
                                      <p:cBhvr>
                                        <p:cTn id="132" dur="2000" fill="hold"/>
                                        <p:tgtEl>
                                          <p:spTgt spid="414"/>
                                        </p:tgtEl>
                                        <p:attrNameLst>
                                          <p:attrName>ppt_x</p:attrName>
                                          <p:attrName>ppt_y</p:attrName>
                                        </p:attrNameLst>
                                      </p:cBhvr>
                                      <p:rCtr x="11341" y="2593"/>
                                    </p:animMotion>
                                  </p:childTnLst>
                                </p:cTn>
                              </p:par>
                            </p:childTnLst>
                          </p:cTn>
                        </p:par>
                        <p:par>
                          <p:cTn id="133" fill="hold">
                            <p:stCondLst>
                              <p:cond delay="36000"/>
                            </p:stCondLst>
                            <p:childTnLst>
                              <p:par>
                                <p:cTn id="134" presetID="9" presetClass="exit" presetSubtype="0" fill="hold" grpId="1" nodeType="afterEffect">
                                  <p:stCondLst>
                                    <p:cond delay="0"/>
                                  </p:stCondLst>
                                  <p:childTnLst>
                                    <p:animEffect transition="out" filter="dissolve">
                                      <p:cBhvr>
                                        <p:cTn id="135" dur="500"/>
                                        <p:tgtEl>
                                          <p:spTgt spid="407"/>
                                        </p:tgtEl>
                                      </p:cBhvr>
                                    </p:animEffect>
                                    <p:set>
                                      <p:cBhvr>
                                        <p:cTn id="136" dur="1" fill="hold">
                                          <p:stCondLst>
                                            <p:cond delay="499"/>
                                          </p:stCondLst>
                                        </p:cTn>
                                        <p:tgtEl>
                                          <p:spTgt spid="407"/>
                                        </p:tgtEl>
                                        <p:attrNameLst>
                                          <p:attrName>style.visibility</p:attrName>
                                        </p:attrNameLst>
                                      </p:cBhvr>
                                      <p:to>
                                        <p:strVal val="hidden"/>
                                      </p:to>
                                    </p:set>
                                  </p:childTnLst>
                                </p:cTn>
                              </p:par>
                              <p:par>
                                <p:cTn id="137" presetID="9" presetClass="exit" presetSubtype="0" fill="hold" grpId="0" nodeType="withEffect">
                                  <p:stCondLst>
                                    <p:cond delay="0"/>
                                  </p:stCondLst>
                                  <p:childTnLst>
                                    <p:animEffect transition="out" filter="dissolve">
                                      <p:cBhvr>
                                        <p:cTn id="138" dur="500"/>
                                        <p:tgtEl>
                                          <p:spTgt spid="406"/>
                                        </p:tgtEl>
                                      </p:cBhvr>
                                    </p:animEffect>
                                    <p:set>
                                      <p:cBhvr>
                                        <p:cTn id="139" dur="1" fill="hold">
                                          <p:stCondLst>
                                            <p:cond delay="499"/>
                                          </p:stCondLst>
                                        </p:cTn>
                                        <p:tgtEl>
                                          <p:spTgt spid="406"/>
                                        </p:tgtEl>
                                        <p:attrNameLst>
                                          <p:attrName>style.visibility</p:attrName>
                                        </p:attrNameLst>
                                      </p:cBhvr>
                                      <p:to>
                                        <p:strVal val="hidden"/>
                                      </p:to>
                                    </p:set>
                                  </p:childTnLst>
                                </p:cTn>
                              </p:par>
                              <p:par>
                                <p:cTn id="140" presetID="9" presetClass="exit" presetSubtype="0" fill="hold" grpId="1" nodeType="withEffect">
                                  <p:stCondLst>
                                    <p:cond delay="0"/>
                                  </p:stCondLst>
                                  <p:childTnLst>
                                    <p:animEffect transition="out" filter="dissolve">
                                      <p:cBhvr>
                                        <p:cTn id="141" dur="500"/>
                                        <p:tgtEl>
                                          <p:spTgt spid="409"/>
                                        </p:tgtEl>
                                      </p:cBhvr>
                                    </p:animEffect>
                                    <p:set>
                                      <p:cBhvr>
                                        <p:cTn id="142" dur="1" fill="hold">
                                          <p:stCondLst>
                                            <p:cond delay="499"/>
                                          </p:stCondLst>
                                        </p:cTn>
                                        <p:tgtEl>
                                          <p:spTgt spid="409"/>
                                        </p:tgtEl>
                                        <p:attrNameLst>
                                          <p:attrName>style.visibility</p:attrName>
                                        </p:attrNameLst>
                                      </p:cBhvr>
                                      <p:to>
                                        <p:strVal val="hidden"/>
                                      </p:to>
                                    </p:set>
                                  </p:childTnLst>
                                </p:cTn>
                              </p:par>
                            </p:childTnLst>
                          </p:cTn>
                        </p:par>
                        <p:par>
                          <p:cTn id="143" fill="hold">
                            <p:stCondLst>
                              <p:cond delay="36500"/>
                            </p:stCondLst>
                            <p:childTnLst>
                              <p:par>
                                <p:cTn id="144" presetID="9" presetClass="exit" presetSubtype="0" fill="hold" nodeType="afterEffect">
                                  <p:stCondLst>
                                    <p:cond delay="0"/>
                                  </p:stCondLst>
                                  <p:childTnLst>
                                    <p:animEffect transition="out" filter="dissolve">
                                      <p:cBhvr>
                                        <p:cTn id="145" dur="500"/>
                                        <p:tgtEl>
                                          <p:spTgt spid="414"/>
                                        </p:tgtEl>
                                      </p:cBhvr>
                                    </p:animEffect>
                                    <p:set>
                                      <p:cBhvr>
                                        <p:cTn id="146" dur="1" fill="hold">
                                          <p:stCondLst>
                                            <p:cond delay="499"/>
                                          </p:stCondLst>
                                        </p:cTn>
                                        <p:tgtEl>
                                          <p:spTgt spid="4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405" grpId="0" animBg="1"/>
      <p:bldP spid="405" grpId="1" animBg="1"/>
      <p:bldP spid="406" grpId="0" animBg="1"/>
      <p:bldP spid="406" grpId="1" animBg="1"/>
      <p:bldP spid="407" grpId="0" animBg="1"/>
      <p:bldP spid="407" grpId="1" animBg="1"/>
      <p:bldP spid="408" grpId="0" animBg="1"/>
      <p:bldP spid="408" grpId="1" animBg="1"/>
      <p:bldP spid="409" grpId="0" animBg="1"/>
      <p:bldP spid="409" grpId="1" animBg="1"/>
      <p:bldP spid="410" grpId="0" animBg="1"/>
      <p:bldP spid="410" grpId="1" animBg="1"/>
      <p:bldP spid="2"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60590" y="272143"/>
            <a:ext cx="11393310" cy="894622"/>
          </a:xfrm>
        </p:spPr>
        <p:txBody>
          <a:bodyPr>
            <a:normAutofit/>
          </a:bodyPr>
          <a:lstStyle/>
          <a:p>
            <a:r>
              <a:rPr lang="en-US" sz="4800" dirty="0"/>
              <a:t>Chapter 3: summary</a:t>
            </a:r>
            <a:endParaRPr lang="en-US" sz="4400" b="0" dirty="0"/>
          </a:p>
        </p:txBody>
      </p:sp>
      <p:sp>
        <p:nvSpPr>
          <p:cNvPr id="3" name="Slide Number Placeholder 2">
            <a:extLst>
              <a:ext uri="{FF2B5EF4-FFF2-40B4-BE49-F238E27FC236}">
                <a16:creationId xmlns:a16="http://schemas.microsoft.com/office/drawing/2014/main" id="{807E4337-A925-084B-B48F-23146A4A73A1}"/>
              </a:ext>
            </a:extLst>
          </p:cNvPr>
          <p:cNvSpPr>
            <a:spLocks noGrp="1"/>
          </p:cNvSpPr>
          <p:nvPr>
            <p:ph type="sldNum" sz="quarter" idx="4"/>
          </p:nvPr>
        </p:nvSpPr>
        <p:spPr/>
        <p:txBody>
          <a:bodyPr/>
          <a:lstStyle/>
          <a:p>
            <a:r>
              <a:rPr lang="en-US" dirty="0"/>
              <a:t>Transport Layer: 3-</a:t>
            </a:r>
            <a:fld id="{C4204591-24BD-A542-B9D5-F8D8A88D2FEE}" type="slidenum">
              <a:rPr lang="en-US" smtClean="0"/>
              <a:pPr/>
              <a:t>87</a:t>
            </a:fld>
            <a:endParaRPr lang="en-US" dirty="0"/>
          </a:p>
        </p:txBody>
      </p:sp>
      <p:sp>
        <p:nvSpPr>
          <p:cNvPr id="121" name="Rectangle 3">
            <a:extLst>
              <a:ext uri="{FF2B5EF4-FFF2-40B4-BE49-F238E27FC236}">
                <a16:creationId xmlns:a16="http://schemas.microsoft.com/office/drawing/2014/main" id="{D69BBC2D-A92B-7947-AA74-7551BF4EBD02}"/>
              </a:ext>
            </a:extLst>
          </p:cNvPr>
          <p:cNvSpPr txBox="1">
            <a:spLocks noChangeArrowheads="1"/>
          </p:cNvSpPr>
          <p:nvPr/>
        </p:nvSpPr>
        <p:spPr>
          <a:xfrm>
            <a:off x="876300" y="1295400"/>
            <a:ext cx="5626100" cy="522536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indent="-263525">
              <a:buFont typeface="Wingdings" charset="2"/>
              <a:buChar char="§"/>
              <a:defRPr/>
            </a:pPr>
            <a:r>
              <a:rPr lang="en-US" sz="3200" dirty="0"/>
              <a:t>principles behind transport layer services:</a:t>
            </a:r>
          </a:p>
          <a:p>
            <a:pPr lvl="1">
              <a:buFont typeface="Arial"/>
              <a:buChar char="•"/>
              <a:defRPr/>
            </a:pPr>
            <a:r>
              <a:rPr lang="en-US" sz="2800" dirty="0"/>
              <a:t>multiplexing, demultiplexing</a:t>
            </a:r>
          </a:p>
          <a:p>
            <a:pPr lvl="1">
              <a:buFont typeface="Arial"/>
              <a:buChar char="•"/>
              <a:defRPr/>
            </a:pPr>
            <a:r>
              <a:rPr lang="en-US" sz="2800" dirty="0"/>
              <a:t>reliable data transfer</a:t>
            </a:r>
          </a:p>
          <a:p>
            <a:pPr lvl="1">
              <a:buFont typeface="Arial"/>
              <a:buChar char="•"/>
              <a:defRPr/>
            </a:pPr>
            <a:r>
              <a:rPr lang="en-US" sz="2800" dirty="0"/>
              <a:t>flow control</a:t>
            </a:r>
          </a:p>
          <a:p>
            <a:pPr lvl="1">
              <a:buFont typeface="Arial"/>
              <a:buChar char="•"/>
              <a:defRPr/>
            </a:pPr>
            <a:r>
              <a:rPr lang="en-US" sz="2800" dirty="0"/>
              <a:t>congestion control</a:t>
            </a:r>
          </a:p>
          <a:p>
            <a:pPr marL="393700" indent="-263525">
              <a:buFont typeface="Wingdings" charset="2"/>
              <a:buChar char="§"/>
              <a:defRPr/>
            </a:pPr>
            <a:r>
              <a:rPr lang="en-US" sz="3200" dirty="0"/>
              <a:t>instantiation, implementation in the Internet</a:t>
            </a:r>
          </a:p>
          <a:p>
            <a:pPr lvl="1">
              <a:buFont typeface="Arial"/>
              <a:buChar char="•"/>
              <a:defRPr/>
            </a:pPr>
            <a:r>
              <a:rPr lang="en-US" sz="2800" dirty="0"/>
              <a:t>UDP</a:t>
            </a:r>
          </a:p>
          <a:p>
            <a:pPr lvl="1">
              <a:buFont typeface="Arial"/>
              <a:buChar char="•"/>
              <a:defRPr/>
            </a:pPr>
            <a:r>
              <a:rPr lang="en-US" sz="2800" dirty="0"/>
              <a:t>TCP</a:t>
            </a:r>
          </a:p>
        </p:txBody>
      </p:sp>
      <p:sp>
        <p:nvSpPr>
          <p:cNvPr id="122" name="Rectangle 4">
            <a:extLst>
              <a:ext uri="{FF2B5EF4-FFF2-40B4-BE49-F238E27FC236}">
                <a16:creationId xmlns:a16="http://schemas.microsoft.com/office/drawing/2014/main" id="{B79F0F1A-67F7-584F-9F34-4AC2A592E580}"/>
              </a:ext>
            </a:extLst>
          </p:cNvPr>
          <p:cNvSpPr txBox="1">
            <a:spLocks noChangeArrowheads="1"/>
          </p:cNvSpPr>
          <p:nvPr/>
        </p:nvSpPr>
        <p:spPr>
          <a:xfrm>
            <a:off x="7065962" y="1270000"/>
            <a:ext cx="4732337" cy="48387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en-US" altLang="en-US" sz="3200" dirty="0">
                <a:solidFill>
                  <a:srgbClr val="CC0000"/>
                </a:solidFill>
                <a:ea typeface="ＭＳ Ｐゴシック" panose="020B0600070205080204" pitchFamily="34" charset="-128"/>
              </a:rPr>
              <a:t>Up next:</a:t>
            </a:r>
          </a:p>
          <a:p>
            <a:pPr marL="393700" indent="-266700"/>
            <a:r>
              <a:rPr lang="en-US" altLang="en-US" sz="3200" dirty="0">
                <a:ea typeface="ＭＳ Ｐゴシック" panose="020B0600070205080204" pitchFamily="34" charset="-128"/>
              </a:rPr>
              <a:t>leaving the network </a:t>
            </a:r>
            <a:r>
              <a:rPr lang="en-US" altLang="ja-JP" sz="3200" dirty="0">
                <a:ea typeface="ＭＳ Ｐゴシック" panose="020B0600070205080204" pitchFamily="34" charset="-128"/>
              </a:rPr>
              <a:t>“edge” </a:t>
            </a:r>
            <a:r>
              <a:rPr lang="en-US" altLang="ja-JP" dirty="0">
                <a:ea typeface="ＭＳ Ｐゴシック" panose="020B0600070205080204" pitchFamily="34" charset="-128"/>
              </a:rPr>
              <a:t>(application, transport layers)</a:t>
            </a:r>
          </a:p>
          <a:p>
            <a:pPr marL="393700" indent="-266700"/>
            <a:r>
              <a:rPr lang="en-US" altLang="en-US" sz="3200" dirty="0">
                <a:ea typeface="ＭＳ Ｐゴシック" panose="020B0600070205080204" pitchFamily="34" charset="-128"/>
              </a:rPr>
              <a:t>into the network “</a:t>
            </a:r>
            <a:r>
              <a:rPr lang="en-US" altLang="ja-JP" sz="3200" dirty="0">
                <a:ea typeface="ＭＳ Ｐゴシック" panose="020B0600070205080204" pitchFamily="34" charset="-128"/>
              </a:rPr>
              <a:t>core”</a:t>
            </a:r>
          </a:p>
          <a:p>
            <a:pPr marL="393700" indent="-266700"/>
            <a:r>
              <a:rPr lang="en-US" altLang="en-US" sz="3200" dirty="0">
                <a:ea typeface="ＭＳ Ｐゴシック" panose="020B0600070205080204" pitchFamily="34" charset="-128"/>
              </a:rPr>
              <a:t>two network-layer chapters</a:t>
            </a:r>
            <a:r>
              <a:rPr lang="en-US" altLang="en-US" dirty="0">
                <a:ea typeface="ＭＳ Ｐゴシック" panose="020B0600070205080204" pitchFamily="34" charset="-128"/>
              </a:rPr>
              <a:t>:</a:t>
            </a:r>
          </a:p>
          <a:p>
            <a:pPr lvl="1"/>
            <a:r>
              <a:rPr lang="en-US" altLang="en-US" sz="2800" dirty="0">
                <a:ea typeface="ＭＳ Ｐゴシック" panose="020B0600070205080204" pitchFamily="34" charset="-128"/>
              </a:rPr>
              <a:t>data plane</a:t>
            </a:r>
          </a:p>
          <a:p>
            <a:pPr lvl="1"/>
            <a:r>
              <a:rPr lang="en-US" altLang="en-US" sz="2800" dirty="0">
                <a:ea typeface="ＭＳ Ｐゴシック" panose="020B0600070205080204" pitchFamily="34" charset="-128"/>
              </a:rPr>
              <a:t>control plane</a:t>
            </a: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347465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12344</TotalTime>
  <Words>9443</Words>
  <Application>Microsoft Office PowerPoint</Application>
  <PresentationFormat>Widescreen</PresentationFormat>
  <Paragraphs>1712</Paragraphs>
  <Slides>87</Slides>
  <Notes>75</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87</vt:i4>
      </vt:variant>
    </vt:vector>
  </HeadingPairs>
  <TitlesOfParts>
    <vt:vector size="105" baseType="lpstr">
      <vt:lpstr>ＭＳ Ｐゴシック</vt:lpstr>
      <vt:lpstr>Aptos</vt:lpstr>
      <vt:lpstr>Arial</vt:lpstr>
      <vt:lpstr>Arial Narrow</vt:lpstr>
      <vt:lpstr>Calibri</vt:lpstr>
      <vt:lpstr>Calibri Light</vt:lpstr>
      <vt:lpstr>Comic Sans MS</vt:lpstr>
      <vt:lpstr>Courier</vt:lpstr>
      <vt:lpstr>Courier New</vt:lpstr>
      <vt:lpstr>Courier Std</vt:lpstr>
      <vt:lpstr>Gill Sans MT</vt:lpstr>
      <vt:lpstr>Symbol</vt:lpstr>
      <vt:lpstr>Tahoma</vt:lpstr>
      <vt:lpstr>Times New Roman</vt:lpstr>
      <vt:lpstr>Wingdings</vt:lpstr>
      <vt:lpstr>Wingdings 3</vt:lpstr>
      <vt:lpstr>ZapfDingbats</vt:lpstr>
      <vt:lpstr>Office Theme</vt:lpstr>
      <vt:lpstr>PowerPoint Presentation</vt:lpstr>
      <vt:lpstr>Chapter 3: roadmap</vt:lpstr>
      <vt:lpstr>TCP: overview  RFCs: 793,1122, 2018, 5681, 7323</vt:lpstr>
      <vt:lpstr>TCP segment structure</vt:lpstr>
      <vt:lpstr>TCP sequence numbers, ACKs</vt:lpstr>
      <vt:lpstr>TCP sequence numbers, ACKs</vt:lpstr>
      <vt:lpstr>TCP round trip time, timeout</vt:lpstr>
      <vt:lpstr>TCP round trip time, timeout</vt:lpstr>
      <vt:lpstr>TCP round trip time, timeout</vt:lpstr>
      <vt:lpstr>Example</vt:lpstr>
      <vt:lpstr>Solution</vt:lpstr>
      <vt:lpstr>TCP Sender (simplified)</vt:lpstr>
      <vt:lpstr>TCP Receiver: ACK generation [RFC 5681]</vt:lpstr>
      <vt:lpstr>TCP: retransmission scenarios</vt:lpstr>
      <vt:lpstr>TCP: retransmission scenarios</vt:lpstr>
      <vt:lpstr>TCP fast retransmit</vt:lpstr>
      <vt:lpstr>Chapter 3: roadmap</vt:lpstr>
      <vt:lpstr>TCP flow control</vt:lpstr>
      <vt:lpstr>TCP flow control</vt:lpstr>
      <vt:lpstr>TCP flow control</vt:lpstr>
      <vt:lpstr>TCP flow control</vt:lpstr>
      <vt:lpstr>TCP flow control</vt:lpstr>
      <vt:lpstr>TCP flow control</vt:lpstr>
      <vt:lpstr>TCP Flow Control - Silly Window Syndrome</vt:lpstr>
      <vt:lpstr>Nagle’s Algorithm</vt:lpstr>
      <vt:lpstr>Working of Nagle’s Algorithm</vt:lpstr>
      <vt:lpstr>Silly Window Continued …</vt:lpstr>
      <vt:lpstr>TCP connection management</vt:lpstr>
      <vt:lpstr>Agreeing to establish a connection</vt:lpstr>
      <vt:lpstr>2-way handshake scenarios</vt:lpstr>
      <vt:lpstr>2-way handshake scenarios</vt:lpstr>
      <vt:lpstr>2-way handshake scenarios</vt:lpstr>
      <vt:lpstr>TCP 3-way handshake</vt:lpstr>
      <vt:lpstr>Closing a TCP connection</vt:lpstr>
      <vt:lpstr>Chapter 3: roadmap</vt:lpstr>
      <vt:lpstr>Principles of congestion control</vt:lpstr>
      <vt:lpstr>Causes/costs of congestion: scenario 1 </vt:lpstr>
      <vt:lpstr>Causes/costs of congestion: scenario 2</vt:lpstr>
      <vt:lpstr>Causes/costs of congestion: scenario 2</vt:lpstr>
      <vt:lpstr>Causes/costs of congestion: scenario 2</vt:lpstr>
      <vt:lpstr>Causes/costs of congestion: scenario 2</vt:lpstr>
      <vt:lpstr>Causes/costs of congestion: scenario 2</vt:lpstr>
      <vt:lpstr>Causes/costs of congestion: scenario 2</vt:lpstr>
      <vt:lpstr>Causes/costs of congestion: scenario 3</vt:lpstr>
      <vt:lpstr>Causes/costs of congestion: scenario 3</vt:lpstr>
      <vt:lpstr>Causes/costs of congestion: insights</vt:lpstr>
      <vt:lpstr>Approaches towards congestion control</vt:lpstr>
      <vt:lpstr>Approaches towards congestion control</vt:lpstr>
      <vt:lpstr>Chapter 3: roadmap</vt:lpstr>
      <vt:lpstr>TCP congestion control: AIMD</vt:lpstr>
      <vt:lpstr>TCP AIMD: more</vt:lpstr>
      <vt:lpstr>TCP congestion control: details</vt:lpstr>
      <vt:lpstr>TCP slow start </vt:lpstr>
      <vt:lpstr>TCP: from slow start to congestion avoidance</vt:lpstr>
      <vt:lpstr>Summary: TCP congestion control</vt:lpstr>
      <vt:lpstr>TCP CUBIC</vt:lpstr>
      <vt:lpstr>TCP CUBIC</vt:lpstr>
      <vt:lpstr>TCP and the congested “bottleneck link”</vt:lpstr>
      <vt:lpstr>TCP and the congested “bottleneck link”</vt:lpstr>
      <vt:lpstr>TCP and the congested “bottleneck link”</vt:lpstr>
      <vt:lpstr>PowerPoint Presentation</vt:lpstr>
      <vt:lpstr>Keeping the pipe just full, but no fuller</vt:lpstr>
      <vt:lpstr>Keeping the pipe just full, but no fuller</vt:lpstr>
      <vt:lpstr>BBR (Bottleneck Bandwidth and RTT) </vt:lpstr>
      <vt:lpstr>Delay-based TCP congestion control</vt:lpstr>
      <vt:lpstr>Explicit congestion notification (ECN)</vt:lpstr>
      <vt:lpstr>TCP fairness</vt:lpstr>
      <vt:lpstr>Q: is TCP Fair?</vt:lpstr>
      <vt:lpstr>Fairness: must all network apps be “fair”?</vt:lpstr>
      <vt:lpstr>Transport layer: roadmap</vt:lpstr>
      <vt:lpstr>Limitations of TCP Reno</vt:lpstr>
      <vt:lpstr>TCP New Reno</vt:lpstr>
      <vt:lpstr>TCP NewReno – Partial ACKs</vt:lpstr>
      <vt:lpstr>TCP Reno and New Reno</vt:lpstr>
      <vt:lpstr>TCP NewReno</vt:lpstr>
      <vt:lpstr>TCP Selective ACK (SACK)</vt:lpstr>
      <vt:lpstr>TCP Selective ACK (SACK)</vt:lpstr>
      <vt:lpstr>PowerPoint Presentation</vt:lpstr>
      <vt:lpstr>PowerPoint Presentation</vt:lpstr>
      <vt:lpstr>PowerPoint Presentation</vt:lpstr>
      <vt:lpstr>PowerPoint Presentation</vt:lpstr>
      <vt:lpstr>PowerPoint Presentation</vt:lpstr>
      <vt:lpstr>Evolving transport-layer functionality</vt:lpstr>
      <vt:lpstr>QUIC: Quick UDP Internet Connections</vt:lpstr>
      <vt:lpstr>QUIC: Quick UDP Internet Connections</vt:lpstr>
      <vt:lpstr>QUIC: streams: parallelism, no HOL blocking</vt:lpstr>
      <vt:lpstr>Chapter 3: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Tahir Maqsood</cp:lastModifiedBy>
  <cp:revision>430</cp:revision>
  <dcterms:created xsi:type="dcterms:W3CDTF">2020-01-18T07:24:59Z</dcterms:created>
  <dcterms:modified xsi:type="dcterms:W3CDTF">2026-10-22T17:48:58Z</dcterms:modified>
</cp:coreProperties>
</file>