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59" r:id="rId4"/>
    <p:sldId id="268" r:id="rId5"/>
    <p:sldId id="299" r:id="rId6"/>
    <p:sldId id="298" r:id="rId7"/>
    <p:sldId id="302" r:id="rId8"/>
    <p:sldId id="300" r:id="rId9"/>
    <p:sldId id="303" r:id="rId10"/>
    <p:sldId id="301" r:id="rId11"/>
    <p:sldId id="304" r:id="rId12"/>
    <p:sldId id="305" r:id="rId13"/>
    <p:sldId id="313" r:id="rId14"/>
    <p:sldId id="314" r:id="rId15"/>
    <p:sldId id="315" r:id="rId16"/>
    <p:sldId id="306" r:id="rId1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186" autoAdjust="0"/>
  </p:normalViewPr>
  <p:slideViewPr>
    <p:cSldViewPr>
      <p:cViewPr varScale="1">
        <p:scale>
          <a:sx n="122" d="100"/>
          <a:sy n="122" d="100"/>
        </p:scale>
        <p:origin x="-13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7CBB306-F8F1-4249-85B0-A7905A7617F1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0EA734E-4E08-47E9-BA6D-9A8A8CAACD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8872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Make a figure</a:t>
            </a:r>
            <a:r>
              <a:rPr lang="en-US" baseline="0" dirty="0" smtClean="0"/>
              <a:t> </a:t>
            </a:r>
            <a:r>
              <a:rPr lang="en-US" dirty="0" smtClean="0"/>
              <a:t>of</a:t>
            </a:r>
            <a:r>
              <a:rPr lang="en-US" baseline="0" dirty="0" smtClean="0"/>
              <a:t> architecture…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A734E-4E08-47E9-BA6D-9A8A8CAACD6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TCP/IP, HTTP</a:t>
            </a:r>
          </a:p>
          <a:p>
            <a:r>
              <a:rPr lang="en-US" dirty="0" smtClean="0"/>
              <a:t>DNS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A734E-4E08-47E9-BA6D-9A8A8CAACD6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8105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TCP/IP, HTTP</a:t>
            </a:r>
          </a:p>
          <a:p>
            <a:r>
              <a:rPr lang="en-US" dirty="0" smtClean="0"/>
              <a:t>DNS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A734E-4E08-47E9-BA6D-9A8A8CAACD6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6310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sif.shahzad@cuilahore.edu.pk" TargetMode="External"/><Relationship Id="rId2" Type="http://schemas.openxmlformats.org/officeDocument/2006/relationships/hyperlink" Target="mailto:asif.shahzad@cuilahore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447800"/>
            <a:ext cx="8153400" cy="2209800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Roboto" pitchFamily="2" charset="0"/>
                <a:ea typeface="Roboto" pitchFamily="2" charset="0"/>
              </a:rPr>
              <a:t>Introduction to </a:t>
            </a:r>
            <a:br>
              <a:rPr lang="en-US" sz="4800" b="1" dirty="0" smtClean="0">
                <a:latin typeface="Roboto" pitchFamily="2" charset="0"/>
                <a:ea typeface="Roboto" pitchFamily="2" charset="0"/>
              </a:rPr>
            </a:br>
            <a:r>
              <a:rPr lang="en-US" sz="4800" b="1" dirty="0" smtClean="0">
                <a:latin typeface="Roboto" pitchFamily="2" charset="0"/>
                <a:ea typeface="Roboto" pitchFamily="2" charset="0"/>
              </a:rPr>
              <a:t>Web Technologies</a:t>
            </a:r>
            <a:endParaRPr lang="en-US" sz="4800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400" y="36576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 smtClean="0">
              <a:latin typeface="Roboto" pitchFamily="2" charset="0"/>
              <a:ea typeface="Roboto" pitchFamily="2" charset="0"/>
            </a:endParaRPr>
          </a:p>
          <a:p>
            <a:pPr algn="ctr"/>
            <a:endParaRPr lang="en-US" sz="3200" b="1" dirty="0" smtClean="0">
              <a:latin typeface="Roboto" pitchFamily="2" charset="0"/>
              <a:ea typeface="Roboto" pitchFamily="2" charset="0"/>
            </a:endParaRPr>
          </a:p>
          <a:p>
            <a:pPr algn="ctr"/>
            <a:r>
              <a:rPr lang="en-US" sz="3200" dirty="0" smtClean="0">
                <a:latin typeface="Roboto" pitchFamily="2" charset="0"/>
                <a:ea typeface="Roboto" pitchFamily="2" charset="0"/>
              </a:rPr>
              <a:t>Asif Shahzad</a:t>
            </a:r>
          </a:p>
          <a:p>
            <a:pPr algn="ctr"/>
            <a:endParaRPr lang="en-US" sz="2400" dirty="0" smtClean="0">
              <a:latin typeface="Roboto" pitchFamily="2" charset="0"/>
              <a:ea typeface="Roboto" pitchFamily="2" charset="0"/>
              <a:hlinkClick r:id="rId2"/>
            </a:endParaRPr>
          </a:p>
          <a:p>
            <a:pPr algn="ctr"/>
            <a:r>
              <a:rPr lang="en-US" sz="2400" dirty="0" smtClean="0">
                <a:latin typeface="Roboto" pitchFamily="2" charset="0"/>
                <a:ea typeface="Roboto" pitchFamily="2" charset="0"/>
                <a:hlinkClick r:id="rId3"/>
              </a:rPr>
              <a:t>Asif.shahzad@cuilahore.edu.pk</a:t>
            </a:r>
            <a:endParaRPr lang="en-US" sz="3200" dirty="0" smtClean="0">
              <a:latin typeface="Roboto" pitchFamily="2" charset="0"/>
              <a:ea typeface="Roboto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Major Objectives of Course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Architecture of Web Application</a:t>
            </a:r>
          </a:p>
          <a:p>
            <a:r>
              <a:rPr lang="en-US" dirty="0" smtClean="0"/>
              <a:t>Client Side Languages -&gt; HTML, CSS, </a:t>
            </a:r>
            <a:r>
              <a:rPr lang="en-US" dirty="0" smtClean="0"/>
              <a:t>JavaScript</a:t>
            </a:r>
            <a:endParaRPr lang="en-US" dirty="0" smtClean="0"/>
          </a:p>
          <a:p>
            <a:r>
              <a:rPr lang="en-US" dirty="0" smtClean="0"/>
              <a:t>Server Side </a:t>
            </a:r>
            <a:r>
              <a:rPr lang="en-US" dirty="0" smtClean="0"/>
              <a:t>Programming using Node.js</a:t>
            </a:r>
            <a:endParaRPr lang="en-US" dirty="0" smtClean="0"/>
          </a:p>
          <a:p>
            <a:r>
              <a:rPr lang="en-US" dirty="0" smtClean="0"/>
              <a:t>Web Services (REST API)</a:t>
            </a:r>
          </a:p>
          <a:p>
            <a:r>
              <a:rPr lang="en-US" dirty="0" smtClean="0"/>
              <a:t>Database </a:t>
            </a:r>
            <a:r>
              <a:rPr lang="en-US" dirty="0" smtClean="0"/>
              <a:t>Connectivity with </a:t>
            </a:r>
            <a:r>
              <a:rPr lang="en-US" dirty="0" err="1" smtClean="0"/>
              <a:t>MongoDB</a:t>
            </a:r>
            <a:endParaRPr lang="en-US" dirty="0" smtClean="0"/>
          </a:p>
          <a:p>
            <a:r>
              <a:rPr lang="en-US" dirty="0" smtClean="0"/>
              <a:t>HTTP </a:t>
            </a:r>
            <a:r>
              <a:rPr lang="en-US" dirty="0" smtClean="0"/>
              <a:t>and DNS </a:t>
            </a:r>
            <a:r>
              <a:rPr lang="en-US" dirty="0" smtClean="0"/>
              <a:t>Protocol, Domain </a:t>
            </a:r>
            <a:r>
              <a:rPr lang="en-US" dirty="0" smtClean="0"/>
              <a:t>Settings </a:t>
            </a:r>
          </a:p>
          <a:p>
            <a:r>
              <a:rPr lang="en-US" dirty="0" smtClean="0"/>
              <a:t>Single Page App Development using </a:t>
            </a:r>
            <a:r>
              <a:rPr lang="en-US" dirty="0" smtClean="0"/>
              <a:t>React.js</a:t>
            </a:r>
            <a:endParaRPr lang="en-US" dirty="0" smtClean="0"/>
          </a:p>
          <a:p>
            <a:r>
              <a:rPr lang="en-US" dirty="0" smtClean="0"/>
              <a:t>Web </a:t>
            </a:r>
            <a:r>
              <a:rPr lang="en-US" dirty="0" smtClean="0"/>
              <a:t>Application </a:t>
            </a:r>
            <a:r>
              <a:rPr lang="en-US" dirty="0" smtClean="0"/>
              <a:t>Deployment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Roboto" pitchFamily="2" charset="0"/>
                <a:ea typeface="Roboto" pitchFamily="2" charset="0"/>
              </a:rPr>
              <a:t>Client, Server, Port, URL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Client</a:t>
            </a:r>
          </a:p>
          <a:p>
            <a:pPr lvl="1"/>
            <a:r>
              <a:rPr lang="en-US" sz="2400" dirty="0" smtClean="0"/>
              <a:t>A software/entity that makes request to some server. Browser make request on behalf of user, so browser is also called </a:t>
            </a:r>
            <a:r>
              <a:rPr lang="en-US" sz="2400" b="1" u="sng" dirty="0" smtClean="0"/>
              <a:t>user-agent</a:t>
            </a:r>
            <a:r>
              <a:rPr lang="en-US" sz="2400" dirty="0" smtClean="0"/>
              <a:t>.</a:t>
            </a:r>
          </a:p>
          <a:p>
            <a:r>
              <a:rPr lang="en-US" sz="2800" b="1" dirty="0" smtClean="0"/>
              <a:t>Server</a:t>
            </a:r>
          </a:p>
          <a:p>
            <a:pPr lvl="1"/>
            <a:r>
              <a:rPr lang="en-US" sz="2400" dirty="0" smtClean="0"/>
              <a:t>A software that serve the requests. Client and server are just processes, so they can be at same computer.</a:t>
            </a:r>
          </a:p>
          <a:p>
            <a:r>
              <a:rPr lang="en-US" sz="2800" b="1" dirty="0" smtClean="0"/>
              <a:t>Port</a:t>
            </a:r>
          </a:p>
          <a:p>
            <a:pPr lvl="1"/>
            <a:r>
              <a:rPr lang="en-US" sz="2400" dirty="0" smtClean="0"/>
              <a:t>Port identify a process in computer. So a port is a number that uniquely identifies a process running in a computer.</a:t>
            </a:r>
          </a:p>
          <a:p>
            <a:r>
              <a:rPr lang="en-US" dirty="0" smtClean="0"/>
              <a:t>URL </a:t>
            </a:r>
          </a:p>
          <a:p>
            <a:pPr lvl="1"/>
            <a:r>
              <a:rPr lang="en-US" sz="2400" dirty="0" smtClean="0"/>
              <a:t>http://example.com/search?city=lhr&amp;type=electronics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Roboto" pitchFamily="2" charset="0"/>
                <a:ea typeface="Roboto" pitchFamily="2" charset="0"/>
              </a:rPr>
              <a:t>More Basic </a:t>
            </a:r>
            <a:r>
              <a:rPr lang="en-US" b="1" dirty="0" smtClean="0">
                <a:latin typeface="Roboto" pitchFamily="2" charset="0"/>
                <a:ea typeface="Roboto" pitchFamily="2" charset="0"/>
              </a:rPr>
              <a:t>Terms</a:t>
            </a:r>
            <a:endParaRPr lang="en-US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Protocol: </a:t>
            </a:r>
            <a:r>
              <a:rPr lang="en-US" sz="2000" dirty="0" smtClean="0"/>
              <a:t>Its format or formally defined set of rules for transmitting, representing or storage of data in same or between two entities. Aka, agreed-upon behavior. E.g. HTTP, TCP, UDP, DNS, etc.</a:t>
            </a:r>
          </a:p>
          <a:p>
            <a:endParaRPr lang="en-US" sz="2000" dirty="0" smtClean="0"/>
          </a:p>
          <a:p>
            <a:r>
              <a:rPr lang="en-US" sz="2400" b="1" dirty="0" smtClean="0"/>
              <a:t>Web Technologies: </a:t>
            </a:r>
            <a:r>
              <a:rPr lang="en-US" sz="2000" dirty="0" smtClean="0"/>
              <a:t>Protocols, languages, libraries and frameworks that facilitate the web applications or services development and deployment. E.g. JavaScript, HTTP, DNS, Node.js, Express, etc.</a:t>
            </a:r>
          </a:p>
          <a:p>
            <a:endParaRPr lang="en-US" sz="2000" dirty="0" smtClean="0"/>
          </a:p>
          <a:p>
            <a:r>
              <a:rPr lang="en-US" sz="2400" b="1" dirty="0" smtClean="0"/>
              <a:t>Client Side Languages: </a:t>
            </a:r>
            <a:r>
              <a:rPr lang="en-US" sz="2000" dirty="0" smtClean="0"/>
              <a:t>Languages that are run or interpreted at client side, usually in a web browser e.g. HTML, CSS and Java Script, etc.</a:t>
            </a:r>
          </a:p>
          <a:p>
            <a:endParaRPr lang="en-US" sz="2000" dirty="0" smtClean="0"/>
          </a:p>
          <a:p>
            <a:r>
              <a:rPr lang="en-US" sz="2400" b="1" dirty="0" smtClean="0"/>
              <a:t>Server Side Languages: </a:t>
            </a:r>
            <a:r>
              <a:rPr lang="en-US" sz="2000" dirty="0" smtClean="0"/>
              <a:t>Languages that run at server side and generates output for client. E.g. PHP, C#, Ruby, Java etc.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8605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Concept of Software </a:t>
            </a:r>
            <a:br>
              <a:rPr lang="en-US" dirty="0" smtClean="0"/>
            </a:br>
            <a:r>
              <a:rPr lang="en-US" b="1" dirty="0" smtClean="0"/>
              <a:t>Tier and Layers</a:t>
            </a:r>
            <a:endParaRPr lang="en-GB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One-Tier </a:t>
            </a:r>
            <a:r>
              <a:rPr lang="en-GB" sz="4800" b="1" dirty="0" smtClean="0"/>
              <a:t>Architecture </a:t>
            </a:r>
            <a:br>
              <a:rPr lang="en-GB" sz="4800" b="1" dirty="0" smtClean="0"/>
            </a:br>
            <a:r>
              <a:rPr lang="en-GB" b="1" dirty="0" smtClean="0"/>
              <a:t>(Monolithic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smtClean="0"/>
              <a:t>Tier describe </a:t>
            </a:r>
            <a:r>
              <a:rPr lang="en-GB" b="1" dirty="0" smtClean="0"/>
              <a:t>deployment </a:t>
            </a:r>
            <a:r>
              <a:rPr lang="en-GB" dirty="0" smtClean="0"/>
              <a:t>locations of a software components. It can be </a:t>
            </a:r>
            <a:r>
              <a:rPr lang="en-GB" dirty="0" smtClean="0"/>
              <a:t> </a:t>
            </a:r>
            <a:r>
              <a:rPr lang="en-GB" dirty="0" smtClean="0"/>
              <a:t>on different processes/computers.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In one-tier, all </a:t>
            </a:r>
            <a:r>
              <a:rPr lang="en-GB" dirty="0" smtClean="0"/>
              <a:t>components (UI, business logic, and database) reside on a single system. Usually seen in desktop applications or simple web applications with embedded databases.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 smtClean="0"/>
              <a:t>Example: </a:t>
            </a:r>
            <a:endParaRPr lang="en-GB" dirty="0" smtClean="0"/>
          </a:p>
          <a:p>
            <a:pPr lvl="1"/>
            <a:r>
              <a:rPr lang="en-GB" dirty="0" smtClean="0"/>
              <a:t>A </a:t>
            </a:r>
            <a:r>
              <a:rPr lang="en-GB" dirty="0" smtClean="0"/>
              <a:t>standalone application like MS </a:t>
            </a:r>
            <a:r>
              <a:rPr lang="en-GB" dirty="0" smtClean="0"/>
              <a:t>Access File.</a:t>
            </a:r>
          </a:p>
          <a:p>
            <a:pPr lvl="1"/>
            <a:r>
              <a:rPr lang="en-GB" dirty="0" smtClean="0"/>
              <a:t>An </a:t>
            </a:r>
            <a:r>
              <a:rPr lang="en-GB" dirty="0" smtClean="0"/>
              <a:t>old-school PHP script with an embedded </a:t>
            </a:r>
            <a:r>
              <a:rPr lang="en-GB" dirty="0" err="1" smtClean="0"/>
              <a:t>SQLite</a:t>
            </a:r>
            <a:r>
              <a:rPr lang="en-GB" dirty="0" smtClean="0"/>
              <a:t> database.</a:t>
            </a:r>
            <a:br>
              <a:rPr lang="en-GB" dirty="0" smtClean="0"/>
            </a:br>
            <a:endParaRPr lang="en-GB" dirty="0" smtClean="0"/>
          </a:p>
          <a:p>
            <a:r>
              <a:rPr lang="en-GB" b="1" dirty="0" smtClean="0"/>
              <a:t>Advantages:</a:t>
            </a:r>
          </a:p>
          <a:p>
            <a:r>
              <a:rPr lang="en-GB" dirty="0" smtClean="0"/>
              <a:t>✔ Simple to develop and deploy</a:t>
            </a:r>
            <a:br>
              <a:rPr lang="en-GB" dirty="0" smtClean="0"/>
            </a:br>
            <a:r>
              <a:rPr lang="en-GB" dirty="0" smtClean="0"/>
              <a:t>✔ Faster performance for small-scale apps</a:t>
            </a:r>
          </a:p>
          <a:p>
            <a:r>
              <a:rPr lang="en-GB" b="1" dirty="0" smtClean="0"/>
              <a:t>Disadvantages:</a:t>
            </a:r>
          </a:p>
          <a:p>
            <a:r>
              <a:rPr lang="en-GB" dirty="0" smtClean="0"/>
              <a:t>✘ Not scalable</a:t>
            </a:r>
            <a:br>
              <a:rPr lang="en-GB" dirty="0" smtClean="0"/>
            </a:br>
            <a:r>
              <a:rPr lang="en-GB" dirty="0" smtClean="0"/>
              <a:t>✘ Hard to maintain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one-tier-software-architec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32" y="1928802"/>
            <a:ext cx="4968258" cy="4439048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One-Tier </a:t>
            </a:r>
            <a:r>
              <a:rPr lang="en-GB" sz="4800" b="1" dirty="0" smtClean="0"/>
              <a:t>Architecture </a:t>
            </a:r>
            <a:br>
              <a:rPr lang="en-GB" sz="4800" b="1" dirty="0" smtClean="0"/>
            </a:br>
            <a:r>
              <a:rPr lang="en-GB" b="1" dirty="0" smtClean="0"/>
              <a:t>(Monolithic Architecture)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Two-Tier Architecture </a:t>
            </a:r>
            <a:br>
              <a:rPr lang="en-GB" b="1" dirty="0" smtClean="0"/>
            </a:br>
            <a:r>
              <a:rPr lang="en-GB" b="1" dirty="0" smtClean="0"/>
              <a:t>(Client-Server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The application is divided into two layers:</a:t>
            </a:r>
          </a:p>
          <a:p>
            <a:pPr lvl="1"/>
            <a:r>
              <a:rPr lang="en-GB" b="1" dirty="0" smtClean="0"/>
              <a:t>Client:</a:t>
            </a:r>
            <a:r>
              <a:rPr lang="en-GB" dirty="0" smtClean="0"/>
              <a:t> The front-end (browser, desktop app) sends requests.</a:t>
            </a:r>
          </a:p>
          <a:p>
            <a:pPr lvl="1"/>
            <a:r>
              <a:rPr lang="en-GB" b="1" dirty="0" smtClean="0"/>
              <a:t>Server:</a:t>
            </a:r>
            <a:r>
              <a:rPr lang="en-GB" dirty="0" smtClean="0"/>
              <a:t> The backend processes requests and interacts with the database.</a:t>
            </a:r>
          </a:p>
          <a:p>
            <a:r>
              <a:rPr lang="en-US" b="1" dirty="0" smtClean="0"/>
              <a:t>A desktop application with separate database.</a:t>
            </a:r>
          </a:p>
          <a:p>
            <a:r>
              <a:rPr lang="en-US" b="1" dirty="0" smtClean="0"/>
              <a:t>A web application with embedded database.</a:t>
            </a:r>
          </a:p>
          <a:p>
            <a:endParaRPr lang="en-GB" b="1" dirty="0" smtClean="0"/>
          </a:p>
          <a:p>
            <a:r>
              <a:rPr lang="en-GB" b="1" dirty="0" smtClean="0"/>
              <a:t>Advantages:</a:t>
            </a:r>
          </a:p>
          <a:p>
            <a:r>
              <a:rPr lang="en-GB" dirty="0" smtClean="0"/>
              <a:t>✔ Better scalability than one-tier</a:t>
            </a:r>
            <a:br>
              <a:rPr lang="en-GB" dirty="0" smtClean="0"/>
            </a:br>
            <a:r>
              <a:rPr lang="en-GB" dirty="0" smtClean="0"/>
              <a:t>✔ Improved security by separating UI from the database</a:t>
            </a:r>
          </a:p>
          <a:p>
            <a:r>
              <a:rPr lang="en-GB" b="1" dirty="0" smtClean="0"/>
              <a:t>Disadvantages:</a:t>
            </a:r>
          </a:p>
          <a:p>
            <a:r>
              <a:rPr lang="en-GB" dirty="0" smtClean="0"/>
              <a:t>✘ Limited scalability (heavy load on database)</a:t>
            </a:r>
            <a:br>
              <a:rPr lang="en-GB" dirty="0" smtClean="0"/>
            </a:br>
            <a:r>
              <a:rPr lang="en-GB" dirty="0" smtClean="0"/>
              <a:t>✘ Direct database exposure increases security risks</a:t>
            </a:r>
          </a:p>
          <a:p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Two-Tier Architecture </a:t>
            </a:r>
            <a:br>
              <a:rPr lang="en-GB" b="1" dirty="0" smtClean="0"/>
            </a:br>
            <a:r>
              <a:rPr lang="en-GB" b="1" dirty="0" smtClean="0"/>
              <a:t>(Client-Server Architecture)</a:t>
            </a:r>
          </a:p>
        </p:txBody>
      </p:sp>
      <p:pic>
        <p:nvPicPr>
          <p:cNvPr id="4" name="Content Placeholder 3" descr="two-tier-software-architec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042" y="1714488"/>
            <a:ext cx="6357982" cy="422897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Three-Tier </a:t>
            </a:r>
            <a:r>
              <a:rPr lang="en-GB" b="1" dirty="0" smtClean="0"/>
              <a:t>Architecture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(</a:t>
            </a:r>
            <a:r>
              <a:rPr lang="en-GB" b="1" u="sng" dirty="0" smtClean="0"/>
              <a:t>Most </a:t>
            </a:r>
            <a:r>
              <a:rPr lang="en-GB" b="1" u="sng" dirty="0" smtClean="0"/>
              <a:t>Common in Modern Web </a:t>
            </a:r>
            <a:r>
              <a:rPr lang="en-GB" b="1" u="sng" dirty="0" smtClean="0"/>
              <a:t>Apps)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 smtClean="0"/>
              <a:t>The application is divided into:</a:t>
            </a:r>
          </a:p>
          <a:p>
            <a:pPr lvl="1"/>
            <a:r>
              <a:rPr lang="en-GB" b="1" dirty="0" smtClean="0"/>
              <a:t>Presentation Layer (Client):</a:t>
            </a:r>
            <a:r>
              <a:rPr lang="en-GB" dirty="0" smtClean="0"/>
              <a:t> UI (HTML, CSS, JavaScript)</a:t>
            </a:r>
          </a:p>
          <a:p>
            <a:pPr lvl="1"/>
            <a:r>
              <a:rPr lang="en-GB" b="1" dirty="0" smtClean="0"/>
              <a:t>Application Layer (Server):</a:t>
            </a:r>
            <a:r>
              <a:rPr lang="en-GB" dirty="0" smtClean="0"/>
              <a:t> Handles business logic (Node.js, </a:t>
            </a:r>
            <a:r>
              <a:rPr lang="en-GB" dirty="0" err="1" smtClean="0"/>
              <a:t>Django</a:t>
            </a:r>
            <a:r>
              <a:rPr lang="en-GB" dirty="0" smtClean="0"/>
              <a:t>, Spring Boot)</a:t>
            </a:r>
          </a:p>
          <a:p>
            <a:pPr lvl="1"/>
            <a:r>
              <a:rPr lang="en-GB" b="1" dirty="0" smtClean="0"/>
              <a:t>Data Layer (Database Server):</a:t>
            </a:r>
            <a:r>
              <a:rPr lang="en-GB" dirty="0" smtClean="0"/>
              <a:t> Stores and retrieves data (</a:t>
            </a:r>
            <a:r>
              <a:rPr lang="en-GB" dirty="0" err="1" smtClean="0"/>
              <a:t>MySQL</a:t>
            </a:r>
            <a:r>
              <a:rPr lang="en-GB" dirty="0" smtClean="0"/>
              <a:t>, </a:t>
            </a:r>
            <a:r>
              <a:rPr lang="en-GB" dirty="0" err="1" smtClean="0"/>
              <a:t>MongoDB</a:t>
            </a:r>
            <a:r>
              <a:rPr lang="en-GB" dirty="0" smtClean="0"/>
              <a:t>, etc.)</a:t>
            </a:r>
          </a:p>
          <a:p>
            <a:r>
              <a:rPr lang="en-GB" dirty="0" smtClean="0"/>
              <a:t>Example: A typical web app where a </a:t>
            </a:r>
            <a:r>
              <a:rPr lang="en-GB" b="1" dirty="0" smtClean="0"/>
              <a:t>React</a:t>
            </a:r>
            <a:r>
              <a:rPr lang="en-GB" dirty="0" smtClean="0"/>
              <a:t> frontend communicates with a </a:t>
            </a:r>
            <a:r>
              <a:rPr lang="en-GB" b="1" dirty="0" smtClean="0"/>
              <a:t>Node.js</a:t>
            </a:r>
            <a:r>
              <a:rPr lang="en-GB" dirty="0" smtClean="0"/>
              <a:t> backend, which in turn queries a </a:t>
            </a:r>
            <a:r>
              <a:rPr lang="en-GB" b="1" dirty="0" err="1" smtClean="0"/>
              <a:t>MySQL</a:t>
            </a:r>
            <a:r>
              <a:rPr lang="en-GB" dirty="0" smtClean="0"/>
              <a:t> database.</a:t>
            </a:r>
            <a:br>
              <a:rPr lang="en-GB" dirty="0" smtClean="0"/>
            </a:br>
            <a:endParaRPr lang="en-GB" dirty="0" smtClean="0"/>
          </a:p>
          <a:p>
            <a:r>
              <a:rPr lang="en-GB" b="1" dirty="0" smtClean="0"/>
              <a:t>Advantages:</a:t>
            </a:r>
          </a:p>
          <a:p>
            <a:r>
              <a:rPr lang="en-GB" dirty="0" smtClean="0"/>
              <a:t>✔ Highly scalable</a:t>
            </a:r>
            <a:br>
              <a:rPr lang="en-GB" dirty="0" smtClean="0"/>
            </a:br>
            <a:r>
              <a:rPr lang="en-GB" dirty="0" smtClean="0"/>
              <a:t>✔ Better security (database is not exposed directly)</a:t>
            </a:r>
            <a:br>
              <a:rPr lang="en-GB" dirty="0" smtClean="0"/>
            </a:br>
            <a:r>
              <a:rPr lang="en-GB" dirty="0" smtClean="0"/>
              <a:t>✔ Easier maintenance and upgrades</a:t>
            </a:r>
          </a:p>
          <a:p>
            <a:r>
              <a:rPr lang="en-GB" b="1" dirty="0" smtClean="0"/>
              <a:t>Disadvantages:</a:t>
            </a:r>
          </a:p>
          <a:p>
            <a:r>
              <a:rPr lang="en-GB" dirty="0" smtClean="0"/>
              <a:t>✘ More complex development</a:t>
            </a:r>
            <a:br>
              <a:rPr lang="en-GB" dirty="0" smtClean="0"/>
            </a:br>
            <a:r>
              <a:rPr lang="en-GB" dirty="0" smtClean="0"/>
              <a:t>✘ Requires more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Three-Tier Architecture </a:t>
            </a:r>
            <a:br>
              <a:rPr lang="en-GB" b="1" dirty="0" smtClean="0"/>
            </a:br>
            <a:r>
              <a:rPr lang="en-GB" b="1" dirty="0" smtClean="0"/>
              <a:t>(Most Common in Modern Web Apps)</a:t>
            </a:r>
            <a:endParaRPr lang="en-GB" b="1" dirty="0"/>
          </a:p>
        </p:txBody>
      </p:sp>
      <p:pic>
        <p:nvPicPr>
          <p:cNvPr id="4" name="Content Placeholder 3" descr="three-tier-software-architec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348" y="2071678"/>
            <a:ext cx="7838127" cy="421484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N-Tier Architecture</a:t>
            </a:r>
            <a:endParaRPr lang="en-GB" b="1" dirty="0"/>
          </a:p>
        </p:txBody>
      </p:sp>
      <p:pic>
        <p:nvPicPr>
          <p:cNvPr id="4" name="Content Placeholder 3" descr="N-Tier-Architecture-N-Tier-Architecture-is-preferred-because-of-the-reasons-such-as-easy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823" y="1600200"/>
            <a:ext cx="4992354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These are </a:t>
            </a:r>
            <a:r>
              <a:rPr lang="en-GB" b="1" dirty="0" smtClean="0"/>
              <a:t>logical divisions in the code</a:t>
            </a:r>
            <a:r>
              <a:rPr lang="en-GB" dirty="0" smtClean="0"/>
              <a:t>. They could all technically run inside one </a:t>
            </a:r>
            <a:r>
              <a:rPr lang="en-GB" dirty="0" smtClean="0"/>
              <a:t>application. Usually we split code into layers for better maintainability.</a:t>
            </a:r>
          </a:p>
          <a:p>
            <a:endParaRPr lang="en-GB" dirty="0" smtClean="0"/>
          </a:p>
          <a:p>
            <a:r>
              <a:rPr lang="en-GB" sz="1800" dirty="0" smtClean="0"/>
              <a:t>Presentation </a:t>
            </a:r>
            <a:r>
              <a:rPr lang="en-GB" sz="1800" dirty="0" smtClean="0"/>
              <a:t>Layer</a:t>
            </a:r>
          </a:p>
          <a:p>
            <a:pPr>
              <a:buNone/>
            </a:pPr>
            <a:r>
              <a:rPr lang="en-GB" sz="1800" dirty="0" smtClean="0"/>
              <a:t>     		↓</a:t>
            </a:r>
            <a:endParaRPr lang="en-GB" sz="1800" dirty="0" smtClean="0"/>
          </a:p>
          <a:p>
            <a:pPr>
              <a:buNone/>
            </a:pPr>
            <a:r>
              <a:rPr lang="en-GB" sz="1800" dirty="0" smtClean="0"/>
              <a:t>	Business </a:t>
            </a:r>
            <a:r>
              <a:rPr lang="en-GB" sz="1800" dirty="0" smtClean="0"/>
              <a:t>Logic Layer</a:t>
            </a:r>
          </a:p>
          <a:p>
            <a:pPr>
              <a:buNone/>
            </a:pPr>
            <a:r>
              <a:rPr lang="en-GB" sz="1800" dirty="0" smtClean="0"/>
              <a:t>     		↓</a:t>
            </a:r>
            <a:endParaRPr lang="en-GB" sz="1800" dirty="0" smtClean="0"/>
          </a:p>
          <a:p>
            <a:pPr>
              <a:buNone/>
            </a:pPr>
            <a:r>
              <a:rPr lang="en-GB" sz="1800" dirty="0" smtClean="0"/>
              <a:t>	Data </a:t>
            </a:r>
            <a:r>
              <a:rPr lang="en-GB" sz="1800" dirty="0" smtClean="0"/>
              <a:t>Access Layer</a:t>
            </a:r>
          </a:p>
          <a:p>
            <a:pPr>
              <a:buNone/>
            </a:pPr>
            <a:r>
              <a:rPr lang="en-GB" sz="1800" dirty="0" smtClean="0"/>
              <a:t>    </a:t>
            </a:r>
            <a:r>
              <a:rPr lang="en-GB" sz="1800" dirty="0" smtClean="0"/>
              <a:t> 		↓</a:t>
            </a:r>
            <a:endParaRPr lang="en-GB" sz="1800" dirty="0" smtClean="0"/>
          </a:p>
          <a:p>
            <a:pPr>
              <a:buNone/>
            </a:pPr>
            <a:r>
              <a:rPr lang="en-GB" sz="1800" dirty="0" smtClean="0"/>
              <a:t>	Database</a:t>
            </a:r>
            <a:endParaRPr lang="en-GB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HTTP Request/Response Example</a:t>
            </a:r>
            <a:endParaRPr lang="en-GB" dirty="0"/>
          </a:p>
        </p:txBody>
      </p:sp>
      <p:pic>
        <p:nvPicPr>
          <p:cNvPr id="3" name="Picture 2" descr="HTTP Request Client Server 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857232"/>
            <a:ext cx="8429652" cy="56197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HTTP Request/Response Example</a:t>
            </a:r>
            <a:endParaRPr lang="en-GB" dirty="0"/>
          </a:p>
        </p:txBody>
      </p:sp>
      <p:pic>
        <p:nvPicPr>
          <p:cNvPr id="4" name="Picture 3" descr="ChatGPT Image Feb 2, 2026, 02_22_5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2" y="904855"/>
            <a:ext cx="8358214" cy="55721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Service Oriented </a:t>
            </a:r>
            <a:r>
              <a:rPr lang="en-US" dirty="0" smtClean="0"/>
              <a:t>Architecture </a:t>
            </a:r>
            <a:br>
              <a:rPr lang="en-US" dirty="0" smtClean="0"/>
            </a:br>
            <a:r>
              <a:rPr lang="en-US" dirty="0" smtClean="0"/>
              <a:t>(skip it for now , TBD later)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Expose backend of a system as different services – in language and platform independent way. E.g. </a:t>
            </a:r>
            <a:r>
              <a:rPr lang="en-US" dirty="0" smtClean="0"/>
              <a:t>RESTful Services.</a:t>
            </a:r>
            <a:endParaRPr lang="en-US" dirty="0" smtClean="0"/>
          </a:p>
          <a:p>
            <a:r>
              <a:rPr lang="en-US" dirty="0" smtClean="0"/>
              <a:t>Client communicate with those services.</a:t>
            </a:r>
          </a:p>
          <a:p>
            <a:r>
              <a:rPr lang="en-US" dirty="0" smtClean="0"/>
              <a:t>Makes it easy to integration with other systems, no matter in which technology they are developed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Microservices: Deploy </a:t>
            </a:r>
            <a:r>
              <a:rPr lang="en-US" dirty="0" smtClean="0"/>
              <a:t>each service as separate application, that is easy to maintain and scale.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13482</TotalTime>
  <Words>588</Words>
  <Application>Microsoft Office PowerPoint</Application>
  <PresentationFormat>On-screen Show (4:3)</PresentationFormat>
  <Paragraphs>94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Introduction to  Web Technologies</vt:lpstr>
      <vt:lpstr>Major Objectives of Course</vt:lpstr>
      <vt:lpstr>Client, Server, Port, URL</vt:lpstr>
      <vt:lpstr>More Basic Terms</vt:lpstr>
      <vt:lpstr>Concept of Software  Tier and Layers</vt:lpstr>
      <vt:lpstr>One-Tier Architecture  (Monolithic Architecture)</vt:lpstr>
      <vt:lpstr>One-Tier Architecture  (Monolithic Architecture)</vt:lpstr>
      <vt:lpstr>Two-Tier Architecture  (Client-Server Architecture)</vt:lpstr>
      <vt:lpstr>Two-Tier Architecture  (Client-Server Architecture)</vt:lpstr>
      <vt:lpstr>Three-Tier Architecture (Most Common in Modern Web Apps)</vt:lpstr>
      <vt:lpstr>Three-Tier Architecture  (Most Common in Modern Web Apps)</vt:lpstr>
      <vt:lpstr>N-Tier Architecture</vt:lpstr>
      <vt:lpstr>Layer</vt:lpstr>
      <vt:lpstr>HTTP Request/Response Example</vt:lpstr>
      <vt:lpstr>HTTP Request/Response Example</vt:lpstr>
      <vt:lpstr>Service Oriented Architecture  (skip it for now , TBD later)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Asif</dc:creator>
  <cp:lastModifiedBy>Lenovo</cp:lastModifiedBy>
  <cp:revision>1122</cp:revision>
  <dcterms:created xsi:type="dcterms:W3CDTF">2006-08-16T00:00:00Z</dcterms:created>
  <dcterms:modified xsi:type="dcterms:W3CDTF">2026-09-11T13:40:28Z</dcterms:modified>
</cp:coreProperties>
</file>