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1" r:id="rId6"/>
    <p:sldId id="356" r:id="rId7"/>
    <p:sldId id="357" r:id="rId8"/>
    <p:sldId id="358" r:id="rId9"/>
    <p:sldId id="359" r:id="rId10"/>
    <p:sldId id="360" r:id="rId11"/>
    <p:sldId id="263" r:id="rId12"/>
    <p:sldId id="316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264" r:id="rId35"/>
    <p:sldId id="318" r:id="rId36"/>
    <p:sldId id="321" r:id="rId37"/>
    <p:sldId id="317" r:id="rId38"/>
    <p:sldId id="324" r:id="rId39"/>
    <p:sldId id="334" r:id="rId40"/>
    <p:sldId id="314" r:id="rId4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706" autoAdjust="0"/>
    <p:restoredTop sz="93369" autoAdjust="0"/>
  </p:normalViewPr>
  <p:slideViewPr>
    <p:cSldViewPr>
      <p:cViewPr>
        <p:scale>
          <a:sx n="75" d="100"/>
          <a:sy n="75" d="100"/>
        </p:scale>
        <p:origin x="-1939" y="-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87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0E58B0F-0B63-4C35-9967-7AEF88028202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C3A52CD-7C21-4E75-A308-5024BDB9D6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6693B98-50A2-4D58-9670-721E042F0E9E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CF5967-A047-49CB-B92A-DC2297368E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3524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74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Demonstrate</a:t>
            </a:r>
            <a:r>
              <a:rPr lang="en-US" baseline="0" dirty="0" smtClean="0"/>
              <a:t> each tag writing code. Also explain t</a:t>
            </a:r>
            <a:r>
              <a:rPr lang="en-US" dirty="0" smtClean="0"/>
              <a:t>ag attributes:</a:t>
            </a:r>
            <a:r>
              <a:rPr lang="en-US" baseline="0" dirty="0" smtClean="0"/>
              <a:t> class, id, style, title,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63602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7335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Html content models?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162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460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we do not specify name of submit</a:t>
            </a:r>
            <a:r>
              <a:rPr lang="en-US" baseline="0" dirty="0" smtClean="0"/>
              <a:t> type field, its not submitted to server. Though rest of data is sent to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Meta: author, revised, </a:t>
            </a:r>
            <a:r>
              <a:rPr lang="en-US" baseline="0" dirty="0" smtClean="0"/>
              <a:t>description, keywords, http-equiv.    </a:t>
            </a:r>
            <a:r>
              <a:rPr lang="en-US" baseline="0" dirty="0" err="1" smtClean="0"/>
              <a:t>link:rel</a:t>
            </a:r>
            <a:r>
              <a:rPr lang="en-US" baseline="0" dirty="0" smtClean="0"/>
              <a:t>, type, href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F5967-A047-49CB-B92A-DC2297368E2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17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1C5D-C85A-4F0D-9683-EB07AF7BE595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4B305-B1BA-46EE-8249-A5C5A25E08F9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BF760-1DCA-435D-B2C1-2D924FBFA689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194B-6880-4444-B7A7-502A39BDE082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E49-2454-44C8-B271-C93CDE6B1A12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C086-77CF-4E88-893A-0E6B03D41AAD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F8499-EA33-4B71-8FE2-4E4962F4429A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EEA72-DBB7-417F-B05F-73C216701C54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F3A5-0E73-4E6D-A497-B53F9D9BB381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C655-38B9-4677-9651-1A0DBDC9396A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89C1-4274-4CF8-AD9D-EDD3F6930347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87DF3-5AA1-4666-9389-D1AC515FC772}" type="datetime1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html5/html5_microdata.htm" TargetMode="External"/><Relationship Id="rId2" Type="http://schemas.openxmlformats.org/officeDocument/2006/relationships/hyperlink" Target="https://developers.google.com/search/docs/guides/intro-structured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.org/TR/microdata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t.ly/NZEdW" TargetMode="External"/><Relationship Id="rId2" Type="http://schemas.openxmlformats.org/officeDocument/2006/relationships/hyperlink" Target="http://t.ly/Od0G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4648200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HTML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Hyper Text Markup Language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By: Asif Shahzad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HTML?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Hyper Text Markup Language</a:t>
            </a:r>
          </a:p>
          <a:p>
            <a:pPr lvl="1"/>
            <a:r>
              <a:rPr lang="en-US" sz="2400" b="1" dirty="0" smtClean="0"/>
              <a:t>Hyper Text means:</a:t>
            </a:r>
            <a:r>
              <a:rPr lang="en-US" sz="2400" dirty="0" smtClean="0"/>
              <a:t> Linked Text. One document is linked with other, user move from one page  to another using links.</a:t>
            </a:r>
          </a:p>
          <a:p>
            <a:pPr lvl="1"/>
            <a:r>
              <a:rPr lang="en-US" sz="2400" b="1" dirty="0" smtClean="0"/>
              <a:t>Markup</a:t>
            </a:r>
            <a:r>
              <a:rPr lang="en-US" sz="2400" dirty="0" smtClean="0"/>
              <a:t>: Use of tags to markup text, images, etc. So HTML code are tags.</a:t>
            </a:r>
          </a:p>
          <a:p>
            <a:pPr lvl="1"/>
            <a:r>
              <a:rPr lang="en-US" sz="2400" b="1" dirty="0" smtClean="0"/>
              <a:t>Language</a:t>
            </a:r>
            <a:r>
              <a:rPr lang="en-US" sz="2400" dirty="0" smtClean="0"/>
              <a:t> means, there are certain rules or write those tags</a:t>
            </a:r>
          </a:p>
          <a:p>
            <a:r>
              <a:rPr lang="en-US" sz="2800" dirty="0" smtClean="0"/>
              <a:t>We use </a:t>
            </a:r>
            <a:r>
              <a:rPr lang="en-US" sz="2800" b="1" dirty="0" smtClean="0"/>
              <a:t>.html OR .</a:t>
            </a:r>
            <a:r>
              <a:rPr lang="en-US" sz="2800" b="1" dirty="0" err="1" smtClean="0"/>
              <a:t>htm</a:t>
            </a:r>
            <a:r>
              <a:rPr lang="en-US" sz="2800" b="1" dirty="0" smtClean="0"/>
              <a:t> </a:t>
            </a:r>
            <a:r>
              <a:rPr lang="en-US" sz="2800" dirty="0" smtClean="0"/>
              <a:t>extension for web pages. .html is most common. None is required.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 Basic Tags Demo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24800" cy="4419600"/>
          </a:xfrm>
        </p:spPr>
        <p:txBody>
          <a:bodyPr>
            <a:noAutofit/>
          </a:bodyPr>
          <a:lstStyle/>
          <a:p>
            <a:r>
              <a:rPr lang="en-US" sz="2800" dirty="0" smtClean="0"/>
              <a:t>Web Page Structure</a:t>
            </a:r>
          </a:p>
          <a:p>
            <a:pPr lvl="1"/>
            <a:r>
              <a:rPr lang="en-US" sz="1600" dirty="0" smtClean="0"/>
              <a:t>DOCTYPE declaration</a:t>
            </a:r>
          </a:p>
          <a:p>
            <a:pPr lvl="1"/>
            <a:r>
              <a:rPr lang="en-US" sz="2000" dirty="0" smtClean="0"/>
              <a:t>Html, head, body, h1 and p tags</a:t>
            </a:r>
          </a:p>
          <a:p>
            <a:r>
              <a:rPr lang="en-US" sz="2800" dirty="0" smtClean="0"/>
              <a:t>Anatomy of HTML tag</a:t>
            </a:r>
          </a:p>
          <a:p>
            <a:pPr lvl="1"/>
            <a:r>
              <a:rPr lang="en-US" sz="2000" dirty="0" smtClean="0"/>
              <a:t>Start tag , end tag</a:t>
            </a:r>
          </a:p>
          <a:p>
            <a:pPr lvl="1"/>
            <a:r>
              <a:rPr lang="en-US" sz="2000" dirty="0" smtClean="0"/>
              <a:t>Tag text / content</a:t>
            </a:r>
          </a:p>
          <a:p>
            <a:pPr lvl="1"/>
            <a:r>
              <a:rPr lang="en-US" sz="2000" dirty="0" smtClean="0"/>
              <a:t>Tag Attribute</a:t>
            </a:r>
          </a:p>
          <a:p>
            <a:pPr lvl="1"/>
            <a:r>
              <a:rPr lang="en-US" sz="2000" dirty="0" smtClean="0"/>
              <a:t>Tag nesting</a:t>
            </a:r>
          </a:p>
          <a:p>
            <a:pPr lvl="1"/>
            <a:r>
              <a:rPr lang="en-US" sz="2000" dirty="0" smtClean="0"/>
              <a:t>Self Closing Tag or Empty tag (tag with no body)</a:t>
            </a:r>
          </a:p>
          <a:p>
            <a:pPr lvl="1"/>
            <a:r>
              <a:rPr lang="en-US" sz="2000" dirty="0" smtClean="0"/>
              <a:t>Rule: Close first what you opened last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Page, Tag and Attributes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Web </a:t>
            </a:r>
            <a:r>
              <a:rPr lang="en-US" sz="2400" dirty="0"/>
              <a:t>browser </a:t>
            </a:r>
            <a:r>
              <a:rPr lang="en-US" sz="2400" b="1" dirty="0"/>
              <a:t>parse</a:t>
            </a:r>
            <a:r>
              <a:rPr lang="en-US" sz="2400" dirty="0"/>
              <a:t> the HTML code and </a:t>
            </a:r>
            <a:r>
              <a:rPr lang="en-US" sz="2400" b="1" dirty="0"/>
              <a:t>renders</a:t>
            </a:r>
            <a:r>
              <a:rPr lang="en-US" sz="2400" dirty="0"/>
              <a:t> the output on screen</a:t>
            </a:r>
            <a:r>
              <a:rPr lang="en-US" sz="2400" dirty="0" smtClean="0"/>
              <a:t>. HTML Code is set of </a:t>
            </a:r>
            <a:r>
              <a:rPr lang="en-US" sz="2400" b="1" u="sng" dirty="0" smtClean="0"/>
              <a:t>tags,</a:t>
            </a:r>
            <a:r>
              <a:rPr lang="en-US" sz="2400" b="1" dirty="0" smtClean="0"/>
              <a:t> </a:t>
            </a:r>
            <a:r>
              <a:rPr lang="en-US" sz="2400" dirty="0" smtClean="0"/>
              <a:t> from a predefined list e.g. p, html, body … each tag is </a:t>
            </a:r>
            <a:r>
              <a:rPr lang="en-US" sz="2400" b="1" u="sng" dirty="0" smtClean="0"/>
              <a:t>specific objective.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dirty="0" smtClean="0"/>
          </a:p>
          <a:p>
            <a:r>
              <a:rPr lang="en-US" sz="2400" dirty="0" smtClean="0"/>
              <a:t>Tags may have </a:t>
            </a:r>
            <a:r>
              <a:rPr lang="en-US" sz="2400" b="1" u="sng" dirty="0" smtClean="0"/>
              <a:t>attributes</a:t>
            </a:r>
            <a:r>
              <a:rPr lang="en-US" sz="2400" u="sng" dirty="0" smtClean="0"/>
              <a:t> </a:t>
            </a:r>
            <a:r>
              <a:rPr lang="en-US" sz="2400" dirty="0" smtClean="0"/>
              <a:t>that specify additional information related to tag e.g. in below tag, the href attribute specifies hypertext reference of the link.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Tags may be nested inside other tags or may have content e.g. p. HTML documents are also called</a:t>
            </a:r>
            <a:r>
              <a:rPr lang="en-US" sz="2400" b="1" dirty="0" smtClean="0"/>
              <a:t> </a:t>
            </a:r>
            <a:r>
              <a:rPr lang="en-US" sz="2400" b="1" u="sng" dirty="0" smtClean="0"/>
              <a:t>web pages</a:t>
            </a:r>
            <a:r>
              <a:rPr lang="en-US" sz="2400" b="1" dirty="0" smtClean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343400"/>
            <a:ext cx="813869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 Tags … Continue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953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html, head, title, body</a:t>
            </a:r>
          </a:p>
          <a:p>
            <a:r>
              <a:rPr lang="en-US" sz="2400" dirty="0" smtClean="0"/>
              <a:t>Paragraph and Headings</a:t>
            </a:r>
          </a:p>
          <a:p>
            <a:r>
              <a:rPr lang="en-US" sz="2400" dirty="0" smtClean="0"/>
              <a:t>Lines and Line Breaks</a:t>
            </a:r>
          </a:p>
          <a:p>
            <a:r>
              <a:rPr lang="en-US" sz="2400" dirty="0" smtClean="0"/>
              <a:t>Text Formatting </a:t>
            </a:r>
          </a:p>
          <a:p>
            <a:pPr lvl="1"/>
            <a:r>
              <a:rPr lang="en-US" sz="2000" dirty="0" smtClean="0"/>
              <a:t>b, </a:t>
            </a:r>
            <a:r>
              <a:rPr lang="en-US" sz="2000" dirty="0" err="1" smtClean="0"/>
              <a:t>i</a:t>
            </a:r>
            <a:r>
              <a:rPr lang="en-US" sz="2000" dirty="0" smtClean="0"/>
              <a:t>, sub, sup, pre</a:t>
            </a:r>
          </a:p>
          <a:p>
            <a:pPr lvl="1"/>
            <a:r>
              <a:rPr lang="en-US" sz="2000" dirty="0" smtClean="0"/>
              <a:t>cite, </a:t>
            </a:r>
            <a:r>
              <a:rPr lang="en-US" sz="2000" dirty="0" err="1" smtClean="0"/>
              <a:t>abbr</a:t>
            </a:r>
            <a:r>
              <a:rPr lang="en-US" sz="2000" dirty="0" smtClean="0"/>
              <a:t>, address, q (explore using in lab)</a:t>
            </a:r>
          </a:p>
          <a:p>
            <a:r>
              <a:rPr lang="en-US" sz="2400" dirty="0" smtClean="0"/>
              <a:t>Comments</a:t>
            </a:r>
          </a:p>
          <a:p>
            <a:pPr lvl="1"/>
            <a:r>
              <a:rPr lang="en-US" sz="2000" dirty="0" smtClean="0"/>
              <a:t>&lt;!-- comment text here --&gt;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Meta Tags </a:t>
            </a:r>
            <a:br>
              <a:rPr lang="en-US" b="1" dirty="0" smtClean="0"/>
            </a:br>
            <a:r>
              <a:rPr lang="en-US" b="1" dirty="0" smtClean="0"/>
              <a:t>Page Character Encoding</a:t>
            </a:r>
            <a:endParaRPr lang="en-US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105400"/>
            <a:ext cx="7567084" cy="1524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24000"/>
            <a:ext cx="9144000" cy="343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26125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Meta Tag - description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486400"/>
            <a:ext cx="821436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b="13115"/>
          <a:stretch>
            <a:fillRect/>
          </a:stretch>
        </p:blipFill>
        <p:spPr bwMode="auto">
          <a:xfrm>
            <a:off x="619125" y="5133975"/>
            <a:ext cx="11334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295400"/>
            <a:ext cx="9144000" cy="389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1872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 smtClean="0"/>
              <a:t>Meta Tag – Open Graph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681540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38998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Social Sites Use Meta Tag for URL, Title, Description and Image</a:t>
            </a:r>
            <a:endParaRPr lang="en-US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970314"/>
            <a:ext cx="9144000" cy="374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31726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dir (Direction) Attribute</a:t>
            </a:r>
            <a:endParaRPr lang="en-US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0563" y="5257800"/>
            <a:ext cx="7395237" cy="14478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71600"/>
            <a:ext cx="9144000" cy="371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5729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Link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50292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+mj-lt"/>
              </a:rPr>
              <a:t>Link makes the web, web i.e. it connect one page to another. Link help to navigate user from one page to another page with same domain or other domains.</a:t>
            </a:r>
          </a:p>
          <a:p>
            <a:r>
              <a:rPr lang="en-US" sz="2000" dirty="0" smtClean="0">
                <a:latin typeface="+mj-lt"/>
              </a:rPr>
              <a:t>Lets create a Hyperlink. Demo.</a:t>
            </a:r>
          </a:p>
          <a:p>
            <a:pPr lvl="1"/>
            <a:r>
              <a:rPr lang="en-US" sz="2000" dirty="0" smtClean="0">
                <a:latin typeface="+mj-lt"/>
              </a:rPr>
              <a:t>‘a’ is taken from </a:t>
            </a:r>
            <a:r>
              <a:rPr lang="en-US" sz="2000" b="1" u="sng" dirty="0" smtClean="0">
                <a:latin typeface="+mj-lt"/>
              </a:rPr>
              <a:t>Anchor</a:t>
            </a:r>
            <a:r>
              <a:rPr lang="en-US" sz="2000" b="1" dirty="0" smtClean="0">
                <a:latin typeface="+mj-lt"/>
              </a:rPr>
              <a:t>, </a:t>
            </a:r>
            <a:r>
              <a:rPr lang="en-US" sz="2000" dirty="0" smtClean="0">
                <a:latin typeface="+mj-lt"/>
              </a:rPr>
              <a:t>means link</a:t>
            </a:r>
          </a:p>
          <a:p>
            <a:pPr lvl="1"/>
            <a:r>
              <a:rPr lang="en-US" sz="2000" dirty="0" smtClean="0">
                <a:latin typeface="+mj-lt"/>
              </a:rPr>
              <a:t>‘href’ stands for </a:t>
            </a:r>
            <a:r>
              <a:rPr lang="en-US" sz="2000" b="1" u="sng" dirty="0" smtClean="0">
                <a:latin typeface="+mj-lt"/>
              </a:rPr>
              <a:t>Hypertext Reference </a:t>
            </a:r>
            <a:r>
              <a:rPr lang="en-US" sz="2000" dirty="0" smtClean="0">
                <a:latin typeface="+mj-lt"/>
              </a:rPr>
              <a:t>| it’s the link target</a:t>
            </a:r>
          </a:p>
          <a:p>
            <a:pPr lvl="1"/>
            <a:r>
              <a:rPr lang="en-US" sz="2000" dirty="0" smtClean="0">
                <a:latin typeface="+mj-lt"/>
              </a:rPr>
              <a:t>Content user see is called </a:t>
            </a:r>
            <a:r>
              <a:rPr lang="en-US" sz="2000" b="1" u="sng" dirty="0" smtClean="0">
                <a:latin typeface="+mj-lt"/>
              </a:rPr>
              <a:t>Anchor Text</a:t>
            </a:r>
            <a:r>
              <a:rPr lang="en-US" sz="2000" u="sng" dirty="0" smtClean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or </a:t>
            </a:r>
            <a:r>
              <a:rPr lang="en-US" sz="2000" b="1" u="sng" dirty="0" smtClean="0">
                <a:latin typeface="+mj-lt"/>
              </a:rPr>
              <a:t>Link Text</a:t>
            </a:r>
            <a:r>
              <a:rPr lang="en-US" sz="2000" b="1" dirty="0" smtClean="0">
                <a:latin typeface="+mj-lt"/>
              </a:rPr>
              <a:t>.</a:t>
            </a:r>
            <a:endParaRPr lang="en-US" sz="2000" dirty="0" smtClean="0">
              <a:latin typeface="+mj-lt"/>
            </a:endParaRPr>
          </a:p>
          <a:p>
            <a:pPr lvl="1"/>
            <a:r>
              <a:rPr lang="en-US" sz="2000" b="1" u="sng" dirty="0" smtClean="0">
                <a:latin typeface="+mj-lt"/>
              </a:rPr>
              <a:t>target</a:t>
            </a:r>
            <a:r>
              <a:rPr lang="en-US" sz="2000" dirty="0" smtClean="0">
                <a:latin typeface="+mj-lt"/>
              </a:rPr>
              <a:t> attribute, often used for external links</a:t>
            </a:r>
          </a:p>
          <a:p>
            <a:pPr lvl="1"/>
            <a:r>
              <a:rPr lang="en-US" sz="2000" dirty="0" smtClean="0">
                <a:latin typeface="+mj-lt"/>
              </a:rPr>
              <a:t>Use ‘</a:t>
            </a:r>
            <a:r>
              <a:rPr lang="en-US" sz="2000" b="1" u="sng" dirty="0" smtClean="0">
                <a:latin typeface="+mj-lt"/>
              </a:rPr>
              <a:t>title</a:t>
            </a:r>
            <a:r>
              <a:rPr lang="en-US" sz="2000" dirty="0" smtClean="0">
                <a:latin typeface="+mj-lt"/>
              </a:rPr>
              <a:t>’ attribute for screen readers. Or tip where the link direct.</a:t>
            </a:r>
          </a:p>
          <a:p>
            <a:r>
              <a:rPr lang="en-US" sz="2000" b="1" u="sng" dirty="0" smtClean="0">
                <a:latin typeface="+mj-lt"/>
              </a:rPr>
              <a:t>Relative Vs Absolute URL</a:t>
            </a:r>
            <a:r>
              <a:rPr lang="en-US" sz="2000" dirty="0" smtClean="0">
                <a:latin typeface="+mj-lt"/>
              </a:rPr>
              <a:t>. Relative URL to link other pages of same web application. Absolute for external links.</a:t>
            </a:r>
          </a:p>
          <a:p>
            <a:r>
              <a:rPr lang="en-US" sz="2000" dirty="0" smtClean="0">
                <a:latin typeface="+mj-lt"/>
              </a:rPr>
              <a:t>To add links to another part of the same page, fragment identifiers or anchor tag name attribute is used.</a:t>
            </a:r>
          </a:p>
          <a:p>
            <a:r>
              <a:rPr lang="en-US" sz="2000" dirty="0" smtClean="0">
                <a:latin typeface="+mj-lt"/>
              </a:rPr>
              <a:t>Anchor text should be concise, relevant and informative. Anchor text and titles are used in SEO ranking, so do keyword research to use right content.</a:t>
            </a:r>
            <a:endParaRPr lang="en-US" sz="1800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Img tag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52596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+mj-lt"/>
              </a:rPr>
              <a:t>How to insert an image in a web page</a:t>
            </a:r>
          </a:p>
          <a:p>
            <a:r>
              <a:rPr lang="en-US" sz="2000" dirty="0" smtClean="0">
                <a:latin typeface="+mj-lt"/>
              </a:rPr>
              <a:t>src attribute, relative path, internal </a:t>
            </a:r>
            <a:r>
              <a:rPr lang="en-US" sz="2000" dirty="0">
                <a:latin typeface="+mj-lt"/>
              </a:rPr>
              <a:t>and external </a:t>
            </a:r>
            <a:r>
              <a:rPr lang="en-US" sz="2000" dirty="0" smtClean="0">
                <a:latin typeface="+mj-lt"/>
              </a:rPr>
              <a:t>images</a:t>
            </a:r>
          </a:p>
          <a:p>
            <a:r>
              <a:rPr lang="en-US" sz="2000" dirty="0" smtClean="0"/>
              <a:t>How to make an image, a link</a:t>
            </a:r>
            <a:endParaRPr lang="en-US" sz="2000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Width </a:t>
            </a:r>
            <a:r>
              <a:rPr lang="en-US" sz="2000" dirty="0">
                <a:latin typeface="+mj-lt"/>
              </a:rPr>
              <a:t>and height </a:t>
            </a:r>
            <a:r>
              <a:rPr lang="en-US" sz="2000" dirty="0" smtClean="0">
                <a:latin typeface="+mj-lt"/>
              </a:rPr>
              <a:t>property</a:t>
            </a:r>
            <a:endParaRPr lang="en-US" sz="2000" dirty="0">
              <a:latin typeface="+mj-lt"/>
            </a:endParaRPr>
          </a:p>
          <a:p>
            <a:pPr lvl="1"/>
            <a:r>
              <a:rPr lang="en-US" sz="1800" dirty="0" smtClean="0">
                <a:latin typeface="+mj-lt"/>
              </a:rPr>
              <a:t>On </a:t>
            </a:r>
            <a:r>
              <a:rPr lang="en-US" sz="1800" dirty="0">
                <a:latin typeface="+mj-lt"/>
              </a:rPr>
              <a:t>slow </a:t>
            </a:r>
            <a:r>
              <a:rPr lang="en-US" sz="1800" dirty="0" smtClean="0">
                <a:latin typeface="+mj-lt"/>
              </a:rPr>
              <a:t>connection, </a:t>
            </a:r>
            <a:r>
              <a:rPr lang="en-US" sz="1800" u="sng" dirty="0" smtClean="0">
                <a:latin typeface="+mj-lt"/>
              </a:rPr>
              <a:t>unspecified height/width leads to bad UX</a:t>
            </a:r>
            <a:r>
              <a:rPr lang="en-US" sz="1800" dirty="0" smtClean="0">
                <a:latin typeface="+mj-lt"/>
              </a:rPr>
              <a:t>. Simulate such connection in Chrome </a:t>
            </a:r>
            <a:r>
              <a:rPr lang="en-US" sz="1800" dirty="0" err="1" smtClean="0">
                <a:latin typeface="+mj-lt"/>
              </a:rPr>
              <a:t>DevTools</a:t>
            </a:r>
            <a:r>
              <a:rPr lang="en-US" sz="1800" dirty="0" smtClean="0">
                <a:latin typeface="+mj-lt"/>
              </a:rPr>
              <a:t>. </a:t>
            </a:r>
            <a:r>
              <a:rPr lang="en-US" sz="1800" dirty="0"/>
              <a:t>Layout Shift. Images loads in parallel</a:t>
            </a:r>
            <a:endParaRPr lang="en-US" sz="1800" dirty="0" smtClean="0">
              <a:latin typeface="+mj-lt"/>
            </a:endParaRPr>
          </a:p>
          <a:p>
            <a:pPr lvl="1"/>
            <a:r>
              <a:rPr lang="en-US" sz="1800" dirty="0" smtClean="0"/>
              <a:t>Single image for icon, thumbnail, and normal size VS multiple images</a:t>
            </a:r>
            <a:endParaRPr lang="en-US" sz="1800" dirty="0" smtClean="0">
              <a:latin typeface="+mj-lt"/>
            </a:endParaRPr>
          </a:p>
          <a:p>
            <a:pPr lvl="1"/>
            <a:r>
              <a:rPr lang="en-US" sz="1800" dirty="0" smtClean="0">
                <a:latin typeface="+mj-lt"/>
              </a:rPr>
              <a:t>Take care of Aspect Ratio and keep Dot Per Inch (DPI) low</a:t>
            </a:r>
          </a:p>
          <a:p>
            <a:r>
              <a:rPr lang="en-US" sz="2000" dirty="0" smtClean="0">
                <a:latin typeface="+mj-lt"/>
              </a:rPr>
              <a:t>Blocking URL or domain e.g. image-not-found issue check</a:t>
            </a:r>
          </a:p>
          <a:p>
            <a:r>
              <a:rPr lang="en-US" sz="2000" dirty="0" smtClean="0">
                <a:latin typeface="+mj-lt"/>
              </a:rPr>
              <a:t>The </a:t>
            </a:r>
            <a:r>
              <a:rPr lang="en-US" sz="2000" i="1" dirty="0" smtClean="0">
                <a:latin typeface="+mj-lt"/>
              </a:rPr>
              <a:t>alt </a:t>
            </a:r>
            <a:r>
              <a:rPr lang="en-US" sz="2000" dirty="0" smtClean="0">
                <a:latin typeface="+mj-lt"/>
              </a:rPr>
              <a:t>attribute: Good for SEO and screen readers</a:t>
            </a:r>
          </a:p>
          <a:p>
            <a:r>
              <a:rPr lang="en-US" sz="2000" dirty="0" smtClean="0">
                <a:latin typeface="+mj-lt"/>
              </a:rPr>
              <a:t>Single </a:t>
            </a:r>
            <a:r>
              <a:rPr lang="en-US" sz="2000" dirty="0">
                <a:latin typeface="+mj-lt"/>
              </a:rPr>
              <a:t>image VS </a:t>
            </a:r>
            <a:r>
              <a:rPr lang="en-US" sz="2000" dirty="0" smtClean="0">
                <a:latin typeface="+mj-lt"/>
              </a:rPr>
              <a:t>multiple images … srcset attribute</a:t>
            </a:r>
          </a:p>
          <a:p>
            <a:r>
              <a:rPr lang="en-US" sz="2000" dirty="0" smtClean="0">
                <a:latin typeface="+mj-lt"/>
              </a:rPr>
              <a:t>Specifying image in multiple formats using picture and source tags</a:t>
            </a:r>
          </a:p>
        </p:txBody>
      </p:sp>
    </p:spTree>
    <p:extLst>
      <p:ext uri="{BB962C8B-B14F-4D97-AF65-F5344CB8AC3E}">
        <p14:creationId xmlns:p14="http://schemas.microsoft.com/office/powerpoint/2010/main" xmlns="" val="211636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00600"/>
          </a:xfrm>
        </p:spPr>
        <p:txBody>
          <a:bodyPr>
            <a:normAutofit/>
          </a:bodyPr>
          <a:lstStyle/>
          <a:p>
            <a:r>
              <a:rPr lang="en-US" b="1" dirty="0" smtClean="0"/>
              <a:t>Forms are used to get input from user</a:t>
            </a:r>
          </a:p>
          <a:p>
            <a:pPr lvl="1"/>
            <a:r>
              <a:rPr lang="en-US" sz="2200" dirty="0" smtClean="0"/>
              <a:t>Input text field, password field</a:t>
            </a:r>
          </a:p>
          <a:p>
            <a:pPr lvl="1"/>
            <a:r>
              <a:rPr lang="en-US" sz="2200" dirty="0" smtClean="0"/>
              <a:t>Label ‘for’ attribute</a:t>
            </a:r>
          </a:p>
          <a:p>
            <a:pPr lvl="1"/>
            <a:r>
              <a:rPr lang="en-US" sz="2200" dirty="0" smtClean="0"/>
              <a:t>radio and checkbox input fields</a:t>
            </a:r>
          </a:p>
          <a:p>
            <a:pPr lvl="1"/>
            <a:r>
              <a:rPr lang="en-US" sz="2200" dirty="0" smtClean="0"/>
              <a:t>Drop down list … select and option tags</a:t>
            </a:r>
          </a:p>
          <a:p>
            <a:pPr lvl="1"/>
            <a:r>
              <a:rPr lang="en-US" sz="2200" dirty="0"/>
              <a:t>Hidden input field</a:t>
            </a:r>
          </a:p>
          <a:p>
            <a:pPr lvl="1"/>
            <a:r>
              <a:rPr lang="en-US" sz="2200" dirty="0" err="1" smtClean="0"/>
              <a:t>Textarea</a:t>
            </a:r>
            <a:r>
              <a:rPr lang="en-US" sz="2200" dirty="0" smtClean="0"/>
              <a:t> </a:t>
            </a:r>
            <a:r>
              <a:rPr lang="en-US" sz="2200" dirty="0"/>
              <a:t>and its rows and cols attributes</a:t>
            </a:r>
          </a:p>
          <a:p>
            <a:pPr lvl="1"/>
            <a:r>
              <a:rPr lang="en-US" sz="2200" dirty="0" smtClean="0"/>
              <a:t>Button types: submit, reset, button</a:t>
            </a:r>
          </a:p>
          <a:p>
            <a:pPr lvl="1"/>
            <a:r>
              <a:rPr lang="en-US" sz="2200" dirty="0" smtClean="0"/>
              <a:t>Using button as input field</a:t>
            </a:r>
          </a:p>
          <a:p>
            <a:pPr lvl="1"/>
            <a:r>
              <a:rPr lang="en-US" sz="2200" dirty="0" smtClean="0"/>
              <a:t>HTML 5 input types: </a:t>
            </a:r>
            <a:r>
              <a:rPr lang="en-US" sz="2200" dirty="0" err="1" smtClean="0"/>
              <a:t>url</a:t>
            </a:r>
            <a:r>
              <a:rPr lang="en-US" sz="2200" dirty="0" smtClean="0"/>
              <a:t>, date, and email [practice in lab]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00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Form Attributes</a:t>
            </a:r>
          </a:p>
          <a:p>
            <a:pPr lvl="1"/>
            <a:r>
              <a:rPr lang="en-US" sz="2400" b="1" dirty="0" smtClean="0"/>
              <a:t>action</a:t>
            </a:r>
          </a:p>
          <a:p>
            <a:pPr lvl="1"/>
            <a:r>
              <a:rPr lang="en-US" sz="2400" b="1" dirty="0" smtClean="0"/>
              <a:t>method</a:t>
            </a:r>
            <a:endParaRPr lang="en-US" sz="2400" dirty="0" smtClean="0"/>
          </a:p>
          <a:p>
            <a:r>
              <a:rPr lang="en-US" sz="2800" dirty="0" smtClean="0"/>
              <a:t>Difference between </a:t>
            </a:r>
            <a:r>
              <a:rPr lang="en-US" sz="2800" b="1" dirty="0" smtClean="0"/>
              <a:t>GET</a:t>
            </a:r>
            <a:r>
              <a:rPr lang="en-US" sz="2800" dirty="0" smtClean="0"/>
              <a:t> and </a:t>
            </a:r>
            <a:r>
              <a:rPr lang="en-US" sz="2800" b="1" dirty="0" smtClean="0"/>
              <a:t>POST</a:t>
            </a:r>
          </a:p>
          <a:p>
            <a:endParaRPr lang="en-US" sz="2800" b="1" dirty="0" smtClean="0"/>
          </a:p>
          <a:p>
            <a:r>
              <a:rPr lang="en-US" sz="2800" dirty="0" smtClean="0"/>
              <a:t>Making already filled form </a:t>
            </a:r>
            <a:r>
              <a:rPr lang="en-US" sz="2800" dirty="0"/>
              <a:t>(or update form</a:t>
            </a:r>
            <a:r>
              <a:rPr lang="en-US" sz="2800" dirty="0" smtClean="0"/>
              <a:t>)</a:t>
            </a:r>
          </a:p>
          <a:p>
            <a:pPr lvl="1"/>
            <a:r>
              <a:rPr lang="en-US" sz="2400" dirty="0" smtClean="0"/>
              <a:t>User Experience (UX) Tip: Never ask to update a property without showing current value of that, except password.</a:t>
            </a:r>
          </a:p>
        </p:txBody>
      </p:sp>
    </p:spTree>
    <p:extLst>
      <p:ext uri="{BB962C8B-B14F-4D97-AF65-F5344CB8AC3E}">
        <p14:creationId xmlns:p14="http://schemas.microsoft.com/office/powerpoint/2010/main" xmlns="" val="51230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896634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4267200"/>
            <a:ext cx="4621338" cy="22860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 smtClean="0"/>
              <a:t>Styling Forms</a:t>
            </a:r>
            <a:endParaRPr lang="en-US" b="1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828800"/>
            <a:ext cx="3429000" cy="328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600200"/>
            <a:ext cx="5221454" cy="40386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Submit the Form</a:t>
            </a:r>
            <a:endParaRPr lang="en-US" b="1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1371600"/>
            <a:ext cx="9144000" cy="458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Submit with Empty Value</a:t>
            </a:r>
            <a:endParaRPr lang="en-US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9144000" cy="492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Value &amp; Required Attribute </a:t>
            </a:r>
            <a:r>
              <a:rPr lang="en-US" b="1" smtClean="0"/>
              <a:t/>
            </a:r>
            <a:br>
              <a:rPr lang="en-US" b="1" smtClean="0"/>
            </a:br>
            <a:r>
              <a:rPr lang="en-US" b="1" smtClean="0"/>
              <a:t>HTML </a:t>
            </a:r>
            <a:r>
              <a:rPr lang="en-US" b="1" dirty="0" smtClean="0"/>
              <a:t>5 Input Types</a:t>
            </a:r>
            <a:endParaRPr lang="en-US" b="1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91785"/>
            <a:ext cx="7391400" cy="523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Form Output</a:t>
            </a:r>
            <a:endParaRPr lang="en-US" b="1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170423"/>
            <a:ext cx="4572000" cy="554755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175609"/>
            <a:ext cx="4572000" cy="120564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2895600"/>
            <a:ext cx="4572000" cy="14478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4876800"/>
            <a:ext cx="4572000" cy="15528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Radio and Checkbox fields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6425442" cy="553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Form Output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926"/>
          <a:stretch>
            <a:fillRect/>
          </a:stretch>
        </p:blipFill>
        <p:spPr bwMode="auto">
          <a:xfrm>
            <a:off x="152400" y="1524000"/>
            <a:ext cx="4331903" cy="36576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t="11777"/>
          <a:stretch>
            <a:fillRect/>
          </a:stretch>
        </p:blipFill>
        <p:spPr bwMode="auto">
          <a:xfrm>
            <a:off x="4724400" y="1524000"/>
            <a:ext cx="4231453" cy="36576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Radio &amp; Checkbox Form Submitted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59365"/>
            <a:ext cx="8153400" cy="408423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928" y="990600"/>
            <a:ext cx="7756072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Form Submitted with Value Attr.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b="85714"/>
          <a:stretch>
            <a:fillRect/>
          </a:stretch>
        </p:blipFill>
        <p:spPr bwMode="auto">
          <a:xfrm>
            <a:off x="377398" y="6324600"/>
            <a:ext cx="8309402" cy="5334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Option List and Text Area fields 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5943600" cy="5327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Option List and Text Area - Output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 l="6054" t="20740" b="31111"/>
          <a:stretch>
            <a:fillRect/>
          </a:stretch>
        </p:blipFill>
        <p:spPr bwMode="auto">
          <a:xfrm>
            <a:off x="1" y="6019800"/>
            <a:ext cx="9144000" cy="3810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0" y="1676400"/>
            <a:ext cx="3733800" cy="37338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1676400"/>
            <a:ext cx="3624340" cy="37338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Pre-Selected Option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763313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724400"/>
            <a:ext cx="5562600" cy="104417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Options with Custom Value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802767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5427453"/>
            <a:ext cx="7848600" cy="59234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Hidden Input Field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646281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Hidden Input Field – Form Submit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73833" y="1932245"/>
            <a:ext cx="4045767" cy="251460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1932245"/>
            <a:ext cx="3905954" cy="254122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5285045"/>
            <a:ext cx="8686800" cy="582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Using Submit Button as Input Field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If we do not specify name of submit button, no value is sent to server.</a:t>
            </a:r>
          </a:p>
          <a:p>
            <a:r>
              <a:rPr lang="en-US" sz="3600" dirty="0" smtClean="0"/>
              <a:t>If we specify </a:t>
            </a:r>
            <a:r>
              <a:rPr lang="en-US" sz="3600" b="1" i="1" dirty="0" smtClean="0"/>
              <a:t>name </a:t>
            </a:r>
            <a:r>
              <a:rPr lang="en-US" sz="3600" dirty="0" smtClean="0"/>
              <a:t>of submit button, ‘</a:t>
            </a:r>
            <a:r>
              <a:rPr lang="en-US" sz="3600" b="1" dirty="0" smtClean="0"/>
              <a:t>submit</a:t>
            </a:r>
            <a:r>
              <a:rPr lang="en-US" sz="3600" dirty="0" smtClean="0"/>
              <a:t>’ is sent as default value.</a:t>
            </a:r>
          </a:p>
          <a:p>
            <a:r>
              <a:rPr lang="en-US" sz="3600" dirty="0" smtClean="0"/>
              <a:t>If there are multiple submit buttons, only the clicked buttons’ param-name and value is sent to server.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Submit Type Button as Input Field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t="2564"/>
          <a:stretch>
            <a:fillRect/>
          </a:stretch>
        </p:blipFill>
        <p:spPr bwMode="auto">
          <a:xfrm>
            <a:off x="547619" y="1447800"/>
            <a:ext cx="6919981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495800"/>
            <a:ext cx="322118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1320" y="4572000"/>
            <a:ext cx="312928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6096000"/>
            <a:ext cx="8169092" cy="68580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324600" y="1600200"/>
            <a:ext cx="2286000" cy="1219200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Name is required, to use submit type as request parameter. Value is optional.</a:t>
            </a:r>
            <a:endParaRPr lang="en-US" dirty="0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4343400" y="2819400"/>
            <a:ext cx="1981200" cy="5334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Reset Button &amp; Standard Button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7645249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4736476"/>
            <a:ext cx="3768019" cy="181672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Tables and Lists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Table </a:t>
            </a:r>
          </a:p>
          <a:p>
            <a:pPr lvl="1"/>
            <a:r>
              <a:rPr lang="en-US" sz="2400" dirty="0" smtClean="0"/>
              <a:t>Table row, data</a:t>
            </a:r>
          </a:p>
          <a:p>
            <a:pPr lvl="1"/>
            <a:r>
              <a:rPr lang="en-US" sz="2400" dirty="0" smtClean="0"/>
              <a:t>Attributes: border,  width</a:t>
            </a:r>
          </a:p>
          <a:p>
            <a:pPr lvl="1"/>
            <a:r>
              <a:rPr lang="en-US" sz="2400" dirty="0" smtClean="0"/>
              <a:t>Cells spanning multiple rows: </a:t>
            </a:r>
            <a:r>
              <a:rPr lang="en-US" sz="2400" dirty="0" err="1" smtClean="0"/>
              <a:t>rowspan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Cells spanning multiple columns: </a:t>
            </a:r>
            <a:r>
              <a:rPr lang="en-US" sz="2400" dirty="0" err="1" smtClean="0"/>
              <a:t>colspan</a:t>
            </a:r>
            <a:endParaRPr lang="en-US" sz="2400" dirty="0" smtClean="0"/>
          </a:p>
          <a:p>
            <a:pPr lvl="1"/>
            <a:r>
              <a:rPr lang="en-US" sz="2400" dirty="0" smtClean="0"/>
              <a:t>Making table: caption, head, body, footer </a:t>
            </a:r>
            <a:br>
              <a:rPr lang="en-US" sz="2400" dirty="0" smtClean="0"/>
            </a:br>
            <a:r>
              <a:rPr lang="en-US" sz="2400" dirty="0" smtClean="0"/>
              <a:t>	caption, </a:t>
            </a:r>
            <a:r>
              <a:rPr lang="en-US" sz="2400" dirty="0" err="1" smtClean="0"/>
              <a:t>thead</a:t>
            </a:r>
            <a:r>
              <a:rPr lang="en-US" sz="2400" dirty="0"/>
              <a:t>, </a:t>
            </a:r>
            <a:r>
              <a:rPr lang="en-US" sz="2400" dirty="0" err="1" smtClean="0"/>
              <a:t>tr</a:t>
            </a:r>
            <a:r>
              <a:rPr lang="en-US" sz="2400" dirty="0" smtClean="0"/>
              <a:t>, </a:t>
            </a:r>
            <a:r>
              <a:rPr lang="en-US" sz="2400" dirty="0" err="1" smtClean="0"/>
              <a:t>th</a:t>
            </a:r>
            <a:r>
              <a:rPr lang="en-US" sz="2400" dirty="0" smtClean="0"/>
              <a:t>, </a:t>
            </a:r>
            <a:r>
              <a:rPr lang="en-US" sz="2400" dirty="0" err="1" smtClean="0"/>
              <a:t>tbody</a:t>
            </a:r>
            <a:r>
              <a:rPr lang="en-US" sz="2400" dirty="0"/>
              <a:t>, </a:t>
            </a:r>
            <a:r>
              <a:rPr lang="en-US" sz="2400" dirty="0" smtClean="0"/>
              <a:t> td, </a:t>
            </a:r>
            <a:r>
              <a:rPr lang="en-US" sz="2400" dirty="0" err="1" smtClean="0"/>
              <a:t>tfoot</a:t>
            </a:r>
            <a:r>
              <a:rPr lang="en-US" sz="2400" dirty="0" smtClean="0"/>
              <a:t> tags</a:t>
            </a:r>
          </a:p>
          <a:p>
            <a:r>
              <a:rPr lang="en-US" sz="2800" b="1" dirty="0" smtClean="0"/>
              <a:t>Lists</a:t>
            </a:r>
          </a:p>
          <a:p>
            <a:pPr lvl="1"/>
            <a:r>
              <a:rPr lang="en-US" sz="2400" dirty="0" smtClean="0"/>
              <a:t>Ordered list (type:1,A,a,I,i)</a:t>
            </a:r>
          </a:p>
          <a:p>
            <a:pPr lvl="1"/>
            <a:r>
              <a:rPr lang="en-US" sz="2400" dirty="0" smtClean="0"/>
              <a:t>Unordered list (type: disc, circle, square, none)</a:t>
            </a:r>
          </a:p>
          <a:p>
            <a:pPr lvl="1"/>
            <a:r>
              <a:rPr lang="en-US" sz="2400" dirty="0" smtClean="0"/>
              <a:t>List Items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Block Elements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Basic info and default properties</a:t>
            </a:r>
          </a:p>
          <a:p>
            <a:pPr lvl="1"/>
            <a:r>
              <a:rPr lang="en-US" sz="3200" dirty="0" smtClean="0"/>
              <a:t>Occupy 100% of available width</a:t>
            </a:r>
          </a:p>
          <a:p>
            <a:pPr lvl="1"/>
            <a:r>
              <a:rPr lang="en-US" sz="3200" dirty="0" smtClean="0"/>
              <a:t>Auto shift subsequent elements in next row</a:t>
            </a:r>
          </a:p>
          <a:p>
            <a:pPr lvl="2"/>
            <a:r>
              <a:rPr lang="en-US" dirty="0"/>
              <a:t>Examples: Headings, Paragraphs, div, </a:t>
            </a:r>
            <a:r>
              <a:rPr lang="en-US" dirty="0" err="1"/>
              <a:t>ul</a:t>
            </a:r>
            <a:r>
              <a:rPr lang="en-US" dirty="0"/>
              <a:t>, etc. </a:t>
            </a:r>
          </a:p>
          <a:p>
            <a:pPr lvl="1"/>
            <a:r>
              <a:rPr lang="en-US" sz="3200" dirty="0" smtClean="0"/>
              <a:t>Are sizeable e.g. width, height, etc.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71604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Inline Elements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Inline: </a:t>
            </a:r>
            <a:r>
              <a:rPr lang="en-US" dirty="0" smtClean="0"/>
              <a:t>span, a</a:t>
            </a:r>
          </a:p>
          <a:p>
            <a:pPr lvl="1"/>
            <a:r>
              <a:rPr lang="en-US" dirty="0" smtClean="0"/>
              <a:t>Occupy space </a:t>
            </a:r>
            <a:r>
              <a:rPr lang="en-US" b="1" dirty="0" smtClean="0"/>
              <a:t>as per their contents</a:t>
            </a:r>
          </a:p>
          <a:p>
            <a:pPr lvl="1"/>
            <a:r>
              <a:rPr lang="en-US" dirty="0" smtClean="0"/>
              <a:t>Do not shift other elements in new line. Fit inside other contents e.g. span in p or div</a:t>
            </a:r>
          </a:p>
          <a:p>
            <a:pPr lvl="1"/>
            <a:r>
              <a:rPr lang="en-US" dirty="0" smtClean="0"/>
              <a:t>We can’t apply width, height properties on inline elements (unless we change them to block, or … )</a:t>
            </a:r>
          </a:p>
        </p:txBody>
      </p:sp>
    </p:spTree>
    <p:extLst>
      <p:ext uri="{BB962C8B-B14F-4D97-AF65-F5344CB8AC3E}">
        <p14:creationId xmlns:p14="http://schemas.microsoft.com/office/powerpoint/2010/main" xmlns="" val="158873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HTML5 Semantic Tags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div</a:t>
            </a:r>
            <a:r>
              <a:rPr lang="en-US" dirty="0" smtClean="0"/>
              <a:t> and </a:t>
            </a:r>
            <a:r>
              <a:rPr lang="en-US" b="1" dirty="0" smtClean="0"/>
              <a:t>span</a:t>
            </a:r>
            <a:r>
              <a:rPr lang="en-US" dirty="0" smtClean="0"/>
              <a:t> tag – non semantic</a:t>
            </a:r>
          </a:p>
          <a:p>
            <a:r>
              <a:rPr lang="en-US" dirty="0" smtClean="0"/>
              <a:t>Using semantic tag is good practice from </a:t>
            </a:r>
            <a:r>
              <a:rPr lang="en-US" b="1" dirty="0" smtClean="0"/>
              <a:t>SEO</a:t>
            </a:r>
            <a:r>
              <a:rPr lang="en-US" dirty="0" smtClean="0"/>
              <a:t> perspective. We are clearly representing what our container carry inside it.</a:t>
            </a:r>
          </a:p>
          <a:p>
            <a:r>
              <a:rPr lang="en-US" dirty="0" smtClean="0"/>
              <a:t>Some HTML 5 Semantic Tags:</a:t>
            </a:r>
          </a:p>
          <a:p>
            <a:pPr lvl="1"/>
            <a:r>
              <a:rPr lang="en-US" dirty="0" smtClean="0"/>
              <a:t>header</a:t>
            </a:r>
          </a:p>
          <a:p>
            <a:pPr lvl="1"/>
            <a:r>
              <a:rPr lang="en-US" dirty="0" err="1" smtClean="0"/>
              <a:t>nav</a:t>
            </a:r>
            <a:endParaRPr lang="en-US" dirty="0" smtClean="0"/>
          </a:p>
          <a:p>
            <a:pPr lvl="1"/>
            <a:r>
              <a:rPr lang="en-US" dirty="0" smtClean="0"/>
              <a:t>main, section, article</a:t>
            </a:r>
          </a:p>
          <a:p>
            <a:pPr lvl="1"/>
            <a:r>
              <a:rPr lang="en-US" dirty="0" smtClean="0"/>
              <a:t>aside</a:t>
            </a:r>
          </a:p>
          <a:p>
            <a:pPr lvl="1"/>
            <a:r>
              <a:rPr lang="en-US" dirty="0" smtClean="0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967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HTML Head Tag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Contains information about page, external attached documents, icons, styles, scripts, etc. </a:t>
            </a:r>
          </a:p>
          <a:p>
            <a:r>
              <a:rPr lang="en-US" dirty="0" smtClean="0"/>
              <a:t>Different tags are used to describe such info:</a:t>
            </a:r>
          </a:p>
          <a:p>
            <a:pPr lvl="1"/>
            <a:r>
              <a:rPr lang="en-US" b="1" dirty="0" smtClean="0"/>
              <a:t>Meta</a:t>
            </a:r>
            <a:r>
              <a:rPr lang="en-US" dirty="0" smtClean="0"/>
              <a:t> – Different type of info. about the web page.</a:t>
            </a:r>
          </a:p>
          <a:p>
            <a:pPr lvl="1"/>
            <a:r>
              <a:rPr lang="en-US" b="1" dirty="0" smtClean="0"/>
              <a:t>Title</a:t>
            </a:r>
            <a:r>
              <a:rPr lang="en-US" dirty="0" smtClean="0"/>
              <a:t> – Page title </a:t>
            </a:r>
          </a:p>
          <a:p>
            <a:pPr lvl="1"/>
            <a:r>
              <a:rPr lang="en-US" b="1" dirty="0" smtClean="0"/>
              <a:t>Style</a:t>
            </a:r>
            <a:r>
              <a:rPr lang="en-US" dirty="0" smtClean="0"/>
              <a:t> – Define styling </a:t>
            </a:r>
          </a:p>
          <a:p>
            <a:pPr lvl="1"/>
            <a:r>
              <a:rPr lang="en-US" b="1" dirty="0" smtClean="0"/>
              <a:t>Link</a:t>
            </a:r>
            <a:r>
              <a:rPr lang="en-US" dirty="0" smtClean="0"/>
              <a:t> – Link external CSS file</a:t>
            </a:r>
          </a:p>
          <a:p>
            <a:pPr lvl="1"/>
            <a:r>
              <a:rPr lang="en-US" b="1" dirty="0" smtClean="0"/>
              <a:t>Script</a:t>
            </a:r>
            <a:r>
              <a:rPr lang="en-US" dirty="0" smtClean="0"/>
              <a:t> – Link external JS or write JS code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0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Structured Data (Skip this. We would see in SEO Lecture)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In addition to basic on-page SEO strategies. We can further improve our website SEO by incorporating structured data. The Structured Data term is used to further annotate a webpage using standard vocabularies that search engines understand. It help machines e.g. search engines, to precisely understand our webpage.</a:t>
            </a:r>
          </a:p>
          <a:p>
            <a:r>
              <a:rPr lang="en-US" sz="1800" dirty="0" smtClean="0"/>
              <a:t>Common standards to provide structured data about our webpage includes: JSON-LD, </a:t>
            </a:r>
            <a:r>
              <a:rPr lang="en-US" sz="1800" dirty="0" err="1" smtClean="0"/>
              <a:t>MicroData</a:t>
            </a:r>
            <a:r>
              <a:rPr lang="en-US" sz="1800" dirty="0" smtClean="0"/>
              <a:t> and </a:t>
            </a:r>
            <a:r>
              <a:rPr lang="en-US" sz="1800" dirty="0" err="1" smtClean="0"/>
              <a:t>RDFa</a:t>
            </a:r>
            <a:r>
              <a:rPr lang="en-US" sz="1800" dirty="0" smtClean="0"/>
              <a:t>. Google Recommend using </a:t>
            </a:r>
            <a:r>
              <a:rPr lang="en-US" sz="1800" b="1" dirty="0" smtClean="0"/>
              <a:t>JSON-LD</a:t>
            </a:r>
            <a:r>
              <a:rPr lang="en-US" sz="1800" dirty="0" smtClean="0"/>
              <a:t>. JSON-LD and </a:t>
            </a:r>
            <a:r>
              <a:rPr lang="en-US" sz="1800" dirty="0" err="1" smtClean="0"/>
              <a:t>MicroData</a:t>
            </a:r>
            <a:r>
              <a:rPr lang="en-US" sz="1800" dirty="0" smtClean="0"/>
              <a:t>, both make use of common vocabulary published at schema.org.</a:t>
            </a:r>
          </a:p>
          <a:p>
            <a:endParaRPr lang="en-US" sz="1800" dirty="0" smtClean="0"/>
          </a:p>
          <a:p>
            <a:r>
              <a:rPr lang="en-US" sz="1800" dirty="0"/>
              <a:t>Visit </a:t>
            </a:r>
            <a:r>
              <a:rPr lang="en-US" sz="1800" dirty="0">
                <a:hlinkClick r:id="rId2"/>
              </a:rPr>
              <a:t>https://</a:t>
            </a:r>
            <a:r>
              <a:rPr lang="en-US" sz="1800" dirty="0" smtClean="0">
                <a:hlinkClick r:id="rId2"/>
              </a:rPr>
              <a:t>developers.google.com/search/docs/guides/intro-structured-data</a:t>
            </a:r>
            <a:r>
              <a:rPr lang="en-US" sz="1800" dirty="0" smtClean="0"/>
              <a:t> to get basic understanding how we can use JSON-LD.</a:t>
            </a:r>
            <a:br>
              <a:rPr lang="en-US" sz="1800" dirty="0" smtClean="0"/>
            </a:br>
            <a:endParaRPr lang="en-US" sz="1800" dirty="0" smtClean="0"/>
          </a:p>
          <a:p>
            <a:r>
              <a:rPr lang="en-US" sz="1800" dirty="0"/>
              <a:t>Visit </a:t>
            </a:r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www.tutorialspoint.com/html5/html5_microdata.htm</a:t>
            </a:r>
            <a:r>
              <a:rPr lang="en-US" sz="1800" dirty="0" smtClean="0"/>
              <a:t> to get basic understanding how </a:t>
            </a:r>
            <a:r>
              <a:rPr lang="en-US" sz="1800" dirty="0" err="1" smtClean="0"/>
              <a:t>MicroData</a:t>
            </a:r>
            <a:r>
              <a:rPr lang="en-US" sz="1800" dirty="0" smtClean="0"/>
              <a:t> is used. Here is </a:t>
            </a:r>
            <a:r>
              <a:rPr lang="en-US" sz="1800" dirty="0"/>
              <a:t>the reference docs: </a:t>
            </a:r>
            <a:r>
              <a:rPr lang="en-US" sz="1800" dirty="0">
                <a:hlinkClick r:id="rId4"/>
              </a:rPr>
              <a:t>https://www.w3.org/TR/microdata</a:t>
            </a:r>
            <a:r>
              <a:rPr lang="en-US" sz="1800" dirty="0" smtClean="0">
                <a:hlinkClick r:id="rId4"/>
              </a:rPr>
              <a:t>/</a:t>
            </a:r>
            <a:r>
              <a:rPr lang="en-US" sz="18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49818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Practice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Explore iframe, video and audio tags to embed different type of contents. Must explore different attributes of these tags in detail.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sz="2400" dirty="0" smtClean="0"/>
              <a:t>Table, </a:t>
            </a:r>
            <a:r>
              <a:rPr lang="en-US" sz="2400" dirty="0" err="1" smtClean="0"/>
              <a:t>thead</a:t>
            </a:r>
            <a:r>
              <a:rPr lang="en-US" sz="2400" dirty="0" smtClean="0"/>
              <a:t>, </a:t>
            </a:r>
            <a:r>
              <a:rPr lang="en-US" sz="2400" dirty="0" err="1" smtClean="0"/>
              <a:t>tr</a:t>
            </a:r>
            <a:r>
              <a:rPr lang="en-US" sz="2400" dirty="0" smtClean="0"/>
              <a:t>, </a:t>
            </a:r>
            <a:r>
              <a:rPr lang="en-US" sz="2400" dirty="0" err="1" smtClean="0"/>
              <a:t>th</a:t>
            </a:r>
            <a:r>
              <a:rPr lang="en-US" sz="2400" dirty="0" smtClean="0"/>
              <a:t>, td</a:t>
            </a:r>
          </a:p>
          <a:p>
            <a:pPr lvl="1"/>
            <a:r>
              <a:rPr lang="en-US" sz="2400" dirty="0" smtClean="0"/>
              <a:t>"Iframes </a:t>
            </a:r>
            <a:r>
              <a:rPr lang="en-US" sz="2400" dirty="0"/>
              <a:t>in detail" section from </a:t>
            </a:r>
            <a:r>
              <a:rPr lang="en-US" sz="2400" dirty="0" smtClean="0">
                <a:hlinkClick r:id="rId2"/>
              </a:rPr>
              <a:t>http://t.ly/Od0Gl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Audio and video tags. Visit </a:t>
            </a:r>
            <a:r>
              <a:rPr lang="en-US" sz="2400" dirty="0" smtClean="0">
                <a:hlinkClick r:id="rId3"/>
              </a:rPr>
              <a:t>http://t.ly/NZEdW</a:t>
            </a:r>
            <a:endParaRPr lang="en-US" sz="2400" dirty="0" smtClean="0"/>
          </a:p>
          <a:p>
            <a:pPr lvl="1"/>
            <a:r>
              <a:rPr lang="en-US" sz="2400" dirty="0" err="1" smtClean="0"/>
              <a:t>ol</a:t>
            </a:r>
            <a:r>
              <a:rPr lang="en-US" sz="2400" dirty="0" smtClean="0"/>
              <a:t>, </a:t>
            </a:r>
            <a:r>
              <a:rPr lang="en-US" sz="2400" dirty="0" err="1" smtClean="0"/>
              <a:t>ul</a:t>
            </a:r>
            <a:r>
              <a:rPr lang="en-US" sz="2400" dirty="0" smtClean="0"/>
              <a:t>, </a:t>
            </a:r>
            <a:r>
              <a:rPr lang="en-US" sz="2400" dirty="0" err="1" smtClean="0"/>
              <a:t>li</a:t>
            </a:r>
            <a:r>
              <a:rPr lang="en-US" sz="2400" dirty="0" smtClean="0"/>
              <a:t> etc.</a:t>
            </a:r>
          </a:p>
          <a:p>
            <a:pPr lvl="1"/>
            <a:r>
              <a:rPr lang="en-US" sz="2400" dirty="0" smtClean="0"/>
              <a:t>cite, </a:t>
            </a:r>
            <a:r>
              <a:rPr lang="en-US" sz="2400" dirty="0" err="1" smtClean="0"/>
              <a:t>abbr</a:t>
            </a:r>
            <a:r>
              <a:rPr lang="en-US" sz="2400" dirty="0" smtClean="0"/>
              <a:t>, address, q (explore using in lab)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r>
              <a:rPr lang="en-US" sz="2800" dirty="0" smtClean="0"/>
              <a:t>Make code samples using these tags. The code samples must illustrate the usage of different attributes of these tags.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52776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10369</TotalTime>
  <Words>1273</Words>
  <Application>Microsoft Office PowerPoint</Application>
  <PresentationFormat>On-screen Show (4:3)</PresentationFormat>
  <Paragraphs>176</Paragraphs>
  <Slides>40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HTML Hyper Text Markup Language   By: Asif Shahzad</vt:lpstr>
      <vt:lpstr>What is HTML?</vt:lpstr>
      <vt:lpstr>HTML Basic Tags Demo</vt:lpstr>
      <vt:lpstr>Web Page, Tag and Attributes</vt:lpstr>
      <vt:lpstr>HTML Tags … Continue</vt:lpstr>
      <vt:lpstr>Meta Tags  Page Character Encoding</vt:lpstr>
      <vt:lpstr>Meta Tag - description</vt:lpstr>
      <vt:lpstr>Meta Tag – Open Graph</vt:lpstr>
      <vt:lpstr>Social Sites Use Meta Tag for URL, Title, Description and Image</vt:lpstr>
      <vt:lpstr>dir (Direction) Attribute</vt:lpstr>
      <vt:lpstr>Link</vt:lpstr>
      <vt:lpstr>Img tag</vt:lpstr>
      <vt:lpstr>Forms</vt:lpstr>
      <vt:lpstr>Forms</vt:lpstr>
      <vt:lpstr>Slide 15</vt:lpstr>
      <vt:lpstr>Styling Forms</vt:lpstr>
      <vt:lpstr>Submit the Form</vt:lpstr>
      <vt:lpstr>Submit with Empty Value</vt:lpstr>
      <vt:lpstr>Value &amp; Required Attribute  HTML 5 Input Types</vt:lpstr>
      <vt:lpstr>Form Output</vt:lpstr>
      <vt:lpstr>Radio and Checkbox fields</vt:lpstr>
      <vt:lpstr>Form Output</vt:lpstr>
      <vt:lpstr>Radio &amp; Checkbox Form Submitted</vt:lpstr>
      <vt:lpstr>Form Submitted with Value Attr.</vt:lpstr>
      <vt:lpstr>Option List and Text Area fields </vt:lpstr>
      <vt:lpstr>Option List and Text Area - Output</vt:lpstr>
      <vt:lpstr>Pre-Selected Option</vt:lpstr>
      <vt:lpstr>Options with Custom Value</vt:lpstr>
      <vt:lpstr>Hidden Input Field</vt:lpstr>
      <vt:lpstr>Hidden Input Field – Form Submit</vt:lpstr>
      <vt:lpstr>Using Submit Button as Input Field</vt:lpstr>
      <vt:lpstr>Submit Type Button as Input Field</vt:lpstr>
      <vt:lpstr>Reset Button &amp; Standard Button</vt:lpstr>
      <vt:lpstr>Tables and Lists</vt:lpstr>
      <vt:lpstr>Block Elements</vt:lpstr>
      <vt:lpstr>Inline Elements</vt:lpstr>
      <vt:lpstr>HTML5 Semantic Tags</vt:lpstr>
      <vt:lpstr>HTML Head Tag</vt:lpstr>
      <vt:lpstr>Structured Data (Skip this. We would see in SEO Lecture)</vt:lpstr>
      <vt:lpstr>Practice Task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Asif</dc:creator>
  <cp:lastModifiedBy>Lenovo</cp:lastModifiedBy>
  <cp:revision>780</cp:revision>
  <dcterms:created xsi:type="dcterms:W3CDTF">2006-08-16T00:00:00Z</dcterms:created>
  <dcterms:modified xsi:type="dcterms:W3CDTF">2025-02-10T10:48:01Z</dcterms:modified>
</cp:coreProperties>
</file>