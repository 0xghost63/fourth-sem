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4" r:id="rId4"/>
    <p:sldId id="262" r:id="rId5"/>
    <p:sldId id="257" r:id="rId6"/>
    <p:sldId id="276" r:id="rId7"/>
    <p:sldId id="277" r:id="rId8"/>
    <p:sldId id="258" r:id="rId9"/>
    <p:sldId id="268" r:id="rId10"/>
    <p:sldId id="285" r:id="rId11"/>
    <p:sldId id="286" r:id="rId12"/>
    <p:sldId id="287" r:id="rId13"/>
    <p:sldId id="288" r:id="rId14"/>
    <p:sldId id="289" r:id="rId15"/>
    <p:sldId id="284" r:id="rId16"/>
    <p:sldId id="283" r:id="rId17"/>
    <p:sldId id="290" r:id="rId18"/>
    <p:sldId id="291" r:id="rId19"/>
    <p:sldId id="292" r:id="rId20"/>
    <p:sldId id="293" r:id="rId21"/>
    <p:sldId id="281" r:id="rId22"/>
    <p:sldId id="294" r:id="rId23"/>
    <p:sldId id="302" r:id="rId24"/>
    <p:sldId id="303" r:id="rId25"/>
    <p:sldId id="295" r:id="rId26"/>
    <p:sldId id="296" r:id="rId27"/>
    <p:sldId id="297" r:id="rId28"/>
    <p:sldId id="298" r:id="rId29"/>
    <p:sldId id="299" r:id="rId30"/>
    <p:sldId id="300" r:id="rId31"/>
    <p:sldId id="301" r:id="rId32"/>
  </p:sldIdLst>
  <p:sldSz cx="9144000" cy="6858000" type="screen4x3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000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2273" autoAdjust="0"/>
    <p:restoredTop sz="94648" autoAdjust="0"/>
  </p:normalViewPr>
  <p:slideViewPr>
    <p:cSldViewPr>
      <p:cViewPr varScale="1">
        <p:scale>
          <a:sx n="121" d="100"/>
          <a:sy n="121" d="100"/>
        </p:scale>
        <p:origin x="-15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6E04FB74-FB90-4AC1-92DC-18CCFE95386D}" type="datetimeFigureOut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9DB66141-A2FF-4D6B-B59A-328A85CB7E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671888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165729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Block and inline</a:t>
            </a:r>
            <a:r>
              <a:rPr lang="en-US" baseline="0" dirty="0" smtClean="0"/>
              <a:t> elements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35457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TODO: add</a:t>
            </a:r>
            <a:r>
              <a:rPr lang="en-US" baseline="0" dirty="0" smtClean="0"/>
              <a:t>ing external font and units details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303740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To-do</a:t>
            </a:r>
            <a:r>
              <a:rPr lang="en-US" baseline="0" dirty="0" smtClean="0"/>
              <a:t>: add slide to show it graphically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3006962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To-do</a:t>
            </a:r>
            <a:r>
              <a:rPr lang="en-US" baseline="0" dirty="0" smtClean="0"/>
              <a:t>: add slide to show where positioning is useful, graphically.</a:t>
            </a:r>
          </a:p>
          <a:p>
            <a:r>
              <a:rPr lang="en-US" baseline="0" dirty="0" smtClean="0"/>
              <a:t>Absolute and fixed positioned elements 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loses the dimension. We need to give </a:t>
            </a:r>
            <a:r>
              <a:rPr lang="en-US" dirty="0" smtClean="0"/>
              <a:t>width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</a:t>
            </a:r>
            <a:r>
              <a:rPr lang="en-US" dirty="0" smtClean="0"/>
              <a:t>height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67626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https://projects.verou.me/css3patterns/#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042327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3357450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style types:</a:t>
            </a:r>
            <a:r>
              <a:rPr lang="en-US" baseline="0" dirty="0" smtClean="0"/>
              <a:t> http://www.w3schools.com/cssref/pr_list-style-type.asp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06501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57300" y="720725"/>
            <a:ext cx="48006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Other style types:</a:t>
            </a:r>
            <a:r>
              <a:rPr lang="en-US" baseline="0" dirty="0" smtClean="0"/>
              <a:t> http://www.w3schools.com/cssref/pr_list-style-type.asp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B66141-A2FF-4D6B-B59A-328A85CB7E6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05278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193E8C-7ED8-4993-9B0B-10F67B282F39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D66664-E368-408B-9944-9B9C124BDC15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1A6C51-17F8-4297-8D2B-97697E15ADF8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1257B-AC25-42F3-87AC-C956DA98B70D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04707-1134-45E4-84B7-4CD9B2490E74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E647E-5808-4FFC-A81C-ADA573589B50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D44EB-5380-41B7-81A5-E10AE57CE631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ED1F4-B585-4D46-AAB1-502300F3835A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AEFFD-3AF1-4007-BDFD-F7C2D2B4A083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CBBCF-C7A0-4489-A2B6-35C5E50AE1E7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6BE4D-72E5-4192-9716-9EEB72A525AF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B209CC-0840-4C66-BDE4-30081AAFC082}" type="datetime1">
              <a:rPr lang="en-US" smtClean="0"/>
              <a:pPr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Prepared By: Asif Shahzad, Assistant Professor, CUI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hromestatus.com/metrics/css/popularit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66801"/>
            <a:ext cx="7772400" cy="4572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</a:t>
            </a:r>
            <a:br>
              <a:rPr lang="en-US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Cascading Style Sheets</a:t>
            </a:r>
            <a:br>
              <a:rPr lang="en-US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en-US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By: Asif Shahzad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Introduction to CSS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768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 stands of Cascading Style 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Sheets, used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describe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presentation or styles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 web 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pages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e.g.:</a:t>
            </a:r>
          </a:p>
          <a:p>
            <a:pPr lvl="1"/>
            <a:r>
              <a:rPr lang="en-US" sz="1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Layout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color, </a:t>
            </a:r>
            <a:r>
              <a:rPr lang="en-US" sz="1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font, </a:t>
            </a:r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borders, paddings, etc</a:t>
            </a:r>
            <a:r>
              <a:rPr lang="en-US" sz="1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/>
            <a:r>
              <a:rPr lang="en-US" sz="18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Responsiveness</a:t>
            </a:r>
            <a:r>
              <a:rPr lang="en-US" sz="1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Mobile friendly user interfaces</a:t>
            </a:r>
          </a:p>
          <a:p>
            <a:pPr lvl="1"/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World Wide Web Consortium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W3C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develop and publish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 </a:t>
            </a:r>
            <a:r>
              <a:rPr lang="en-US" sz="20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Specifications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The specification is used by web </a:t>
            </a:r>
            <a:r>
              <a:rPr lang="en-US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browsers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0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publishers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20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developers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 can be embedded in 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HTML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page or attached as an external CSS file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b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000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much CSS one should know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depends on objective e.g. front end developer, backend developer, full stack developer.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Selectors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>
            <a:noAutofit/>
          </a:bodyPr>
          <a:lstStyle/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Rules/syntax to select page element/s to apply CSS properties. </a:t>
            </a:r>
            <a:endParaRPr lang="en-US" sz="2000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 structure to declare style or </a:t>
            </a:r>
            <a:r>
              <a:rPr lang="en-US" sz="20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 properties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selector {property1: value1; property2:value2</a:t>
            </a:r>
            <a:r>
              <a:rPr lang="en-US" sz="1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;…}</a:t>
            </a:r>
            <a:br>
              <a:rPr lang="en-US" sz="1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000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There </a:t>
            </a:r>
            <a:r>
              <a:rPr lang="en-US" sz="20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are three basic types of selectors:</a:t>
            </a:r>
            <a:br>
              <a:rPr lang="en-US" sz="20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0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	Tag Name, Tag ID, Tag </a:t>
            </a:r>
            <a:r>
              <a:rPr lang="en-US" sz="2000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Class</a:t>
            </a:r>
            <a:br>
              <a:rPr lang="en-US" sz="2000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0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Examples: 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 {color: red;}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#name {font-size:20px;}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.alpha {font-family: </a:t>
            </a:r>
            <a:r>
              <a:rPr lang="en-US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arial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;}</a:t>
            </a:r>
            <a:b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Some other selectors: nested/child, immediate 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child, universal, 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attribute, </a:t>
            </a:r>
            <a:r>
              <a:rPr lang="en-US" sz="20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pseudo classes, pseudo elements, etc</a:t>
            </a:r>
            <a:r>
              <a:rPr lang="en-US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to add CSS in HTML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724400"/>
          </a:xfrm>
        </p:spPr>
        <p:txBody>
          <a:bodyPr>
            <a:normAutofit fontScale="92500"/>
          </a:bodyPr>
          <a:lstStyle/>
          <a:p>
            <a: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 can be added to HTML page using following ways:</a:t>
            </a:r>
            <a:br>
              <a:rPr lang="en-US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US" dirty="0" smtClean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Inline 		Using </a:t>
            </a:r>
            <a:r>
              <a:rPr lang="en-US" b="1" dirty="0" smtClean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style</a:t>
            </a:r>
            <a:r>
              <a:rPr lang="en-US" dirty="0" smtClean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attribute of the element</a:t>
            </a:r>
          </a:p>
          <a:p>
            <a:pPr lvl="1"/>
            <a:endParaRPr lang="en-US" dirty="0" smtClean="0">
              <a:solidFill>
                <a:srgbClr val="0000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US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Internal	Using </a:t>
            </a:r>
            <a:r>
              <a:rPr lang="en-US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&lt;style&gt; </a:t>
            </a:r>
            <a:r>
              <a:rPr lang="en-US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element, 					usually in &lt;head&gt; section</a:t>
            </a:r>
          </a:p>
          <a:p>
            <a:pPr lvl="1"/>
            <a:endParaRPr lang="en-US" dirty="0" smtClean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/>
            <a:r>
              <a:rPr lang="en-US" dirty="0" smtClean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External 	Using external </a:t>
            </a:r>
            <a:r>
              <a:rPr lang="en-US" b="1" dirty="0" smtClean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</a:t>
            </a:r>
            <a:r>
              <a:rPr lang="en-US" dirty="0" smtClean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smtClean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file. </a:t>
            </a:r>
            <a:r>
              <a:rPr lang="en-US" dirty="0" smtClean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Link tag to 			used to attach external file.</a:t>
            </a:r>
            <a:endParaRPr lang="en-US" b="1" dirty="0">
              <a:solidFill>
                <a:srgbClr val="00B05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Properties for Color, Size, Font</a:t>
            </a:r>
            <a:endParaRPr lang="en-US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35957"/>
            <a:ext cx="4191000" cy="4144962"/>
          </a:xfrm>
        </p:spPr>
        <p:txBody>
          <a:bodyPr>
            <a:noAutofit/>
          </a:bodyPr>
          <a:lstStyle/>
          <a:p>
            <a:pPr marL="0" indent="0">
              <a:buNone/>
              <a:defRPr/>
            </a:pPr>
            <a:r>
              <a:rPr lang="en-US" sz="2800" b="1" dirty="0">
                <a:solidFill>
                  <a:srgbClr val="00B05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Color</a:t>
            </a:r>
          </a:p>
          <a:p>
            <a:pPr lvl="1" indent="-342900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solidFill>
                  <a:srgbClr val="00B05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Background-color</a:t>
            </a:r>
          </a:p>
          <a:p>
            <a:pPr lvl="1" indent="-342900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solidFill>
                  <a:srgbClr val="00B05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Color</a:t>
            </a:r>
          </a:p>
          <a:p>
            <a:pPr marL="685800" lvl="1">
              <a:defRPr/>
            </a:pPr>
            <a:endParaRPr lang="en-US" b="1" dirty="0" smtClean="0">
              <a:solidFill>
                <a:srgbClr val="00B05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 marL="0" indent="0">
              <a:buNone/>
              <a:defRPr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Size</a:t>
            </a:r>
          </a:p>
          <a:p>
            <a:pPr lvl="1" indent="-342900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Height</a:t>
            </a:r>
          </a:p>
          <a:p>
            <a:pPr lvl="1" indent="-342900">
              <a:buFont typeface="Arial" panose="020B0604020202020204" pitchFamily="34" charset="0"/>
              <a:buChar char="•"/>
              <a:defRPr/>
            </a:pPr>
            <a:r>
              <a:rPr lang="en-US" b="1" dirty="0" smtClean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Width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5410202" y="1933934"/>
            <a:ext cx="3428999" cy="33218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itchFamily="34" charset="0"/>
              <a:buNone/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Font-family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Font-size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Font-weight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Font-style</a:t>
            </a:r>
            <a:endParaRPr lang="en-US" b="1" dirty="0"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600" y="5764048"/>
            <a:ext cx="8305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hlinkClick r:id="rId3"/>
              </a:rPr>
              <a:t>https://www.chromestatus.com/metrics/css/popularity</a:t>
            </a:r>
            <a:r>
              <a:rPr lang="en-US" sz="2800" dirty="0"/>
              <a:t>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74638"/>
            <a:ext cx="8382000" cy="1143000"/>
          </a:xfrm>
        </p:spPr>
        <p:txBody>
          <a:bodyPr>
            <a:normAutofit fontScale="90000"/>
          </a:bodyPr>
          <a:lstStyle/>
          <a:p>
            <a:r>
              <a:rPr lang="en-US" sz="4800" dirty="0"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Properties for </a:t>
            </a:r>
            <a:r>
              <a:rPr lang="en-US" sz="4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Text</a:t>
            </a:r>
            <a:br>
              <a:rPr lang="en-US" sz="4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48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you can skip them.. From exam perspective.</a:t>
            </a:r>
            <a:endParaRPr lang="en-US" sz="4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1600200"/>
            <a:ext cx="7239000" cy="4572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spcBef>
                <a:spcPct val="20000"/>
              </a:spcBef>
              <a:defRPr/>
            </a:pPr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text-align</a:t>
            </a:r>
          </a:p>
          <a:p>
            <a:pPr>
              <a:spcBef>
                <a:spcPct val="20000"/>
              </a:spcBef>
              <a:defRPr/>
            </a:pPr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text-indent</a:t>
            </a:r>
          </a:p>
          <a:p>
            <a:pPr>
              <a:spcBef>
                <a:spcPct val="20000"/>
              </a:spcBef>
              <a:defRPr/>
            </a:pPr>
            <a:r>
              <a:rPr lang="en-US" sz="4000" dirty="0" smtClean="0">
                <a:solidFill>
                  <a:srgbClr val="C0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line-height</a:t>
            </a:r>
          </a:p>
          <a:p>
            <a:pPr>
              <a:spcBef>
                <a:spcPct val="20000"/>
              </a:spcBef>
              <a:defRPr/>
            </a:pPr>
            <a: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(normal, number, unit length, %, initial, inherit)</a:t>
            </a:r>
            <a:br>
              <a:rPr lang="en-US" sz="20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</a:br>
            <a:endParaRPr lang="en-US" sz="4000" dirty="0">
              <a:solidFill>
                <a:srgbClr val="C00000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defRPr/>
            </a:pPr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word-spacing</a:t>
            </a:r>
          </a:p>
          <a:p>
            <a:pPr>
              <a:spcBef>
                <a:spcPct val="20000"/>
              </a:spcBef>
              <a:defRPr/>
            </a:pPr>
            <a:r>
              <a:rPr lang="en-US" sz="4000" dirty="0">
                <a:solidFill>
                  <a:srgbClr val="C0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letter-spacing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104940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CSS Box Model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042" y="1600200"/>
            <a:ext cx="8255758" cy="52578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Elements are renders as rectangular box. Box size is calculated using following sizes: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 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</a:t>
            </a:r>
          </a:p>
          <a:p>
            <a:pPr marL="1371600" lvl="2" indent="-514350">
              <a:buFont typeface="+mj-lt"/>
              <a:buAutoNum type="arabicPeriod"/>
            </a:pP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 </a:t>
            </a:r>
            <a:endParaRPr lang="en-US" sz="2800" b="1" dirty="0" smtClean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371600" lvl="2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Margin*</a:t>
            </a:r>
            <a:endParaRPr lang="en-US" sz="28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457200"/>
            <a:r>
              <a:rPr lang="en-US" sz="28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default, specified width and height belong to content area. We can set to border-to-border (inclusive) </a:t>
            </a:r>
            <a:r>
              <a:rPr lang="en-US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using:</a:t>
            </a:r>
            <a:br>
              <a:rPr lang="en-US" sz="2800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 smtClean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box-sizing</a:t>
            </a:r>
            <a:r>
              <a:rPr lang="en-US" sz="2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border-box;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82379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Padding, Border and Margin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47800"/>
            <a:ext cx="3733800" cy="52578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Padding:20px</a:t>
            </a:r>
            <a:endParaRPr lang="en-US" sz="28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Padding-left</a:t>
            </a:r>
          </a:p>
          <a:p>
            <a:pPr lvl="1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Padding-top</a:t>
            </a:r>
          </a:p>
          <a:p>
            <a:pPr lvl="1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Padding-right</a:t>
            </a:r>
          </a:p>
          <a:p>
            <a:pPr lvl="1">
              <a:buNone/>
            </a:pPr>
            <a:r>
              <a:rPr lang="en-US" sz="2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Padding-bottom</a:t>
            </a:r>
          </a:p>
          <a:p>
            <a:pPr lvl="1">
              <a:buNone/>
            </a:pPr>
            <a:endParaRPr lang="en-US" sz="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Margin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Margin-left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Margin-top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Margin-right</a:t>
            </a:r>
          </a:p>
          <a:p>
            <a:pPr marL="457200" lvl="1" indent="0"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Margin-bottom</a:t>
            </a:r>
          </a:p>
          <a:p>
            <a:pPr lvl="1">
              <a:buNone/>
            </a:pP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724400" y="1447802"/>
            <a:ext cx="36576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</a:t>
            </a:r>
          </a:p>
          <a:p>
            <a:pPr lvl="1"/>
            <a:r>
              <a:rPr lang="en-US" sz="24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Border-width:20px;</a:t>
            </a:r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Border-style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Border-color</a:t>
            </a:r>
            <a:b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 lvl="1"/>
            <a:endParaRPr lang="en-US" sz="20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Border-left-width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Border-left-style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Border-left-color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Positioning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47800"/>
            <a:ext cx="8143900" cy="5257800"/>
          </a:xfrm>
        </p:spPr>
        <p:txBody>
          <a:bodyPr>
            <a:normAutofit lnSpcReduction="10000"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Static - </a:t>
            </a: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Its default. Elements aren’t positioned</a:t>
            </a:r>
            <a:b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000" dirty="0" smtClean="0">
              <a:solidFill>
                <a:schemeClr val="bg2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Relative - </a:t>
            </a: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Elements are placed relative to their default position. It </a:t>
            </a: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occupies the original space </a:t>
            </a: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 canvas, so incorrect use may effect other elements’ visibility.</a:t>
            </a:r>
            <a:b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000" dirty="0" smtClean="0">
              <a:solidFill>
                <a:schemeClr val="bg2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Absolute</a:t>
            </a:r>
          </a:p>
          <a:p>
            <a:pPr lvl="2"/>
            <a:r>
              <a:rPr lang="en-US" sz="1800" u="sng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Remove the element from document </a:t>
            </a:r>
            <a:r>
              <a:rPr lang="en-US" sz="1800" b="1" u="sng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flow</a:t>
            </a:r>
            <a:r>
              <a:rPr lang="en-US" sz="1800" u="sng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18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places as per position specified </a:t>
            </a:r>
            <a:r>
              <a:rPr lang="en-US" sz="18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w.r.t. page</a:t>
            </a:r>
            <a:r>
              <a:rPr lang="en-US" sz="18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It do not occupy the original space.</a:t>
            </a:r>
          </a:p>
          <a:p>
            <a:pPr lvl="2"/>
            <a:r>
              <a:rPr lang="en-US" sz="18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 position </a:t>
            </a:r>
            <a:r>
              <a:rPr lang="en-US" sz="1800" b="1" dirty="0" err="1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w.r.t</a:t>
            </a:r>
            <a:r>
              <a:rPr lang="en-US" sz="18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container, container must be positioned (</a:t>
            </a:r>
            <a:r>
              <a:rPr lang="en-GB" sz="1800" dirty="0" smtClean="0"/>
              <a:t>relative, absolute, or fixed</a:t>
            </a:r>
            <a:r>
              <a:rPr lang="en-US" sz="18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). </a:t>
            </a:r>
            <a:br>
              <a:rPr lang="en-US" sz="18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1800" b="1" dirty="0" smtClean="0">
              <a:solidFill>
                <a:schemeClr val="bg2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Fixed - </a:t>
            </a:r>
            <a:r>
              <a:rPr lang="en-US" sz="2000" dirty="0" smtClean="0">
                <a:solidFill>
                  <a:schemeClr val="bg2">
                    <a:lumMod val="1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 ref. to viewport (browser window), </a:t>
            </a:r>
            <a:r>
              <a:rPr lang="en-GB" sz="2000" dirty="0" smtClean="0"/>
              <a:t>stays on scroll</a:t>
            </a:r>
            <a:br>
              <a:rPr lang="en-GB" sz="2000" dirty="0" smtClean="0"/>
            </a:br>
            <a:endParaRPr lang="en-GB" sz="20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b="1" dirty="0" smtClean="0"/>
              <a:t>Sticky -</a:t>
            </a:r>
            <a:r>
              <a:rPr lang="en-US" sz="2000" dirty="0" smtClean="0"/>
              <a:t> </a:t>
            </a:r>
            <a:r>
              <a:rPr lang="en-GB" sz="2000" dirty="0" smtClean="0"/>
              <a:t>Acts like relative until a certain scroll position is hit, then it sticks like fixed, until its nearest (scrollable) ancestor go out of viewport.</a:t>
            </a:r>
            <a:endParaRPr lang="en-US" sz="2000" dirty="0" smtClean="0">
              <a:solidFill>
                <a:schemeClr val="bg2">
                  <a:lumMod val="1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Flex Container Props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flex-direction</a:t>
            </a:r>
          </a:p>
          <a:p>
            <a:pPr lvl="1"/>
            <a:r>
              <a:rPr lang="en-US" dirty="0" smtClean="0"/>
              <a:t>4 options</a:t>
            </a:r>
          </a:p>
          <a:p>
            <a:pPr lvl="1"/>
            <a:r>
              <a:rPr lang="en-US" dirty="0" smtClean="0"/>
              <a:t>row | column | row-reverse | column-reverse</a:t>
            </a:r>
          </a:p>
          <a:p>
            <a:pPr lvl="1"/>
            <a:r>
              <a:rPr lang="en-US" dirty="0" smtClean="0"/>
              <a:t>E.g. flex-direction: row;</a:t>
            </a:r>
          </a:p>
          <a:p>
            <a:pPr lvl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flex-direction: row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6082" name="Picture 2" descr="If flex-direction is set to row the main axis runs along the row in the inline direction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1785926"/>
            <a:ext cx="4972050" cy="1447801"/>
          </a:xfrm>
          <a:prstGeom prst="rect">
            <a:avLst/>
          </a:prstGeom>
          <a:noFill/>
        </p:spPr>
      </p:pic>
      <p:pic>
        <p:nvPicPr>
          <p:cNvPr id="46088" name="Picture 8" descr="If flex-direction is set to row then the cross axis runs in the block direction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3643314"/>
            <a:ext cx="6343650" cy="1190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flex-direction: column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6" descr="If flex-direction is set to column the main axis runs in the block direction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1285860"/>
            <a:ext cx="6753225" cy="2162176"/>
          </a:xfrm>
          <a:prstGeom prst="rect">
            <a:avLst/>
          </a:prstGeom>
          <a:noFill/>
        </p:spPr>
      </p:pic>
      <p:pic>
        <p:nvPicPr>
          <p:cNvPr id="48130" name="Picture 2" descr="If flex-direction is set to column then the cross axis runs in the inline direction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71670" y="3857628"/>
            <a:ext cx="4981575" cy="23241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 and end - not left and right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9156" name="Picture 4" descr="Working in English the start edge is on the left.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00166" y="2928934"/>
            <a:ext cx="6010275" cy="144780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Flex Container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Direct children of flex container are called </a:t>
            </a:r>
            <a:r>
              <a:rPr lang="en-GB" sz="2400" b="1" dirty="0" smtClean="0"/>
              <a:t>flex items</a:t>
            </a:r>
            <a:r>
              <a:rPr lang="en-GB" sz="2400" dirty="0" smtClean="0"/>
              <a:t>. </a:t>
            </a:r>
            <a:br>
              <a:rPr lang="en-GB" sz="2400" dirty="0" smtClean="0"/>
            </a:br>
            <a:r>
              <a:rPr lang="en-GB" sz="2400" dirty="0" smtClean="0"/>
              <a:t>If we do not specify flex-direction, items display in a row.</a:t>
            </a:r>
            <a:br>
              <a:rPr lang="en-GB" sz="2400" dirty="0" smtClean="0"/>
            </a:br>
            <a:endParaRPr lang="en-GB" sz="2400" dirty="0" smtClean="0"/>
          </a:p>
          <a:p>
            <a:r>
              <a:rPr lang="en-GB" sz="2400" dirty="0" smtClean="0"/>
              <a:t>Items placement start from start edge of the main axis. See </a:t>
            </a:r>
            <a:r>
              <a:rPr lang="en-GB" sz="2400" b="1" dirty="0" smtClean="0"/>
              <a:t>1x.html</a:t>
            </a:r>
          </a:p>
          <a:p>
            <a:endParaRPr lang="en-GB" sz="2400" dirty="0" smtClean="0"/>
          </a:p>
          <a:p>
            <a:r>
              <a:rPr lang="en-GB" sz="2400" dirty="0" smtClean="0"/>
              <a:t>Items do not stretch on the main axis, but at cross axis. </a:t>
            </a:r>
            <a:br>
              <a:rPr lang="en-GB" sz="2400" dirty="0" smtClean="0"/>
            </a:br>
            <a:r>
              <a:rPr lang="en-GB" sz="2400" b="1" dirty="0" smtClean="0"/>
              <a:t>see 1x.html  and 1x2.html</a:t>
            </a:r>
            <a:endParaRPr lang="en-GB" sz="2400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Positive and Negative Free Space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3010" name="Picture 2" descr="Image showing space left over after items have been displayed.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728" y="1714488"/>
            <a:ext cx="6096043" cy="2286016"/>
          </a:xfrm>
          <a:prstGeom prst="rect">
            <a:avLst/>
          </a:prstGeom>
          <a:noFill/>
        </p:spPr>
      </p:pic>
      <p:pic>
        <p:nvPicPr>
          <p:cNvPr id="43012" name="Picture 4" descr="The items overflow the containe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643042" y="4214818"/>
            <a:ext cx="6038850" cy="18859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Flex Container Basic Props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justify-content </a:t>
            </a:r>
            <a:br>
              <a:rPr lang="en-US" b="1" dirty="0" smtClean="0"/>
            </a:br>
            <a:endParaRPr lang="en-US" b="1" dirty="0" smtClean="0"/>
          </a:p>
          <a:p>
            <a:pPr lvl="1"/>
            <a:r>
              <a:rPr lang="en-US" dirty="0" smtClean="0"/>
              <a:t>Its for </a:t>
            </a:r>
            <a:r>
              <a:rPr lang="en-US" b="1" dirty="0" smtClean="0"/>
              <a:t>main-axis</a:t>
            </a:r>
            <a:br>
              <a:rPr lang="en-US" b="1" dirty="0" smtClean="0"/>
            </a:br>
            <a:endParaRPr lang="en-US" b="1" dirty="0" smtClean="0"/>
          </a:p>
          <a:p>
            <a:pPr lvl="1"/>
            <a:r>
              <a:rPr lang="en-US" dirty="0" smtClean="0"/>
              <a:t>Divide available space between items. </a:t>
            </a:r>
            <a:r>
              <a:rPr lang="en-US" b="1" dirty="0" smtClean="0"/>
              <a:t>See 2x.html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Flex Container Basic Props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align-items </a:t>
            </a:r>
          </a:p>
          <a:p>
            <a:pPr lvl="1"/>
            <a:r>
              <a:rPr lang="en-GB" dirty="0" smtClean="0"/>
              <a:t>align-items property work in </a:t>
            </a:r>
            <a:r>
              <a:rPr lang="en-GB" b="1" dirty="0" smtClean="0"/>
              <a:t>cross axis</a:t>
            </a:r>
            <a:r>
              <a:rPr lang="en-GB" dirty="0" smtClean="0"/>
              <a:t>.</a:t>
            </a:r>
          </a:p>
          <a:p>
            <a:pPr lvl="1"/>
            <a:r>
              <a:rPr lang="en-US" dirty="0" smtClean="0"/>
              <a:t>Think of it, </a:t>
            </a:r>
            <a:r>
              <a:rPr lang="en-GB" dirty="0" smtClean="0"/>
              <a:t>justify-content version for the cross-axis.</a:t>
            </a:r>
          </a:p>
          <a:p>
            <a:pPr lvl="1"/>
            <a:r>
              <a:rPr lang="en-US" dirty="0" smtClean="0"/>
              <a:t>There must be some free pace in cross axis. </a:t>
            </a:r>
            <a:br>
              <a:rPr lang="en-US" dirty="0" smtClean="0"/>
            </a:br>
            <a:r>
              <a:rPr lang="en-US" b="1" dirty="0" smtClean="0"/>
              <a:t>see 3x.html</a:t>
            </a:r>
          </a:p>
          <a:p>
            <a:pPr lvl="1"/>
            <a:r>
              <a:rPr lang="en-US" dirty="0" smtClean="0"/>
              <a:t>If there is space in cross axis, and you do not specify the align-items, the items would stretch at cross axis.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Flex Container Basic Props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flex-wrap</a:t>
            </a:r>
          </a:p>
          <a:p>
            <a:pPr lvl="1"/>
            <a:r>
              <a:rPr lang="en-US" dirty="0" smtClean="0"/>
              <a:t>By default, items do not wrap in cross axis when container is resized, or screen size is small. </a:t>
            </a:r>
          </a:p>
          <a:p>
            <a:pPr lvl="1"/>
            <a:r>
              <a:rPr lang="en-US" dirty="0" smtClean="0"/>
              <a:t>Default value is </a:t>
            </a:r>
            <a:r>
              <a:rPr lang="en-US" b="1" i="1" u="sng" dirty="0" err="1" smtClean="0"/>
              <a:t>nowrap</a:t>
            </a:r>
            <a:r>
              <a:rPr lang="en-US" b="1" i="1" dirty="0" smtClean="0"/>
              <a:t> </a:t>
            </a:r>
            <a:r>
              <a:rPr lang="en-US" i="1" dirty="0" smtClean="0"/>
              <a:t>se</a:t>
            </a:r>
            <a:r>
              <a:rPr lang="en-US" dirty="0" smtClean="0"/>
              <a:t>e</a:t>
            </a:r>
            <a:r>
              <a:rPr lang="en-US" b="1" dirty="0" smtClean="0"/>
              <a:t> 4x.html</a:t>
            </a:r>
          </a:p>
          <a:p>
            <a:pPr lvl="1"/>
            <a:endParaRPr lang="en-US" b="1" dirty="0" smtClean="0"/>
          </a:p>
          <a:p>
            <a:pPr lvl="1"/>
            <a:r>
              <a:rPr lang="en-US" dirty="0" smtClean="0"/>
              <a:t>Container cross-axis size automatically increase/decrease, depending on space required by items.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2"/>
            <a:ext cx="7972452" cy="4525963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 smtClean="0"/>
              <a:t>flex-grow</a:t>
            </a:r>
            <a:br>
              <a:rPr lang="en-US" b="1" dirty="0" smtClean="0"/>
            </a:br>
            <a:endParaRPr lang="en-US" b="1" dirty="0" smtClean="0"/>
          </a:p>
          <a:p>
            <a:pPr lvl="1"/>
            <a:r>
              <a:rPr lang="en-US" dirty="0" smtClean="0"/>
              <a:t>It defines, how the </a:t>
            </a:r>
            <a:r>
              <a:rPr lang="en-US" b="1" dirty="0" smtClean="0"/>
              <a:t>free positive space </a:t>
            </a:r>
            <a:r>
              <a:rPr lang="en-US" dirty="0" smtClean="0"/>
              <a:t>should be distributed </a:t>
            </a:r>
            <a:r>
              <a:rPr lang="en-US" b="1" dirty="0" smtClean="0"/>
              <a:t>inside</a:t>
            </a:r>
            <a:r>
              <a:rPr lang="en-US" dirty="0" smtClean="0"/>
              <a:t> the items.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Default value 0, so items do not grow by default.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GB" dirty="0" smtClean="0"/>
              <a:t>If you want items to grow up to a fixed pixel limit and then distribute the remaining space b/w items, use </a:t>
            </a:r>
            <a:r>
              <a:rPr lang="en-GB" b="1" dirty="0" smtClean="0"/>
              <a:t>justify-content</a:t>
            </a:r>
            <a:r>
              <a:rPr lang="en-GB" dirty="0" smtClean="0"/>
              <a:t> with </a:t>
            </a:r>
            <a:r>
              <a:rPr lang="en-GB" b="1" dirty="0" smtClean="0"/>
              <a:t>flex-grow</a:t>
            </a:r>
            <a:r>
              <a:rPr lang="en-GB" dirty="0" smtClean="0"/>
              <a:t> and set a </a:t>
            </a:r>
            <a:r>
              <a:rPr lang="en-GB" b="1" dirty="0" smtClean="0"/>
              <a:t>max-width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b="1" dirty="0" smtClean="0"/>
              <a:t>See 7x.html</a:t>
            </a:r>
            <a:endParaRPr lang="en-GB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Flex Item</a:t>
            </a:r>
            <a:r>
              <a:rPr kumimoji="0" lang="en-US" sz="44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- </a:t>
            </a:r>
            <a:r>
              <a:rPr kumimoji="0" lang="en-US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Basic Props</a:t>
            </a:r>
            <a:endParaRPr kumimoji="0" lang="en-GB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/>
              <a:t>Flex Item - Basic Props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flex-shrink</a:t>
            </a:r>
            <a:br>
              <a:rPr lang="en-US" b="1" dirty="0" smtClean="0"/>
            </a:br>
            <a:endParaRPr lang="en-US" b="1" dirty="0" smtClean="0"/>
          </a:p>
          <a:p>
            <a:pPr lvl="1"/>
            <a:r>
              <a:rPr lang="en-US" dirty="0" smtClean="0"/>
              <a:t>It defines how the </a:t>
            </a:r>
            <a:r>
              <a:rPr lang="en-US" b="1" dirty="0" smtClean="0"/>
              <a:t>negative free space </a:t>
            </a:r>
            <a:r>
              <a:rPr lang="en-US" dirty="0" smtClean="0"/>
              <a:t>should be extracted from items to fit inside container.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dirty="0" smtClean="0"/>
              <a:t>Default value 1 i.e. </a:t>
            </a:r>
            <a:r>
              <a:rPr lang="en-US" b="1" dirty="0" smtClean="0"/>
              <a:t>items</a:t>
            </a:r>
            <a:r>
              <a:rPr lang="en-US" dirty="0" smtClean="0"/>
              <a:t> </a:t>
            </a:r>
            <a:r>
              <a:rPr lang="en-US" b="1" dirty="0" smtClean="0"/>
              <a:t>shrink by default</a:t>
            </a:r>
            <a:r>
              <a:rPr lang="en-US" dirty="0" smtClean="0"/>
              <a:t>.</a:t>
            </a:r>
            <a:br>
              <a:rPr lang="en-US" dirty="0" smtClean="0"/>
            </a:br>
            <a:endParaRPr lang="en-US" dirty="0" smtClean="0"/>
          </a:p>
          <a:p>
            <a:pPr lvl="1"/>
            <a:r>
              <a:rPr lang="en-US" b="1" dirty="0" smtClean="0"/>
              <a:t>See 8x.html</a:t>
            </a:r>
            <a:endParaRPr lang="en-GB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Flex-basis impact on item-size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flex-basis </a:t>
            </a:r>
            <a:r>
              <a:rPr lang="en-GB" sz="2800" dirty="0" smtClean="0"/>
              <a:t>sets the </a:t>
            </a:r>
            <a:r>
              <a:rPr lang="en-GB" sz="2800" b="1" u="sng" dirty="0" smtClean="0"/>
              <a:t>initial main size </a:t>
            </a:r>
            <a:r>
              <a:rPr lang="en-GB" sz="2800" dirty="0" smtClean="0"/>
              <a:t>of a flex item.</a:t>
            </a:r>
          </a:p>
          <a:p>
            <a:endParaRPr lang="en-GB" sz="2800" dirty="0" smtClean="0"/>
          </a:p>
          <a:p>
            <a:r>
              <a:rPr lang="en-GB" sz="2800" b="1" dirty="0" smtClean="0"/>
              <a:t>flex-</a:t>
            </a:r>
            <a:r>
              <a:rPr lang="en-GB" sz="2800" b="1" dirty="0" err="1" smtClean="0"/>
              <a:t>basis:auto</a:t>
            </a:r>
            <a:r>
              <a:rPr lang="en-GB" sz="2800" b="1" dirty="0" smtClean="0"/>
              <a:t> (default) </a:t>
            </a:r>
          </a:p>
          <a:p>
            <a:pPr lvl="1"/>
            <a:r>
              <a:rPr lang="en-GB" sz="2400" dirty="0" smtClean="0"/>
              <a:t>If width/height is set, its the base size of item.</a:t>
            </a:r>
          </a:p>
          <a:p>
            <a:pPr lvl="1"/>
            <a:r>
              <a:rPr lang="en-GB" sz="2400" dirty="0" smtClean="0"/>
              <a:t>If not set, fall back to content-size (its the base size)</a:t>
            </a:r>
            <a:br>
              <a:rPr lang="en-GB" sz="2400" dirty="0" smtClean="0"/>
            </a:br>
            <a:endParaRPr lang="en-GB" sz="2400" dirty="0" smtClean="0"/>
          </a:p>
          <a:p>
            <a:r>
              <a:rPr lang="en-GB" sz="2800" b="1" dirty="0" smtClean="0"/>
              <a:t>flex-basis:0</a:t>
            </a:r>
            <a:br>
              <a:rPr lang="en-GB" sz="2800" b="1" dirty="0" smtClean="0"/>
            </a:br>
            <a:r>
              <a:rPr lang="en-GB" sz="2800" dirty="0" smtClean="0"/>
              <a:t>The base size is treated as 0, </a:t>
            </a:r>
            <a:r>
              <a:rPr lang="en-GB" sz="2800" b="1" dirty="0" smtClean="0"/>
              <a:t>ignoring content size </a:t>
            </a:r>
            <a:r>
              <a:rPr lang="en-GB" sz="2800" dirty="0" smtClean="0"/>
              <a:t>and width/height. So, when </a:t>
            </a:r>
            <a:r>
              <a:rPr lang="en-US" sz="2800" dirty="0" smtClean="0"/>
              <a:t>width and basis both are set, basis take priority.</a:t>
            </a:r>
            <a:endParaRPr lang="en-GB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Media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Media Queries help in making responsive design.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We can apply conditional CSS on elements e.g. apply certain CSS properties if screen width is greater than certain pixels.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3399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Background Image Properties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85800" y="1905000"/>
            <a:ext cx="7239000" cy="2895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514350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background-image</a:t>
            </a:r>
            <a:endParaRPr 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background-repeat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background-position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  <a:defRPr/>
            </a:pPr>
            <a:endParaRPr 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  <a:defRPr/>
            </a:pPr>
            <a:r>
              <a:rPr lang="en-US" sz="2800" dirty="0" smtClean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background-attachment</a:t>
            </a:r>
          </a:p>
          <a:p>
            <a:pPr marL="514350" indent="-514350">
              <a:spcBef>
                <a:spcPct val="20000"/>
              </a:spcBef>
              <a:buFont typeface="+mj-lt"/>
              <a:buAutoNum type="arabicPeriod"/>
              <a:defRPr/>
            </a:pPr>
            <a:endParaRPr lang="en-US" sz="2800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78437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Styling Hyperlinks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1039"/>
            <a:ext cx="4114800" cy="4525963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Link States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Link 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Visited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Hover</a:t>
            </a:r>
          </a:p>
          <a:p>
            <a:pPr marL="457200" lvl="1" indent="0">
              <a:buNone/>
            </a:pPr>
            <a:r>
              <a:rPr lang="en-US" sz="2000" dirty="0" smtClean="0">
                <a:solidFill>
                  <a:srgbClr val="FF000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Active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0" y="1951039"/>
            <a:ext cx="426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Link state properties</a:t>
            </a:r>
          </a:p>
          <a:p>
            <a:pPr lvl="1">
              <a:spcBef>
                <a:spcPct val="20000"/>
              </a:spcBef>
              <a:defRPr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A:Link</a:t>
            </a:r>
          </a:p>
          <a:p>
            <a:pPr lvl="1">
              <a:spcBef>
                <a:spcPct val="20000"/>
              </a:spcBef>
              <a:defRPr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A:Visited</a:t>
            </a:r>
          </a:p>
          <a:p>
            <a:pPr lvl="1">
              <a:spcBef>
                <a:spcPct val="20000"/>
              </a:spcBef>
              <a:defRPr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A:Hover</a:t>
            </a:r>
          </a:p>
          <a:p>
            <a:pPr lvl="1">
              <a:spcBef>
                <a:spcPct val="20000"/>
              </a:spcBef>
              <a:defRPr/>
            </a:pPr>
            <a:r>
              <a:rPr lang="en-US" sz="2000" dirty="0">
                <a:solidFill>
                  <a:srgbClr val="0070C0"/>
                </a:solidFill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rPr>
              <a:t>A:Active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Website Layout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00600"/>
          </a:xfrm>
        </p:spPr>
        <p:txBody>
          <a:bodyPr>
            <a:normAutofit fontScale="92500"/>
          </a:bodyPr>
          <a:lstStyle/>
          <a:p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Template or structure of a website. All pages generally follow common layout for quality user experience.</a:t>
            </a:r>
          </a:p>
          <a:p>
            <a:r>
              <a:rPr lang="en-US" sz="2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Table</a:t>
            </a:r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2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div</a:t>
            </a:r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tags can be used to implement layouts</a:t>
            </a:r>
          </a:p>
          <a:p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Tables objective is not layout creation</a:t>
            </a:r>
          </a:p>
          <a:p>
            <a:pPr lvl="1"/>
            <a:r>
              <a:rPr lang="en-US" sz="26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Tables </a:t>
            </a:r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are mostly used for </a:t>
            </a:r>
            <a:r>
              <a:rPr lang="en-US" sz="2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tabular data</a:t>
            </a:r>
          </a:p>
          <a:p>
            <a:pPr lvl="1"/>
            <a:r>
              <a:rPr lang="en-US" sz="2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 </a:t>
            </a:r>
            <a:r>
              <a:rPr lang="en-US" sz="2600" b="1" u="sng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 smell</a:t>
            </a:r>
            <a:r>
              <a:rPr lang="en-US" sz="2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for complex </a:t>
            </a:r>
            <a:r>
              <a:rPr lang="en-US" sz="2600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templates</a:t>
            </a:r>
          </a:p>
          <a:p>
            <a:pPr lvl="1"/>
            <a:r>
              <a:rPr lang="en-US" sz="26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Consumes </a:t>
            </a:r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more bytes of markup</a:t>
            </a:r>
          </a:p>
          <a:p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prefer </a:t>
            </a:r>
            <a:r>
              <a:rPr lang="en-US" sz="26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div</a:t>
            </a:r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over </a:t>
            </a:r>
            <a:r>
              <a:rPr lang="en-US" sz="2600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table </a:t>
            </a:r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layout</a:t>
            </a:r>
          </a:p>
          <a:p>
            <a:r>
              <a:rPr lang="en-US" sz="2600" b="1" i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Flex </a:t>
            </a:r>
            <a:r>
              <a:rPr lang="en-US" sz="2600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and </a:t>
            </a:r>
            <a:r>
              <a:rPr lang="en-US" sz="2600" b="1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position</a:t>
            </a:r>
            <a:r>
              <a:rPr lang="en-US" sz="2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are important properties to make div based layouts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Styling Lists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Autofit/>
          </a:bodyPr>
          <a:lstStyle/>
          <a:p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to style ordered and unordered lists?</a:t>
            </a:r>
          </a:p>
          <a:p>
            <a:r>
              <a:rPr lang="en-US" sz="2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list-style-*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</a:t>
            </a:r>
            <a:r>
              <a:rPr lang="en-US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(none, disc, circle, square, etc.)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image</a:t>
            </a:r>
            <a:r>
              <a:rPr lang="en-US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(</a:t>
            </a:r>
            <a:r>
              <a:rPr lang="en-US" dirty="0" err="1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url</a:t>
            </a:r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(‘image-</a:t>
            </a:r>
            <a:r>
              <a:rPr lang="en-US" dirty="0" err="1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name.ext</a:t>
            </a:r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’))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position</a:t>
            </a:r>
            <a:r>
              <a:rPr lang="en-US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(outside, inside, initial, inherit)</a:t>
            </a:r>
          </a:p>
          <a:p>
            <a:pPr lvl="1">
              <a:buNone/>
            </a:pPr>
            <a:endParaRPr lang="en-US" dirty="0" smtClean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buNone/>
            </a:pPr>
            <a:r>
              <a:rPr lang="en-US" b="1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List-style-* properties using single line:</a:t>
            </a:r>
          </a:p>
          <a:p>
            <a:pPr lvl="1">
              <a:buNone/>
            </a:pPr>
            <a:r>
              <a:rPr lang="en-US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list-style: circle </a:t>
            </a:r>
            <a:r>
              <a:rPr lang="en-US" dirty="0" err="1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url</a:t>
            </a:r>
            <a:r>
              <a:rPr lang="en-US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("texture.jpg") inside</a:t>
            </a:r>
            <a:r>
              <a:rPr lang="en-US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  <a:endParaRPr lang="en-US" dirty="0" smtClean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58307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Creating Navigation Bar using List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/>
          </a:bodyPr>
          <a:lstStyle/>
          <a:p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can create navigation bars and drop down menus using list tag (i.e. </a:t>
            </a:r>
            <a:r>
              <a:rPr lang="en-US" sz="2600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ul</a:t>
            </a:r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2600" dirty="0" err="1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ol</a:t>
            </a:r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), by applying CSS properties</a:t>
            </a:r>
          </a:p>
          <a:p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Remember following points from inline and block elements topic: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can’t apply top and bottom margins, width and height </a:t>
            </a:r>
            <a:r>
              <a:rPr lang="en-US" sz="2600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properties to inline </a:t>
            </a:r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elements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Default ‘display’ of li tag is list-item. We must override to bring list items </a:t>
            </a:r>
            <a:r>
              <a:rPr lang="en-US" sz="2600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single row</a:t>
            </a:r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lvl="1"/>
            <a:r>
              <a:rPr lang="en-US" sz="2600" dirty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 inline-block to apply </a:t>
            </a:r>
            <a:r>
              <a:rPr lang="en-US" sz="260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sizing </a:t>
            </a:r>
            <a:r>
              <a:rPr lang="en-US" sz="260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properties </a:t>
            </a:r>
            <a:r>
              <a:rPr lang="en-US" sz="2600" dirty="0" smtClean="0">
                <a:solidFill>
                  <a:srgbClr val="0070C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 inline elements</a:t>
            </a:r>
            <a:endParaRPr lang="en-US" sz="2600" dirty="0">
              <a:solidFill>
                <a:srgbClr val="0070C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9576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Floats – 1 of 4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458200" cy="502920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Block elements take 100% width of container </a:t>
            </a:r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(when width is not specified). They do </a:t>
            </a:r>
            <a:r>
              <a:rPr lang="en-US" sz="2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 allow elements on right or left </a:t>
            </a:r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[1]. </a:t>
            </a:r>
          </a:p>
          <a:p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 </a:t>
            </a:r>
            <a:r>
              <a:rPr lang="en-US" sz="2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property changes the way a block element is laid out by the browser. These are taken out of the normal flow and then placed back following </a:t>
            </a:r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some rules.</a:t>
            </a:r>
            <a:endParaRPr lang="en-US" sz="28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2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 property can be applied to block elements e.g. div, p, etc. </a:t>
            </a:r>
            <a:r>
              <a:rPr lang="en-US" sz="2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 applies with respect to </a:t>
            </a:r>
            <a:r>
              <a:rPr lang="en-US" sz="2800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container. </a:t>
            </a:r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Usage</a:t>
            </a:r>
            <a:r>
              <a:rPr lang="en-US" sz="2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en-US" sz="2800" dirty="0" err="1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float:right</a:t>
            </a:r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 </a:t>
            </a:r>
            <a:r>
              <a:rPr lang="en-US" sz="2800" dirty="0" err="1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float:left</a:t>
            </a:r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[2_0 to </a:t>
            </a:r>
            <a:r>
              <a:rPr lang="en-US" sz="28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2_1]</a:t>
            </a:r>
            <a:endParaRPr lang="en-US" sz="28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Floats – 2 of 4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382000" cy="51816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Floated block elements shift to above </a:t>
            </a:r>
            <a:r>
              <a:rPr lang="en-US" sz="26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row, </a:t>
            </a:r>
            <a: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when space is available. If there is not enough </a:t>
            </a:r>
            <a:r>
              <a:rPr lang="en-US" sz="26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space, </a:t>
            </a:r>
            <a: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elements are shifted down automatically [</a:t>
            </a:r>
            <a:r>
              <a:rPr lang="en-US" sz="26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2_2]. </a:t>
            </a:r>
            <a:br>
              <a:rPr lang="en-US" sz="26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600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One </a:t>
            </a:r>
            <a:r>
              <a:rPr lang="en-US" sz="26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element </a:t>
            </a:r>
            <a:r>
              <a:rPr lang="en-US" sz="2600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properties, </a:t>
            </a:r>
            <a:r>
              <a:rPr lang="en-US" sz="26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may effect the </a:t>
            </a:r>
            <a:r>
              <a:rPr lang="en-US" sz="2600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others in layout.</a:t>
            </a:r>
            <a: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/>
            </a:r>
            <a:b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2600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Container fails to calculate height when it contains floated elements </a:t>
            </a:r>
            <a:r>
              <a:rPr lang="en-US" sz="26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only</a:t>
            </a:r>
            <a: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r>
              <a:rPr lang="en-US" sz="26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 apply </a:t>
            </a:r>
            <a:r>
              <a:rPr lang="en-US" sz="260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some CSS to force container draw itself correctly. </a:t>
            </a:r>
            <a:r>
              <a:rPr lang="en-US" sz="26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[</a:t>
            </a:r>
            <a:r>
              <a:rPr lang="en-US" sz="2600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2_3</a:t>
            </a:r>
            <a:r>
              <a:rPr lang="en-US" sz="2600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n-US" sz="2600" b="1" dirty="0" smtClean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2_4]</a:t>
            </a:r>
            <a:endParaRPr lang="en-US" sz="2600" b="1" dirty="0">
              <a:solidFill>
                <a:srgbClr val="FF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Floats – 3 of 4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382000" cy="51816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Block elements before a floated element do not effect [3_0]. But when upper element is applied float property, bottom </a:t>
            </a:r>
            <a:r>
              <a:rPr lang="en-US" sz="2400" u="sng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non-floated</a:t>
            </a:r>
            <a:r>
              <a:rPr lang="en-US" sz="2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elements would wrap around [3_1] i.</a:t>
            </a:r>
            <a:r>
              <a:rPr lang="en-US" sz="2400" b="1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e. float my effect, non-floated elements.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bottom elements are also floated, they would shift below when content is large [3_2]. Use width with floated elements [3_3] for predictable behavior.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000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If you want to stop non-floated elements to wrap around the floated elements, you need to clear the float. [3_4]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Floats – 4 of 4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001000" cy="4876800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‘Clear’ forces the element to shift down, even when it can adjust.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clear:left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allows no element be placed on left. </a:t>
            </a:r>
            <a:r>
              <a:rPr lang="en-US" sz="2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clear:right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allows no element be placed at right. To make both sides clear, use </a:t>
            </a:r>
            <a:r>
              <a:rPr lang="en-US" sz="26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clear:both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[3_4, 3_5]. </a:t>
            </a:r>
            <a:r>
              <a:rPr lang="en-US" sz="2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Remember box model</a:t>
            </a: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see [3_5] again</a:t>
            </a:r>
          </a:p>
          <a:p>
            <a:pPr>
              <a:spcAft>
                <a:spcPts val="600"/>
              </a:spcAft>
            </a:pPr>
            <a:r>
              <a:rPr lang="en-US" sz="26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While content will wrap - border, background image and background color will extend underneath [4_1</a:t>
            </a:r>
            <a:r>
              <a:rPr lang="en-US" sz="26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].</a:t>
            </a:r>
            <a:endParaRPr lang="en-US" sz="2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21627</TotalTime>
  <Words>1080</Words>
  <Application>Microsoft Office PowerPoint</Application>
  <PresentationFormat>On-screen Show (4:3)</PresentationFormat>
  <Paragraphs>239</Paragraphs>
  <Slides>31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CSS Cascading Style Sheets  By: Asif Shahzad</vt:lpstr>
      <vt:lpstr>Introduction to CSS</vt:lpstr>
      <vt:lpstr>Selectors</vt:lpstr>
      <vt:lpstr>How to add CSS in HTML page</vt:lpstr>
      <vt:lpstr>Properties for Color, Size, Font</vt:lpstr>
      <vt:lpstr>Properties for Text you can skip them.. From exam perspective.</vt:lpstr>
      <vt:lpstr>CSS Box Model</vt:lpstr>
      <vt:lpstr>Padding, Border and Margin</vt:lpstr>
      <vt:lpstr>Positioning</vt:lpstr>
      <vt:lpstr>Flex Container Props</vt:lpstr>
      <vt:lpstr>flex-direction: row</vt:lpstr>
      <vt:lpstr>flex-direction: column</vt:lpstr>
      <vt:lpstr>start and end - not left and right</vt:lpstr>
      <vt:lpstr>Flex Container</vt:lpstr>
      <vt:lpstr>Positive and Negative Free Space</vt:lpstr>
      <vt:lpstr>Flex Container Basic Props</vt:lpstr>
      <vt:lpstr>Flex Container Basic Props</vt:lpstr>
      <vt:lpstr>Flex Container Basic Props</vt:lpstr>
      <vt:lpstr>Slide 19</vt:lpstr>
      <vt:lpstr>Flex Item - Basic Props</vt:lpstr>
      <vt:lpstr>Flex-basis impact on item-size</vt:lpstr>
      <vt:lpstr>Media Queries</vt:lpstr>
      <vt:lpstr>Background Image Properties</vt:lpstr>
      <vt:lpstr>Styling Hyperlinks</vt:lpstr>
      <vt:lpstr>Website Layout</vt:lpstr>
      <vt:lpstr>Styling Lists</vt:lpstr>
      <vt:lpstr>Creating Navigation Bar using List</vt:lpstr>
      <vt:lpstr>Floats – 1 of 4</vt:lpstr>
      <vt:lpstr>Floats – 2 of 4</vt:lpstr>
      <vt:lpstr>Floats – 3 of 4</vt:lpstr>
      <vt:lpstr>Floats – 4 of 4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(Cascading Style Sheet)</dc:title>
  <dc:creator>Asif</dc:creator>
  <cp:lastModifiedBy>Lenovo</cp:lastModifiedBy>
  <cp:revision>959</cp:revision>
  <cp:lastPrinted>2016-09-22T21:50:43Z</cp:lastPrinted>
  <dcterms:created xsi:type="dcterms:W3CDTF">2006-08-16T00:00:00Z</dcterms:created>
  <dcterms:modified xsi:type="dcterms:W3CDTF">2026-09-25T11:59:47Z</dcterms:modified>
</cp:coreProperties>
</file>