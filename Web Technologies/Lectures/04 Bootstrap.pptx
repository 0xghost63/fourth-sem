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5" r:id="rId3"/>
    <p:sldId id="277" r:id="rId4"/>
    <p:sldId id="285" r:id="rId5"/>
    <p:sldId id="278" r:id="rId6"/>
    <p:sldId id="279" r:id="rId7"/>
    <p:sldId id="289" r:id="rId8"/>
    <p:sldId id="284" r:id="rId9"/>
    <p:sldId id="280" r:id="rId10"/>
    <p:sldId id="283" r:id="rId11"/>
    <p:sldId id="281" r:id="rId12"/>
    <p:sldId id="286" r:id="rId13"/>
    <p:sldId id="287" r:id="rId14"/>
    <p:sldId id="28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FF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9770" autoAdjust="0"/>
    <p:restoredTop sz="94660"/>
  </p:normalViewPr>
  <p:slideViewPr>
    <p:cSldViewPr>
      <p:cViewPr varScale="1">
        <p:scale>
          <a:sx n="109" d="100"/>
          <a:sy n="109" d="100"/>
        </p:scale>
        <p:origin x="-19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4FB74-FB90-4AC1-92DC-18CCFE95386D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66141-A2FF-4D6B-B59A-328A85CB7E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718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http://www.w3schools.com/bootstrap/bootstrap_get_started.asp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45436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http://blog.teamtreehouse.com/box-sizing-secret-simple-css-layouts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94801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http://blog.teamtreehouse.com/box-sizing-secret-simple-css-layouts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00025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getbootstrap.com/docs/4.0/getting-started/download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bootstrap4/default.asp" TargetMode="External"/><Relationship Id="rId2" Type="http://schemas.openxmlformats.org/officeDocument/2006/relationships/hyperlink" Target="https://getbootstrap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b="1" dirty="0" smtClean="0"/>
              <a:t>Introduction to Bootstrap 4</a:t>
            </a:r>
            <a:endParaRPr 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Bootstrap is a </a:t>
            </a:r>
            <a:r>
              <a:rPr lang="en-US" b="1" dirty="0" smtClean="0"/>
              <a:t>free and open source </a:t>
            </a:r>
            <a:r>
              <a:rPr lang="en-US" dirty="0" smtClean="0"/>
              <a:t>web front-end framework that brings </a:t>
            </a:r>
            <a:r>
              <a:rPr lang="en-US" b="1" dirty="0" smtClean="0"/>
              <a:t>quality,</a:t>
            </a:r>
            <a:r>
              <a:rPr lang="en-US" dirty="0" smtClean="0"/>
              <a:t> </a:t>
            </a:r>
            <a:r>
              <a:rPr lang="en-US" b="1" dirty="0" smtClean="0"/>
              <a:t>speed and easiness </a:t>
            </a:r>
            <a:r>
              <a:rPr lang="en-US" dirty="0" smtClean="0"/>
              <a:t>to develop </a:t>
            </a:r>
            <a:r>
              <a:rPr lang="en-US" b="1" dirty="0" smtClean="0"/>
              <a:t>UI of web applications</a:t>
            </a:r>
            <a:r>
              <a:rPr lang="en-US" dirty="0" smtClean="0"/>
              <a:t>.</a:t>
            </a:r>
            <a:endParaRPr lang="en-US" b="1" dirty="0"/>
          </a:p>
          <a:p>
            <a:r>
              <a:rPr lang="en-US" dirty="0"/>
              <a:t>Bootstrap includes HTML and CSS </a:t>
            </a:r>
            <a:r>
              <a:rPr lang="en-US" b="1" dirty="0" smtClean="0"/>
              <a:t>design </a:t>
            </a:r>
            <a:r>
              <a:rPr lang="en-US" b="1" dirty="0"/>
              <a:t>templates </a:t>
            </a:r>
            <a:r>
              <a:rPr lang="en-US" dirty="0"/>
              <a:t>for typography</a:t>
            </a:r>
            <a:r>
              <a:rPr lang="en-US" dirty="0" smtClean="0"/>
              <a:t>, buttons</a:t>
            </a:r>
            <a:r>
              <a:rPr lang="en-US" dirty="0"/>
              <a:t>, tables, navigation, modals, image carousels and many other, as well as optional JavaScript </a:t>
            </a:r>
            <a:r>
              <a:rPr lang="en-US" dirty="0" smtClean="0"/>
              <a:t>plug-ins.</a:t>
            </a:r>
            <a:endParaRPr lang="en-US" dirty="0"/>
          </a:p>
          <a:p>
            <a:r>
              <a:rPr lang="en-US" dirty="0" smtClean="0"/>
              <a:t>It gives </a:t>
            </a:r>
            <a:r>
              <a:rPr lang="en-US" dirty="0"/>
              <a:t>you </a:t>
            </a:r>
            <a:r>
              <a:rPr lang="en-US" dirty="0" smtClean="0"/>
              <a:t>ability </a:t>
            </a:r>
            <a:r>
              <a:rPr lang="en-US" dirty="0"/>
              <a:t>to </a:t>
            </a:r>
            <a:r>
              <a:rPr lang="en-US" dirty="0" smtClean="0"/>
              <a:t>create </a:t>
            </a:r>
            <a:r>
              <a:rPr lang="en-US" b="1" u="sng" dirty="0"/>
              <a:t>responsive</a:t>
            </a:r>
            <a:r>
              <a:rPr lang="en-US" dirty="0"/>
              <a:t> </a:t>
            </a:r>
            <a:r>
              <a:rPr lang="en-US" dirty="0" smtClean="0"/>
              <a:t>designs.</a:t>
            </a:r>
          </a:p>
          <a:p>
            <a:r>
              <a:rPr lang="en-US" dirty="0" smtClean="0"/>
              <a:t>Its compatible with all </a:t>
            </a:r>
            <a:r>
              <a:rPr lang="en-US" b="1" dirty="0" smtClean="0"/>
              <a:t>modern</a:t>
            </a:r>
            <a:r>
              <a:rPr lang="en-US" dirty="0" smtClean="0"/>
              <a:t> </a:t>
            </a:r>
            <a:r>
              <a:rPr lang="en-US" b="1" dirty="0" smtClean="0"/>
              <a:t>browsers.</a:t>
            </a:r>
            <a:endParaRPr lang="en-US" b="1" dirty="0"/>
          </a:p>
        </p:txBody>
      </p:sp>
    </p:spTree>
    <p:extLst>
      <p:ext uri="{BB962C8B-B14F-4D97-AF65-F5344CB8AC3E}">
        <p14:creationId xmlns="" xmlns:p14="http://schemas.microsoft.com/office/powerpoint/2010/main" val="134757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Use Bootstrap?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dirty="0" smtClean="0"/>
              <a:t>Download from </a:t>
            </a:r>
            <a:r>
              <a:rPr lang="en-US" sz="3600" b="1" dirty="0" smtClean="0"/>
              <a:t>getbootstrap.com </a:t>
            </a:r>
            <a:r>
              <a:rPr lang="en-US" sz="3600" dirty="0" smtClean="0"/>
              <a:t>and include CSS, JS files in your project.</a:t>
            </a:r>
            <a:r>
              <a:rPr lang="en-US" sz="3800" dirty="0" smtClean="0"/>
              <a:t> </a:t>
            </a:r>
            <a:r>
              <a:rPr lang="en-US" sz="2000" dirty="0" smtClean="0">
                <a:hlinkClick r:id="rId2"/>
              </a:rPr>
              <a:t>http</a:t>
            </a:r>
            <a:r>
              <a:rPr lang="en-US" sz="2000" dirty="0">
                <a:hlinkClick r:id="rId2"/>
              </a:rPr>
              <a:t>://</a:t>
            </a:r>
            <a:r>
              <a:rPr lang="en-US" sz="2000" dirty="0" smtClean="0">
                <a:hlinkClick r:id="rId2"/>
              </a:rPr>
              <a:t>getbootstrap.com/docs/4.0/getting-started/download/</a:t>
            </a:r>
            <a:r>
              <a:rPr lang="en-US" sz="3100" dirty="0" smtClean="0"/>
              <a:t/>
            </a:r>
            <a:br>
              <a:rPr lang="en-US" sz="3100" dirty="0" smtClean="0"/>
            </a:br>
            <a:endParaRPr lang="en-US" sz="3100" dirty="0" smtClean="0"/>
          </a:p>
          <a:p>
            <a:r>
              <a:rPr lang="en-US" sz="3600" dirty="0" smtClean="0"/>
              <a:t>In production, we often use CDN links e.g.</a:t>
            </a:r>
            <a:endParaRPr lang="en-US" sz="3600" dirty="0"/>
          </a:p>
          <a:p>
            <a:pPr marL="457200" lvl="1" indent="0">
              <a:buNone/>
            </a:pPr>
            <a:r>
              <a:rPr lang="en-US" sz="2600" dirty="0" smtClean="0"/>
              <a:t>&lt;</a:t>
            </a:r>
            <a:r>
              <a:rPr lang="en-US" sz="2600" dirty="0"/>
              <a:t>link </a:t>
            </a:r>
            <a:r>
              <a:rPr lang="en-US" sz="2600" dirty="0" err="1"/>
              <a:t>rel</a:t>
            </a:r>
            <a:r>
              <a:rPr lang="en-US" sz="2600" dirty="0"/>
              <a:t>="stylesheet" </a:t>
            </a:r>
            <a:r>
              <a:rPr lang="en-US" sz="2600" dirty="0" err="1"/>
              <a:t>href</a:t>
            </a:r>
            <a:r>
              <a:rPr lang="en-US" sz="2600" dirty="0"/>
              <a:t>="http://maxcdn.bootstrapcdn.com/bootstrap/3.3.6/</a:t>
            </a:r>
            <a:r>
              <a:rPr lang="en-US" sz="2600" dirty="0" err="1"/>
              <a:t>css</a:t>
            </a:r>
            <a:r>
              <a:rPr lang="en-US" sz="2600" dirty="0"/>
              <a:t>/bootstrap.min.css"&gt;</a:t>
            </a:r>
            <a:r>
              <a:rPr lang="en-US" sz="1300" dirty="0"/>
              <a:t/>
            </a:r>
            <a:br>
              <a:rPr lang="en-US" sz="1300" dirty="0"/>
            </a:br>
            <a:r>
              <a:rPr lang="en-US" sz="2100" dirty="0"/>
              <a:t/>
            </a:r>
            <a:br>
              <a:rPr lang="en-US" sz="2100" dirty="0"/>
            </a:br>
            <a:r>
              <a:rPr lang="en-US" sz="2100" dirty="0"/>
              <a:t>&lt;!-- jQuery library --&gt;</a:t>
            </a:r>
            <a:br>
              <a:rPr lang="en-US" sz="2100" dirty="0"/>
            </a:br>
            <a:r>
              <a:rPr lang="en-US" sz="2100" dirty="0"/>
              <a:t>&lt;script </a:t>
            </a:r>
            <a:r>
              <a:rPr lang="en-US" sz="2100" dirty="0" err="1"/>
              <a:t>src</a:t>
            </a:r>
            <a:r>
              <a:rPr lang="en-US" sz="2100" dirty="0"/>
              <a:t>="https://ajax.googleapis.com/ajax/libs/</a:t>
            </a:r>
            <a:r>
              <a:rPr lang="en-US" sz="2100" dirty="0" err="1"/>
              <a:t>jquery</a:t>
            </a:r>
            <a:r>
              <a:rPr lang="en-US" sz="2100" dirty="0"/>
              <a:t>/1.12.0/jquery.min.js"&gt;&lt;/script</a:t>
            </a:r>
            <a:r>
              <a:rPr lang="en-US" sz="2100" dirty="0" smtClean="0"/>
              <a:t>&gt;</a:t>
            </a:r>
          </a:p>
          <a:p>
            <a:endParaRPr lang="en-US" sz="4000" dirty="0" smtClean="0"/>
          </a:p>
          <a:p>
            <a:r>
              <a:rPr lang="en-US" sz="3600" dirty="0" smtClean="0"/>
              <a:t>Once library is added in the web page, you can use the pre-defined CSS classes in page HTML.</a:t>
            </a:r>
            <a:endParaRPr lang="en-US" sz="3600" dirty="0"/>
          </a:p>
        </p:txBody>
      </p:sp>
    </p:spTree>
    <p:extLst>
      <p:ext uri="{BB962C8B-B14F-4D97-AF65-F5344CB8AC3E}">
        <p14:creationId xmlns="" xmlns:p14="http://schemas.microsoft.com/office/powerpoint/2010/main" val="12125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.container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="" xmlns:p14="http://schemas.microsoft.com/office/powerpoint/2010/main" val="593512947"/>
              </p:ext>
            </p:extLst>
          </p:nvPr>
        </p:nvGraphicFramePr>
        <p:xfrm>
          <a:off x="0" y="1610232"/>
          <a:ext cx="9144000" cy="238817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0758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smtClean="0">
                          <a:effectLst/>
                        </a:rPr>
                        <a:t>Extra </a:t>
                      </a:r>
                      <a:r>
                        <a:rPr lang="en-US" sz="2000" b="1" dirty="0">
                          <a:effectLst/>
                        </a:rPr>
                        <a:t>small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&lt;576px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Small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≥576px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Medium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≥768px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Large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≥992px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Extra large</a:t>
                      </a:r>
                      <a:br>
                        <a:rPr lang="en-US" sz="2000" b="1" dirty="0">
                          <a:effectLst/>
                        </a:rPr>
                      </a:br>
                      <a:r>
                        <a:rPr lang="en-US" sz="2000" b="1" dirty="0">
                          <a:effectLst/>
                        </a:rPr>
                        <a:t>≥1200px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688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max-width</a:t>
                      </a:r>
                    </a:p>
                  </a:txBody>
                  <a:tcPr marL="102174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100%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540px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720px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960px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>
                          <a:effectLst/>
                        </a:rPr>
                        <a:t>1140px</a:t>
                      </a: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8820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smtClean="0">
                          <a:effectLst/>
                        </a:rPr>
                        <a:t>Short</a:t>
                      </a:r>
                      <a:r>
                        <a:rPr lang="en-US" sz="2000" b="1" baseline="0" dirty="0" smtClean="0">
                          <a:effectLst/>
                        </a:rPr>
                        <a:t> Word </a:t>
                      </a:r>
                    </a:p>
                    <a:p>
                      <a:pPr algn="ctr" fontAlgn="t"/>
                      <a:r>
                        <a:rPr lang="en-US" sz="2000" b="1" baseline="0" dirty="0" smtClean="0">
                          <a:effectLst/>
                        </a:rPr>
                        <a:t>Used</a:t>
                      </a:r>
                      <a:endParaRPr lang="en-US" sz="2000" b="1" dirty="0">
                        <a:effectLst/>
                      </a:endParaRPr>
                    </a:p>
                  </a:txBody>
                  <a:tcPr marL="102174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err="1" smtClean="0">
                          <a:effectLst/>
                        </a:rPr>
                        <a:t>xs</a:t>
                      </a:r>
                      <a:endParaRPr lang="en-US" sz="2000" b="1" dirty="0">
                        <a:effectLst/>
                      </a:endParaRP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err="1" smtClean="0">
                          <a:effectLst/>
                        </a:rPr>
                        <a:t>sm</a:t>
                      </a:r>
                      <a:endParaRPr lang="en-US" sz="2000" b="1" dirty="0">
                        <a:effectLst/>
                      </a:endParaRP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smtClean="0">
                          <a:effectLst/>
                        </a:rPr>
                        <a:t>md</a:t>
                      </a:r>
                      <a:endParaRPr lang="en-US" sz="2000" b="1" dirty="0">
                        <a:effectLst/>
                      </a:endParaRP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err="1" smtClean="0">
                          <a:effectLst/>
                        </a:rPr>
                        <a:t>lg</a:t>
                      </a:r>
                      <a:endParaRPr lang="en-US" sz="2000" b="1" dirty="0">
                        <a:effectLst/>
                      </a:endParaRP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1" dirty="0" smtClean="0">
                          <a:effectLst/>
                        </a:rPr>
                        <a:t>xl</a:t>
                      </a:r>
                      <a:endParaRPr lang="en-US" sz="2000" b="1" dirty="0">
                        <a:effectLst/>
                      </a:endParaRPr>
                    </a:p>
                  </a:txBody>
                  <a:tcPr marL="51087" marR="51087" marT="51087" marB="5108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6526220"/>
                  </a:ext>
                </a:extLst>
              </a:tr>
            </a:tbl>
          </a:graphicData>
        </a:graphic>
      </p:graphicFrame>
      <p:pic>
        <p:nvPicPr>
          <p:cNvPr id="8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98406"/>
            <a:ext cx="9144000" cy="246680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82014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 Grid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041" y="3886200"/>
            <a:ext cx="8229600" cy="25146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2000" dirty="0" smtClean="0"/>
              <a:t>Bootstrap's </a:t>
            </a:r>
            <a:r>
              <a:rPr lang="en-US" sz="2000" dirty="0"/>
              <a:t>grid system allows up to 12 columns </a:t>
            </a:r>
            <a:r>
              <a:rPr lang="en-US" sz="2000" dirty="0" smtClean="0"/>
              <a:t>in a page or row.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We can group columns to make wider </a:t>
            </a:r>
            <a:r>
              <a:rPr lang="en-US" sz="2000" dirty="0"/>
              <a:t>columns e.g. </a:t>
            </a:r>
            <a:r>
              <a:rPr lang="en-US" sz="2000" dirty="0" smtClean="0"/>
              <a:t>col-1, col-3, col-4, col-6, col-12 etc.</a:t>
            </a:r>
          </a:p>
          <a:p>
            <a:pPr>
              <a:lnSpc>
                <a:spcPct val="120000"/>
              </a:lnSpc>
            </a:pPr>
            <a:r>
              <a:rPr lang="en-US" sz="2000" dirty="0" smtClean="0"/>
              <a:t>When defined properly, columns re-arrange </a:t>
            </a:r>
            <a:r>
              <a:rPr lang="en-US" sz="2000" dirty="0"/>
              <a:t>depending on the screen </a:t>
            </a:r>
            <a:r>
              <a:rPr lang="en-US" sz="2000" dirty="0" smtClean="0"/>
              <a:t>size. It help to make responsive design.</a:t>
            </a:r>
            <a:endParaRPr lang="en-US" sz="2000" dirty="0"/>
          </a:p>
        </p:txBody>
      </p:sp>
      <p:pic>
        <p:nvPicPr>
          <p:cNvPr id="5" name="Content Placeholder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4982"/>
            <a:ext cx="9144000" cy="227261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7213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Grid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The grid </a:t>
            </a:r>
            <a:r>
              <a:rPr lang="en-US" sz="2400" dirty="0"/>
              <a:t>system has four </a:t>
            </a:r>
            <a:r>
              <a:rPr lang="en-US" sz="2400" b="1" dirty="0" smtClean="0"/>
              <a:t>breakpoint selectors</a:t>
            </a:r>
            <a:r>
              <a:rPr lang="en-US" sz="2400" dirty="0" smtClean="0"/>
              <a:t>:</a:t>
            </a:r>
            <a:endParaRPr lang="en-US" sz="2400" dirty="0"/>
          </a:p>
          <a:p>
            <a:pPr lvl="1"/>
            <a:r>
              <a:rPr lang="en-US" sz="2000" dirty="0" err="1"/>
              <a:t>xs</a:t>
            </a:r>
            <a:r>
              <a:rPr lang="en-US" sz="2000" dirty="0"/>
              <a:t> (for phones</a:t>
            </a:r>
            <a:r>
              <a:rPr lang="en-US" sz="2000" dirty="0" smtClean="0"/>
              <a:t>) – no need to specify, its default </a:t>
            </a:r>
            <a:endParaRPr lang="en-US" sz="2000" dirty="0"/>
          </a:p>
          <a:p>
            <a:pPr lvl="1"/>
            <a:r>
              <a:rPr lang="en-US" sz="2000" dirty="0" err="1"/>
              <a:t>sm</a:t>
            </a:r>
            <a:r>
              <a:rPr lang="en-US" sz="2000" dirty="0"/>
              <a:t> </a:t>
            </a:r>
            <a:r>
              <a:rPr lang="en-US" sz="2000" dirty="0" smtClean="0"/>
              <a:t>(for small devices e.g. tablets</a:t>
            </a:r>
            <a:r>
              <a:rPr lang="en-US" sz="2000" dirty="0"/>
              <a:t>)</a:t>
            </a:r>
          </a:p>
          <a:p>
            <a:pPr lvl="1"/>
            <a:r>
              <a:rPr lang="en-US" sz="2000" dirty="0"/>
              <a:t>md </a:t>
            </a:r>
            <a:r>
              <a:rPr lang="en-US" sz="2000" dirty="0" smtClean="0"/>
              <a:t>(for medium sized screen e.g. desktops and laptops)</a:t>
            </a:r>
            <a:endParaRPr lang="en-US" sz="2000" dirty="0"/>
          </a:p>
          <a:p>
            <a:pPr lvl="1"/>
            <a:r>
              <a:rPr lang="en-US" sz="2000" dirty="0" err="1"/>
              <a:t>lg</a:t>
            </a:r>
            <a:r>
              <a:rPr lang="en-US" sz="2000" dirty="0"/>
              <a:t> (for larger desktops</a:t>
            </a:r>
            <a:r>
              <a:rPr lang="en-US" sz="2000" dirty="0" smtClean="0"/>
              <a:t>)</a:t>
            </a:r>
          </a:p>
          <a:p>
            <a:pPr lvl="1"/>
            <a:r>
              <a:rPr lang="en-US" sz="2000" dirty="0" smtClean="0"/>
              <a:t>xl (for extra large displays) </a:t>
            </a:r>
          </a:p>
          <a:p>
            <a:pPr lvl="1"/>
            <a:endParaRPr lang="en-US" sz="2000" dirty="0"/>
          </a:p>
          <a:p>
            <a:r>
              <a:rPr lang="en-US" sz="2400" dirty="0" smtClean="0"/>
              <a:t>Grid breakpoints are based on </a:t>
            </a:r>
            <a:r>
              <a:rPr lang="en-US" sz="2400" b="1" dirty="0" smtClean="0"/>
              <a:t>minimum width media queries</a:t>
            </a:r>
            <a:r>
              <a:rPr lang="en-US" sz="2400" dirty="0" smtClean="0"/>
              <a:t> e.g. </a:t>
            </a:r>
            <a:r>
              <a:rPr lang="en-US" sz="2400" b="1" dirty="0" smtClean="0"/>
              <a:t>col-sm-4 </a:t>
            </a:r>
            <a:r>
              <a:rPr lang="en-US" sz="2400" dirty="0" smtClean="0"/>
              <a:t>applies to small, medium, large and extra large. 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7361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Grid </a:t>
            </a:r>
            <a:r>
              <a:rPr lang="en-US" dirty="0" smtClean="0"/>
              <a:t>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.</a:t>
            </a:r>
            <a:r>
              <a:rPr lang="en-US" sz="3600" dirty="0" smtClean="0"/>
              <a:t>col-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(extra small devices. width &lt; 576px)</a:t>
            </a:r>
          </a:p>
          <a:p>
            <a:pPr>
              <a:lnSpc>
                <a:spcPct val="150000"/>
              </a:lnSpc>
            </a:pPr>
            <a:r>
              <a:rPr lang="en-US" sz="3600" dirty="0" smtClean="0"/>
              <a:t>.</a:t>
            </a:r>
            <a:r>
              <a:rPr lang="en-US" sz="3600" dirty="0"/>
              <a:t>col-</a:t>
            </a:r>
            <a:r>
              <a:rPr lang="en-US" sz="3600" dirty="0" err="1"/>
              <a:t>sm</a:t>
            </a:r>
            <a:r>
              <a:rPr lang="en-US" sz="3600" dirty="0"/>
              <a:t>-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small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devices i.e. =&gt; 576px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.col-md-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medium devices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i.e. =&gt;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768px)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.col-</a:t>
            </a:r>
            <a:r>
              <a:rPr lang="en-US" sz="3600" dirty="0" err="1"/>
              <a:t>lg</a:t>
            </a:r>
            <a:r>
              <a:rPr lang="en-US" sz="3600" dirty="0"/>
              <a:t>-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large devices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i.e. =&gt; 992px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.col-xl-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3600" dirty="0" err="1">
                <a:solidFill>
                  <a:schemeClr val="bg1">
                    <a:lumMod val="50000"/>
                  </a:schemeClr>
                </a:solidFill>
              </a:rPr>
              <a:t>xlarge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bg1">
                    <a:lumMod val="50000"/>
                  </a:schemeClr>
                </a:solidFill>
              </a:rPr>
              <a:t>devices i.e. =&gt;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</a:rPr>
              <a:t>1200px)</a:t>
            </a:r>
          </a:p>
        </p:txBody>
      </p:sp>
    </p:spTree>
    <p:extLst>
      <p:ext uri="{BB962C8B-B14F-4D97-AF65-F5344CB8AC3E}">
        <p14:creationId xmlns="" xmlns:p14="http://schemas.microsoft.com/office/powerpoint/2010/main" val="154928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Bootstrap Uses Media Queries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3" y="2131932"/>
            <a:ext cx="9132627" cy="47260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95" y="1295400"/>
            <a:ext cx="89813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No media query for `</a:t>
            </a:r>
            <a:r>
              <a:rPr lang="en-US" sz="2800" dirty="0" err="1" smtClean="0"/>
              <a:t>xs`</a:t>
            </a:r>
            <a:r>
              <a:rPr lang="en-US" sz="2800" dirty="0" smtClean="0"/>
              <a:t> since this is the default in Bootstrap.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514396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 System </a:t>
            </a:r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" y="1295400"/>
            <a:ext cx="81915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sz="2400" dirty="0"/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</a:rPr>
              <a:t>Use </a:t>
            </a:r>
            <a:r>
              <a:rPr lang="en-US" sz="2400" b="1" dirty="0" smtClean="0">
                <a:solidFill>
                  <a:srgbClr val="DC143C"/>
                </a:solidFill>
                <a:cs typeface="Courier New" panose="02070309020205020404" pitchFamily="49" charset="0"/>
              </a:rPr>
              <a:t>.container </a:t>
            </a:r>
            <a:r>
              <a:rPr lang="en-US" sz="2400" dirty="0" smtClean="0">
                <a:solidFill>
                  <a:srgbClr val="000000"/>
                </a:solidFill>
              </a:rPr>
              <a:t>for </a:t>
            </a:r>
            <a:r>
              <a:rPr lang="en-US" sz="2400" b="1" dirty="0" smtClean="0">
                <a:solidFill>
                  <a:srgbClr val="000000"/>
                </a:solidFill>
              </a:rPr>
              <a:t>responsive pixel width </a:t>
            </a:r>
            <a:r>
              <a:rPr lang="en-US" sz="2400" dirty="0" smtClean="0">
                <a:solidFill>
                  <a:srgbClr val="000000"/>
                </a:solidFill>
              </a:rPr>
              <a:t>or</a:t>
            </a:r>
            <a:r>
              <a:rPr lang="en-US" sz="2400" dirty="0">
                <a:solidFill>
                  <a:srgbClr val="000000"/>
                </a:solidFill>
              </a:rPr>
              <a:t> </a:t>
            </a:r>
            <a:r>
              <a:rPr lang="en-US" sz="2400" b="1" dirty="0">
                <a:solidFill>
                  <a:srgbClr val="DC143C"/>
                </a:solidFill>
                <a:cs typeface="Courier New" panose="02070309020205020404" pitchFamily="49" charset="0"/>
              </a:rPr>
              <a:t>.container-fluid</a:t>
            </a:r>
            <a:r>
              <a:rPr lang="en-US" sz="2400" dirty="0">
                <a:solidFill>
                  <a:srgbClr val="000000"/>
                </a:solidFill>
              </a:rPr>
              <a:t> </a:t>
            </a:r>
            <a:r>
              <a:rPr lang="en-US" sz="2400" dirty="0" smtClean="0">
                <a:solidFill>
                  <a:srgbClr val="000000"/>
                </a:solidFill>
              </a:rPr>
              <a:t>for 100% width</a:t>
            </a:r>
            <a:br>
              <a:rPr lang="en-US" sz="2400" dirty="0" smtClean="0">
                <a:solidFill>
                  <a:srgbClr val="000000"/>
                </a:solidFill>
              </a:rPr>
            </a:br>
            <a:endParaRPr lang="en-US" sz="2400" dirty="0" smtClean="0">
              <a:solidFill>
                <a:srgbClr val="000000"/>
              </a:solidFill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</a:rPr>
              <a:t> </a:t>
            </a:r>
            <a:r>
              <a:rPr lang="en-US" sz="2400" dirty="0" smtClean="0">
                <a:solidFill>
                  <a:srgbClr val="DC143C"/>
                </a:solidFill>
                <a:cs typeface="Courier New" panose="02070309020205020404" pitchFamily="49" charset="0"/>
              </a:rPr>
              <a:t>.</a:t>
            </a:r>
            <a:r>
              <a:rPr lang="en-US" sz="2400" b="1" dirty="0" smtClean="0">
                <a:solidFill>
                  <a:srgbClr val="DC143C"/>
                </a:solidFill>
                <a:cs typeface="Courier New" panose="02070309020205020404" pitchFamily="49" charset="0"/>
              </a:rPr>
              <a:t>row </a:t>
            </a:r>
            <a:r>
              <a:rPr lang="en-US" sz="2400" dirty="0" smtClean="0">
                <a:solidFill>
                  <a:srgbClr val="000000"/>
                </a:solidFill>
              </a:rPr>
              <a:t>is wrapper for columns</a:t>
            </a:r>
            <a:br>
              <a:rPr lang="en-US" sz="2400" dirty="0" smtClean="0">
                <a:solidFill>
                  <a:srgbClr val="000000"/>
                </a:solidFill>
              </a:rPr>
            </a:br>
            <a:endParaRPr lang="en-US" sz="2400" dirty="0" smtClean="0">
              <a:solidFill>
                <a:srgbClr val="000000"/>
              </a:solidFill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</a:rPr>
              <a:t>Content </a:t>
            </a:r>
            <a:r>
              <a:rPr lang="en-US" sz="2400" dirty="0">
                <a:solidFill>
                  <a:srgbClr val="000000"/>
                </a:solidFill>
              </a:rPr>
              <a:t>should be placed </a:t>
            </a:r>
            <a:r>
              <a:rPr lang="en-US" sz="2400" dirty="0" smtClean="0">
                <a:solidFill>
                  <a:srgbClr val="000000"/>
                </a:solidFill>
              </a:rPr>
              <a:t>in columns. Only </a:t>
            </a:r>
            <a:r>
              <a:rPr lang="en-US" sz="2400" dirty="0">
                <a:solidFill>
                  <a:srgbClr val="000000"/>
                </a:solidFill>
              </a:rPr>
              <a:t>columns may be </a:t>
            </a:r>
            <a:r>
              <a:rPr lang="en-US" sz="2400" b="1" dirty="0">
                <a:solidFill>
                  <a:srgbClr val="000000"/>
                </a:solidFill>
              </a:rPr>
              <a:t>immediate</a:t>
            </a:r>
            <a:r>
              <a:rPr lang="en-US" sz="2400" dirty="0">
                <a:solidFill>
                  <a:srgbClr val="000000"/>
                </a:solidFill>
              </a:rPr>
              <a:t> children of </a:t>
            </a:r>
            <a:r>
              <a:rPr lang="en-US" sz="2400" dirty="0" smtClean="0">
                <a:solidFill>
                  <a:srgbClr val="000000"/>
                </a:solidFill>
              </a:rPr>
              <a:t>rows.</a:t>
            </a:r>
            <a:br>
              <a:rPr lang="en-US" sz="2400" dirty="0" smtClean="0">
                <a:solidFill>
                  <a:srgbClr val="000000"/>
                </a:solidFill>
              </a:rPr>
            </a:br>
            <a:endParaRPr lang="en-US" sz="2400" dirty="0">
              <a:solidFill>
                <a:srgbClr val="000000"/>
              </a:solidFill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</a:rPr>
              <a:t>Predefined classes like </a:t>
            </a:r>
            <a:r>
              <a:rPr lang="en-US" sz="2400" dirty="0">
                <a:solidFill>
                  <a:srgbClr val="DC143C"/>
                </a:solidFill>
                <a:cs typeface="Courier New" panose="02070309020205020404" pitchFamily="49" charset="0"/>
              </a:rPr>
              <a:t>.</a:t>
            </a:r>
            <a:r>
              <a:rPr lang="en-US" sz="2400" b="1" dirty="0">
                <a:solidFill>
                  <a:srgbClr val="DC143C"/>
                </a:solidFill>
                <a:cs typeface="Courier New" panose="02070309020205020404" pitchFamily="49" charset="0"/>
              </a:rPr>
              <a:t>row</a:t>
            </a:r>
            <a:r>
              <a:rPr lang="en-US" sz="2400" dirty="0">
                <a:solidFill>
                  <a:srgbClr val="DC143C"/>
                </a:solidFill>
                <a:cs typeface="Courier New" panose="02070309020205020404" pitchFamily="49" charset="0"/>
              </a:rPr>
              <a:t> </a:t>
            </a:r>
            <a:r>
              <a:rPr lang="en-US" sz="2400" dirty="0">
                <a:solidFill>
                  <a:srgbClr val="000000"/>
                </a:solidFill>
              </a:rPr>
              <a:t>and </a:t>
            </a:r>
            <a:r>
              <a:rPr lang="en-US" sz="2400" dirty="0">
                <a:solidFill>
                  <a:srgbClr val="DC143C"/>
                </a:solidFill>
                <a:cs typeface="Courier New" panose="02070309020205020404" pitchFamily="49" charset="0"/>
              </a:rPr>
              <a:t>.</a:t>
            </a:r>
            <a:r>
              <a:rPr lang="en-US" sz="2400" b="1" dirty="0">
                <a:solidFill>
                  <a:srgbClr val="DC143C"/>
                </a:solidFill>
                <a:cs typeface="Courier New" panose="02070309020205020404" pitchFamily="49" charset="0"/>
              </a:rPr>
              <a:t>col-sm-4</a:t>
            </a:r>
            <a:r>
              <a:rPr lang="en-US" sz="2400" dirty="0">
                <a:solidFill>
                  <a:srgbClr val="000000"/>
                </a:solidFill>
              </a:rPr>
              <a:t> are available for quickly making grid </a:t>
            </a:r>
            <a:r>
              <a:rPr lang="en-US" sz="2400" dirty="0" smtClean="0">
                <a:solidFill>
                  <a:srgbClr val="000000"/>
                </a:solidFill>
              </a:rPr>
              <a:t>layouts.</a:t>
            </a:r>
          </a:p>
        </p:txBody>
      </p:sp>
    </p:spTree>
    <p:extLst>
      <p:ext uri="{BB962C8B-B14F-4D97-AF65-F5344CB8AC3E}">
        <p14:creationId xmlns="" xmlns:p14="http://schemas.microsoft.com/office/powerpoint/2010/main" val="155011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Grid System </a:t>
            </a:r>
            <a:r>
              <a:rPr lang="en-US" dirty="0" smtClean="0"/>
              <a:t>Rules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47700" y="1295400"/>
            <a:ext cx="78105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</a:rPr>
              <a:t>Box Model do not break because of box-sizing property. See col-md-* width and padding… </a:t>
            </a:r>
            <a:br>
              <a:rPr lang="en-US" sz="2400" dirty="0" smtClean="0">
                <a:solidFill>
                  <a:srgbClr val="000000"/>
                </a:solidFill>
              </a:rPr>
            </a:br>
            <a:endParaRPr lang="en-US" sz="2400" dirty="0" smtClean="0">
              <a:solidFill>
                <a:srgbClr val="000000"/>
              </a:solidFill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</a:rPr>
              <a:t>Columns </a:t>
            </a:r>
            <a:r>
              <a:rPr lang="en-US" sz="2400" dirty="0">
                <a:solidFill>
                  <a:srgbClr val="000000"/>
                </a:solidFill>
              </a:rPr>
              <a:t>create gutters (gaps between column content) via padding. </a:t>
            </a:r>
            <a:r>
              <a:rPr lang="en-US" sz="2400" dirty="0" smtClean="0">
                <a:solidFill>
                  <a:srgbClr val="000000"/>
                </a:solidFill>
              </a:rPr>
              <a:t>That padding is offset in rows for the first and last column via negative margin on </a:t>
            </a:r>
            <a:r>
              <a:rPr lang="en-US" sz="2400" dirty="0" smtClean="0">
                <a:solidFill>
                  <a:srgbClr val="DC143C"/>
                </a:solidFill>
                <a:cs typeface="Courier New" panose="02070309020205020404" pitchFamily="49" charset="0"/>
              </a:rPr>
              <a:t>.row</a:t>
            </a:r>
            <a:r>
              <a:rPr lang="ur-PK" sz="2400" dirty="0" smtClean="0">
                <a:solidFill>
                  <a:srgbClr val="DC143C"/>
                </a:solidFill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</a:rPr>
              <a:t>to avoid double gap e.g. container and row padding.</a:t>
            </a:r>
            <a:br>
              <a:rPr lang="en-US" sz="2400" dirty="0" smtClean="0">
                <a:solidFill>
                  <a:srgbClr val="000000"/>
                </a:solidFill>
              </a:rPr>
            </a:br>
            <a:endParaRPr lang="en-US" sz="2400" dirty="0" smtClean="0">
              <a:solidFill>
                <a:srgbClr val="DC143C"/>
              </a:solidFill>
              <a:cs typeface="Courier New" panose="02070309020205020404" pitchFamily="49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2400" dirty="0" smtClean="0">
                <a:solidFill>
                  <a:srgbClr val="000000"/>
                </a:solidFill>
              </a:rPr>
              <a:t>Grid </a:t>
            </a:r>
            <a:r>
              <a:rPr lang="en-US" sz="2400" dirty="0">
                <a:solidFill>
                  <a:srgbClr val="000000"/>
                </a:solidFill>
              </a:rPr>
              <a:t>columns are created by specifying the number of 12 available columns you wish to span. For example, three equal columns would use three </a:t>
            </a:r>
            <a:r>
              <a:rPr lang="en-US" sz="2400" dirty="0">
                <a:solidFill>
                  <a:srgbClr val="DC143C"/>
                </a:solidFill>
                <a:cs typeface="Courier New" panose="02070309020205020404" pitchFamily="49" charset="0"/>
              </a:rPr>
              <a:t>.</a:t>
            </a:r>
            <a:r>
              <a:rPr lang="en-US" sz="2400" dirty="0" smtClean="0">
                <a:solidFill>
                  <a:srgbClr val="DC143C"/>
                </a:solidFill>
                <a:cs typeface="Courier New" panose="02070309020205020404" pitchFamily="49" charset="0"/>
              </a:rPr>
              <a:t>col-sm-4</a:t>
            </a: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1172796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Structure </a:t>
            </a:r>
            <a:r>
              <a:rPr lang="en-US" dirty="0"/>
              <a:t>of </a:t>
            </a:r>
            <a:r>
              <a:rPr lang="en-US" dirty="0" smtClean="0"/>
              <a:t>Web Page using Bootstrap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86" y="1524000"/>
            <a:ext cx="5566913" cy="526163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0245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Sizing (m Margin)(p Padding)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 - for classes that set margin-top or padding-top</a:t>
            </a:r>
          </a:p>
          <a:p>
            <a:r>
              <a:rPr lang="en-US" sz="2400" dirty="0"/>
              <a:t>b - for classes that set margin-bottom or padding-bottom</a:t>
            </a:r>
          </a:p>
          <a:p>
            <a:r>
              <a:rPr lang="en-US" sz="2400" dirty="0"/>
              <a:t>l - for classes that set margin-left or padding-left</a:t>
            </a:r>
          </a:p>
          <a:p>
            <a:r>
              <a:rPr lang="en-US" sz="2400" dirty="0"/>
              <a:t>r - for classes that set margin-right or padding-right</a:t>
            </a:r>
          </a:p>
          <a:p>
            <a:r>
              <a:rPr lang="en-US" sz="2400" dirty="0"/>
              <a:t>x - for classes that set both *-left and *-right</a:t>
            </a:r>
          </a:p>
          <a:p>
            <a:r>
              <a:rPr lang="en-US" sz="2400" dirty="0"/>
              <a:t>y - for classes that set both *-top and *-bottom</a:t>
            </a:r>
          </a:p>
          <a:p>
            <a:r>
              <a:rPr lang="en-US" sz="2400" dirty="0"/>
              <a:t>blank - for classes that set a margin or padding on all 4 sides of the element</a:t>
            </a:r>
          </a:p>
        </p:txBody>
      </p:sp>
    </p:spTree>
    <p:extLst>
      <p:ext uri="{BB962C8B-B14F-4D97-AF65-F5344CB8AC3E}">
        <p14:creationId xmlns="" xmlns:p14="http://schemas.microsoft.com/office/powerpoint/2010/main" val="318107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Sizing (m Margin)(p Padding)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0 - for classes that eliminate the margin or padding by setting it to 0</a:t>
            </a:r>
          </a:p>
          <a:p>
            <a:r>
              <a:rPr lang="en-US" sz="2000" dirty="0"/>
              <a:t>1 - (by default) for classes that set the margin or padding to $spacer * .25</a:t>
            </a:r>
          </a:p>
          <a:p>
            <a:r>
              <a:rPr lang="en-US" sz="2000" dirty="0"/>
              <a:t>2 - (by default) for classes that set the margin or padding to $spacer * .5</a:t>
            </a:r>
          </a:p>
          <a:p>
            <a:r>
              <a:rPr lang="en-US" sz="2000" dirty="0"/>
              <a:t>3 - (by default) for classes that set the margin or padding to $spacer</a:t>
            </a:r>
          </a:p>
          <a:p>
            <a:r>
              <a:rPr lang="en-US" sz="2000" dirty="0"/>
              <a:t>4 - (by default) for classes that set the margin or padding to $spacer * 1.5</a:t>
            </a:r>
          </a:p>
          <a:p>
            <a:r>
              <a:rPr lang="en-US" sz="2000" dirty="0"/>
              <a:t>5 - (by default) for classes that set the margin or padding to $spacer * 3</a:t>
            </a:r>
          </a:p>
          <a:p>
            <a:r>
              <a:rPr lang="en-US" sz="2000" dirty="0"/>
              <a:t>auto - for classes that set the margin to auto</a:t>
            </a:r>
          </a:p>
        </p:txBody>
      </p:sp>
    </p:spTree>
    <p:extLst>
      <p:ext uri="{BB962C8B-B14F-4D97-AF65-F5344CB8AC3E}">
        <p14:creationId xmlns="" xmlns:p14="http://schemas.microsoft.com/office/powerpoint/2010/main" val="281539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Explore Yourself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hlinkClick r:id="rId2"/>
              </a:rPr>
              <a:t>https://getbootstrap.com</a:t>
            </a:r>
            <a:r>
              <a:rPr lang="en-US" sz="2800" dirty="0" smtClean="0">
                <a:hlinkClick r:id="rId2"/>
              </a:rPr>
              <a:t>/</a:t>
            </a:r>
            <a:endParaRPr lang="en-US" sz="2800" dirty="0" smtClean="0"/>
          </a:p>
          <a:p>
            <a:r>
              <a:rPr lang="en-US" sz="2800" dirty="0">
                <a:hlinkClick r:id="rId3"/>
              </a:rPr>
              <a:t>https://www.w3schools.com/bootstrap4/default.asp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2086492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9718</TotalTime>
  <Words>603</Words>
  <Application>Microsoft Office PowerPoint</Application>
  <PresentationFormat>On-screen Show (4:3)</PresentationFormat>
  <Paragraphs>88</Paragraphs>
  <Slides>14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Introduction to Bootstrap 4</vt:lpstr>
      <vt:lpstr>Bootstrap</vt:lpstr>
      <vt:lpstr>How to Use Bootstrap?</vt:lpstr>
      <vt:lpstr>.container</vt:lpstr>
      <vt:lpstr>Bootstrap Grid System</vt:lpstr>
      <vt:lpstr>Bootstrap Grid System</vt:lpstr>
      <vt:lpstr>Grid Classes</vt:lpstr>
      <vt:lpstr>Bootstrap Uses Media Queries</vt:lpstr>
      <vt:lpstr>Grid System Rules</vt:lpstr>
      <vt:lpstr>Grid System Rules</vt:lpstr>
      <vt:lpstr>Structure of Web Page using Bootstrap</vt:lpstr>
      <vt:lpstr>Sizing (m Margin)(p Padding)</vt:lpstr>
      <vt:lpstr>Sizing (m Margin)(p Padding)</vt:lpstr>
      <vt:lpstr>Explore Yourself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(Cascading Style Sheet)</dc:title>
  <dc:creator>Asif</dc:creator>
  <cp:lastModifiedBy>Lenovo</cp:lastModifiedBy>
  <cp:revision>572</cp:revision>
  <dcterms:created xsi:type="dcterms:W3CDTF">2006-08-16T00:00:00Z</dcterms:created>
  <dcterms:modified xsi:type="dcterms:W3CDTF">2026-03-27T07:48:10Z</dcterms:modified>
</cp:coreProperties>
</file>