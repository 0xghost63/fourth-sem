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-264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836-C9CF-4FF4-BC94-0FBAE07D993E}" type="datetimeFigureOut">
              <a:rPr lang="en-US" smtClean="0"/>
              <a:pPr/>
              <a:t>4/4/2023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0A5F7-5BE0-49E7-BD08-38C5E02B5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83635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836-C9CF-4FF4-BC94-0FBAE07D993E}" type="datetimeFigureOut">
              <a:rPr lang="en-US" smtClean="0"/>
              <a:pPr/>
              <a:t>4/4/2023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0A5F7-5BE0-49E7-BD08-38C5E02B5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47556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836-C9CF-4FF4-BC94-0FBAE07D993E}" type="datetimeFigureOut">
              <a:rPr lang="en-US" smtClean="0"/>
              <a:pPr/>
              <a:t>4/4/2023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0A5F7-5BE0-49E7-BD08-38C5E02B5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1747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836-C9CF-4FF4-BC94-0FBAE07D993E}" type="datetimeFigureOut">
              <a:rPr lang="en-US" smtClean="0"/>
              <a:pPr/>
              <a:t>4/4/2023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0A5F7-5BE0-49E7-BD08-38C5E02B5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77274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836-C9CF-4FF4-BC94-0FBAE07D993E}" type="datetimeFigureOut">
              <a:rPr lang="en-US" smtClean="0"/>
              <a:pPr/>
              <a:t>4/4/2023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0A5F7-5BE0-49E7-BD08-38C5E02B5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50065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836-C9CF-4FF4-BC94-0FBAE07D993E}" type="datetimeFigureOut">
              <a:rPr lang="en-US" smtClean="0"/>
              <a:pPr/>
              <a:t>4/4/2023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0A5F7-5BE0-49E7-BD08-38C5E02B5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59632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836-C9CF-4FF4-BC94-0FBAE07D993E}" type="datetimeFigureOut">
              <a:rPr lang="en-US" smtClean="0"/>
              <a:pPr/>
              <a:t>4/4/2023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0A5F7-5BE0-49E7-BD08-38C5E02B5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0513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836-C9CF-4FF4-BC94-0FBAE07D993E}" type="datetimeFigureOut">
              <a:rPr lang="en-US" smtClean="0"/>
              <a:pPr/>
              <a:t>4/4/2023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0A5F7-5BE0-49E7-BD08-38C5E02B5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16558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836-C9CF-4FF4-BC94-0FBAE07D993E}" type="datetimeFigureOut">
              <a:rPr lang="en-US" smtClean="0"/>
              <a:pPr/>
              <a:t>4/4/2023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0A5F7-5BE0-49E7-BD08-38C5E02B5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45617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836-C9CF-4FF4-BC94-0FBAE07D993E}" type="datetimeFigureOut">
              <a:rPr lang="en-US" smtClean="0"/>
              <a:pPr/>
              <a:t>4/4/2023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0A5F7-5BE0-49E7-BD08-38C5E02B5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19234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836-C9CF-4FF4-BC94-0FBAE07D993E}" type="datetimeFigureOut">
              <a:rPr lang="en-US" smtClean="0"/>
              <a:pPr/>
              <a:t>4/4/2023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0A5F7-5BE0-49E7-BD08-38C5E02B5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47639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A5836-C9CF-4FF4-BC94-0FBAE07D993E}" type="datetimeFigureOut">
              <a:rPr lang="en-US" smtClean="0"/>
              <a:pPr/>
              <a:t>4/4/2023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0A5F7-5BE0-49E7-BD08-38C5E02B5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76692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yservice.org/discussion/2008/12/10/%7btopic%7d" TargetMode="External"/><Relationship Id="rId2" Type="http://schemas.openxmlformats.org/officeDocument/2006/relationships/hyperlink" Target="http://www.myservice.org/discussion/topics/%7btopic%7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myservice.org/books/1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8949" y="2673582"/>
            <a:ext cx="9144000" cy="944184"/>
          </a:xfrm>
        </p:spPr>
        <p:txBody>
          <a:bodyPr/>
          <a:lstStyle/>
          <a:p>
            <a:r>
              <a:rPr lang="en-US" dirty="0" smtClean="0"/>
              <a:t>RESTful Services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00811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Representational State Transfer?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REST is a way of thinking, not a protocol or </a:t>
            </a:r>
            <a:r>
              <a:rPr lang="en-US" sz="3600" dirty="0" smtClean="0"/>
              <a:t>standard.</a:t>
            </a:r>
          </a:p>
          <a:p>
            <a:r>
              <a:rPr lang="en-US" sz="3600" dirty="0"/>
              <a:t>REST is a style of designing loosely coupled Web applications that rely on named resources — in the form of Uniform Resource Locators (URLs), rather than </a:t>
            </a:r>
            <a:r>
              <a:rPr lang="en-US" sz="3600" dirty="0" smtClean="0"/>
              <a:t>messages (e.g. SOAP).</a:t>
            </a:r>
          </a:p>
          <a:p>
            <a:r>
              <a:rPr lang="en-US" sz="3600" dirty="0" smtClean="0"/>
              <a:t>Based on </a:t>
            </a:r>
            <a:r>
              <a:rPr lang="en-US" sz="3600" dirty="0"/>
              <a:t>already validated and successful infrastructure of the Web — </a:t>
            </a:r>
            <a:r>
              <a:rPr lang="en-US" sz="3600" dirty="0" smtClean="0"/>
              <a:t>HTTP</a:t>
            </a:r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123795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REST Basics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Concrete </a:t>
            </a:r>
            <a:r>
              <a:rPr lang="en-US" sz="3600" dirty="0"/>
              <a:t>implementation of a REST Web service follows four basic design </a:t>
            </a:r>
            <a:r>
              <a:rPr lang="en-US" sz="3600" dirty="0" smtClean="0"/>
              <a:t>principles.</a:t>
            </a:r>
          </a:p>
          <a:p>
            <a:endParaRPr lang="en-US" sz="3600" dirty="0" smtClean="0"/>
          </a:p>
          <a:p>
            <a:pPr lvl="1"/>
            <a:r>
              <a:rPr lang="en-US" sz="3200" dirty="0"/>
              <a:t>Use HTTP methods </a:t>
            </a:r>
            <a:r>
              <a:rPr lang="en-US" sz="3200" dirty="0" smtClean="0"/>
              <a:t>explicitly</a:t>
            </a:r>
          </a:p>
          <a:p>
            <a:pPr lvl="1"/>
            <a:r>
              <a:rPr lang="en-US" sz="3200" dirty="0"/>
              <a:t>Be </a:t>
            </a:r>
            <a:r>
              <a:rPr lang="en-US" sz="3200" dirty="0" smtClean="0"/>
              <a:t>stateless</a:t>
            </a:r>
          </a:p>
          <a:p>
            <a:pPr lvl="1" fontAlgn="base"/>
            <a:r>
              <a:rPr lang="en-US" sz="3200" dirty="0"/>
              <a:t>Expose directory structure-like </a:t>
            </a:r>
            <a:r>
              <a:rPr lang="en-US" sz="3200" dirty="0" smtClean="0"/>
              <a:t>URIs.</a:t>
            </a:r>
          </a:p>
          <a:p>
            <a:pPr lvl="1" fontAlgn="base"/>
            <a:r>
              <a:rPr lang="en-US" sz="3200" dirty="0" smtClean="0"/>
              <a:t>Transfer </a:t>
            </a:r>
            <a:r>
              <a:rPr lang="en-US" sz="3200" dirty="0"/>
              <a:t>XML, JavaScript Object Notation (JSON), or both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="" xmlns:p14="http://schemas.microsoft.com/office/powerpoint/2010/main" val="3924059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4400" dirty="0" smtClean="0"/>
              <a:t>Use HTTP methods explicitly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</a:t>
            </a:r>
            <a:r>
              <a:rPr lang="en-US" dirty="0" smtClean="0"/>
              <a:t>se HTTP </a:t>
            </a:r>
            <a:r>
              <a:rPr lang="en-US" dirty="0"/>
              <a:t>methods in a way that follows the protocol as defined by RFC </a:t>
            </a:r>
            <a:r>
              <a:rPr lang="en-US" dirty="0" smtClean="0"/>
              <a:t>2616. For example. GET, POST to read and create resources</a:t>
            </a:r>
          </a:p>
          <a:p>
            <a:r>
              <a:rPr lang="en-US" dirty="0"/>
              <a:t>REST asks developers to use HTTP methods explicitly and in a way that's consistent with the protocol </a:t>
            </a:r>
            <a:r>
              <a:rPr lang="en-US" dirty="0" smtClean="0"/>
              <a:t>definition</a:t>
            </a:r>
          </a:p>
          <a:p>
            <a:pPr lvl="1" fontAlgn="base"/>
            <a:r>
              <a:rPr lang="en-US" dirty="0"/>
              <a:t>To create a resource on the server, use POST.</a:t>
            </a:r>
          </a:p>
          <a:p>
            <a:pPr lvl="1" fontAlgn="base"/>
            <a:r>
              <a:rPr lang="en-US" dirty="0"/>
              <a:t>To retrieve a resource, use GET.</a:t>
            </a:r>
          </a:p>
          <a:p>
            <a:pPr lvl="1" fontAlgn="base"/>
            <a:r>
              <a:rPr lang="en-US" dirty="0"/>
              <a:t>To change the state of a resource or to update it, use PUT.</a:t>
            </a:r>
          </a:p>
          <a:p>
            <a:pPr lvl="1" fontAlgn="base"/>
            <a:r>
              <a:rPr lang="en-US" dirty="0"/>
              <a:t>To remove or delete a resource, use DELETE.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2041887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HTTP methods explicitly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175" y="1814097"/>
            <a:ext cx="6292593" cy="42318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6018" y="1569492"/>
            <a:ext cx="43126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What is the issue with Listing 1?</a:t>
            </a:r>
            <a:endParaRPr lang="en-US" sz="3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304" y="3095098"/>
            <a:ext cx="5292119" cy="175817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4283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HTTP methods explicitly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6882"/>
            <a:ext cx="7568821" cy="12053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509486"/>
            <a:ext cx="5958385" cy="29617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65203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Be Stateless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7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sz="3600" dirty="0"/>
              <a:t>REST Web services need to scale to meet increasingly high performance </a:t>
            </a:r>
            <a:r>
              <a:rPr lang="en-US" sz="3600" dirty="0" smtClean="0"/>
              <a:t>demands. Server side state cost high e.g. sessions. Loads balancing and scaling becomes easy.</a:t>
            </a:r>
          </a:p>
          <a:p>
            <a:r>
              <a:rPr lang="en-US" sz="3600" dirty="0" smtClean="0"/>
              <a:t>Request should carry all data need by server-side component to generate the response in headers or body (or both).</a:t>
            </a:r>
          </a:p>
        </p:txBody>
      </p:sp>
    </p:spTree>
    <p:extLst>
      <p:ext uri="{BB962C8B-B14F-4D97-AF65-F5344CB8AC3E}">
        <p14:creationId xmlns="" xmlns:p14="http://schemas.microsoft.com/office/powerpoint/2010/main" val="440303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Be Stateless – What happens when </a:t>
            </a:r>
            <a:r>
              <a:rPr lang="en-US" b="1" dirty="0" err="1" smtClean="0"/>
              <a:t>statefull</a:t>
            </a:r>
            <a:r>
              <a:rPr lang="en-US" b="1" dirty="0" smtClean="0"/>
              <a:t>?</a:t>
            </a:r>
            <a:endParaRPr lang="en-US" b="1" dirty="0"/>
          </a:p>
        </p:txBody>
      </p:sp>
      <p:pic>
        <p:nvPicPr>
          <p:cNvPr id="4" name="Picture 2" descr="Stateful Desig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71" y="2043053"/>
            <a:ext cx="11008058" cy="310333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91971" y="5759356"/>
            <a:ext cx="80173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Assume there is multi page result set. </a:t>
            </a:r>
          </a:p>
          <a:p>
            <a:r>
              <a:rPr lang="en-US" sz="2400" dirty="0" smtClean="0"/>
              <a:t>We need to store previous page at Server to render next page.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1317154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Be Stateless </a:t>
            </a:r>
            <a:endParaRPr lang="en-US" dirty="0"/>
          </a:p>
        </p:txBody>
      </p:sp>
      <p:pic>
        <p:nvPicPr>
          <p:cNvPr id="2050" name="Picture 2" descr="Stateless Desig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296" y="1811041"/>
            <a:ext cx="10359503" cy="292049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94296" y="4964216"/>
            <a:ext cx="101473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Stateless server-side </a:t>
            </a:r>
            <a:r>
              <a:rPr lang="en-US" sz="2400" dirty="0" smtClean="0"/>
              <a:t>components are less </a:t>
            </a:r>
            <a:r>
              <a:rPr lang="en-US" sz="2400" dirty="0"/>
              <a:t>complicated to design, </a:t>
            </a:r>
            <a:r>
              <a:rPr lang="en-US" sz="2400" dirty="0" smtClean="0"/>
              <a:t>write </a:t>
            </a:r>
            <a:r>
              <a:rPr lang="en-US" sz="2400" dirty="0"/>
              <a:t>and distribute across load-balanced </a:t>
            </a:r>
            <a:r>
              <a:rPr lang="en-US" sz="2400" dirty="0" smtClean="0"/>
              <a:t>servers.</a:t>
            </a:r>
          </a:p>
          <a:p>
            <a:r>
              <a:rPr lang="en-US" sz="2400" dirty="0" smtClean="0"/>
              <a:t>Client Application is responsible to maintain the state.</a:t>
            </a:r>
          </a:p>
          <a:p>
            <a:r>
              <a:rPr lang="en-US" sz="2400" dirty="0" smtClean="0"/>
              <a:t>Response may carry link to other related resources and cache control headers.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1333515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Expose directory structure-like </a:t>
            </a:r>
            <a:r>
              <a:rPr lang="en-US" b="1" dirty="0" smtClean="0"/>
              <a:t>URIs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REST Web service URIs should be </a:t>
            </a:r>
            <a:r>
              <a:rPr lang="en-US" b="1" dirty="0"/>
              <a:t>intuitive to the point </a:t>
            </a:r>
            <a:r>
              <a:rPr lang="en-US" dirty="0"/>
              <a:t>where they are easy to </a:t>
            </a:r>
            <a:r>
              <a:rPr lang="en-US" dirty="0" smtClean="0"/>
              <a:t>guess.</a:t>
            </a:r>
          </a:p>
          <a:p>
            <a:r>
              <a:rPr lang="en-US" dirty="0"/>
              <a:t>Think of a URI as a kind of </a:t>
            </a:r>
            <a:r>
              <a:rPr lang="en-US" b="1" dirty="0"/>
              <a:t>self-documenting interface </a:t>
            </a:r>
            <a:r>
              <a:rPr lang="en-US" dirty="0"/>
              <a:t>that requires little, if any, explanation or reference for a developer to understand what it points to and to derive related </a:t>
            </a:r>
            <a:r>
              <a:rPr lang="en-US" b="1" dirty="0" smtClean="0"/>
              <a:t>resources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Lets look at some example URIs.</a:t>
            </a:r>
          </a:p>
          <a:p>
            <a:pPr lvl="1"/>
            <a:r>
              <a:rPr lang="en-US" dirty="0">
                <a:hlinkClick r:id="rId2"/>
              </a:rPr>
              <a:t>http://www.myservice.org/discussion/topics/{topic</a:t>
            </a:r>
            <a:r>
              <a:rPr lang="en-US" dirty="0" smtClean="0">
                <a:hlinkClick r:id="rId2"/>
              </a:rPr>
              <a:t>}</a:t>
            </a:r>
            <a:r>
              <a:rPr lang="en-US" dirty="0" smtClean="0"/>
              <a:t> GET</a:t>
            </a:r>
          </a:p>
          <a:p>
            <a:pPr lvl="1"/>
            <a:r>
              <a:rPr lang="en-US" dirty="0">
                <a:hlinkClick r:id="rId3"/>
              </a:rPr>
              <a:t>http://www.myservice.org/discussion/2008/12/10/{topic</a:t>
            </a:r>
            <a:r>
              <a:rPr lang="en-US" dirty="0" smtClean="0">
                <a:hlinkClick r:id="rId3"/>
              </a:rPr>
              <a:t>}</a:t>
            </a:r>
            <a:r>
              <a:rPr lang="en-US" dirty="0" smtClean="0"/>
              <a:t> GET</a:t>
            </a:r>
          </a:p>
          <a:p>
            <a:pPr lvl="1"/>
            <a:r>
              <a:rPr lang="en-US" dirty="0"/>
              <a:t>http://</a:t>
            </a:r>
            <a:r>
              <a:rPr lang="en-US" dirty="0" smtClean="0"/>
              <a:t>www.myservice.org/books  POST</a:t>
            </a:r>
          </a:p>
          <a:p>
            <a:pPr lvl="1"/>
            <a:r>
              <a:rPr lang="en-US" dirty="0">
                <a:hlinkClick r:id="rId4"/>
              </a:rPr>
              <a:t>http://</a:t>
            </a:r>
            <a:r>
              <a:rPr lang="en-US" dirty="0" smtClean="0">
                <a:hlinkClick r:id="rId4"/>
              </a:rPr>
              <a:t>www.myservice.org/books/1</a:t>
            </a:r>
            <a:r>
              <a:rPr lang="en-US" dirty="0" smtClean="0"/>
              <a:t> GET</a:t>
            </a:r>
          </a:p>
          <a:p>
            <a:pPr lvl="1"/>
            <a:r>
              <a:rPr lang="en-US" dirty="0" smtClean="0">
                <a:hlinkClick r:id="rId4"/>
              </a:rPr>
              <a:t>http://www.myservice.org/books/1</a:t>
            </a:r>
            <a:r>
              <a:rPr lang="en-US" dirty="0" smtClean="0"/>
              <a:t> PUT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48091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Expose directory structure-like URIs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Additional </a:t>
            </a:r>
            <a:r>
              <a:rPr lang="en-US" dirty="0"/>
              <a:t>guidelines </a:t>
            </a:r>
            <a:r>
              <a:rPr lang="en-US" dirty="0" smtClean="0"/>
              <a:t>for thinking </a:t>
            </a:r>
            <a:r>
              <a:rPr lang="en-US" dirty="0"/>
              <a:t>about URI structure for a RESTful Web </a:t>
            </a:r>
            <a:r>
              <a:rPr lang="en-US" dirty="0" smtClean="0"/>
              <a:t>service:</a:t>
            </a:r>
          </a:p>
          <a:p>
            <a:pPr lvl="1"/>
            <a:r>
              <a:rPr lang="en-US" dirty="0"/>
              <a:t>Hide the server-side scripting technology file extensions (.</a:t>
            </a:r>
            <a:r>
              <a:rPr lang="en-US" dirty="0" err="1"/>
              <a:t>jsp</a:t>
            </a:r>
            <a:r>
              <a:rPr lang="en-US" dirty="0"/>
              <a:t>, .</a:t>
            </a:r>
            <a:r>
              <a:rPr lang="en-US" dirty="0" err="1"/>
              <a:t>php</a:t>
            </a:r>
            <a:r>
              <a:rPr lang="en-US" dirty="0"/>
              <a:t>, .asp</a:t>
            </a:r>
            <a:r>
              <a:rPr lang="en-US" dirty="0" smtClean="0"/>
              <a:t>). Use URL rewriting or frameworks</a:t>
            </a:r>
          </a:p>
          <a:p>
            <a:pPr lvl="1"/>
            <a:r>
              <a:rPr lang="en-US" dirty="0"/>
              <a:t>Keep everything </a:t>
            </a:r>
            <a:r>
              <a:rPr lang="en-US" dirty="0" smtClean="0"/>
              <a:t>lowercase</a:t>
            </a:r>
          </a:p>
          <a:p>
            <a:pPr lvl="1"/>
            <a:r>
              <a:rPr lang="en-US" dirty="0" smtClean="0"/>
              <a:t>Substitute </a:t>
            </a:r>
            <a:r>
              <a:rPr lang="en-US" dirty="0"/>
              <a:t>spaces with hyphens or underscores (one or the other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Avoid query strings as much as you </a:t>
            </a:r>
            <a:r>
              <a:rPr lang="en-US" dirty="0" smtClean="0"/>
              <a:t>can</a:t>
            </a:r>
          </a:p>
          <a:p>
            <a:pPr lvl="1"/>
            <a:r>
              <a:rPr lang="en-US" dirty="0"/>
              <a:t>Instead of using the 404 Not Found code if the request URI is for a partial path, always provide a default page or resource as a </a:t>
            </a:r>
            <a:r>
              <a:rPr lang="en-US" dirty="0" smtClean="0"/>
              <a:t>response.</a:t>
            </a:r>
          </a:p>
          <a:p>
            <a:pPr lvl="1"/>
            <a:r>
              <a:rPr lang="en-US" dirty="0"/>
              <a:t>URIs should also be static so that when the resource changes or the implementation of the service changes, the link stays the same. This allows </a:t>
            </a:r>
            <a:r>
              <a:rPr lang="en-US" dirty="0" smtClean="0"/>
              <a:t>bookmarking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20557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Transfer XML, JSON, or </a:t>
            </a:r>
            <a:r>
              <a:rPr lang="en-US" b="1" dirty="0" smtClean="0"/>
              <a:t>both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resource representation typically reflects the current state of a resource, and its attributes, at the time a client application requests it. </a:t>
            </a:r>
            <a:endParaRPr lang="en-US" dirty="0" smtClean="0"/>
          </a:p>
          <a:p>
            <a:r>
              <a:rPr lang="en-US" dirty="0" smtClean="0"/>
              <a:t>In which format to serve the data? What about presentational artifacts?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03" y="4001294"/>
            <a:ext cx="7566600" cy="231060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82723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Transfer XML, JSON, or both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895" y="3543905"/>
            <a:ext cx="8026822" cy="293878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 the client application choose the content type that is best suited for them</a:t>
            </a:r>
          </a:p>
          <a:p>
            <a:r>
              <a:rPr lang="en-US" dirty="0" smtClean="0"/>
              <a:t>Construct </a:t>
            </a:r>
            <a:r>
              <a:rPr lang="en-US" dirty="0"/>
              <a:t>your service so that it makes use of the built-in HTTP Accept header, where the value of the header is a MIME type. </a:t>
            </a:r>
            <a:endParaRPr 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3210710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https://www.ibm.com/developerworks/library/ws-restful/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14229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606</Words>
  <Application>Microsoft Office PowerPoint</Application>
  <PresentationFormat>Custom</PresentationFormat>
  <Paragraphs>58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RESTful Services</vt:lpstr>
      <vt:lpstr>What is Representational State Transfer?</vt:lpstr>
      <vt:lpstr>REST Basics</vt:lpstr>
      <vt:lpstr>Use HTTP methods explicitly</vt:lpstr>
      <vt:lpstr>Use HTTP methods explicitly</vt:lpstr>
      <vt:lpstr>Use HTTP methods explicitly</vt:lpstr>
      <vt:lpstr>Be Stateless</vt:lpstr>
      <vt:lpstr>Be Stateless – What happens when statefull?</vt:lpstr>
      <vt:lpstr>Be Stateless </vt:lpstr>
      <vt:lpstr>Expose directory structure-like URIs</vt:lpstr>
      <vt:lpstr>Expose directory structure-like URIs</vt:lpstr>
      <vt:lpstr>Transfer XML, JSON, or both</vt:lpstr>
      <vt:lpstr>Transfer XML, JSON, or both</vt:lpstr>
      <vt:lpstr>References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RESTful Services</dc:title>
  <dc:creator>Asif Shahzad</dc:creator>
  <cp:lastModifiedBy>Lenovo</cp:lastModifiedBy>
  <cp:revision>50</cp:revision>
  <dcterms:created xsi:type="dcterms:W3CDTF">2016-05-25T19:25:31Z</dcterms:created>
  <dcterms:modified xsi:type="dcterms:W3CDTF">2023-04-04T05:03:41Z</dcterms:modified>
</cp:coreProperties>
</file>